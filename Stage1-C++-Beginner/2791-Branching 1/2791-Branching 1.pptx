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348" r:id="rId3"/>
    <p:sldId id="347" r:id="rId4"/>
    <p:sldId id="356" r:id="rId5"/>
    <p:sldId id="332" r:id="rId6"/>
    <p:sldId id="346" r:id="rId7"/>
    <p:sldId id="334" r:id="rId8"/>
    <p:sldId id="357" r:id="rId9"/>
    <p:sldId id="358" r:id="rId10"/>
    <p:sldId id="349" r:id="rId11"/>
    <p:sldId id="261" r:id="rId12"/>
  </p:sldIdLst>
  <p:sldSz cx="12192000" cy="6858000"/>
  <p:notesSz cx="6858000" cy="9144000"/>
  <p:defaultTextStyle>
    <a:defPPr>
      <a:defRPr lang="e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3913E9-0CA2-B543-A545-ACBDE60398A4}" v="2" dt="2026-08-08T13:19:53.6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56" autoAdjust="0"/>
    <p:restoredTop sz="96018"/>
  </p:normalViewPr>
  <p:slideViewPr>
    <p:cSldViewPr snapToGrid="0">
      <p:cViewPr varScale="1">
        <p:scale>
          <a:sx n="77" d="100"/>
          <a:sy n="77" d="100"/>
        </p:scale>
        <p:origin x="200" y="8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12192000" cy="6857999"/>
          </a:xfrm>
          <a:prstGeom prst="rect">
            <a:avLst/>
          </a:prstGeom>
          <a:noFill/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8/8/26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8612" y="1486111"/>
            <a:ext cx="10368800" cy="5104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0" name="文本框 49"/>
          <p:cNvSpPr txBox="1"/>
          <p:nvPr userDrawn="1"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高老师算法竞赛训练营</a:t>
            </a:r>
          </a:p>
        </p:txBody>
      </p:sp>
      <p:pic>
        <p:nvPicPr>
          <p:cNvPr id="51" name="图片 50"/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" altLang="en-US" dirty="0"/>
              <a:t>Language Basics (3)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" altLang="en-US" dirty="0"/>
              <a:t>Conditional branch</a:t>
            </a:r>
            <a:r>
              <a:rPr lang="en-US" altLang="zh-CN" dirty="0" err="1"/>
              <a:t>ing</a:t>
            </a:r>
            <a:r>
              <a:rPr lang="en" altLang="en-US" dirty="0"/>
              <a:t> (1)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Teacher Gao Algorithm Competition Training Camp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712527" y="1486111"/>
            <a:ext cx="4479104" cy="3750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Expressions are enclosed in parentheses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 </a:t>
            </a: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the following statements can be omitted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 </a:t>
            </a: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if </a:t>
            </a: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can only pair with one </a:t>
            </a: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not multiple</a:t>
            </a:r>
            <a:endParaRPr lang="en-US" altLang="zh-CN" sz="16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 </a:t>
            </a:r>
            <a:r>
              <a:rPr lang="en" altLang="en-US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cannot appear alone</a:t>
            </a:r>
            <a:endParaRPr lang="en-US" altLang="zh-CN" sz="16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en-US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You cannot write </a:t>
            </a: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(expression) after </a:t>
            </a: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endParaRPr lang="zh-CN" altLang="zh-CN" sz="16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Never add semicolon after if(expression) or </a:t>
            </a: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endParaRPr lang="en-US" altLang="zh-CN" sz="16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Don’t add semicolon after the curly braces, no error, just not necessary.  A semicolon alone is a statement</a:t>
            </a:r>
            <a:endParaRPr lang="zh-CN" altLang="zh-CN" sz="16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9" name="内容占位符 2"/>
          <p:cNvSpPr txBox="1"/>
          <p:nvPr/>
        </p:nvSpPr>
        <p:spPr>
          <a:xfrm>
            <a:off x="379956" y="1784787"/>
            <a:ext cx="2793124" cy="227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double money,price;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U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in &gt;&gt; money &gt;&gt; price;</a:t>
            </a:r>
          </a:p>
          <a:p>
            <a:pPr marL="0" indent="0">
              <a:buNone/>
            </a:pP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if(money &gt;= price)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cout &lt;&lt; "</a:t>
            </a:r>
            <a:r>
              <a:rPr lang="e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buy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";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else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cout &lt;&lt; "</a:t>
            </a:r>
            <a:r>
              <a:rPr lang="e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Can't afford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";</a:t>
            </a:r>
          </a:p>
        </p:txBody>
      </p:sp>
      <p:sp>
        <p:nvSpPr>
          <p:cNvPr id="10" name="内容占位符 2"/>
          <p:cNvSpPr txBox="1"/>
          <p:nvPr/>
        </p:nvSpPr>
        <p:spPr>
          <a:xfrm>
            <a:off x="3453634" y="1784787"/>
            <a:ext cx="2858023" cy="328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" altLang="zh-CN" dirty="0"/>
              <a:t>double money,price;</a:t>
            </a:r>
          </a:p>
          <a:p>
            <a:r>
              <a:rPr lang="en" altLang="zh-CN" dirty="0"/>
              <a:t>cin &gt;&gt; money &gt;&gt; price;</a:t>
            </a:r>
          </a:p>
          <a:p>
            <a:r>
              <a:rPr lang="en" altLang="zh-CN" dirty="0"/>
              <a:t>if(money &gt;= price){</a:t>
            </a:r>
          </a:p>
          <a:p>
            <a:r>
              <a:rPr lang="en" altLang="en-US" dirty="0"/>
              <a:t>    </a:t>
            </a:r>
            <a:r>
              <a:rPr lang="en" altLang="zh-CN" dirty="0"/>
              <a:t>cout &lt;&lt; "</a:t>
            </a:r>
            <a:r>
              <a:rPr lang="en" altLang="en-US" dirty="0"/>
              <a:t>buy</a:t>
            </a:r>
            <a:r>
              <a:rPr lang="en" altLang="zh-CN" dirty="0"/>
              <a:t>";</a:t>
            </a:r>
          </a:p>
          <a:p>
            <a:r>
              <a:rPr lang="en" altLang="zh-CN" dirty="0"/>
              <a:t>    cout &lt;&lt; "</a:t>
            </a:r>
            <a:r>
              <a:rPr lang="en" altLang="en-US" dirty="0"/>
              <a:t>Vanilla</a:t>
            </a:r>
            <a:r>
              <a:rPr lang="en" altLang="zh-CN" dirty="0"/>
              <a:t>";</a:t>
            </a:r>
          </a:p>
          <a:p>
            <a:r>
              <a:rPr lang="en" altLang="zh-CN" dirty="0"/>
              <a:t>}else{</a:t>
            </a:r>
          </a:p>
          <a:p>
            <a:r>
              <a:rPr lang="en" altLang="zh-CN" dirty="0"/>
              <a:t>    cout &lt;&lt; "</a:t>
            </a:r>
            <a:r>
              <a:rPr lang="en" altLang="en-US" dirty="0"/>
              <a:t>Can't afford</a:t>
            </a:r>
            <a:r>
              <a:rPr lang="en" altLang="zh-CN" dirty="0"/>
              <a:t>";</a:t>
            </a:r>
          </a:p>
          <a:p>
            <a:r>
              <a:rPr lang="en" altLang="zh-CN" dirty="0"/>
              <a:t>    cout &lt;&lt; "</a:t>
            </a:r>
            <a:r>
              <a:rPr lang="en" altLang="en-US" dirty="0"/>
              <a:t>Thank you!</a:t>
            </a:r>
            <a:r>
              <a:rPr lang="en" altLang="zh-CN" dirty="0"/>
              <a:t>";</a:t>
            </a:r>
          </a:p>
          <a:p>
            <a:r>
              <a:rPr lang="en" altLang="zh-CN" dirty="0"/>
              <a:t>}</a:t>
            </a:r>
          </a:p>
        </p:txBody>
      </p:sp>
      <p:sp>
        <p:nvSpPr>
          <p:cNvPr id="11" name="内容占位符 2"/>
          <p:cNvSpPr txBox="1"/>
          <p:nvPr/>
        </p:nvSpPr>
        <p:spPr>
          <a:xfrm>
            <a:off x="347507" y="4440177"/>
            <a:ext cx="2793124" cy="227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" altLang="zh-CN" dirty="0"/>
              <a:t>double money,price;</a:t>
            </a:r>
          </a:p>
          <a:p>
            <a:r>
              <a:rPr lang="en" altLang="zh-CN" dirty="0"/>
              <a:t>cin &gt;&gt; money &gt;&gt; price;</a:t>
            </a:r>
          </a:p>
          <a:p>
            <a:r>
              <a:rPr lang="en" altLang="zh-CN" dirty="0"/>
              <a:t>cout &lt;&lt;"</a:t>
            </a:r>
            <a:r>
              <a:rPr lang="en" altLang="en-US" dirty="0"/>
              <a:t>buy</a:t>
            </a:r>
            <a:r>
              <a:rPr lang="en" altLang="zh-CN" dirty="0"/>
              <a:t>";</a:t>
            </a:r>
          </a:p>
          <a:p>
            <a:r>
              <a:rPr lang="en" altLang="zh-CN" dirty="0"/>
              <a:t>if(money &lt; price)</a:t>
            </a:r>
          </a:p>
          <a:p>
            <a:r>
              <a:rPr lang="en" altLang="zh-CN" dirty="0"/>
              <a:t>    cout &lt;&lt; "</a:t>
            </a:r>
            <a:r>
              <a:rPr lang="en" altLang="en-US" dirty="0"/>
              <a:t>Can't afford</a:t>
            </a:r>
            <a:r>
              <a:rPr lang="en" altLang="zh-CN" dirty="0"/>
              <a:t>";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Buying Ice</a:t>
            </a:r>
            <a:r>
              <a:rPr lang="zh-C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Cream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内容占位符 2"/>
          <p:cNvSpPr txBox="1"/>
          <p:nvPr/>
        </p:nvSpPr>
        <p:spPr>
          <a:xfrm>
            <a:off x="2208637" y="1743744"/>
            <a:ext cx="17918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>
                <a:solidFill>
                  <a:schemeClr val="bg1"/>
                </a:solidFill>
                <a:latin typeface="Comic Sans MS" panose="030F0702030302020204" pitchFamily="66" charset="0"/>
                <a:ea typeface="微软雅黑" panose="020B0503020204020204" pitchFamily="34" charset="-122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if </a:t>
            </a:r>
            <a:r>
              <a:rPr lang="en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expression</a:t>
            </a:r>
            <a:r>
              <a:rPr lang="en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zh-CN" alt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statement</a:t>
            </a:r>
            <a:r>
              <a:rPr lang="en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else</a:t>
            </a:r>
          </a:p>
          <a:p>
            <a:r>
              <a:rPr lang="zh-CN" alt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statement</a:t>
            </a:r>
            <a:r>
              <a:rPr lang="en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9" name="内容占位符 2"/>
          <p:cNvSpPr txBox="1"/>
          <p:nvPr/>
        </p:nvSpPr>
        <p:spPr>
          <a:xfrm>
            <a:off x="605789" y="1743744"/>
            <a:ext cx="16028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(e</a:t>
            </a:r>
            <a:r>
              <a:rPr lang="e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xpression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Syntax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000499" y="1743744"/>
            <a:ext cx="1891145" cy="28633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</a:t>
            </a:r>
            <a:r>
              <a:rPr lang="e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expression</a:t>
            </a: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){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</a:t>
            </a: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</a:t>
            </a: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…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}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{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</a:t>
            </a: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</a:t>
            </a: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zh-CN" altLang="en-US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…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zh-CN" sz="14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}</a:t>
            </a:r>
            <a:endParaRPr lang="zh-CN" altLang="en-US" sz="14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57198-F243-2509-7F4A-3CC081D6161E}"/>
              </a:ext>
            </a:extLst>
          </p:cNvPr>
          <p:cNvSpPr txBox="1"/>
          <p:nvPr/>
        </p:nvSpPr>
        <p:spPr>
          <a:xfrm>
            <a:off x="6160899" y="1486111"/>
            <a:ext cx="5030732" cy="30114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Expressions are enclosed in parentheses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 </a:t>
            </a: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the following statements can be omitted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 </a:t>
            </a: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if </a:t>
            </a: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can only pair with one </a:t>
            </a: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not multiple</a:t>
            </a:r>
            <a:endParaRPr lang="en-US" altLang="zh-CN" sz="16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 </a:t>
            </a:r>
            <a:r>
              <a:rPr lang="en" altLang="en-US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cannot appear alone</a:t>
            </a:r>
            <a:endParaRPr lang="en-US" altLang="zh-CN" sz="16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en-US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You cannot write </a:t>
            </a: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(expression) after </a:t>
            </a: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endParaRPr lang="zh-CN" altLang="zh-CN" sz="16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Never add semicolon after if(expression) or </a:t>
            </a:r>
            <a:r>
              <a:rPr lang="en" altLang="zh-CN" sz="1600" dirty="0">
                <a:solidFill>
                  <a:srgbClr val="006699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endParaRPr lang="en-US" altLang="zh-CN" sz="16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Don’t add semicolon after the curly braces, no error, just not necessary.  A semicolon alone is a statement</a:t>
            </a:r>
            <a:endParaRPr lang="zh-CN" altLang="zh-CN" sz="16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4" grpId="0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内容占位符 2"/>
          <p:cNvSpPr txBox="1"/>
          <p:nvPr/>
        </p:nvSpPr>
        <p:spPr>
          <a:xfrm>
            <a:off x="684323" y="1454252"/>
            <a:ext cx="5411293" cy="1170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>
                <a:solidFill>
                  <a:schemeClr val="bg1"/>
                </a:solidFill>
                <a:latin typeface="Comic Sans MS" panose="030F0702030302020204" pitchFamily="66" charset="0"/>
                <a:ea typeface="微软雅黑" panose="020B0503020204020204" pitchFamily="34" charset="-122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 algn="just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" altLang="zh-CN" kern="100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An expression can always evaluate to a value:</a:t>
            </a:r>
          </a:p>
          <a:p>
            <a:pPr marL="268288" lvl="1" indent="-268288" algn="just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+mj-lt"/>
              <a:buAutoNum type="alphaLcPeriod"/>
            </a:pPr>
            <a:r>
              <a:rPr lang="en" altLang="en-US" sz="18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If value is not </a:t>
            </a:r>
            <a:r>
              <a:rPr lang="en" altLang="zh-CN" sz="18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0</a:t>
            </a:r>
            <a:r>
              <a:rPr lang="en" altLang="en-US" sz="18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(is non-zero), </a:t>
            </a:r>
            <a:r>
              <a:rPr lang="en" altLang="en-US" sz="20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it</a:t>
            </a:r>
            <a:r>
              <a:rPr lang="en" altLang="en-US" sz="18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is true</a:t>
            </a:r>
          </a:p>
          <a:p>
            <a:pPr marL="268288" lvl="1" indent="-268288" algn="just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+mj-lt"/>
              <a:buAutoNum type="alphaLcPeriod"/>
            </a:pPr>
            <a:r>
              <a:rPr lang="en" altLang="zh-CN" sz="18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If the value is 0,</a:t>
            </a:r>
            <a:r>
              <a:rPr lang="en" altLang="en-US" sz="18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it is not true (false)</a:t>
            </a:r>
            <a:endParaRPr lang="en-US" altLang="zh-CN" sz="1800" kern="1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4324" y="301567"/>
            <a:ext cx="10634659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Expressions and judgments</a:t>
            </a:r>
            <a:endParaRPr lang="en-US" altLang="zh-CN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09883015"/>
              </p:ext>
            </p:extLst>
          </p:nvPr>
        </p:nvGraphicFramePr>
        <p:xfrm>
          <a:off x="684707" y="3529069"/>
          <a:ext cx="6364486" cy="312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94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5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" altLang="en-US" sz="2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expression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en-US" sz="2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7/3+4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6 // </a:t>
                      </a:r>
                      <a:r>
                        <a:rPr lang="en" altLang="en-US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non-zero, 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11-(4*2)-7%3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 // </a:t>
                      </a:r>
                      <a:r>
                        <a:rPr lang="en" altLang="en-US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non-zero, 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  <a:sym typeface="+mn-ea"/>
                        </a:rPr>
                        <a:t>a-3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</a:t>
                      </a:r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  <a:sym typeface="+mn-ea"/>
                        </a:rPr>
                        <a:t>// </a:t>
                      </a:r>
                      <a:r>
                        <a:rPr lang="e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  <a:sym typeface="+mn-ea"/>
                        </a:rPr>
                        <a:t>zero, false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a%cb%c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// </a:t>
                      </a:r>
                      <a:r>
                        <a:rPr lang="e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zero, 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400" dirty="0" err="1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a=3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3 // </a:t>
                      </a:r>
                      <a:r>
                        <a:rPr lang="e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Non-zero, true. The value of an assignment statement is equal to the assigned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a=0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// </a:t>
                      </a:r>
                      <a:r>
                        <a:rPr lang="e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  <a:sym typeface="+mn-ea"/>
                        </a:rPr>
                        <a:t>Zero, false. The value of an assignment statement is equal to the assigned value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684323" y="2575334"/>
            <a:ext cx="4762999" cy="878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buNone/>
            </a:pPr>
            <a:r>
              <a:rPr lang="en" altLang="zh-CN" sz="1800" kern="1200" dirty="0">
                <a:solidFill>
                  <a:srgbClr val="008200"/>
                </a:solidFill>
                <a:latin typeface="Aptos Display" panose="020B0004020202020204" pitchFamily="34" charset="0"/>
                <a:cs typeface="+mn-cs"/>
              </a:rPr>
              <a:t>// </a:t>
            </a:r>
            <a:r>
              <a:rPr lang="en" altLang="en-US" sz="1800" kern="1200" dirty="0">
                <a:solidFill>
                  <a:srgbClr val="008200"/>
                </a:solidFill>
                <a:latin typeface="Aptos Display" panose="020B0004020202020204" pitchFamily="34" charset="0"/>
                <a:cs typeface="+mn-cs"/>
              </a:rPr>
              <a:t>First, define three variables:</a:t>
            </a:r>
            <a:endParaRPr lang="en-US" altLang="zh-CN" sz="1800" kern="1200" dirty="0">
              <a:solidFill>
                <a:srgbClr val="008200"/>
              </a:solidFill>
              <a:latin typeface="Aptos Display" panose="020B0004020202020204" pitchFamily="34" charset="0"/>
              <a:cs typeface="+mn-cs"/>
            </a:endParaRPr>
          </a:p>
          <a:p>
            <a:pPr marL="0" indent="0">
              <a:buNone/>
            </a:pPr>
            <a:r>
              <a:rPr lang="en" altLang="zh-CN" sz="1800" kern="12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sz="18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a=3,b=5,c=2;</a:t>
            </a:r>
            <a:endParaRPr lang="zh-CN" altLang="en-US" sz="18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0B6C86-C0F7-4F16-ABAE-9083EACAAFFF}"/>
              </a:ext>
            </a:extLst>
          </p:cNvPr>
          <p:cNvSpPr txBox="1"/>
          <p:nvPr/>
        </p:nvSpPr>
        <p:spPr>
          <a:xfrm>
            <a:off x="7326844" y="1722925"/>
            <a:ext cx="3014185" cy="153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kern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( </a:t>
            </a:r>
            <a:r>
              <a:rPr lang="en" altLang="en-US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expression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){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//do </a:t>
            </a:r>
            <a:r>
              <a:rPr lang="en" altLang="zh-CN" sz="16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sth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//do </a:t>
            </a:r>
            <a:r>
              <a:rPr lang="en" altLang="zh-CN" sz="16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sth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 .after if</a:t>
            </a:r>
            <a:endParaRPr lang="en-US" altLang="zh-CN" sz="1600" dirty="0">
              <a:latin typeface="Consolas" panose="020B0609020204030204" pitchFamily="49" charset="0"/>
              <a:ea typeface="微软雅黑" panose="020B0503020204020204" charset="-122"/>
              <a:cs typeface="Consolas" panose="020B0609020204030204" pitchFamily="49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614E8B9-6C0E-4F34-B185-13E93B944086}"/>
              </a:ext>
            </a:extLst>
          </p:cNvPr>
          <p:cNvSpPr txBox="1"/>
          <p:nvPr/>
        </p:nvSpPr>
        <p:spPr>
          <a:xfrm>
            <a:off x="7321019" y="3637362"/>
            <a:ext cx="3014184" cy="18994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buNone/>
            </a:pPr>
            <a:r>
              <a:rPr lang="en" altLang="zh-CN" sz="1600" kern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( </a:t>
            </a:r>
            <a:r>
              <a:rPr lang="en" altLang="en-US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expression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){</a:t>
            </a:r>
          </a:p>
          <a:p>
            <a:pPr marL="0" indent="0">
              <a:buNone/>
            </a:pP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//do </a:t>
            </a:r>
            <a:r>
              <a:rPr lang="en" altLang="zh-CN" sz="16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sth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}</a:t>
            </a:r>
            <a:r>
              <a:rPr lang="en" altLang="zh-CN" sz="1600" kern="12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//do </a:t>
            </a:r>
            <a:r>
              <a:rPr lang="en" altLang="zh-CN" sz="16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sth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. else</a:t>
            </a:r>
          </a:p>
          <a:p>
            <a:pPr marL="0" indent="0">
              <a:buNone/>
            </a:pP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70729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  <p:bldP spid="16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7460673" y="1217286"/>
            <a:ext cx="3852595" cy="5513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880" indent="-18288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6 types of of relational expression operators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: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&gt; 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&lt; 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&gt;= 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&lt;= 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== 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!=</a:t>
            </a:r>
            <a:endParaRPr lang="zh-CN" altLang="zh-CN" sz="12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Connect two expressions 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to form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a relational expression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which is used to compare the two expressions.</a:t>
            </a:r>
            <a:endParaRPr lang="en-US" altLang="zh-CN" sz="12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Note: differences between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==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!=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≠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&gt;=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≥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&lt;=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≤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difference</a:t>
            </a:r>
          </a:p>
          <a:p>
            <a:pPr marL="182880" lvl="1" indent="181610" algn="just" defTabSz="9144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" altLang="zh-CN" sz="1000" kern="1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Attention: </a:t>
            </a:r>
            <a:r>
              <a:rPr lang="en" altLang="zh-CN" sz="10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= </a:t>
            </a:r>
            <a:r>
              <a:rPr lang="en" altLang="en-US" sz="1000" kern="1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means assignment, </a:t>
            </a:r>
            <a:r>
              <a:rPr lang="en" altLang="zh-CN" sz="10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== </a:t>
            </a:r>
            <a:r>
              <a:rPr lang="en" altLang="en-US" sz="1000" kern="1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means judging whether they are equal, which is easy to confuse.</a:t>
            </a:r>
            <a:endParaRPr lang="zh-CN" altLang="zh-CN" sz="12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values of the expressions on both sides of </a:t>
            </a:r>
            <a:r>
              <a:rPr lang="en" altLang="en-US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relational expression operator 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are evaluated s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eparately, and then compared.</a:t>
            </a:r>
          </a:p>
          <a:p>
            <a:pPr marL="182880" indent="-182880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There are only two calculation results: 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true (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1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), or false (0)</a:t>
            </a:r>
            <a:endParaRPr lang="en-US" altLang="zh-CN" sz="12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relational expression operators have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lower precedences than arithmetic operators, so if there are arithmetic oeprations, they are done before relational operations.</a:t>
            </a:r>
            <a:endParaRPr lang="en-US" altLang="zh-CN" sz="12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If there are multiple </a:t>
            </a:r>
            <a:r>
              <a:rPr lang="en" altLang="en-US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relational expression operators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the order is: from left to right,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&gt;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&lt;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&gt;= and &lt;= </a:t>
            </a:r>
            <a:r>
              <a:rPr lang="en" altLang="zh-CN" sz="1200" kern="1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before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==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sz="12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!=</a:t>
            </a:r>
            <a:r>
              <a:rPr lang="en" altLang="zh-CN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; where there are </a:t>
            </a:r>
            <a:r>
              <a:rPr lang="en" altLang="en-US" sz="12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parentheses, evaluate what’s inside first</a:t>
            </a:r>
            <a:endParaRPr lang="zh-CN" altLang="zh-CN" sz="12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elational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operator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8698177"/>
              </p:ext>
            </p:extLst>
          </p:nvPr>
        </p:nvGraphicFramePr>
        <p:xfrm>
          <a:off x="347597" y="1955948"/>
          <a:ext cx="6920711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433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554"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R</a:t>
                      </a:r>
                      <a:r>
                        <a:rPr lang="en" altLang="en-US" dirty="0" err="1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elational</a:t>
                      </a:r>
                      <a:r>
                        <a:rPr lang="en" altLang="en-US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" altLang="en-US" dirty="0" err="1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expre</a:t>
                      </a:r>
                      <a:r>
                        <a:rPr lang="en-US" altLang="zh-CN" dirty="0" err="1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ssions</a:t>
                      </a:r>
                      <a:endParaRPr lang="en" altLang="en-US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</a:t>
                      </a:r>
                      <a:r>
                        <a:rPr lang="en" altLang="en-US" dirty="0" err="1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escription</a:t>
                      </a:r>
                      <a:endParaRPr lang="en" altLang="en-US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71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7/3+4&gt;2*3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// evaluate both sides 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separately, then compare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71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11-(4*2)+7%3&lt;pow(2,3)-2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 // 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 both sides of &lt; separately, then compare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71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a&gt;15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sz="11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a-2!=b-3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 // evaluate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both sides of </a:t>
                      </a:r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!= separately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then determine whether they are equal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218">
                <a:tc>
                  <a:txBody>
                    <a:bodyPr/>
                    <a:lstStyle/>
                    <a:p>
                      <a:r>
                        <a:rPr lang="en" altLang="zh-CN" sz="1200" dirty="0" err="1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a+b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&lt; </a:t>
                      </a:r>
                      <a:r>
                        <a:rPr lang="en" altLang="zh-CN" sz="1200" dirty="0" err="1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b+c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// evaluate 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both sides of &lt; separately, then compare the sizes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2218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'a'&lt;'b'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 // 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Character type is used for operations, using </a:t>
                      </a:r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ASCII 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71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(a==3)&gt;=(b==5)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 // evaluate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both sides of &gt;= separately, then compare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30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0&lt;a&lt;5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 </a:t>
                      </a:r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0&lt;a first 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and get an intermediate result of either 0 or 1</a:t>
                      </a:r>
                      <a:endParaRPr lang="en-US" altLang="zh-CN" sz="11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Then evaluate the intermediate result </a:t>
                      </a:r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&lt;5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no matter the intermediate result is </a:t>
                      </a:r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or </a:t>
                      </a:r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 final result must be </a:t>
                      </a:r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sz="11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979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(a=3)&gt;(b=5)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// evaluate both sides 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separately, then compare</a:t>
                      </a:r>
                    </a:p>
                    <a:p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The value of an assignment statement is equal to the assigned value</a:t>
                      </a:r>
                    </a:p>
                    <a:p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Note: After this expression is executed, the values of </a:t>
                      </a:r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 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and </a:t>
                      </a:r>
                      <a:r>
                        <a:rPr lang="en" altLang="zh-CN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b </a:t>
                      </a:r>
                      <a:r>
                        <a:rPr lang="en" altLang="en-US" sz="11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have changed.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47597" y="1076196"/>
            <a:ext cx="6406744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buNone/>
            </a:pPr>
            <a:r>
              <a:rPr lang="en" altLang="zh-CN" sz="1800" kern="1200" dirty="0">
                <a:solidFill>
                  <a:srgbClr val="008200"/>
                </a:solidFill>
                <a:latin typeface="Aptos Display" panose="020B0004020202020204" pitchFamily="34" charset="0"/>
                <a:cs typeface="+mn-cs"/>
              </a:rPr>
              <a:t>// </a:t>
            </a:r>
            <a:r>
              <a:rPr lang="en" altLang="en-US" sz="1800" kern="1200" dirty="0">
                <a:solidFill>
                  <a:srgbClr val="008200"/>
                </a:solidFill>
                <a:latin typeface="Aptos Display" panose="020B0004020202020204" pitchFamily="34" charset="0"/>
                <a:cs typeface="+mn-cs"/>
              </a:rPr>
              <a:t>First, define three variables:</a:t>
            </a:r>
            <a:endParaRPr lang="en-US" altLang="zh-CN" sz="1800" kern="1200" dirty="0">
              <a:solidFill>
                <a:srgbClr val="008200"/>
              </a:solidFill>
              <a:latin typeface="Aptos Display" panose="020B0004020202020204" pitchFamily="34" charset="0"/>
              <a:cs typeface="+mn-cs"/>
            </a:endParaRPr>
          </a:p>
          <a:p>
            <a:pPr marL="0" indent="0">
              <a:buNone/>
            </a:pPr>
            <a:r>
              <a:rPr lang="en" altLang="zh-CN" sz="1800" kern="1200" dirty="0">
                <a:solidFill>
                  <a:srgbClr val="80808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int </a:t>
            </a:r>
            <a:r>
              <a:rPr lang="en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a=3,b=5,c=2;</a:t>
            </a:r>
            <a:endParaRPr lang="zh-CN" altLang="en-US" sz="18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871315" y="1228826"/>
            <a:ext cx="4441953" cy="53770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"And"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&amp;&amp;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meaning "and"</a:t>
            </a:r>
          </a:p>
          <a:p>
            <a:pPr indent="161925" algn="just" defTabSz="91440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"or" 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||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meaning "or"</a:t>
            </a:r>
          </a:p>
          <a:p>
            <a:pPr indent="161925" algn="just" defTabSz="91440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"Not"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!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meaning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"the opposite of"</a:t>
            </a:r>
            <a:endParaRPr lang="zh-CN" altLang="zh-CN" sz="11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&amp;&amp;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||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are used to 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connect two expressions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only acts on one expression 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 form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 logical expression</a:t>
            </a:r>
            <a:endParaRPr lang="zh-CN" altLang="zh-CN" sz="11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Evaluation process: For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&amp;&amp;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and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||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-AU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evaluate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 the values of the expressions on both sides respectively, then perform logical operations; for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first </a:t>
            </a:r>
            <a:r>
              <a:rPr lang="en-AU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evaluate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 the value of the corresponding expression</a:t>
            </a:r>
            <a:endParaRPr lang="zh-CN" altLang="zh-CN" sz="11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There’re only two possible results: true (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1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), or false (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0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)</a:t>
            </a:r>
            <a:endParaRPr lang="zh-CN" altLang="zh-CN" sz="11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55600" lvl="2" indent="-177800" algn="just" defTabSz="9144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" altLang="zh-CN" sz="9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&amp;&amp;</a:t>
            </a:r>
            <a:r>
              <a:rPr lang="en" altLang="en-US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: If both expressions are non-zero, it evaluates to </a:t>
            </a:r>
            <a:r>
              <a:rPr lang="en" altLang="zh-CN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1 </a:t>
            </a:r>
            <a:r>
              <a:rPr lang="en" altLang="en-US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otherwise it evaluates to </a:t>
            </a:r>
            <a:r>
              <a:rPr lang="en" altLang="zh-CN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0</a:t>
            </a:r>
            <a:endParaRPr lang="en-US" altLang="zh-CN" sz="9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55600" lvl="2" indent="-177800" algn="just" defTabSz="9144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" altLang="zh-CN" sz="9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||</a:t>
            </a:r>
            <a:r>
              <a:rPr lang="en" altLang="en-US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: If one of the two expressions is non-zero, it evaluates to </a:t>
            </a:r>
            <a:r>
              <a:rPr lang="en" altLang="zh-CN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1 </a:t>
            </a:r>
            <a:r>
              <a:rPr lang="en" altLang="en-US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otherwise it evaluates to </a:t>
            </a:r>
            <a:r>
              <a:rPr lang="en" altLang="zh-CN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0</a:t>
            </a:r>
            <a:endParaRPr lang="en-US" altLang="zh-CN" sz="9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55600" lvl="2" indent="-177800" algn="just" defTabSz="9144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" altLang="zh-CN" sz="9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</a:t>
            </a:r>
            <a:r>
              <a:rPr lang="en" altLang="en-US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: If the value of the corresponding expression is </a:t>
            </a:r>
            <a:r>
              <a:rPr lang="en" altLang="zh-CN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0 , 1 </a:t>
            </a:r>
            <a:r>
              <a:rPr lang="en" altLang="en-US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is </a:t>
            </a:r>
            <a:r>
              <a:rPr lang="en-AU" altLang="en-US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evaluate</a:t>
            </a:r>
            <a:r>
              <a:rPr lang="en" altLang="en-US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d , and if it is non-zero, </a:t>
            </a:r>
            <a:r>
              <a:rPr lang="en" altLang="zh-CN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0 is </a:t>
            </a:r>
            <a:r>
              <a:rPr lang="en-AU" altLang="zh-CN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evaluate</a:t>
            </a:r>
            <a:r>
              <a:rPr lang="en" altLang="zh-CN" sz="9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d.</a:t>
            </a:r>
            <a:endParaRPr lang="zh-CN" altLang="zh-CN" sz="9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precedence of </a:t>
            </a:r>
            <a:r>
              <a:rPr lang="en" altLang="en-US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logical operators: 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&amp;&amp; and || 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are lower than arithmetic operators.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 </a:t>
            </a:r>
            <a:endParaRPr lang="zh-CN" altLang="zh-CN" sz="11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55600" lvl="1" indent="-175260" algn="just" defTabSz="9144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" altLang="zh-CN" sz="900" kern="1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Attention: </a:t>
            </a:r>
            <a:r>
              <a:rPr lang="en" altLang="zh-CN" sz="9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 </a:t>
            </a:r>
            <a:r>
              <a:rPr lang="en" altLang="zh-CN" sz="900" kern="1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is higher than arithmetic operators ( </a:t>
            </a:r>
            <a:r>
              <a:rPr lang="en" altLang="zh-CN" sz="9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+-*/% </a:t>
            </a:r>
            <a:r>
              <a:rPr lang="en" altLang="zh-CN" sz="900" kern="1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)</a:t>
            </a:r>
            <a:endParaRPr lang="zh-CN" altLang="zh-CN" sz="11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  <a:sym typeface="+mn-ea"/>
            </a:endParaRPr>
          </a:p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If there are multiple </a:t>
            </a:r>
            <a:r>
              <a:rPr lang="en" altLang="en-US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logical operators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evaluate from left to right, first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then </a:t>
            </a:r>
            <a:r>
              <a:rPr lang="e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&amp;&amp;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then </a:t>
            </a:r>
            <a:r>
              <a:rPr lang="en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||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when there are parentheses, </a:t>
            </a:r>
            <a:r>
              <a:rPr lang="en-AU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evaluate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 the ones inside first</a:t>
            </a:r>
            <a:endParaRPr lang="zh-CN" altLang="zh-CN" sz="11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(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Tips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) If 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you can’t remember the precedence of </a:t>
            </a:r>
            <a:r>
              <a:rPr lang="en" altLang="en-US" sz="1100" kern="100" dirty="0">
                <a:solidFill>
                  <a:schemeClr val="accent6">
                    <a:lumMod val="75000"/>
                  </a:schemeClr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logical operators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simply</a:t>
            </a:r>
            <a:r>
              <a:rPr lang="en" altLang="en-US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 can </a:t>
            </a:r>
            <a:r>
              <a:rPr lang="en" altLang="zh-CN" sz="11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add more parentheses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Logical Operators</a:t>
            </a: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08417847"/>
              </p:ext>
            </p:extLst>
          </p:nvPr>
        </p:nvGraphicFramePr>
        <p:xfrm>
          <a:off x="353947" y="1967408"/>
          <a:ext cx="6517370" cy="483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9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7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logical expression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a&gt;15&amp;&amp;b&gt;15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&amp;&amp;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If the left side is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If the left side is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 result must be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there is no need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a-2||b-3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|| 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If the left side is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If the left side is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 result must be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there is no need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side.</a:t>
                      </a:r>
                      <a:endParaRPr lang="zh-CN" altLang="en-US" sz="1000" dirty="0">
                        <a:solidFill>
                          <a:schemeClr val="accent4"/>
                        </a:solidFill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b%3==1||b%3==2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'a'&lt;=c&amp;&amp;c&lt;='z'||'A'&lt;=c&amp;&amp;c&lt;='Z'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// </a:t>
                      </a:r>
                      <a:r>
                        <a:rPr lang="en" altLang="zh-CN" sz="100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standard way </a:t>
                      </a:r>
                      <a:r>
                        <a:rPr lang="en" altLang="en-US" sz="100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to determine whether </a:t>
                      </a:r>
                      <a:r>
                        <a:rPr lang="en" altLang="zh-CN" sz="100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 </a:t>
                      </a:r>
                      <a:r>
                        <a:rPr lang="en" altLang="en-US" sz="100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is a letter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0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||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355600" lvl="1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&amp;&amp;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355600" lvl="1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Decide whether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of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&amp;&amp; based on the results 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on the left side, then get the result based on the truth table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7800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Decide whether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of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|| based on the result 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on the left side, </a:t>
                      </a:r>
                      <a:r>
                        <a:rPr lang="en-US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then 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get the result based on the truth table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1&lt;=a&amp;&amp;a&lt;=5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// </a:t>
                      </a:r>
                      <a:r>
                        <a:rPr lang="en" altLang="en-US" sz="100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Standard way determine whether a is between 1 and 5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0" lvl="0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&amp;&amp;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7800" lvl="0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Decide whether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of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&amp;&amp; based on the results 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on the left side, and then get the result based on the truth table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!(a&lt;1||a&gt;5)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0" lvl="0" indent="-177800" algn="l" defTabSz="914400" rtl="0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brackets first</a:t>
                      </a:r>
                      <a:endParaRPr lang="en-US" altLang="zh-CN" sz="1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355600" lvl="1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||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355600" lvl="1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Decide whether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based on the result 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on the left side, then use the truth table to get the result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7800" lvl="0" indent="-177800" algn="l" defTabSz="914400" rtl="0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According to the truth table, </a:t>
                      </a:r>
                      <a:r>
                        <a:rPr lang="en" altLang="en-US" sz="1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flip the result </a:t>
                      </a:r>
                      <a:endParaRPr lang="en-US" altLang="zh-CN" sz="1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353946" y="1214805"/>
            <a:ext cx="65173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lnSpc>
                <a:spcPct val="100000"/>
              </a:lnSpc>
              <a:buNone/>
            </a:pPr>
            <a:r>
              <a:rPr lang="en" altLang="zh-CN" kern="1200" dirty="0">
                <a:solidFill>
                  <a:srgbClr val="008200"/>
                </a:solidFill>
                <a:latin typeface="Consolas" panose="020B0609020204030204" pitchFamily="49" charset="0"/>
                <a:cs typeface="+mn-cs"/>
              </a:rPr>
              <a:t>// </a:t>
            </a:r>
            <a:r>
              <a:rPr lang="en" altLang="en-US" kern="1200" dirty="0">
                <a:solidFill>
                  <a:srgbClr val="008200"/>
                </a:solidFill>
                <a:latin typeface="Consolas" panose="020B0609020204030204" pitchFamily="49" charset="0"/>
                <a:cs typeface="+mn-cs"/>
              </a:rPr>
              <a:t>First, define three variables:</a:t>
            </a:r>
            <a:endParaRPr lang="en-US" altLang="zh-CN" kern="1200" dirty="0">
              <a:solidFill>
                <a:srgbClr val="008200"/>
              </a:solidFill>
              <a:latin typeface="Consolas" panose="020B0609020204030204" pitchFamily="49" charset="0"/>
              <a:cs typeface="+mn-cs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" altLang="zh-CN" b="1" kern="12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a=3,b=5;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zh-CN" b="1" kern="12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 </a:t>
            </a:r>
            <a:r>
              <a:rPr lang="en" altLang="zh-CN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c=</a:t>
            </a:r>
            <a:r>
              <a:rPr lang="en" altLang="zh-CN" dirty="0">
                <a:solidFill>
                  <a:srgbClr val="0000FF"/>
                </a:solidFill>
                <a:latin typeface="Consolas" panose="020B0609020204030204" pitchFamily="49" charset="0"/>
              </a:rPr>
              <a:t>'w'</a:t>
            </a:r>
            <a:r>
              <a:rPr lang="en" altLang="zh-CN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  <a:endParaRPr lang="zh-CN" altLang="en-US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</a:t>
            </a:r>
            <a:r>
              <a:rPr lang="en" altLang="zh-CN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ool</a:t>
            </a:r>
            <a:r>
              <a:rPr lang="en-US" altLang="zh-CN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ean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type</a:t>
            </a:r>
          </a:p>
        </p:txBody>
      </p:sp>
      <p:sp>
        <p:nvSpPr>
          <p:cNvPr id="9" name="文本框 2"/>
          <p:cNvSpPr txBox="1"/>
          <p:nvPr/>
        </p:nvSpPr>
        <p:spPr>
          <a:xfrm>
            <a:off x="678609" y="1486111"/>
            <a:ext cx="10011558" cy="4396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boolean</a:t>
            </a:r>
            <a:endParaRPr lang="en-US" altLang="zh-CN" sz="20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Occupies </a:t>
            </a:r>
            <a:r>
              <a:rPr lang="en" altLang="zh-CN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1 byte</a:t>
            </a:r>
            <a:endParaRPr lang="en" altLang="en-US" sz="20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Value range: </a:t>
            </a:r>
            <a:r>
              <a:rPr lang="en" altLang="zh-CN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0 </a:t>
            </a:r>
            <a:r>
              <a:rPr lang="en" altLang="en-US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or </a:t>
            </a:r>
            <a:r>
              <a:rPr lang="en" altLang="zh-CN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1</a:t>
            </a:r>
          </a:p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true and false keywords, equivalent to 1 and 0</a:t>
            </a:r>
          </a:p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For </a:t>
            </a:r>
            <a:r>
              <a:rPr lang="en" altLang="en-US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expressions involving </a:t>
            </a:r>
            <a:r>
              <a:rPr lang="en" altLang="en-US" sz="2000" kern="100" dirty="0">
                <a:solidFill>
                  <a:schemeClr val="accent4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relational expression operators </a:t>
            </a:r>
            <a:r>
              <a:rPr lang="en" altLang="en-US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or </a:t>
            </a:r>
            <a:r>
              <a:rPr lang="en" altLang="en-US" sz="2000" kern="100" dirty="0">
                <a:solidFill>
                  <a:schemeClr val="accent4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logical operators</a:t>
            </a:r>
            <a:r>
              <a:rPr lang="en" altLang="zh-CN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en-US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result must be of </a:t>
            </a:r>
            <a:r>
              <a:rPr lang="en" altLang="zh-CN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bool </a:t>
            </a:r>
            <a:r>
              <a:rPr lang="en" altLang="en-US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type.</a:t>
            </a:r>
            <a:endParaRPr lang="en-US" altLang="zh-CN" sz="20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bool </a:t>
            </a:r>
            <a:r>
              <a:rPr lang="en" altLang="en-US" sz="20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the data type with the lowest precision</a:t>
            </a:r>
            <a:endParaRPr lang="en-US" altLang="zh-CN" sz="20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730250" lvl="2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Automatic type conversion during evaluation: If evaluating with other data types, they will always be automatically converted to other types.</a:t>
            </a:r>
            <a:endParaRPr lang="en-US" altLang="zh-CN" sz="1600" kern="1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730250" lvl="2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Automatic type conversion during assignment: </a:t>
            </a:r>
            <a:r>
              <a:rPr lang="en" altLang="zh-CN" sz="1600" kern="1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assigning other types to the bool type, the results are only 1 or 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D8E51D1-FB0B-457F-AA4D-B571F34ED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09" y="1412078"/>
            <a:ext cx="3088356" cy="148698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279E12BF-51D5-4FC8-9F2F-22A3207B5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1039" y="1412077"/>
            <a:ext cx="3141516" cy="148698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6913D9A4-A535-44A0-99C0-1DC4A81546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9339" y="1412077"/>
            <a:ext cx="3728084" cy="148698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4B82FB4-97D4-4721-A508-769C2A7E2F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" y="3266629"/>
            <a:ext cx="4116701" cy="142501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7F00C8F-78C8-4250-88D5-5D97351F16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6498" y="3172376"/>
            <a:ext cx="5900599" cy="14250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51E28F5-5166-4504-AF2D-6095D4E08D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240" y="5062472"/>
            <a:ext cx="3441136" cy="142501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F79F9D7-B619-4E66-B6E5-9174630E3410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Cloze test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BD1067E5-148F-F29F-6A48-A2D8F5BF11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90381" y="5061985"/>
            <a:ext cx="4880940" cy="14250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A298620-4E2E-8218-A298-10581EB62954}"/>
              </a:ext>
            </a:extLst>
          </p:cNvPr>
          <p:cNvSpPr txBox="1"/>
          <p:nvPr/>
        </p:nvSpPr>
        <p:spPr>
          <a:xfrm>
            <a:off x="2137558" y="1412077"/>
            <a:ext cx="16294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6445C-FA5C-C733-BC91-1A66B4C8AF75}"/>
              </a:ext>
            </a:extLst>
          </p:cNvPr>
          <p:cNvSpPr txBox="1"/>
          <p:nvPr/>
        </p:nvSpPr>
        <p:spPr>
          <a:xfrm>
            <a:off x="2204058" y="2293382"/>
            <a:ext cx="821775" cy="307777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pass</a:t>
            </a:r>
            <a:endParaRPr lang="en-AU" sz="20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A2476C-D772-81B0-8EB3-59758EAF332B}"/>
              </a:ext>
            </a:extLst>
          </p:cNvPr>
          <p:cNvSpPr txBox="1"/>
          <p:nvPr/>
        </p:nvSpPr>
        <p:spPr>
          <a:xfrm>
            <a:off x="2187433" y="4096052"/>
            <a:ext cx="2351316" cy="307777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div.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endParaRPr lang="en-AU" sz="20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55860A-B87C-BAD1-8827-E8DBD81D1C68}"/>
              </a:ext>
            </a:extLst>
          </p:cNvPr>
          <p:cNvSpPr txBox="1"/>
          <p:nvPr/>
        </p:nvSpPr>
        <p:spPr>
          <a:xfrm>
            <a:off x="2137557" y="4971573"/>
            <a:ext cx="16294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656719-9FAA-DFBF-EDF5-3061740434A4}"/>
              </a:ext>
            </a:extLst>
          </p:cNvPr>
          <p:cNvSpPr txBox="1"/>
          <p:nvPr/>
        </p:nvSpPr>
        <p:spPr>
          <a:xfrm>
            <a:off x="2204059" y="5916485"/>
            <a:ext cx="1629407" cy="26161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born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2nd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half</a:t>
            </a:r>
            <a:endParaRPr lang="en-AU" sz="1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CA3674-B42E-C9F3-FBCC-DBE9C0193F64}"/>
              </a:ext>
            </a:extLst>
          </p:cNvPr>
          <p:cNvSpPr txBox="1"/>
          <p:nvPr/>
        </p:nvSpPr>
        <p:spPr>
          <a:xfrm>
            <a:off x="5666292" y="2293382"/>
            <a:ext cx="1914915" cy="307777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cannot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afford</a:t>
            </a:r>
            <a:endParaRPr lang="en-AU" sz="20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09784D-7600-96B1-F4A1-881C7F6FD7C4}"/>
              </a:ext>
            </a:extLst>
          </p:cNvPr>
          <p:cNvSpPr txBox="1"/>
          <p:nvPr/>
        </p:nvSpPr>
        <p:spPr>
          <a:xfrm>
            <a:off x="6799755" y="3081963"/>
            <a:ext cx="16294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573BAF-EE8A-3381-15BC-B0316416D25A}"/>
              </a:ext>
            </a:extLst>
          </p:cNvPr>
          <p:cNvSpPr txBox="1"/>
          <p:nvPr/>
        </p:nvSpPr>
        <p:spPr>
          <a:xfrm>
            <a:off x="6898276" y="4018578"/>
            <a:ext cx="4141025" cy="276999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90: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B,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98: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A.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only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B.</a:t>
            </a:r>
            <a:endParaRPr lang="en-AU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B30268-5DC5-499A-CA73-2ADD1C8A22E7}"/>
              </a:ext>
            </a:extLst>
          </p:cNvPr>
          <p:cNvSpPr txBox="1"/>
          <p:nvPr/>
        </p:nvSpPr>
        <p:spPr>
          <a:xfrm>
            <a:off x="9731476" y="2287610"/>
            <a:ext cx="1386000" cy="26161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div.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endParaRPr lang="en-AU" sz="1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411841-FCE8-F794-4D29-BC05185EB288}"/>
              </a:ext>
            </a:extLst>
          </p:cNvPr>
          <p:cNvSpPr txBox="1"/>
          <p:nvPr/>
        </p:nvSpPr>
        <p:spPr>
          <a:xfrm>
            <a:off x="6573874" y="5916486"/>
            <a:ext cx="3150000" cy="246221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div.</a:t>
            </a: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only</a:t>
            </a: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</a:t>
            </a: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</a:t>
            </a: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of</a:t>
            </a: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</a:t>
            </a:r>
            <a:r>
              <a:rPr lang="zh-CN" alt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endParaRPr lang="en-AU" sz="16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7702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8F79F9D7-B619-4E66-B6E5-9174630E3410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Cloze test answers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E92E840-BE91-4BA9-A814-CDF5829DD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09" y="1412077"/>
            <a:ext cx="3068179" cy="143887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ECF5ED95-3966-4B2C-97FB-2EE59ED227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882" y="1406990"/>
            <a:ext cx="4022898" cy="1497158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7CEB77ED-8BB2-4EB0-B904-9A78F27F0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875" y="1412077"/>
            <a:ext cx="3351262" cy="1486984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3FF3D262-1497-4108-A85B-A773F81336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" y="3266628"/>
            <a:ext cx="4543026" cy="1296635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935FE407-CFD8-448D-BA4B-578D45B2FF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6498" y="3177463"/>
            <a:ext cx="5686577" cy="1381027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E06DB031-D327-477B-82EE-F5951B9D47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49" y="4831996"/>
            <a:ext cx="3446184" cy="1422736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01B78BE7-DA5B-823C-B5E9-6C5D08A33E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7292" y="4822450"/>
            <a:ext cx="5199541" cy="14322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A3A31C-4959-2448-4014-CE5760236548}"/>
              </a:ext>
            </a:extLst>
          </p:cNvPr>
          <p:cNvSpPr txBox="1"/>
          <p:nvPr/>
        </p:nvSpPr>
        <p:spPr>
          <a:xfrm>
            <a:off x="2137558" y="1412077"/>
            <a:ext cx="16294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004F16-1A6B-7243-8465-1140F6E0B208}"/>
              </a:ext>
            </a:extLst>
          </p:cNvPr>
          <p:cNvSpPr txBox="1"/>
          <p:nvPr/>
        </p:nvSpPr>
        <p:spPr>
          <a:xfrm>
            <a:off x="2137558" y="1412077"/>
            <a:ext cx="16294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3ECB60-CBBC-C32F-C763-EEA899050628}"/>
              </a:ext>
            </a:extLst>
          </p:cNvPr>
          <p:cNvSpPr txBox="1"/>
          <p:nvPr/>
        </p:nvSpPr>
        <p:spPr>
          <a:xfrm>
            <a:off x="2204058" y="2260132"/>
            <a:ext cx="821775" cy="307777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pass</a:t>
            </a:r>
            <a:endParaRPr lang="en-AU" sz="20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EBEC92-97D8-D03E-E325-9C8E8F236161}"/>
              </a:ext>
            </a:extLst>
          </p:cNvPr>
          <p:cNvSpPr txBox="1"/>
          <p:nvPr/>
        </p:nvSpPr>
        <p:spPr>
          <a:xfrm>
            <a:off x="2037807" y="3996302"/>
            <a:ext cx="2142000" cy="307777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div.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endParaRPr lang="en-AU" sz="20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5BCF2E-72B7-725D-3C7B-7FF15E11504E}"/>
              </a:ext>
            </a:extLst>
          </p:cNvPr>
          <p:cNvSpPr txBox="1"/>
          <p:nvPr/>
        </p:nvSpPr>
        <p:spPr>
          <a:xfrm>
            <a:off x="2137557" y="4738823"/>
            <a:ext cx="16294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DB1AA-EA06-42D4-00F2-21E75C446C87}"/>
              </a:ext>
            </a:extLst>
          </p:cNvPr>
          <p:cNvSpPr txBox="1"/>
          <p:nvPr/>
        </p:nvSpPr>
        <p:spPr>
          <a:xfrm>
            <a:off x="2204059" y="5683735"/>
            <a:ext cx="1629407" cy="26161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born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2nd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half</a:t>
            </a:r>
            <a:endParaRPr lang="en-AU" sz="1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4A914-B2BB-5102-B0DA-39FFE8668FF6}"/>
              </a:ext>
            </a:extLst>
          </p:cNvPr>
          <p:cNvSpPr txBox="1"/>
          <p:nvPr/>
        </p:nvSpPr>
        <p:spPr>
          <a:xfrm>
            <a:off x="5666292" y="2293382"/>
            <a:ext cx="2099922" cy="307777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cannot</a:t>
            </a:r>
            <a:r>
              <a:rPr lang="zh-CN" altLang="en-US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afford</a:t>
            </a:r>
            <a:endParaRPr lang="en-AU" sz="20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2A303-6557-16D3-20AE-E0AD98B3F3C1}"/>
              </a:ext>
            </a:extLst>
          </p:cNvPr>
          <p:cNvSpPr txBox="1"/>
          <p:nvPr/>
        </p:nvSpPr>
        <p:spPr>
          <a:xfrm>
            <a:off x="6799755" y="3081963"/>
            <a:ext cx="16294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63FB64-43B9-E339-61E7-ABA2D3088862}"/>
              </a:ext>
            </a:extLst>
          </p:cNvPr>
          <p:cNvSpPr txBox="1"/>
          <p:nvPr/>
        </p:nvSpPr>
        <p:spPr>
          <a:xfrm>
            <a:off x="6865025" y="4001954"/>
            <a:ext cx="3960000" cy="276999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90: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B,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98: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A.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You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only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B.</a:t>
            </a:r>
            <a:endParaRPr lang="en-AU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9B0871-E22C-DCEF-6293-C23088375EB1}"/>
              </a:ext>
            </a:extLst>
          </p:cNvPr>
          <p:cNvSpPr txBox="1"/>
          <p:nvPr/>
        </p:nvSpPr>
        <p:spPr>
          <a:xfrm>
            <a:off x="9947601" y="2287609"/>
            <a:ext cx="1422000" cy="276999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div.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</a:t>
            </a:r>
            <a:r>
              <a:rPr lang="zh-CN" alt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endParaRPr lang="en-AU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E1D848-D0E2-CEC5-79CB-65F89C676E5D}"/>
              </a:ext>
            </a:extLst>
          </p:cNvPr>
          <p:cNvSpPr txBox="1"/>
          <p:nvPr/>
        </p:nvSpPr>
        <p:spPr>
          <a:xfrm>
            <a:off x="6673621" y="5683736"/>
            <a:ext cx="3348000" cy="26161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div.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only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of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zh-CN" altLang="en-US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</a:t>
            </a:r>
            <a:r>
              <a:rPr lang="zh-CN" altLang="en-US" sz="1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endParaRPr lang="en-AU" sz="1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DBBE56-66AE-D0D8-5447-C8D3ABE50AD7}"/>
              </a:ext>
            </a:extLst>
          </p:cNvPr>
          <p:cNvSpPr txBox="1"/>
          <p:nvPr/>
        </p:nvSpPr>
        <p:spPr>
          <a:xfrm>
            <a:off x="3108807" y="3703868"/>
            <a:ext cx="2084459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</a:t>
            </a:r>
            <a:r>
              <a:rPr lang="zh-CN" alt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</a:t>
            </a:r>
            <a:r>
              <a:rPr lang="zh-CN" alt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n%15==0</a:t>
            </a:r>
            <a:endParaRPr lang="en-AU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5945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78608" y="1263535"/>
            <a:ext cx="5417395" cy="8652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en-US" sz="2000" i="1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Natural language: The sum of any two sides is greater than the third side</a:t>
            </a:r>
            <a:endParaRPr lang="en-US" altLang="zh-CN" sz="2000" i="1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4" name="内容占位符 2"/>
          <p:cNvSpPr txBox="1"/>
          <p:nvPr/>
        </p:nvSpPr>
        <p:spPr>
          <a:xfrm>
            <a:off x="6483212" y="1486111"/>
            <a:ext cx="4286387" cy="23225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a,b,c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cin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&gt;&gt;a&gt;&gt;b&gt;&gt;c;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" altLang="zh-CN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a+b &gt;c&amp;&amp; b+c &gt;a&amp;&amp; a+c &gt;b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6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"yes"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6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"no"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en-US" sz="1600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内容占位符 2"/>
          <p:cNvSpPr txBox="1"/>
          <p:nvPr/>
        </p:nvSpPr>
        <p:spPr>
          <a:xfrm>
            <a:off x="6483211" y="4038888"/>
            <a:ext cx="4286387" cy="23225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a,b,c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cin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&gt;&gt;a&gt;&gt;b&gt;&gt;c;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" altLang="zh-CN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a+b </a:t>
            </a:r>
            <a:r>
              <a:rPr lang="en" altLang="zh-CN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&lt;=c|| </a:t>
            </a:r>
            <a:r>
              <a:rPr lang="en" altLang="zh-CN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b+c </a:t>
            </a:r>
            <a:r>
              <a:rPr lang="en" altLang="zh-CN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&lt;=a|| </a:t>
            </a:r>
            <a:r>
              <a:rPr lang="en" altLang="zh-CN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a+c </a:t>
            </a:r>
            <a:r>
              <a:rPr lang="en" altLang="zh-CN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&lt;=b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6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"no"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6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"yes"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en-US" sz="1600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legit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triangle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1C4DA1E-0E27-4278-8937-C18E89BEEB22}"/>
              </a:ext>
            </a:extLst>
          </p:cNvPr>
          <p:cNvSpPr txBox="1"/>
          <p:nvPr/>
        </p:nvSpPr>
        <p:spPr>
          <a:xfrm>
            <a:off x="678606" y="2128746"/>
            <a:ext cx="541739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Logical expression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 if the sum of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greater than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and the sum of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greater than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and the sum of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greater than </a:t>
            </a:r>
            <a:r>
              <a:rPr lang="en-US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it is a l</a:t>
            </a:r>
            <a:r>
              <a:rPr lang="en-US" altLang="zh-CN" sz="24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egit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triangle, otherwise </a:t>
            </a:r>
            <a:r>
              <a:rPr lang="en-US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not.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6004B2-B87C-47EE-809B-30BE54BA7DC5}"/>
              </a:ext>
            </a:extLst>
          </p:cNvPr>
          <p:cNvSpPr txBox="1"/>
          <p:nvPr/>
        </p:nvSpPr>
        <p:spPr>
          <a:xfrm>
            <a:off x="678605" y="4089828"/>
            <a:ext cx="541739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Logical expression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B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: if the sum of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and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b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is less than or equal to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or the sum of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b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and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is less than or equal to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or the sum of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and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is less than or equal to </a:t>
            </a:r>
            <a:r>
              <a:rPr lang="en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b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it is </a:t>
            </a:r>
            <a:r>
              <a:rPr lang="en-US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not</a:t>
            </a:r>
            <a:r>
              <a:rPr lang="zh-C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 l</a:t>
            </a:r>
            <a:r>
              <a:rPr lang="en-US" altLang="zh-CN" sz="24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egit</a:t>
            </a:r>
            <a:r>
              <a:rPr lang="en" altLang="en-US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triangle, otherwise </a:t>
            </a:r>
            <a:r>
              <a:rPr lang="en-US" altLang="zh-CN" sz="24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is.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DDE1F6C-50FA-4819-AFF6-1A43AA1917AB}"/>
              </a:ext>
            </a:extLst>
          </p:cNvPr>
          <p:cNvSpPr txBox="1"/>
          <p:nvPr/>
        </p:nvSpPr>
        <p:spPr>
          <a:xfrm>
            <a:off x="6991228" y="2128746"/>
            <a:ext cx="3121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a+b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&gt;c&amp;&amp;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b+c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&gt;a&amp;&amp;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&gt;b</a:t>
            </a:r>
            <a:endParaRPr lang="zh-CN" altLang="en-US" sz="1600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C3A882D-8799-4F52-997D-B5F263794D0E}"/>
              </a:ext>
            </a:extLst>
          </p:cNvPr>
          <p:cNvSpPr txBox="1"/>
          <p:nvPr/>
        </p:nvSpPr>
        <p:spPr>
          <a:xfrm>
            <a:off x="7066595" y="4715725"/>
            <a:ext cx="3382574" cy="343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a+b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&lt;=c||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b+c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&lt;=a||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&lt;=b</a:t>
            </a:r>
            <a:endParaRPr lang="zh-CN" altLang="en-US" sz="1600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10" grpId="0"/>
      <p:bldP spid="11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en-US" dirty="0"/>
              <a:t>thank you all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Teacher Gao Algorithm Competition Training Camp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564130" y="6206490"/>
            <a:ext cx="38779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sz="1600" dirty="0">
                <a:latin typeface="+mj-ea"/>
                <a:ea typeface="+mj-ea"/>
              </a:rPr>
              <a:t>Note: Please turn off your microphone and camera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68344772-a139-4164-b2e2-eaee5ec8c587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68344772-a139-4164-b2e2-eaee5ec8c587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03b17792-b74b-4970-982f-775fbc490e3c}"/>
  <p:tag name="TABLE_ENDDRAG_ORIGIN_RECT" val="276*381"/>
  <p:tag name="TABLE_ENDDRAG_RECT" val="264*144*276*382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电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1390</TotalTime>
  <Words>1909</Words>
  <Application>Microsoft Macintosh PowerPoint</Application>
  <PresentationFormat>Widescreen</PresentationFormat>
  <Paragraphs>207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华文楷体</vt:lpstr>
      <vt:lpstr>Aptos Display</vt:lpstr>
      <vt:lpstr>Arial</vt:lpstr>
      <vt:lpstr>Consolas</vt:lpstr>
      <vt:lpstr>Tw Cen MT</vt:lpstr>
      <vt:lpstr>Wingdings</vt:lpstr>
      <vt:lpstr>电路</vt:lpstr>
      <vt:lpstr>Language Basics (3)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all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NOIP 入门习题精讲 - 09</dc:title>
  <dc:creator>Minren Guan</dc:creator>
  <cp:lastModifiedBy>Bryan Sun</cp:lastModifiedBy>
  <cp:revision>282</cp:revision>
  <dcterms:created xsi:type="dcterms:W3CDTF">2018-08-09T00:16:00Z</dcterms:created>
  <dcterms:modified xsi:type="dcterms:W3CDTF">2026-08-08T13:22:10Z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0E09B697D38146F2A1E20319C05FEB57</vt:lpwstr>
  </property>
  <property fmtid="{D5CDD505-2E9C-101B-9397-08002B2CF9AE}" pid="3" name="KSOProductBuildVer">
    <vt:lpwstr>2052-11.1.0.10700</vt:lpwstr>
  </property>
</Properties>
</file>