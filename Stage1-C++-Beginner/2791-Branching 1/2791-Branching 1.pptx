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348" r:id="rId3"/>
    <p:sldId id="347" r:id="rId4"/>
    <p:sldId id="356" r:id="rId5"/>
    <p:sldId id="332" r:id="rId6"/>
    <p:sldId id="346" r:id="rId7"/>
    <p:sldId id="359" r:id="rId8"/>
    <p:sldId id="360" r:id="rId9"/>
    <p:sldId id="334" r:id="rId10"/>
    <p:sldId id="357" r:id="rId11"/>
    <p:sldId id="358" r:id="rId12"/>
    <p:sldId id="349" r:id="rId13"/>
    <p:sldId id="261" r:id="rId14"/>
  </p:sldIdLst>
  <p:sldSz cx="12192000" cy="6858000"/>
  <p:notesSz cx="6858000" cy="9144000"/>
  <p:defaultTextStyle>
    <a:defPPr>
      <a:defRPr lang="en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3466" autoAdjust="0"/>
    <p:restoredTop sz="95500"/>
  </p:normalViewPr>
  <p:slideViewPr>
    <p:cSldViewPr snapToGrid="0">
      <p:cViewPr varScale="1">
        <p:scale>
          <a:sx n="65" d="100"/>
          <a:sy n="65" d="100"/>
        </p:scale>
        <p:origin x="216" y="816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ryan Sun" userId="851caa7714272873" providerId="LiveId" clId="{9CD94D5E-0A18-4CEF-A655-0E4C15651F93}"/>
    <pc:docChg chg="modSld">
      <pc:chgData name="Bryan Sun" userId="851caa7714272873" providerId="LiveId" clId="{9CD94D5E-0A18-4CEF-A655-0E4C15651F93}" dt="2026-08-22T03:39:39.138" v="10" actId="20577"/>
      <pc:docMkLst>
        <pc:docMk/>
      </pc:docMkLst>
      <pc:sldChg chg="modSp mod">
        <pc:chgData name="Bryan Sun" userId="851caa7714272873" providerId="LiveId" clId="{9CD94D5E-0A18-4CEF-A655-0E4C15651F93}" dt="2026-08-22T03:39:39.138" v="10" actId="20577"/>
        <pc:sldMkLst>
          <pc:docMk/>
          <pc:sldMk cId="3602779307" sldId="359"/>
        </pc:sldMkLst>
        <pc:spChg chg="mod">
          <ac:chgData name="Bryan Sun" userId="851caa7714272873" providerId="LiveId" clId="{9CD94D5E-0A18-4CEF-A655-0E4C15651F93}" dt="2026-08-22T03:39:39.138" v="10" actId="20577"/>
          <ac:spMkLst>
            <pc:docMk/>
            <pc:sldMk cId="3602779307" sldId="359"/>
            <ac:spMk id="2" creationId="{10EA9AA3-C7FA-7AA3-64C5-AB1CB65570DB}"/>
          </ac:spMkLst>
        </pc:spChg>
      </pc:sldChg>
    </pc:docChg>
  </pc:docChgLst>
  <pc:docChgLst>
    <pc:chgData name="Bryan Sun" userId="851caa7714272873" providerId="LiveId" clId="{1DF0C224-3A3E-55A6-A8D1-F8F2208D385B}"/>
    <pc:docChg chg="undo custSel addSld modSld">
      <pc:chgData name="Bryan Sun" userId="851caa7714272873" providerId="LiveId" clId="{1DF0C224-3A3E-55A6-A8D1-F8F2208D385B}" dt="2026-08-23T04:32:19.562" v="732" actId="20577"/>
      <pc:docMkLst>
        <pc:docMk/>
      </pc:docMkLst>
      <pc:sldChg chg="modSp mod">
        <pc:chgData name="Bryan Sun" userId="851caa7714272873" providerId="LiveId" clId="{1DF0C224-3A3E-55A6-A8D1-F8F2208D385B}" dt="2026-08-16T04:43:15.369" v="2" actId="20577"/>
        <pc:sldMkLst>
          <pc:docMk/>
          <pc:sldMk cId="570729498" sldId="356"/>
        </pc:sldMkLst>
        <pc:graphicFrameChg chg="modGraphic">
          <ac:chgData name="Bryan Sun" userId="851caa7714272873" providerId="LiveId" clId="{1DF0C224-3A3E-55A6-A8D1-F8F2208D385B}" dt="2026-08-16T04:43:15.369" v="2" actId="20577"/>
          <ac:graphicFrameMkLst>
            <pc:docMk/>
            <pc:sldMk cId="570729498" sldId="356"/>
            <ac:graphicFrameMk id="2" creationId="{00000000-0000-0000-0000-000000000000}"/>
          </ac:graphicFrameMkLst>
        </pc:graphicFrameChg>
      </pc:sldChg>
      <pc:sldChg chg="addSp delSp modSp mod modAnim">
        <pc:chgData name="Bryan Sun" userId="851caa7714272873" providerId="LiveId" clId="{1DF0C224-3A3E-55A6-A8D1-F8F2208D385B}" dt="2026-08-23T04:32:19.562" v="732" actId="20577"/>
        <pc:sldMkLst>
          <pc:docMk/>
          <pc:sldMk cId="3967702150" sldId="357"/>
        </pc:sldMkLst>
        <pc:spChg chg="add mod">
          <ac:chgData name="Bryan Sun" userId="851caa7714272873" providerId="LiveId" clId="{1DF0C224-3A3E-55A6-A8D1-F8F2208D385B}" dt="2026-08-23T04:20:42.522" v="386" actId="1038"/>
          <ac:spMkLst>
            <pc:docMk/>
            <pc:sldMk cId="3967702150" sldId="357"/>
            <ac:spMk id="20" creationId="{22E2FADE-A6A3-659A-673A-793836050CFC}"/>
          </ac:spMkLst>
        </pc:spChg>
        <pc:spChg chg="add mod">
          <ac:chgData name="Bryan Sun" userId="851caa7714272873" providerId="LiveId" clId="{1DF0C224-3A3E-55A6-A8D1-F8F2208D385B}" dt="2026-08-23T04:21:41.925" v="430" actId="20577"/>
          <ac:spMkLst>
            <pc:docMk/>
            <pc:sldMk cId="3967702150" sldId="357"/>
            <ac:spMk id="21" creationId="{337C0F69-A02A-EB59-520B-83AB705D60DF}"/>
          </ac:spMkLst>
        </pc:spChg>
        <pc:spChg chg="add del mod">
          <ac:chgData name="Bryan Sun" userId="851caa7714272873" providerId="LiveId" clId="{1DF0C224-3A3E-55A6-A8D1-F8F2208D385B}" dt="2026-08-23T04:22:21.361" v="517" actId="20577"/>
          <ac:spMkLst>
            <pc:docMk/>
            <pc:sldMk cId="3967702150" sldId="357"/>
            <ac:spMk id="22" creationId="{73B2C187-B0F2-B43C-D3AE-3AEB4802C3D0}"/>
          </ac:spMkLst>
        </pc:spChg>
        <pc:spChg chg="add del mod">
          <ac:chgData name="Bryan Sun" userId="851caa7714272873" providerId="LiveId" clId="{1DF0C224-3A3E-55A6-A8D1-F8F2208D385B}" dt="2026-08-23T04:23:01.547" v="614"/>
          <ac:spMkLst>
            <pc:docMk/>
            <pc:sldMk cId="3967702150" sldId="357"/>
            <ac:spMk id="23" creationId="{38D5CA22-6239-DF9B-D28F-A2CACEAF2725}"/>
          </ac:spMkLst>
        </pc:spChg>
        <pc:spChg chg="add mod">
          <ac:chgData name="Bryan Sun" userId="851caa7714272873" providerId="LiveId" clId="{1DF0C224-3A3E-55A6-A8D1-F8F2208D385B}" dt="2026-08-23T04:32:19.562" v="732" actId="20577"/>
          <ac:spMkLst>
            <pc:docMk/>
            <pc:sldMk cId="3967702150" sldId="357"/>
            <ac:spMk id="24" creationId="{5121281F-1A14-C4D9-43DB-2232083CE0E6}"/>
          </ac:spMkLst>
        </pc:spChg>
        <pc:picChg chg="mod">
          <ac:chgData name="Bryan Sun" userId="851caa7714272873" providerId="LiveId" clId="{1DF0C224-3A3E-55A6-A8D1-F8F2208D385B}" dt="2026-08-23T04:27:56.965" v="693" actId="1076"/>
          <ac:picMkLst>
            <pc:docMk/>
            <pc:sldMk cId="3967702150" sldId="357"/>
            <ac:picMk id="6" creationId="{A7F00C8F-78C8-4250-88D5-5D97351F16EB}"/>
          </ac:picMkLst>
        </pc:picChg>
      </pc:sldChg>
      <pc:sldChg chg="modSp new mod">
        <pc:chgData name="Bryan Sun" userId="851caa7714272873" providerId="LiveId" clId="{1DF0C224-3A3E-55A6-A8D1-F8F2208D385B}" dt="2026-08-16T05:24:59.510" v="180" actId="20577"/>
        <pc:sldMkLst>
          <pc:docMk/>
          <pc:sldMk cId="3602779307" sldId="359"/>
        </pc:sldMkLst>
        <pc:spChg chg="mod">
          <ac:chgData name="Bryan Sun" userId="851caa7714272873" providerId="LiveId" clId="{1DF0C224-3A3E-55A6-A8D1-F8F2208D385B}" dt="2026-08-16T05:24:59.510" v="180" actId="20577"/>
          <ac:spMkLst>
            <pc:docMk/>
            <pc:sldMk cId="3602779307" sldId="359"/>
            <ac:spMk id="3" creationId="{4209089D-919D-AD70-6588-5E106FE94478}"/>
          </ac:spMkLst>
        </pc:spChg>
      </pc:sldChg>
      <pc:sldChg chg="modSp new mod">
        <pc:chgData name="Bryan Sun" userId="851caa7714272873" providerId="LiveId" clId="{1DF0C224-3A3E-55A6-A8D1-F8F2208D385B}" dt="2026-08-23T04:00:45.753" v="345" actId="20577"/>
        <pc:sldMkLst>
          <pc:docMk/>
          <pc:sldMk cId="2477124522" sldId="360"/>
        </pc:sldMkLst>
        <pc:spChg chg="mod">
          <ac:chgData name="Bryan Sun" userId="851caa7714272873" providerId="LiveId" clId="{1DF0C224-3A3E-55A6-A8D1-F8F2208D385B}" dt="2026-08-23T04:00:45.753" v="345" actId="20577"/>
          <ac:spMkLst>
            <pc:docMk/>
            <pc:sldMk cId="2477124522" sldId="360"/>
            <ac:spMk id="3" creationId="{EAEE1E1F-5A98-606B-FA52-98D07434C00E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-1"/>
            <a:ext cx="12192000" cy="6857999"/>
          </a:xfrm>
          <a:prstGeom prst="rect">
            <a:avLst/>
          </a:prstGeom>
          <a:noFill/>
        </p:spPr>
      </p:pic>
      <p:grpSp>
        <p:nvGrpSpPr>
          <p:cNvPr id="11" name="Group 10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bg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12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</p:spPr>
          <p:txBody>
            <a:bodyPr/>
            <a:lstStyle/>
            <a:p>
              <a:endParaRPr lang="en-AU"/>
            </a:p>
          </p:txBody>
        </p:sp>
        <p:sp>
          <p:nvSpPr>
            <p:cNvPr id="13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AU"/>
            </a:p>
          </p:txBody>
        </p:sp>
        <p:sp>
          <p:nvSpPr>
            <p:cNvPr id="14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AU"/>
            </a:p>
          </p:txBody>
        </p:sp>
        <p:sp>
          <p:nvSpPr>
            <p:cNvPr id="15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</p:spPr>
          <p:txBody>
            <a:bodyPr/>
            <a:lstStyle/>
            <a:p>
              <a:endParaRPr lang="en-AU"/>
            </a:p>
          </p:txBody>
        </p:sp>
        <p:sp>
          <p:nvSpPr>
            <p:cNvPr id="16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AU"/>
            </a:p>
          </p:txBody>
        </p:sp>
        <p:sp>
          <p:nvSpPr>
            <p:cNvPr id="17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AU"/>
            </a:p>
          </p:txBody>
        </p:sp>
        <p:sp>
          <p:nvSpPr>
            <p:cNvPr id="18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AU"/>
            </a:p>
          </p:txBody>
        </p:sp>
        <p:sp>
          <p:nvSpPr>
            <p:cNvPr id="19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AU"/>
            </a:p>
          </p:txBody>
        </p:sp>
        <p:sp>
          <p:nvSpPr>
            <p:cNvPr id="20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AU"/>
            </a:p>
          </p:txBody>
        </p:sp>
        <p:sp>
          <p:nvSpPr>
            <p:cNvPr id="21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AU"/>
            </a:p>
          </p:txBody>
        </p:sp>
        <p:sp>
          <p:nvSpPr>
            <p:cNvPr id="22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AU"/>
            </a:p>
          </p:txBody>
        </p:sp>
        <p:sp>
          <p:nvSpPr>
            <p:cNvPr id="23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AU"/>
            </a:p>
          </p:txBody>
        </p:sp>
        <p:sp>
          <p:nvSpPr>
            <p:cNvPr id="24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AU"/>
            </a:p>
          </p:txBody>
        </p:sp>
        <p:sp>
          <p:nvSpPr>
            <p:cNvPr id="25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AU"/>
            </a:p>
          </p:txBody>
        </p:sp>
        <p:sp>
          <p:nvSpPr>
            <p:cNvPr id="26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AU"/>
            </a:p>
          </p:txBody>
        </p:sp>
        <p:sp>
          <p:nvSpPr>
            <p:cNvPr id="27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AU"/>
            </a:p>
          </p:txBody>
        </p:sp>
        <p:sp>
          <p:nvSpPr>
            <p:cNvPr id="28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AU"/>
            </a:p>
          </p:txBody>
        </p:sp>
        <p:sp>
          <p:nvSpPr>
            <p:cNvPr id="29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AU"/>
            </a:p>
          </p:txBody>
        </p:sp>
        <p:sp>
          <p:nvSpPr>
            <p:cNvPr id="30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AU"/>
            </a:p>
          </p:txBody>
        </p:sp>
        <p:sp>
          <p:nvSpPr>
            <p:cNvPr id="31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AU"/>
            </a:p>
          </p:txBody>
        </p:sp>
        <p:sp>
          <p:nvSpPr>
            <p:cNvPr id="32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AU"/>
            </a:p>
          </p:txBody>
        </p:sp>
        <p:sp>
          <p:nvSpPr>
            <p:cNvPr id="33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AU"/>
            </a:p>
          </p:txBody>
        </p:sp>
        <p:sp>
          <p:nvSpPr>
            <p:cNvPr id="34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AU"/>
            </a:p>
          </p:txBody>
        </p:sp>
        <p:sp>
          <p:nvSpPr>
            <p:cNvPr id="35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AU"/>
            </a:p>
          </p:txBody>
        </p:sp>
        <p:sp>
          <p:nvSpPr>
            <p:cNvPr id="36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AU"/>
            </a:p>
          </p:txBody>
        </p:sp>
        <p:sp>
          <p:nvSpPr>
            <p:cNvPr id="37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AU"/>
            </a:p>
          </p:txBody>
        </p:sp>
        <p:sp>
          <p:nvSpPr>
            <p:cNvPr id="38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AU"/>
            </a:p>
          </p:txBody>
        </p:sp>
        <p:sp>
          <p:nvSpPr>
            <p:cNvPr id="39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AU"/>
            </a:p>
          </p:txBody>
        </p:sp>
        <p:sp>
          <p:nvSpPr>
            <p:cNvPr id="40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</p:spPr>
          <p:txBody>
            <a:bodyPr/>
            <a:lstStyle/>
            <a:p>
              <a:endParaRPr lang="en-AU"/>
            </a:p>
          </p:txBody>
        </p:sp>
        <p:sp>
          <p:nvSpPr>
            <p:cNvPr id="41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AU"/>
            </a:p>
          </p:txBody>
        </p:sp>
        <p:sp>
          <p:nvSpPr>
            <p:cNvPr id="42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AU"/>
            </a:p>
          </p:txBody>
        </p:sp>
        <p:sp>
          <p:nvSpPr>
            <p:cNvPr id="43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AU"/>
            </a:p>
          </p:txBody>
        </p:sp>
        <p:sp>
          <p:nvSpPr>
            <p:cNvPr id="44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AU"/>
            </a:p>
          </p:txBody>
        </p:sp>
        <p:sp>
          <p:nvSpPr>
            <p:cNvPr id="45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AU"/>
            </a:p>
          </p:txBody>
        </p:sp>
        <p:sp>
          <p:nvSpPr>
            <p:cNvPr id="46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AU"/>
            </a:p>
          </p:txBody>
        </p:sp>
        <p:sp>
          <p:nvSpPr>
            <p:cNvPr id="47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AU"/>
            </a:p>
          </p:txBody>
        </p:sp>
        <p:sp>
          <p:nvSpPr>
            <p:cNvPr id="48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AU"/>
            </a:p>
          </p:txBody>
        </p:sp>
        <p:sp>
          <p:nvSpPr>
            <p:cNvPr id="49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AU"/>
            </a:p>
          </p:txBody>
        </p:sp>
        <p:sp>
          <p:nvSpPr>
            <p:cNvPr id="50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AU"/>
            </a:p>
          </p:txBody>
        </p:sp>
        <p:sp>
          <p:nvSpPr>
            <p:cNvPr id="51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AU"/>
            </a:p>
          </p:txBody>
        </p:sp>
        <p:sp>
          <p:nvSpPr>
            <p:cNvPr id="52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</p:spPr>
          <p:txBody>
            <a:bodyPr/>
            <a:lstStyle/>
            <a:p>
              <a:endParaRPr lang="en-AU"/>
            </a:p>
          </p:txBody>
        </p:sp>
        <p:sp>
          <p:nvSpPr>
            <p:cNvPr id="53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AU"/>
            </a:p>
          </p:txBody>
        </p:sp>
        <p:sp>
          <p:nvSpPr>
            <p:cNvPr id="54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AU"/>
            </a:p>
          </p:txBody>
        </p:sp>
        <p:sp>
          <p:nvSpPr>
            <p:cNvPr id="55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AU"/>
            </a:p>
          </p:txBody>
        </p:sp>
        <p:sp>
          <p:nvSpPr>
            <p:cNvPr id="56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AU"/>
            </a:p>
          </p:txBody>
        </p:sp>
        <p:sp>
          <p:nvSpPr>
            <p:cNvPr id="57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AU"/>
            </a:p>
          </p:txBody>
        </p:sp>
        <p:sp>
          <p:nvSpPr>
            <p:cNvPr id="58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AU"/>
            </a:p>
          </p:txBody>
        </p:sp>
        <p:sp>
          <p:nvSpPr>
            <p:cNvPr id="59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AU"/>
            </a:p>
          </p:txBody>
        </p:sp>
        <p:sp>
          <p:nvSpPr>
            <p:cNvPr id="60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AU"/>
            </a:p>
          </p:txBody>
        </p:sp>
        <p:sp>
          <p:nvSpPr>
            <p:cNvPr id="61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AU"/>
            </a:p>
          </p:txBody>
        </p:sp>
        <p:sp>
          <p:nvSpPr>
            <p:cNvPr id="62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AU"/>
            </a:p>
          </p:txBody>
        </p:sp>
        <p:sp>
          <p:nvSpPr>
            <p:cNvPr id="63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AU"/>
            </a:p>
          </p:txBody>
        </p:sp>
        <p:sp>
          <p:nvSpPr>
            <p:cNvPr id="64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AU"/>
            </a:p>
          </p:txBody>
        </p:sp>
        <p:sp>
          <p:nvSpPr>
            <p:cNvPr id="65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AU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76424" y="1122363"/>
            <a:ext cx="8791575" cy="2387600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76424" y="3602038"/>
            <a:ext cx="8791575" cy="1655762"/>
          </a:xfrm>
        </p:spPr>
        <p:txBody>
          <a:bodyPr>
            <a:normAutofit/>
          </a:bodyPr>
          <a:lstStyle>
            <a:lvl1pPr marL="0" indent="0" algn="l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077511" y="5410201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dirty="0"/>
              <a:t>8/23/26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876424" y="5410201"/>
            <a:ext cx="5124886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96911" y="5410199"/>
            <a:ext cx="771089" cy="365125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dirty="0"/>
              <a:t>8/23/26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419226"/>
            <a:ext cx="99060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424362"/>
            <a:ext cx="99060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dirty="0"/>
              <a:t>8/23/26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0" y="2249486"/>
            <a:ext cx="4878389" cy="3541714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249486"/>
            <a:ext cx="4875211" cy="3541714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dirty="0"/>
              <a:t>8/23/26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19126"/>
            <a:ext cx="9906000" cy="1477961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0019" y="2249486"/>
            <a:ext cx="4649783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0" y="3073397"/>
            <a:ext cx="4878391" cy="2717801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8" y="2249485"/>
            <a:ext cx="4646602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073397"/>
            <a:ext cx="4875210" cy="2717801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dirty="0"/>
              <a:t>8/23/26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dirty="0"/>
              <a:t>8/23/26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dirty="0"/>
              <a:t>8/23/26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6705" y="609601"/>
            <a:ext cx="3856037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56200" y="592666"/>
            <a:ext cx="5891209" cy="5198534"/>
          </a:xfrm>
        </p:spPr>
        <p:txBody>
          <a:bodyPr anchor="ctr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6705" y="2249486"/>
            <a:ext cx="3856037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dirty="0"/>
              <a:t>8/23/26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5934508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380721" y="609601"/>
            <a:ext cx="3666690" cy="5181599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2249486"/>
            <a:ext cx="5934511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dirty="0"/>
              <a:t>8/23/26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带描述的全景图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4304664"/>
            <a:ext cx="9912355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41411" y="606426"/>
            <a:ext cx="9912354" cy="3299778"/>
          </a:xfrm>
          <a:prstGeom prst="round2DiagRect">
            <a:avLst>
              <a:gd name="adj1" fmla="val 4860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5124020"/>
            <a:ext cx="9910859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dirty="0"/>
              <a:t>8/23/26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标题和描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56" y="609600"/>
            <a:ext cx="9905955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4419599"/>
            <a:ext cx="9904459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dirty="0"/>
              <a:t>8/23/26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带描述的引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599"/>
            <a:ext cx="9302752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4309919"/>
            <a:ext cx="99060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dirty="0"/>
              <a:t>8/23/26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sp>
        <p:nvSpPr>
          <p:cNvPr id="60" name="TextBox 59"/>
          <p:cNvSpPr txBox="1"/>
          <p:nvPr/>
        </p:nvSpPr>
        <p:spPr>
          <a:xfrm>
            <a:off x="903512" y="73239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 panose="020B0603020202020204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537370" y="276497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 panose="020B0603020202020204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名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2134041"/>
            <a:ext cx="99060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4657655"/>
            <a:ext cx="9904505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dirty="0"/>
              <a:t>8/23/26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141410" y="2674463"/>
            <a:ext cx="319689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27918" y="3360263"/>
            <a:ext cx="3208735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4766" y="2677635"/>
            <a:ext cx="3184385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04213" y="3363435"/>
            <a:ext cx="3195830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442" y="2674463"/>
            <a:ext cx="3194968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52442" y="3360263"/>
            <a:ext cx="319496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dirty="0"/>
              <a:t>8/23/26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图片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1141411" y="609600"/>
            <a:ext cx="9905999" cy="19050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141413" y="4404596"/>
            <a:ext cx="319524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141413" y="2666998"/>
            <a:ext cx="31952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41413" y="4980858"/>
            <a:ext cx="319524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89053" y="4404596"/>
            <a:ext cx="32004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89053" y="2666998"/>
            <a:ext cx="31989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87593" y="4980857"/>
            <a:ext cx="32004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567" y="4404595"/>
            <a:ext cx="3190741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52442" y="2666998"/>
            <a:ext cx="3194969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52442" y="4980854"/>
            <a:ext cx="3194968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dirty="0"/>
              <a:t>8/23/26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dirty="0"/>
              <a:t>8/23/26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042400" y="609599"/>
            <a:ext cx="2005011" cy="5181601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0" y="609599"/>
            <a:ext cx="7748590" cy="5181601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dirty="0"/>
              <a:t>8/23/26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" name="图片 52"/>
          <p:cNvPicPr>
            <a:picLocks noChangeAspect="1"/>
          </p:cNvPicPr>
          <p:nvPr userDrawn="1"/>
        </p:nvPicPr>
        <p:blipFill>
          <a:blip r:embed="rId19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8609" y="7541"/>
            <a:ext cx="10368800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8612" y="1486111"/>
            <a:ext cx="10368800" cy="510447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  <a:endParaRPr lang="en-US" dirty="0"/>
          </a:p>
        </p:txBody>
      </p:sp>
      <p:sp>
        <p:nvSpPr>
          <p:cNvPr id="50" name="文本框 49"/>
          <p:cNvSpPr txBox="1"/>
          <p:nvPr userDrawn="1"/>
        </p:nvSpPr>
        <p:spPr>
          <a:xfrm>
            <a:off x="9212580" y="6206490"/>
            <a:ext cx="24929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高老师算法竞赛训练营</a:t>
            </a:r>
          </a:p>
        </p:txBody>
      </p:sp>
      <p:pic>
        <p:nvPicPr>
          <p:cNvPr id="51" name="图片 50"/>
          <p:cNvPicPr>
            <a:picLocks noChangeAspect="1"/>
          </p:cNvPicPr>
          <p:nvPr userDrawn="1"/>
        </p:nvPicPr>
        <p:blipFill>
          <a:blip r:embed="rId20"/>
          <a:stretch>
            <a:fillRect/>
          </a:stretch>
        </p:blipFill>
        <p:spPr>
          <a:xfrm>
            <a:off x="10812780" y="5361173"/>
            <a:ext cx="760094" cy="765941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bg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bg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bg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bg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" altLang="en-US" dirty="0"/>
              <a:t>Language Basics (3)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" altLang="en-US" dirty="0"/>
              <a:t>Conditional branch</a:t>
            </a:r>
            <a:r>
              <a:rPr lang="en-US" altLang="zh-CN" dirty="0" err="1"/>
              <a:t>ing</a:t>
            </a:r>
            <a:r>
              <a:rPr lang="en" altLang="en-US" dirty="0"/>
              <a:t> (1)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9212580" y="6206490"/>
            <a:ext cx="24929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" altLang="en-US" dirty="0">
                <a:latin typeface="华文楷体" panose="02010600040101010101" pitchFamily="2" charset="-122"/>
                <a:ea typeface="华文楷体" panose="02010600040101010101" pitchFamily="2" charset="-122"/>
              </a:rPr>
              <a:t>Teacher Gao Algorithm Competition Training Camp</a:t>
            </a: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12780" y="5361173"/>
            <a:ext cx="760094" cy="765941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/>
          <p:cNvSpPr txBox="1"/>
          <p:nvPr/>
        </p:nvSpPr>
        <p:spPr>
          <a:xfrm>
            <a:off x="6712527" y="1486111"/>
            <a:ext cx="4479104" cy="37501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lvl="0" indent="-342900" algn="just">
              <a:lnSpc>
                <a:spcPct val="150000"/>
              </a:lnSpc>
              <a:spcAft>
                <a:spcPts val="0"/>
              </a:spcAft>
              <a:buFont typeface="+mj-lt"/>
              <a:buAutoNum type="arabicPeriod"/>
            </a:pPr>
            <a:r>
              <a:rPr lang="en" altLang="zh-CN" sz="1600" kern="1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Expressions are enclosed in parentheses</a:t>
            </a:r>
          </a:p>
          <a:p>
            <a:pPr marL="342900" lvl="0" indent="-342900" algn="just">
              <a:lnSpc>
                <a:spcPct val="150000"/>
              </a:lnSpc>
              <a:spcAft>
                <a:spcPts val="0"/>
              </a:spcAft>
              <a:buFont typeface="+mj-lt"/>
              <a:buAutoNum type="arabicPeriod"/>
            </a:pPr>
            <a:r>
              <a:rPr lang="en" altLang="zh-CN" sz="1600" dirty="0">
                <a:solidFill>
                  <a:srgbClr val="006699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  <a:sym typeface="+mn-ea"/>
              </a:rPr>
              <a:t>else </a:t>
            </a:r>
            <a:r>
              <a:rPr lang="en" altLang="zh-CN" sz="1600" kern="1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and the following statements can be omitted</a:t>
            </a:r>
          </a:p>
          <a:p>
            <a:pPr marL="342900" lvl="0" indent="-342900" algn="just">
              <a:lnSpc>
                <a:spcPct val="150000"/>
              </a:lnSpc>
              <a:spcAft>
                <a:spcPts val="0"/>
              </a:spcAft>
              <a:buFont typeface="+mj-lt"/>
              <a:buAutoNum type="arabicPeriod"/>
            </a:pPr>
            <a:r>
              <a:rPr lang="en" altLang="zh-CN" sz="1600" kern="1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An </a:t>
            </a:r>
            <a:r>
              <a:rPr lang="en" altLang="zh-CN" sz="1600" dirty="0">
                <a:solidFill>
                  <a:srgbClr val="006699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  <a:sym typeface="+mn-ea"/>
              </a:rPr>
              <a:t>if </a:t>
            </a:r>
            <a:r>
              <a:rPr lang="en" altLang="zh-CN" sz="1600" kern="1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can only pair with one </a:t>
            </a:r>
            <a:r>
              <a:rPr lang="en" altLang="zh-CN" sz="1600" dirty="0">
                <a:solidFill>
                  <a:srgbClr val="006699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  <a:sym typeface="+mn-ea"/>
              </a:rPr>
              <a:t>else</a:t>
            </a:r>
            <a:r>
              <a:rPr lang="en" altLang="zh-CN" sz="1600" kern="1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, not multiple</a:t>
            </a:r>
            <a:endParaRPr lang="en-US" altLang="zh-CN" sz="1600" kern="100" dirty="0">
              <a:solidFill>
                <a:schemeClr val="bg1"/>
              </a:solidFill>
              <a:latin typeface="Aptos Display" panose="020B0004020202020204" pitchFamily="34" charset="0"/>
              <a:ea typeface="微软雅黑" panose="020B0503020204020204" pitchFamily="34" charset="-122"/>
              <a:cs typeface="Consolas" panose="020B0609020204030204" pitchFamily="49" charset="0"/>
            </a:endParaRPr>
          </a:p>
          <a:p>
            <a:pPr marL="342900" lvl="0" indent="-342900" algn="just">
              <a:lnSpc>
                <a:spcPct val="150000"/>
              </a:lnSpc>
              <a:spcAft>
                <a:spcPts val="0"/>
              </a:spcAft>
              <a:buFont typeface="+mj-lt"/>
              <a:buAutoNum type="arabicPeriod"/>
            </a:pPr>
            <a:r>
              <a:rPr lang="en" altLang="zh-CN" sz="1600" dirty="0">
                <a:solidFill>
                  <a:srgbClr val="006699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  <a:sym typeface="+mn-ea"/>
              </a:rPr>
              <a:t>else </a:t>
            </a:r>
            <a:r>
              <a:rPr lang="en" altLang="en-US" sz="1600" kern="1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cannot appear alone</a:t>
            </a:r>
            <a:endParaRPr lang="en-US" altLang="zh-CN" sz="1600" kern="100" dirty="0">
              <a:solidFill>
                <a:schemeClr val="bg1"/>
              </a:solidFill>
              <a:latin typeface="Aptos Display" panose="020B0004020202020204" pitchFamily="34" charset="0"/>
              <a:ea typeface="微软雅黑" panose="020B0503020204020204" pitchFamily="34" charset="-122"/>
              <a:cs typeface="Consolas" panose="020B0609020204030204" pitchFamily="49" charset="0"/>
            </a:endParaRPr>
          </a:p>
          <a:p>
            <a:pPr marL="342900" lvl="0" indent="-342900" algn="just">
              <a:lnSpc>
                <a:spcPct val="150000"/>
              </a:lnSpc>
              <a:spcAft>
                <a:spcPts val="0"/>
              </a:spcAft>
              <a:buFont typeface="+mj-lt"/>
              <a:buAutoNum type="arabicPeriod"/>
            </a:pPr>
            <a:r>
              <a:rPr lang="en" altLang="en-US" sz="1600" kern="1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You cannot write </a:t>
            </a:r>
            <a:r>
              <a:rPr lang="en" altLang="zh-CN" sz="1600" kern="1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(expression) after </a:t>
            </a:r>
            <a:r>
              <a:rPr lang="en" altLang="zh-CN" sz="1600" dirty="0">
                <a:solidFill>
                  <a:srgbClr val="006699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  <a:sym typeface="+mn-ea"/>
              </a:rPr>
              <a:t>else</a:t>
            </a:r>
            <a:endParaRPr lang="zh-CN" altLang="zh-CN" sz="1600" kern="100" dirty="0">
              <a:solidFill>
                <a:schemeClr val="bg1"/>
              </a:solidFill>
              <a:latin typeface="Aptos Display" panose="020B0004020202020204" pitchFamily="34" charset="0"/>
              <a:ea typeface="微软雅黑" panose="020B0503020204020204" pitchFamily="34" charset="-122"/>
              <a:cs typeface="Consolas" panose="020B0609020204030204" pitchFamily="49" charset="0"/>
            </a:endParaRPr>
          </a:p>
          <a:p>
            <a:pPr marL="342900" lvl="0" indent="-342900" algn="just">
              <a:lnSpc>
                <a:spcPct val="150000"/>
              </a:lnSpc>
              <a:spcAft>
                <a:spcPts val="0"/>
              </a:spcAft>
              <a:buFont typeface="+mj-lt"/>
              <a:buAutoNum type="arabicPeriod"/>
            </a:pPr>
            <a:r>
              <a:rPr lang="en" altLang="zh-CN" sz="1600" kern="1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Never add semicolon after if(expression) or </a:t>
            </a:r>
            <a:r>
              <a:rPr lang="en" altLang="zh-CN" sz="1600" dirty="0">
                <a:solidFill>
                  <a:srgbClr val="006699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  <a:sym typeface="+mn-ea"/>
              </a:rPr>
              <a:t>else</a:t>
            </a:r>
            <a:r>
              <a:rPr lang="en" altLang="zh-CN" sz="1600" kern="1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endParaRPr lang="en-US" altLang="zh-CN" sz="1600" kern="100" dirty="0">
              <a:solidFill>
                <a:schemeClr val="bg1"/>
              </a:solidFill>
              <a:latin typeface="Aptos Display" panose="020B0004020202020204" pitchFamily="34" charset="0"/>
              <a:ea typeface="微软雅黑" panose="020B0503020204020204" pitchFamily="34" charset="-122"/>
              <a:cs typeface="Consolas" panose="020B0609020204030204" pitchFamily="49" charset="0"/>
            </a:endParaRPr>
          </a:p>
          <a:p>
            <a:pPr marL="342900" lvl="0" indent="-342900" algn="just">
              <a:lnSpc>
                <a:spcPct val="150000"/>
              </a:lnSpc>
              <a:spcAft>
                <a:spcPts val="0"/>
              </a:spcAft>
              <a:buFont typeface="+mj-lt"/>
              <a:buAutoNum type="arabicPeriod"/>
            </a:pPr>
            <a:r>
              <a:rPr lang="en" altLang="zh-CN" sz="1600" kern="1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Don’t add semicolon after the curly braces, no error, just not necessary.  A semicolon alone is a statement</a:t>
            </a:r>
            <a:endParaRPr lang="zh-CN" altLang="zh-CN" sz="1600" kern="100" dirty="0">
              <a:solidFill>
                <a:schemeClr val="bg1"/>
              </a:solidFill>
              <a:latin typeface="Aptos Display" panose="020B0004020202020204" pitchFamily="34" charset="0"/>
              <a:ea typeface="微软雅黑" panose="020B0503020204020204" pitchFamily="34" charset="-122"/>
              <a:cs typeface="Consolas" panose="020B0609020204030204" pitchFamily="49" charset="0"/>
            </a:endParaRPr>
          </a:p>
        </p:txBody>
      </p:sp>
      <p:sp>
        <p:nvSpPr>
          <p:cNvPr id="9" name="内容占位符 2"/>
          <p:cNvSpPr txBox="1"/>
          <p:nvPr/>
        </p:nvSpPr>
        <p:spPr>
          <a:xfrm>
            <a:off x="379956" y="1784787"/>
            <a:ext cx="2793124" cy="227725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" altLang="zh-CN" sz="14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double money,price;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AU" altLang="zh-CN" sz="14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c</a:t>
            </a:r>
            <a:r>
              <a:rPr lang="en" altLang="zh-CN" sz="14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in &gt;&gt; money &gt;&gt; price;</a:t>
            </a:r>
          </a:p>
          <a:p>
            <a:pPr marL="0" indent="0">
              <a:buNone/>
            </a:pPr>
            <a:r>
              <a:rPr lang="en" altLang="zh-CN" sz="14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if(money &gt;= price)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" altLang="en-US" sz="14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    </a:t>
            </a:r>
            <a:r>
              <a:rPr lang="en" altLang="zh-CN" sz="14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cout &lt;&lt; "</a:t>
            </a:r>
            <a:r>
              <a:rPr lang="en" altLang="en-US" sz="14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buy</a:t>
            </a:r>
            <a:r>
              <a:rPr lang="en" altLang="zh-CN" sz="14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";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" altLang="zh-CN" sz="14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else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" altLang="zh-CN" sz="14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    cout &lt;&lt; "</a:t>
            </a:r>
            <a:r>
              <a:rPr lang="en" altLang="en-US" sz="14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Can't afford</a:t>
            </a:r>
            <a:r>
              <a:rPr lang="en" altLang="zh-CN" sz="14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";</a:t>
            </a:r>
          </a:p>
        </p:txBody>
      </p:sp>
      <p:sp>
        <p:nvSpPr>
          <p:cNvPr id="10" name="内容占位符 2"/>
          <p:cNvSpPr txBox="1"/>
          <p:nvPr/>
        </p:nvSpPr>
        <p:spPr>
          <a:xfrm>
            <a:off x="3453634" y="1784787"/>
            <a:ext cx="2858023" cy="328842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defPPr>
              <a:defRPr lang="en-US"/>
            </a:defPPr>
            <a:lvl1pPr indent="0" defTabSz="9144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defRPr>
            </a:lvl1pPr>
            <a:lvl2pPr marL="6858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/>
            </a:lvl2pPr>
            <a:lvl3pPr marL="11430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/>
            </a:lvl3pPr>
            <a:lvl4pPr marL="16002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4pPr>
            <a:lvl5pPr marL="20574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5pPr>
            <a:lvl6pPr marL="25146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r>
              <a:rPr lang="en" altLang="zh-CN" dirty="0"/>
              <a:t>double money,price;</a:t>
            </a:r>
          </a:p>
          <a:p>
            <a:r>
              <a:rPr lang="en" altLang="zh-CN" dirty="0"/>
              <a:t>cin &gt;&gt; money &gt;&gt; price;</a:t>
            </a:r>
          </a:p>
          <a:p>
            <a:r>
              <a:rPr lang="en" altLang="zh-CN" dirty="0"/>
              <a:t>if(money &gt;= price){</a:t>
            </a:r>
          </a:p>
          <a:p>
            <a:r>
              <a:rPr lang="en" altLang="en-US" dirty="0"/>
              <a:t>    </a:t>
            </a:r>
            <a:r>
              <a:rPr lang="en" altLang="zh-CN" dirty="0"/>
              <a:t>cout &lt;&lt; "</a:t>
            </a:r>
            <a:r>
              <a:rPr lang="en" altLang="en-US" dirty="0"/>
              <a:t>buy</a:t>
            </a:r>
            <a:r>
              <a:rPr lang="en" altLang="zh-CN" dirty="0"/>
              <a:t>";</a:t>
            </a:r>
          </a:p>
          <a:p>
            <a:r>
              <a:rPr lang="en" altLang="zh-CN" dirty="0"/>
              <a:t>    cout &lt;&lt; "</a:t>
            </a:r>
            <a:r>
              <a:rPr lang="en" altLang="en-US" dirty="0"/>
              <a:t>Vanilla</a:t>
            </a:r>
            <a:r>
              <a:rPr lang="en" altLang="zh-CN" dirty="0"/>
              <a:t>";</a:t>
            </a:r>
          </a:p>
          <a:p>
            <a:r>
              <a:rPr lang="en" altLang="zh-CN" dirty="0"/>
              <a:t>}else{</a:t>
            </a:r>
          </a:p>
          <a:p>
            <a:r>
              <a:rPr lang="en" altLang="zh-CN" dirty="0"/>
              <a:t>    cout &lt;&lt; "</a:t>
            </a:r>
            <a:r>
              <a:rPr lang="en" altLang="en-US" dirty="0"/>
              <a:t>Can't afford</a:t>
            </a:r>
            <a:r>
              <a:rPr lang="en" altLang="zh-CN" dirty="0"/>
              <a:t>";</a:t>
            </a:r>
          </a:p>
          <a:p>
            <a:r>
              <a:rPr lang="en" altLang="zh-CN" dirty="0"/>
              <a:t>    cout &lt;&lt; "</a:t>
            </a:r>
            <a:r>
              <a:rPr lang="en" altLang="en-US" dirty="0"/>
              <a:t>Thank you!</a:t>
            </a:r>
            <a:r>
              <a:rPr lang="en" altLang="zh-CN" dirty="0"/>
              <a:t>";</a:t>
            </a:r>
          </a:p>
          <a:p>
            <a:r>
              <a:rPr lang="en" altLang="zh-CN" dirty="0"/>
              <a:t>}</a:t>
            </a:r>
          </a:p>
        </p:txBody>
      </p:sp>
      <p:sp>
        <p:nvSpPr>
          <p:cNvPr id="11" name="内容占位符 2"/>
          <p:cNvSpPr txBox="1"/>
          <p:nvPr/>
        </p:nvSpPr>
        <p:spPr>
          <a:xfrm>
            <a:off x="347507" y="4440177"/>
            <a:ext cx="2793124" cy="227725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defPPr>
              <a:defRPr lang="en-US"/>
            </a:defPPr>
            <a:lvl1pPr indent="0" defTabSz="9144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defRPr>
            </a:lvl1pPr>
            <a:lvl2pPr marL="6858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/>
            </a:lvl2pPr>
            <a:lvl3pPr marL="11430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/>
            </a:lvl3pPr>
            <a:lvl4pPr marL="16002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4pPr>
            <a:lvl5pPr marL="20574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5pPr>
            <a:lvl6pPr marL="25146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r>
              <a:rPr lang="en" altLang="zh-CN" dirty="0"/>
              <a:t>double money,price;</a:t>
            </a:r>
          </a:p>
          <a:p>
            <a:r>
              <a:rPr lang="en" altLang="zh-CN" dirty="0"/>
              <a:t>cin &gt;&gt; money &gt;&gt; price;</a:t>
            </a:r>
          </a:p>
          <a:p>
            <a:r>
              <a:rPr lang="en" altLang="zh-CN" dirty="0"/>
              <a:t>cout &lt;&lt;"</a:t>
            </a:r>
            <a:r>
              <a:rPr lang="en" altLang="en-US" dirty="0"/>
              <a:t>buy</a:t>
            </a:r>
            <a:r>
              <a:rPr lang="en" altLang="zh-CN" dirty="0"/>
              <a:t>";</a:t>
            </a:r>
          </a:p>
          <a:p>
            <a:r>
              <a:rPr lang="en" altLang="zh-CN" dirty="0"/>
              <a:t>if(money &lt; price)</a:t>
            </a:r>
          </a:p>
          <a:p>
            <a:r>
              <a:rPr lang="en" altLang="zh-CN" dirty="0"/>
              <a:t>    cout &lt;&lt; "</a:t>
            </a:r>
            <a:r>
              <a:rPr lang="en" altLang="en-US" dirty="0"/>
              <a:t>Can't afford</a:t>
            </a:r>
            <a:r>
              <a:rPr lang="en" altLang="zh-CN" dirty="0"/>
              <a:t>";</a:t>
            </a:r>
          </a:p>
        </p:txBody>
      </p:sp>
      <p:sp>
        <p:nvSpPr>
          <p:cNvPr id="13" name="文本框 12"/>
          <p:cNvSpPr txBox="1"/>
          <p:nvPr/>
        </p:nvSpPr>
        <p:spPr>
          <a:xfrm>
            <a:off x="678609" y="301567"/>
            <a:ext cx="1063465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" altLang="en-US" sz="40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Example </a:t>
            </a:r>
            <a:r>
              <a:rPr lang="en" altLang="zh-CN" sz="40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- </a:t>
            </a:r>
            <a:r>
              <a:rPr lang="en" altLang="en-US" sz="40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Buying Ice</a:t>
            </a:r>
            <a:r>
              <a:rPr lang="zh-CN" altLang="en-US" sz="40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-US" altLang="zh-CN" sz="40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Cream</a:t>
            </a:r>
            <a:endParaRPr lang="en" altLang="en-US" sz="4000" dirty="0">
              <a:solidFill>
                <a:schemeClr val="bg1"/>
              </a:solidFill>
              <a:latin typeface="Aptos Display" panose="020B0004020202020204" pitchFamily="34" charset="0"/>
              <a:ea typeface="微软雅黑" panose="020B0503020204020204" pitchFamily="34" charset="-122"/>
              <a:cs typeface="Consolas" panose="020B0609020204030204" pitchFamily="49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9" grpId="0"/>
      <p:bldP spid="10" grpId="0"/>
      <p:bldP spid="1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内容占位符 2"/>
          <p:cNvSpPr txBox="1"/>
          <p:nvPr/>
        </p:nvSpPr>
        <p:spPr>
          <a:xfrm>
            <a:off x="2208637" y="1743744"/>
            <a:ext cx="1791863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defPPr>
              <a:defRPr lang="en-US"/>
            </a:defPPr>
            <a:lvl1pPr indent="0" defTabSz="9144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>
                <a:solidFill>
                  <a:schemeClr val="bg1"/>
                </a:solidFill>
                <a:latin typeface="Comic Sans MS" panose="030F0702030302020204" pitchFamily="66" charset="0"/>
                <a:ea typeface="微软雅黑" panose="020B0503020204020204" pitchFamily="34" charset="-122"/>
              </a:defRPr>
            </a:lvl1pPr>
            <a:lvl2pPr marL="6858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/>
            </a:lvl2pPr>
            <a:lvl3pPr marL="11430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/>
            </a:lvl3pPr>
            <a:lvl4pPr marL="16002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4pPr>
            <a:lvl5pPr marL="20574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5pPr>
            <a:lvl6pPr marL="25146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r>
              <a:rPr lang="en" altLang="zh-CN" sz="1400" dirty="0">
                <a:solidFill>
                  <a:srgbClr val="006699"/>
                </a:solidFill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if </a:t>
            </a:r>
            <a:r>
              <a:rPr lang="en" altLang="zh-CN" sz="1400" dirty="0"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" altLang="en-US" sz="1400" dirty="0">
                <a:latin typeface="Consolas" panose="020B0609020204030204" pitchFamily="49" charset="0"/>
                <a:cs typeface="Consolas" panose="020B0609020204030204" pitchFamily="49" charset="0"/>
              </a:rPr>
              <a:t>expression</a:t>
            </a:r>
            <a:r>
              <a:rPr lang="en" altLang="zh-CN" sz="1400" dirty="0"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</a:p>
          <a:p>
            <a:r>
              <a:rPr lang="zh-CN" altLang="en-US" sz="1400" dirty="0"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" altLang="en-US" sz="1400" dirty="0">
                <a:latin typeface="Consolas" panose="020B0609020204030204" pitchFamily="49" charset="0"/>
                <a:cs typeface="Consolas" panose="020B0609020204030204" pitchFamily="49" charset="0"/>
              </a:rPr>
              <a:t>statement</a:t>
            </a:r>
            <a:r>
              <a:rPr lang="en" altLang="zh-CN" sz="1400" dirty="0"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</a:p>
          <a:p>
            <a:r>
              <a:rPr lang="en" altLang="zh-CN" sz="1400" dirty="0">
                <a:solidFill>
                  <a:srgbClr val="006699"/>
                </a:solidFill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else</a:t>
            </a:r>
          </a:p>
          <a:p>
            <a:r>
              <a:rPr lang="zh-CN" altLang="en-US" sz="1400" dirty="0"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" altLang="en-US" sz="1400" dirty="0">
                <a:latin typeface="Consolas" panose="020B0609020204030204" pitchFamily="49" charset="0"/>
                <a:cs typeface="Consolas" panose="020B0609020204030204" pitchFamily="49" charset="0"/>
              </a:rPr>
              <a:t>statement</a:t>
            </a:r>
            <a:r>
              <a:rPr lang="en" altLang="zh-CN" sz="1400" dirty="0"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</a:p>
        </p:txBody>
      </p:sp>
      <p:sp>
        <p:nvSpPr>
          <p:cNvPr id="9" name="内容占位符 2"/>
          <p:cNvSpPr txBox="1"/>
          <p:nvPr/>
        </p:nvSpPr>
        <p:spPr>
          <a:xfrm>
            <a:off x="605789" y="1743744"/>
            <a:ext cx="1602848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" altLang="zh-CN" sz="1400" dirty="0">
                <a:solidFill>
                  <a:srgbClr val="00669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if </a:t>
            </a:r>
            <a:r>
              <a:rPr lang="en" altLang="zh-CN" sz="14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(e</a:t>
            </a:r>
            <a:r>
              <a:rPr lang="en" altLang="en-US" sz="14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xpression</a:t>
            </a:r>
            <a:r>
              <a:rPr lang="en" altLang="zh-CN" sz="14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)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zh-CN" altLang="en-US" sz="14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    </a:t>
            </a:r>
            <a:r>
              <a:rPr lang="en" altLang="en-US" sz="14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statement</a:t>
            </a:r>
            <a:r>
              <a:rPr lang="en" altLang="zh-CN" sz="14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;</a:t>
            </a:r>
          </a:p>
        </p:txBody>
      </p:sp>
      <p:sp>
        <p:nvSpPr>
          <p:cNvPr id="11" name="文本框 10"/>
          <p:cNvSpPr txBox="1"/>
          <p:nvPr/>
        </p:nvSpPr>
        <p:spPr>
          <a:xfrm>
            <a:off x="678609" y="301567"/>
            <a:ext cx="1063465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40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Syntax</a:t>
            </a:r>
            <a:endParaRPr lang="en" altLang="en-US" sz="4000" dirty="0">
              <a:solidFill>
                <a:schemeClr val="bg1"/>
              </a:solidFill>
              <a:latin typeface="Aptos Display" panose="020B0004020202020204" pitchFamily="34" charset="0"/>
              <a:ea typeface="微软雅黑" panose="020B0503020204020204" pitchFamily="34" charset="-122"/>
              <a:cs typeface="Consolas" panose="020B0609020204030204" pitchFamily="49" charset="0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4000499" y="1743744"/>
            <a:ext cx="1891145" cy="286334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defTabSz="914400">
              <a:lnSpc>
                <a:spcPct val="90000"/>
              </a:lnSpc>
              <a:spcBef>
                <a:spcPts val="1000"/>
              </a:spcBef>
              <a:buSzPct val="125000"/>
            </a:pPr>
            <a:r>
              <a:rPr lang="en" altLang="zh-CN" sz="1400" dirty="0">
                <a:solidFill>
                  <a:srgbClr val="00669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if </a:t>
            </a:r>
            <a:r>
              <a:rPr lang="en" altLang="zh-CN" sz="14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(</a:t>
            </a:r>
            <a:r>
              <a:rPr lang="en" altLang="en-US" sz="14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expression</a:t>
            </a:r>
            <a:r>
              <a:rPr lang="en" altLang="zh-CN" sz="14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){</a:t>
            </a:r>
          </a:p>
          <a:p>
            <a:pPr lvl="0" defTabSz="914400">
              <a:lnSpc>
                <a:spcPct val="90000"/>
              </a:lnSpc>
              <a:spcBef>
                <a:spcPts val="1000"/>
              </a:spcBef>
              <a:buSzPct val="125000"/>
            </a:pPr>
            <a:r>
              <a:rPr lang="zh-CN" altLang="en-US" sz="14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    </a:t>
            </a:r>
            <a:r>
              <a:rPr lang="en" altLang="en-US" sz="14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statement</a:t>
            </a:r>
            <a:r>
              <a:rPr lang="en" altLang="zh-CN" sz="14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;</a:t>
            </a:r>
          </a:p>
          <a:p>
            <a:pPr lvl="0" defTabSz="914400">
              <a:lnSpc>
                <a:spcPct val="90000"/>
              </a:lnSpc>
              <a:spcBef>
                <a:spcPts val="1000"/>
              </a:spcBef>
              <a:buSzPct val="125000"/>
            </a:pPr>
            <a:r>
              <a:rPr lang="zh-CN" altLang="en-US" sz="14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    </a:t>
            </a:r>
            <a:r>
              <a:rPr lang="en" altLang="en-US" sz="14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statement</a:t>
            </a:r>
            <a:r>
              <a:rPr lang="en" altLang="zh-CN" sz="14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;</a:t>
            </a:r>
          </a:p>
          <a:p>
            <a:pPr lvl="0" defTabSz="914400">
              <a:lnSpc>
                <a:spcPct val="90000"/>
              </a:lnSpc>
              <a:spcBef>
                <a:spcPts val="1000"/>
              </a:spcBef>
              <a:buSzPct val="125000"/>
            </a:pPr>
            <a:r>
              <a:rPr lang="en" altLang="en-US" sz="14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    </a:t>
            </a:r>
            <a:r>
              <a:rPr lang="en" altLang="zh-CN" sz="14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…</a:t>
            </a:r>
          </a:p>
          <a:p>
            <a:pPr lvl="0" defTabSz="914400">
              <a:lnSpc>
                <a:spcPct val="90000"/>
              </a:lnSpc>
              <a:spcBef>
                <a:spcPts val="1000"/>
              </a:spcBef>
              <a:buSzPct val="125000"/>
            </a:pPr>
            <a:r>
              <a:rPr lang="en" altLang="zh-CN" sz="14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}</a:t>
            </a:r>
            <a:r>
              <a:rPr lang="en" altLang="zh-CN" sz="1400" dirty="0">
                <a:solidFill>
                  <a:srgbClr val="00669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else</a:t>
            </a:r>
            <a:r>
              <a:rPr lang="en" altLang="zh-CN" sz="14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{</a:t>
            </a:r>
          </a:p>
          <a:p>
            <a:pPr lvl="0" defTabSz="914400">
              <a:lnSpc>
                <a:spcPct val="90000"/>
              </a:lnSpc>
              <a:spcBef>
                <a:spcPts val="1000"/>
              </a:spcBef>
              <a:buSzPct val="125000"/>
            </a:pPr>
            <a:r>
              <a:rPr lang="zh-CN" altLang="en-US" sz="14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    </a:t>
            </a:r>
            <a:r>
              <a:rPr lang="en" altLang="en-US" sz="14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statement</a:t>
            </a:r>
            <a:r>
              <a:rPr lang="en" altLang="zh-CN" sz="14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;</a:t>
            </a:r>
          </a:p>
          <a:p>
            <a:pPr lvl="0" defTabSz="914400">
              <a:lnSpc>
                <a:spcPct val="90000"/>
              </a:lnSpc>
              <a:spcBef>
                <a:spcPts val="1000"/>
              </a:spcBef>
              <a:buSzPct val="125000"/>
            </a:pPr>
            <a:r>
              <a:rPr lang="zh-CN" altLang="en-US" sz="14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    </a:t>
            </a:r>
            <a:r>
              <a:rPr lang="en" altLang="en-US" sz="14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statement</a:t>
            </a:r>
            <a:r>
              <a:rPr lang="en" altLang="zh-CN" sz="14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;</a:t>
            </a:r>
          </a:p>
          <a:p>
            <a:pPr lvl="0" defTabSz="914400">
              <a:lnSpc>
                <a:spcPct val="90000"/>
              </a:lnSpc>
              <a:spcBef>
                <a:spcPts val="1000"/>
              </a:spcBef>
              <a:buSzPct val="125000"/>
            </a:pPr>
            <a:r>
              <a:rPr lang="zh-CN" altLang="en-US" sz="14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    </a:t>
            </a:r>
            <a:r>
              <a:rPr lang="en" altLang="zh-CN" sz="14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…</a:t>
            </a:r>
          </a:p>
          <a:p>
            <a:pPr lvl="0" defTabSz="914400">
              <a:lnSpc>
                <a:spcPct val="90000"/>
              </a:lnSpc>
              <a:spcBef>
                <a:spcPts val="1000"/>
              </a:spcBef>
              <a:buSzPct val="125000"/>
            </a:pPr>
            <a:r>
              <a:rPr lang="en" altLang="zh-CN" sz="14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}</a:t>
            </a:r>
            <a:endParaRPr lang="zh-CN" altLang="en-US" sz="1400" dirty="0">
              <a:solidFill>
                <a:prstClr val="black"/>
              </a:solidFill>
              <a:latin typeface="Consolas" panose="020B0609020204030204" pitchFamily="49" charset="0"/>
              <a:ea typeface="微软雅黑" panose="020B0503020204020204" pitchFamily="34" charset="-122"/>
              <a:cs typeface="Consolas" panose="020B0609020204030204" pitchFamily="49" charset="0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44C57198-F243-2509-7F4A-3CC081D6161E}"/>
              </a:ext>
            </a:extLst>
          </p:cNvPr>
          <p:cNvSpPr txBox="1"/>
          <p:nvPr/>
        </p:nvSpPr>
        <p:spPr>
          <a:xfrm>
            <a:off x="6160899" y="1486111"/>
            <a:ext cx="5030732" cy="30114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lvl="0" indent="-342900" algn="just">
              <a:lnSpc>
                <a:spcPct val="150000"/>
              </a:lnSpc>
              <a:spcAft>
                <a:spcPts val="0"/>
              </a:spcAft>
              <a:buFont typeface="+mj-lt"/>
              <a:buAutoNum type="arabicPeriod"/>
            </a:pPr>
            <a:r>
              <a:rPr lang="en" altLang="zh-CN" sz="1600" kern="1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Expressions are enclosed in parentheses</a:t>
            </a:r>
          </a:p>
          <a:p>
            <a:pPr marL="342900" lvl="0" indent="-342900" algn="just">
              <a:lnSpc>
                <a:spcPct val="150000"/>
              </a:lnSpc>
              <a:spcAft>
                <a:spcPts val="0"/>
              </a:spcAft>
              <a:buFont typeface="+mj-lt"/>
              <a:buAutoNum type="arabicPeriod"/>
            </a:pPr>
            <a:r>
              <a:rPr lang="en" altLang="zh-CN" sz="1600" dirty="0">
                <a:solidFill>
                  <a:srgbClr val="006699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  <a:sym typeface="+mn-ea"/>
              </a:rPr>
              <a:t>else </a:t>
            </a:r>
            <a:r>
              <a:rPr lang="en" altLang="zh-CN" sz="1600" kern="1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and the following statements can be omitted</a:t>
            </a:r>
          </a:p>
          <a:p>
            <a:pPr marL="342900" lvl="0" indent="-342900" algn="just">
              <a:lnSpc>
                <a:spcPct val="150000"/>
              </a:lnSpc>
              <a:spcAft>
                <a:spcPts val="0"/>
              </a:spcAft>
              <a:buFont typeface="+mj-lt"/>
              <a:buAutoNum type="arabicPeriod"/>
            </a:pPr>
            <a:r>
              <a:rPr lang="en" altLang="zh-CN" sz="1600" kern="1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An </a:t>
            </a:r>
            <a:r>
              <a:rPr lang="en" altLang="zh-CN" sz="1600" dirty="0">
                <a:solidFill>
                  <a:srgbClr val="006699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  <a:sym typeface="+mn-ea"/>
              </a:rPr>
              <a:t>if </a:t>
            </a:r>
            <a:r>
              <a:rPr lang="en" altLang="zh-CN" sz="1600" kern="1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can only pair with one </a:t>
            </a:r>
            <a:r>
              <a:rPr lang="en" altLang="zh-CN" sz="1600" dirty="0">
                <a:solidFill>
                  <a:srgbClr val="006699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  <a:sym typeface="+mn-ea"/>
              </a:rPr>
              <a:t>else</a:t>
            </a:r>
            <a:r>
              <a:rPr lang="en" altLang="zh-CN" sz="1600" kern="1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, not multiple</a:t>
            </a:r>
            <a:endParaRPr lang="en-US" altLang="zh-CN" sz="1600" kern="100" dirty="0">
              <a:solidFill>
                <a:schemeClr val="bg1"/>
              </a:solidFill>
              <a:latin typeface="Aptos Display" panose="020B0004020202020204" pitchFamily="34" charset="0"/>
              <a:ea typeface="微软雅黑" panose="020B0503020204020204" pitchFamily="34" charset="-122"/>
              <a:cs typeface="Consolas" panose="020B0609020204030204" pitchFamily="49" charset="0"/>
            </a:endParaRPr>
          </a:p>
          <a:p>
            <a:pPr marL="342900" lvl="0" indent="-342900" algn="just">
              <a:lnSpc>
                <a:spcPct val="150000"/>
              </a:lnSpc>
              <a:spcAft>
                <a:spcPts val="0"/>
              </a:spcAft>
              <a:buFont typeface="+mj-lt"/>
              <a:buAutoNum type="arabicPeriod"/>
            </a:pPr>
            <a:r>
              <a:rPr lang="en" altLang="zh-CN" sz="1600" dirty="0">
                <a:solidFill>
                  <a:srgbClr val="006699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  <a:sym typeface="+mn-ea"/>
              </a:rPr>
              <a:t>else </a:t>
            </a:r>
            <a:r>
              <a:rPr lang="en" altLang="en-US" sz="1600" kern="1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cannot appear alone</a:t>
            </a:r>
            <a:endParaRPr lang="en-US" altLang="zh-CN" sz="1600" kern="100" dirty="0">
              <a:solidFill>
                <a:schemeClr val="bg1"/>
              </a:solidFill>
              <a:latin typeface="Aptos Display" panose="020B0004020202020204" pitchFamily="34" charset="0"/>
              <a:ea typeface="微软雅黑" panose="020B0503020204020204" pitchFamily="34" charset="-122"/>
              <a:cs typeface="Consolas" panose="020B0609020204030204" pitchFamily="49" charset="0"/>
            </a:endParaRPr>
          </a:p>
          <a:p>
            <a:pPr marL="342900" lvl="0" indent="-342900" algn="just">
              <a:lnSpc>
                <a:spcPct val="150000"/>
              </a:lnSpc>
              <a:spcAft>
                <a:spcPts val="0"/>
              </a:spcAft>
              <a:buFont typeface="+mj-lt"/>
              <a:buAutoNum type="arabicPeriod"/>
            </a:pPr>
            <a:r>
              <a:rPr lang="en" altLang="en-US" sz="1600" kern="1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You cannot write </a:t>
            </a:r>
            <a:r>
              <a:rPr lang="en" altLang="zh-CN" sz="1600" kern="1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(expression) after </a:t>
            </a:r>
            <a:r>
              <a:rPr lang="en" altLang="zh-CN" sz="1600" dirty="0">
                <a:solidFill>
                  <a:srgbClr val="006699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  <a:sym typeface="+mn-ea"/>
              </a:rPr>
              <a:t>else</a:t>
            </a:r>
            <a:endParaRPr lang="zh-CN" altLang="zh-CN" sz="1600" kern="100" dirty="0">
              <a:solidFill>
                <a:schemeClr val="bg1"/>
              </a:solidFill>
              <a:latin typeface="Aptos Display" panose="020B0004020202020204" pitchFamily="34" charset="0"/>
              <a:ea typeface="微软雅黑" panose="020B0503020204020204" pitchFamily="34" charset="-122"/>
              <a:cs typeface="Consolas" panose="020B0609020204030204" pitchFamily="49" charset="0"/>
            </a:endParaRPr>
          </a:p>
          <a:p>
            <a:pPr marL="342900" lvl="0" indent="-342900" algn="just">
              <a:lnSpc>
                <a:spcPct val="150000"/>
              </a:lnSpc>
              <a:spcAft>
                <a:spcPts val="0"/>
              </a:spcAft>
              <a:buFont typeface="+mj-lt"/>
              <a:buAutoNum type="arabicPeriod"/>
            </a:pPr>
            <a:r>
              <a:rPr lang="en" altLang="zh-CN" sz="1600" kern="1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Never add semicolon after if(expression) or </a:t>
            </a:r>
            <a:r>
              <a:rPr lang="en" altLang="zh-CN" sz="1600" dirty="0">
                <a:solidFill>
                  <a:srgbClr val="006699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  <a:sym typeface="+mn-ea"/>
              </a:rPr>
              <a:t>else</a:t>
            </a:r>
            <a:r>
              <a:rPr lang="en" altLang="zh-CN" sz="1600" kern="1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endParaRPr lang="en-US" altLang="zh-CN" sz="1600" kern="100" dirty="0">
              <a:solidFill>
                <a:schemeClr val="bg1"/>
              </a:solidFill>
              <a:latin typeface="Aptos Display" panose="020B0004020202020204" pitchFamily="34" charset="0"/>
              <a:ea typeface="微软雅黑" panose="020B0503020204020204" pitchFamily="34" charset="-122"/>
              <a:cs typeface="Consolas" panose="020B0609020204030204" pitchFamily="49" charset="0"/>
            </a:endParaRPr>
          </a:p>
          <a:p>
            <a:pPr marL="342900" lvl="0" indent="-342900" algn="just">
              <a:lnSpc>
                <a:spcPct val="150000"/>
              </a:lnSpc>
              <a:spcAft>
                <a:spcPts val="0"/>
              </a:spcAft>
              <a:buFont typeface="+mj-lt"/>
              <a:buAutoNum type="arabicPeriod"/>
            </a:pPr>
            <a:r>
              <a:rPr lang="en" altLang="zh-CN" sz="1600" kern="1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Don’t add semicolon after the curly braces, no error, just not necessary.  A semicolon alone is a statement</a:t>
            </a:r>
            <a:endParaRPr lang="zh-CN" altLang="zh-CN" sz="1600" kern="100" dirty="0">
              <a:solidFill>
                <a:schemeClr val="bg1"/>
              </a:solidFill>
              <a:latin typeface="Aptos Display" panose="020B0004020202020204" pitchFamily="34" charset="0"/>
              <a:ea typeface="微软雅黑" panose="020B0503020204020204" pitchFamily="34" charset="-122"/>
              <a:cs typeface="Consolas" panose="020B0609020204030204" pitchFamily="49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4" grpId="0"/>
      <p:bldP spid="2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内容占位符 2"/>
          <p:cNvSpPr txBox="1"/>
          <p:nvPr/>
        </p:nvSpPr>
        <p:spPr>
          <a:xfrm>
            <a:off x="684323" y="1454252"/>
            <a:ext cx="5411293" cy="117064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defPPr>
              <a:defRPr lang="en-US"/>
            </a:defPPr>
            <a:lvl1pPr indent="0" defTabSz="9144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>
                <a:solidFill>
                  <a:schemeClr val="bg1"/>
                </a:solidFill>
                <a:latin typeface="Comic Sans MS" panose="030F0702030302020204" pitchFamily="66" charset="0"/>
                <a:ea typeface="微软雅黑" panose="020B0503020204020204" pitchFamily="34" charset="-122"/>
              </a:defRPr>
            </a:lvl1pPr>
            <a:lvl2pPr marL="6858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/>
            </a:lvl2pPr>
            <a:lvl3pPr marL="11430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/>
            </a:lvl3pPr>
            <a:lvl4pPr marL="16002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4pPr>
            <a:lvl5pPr marL="20574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5pPr>
            <a:lvl6pPr marL="25146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lvl="0" algn="just" fontAlgn="auto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</a:pPr>
            <a:r>
              <a:rPr lang="en" altLang="zh-CN" kern="100" dirty="0">
                <a:solidFill>
                  <a:schemeClr val="bg1"/>
                </a:solidFill>
                <a:latin typeface="Aptos Display" panose="020B0004020202020204" pitchFamily="34" charset="0"/>
                <a:cs typeface="Consolas" panose="020B0609020204030204" pitchFamily="49" charset="0"/>
              </a:rPr>
              <a:t>An expression can always evaluate to a value:</a:t>
            </a:r>
          </a:p>
          <a:p>
            <a:pPr marL="268288" lvl="1" indent="-268288" algn="just" fontAlgn="auto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Font typeface="+mj-lt"/>
              <a:buAutoNum type="alphaLcPeriod"/>
            </a:pPr>
            <a:r>
              <a:rPr lang="en" altLang="en-US" sz="1800" kern="1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If value is not </a:t>
            </a:r>
            <a:r>
              <a:rPr lang="en" altLang="zh-CN" sz="1800" kern="1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0</a:t>
            </a:r>
            <a:r>
              <a:rPr lang="en" altLang="en-US" sz="1800" kern="1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(is non-zero), </a:t>
            </a:r>
            <a:r>
              <a:rPr lang="en" altLang="en-US" sz="2000" kern="1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it</a:t>
            </a:r>
            <a:r>
              <a:rPr lang="en" altLang="en-US" sz="1800" kern="1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 is true</a:t>
            </a:r>
          </a:p>
          <a:p>
            <a:pPr marL="268288" lvl="1" indent="-268288" algn="just" fontAlgn="auto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Font typeface="+mj-lt"/>
              <a:buAutoNum type="alphaLcPeriod"/>
            </a:pPr>
            <a:r>
              <a:rPr lang="en" altLang="zh-CN" sz="1800" kern="1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If the value is 0,</a:t>
            </a:r>
            <a:r>
              <a:rPr lang="en" altLang="en-US" sz="1800" kern="1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 it is not true (false)</a:t>
            </a:r>
            <a:endParaRPr lang="en-US" altLang="zh-CN" sz="1800" kern="100" dirty="0">
              <a:solidFill>
                <a:schemeClr val="bg1"/>
              </a:solidFill>
              <a:latin typeface="Aptos Display" panose="020B0004020202020204" pitchFamily="34" charset="0"/>
              <a:ea typeface="微软雅黑" panose="020B0503020204020204" pitchFamily="34" charset="-122"/>
              <a:cs typeface="Consolas" panose="020B0609020204030204" pitchFamily="49" charset="0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684324" y="301567"/>
            <a:ext cx="10634659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" altLang="en-US" sz="40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Expressions and judgments</a:t>
            </a:r>
            <a:endParaRPr lang="en-US" altLang="zh-CN" sz="4000" dirty="0">
              <a:solidFill>
                <a:schemeClr val="bg1"/>
              </a:solidFill>
              <a:latin typeface="Aptos Display" panose="020B0004020202020204" pitchFamily="34" charset="0"/>
              <a:ea typeface="微软雅黑" panose="020B0503020204020204" pitchFamily="34" charset="-122"/>
              <a:cs typeface="Consolas" panose="020B0609020204030204" pitchFamily="49" charset="0"/>
            </a:endParaRPr>
          </a:p>
        </p:txBody>
      </p:sp>
      <p:graphicFrame>
        <p:nvGraphicFramePr>
          <p:cNvPr id="2" name="表格 1"/>
          <p:cNvGraphicFramePr>
            <a:graphicFrameLocks noGrp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966292455"/>
              </p:ext>
            </p:extLst>
          </p:nvPr>
        </p:nvGraphicFramePr>
        <p:xfrm>
          <a:off x="684707" y="3529069"/>
          <a:ext cx="6364486" cy="3129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5948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70500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" altLang="en-US" sz="2000" dirty="0"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expression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" altLang="en-US" sz="2000" dirty="0"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description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" altLang="zh-CN" sz="1400" dirty="0"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7/3+4</a:t>
                      </a:r>
                      <a:endParaRPr lang="zh-CN" altLang="en-US" sz="1400" dirty="0">
                        <a:latin typeface="Consolas" panose="020B0609020204030204" pitchFamily="49" charset="0"/>
                        <a:ea typeface="微软雅黑" panose="020B0503020204020204" pitchFamily="34" charset="-122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" altLang="zh-CN" sz="1400" dirty="0"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6 // </a:t>
                      </a:r>
                      <a:r>
                        <a:rPr lang="en" altLang="en-US" sz="1400" dirty="0"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non-zero, true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" altLang="zh-CN" sz="1400" dirty="0"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11-(4*2)-7%3</a:t>
                      </a:r>
                      <a:endParaRPr lang="zh-CN" altLang="en-US" sz="1400" dirty="0">
                        <a:latin typeface="Consolas" panose="020B0609020204030204" pitchFamily="49" charset="0"/>
                        <a:ea typeface="微软雅黑" panose="020B0503020204020204" pitchFamily="34" charset="-122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" altLang="zh-CN" sz="1400" dirty="0"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1 // </a:t>
                      </a:r>
                      <a:r>
                        <a:rPr lang="en" altLang="en-US" sz="1400" dirty="0"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non-zero, true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" altLang="zh-CN" sz="1400" dirty="0"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Consolas" panose="020B0609020204030204" pitchFamily="49" charset="0"/>
                          <a:sym typeface="+mn-ea"/>
                        </a:rPr>
                        <a:t>a-3</a:t>
                      </a:r>
                      <a:endParaRPr lang="zh-CN" altLang="en-US" sz="1400" dirty="0">
                        <a:latin typeface="Consolas" panose="020B0609020204030204" pitchFamily="49" charset="0"/>
                        <a:ea typeface="微软雅黑" panose="020B0503020204020204" pitchFamily="34" charset="-122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" altLang="zh-CN" sz="1400" dirty="0"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0 </a:t>
                      </a:r>
                      <a:r>
                        <a:rPr lang="en" altLang="zh-CN" sz="1400" dirty="0"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Consolas" panose="020B0609020204030204" pitchFamily="49" charset="0"/>
                          <a:sym typeface="+mn-ea"/>
                        </a:rPr>
                        <a:t>// </a:t>
                      </a:r>
                      <a:r>
                        <a:rPr lang="en" sz="1400" dirty="0"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Consolas" panose="020B0609020204030204" pitchFamily="49" charset="0"/>
                          <a:sym typeface="+mn-ea"/>
                        </a:rPr>
                        <a:t>zero, false</a:t>
                      </a:r>
                      <a:endParaRPr lang="zh-CN" altLang="en-US" sz="1400" dirty="0">
                        <a:latin typeface="Consolas" panose="020B0609020204030204" pitchFamily="49" charset="0"/>
                        <a:ea typeface="微软雅黑" panose="020B0503020204020204" pitchFamily="34" charset="-122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" altLang="zh-CN" sz="1400"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a%c - b%c</a:t>
                      </a:r>
                      <a:endParaRPr lang="zh-CN" altLang="en-US" sz="1400" dirty="0">
                        <a:latin typeface="Consolas" panose="020B0609020204030204" pitchFamily="49" charset="0"/>
                        <a:ea typeface="微软雅黑" panose="020B0503020204020204" pitchFamily="34" charset="-122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" altLang="zh-CN" sz="1400" dirty="0"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0 // </a:t>
                      </a:r>
                      <a:r>
                        <a:rPr lang="en" sz="1400" dirty="0"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zero, false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" altLang="zh-CN" sz="1400" dirty="0" err="1"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a=3</a:t>
                      </a:r>
                      <a:endParaRPr lang="zh-CN" altLang="en-US" sz="1400" dirty="0">
                        <a:latin typeface="Consolas" panose="020B0609020204030204" pitchFamily="49" charset="0"/>
                        <a:ea typeface="微软雅黑" panose="020B0503020204020204" pitchFamily="34" charset="-122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" altLang="zh-CN" sz="1400" dirty="0"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3 // </a:t>
                      </a:r>
                      <a:r>
                        <a:rPr lang="en" sz="1400" dirty="0"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Non-zero, true. The value of an assignment statement is equal to the assigned value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" altLang="zh-CN" sz="1400" dirty="0"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a=0</a:t>
                      </a:r>
                      <a:endParaRPr lang="zh-CN" altLang="en-US" sz="1400" dirty="0">
                        <a:latin typeface="Consolas" panose="020B0609020204030204" pitchFamily="49" charset="0"/>
                        <a:ea typeface="微软雅黑" panose="020B0503020204020204" pitchFamily="34" charset="-122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" altLang="zh-CN" sz="1400" dirty="0"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0 // </a:t>
                      </a:r>
                      <a:r>
                        <a:rPr lang="en" sz="1400" dirty="0"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Consolas" panose="020B0609020204030204" pitchFamily="49" charset="0"/>
                          <a:sym typeface="+mn-ea"/>
                        </a:rPr>
                        <a:t>Zero, false. The value of an assignment statement is equal to the assigned value</a:t>
                      </a:r>
                      <a:endParaRPr lang="zh-CN" altLang="en-US" sz="1400" dirty="0">
                        <a:latin typeface="Consolas" panose="020B0609020204030204" pitchFamily="49" charset="0"/>
                        <a:ea typeface="微软雅黑" panose="020B0503020204020204" pitchFamily="34" charset="-122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3" name="文本框 2"/>
          <p:cNvSpPr txBox="1"/>
          <p:nvPr/>
        </p:nvSpPr>
        <p:spPr>
          <a:xfrm>
            <a:off x="684323" y="2575334"/>
            <a:ext cx="4762999" cy="878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342900" indent="-342900" algn="just" defTabSz="914400">
              <a:lnSpc>
                <a:spcPct val="150000"/>
              </a:lnSpc>
              <a:buFont typeface="+mj-lt"/>
              <a:buAutoNum type="arabicPeriod"/>
              <a:defRPr sz="1400" kern="10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defRPr>
            </a:lvl1pPr>
          </a:lstStyle>
          <a:p>
            <a:pPr marL="0" indent="0">
              <a:buNone/>
            </a:pPr>
            <a:r>
              <a:rPr lang="en" altLang="zh-CN" sz="1800" kern="1200" dirty="0">
                <a:solidFill>
                  <a:srgbClr val="008200"/>
                </a:solidFill>
                <a:latin typeface="Aptos Display" panose="020B0004020202020204" pitchFamily="34" charset="0"/>
                <a:cs typeface="+mn-cs"/>
              </a:rPr>
              <a:t>// </a:t>
            </a:r>
            <a:r>
              <a:rPr lang="en" altLang="en-US" sz="1800" kern="1200" dirty="0">
                <a:solidFill>
                  <a:srgbClr val="008200"/>
                </a:solidFill>
                <a:latin typeface="Aptos Display" panose="020B0004020202020204" pitchFamily="34" charset="0"/>
                <a:cs typeface="+mn-cs"/>
              </a:rPr>
              <a:t>First, define three variables:</a:t>
            </a:r>
            <a:endParaRPr lang="en-US" altLang="zh-CN" sz="1800" kern="1200" dirty="0">
              <a:solidFill>
                <a:srgbClr val="008200"/>
              </a:solidFill>
              <a:latin typeface="Aptos Display" panose="020B0004020202020204" pitchFamily="34" charset="0"/>
              <a:cs typeface="+mn-cs"/>
            </a:endParaRPr>
          </a:p>
          <a:p>
            <a:pPr marL="0" indent="0">
              <a:buNone/>
            </a:pPr>
            <a:r>
              <a:rPr lang="en" altLang="zh-CN" sz="1800" kern="1200" dirty="0">
                <a:solidFill>
                  <a:srgbClr val="808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int </a:t>
            </a:r>
            <a:r>
              <a:rPr lang="en" altLang="zh-CN" sz="18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a=3,b=5,c=2;</a:t>
            </a:r>
            <a:endParaRPr lang="zh-CN" altLang="en-US" sz="1800" dirty="0">
              <a:latin typeface="Consolas" panose="020B0609020204030204" pitchFamily="49" charset="0"/>
              <a:ea typeface="微软雅黑" panose="020B0503020204020204" pitchFamily="34" charset="-122"/>
              <a:cs typeface="Consolas" panose="020B0609020204030204" pitchFamily="49" charset="0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380B6C86-C0F7-4F16-ABAE-9083EACAAFFF}"/>
              </a:ext>
            </a:extLst>
          </p:cNvPr>
          <p:cNvSpPr txBox="1"/>
          <p:nvPr/>
        </p:nvSpPr>
        <p:spPr>
          <a:xfrm>
            <a:off x="7326844" y="1722925"/>
            <a:ext cx="3014185" cy="153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342900" indent="-342900" algn="just" defTabSz="914400">
              <a:lnSpc>
                <a:spcPct val="150000"/>
              </a:lnSpc>
              <a:buFont typeface="+mj-lt"/>
              <a:buAutoNum type="arabicPeriod"/>
              <a:defRPr sz="1400" kern="10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defRPr>
            </a:lvl1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" altLang="zh-CN" sz="1600" kern="1200" dirty="0">
                <a:solidFill>
                  <a:srgbClr val="00669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if </a:t>
            </a:r>
            <a:r>
              <a:rPr lang="en" altLang="zh-CN" sz="16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charset="-122"/>
                <a:cs typeface="Consolas" panose="020B0609020204030204" pitchFamily="49" charset="0"/>
              </a:rPr>
              <a:t>( </a:t>
            </a:r>
            <a:r>
              <a:rPr lang="en" altLang="en-US" sz="16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charset="-122"/>
                <a:cs typeface="Consolas" panose="020B0609020204030204" pitchFamily="49" charset="0"/>
              </a:rPr>
              <a:t>expression </a:t>
            </a:r>
            <a:r>
              <a:rPr lang="en" altLang="zh-CN" sz="16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charset="-122"/>
                <a:cs typeface="Consolas" panose="020B0609020204030204" pitchFamily="49" charset="0"/>
              </a:rPr>
              <a:t>){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zh-CN" altLang="en-US" sz="16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charset="-122"/>
                <a:cs typeface="Consolas" panose="020B0609020204030204" pitchFamily="49" charset="0"/>
              </a:rPr>
              <a:t>    </a:t>
            </a:r>
            <a:r>
              <a:rPr lang="en" altLang="zh-CN" sz="16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charset="-122"/>
                <a:cs typeface="Consolas" panose="020B0609020204030204" pitchFamily="49" charset="0"/>
              </a:rPr>
              <a:t>//do </a:t>
            </a:r>
            <a:r>
              <a:rPr lang="en" altLang="zh-CN" sz="1600" dirty="0" err="1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charset="-122"/>
                <a:cs typeface="Consolas" panose="020B0609020204030204" pitchFamily="49" charset="0"/>
              </a:rPr>
              <a:t>sth</a:t>
            </a:r>
            <a:r>
              <a:rPr lang="en" altLang="zh-CN" sz="16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charset="-122"/>
                <a:cs typeface="Consolas" panose="020B0609020204030204" pitchFamily="49" charset="0"/>
              </a:rPr>
              <a:t>.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" altLang="zh-CN" sz="16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charset="-122"/>
                <a:cs typeface="Consolas" panose="020B0609020204030204" pitchFamily="49" charset="0"/>
              </a:rPr>
              <a:t>}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" altLang="zh-CN" sz="16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charset="-122"/>
                <a:cs typeface="Consolas" panose="020B0609020204030204" pitchFamily="49" charset="0"/>
              </a:rPr>
              <a:t>//do </a:t>
            </a:r>
            <a:r>
              <a:rPr lang="en" altLang="zh-CN" sz="1600" dirty="0" err="1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charset="-122"/>
                <a:cs typeface="Consolas" panose="020B0609020204030204" pitchFamily="49" charset="0"/>
              </a:rPr>
              <a:t>sth</a:t>
            </a:r>
            <a:r>
              <a:rPr lang="en" altLang="zh-CN" sz="16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charset="-122"/>
                <a:cs typeface="Consolas" panose="020B0609020204030204" pitchFamily="49" charset="0"/>
              </a:rPr>
              <a:t> .after if</a:t>
            </a:r>
            <a:endParaRPr lang="en-US" altLang="zh-CN" sz="1600" dirty="0">
              <a:latin typeface="Consolas" panose="020B0609020204030204" pitchFamily="49" charset="0"/>
              <a:ea typeface="微软雅黑" panose="020B0503020204020204" charset="-122"/>
              <a:cs typeface="Consolas" panose="020B0609020204030204" pitchFamily="49" charset="0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5614E8B9-6C0E-4F34-B185-13E93B944086}"/>
              </a:ext>
            </a:extLst>
          </p:cNvPr>
          <p:cNvSpPr txBox="1"/>
          <p:nvPr/>
        </p:nvSpPr>
        <p:spPr>
          <a:xfrm>
            <a:off x="7321019" y="3637362"/>
            <a:ext cx="3014184" cy="18994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342900" indent="-342900" algn="just" defTabSz="914400">
              <a:lnSpc>
                <a:spcPct val="150000"/>
              </a:lnSpc>
              <a:buFont typeface="+mj-lt"/>
              <a:buAutoNum type="arabicPeriod"/>
              <a:defRPr sz="1400" kern="10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defRPr>
            </a:lvl1pPr>
          </a:lstStyle>
          <a:p>
            <a:pPr marL="0" indent="0">
              <a:buNone/>
            </a:pPr>
            <a:r>
              <a:rPr lang="en" altLang="zh-CN" sz="1600" kern="1200" dirty="0">
                <a:solidFill>
                  <a:srgbClr val="00669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if </a:t>
            </a:r>
            <a:r>
              <a:rPr lang="en" altLang="zh-CN" sz="16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charset="-122"/>
                <a:cs typeface="Consolas" panose="020B0609020204030204" pitchFamily="49" charset="0"/>
              </a:rPr>
              <a:t>( </a:t>
            </a:r>
            <a:r>
              <a:rPr lang="en" altLang="en-US" sz="16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charset="-122"/>
                <a:cs typeface="Consolas" panose="020B0609020204030204" pitchFamily="49" charset="0"/>
              </a:rPr>
              <a:t>expression </a:t>
            </a:r>
            <a:r>
              <a:rPr lang="en" altLang="zh-CN" sz="16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charset="-122"/>
                <a:cs typeface="Consolas" panose="020B0609020204030204" pitchFamily="49" charset="0"/>
              </a:rPr>
              <a:t>){</a:t>
            </a:r>
          </a:p>
          <a:p>
            <a:pPr marL="0" indent="0">
              <a:buNone/>
            </a:pPr>
            <a:r>
              <a:rPr lang="zh-CN" altLang="en-US" sz="16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charset="-122"/>
                <a:cs typeface="Consolas" panose="020B0609020204030204" pitchFamily="49" charset="0"/>
              </a:rPr>
              <a:t>    </a:t>
            </a:r>
            <a:r>
              <a:rPr lang="en" altLang="zh-CN" sz="16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charset="-122"/>
                <a:cs typeface="Consolas" panose="020B0609020204030204" pitchFamily="49" charset="0"/>
              </a:rPr>
              <a:t>//do </a:t>
            </a:r>
            <a:r>
              <a:rPr lang="en" altLang="zh-CN" sz="1600" dirty="0" err="1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charset="-122"/>
                <a:cs typeface="Consolas" panose="020B0609020204030204" pitchFamily="49" charset="0"/>
              </a:rPr>
              <a:t>sth</a:t>
            </a:r>
            <a:r>
              <a:rPr lang="en" altLang="zh-CN" sz="16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charset="-122"/>
                <a:cs typeface="Consolas" panose="020B0609020204030204" pitchFamily="49" charset="0"/>
              </a:rPr>
              <a:t>.</a:t>
            </a:r>
          </a:p>
          <a:p>
            <a:pPr marL="0" indent="0">
              <a:buNone/>
            </a:pPr>
            <a:r>
              <a:rPr lang="en" altLang="zh-CN" sz="16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charset="-122"/>
                <a:cs typeface="Consolas" panose="020B0609020204030204" pitchFamily="49" charset="0"/>
              </a:rPr>
              <a:t>}</a:t>
            </a:r>
            <a:r>
              <a:rPr lang="en" altLang="zh-CN" sz="1600" kern="1200" dirty="0">
                <a:solidFill>
                  <a:srgbClr val="00669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else</a:t>
            </a:r>
            <a:r>
              <a:rPr lang="en" altLang="zh-CN" sz="16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charset="-122"/>
                <a:cs typeface="Consolas" panose="020B0609020204030204" pitchFamily="49" charset="0"/>
              </a:rPr>
              <a:t>{</a:t>
            </a:r>
          </a:p>
          <a:p>
            <a:pPr marL="0" indent="0">
              <a:buNone/>
            </a:pPr>
            <a:r>
              <a:rPr lang="zh-CN" altLang="en-US" sz="16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charset="-122"/>
                <a:cs typeface="Consolas" panose="020B0609020204030204" pitchFamily="49" charset="0"/>
              </a:rPr>
              <a:t>    </a:t>
            </a:r>
            <a:r>
              <a:rPr lang="en" altLang="zh-CN" sz="16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charset="-122"/>
                <a:cs typeface="Consolas" panose="020B0609020204030204" pitchFamily="49" charset="0"/>
              </a:rPr>
              <a:t>//do </a:t>
            </a:r>
            <a:r>
              <a:rPr lang="en" altLang="zh-CN" sz="1600" dirty="0" err="1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charset="-122"/>
                <a:cs typeface="Consolas" panose="020B0609020204030204" pitchFamily="49" charset="0"/>
              </a:rPr>
              <a:t>sth</a:t>
            </a:r>
            <a:r>
              <a:rPr lang="en" altLang="zh-CN" sz="16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charset="-122"/>
                <a:cs typeface="Consolas" panose="020B0609020204030204" pitchFamily="49" charset="0"/>
              </a:rPr>
              <a:t>. else</a:t>
            </a:r>
          </a:p>
          <a:p>
            <a:pPr marL="0" indent="0">
              <a:buNone/>
            </a:pPr>
            <a:r>
              <a:rPr lang="en" altLang="zh-CN" sz="16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charset="-122"/>
                <a:cs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5707294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6" grpId="0"/>
      <p:bldP spid="16" grpId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文本框 13"/>
          <p:cNvSpPr txBox="1"/>
          <p:nvPr/>
        </p:nvSpPr>
        <p:spPr>
          <a:xfrm>
            <a:off x="7460673" y="1217286"/>
            <a:ext cx="3852595" cy="55133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2880" indent="-182880" algn="just" defTabSz="9144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" altLang="en-US" sz="1200" kern="100" dirty="0">
                <a:solidFill>
                  <a:schemeClr val="accent6">
                    <a:lumMod val="75000"/>
                  </a:schemeClr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  <a:sym typeface="+mn-ea"/>
              </a:rPr>
              <a:t>6 types of of relational expression operators</a:t>
            </a:r>
            <a:r>
              <a:rPr lang="en" altLang="zh-CN" sz="1200" kern="100" dirty="0">
                <a:solidFill>
                  <a:prstClr val="black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  <a:sym typeface="+mn-ea"/>
              </a:rPr>
              <a:t>: </a:t>
            </a:r>
            <a:r>
              <a:rPr lang="en" altLang="zh-CN" sz="1200" kern="100" dirty="0">
                <a:solidFill>
                  <a:schemeClr val="accent6">
                    <a:lumMod val="75000"/>
                  </a:schemeClr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  <a:sym typeface="+mn-ea"/>
              </a:rPr>
              <a:t>&gt; </a:t>
            </a:r>
            <a:r>
              <a:rPr lang="en" altLang="en-US" sz="1200" kern="100" dirty="0">
                <a:solidFill>
                  <a:prstClr val="black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  <a:sym typeface="+mn-ea"/>
              </a:rPr>
              <a:t>, </a:t>
            </a:r>
            <a:r>
              <a:rPr lang="en" altLang="zh-CN" sz="1200" kern="100" dirty="0">
                <a:solidFill>
                  <a:schemeClr val="accent6">
                    <a:lumMod val="75000"/>
                  </a:schemeClr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  <a:sym typeface="+mn-ea"/>
              </a:rPr>
              <a:t>&lt; </a:t>
            </a:r>
            <a:r>
              <a:rPr lang="en" altLang="en-US" sz="1200" kern="100" dirty="0">
                <a:solidFill>
                  <a:prstClr val="black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  <a:sym typeface="+mn-ea"/>
              </a:rPr>
              <a:t>, </a:t>
            </a:r>
            <a:r>
              <a:rPr lang="en" altLang="zh-CN" sz="1200" kern="100" dirty="0">
                <a:solidFill>
                  <a:schemeClr val="accent6">
                    <a:lumMod val="75000"/>
                  </a:schemeClr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  <a:sym typeface="+mn-ea"/>
              </a:rPr>
              <a:t>&gt;= </a:t>
            </a:r>
            <a:r>
              <a:rPr lang="en" altLang="en-US" sz="1200" kern="100" dirty="0">
                <a:solidFill>
                  <a:prstClr val="black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  <a:sym typeface="+mn-ea"/>
              </a:rPr>
              <a:t>, </a:t>
            </a:r>
            <a:r>
              <a:rPr lang="en" altLang="zh-CN" sz="1200" kern="100" dirty="0">
                <a:solidFill>
                  <a:schemeClr val="accent6">
                    <a:lumMod val="75000"/>
                  </a:schemeClr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  <a:sym typeface="+mn-ea"/>
              </a:rPr>
              <a:t>&lt;= </a:t>
            </a:r>
            <a:r>
              <a:rPr lang="en" altLang="en-US" sz="1200" kern="100" dirty="0">
                <a:solidFill>
                  <a:prstClr val="black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  <a:sym typeface="+mn-ea"/>
              </a:rPr>
              <a:t>, </a:t>
            </a:r>
            <a:r>
              <a:rPr lang="en" altLang="zh-CN" sz="1200" kern="100" dirty="0">
                <a:solidFill>
                  <a:schemeClr val="accent6">
                    <a:lumMod val="75000"/>
                  </a:schemeClr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  <a:sym typeface="+mn-ea"/>
              </a:rPr>
              <a:t>== </a:t>
            </a:r>
            <a:r>
              <a:rPr lang="en" altLang="en-US" sz="1200" kern="100" dirty="0">
                <a:solidFill>
                  <a:prstClr val="black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  <a:sym typeface="+mn-ea"/>
              </a:rPr>
              <a:t>, </a:t>
            </a:r>
            <a:r>
              <a:rPr lang="en" altLang="zh-CN" sz="1200" kern="100" dirty="0">
                <a:solidFill>
                  <a:schemeClr val="accent6">
                    <a:lumMod val="75000"/>
                  </a:schemeClr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  <a:sym typeface="+mn-ea"/>
              </a:rPr>
              <a:t>!=</a:t>
            </a:r>
            <a:endParaRPr lang="zh-CN" altLang="zh-CN" sz="1200" kern="100" dirty="0">
              <a:solidFill>
                <a:prstClr val="black"/>
              </a:solidFill>
              <a:latin typeface="Aptos Display" panose="020B0004020202020204" pitchFamily="34" charset="0"/>
              <a:ea typeface="微软雅黑" panose="020B0503020204020204" pitchFamily="34" charset="-122"/>
              <a:cs typeface="Consolas" panose="020B0609020204030204" pitchFamily="49" charset="0"/>
            </a:endParaRPr>
          </a:p>
          <a:p>
            <a:pPr marL="182880" indent="-182880" algn="just" defTabSz="9144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" altLang="zh-CN" sz="1200" kern="100" dirty="0">
                <a:solidFill>
                  <a:prstClr val="black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Connect two expressions </a:t>
            </a:r>
            <a:r>
              <a:rPr lang="en" altLang="zh-CN" sz="1200" kern="100" dirty="0">
                <a:solidFill>
                  <a:prstClr val="black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  <a:sym typeface="+mn-ea"/>
              </a:rPr>
              <a:t>to form </a:t>
            </a:r>
            <a:r>
              <a:rPr lang="en" altLang="zh-CN" sz="1200" kern="100" dirty="0">
                <a:solidFill>
                  <a:schemeClr val="accent6">
                    <a:lumMod val="75000"/>
                  </a:schemeClr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  <a:sym typeface="+mn-ea"/>
              </a:rPr>
              <a:t>a relational expression</a:t>
            </a:r>
            <a:r>
              <a:rPr lang="en" altLang="zh-CN" sz="1200" kern="100" dirty="0">
                <a:solidFill>
                  <a:prstClr val="black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, which is used to compare the two expressions.</a:t>
            </a:r>
            <a:endParaRPr lang="en-US" altLang="zh-CN" sz="1200" kern="100" dirty="0">
              <a:solidFill>
                <a:prstClr val="black"/>
              </a:solidFill>
              <a:latin typeface="Aptos Display" panose="020B0004020202020204" pitchFamily="34" charset="0"/>
              <a:ea typeface="微软雅黑" panose="020B0503020204020204" pitchFamily="34" charset="-122"/>
              <a:cs typeface="Consolas" panose="020B0609020204030204" pitchFamily="49" charset="0"/>
            </a:endParaRPr>
          </a:p>
          <a:p>
            <a:pPr marL="182880" indent="-182880" algn="just" defTabSz="9144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" altLang="en-US" sz="1200" kern="100" dirty="0">
                <a:solidFill>
                  <a:prstClr val="black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Note: differences between </a:t>
            </a:r>
            <a:r>
              <a:rPr lang="en" altLang="zh-CN" sz="1200" kern="100" dirty="0">
                <a:solidFill>
                  <a:schemeClr val="accent6">
                    <a:lumMod val="75000"/>
                  </a:schemeClr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==</a:t>
            </a:r>
            <a:r>
              <a:rPr lang="en" altLang="zh-CN" sz="1200" kern="100" dirty="0">
                <a:solidFill>
                  <a:prstClr val="black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 and </a:t>
            </a:r>
            <a:r>
              <a:rPr lang="en" altLang="zh-CN" sz="1200" kern="100" dirty="0">
                <a:solidFill>
                  <a:schemeClr val="accent6">
                    <a:lumMod val="75000"/>
                  </a:schemeClr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=</a:t>
            </a:r>
            <a:r>
              <a:rPr lang="en" altLang="zh-CN" sz="1200" kern="100" dirty="0">
                <a:solidFill>
                  <a:prstClr val="black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, </a:t>
            </a:r>
            <a:r>
              <a:rPr lang="en" altLang="zh-CN" sz="1200" kern="100" dirty="0">
                <a:solidFill>
                  <a:schemeClr val="accent6">
                    <a:lumMod val="75000"/>
                  </a:schemeClr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!=</a:t>
            </a:r>
            <a:r>
              <a:rPr lang="en" altLang="zh-CN" sz="1200" kern="100" dirty="0">
                <a:solidFill>
                  <a:prstClr val="black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 and </a:t>
            </a:r>
            <a:r>
              <a:rPr lang="en" altLang="zh-CN" sz="1200" kern="100" dirty="0">
                <a:solidFill>
                  <a:schemeClr val="accent6">
                    <a:lumMod val="75000"/>
                  </a:schemeClr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≠</a:t>
            </a:r>
            <a:r>
              <a:rPr lang="en" altLang="zh-CN" sz="1200" kern="100" dirty="0">
                <a:solidFill>
                  <a:prstClr val="black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, </a:t>
            </a:r>
            <a:r>
              <a:rPr lang="en" altLang="zh-CN" sz="1200" kern="100" dirty="0">
                <a:solidFill>
                  <a:schemeClr val="accent6">
                    <a:lumMod val="75000"/>
                  </a:schemeClr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&gt;=</a:t>
            </a:r>
            <a:r>
              <a:rPr lang="en" altLang="zh-CN" sz="1200" kern="100" dirty="0">
                <a:solidFill>
                  <a:prstClr val="black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 and </a:t>
            </a:r>
            <a:r>
              <a:rPr lang="en" altLang="zh-CN" sz="1200" kern="100" dirty="0">
                <a:solidFill>
                  <a:schemeClr val="accent6">
                    <a:lumMod val="75000"/>
                  </a:schemeClr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≥</a:t>
            </a:r>
            <a:r>
              <a:rPr lang="en" altLang="zh-CN" sz="1200" kern="100" dirty="0">
                <a:solidFill>
                  <a:prstClr val="black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, </a:t>
            </a:r>
            <a:r>
              <a:rPr lang="en" altLang="zh-CN" sz="1200" kern="100" dirty="0">
                <a:solidFill>
                  <a:schemeClr val="accent6">
                    <a:lumMod val="75000"/>
                  </a:schemeClr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&lt;=</a:t>
            </a:r>
            <a:r>
              <a:rPr lang="en" altLang="zh-CN" sz="1200" kern="100" dirty="0">
                <a:solidFill>
                  <a:prstClr val="black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 and </a:t>
            </a:r>
            <a:r>
              <a:rPr lang="en" altLang="zh-CN" sz="1200" kern="100" dirty="0">
                <a:solidFill>
                  <a:schemeClr val="accent6">
                    <a:lumMod val="75000"/>
                  </a:schemeClr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≤</a:t>
            </a:r>
            <a:r>
              <a:rPr lang="en" altLang="zh-CN" sz="1200" kern="100" dirty="0">
                <a:solidFill>
                  <a:prstClr val="black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 difference</a:t>
            </a:r>
          </a:p>
          <a:p>
            <a:pPr marL="182880" lvl="1" indent="181610" algn="just" defTabSz="914400">
              <a:lnSpc>
                <a:spcPct val="150000"/>
              </a:lnSpc>
              <a:buFont typeface="Wingdings" panose="05000000000000000000" charset="0"/>
              <a:buChar char="ü"/>
            </a:pPr>
            <a:r>
              <a:rPr lang="en" altLang="zh-CN" sz="1000" kern="100" dirty="0">
                <a:solidFill>
                  <a:srgbClr val="FF0000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Attention: </a:t>
            </a:r>
            <a:r>
              <a:rPr lang="en" altLang="zh-CN" sz="1000" kern="100" dirty="0">
                <a:solidFill>
                  <a:schemeClr val="accent6">
                    <a:lumMod val="75000"/>
                  </a:schemeClr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= </a:t>
            </a:r>
            <a:r>
              <a:rPr lang="en" altLang="en-US" sz="1000" kern="100" dirty="0">
                <a:solidFill>
                  <a:srgbClr val="FF0000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means assignment, </a:t>
            </a:r>
            <a:r>
              <a:rPr lang="en" altLang="zh-CN" sz="1000" kern="100" dirty="0">
                <a:solidFill>
                  <a:schemeClr val="accent6">
                    <a:lumMod val="75000"/>
                  </a:schemeClr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== </a:t>
            </a:r>
            <a:r>
              <a:rPr lang="en" altLang="en-US" sz="1000" kern="100" dirty="0">
                <a:solidFill>
                  <a:srgbClr val="FF0000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means judging whether they are equal, which is easy to confuse.</a:t>
            </a:r>
            <a:endParaRPr lang="zh-CN" altLang="zh-CN" sz="1200" kern="100" dirty="0">
              <a:solidFill>
                <a:prstClr val="black"/>
              </a:solidFill>
              <a:latin typeface="Aptos Display" panose="020B0004020202020204" pitchFamily="34" charset="0"/>
              <a:ea typeface="微软雅黑" panose="020B0503020204020204" pitchFamily="34" charset="-122"/>
              <a:cs typeface="Consolas" panose="020B0609020204030204" pitchFamily="49" charset="0"/>
            </a:endParaRPr>
          </a:p>
          <a:p>
            <a:pPr marL="182880" indent="-182880" defTabSz="9144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" altLang="zh-CN" sz="1200" kern="100" dirty="0">
                <a:solidFill>
                  <a:prstClr val="black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the values of the expressions on both sides of </a:t>
            </a:r>
            <a:r>
              <a:rPr lang="en" altLang="en-US" sz="1200" kern="100" dirty="0">
                <a:solidFill>
                  <a:schemeClr val="accent6">
                    <a:lumMod val="75000"/>
                  </a:schemeClr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the relational expression operator </a:t>
            </a:r>
            <a:r>
              <a:rPr lang="en" altLang="en-US" sz="1200" kern="100" dirty="0">
                <a:solidFill>
                  <a:prstClr val="black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are evaluated s</a:t>
            </a:r>
            <a:r>
              <a:rPr lang="en" altLang="zh-CN" sz="1200" kern="100" dirty="0">
                <a:solidFill>
                  <a:prstClr val="black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eparately, and then compared.</a:t>
            </a:r>
          </a:p>
          <a:p>
            <a:pPr marL="182880" indent="-182880" defTabSz="9144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" altLang="en-US" sz="1200" kern="100" dirty="0">
                <a:solidFill>
                  <a:prstClr val="black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There are only two calculation results: </a:t>
            </a:r>
            <a:r>
              <a:rPr lang="en" altLang="en-US" sz="1200" kern="100" dirty="0">
                <a:solidFill>
                  <a:prstClr val="black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  <a:sym typeface="+mn-ea"/>
              </a:rPr>
              <a:t>true (</a:t>
            </a:r>
            <a:r>
              <a:rPr lang="en" altLang="zh-CN" sz="1200" kern="100" dirty="0">
                <a:solidFill>
                  <a:prstClr val="black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  <a:sym typeface="+mn-ea"/>
              </a:rPr>
              <a:t>1</a:t>
            </a:r>
            <a:r>
              <a:rPr lang="en" altLang="en-US" sz="1200" kern="100" dirty="0">
                <a:solidFill>
                  <a:prstClr val="black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  <a:sym typeface="+mn-ea"/>
              </a:rPr>
              <a:t>), or false (0)</a:t>
            </a:r>
            <a:endParaRPr lang="en-US" altLang="zh-CN" sz="1200" kern="100" dirty="0">
              <a:solidFill>
                <a:prstClr val="black"/>
              </a:solidFill>
              <a:latin typeface="Aptos Display" panose="020B0004020202020204" pitchFamily="34" charset="0"/>
              <a:ea typeface="微软雅黑" panose="020B0503020204020204" pitchFamily="34" charset="-122"/>
              <a:cs typeface="Consolas" panose="020B0609020204030204" pitchFamily="49" charset="0"/>
            </a:endParaRPr>
          </a:p>
          <a:p>
            <a:pPr marL="182880" indent="-182880" algn="just" defTabSz="9144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" altLang="en-US" sz="1200" kern="100" dirty="0">
                <a:solidFill>
                  <a:schemeClr val="accent6">
                    <a:lumMod val="75000"/>
                  </a:schemeClr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relational expression operators have</a:t>
            </a:r>
            <a:r>
              <a:rPr lang="en" altLang="en-US" sz="1200" kern="100" dirty="0">
                <a:solidFill>
                  <a:prstClr val="black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 lower precedences than arithmetic operators, so if there are arithmetic oeprations, they are done before relational operations.</a:t>
            </a:r>
            <a:endParaRPr lang="en-US" altLang="zh-CN" sz="1200" kern="100" dirty="0">
              <a:solidFill>
                <a:prstClr val="black"/>
              </a:solidFill>
              <a:latin typeface="Aptos Display" panose="020B0004020202020204" pitchFamily="34" charset="0"/>
              <a:ea typeface="微软雅黑" panose="020B0503020204020204" pitchFamily="34" charset="-122"/>
              <a:cs typeface="Consolas" panose="020B0609020204030204" pitchFamily="49" charset="0"/>
            </a:endParaRPr>
          </a:p>
          <a:p>
            <a:pPr marL="182880" indent="-182880" algn="just" defTabSz="9144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" altLang="en-US" sz="1200" kern="100" dirty="0">
                <a:solidFill>
                  <a:prstClr val="black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If there are multiple </a:t>
            </a:r>
            <a:r>
              <a:rPr lang="en" altLang="en-US" sz="1200" kern="100" dirty="0">
                <a:solidFill>
                  <a:schemeClr val="accent6">
                    <a:lumMod val="75000"/>
                  </a:schemeClr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relational expression operators</a:t>
            </a:r>
            <a:r>
              <a:rPr lang="en" altLang="en-US" sz="1200" kern="100" dirty="0">
                <a:solidFill>
                  <a:prstClr val="black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, the order is: from left to right, </a:t>
            </a:r>
            <a:r>
              <a:rPr lang="en" altLang="zh-CN" sz="1200" kern="100" dirty="0">
                <a:solidFill>
                  <a:schemeClr val="accent6">
                    <a:lumMod val="75000"/>
                  </a:schemeClr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&gt;</a:t>
            </a:r>
            <a:r>
              <a:rPr lang="en" altLang="en-US" sz="1200" kern="100" dirty="0">
                <a:solidFill>
                  <a:prstClr val="black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, </a:t>
            </a:r>
            <a:r>
              <a:rPr lang="en" altLang="zh-CN" sz="1200" kern="100" dirty="0">
                <a:solidFill>
                  <a:schemeClr val="accent6">
                    <a:lumMod val="75000"/>
                  </a:schemeClr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&lt;</a:t>
            </a:r>
            <a:r>
              <a:rPr lang="en" altLang="en-US" sz="1200" kern="100" dirty="0">
                <a:solidFill>
                  <a:prstClr val="black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, </a:t>
            </a:r>
            <a:r>
              <a:rPr lang="en" altLang="zh-CN" sz="1200" kern="100" dirty="0">
                <a:solidFill>
                  <a:schemeClr val="accent6">
                    <a:lumMod val="75000"/>
                  </a:schemeClr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&gt;= and &lt;= </a:t>
            </a:r>
            <a:r>
              <a:rPr lang="en" altLang="zh-CN" sz="1200" kern="1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before</a:t>
            </a:r>
            <a:r>
              <a:rPr lang="en" altLang="zh-CN" sz="1200" kern="100" dirty="0">
                <a:solidFill>
                  <a:schemeClr val="accent6">
                    <a:lumMod val="75000"/>
                  </a:schemeClr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 ==</a:t>
            </a:r>
            <a:r>
              <a:rPr lang="en" altLang="en-US" sz="1200" kern="100" dirty="0">
                <a:solidFill>
                  <a:prstClr val="black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 and </a:t>
            </a:r>
            <a:r>
              <a:rPr lang="en" altLang="zh-CN" sz="1200" kern="100" dirty="0">
                <a:solidFill>
                  <a:schemeClr val="accent6">
                    <a:lumMod val="75000"/>
                  </a:schemeClr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!=</a:t>
            </a:r>
            <a:r>
              <a:rPr lang="en" altLang="zh-CN" sz="1200" kern="100" dirty="0">
                <a:solidFill>
                  <a:prstClr val="black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; where there are </a:t>
            </a:r>
            <a:r>
              <a:rPr lang="en" altLang="en-US" sz="1200" kern="100" dirty="0">
                <a:solidFill>
                  <a:prstClr val="black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parentheses, evaluate what’s inside first</a:t>
            </a:r>
            <a:endParaRPr lang="zh-CN" altLang="zh-CN" sz="1200" kern="100" dirty="0">
              <a:solidFill>
                <a:prstClr val="black"/>
              </a:solidFill>
              <a:latin typeface="Aptos Display" panose="020B0004020202020204" pitchFamily="34" charset="0"/>
              <a:ea typeface="微软雅黑" panose="020B0503020204020204" pitchFamily="34" charset="-122"/>
              <a:cs typeface="Consolas" panose="020B0609020204030204" pitchFamily="49" charset="0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678609" y="301567"/>
            <a:ext cx="1063465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40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R</a:t>
            </a:r>
            <a:r>
              <a:rPr lang="en" altLang="en-US" sz="4000" dirty="0" err="1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elational</a:t>
            </a:r>
            <a:r>
              <a:rPr lang="en" altLang="en-US" sz="40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 operator</a:t>
            </a:r>
            <a:r>
              <a:rPr lang="en-US" altLang="zh-CN" sz="40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s</a:t>
            </a:r>
            <a:endParaRPr lang="en" altLang="en-US" sz="4000" dirty="0">
              <a:solidFill>
                <a:schemeClr val="bg1"/>
              </a:solidFill>
              <a:latin typeface="Aptos Display" panose="020B0004020202020204" pitchFamily="34" charset="0"/>
              <a:ea typeface="微软雅黑" panose="020B0503020204020204" pitchFamily="34" charset="-122"/>
              <a:cs typeface="Consolas" panose="020B0609020204030204" pitchFamily="49" charset="0"/>
            </a:endParaRPr>
          </a:p>
        </p:txBody>
      </p:sp>
      <p:graphicFrame>
        <p:nvGraphicFramePr>
          <p:cNvPr id="6" name="表格 5"/>
          <p:cNvGraphicFramePr>
            <a:graphicFrameLocks noGrp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598698177"/>
              </p:ext>
            </p:extLst>
          </p:nvPr>
        </p:nvGraphicFramePr>
        <p:xfrm>
          <a:off x="347597" y="1955948"/>
          <a:ext cx="6920711" cy="4709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7739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74331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80554">
                <a:tc>
                  <a:txBody>
                    <a:bodyPr/>
                    <a:lstStyle/>
                    <a:p>
                      <a:r>
                        <a:rPr lang="en-US" altLang="zh-CN" dirty="0"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R</a:t>
                      </a:r>
                      <a:r>
                        <a:rPr lang="en" altLang="en-US" dirty="0" err="1"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elational</a:t>
                      </a:r>
                      <a:r>
                        <a:rPr lang="en" altLang="en-US" dirty="0"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 </a:t>
                      </a:r>
                      <a:r>
                        <a:rPr lang="en" altLang="en-US" dirty="0" err="1"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expre</a:t>
                      </a:r>
                      <a:r>
                        <a:rPr lang="en-US" altLang="zh-CN" dirty="0" err="1"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ssions</a:t>
                      </a:r>
                      <a:endParaRPr lang="en" altLang="en-US" dirty="0">
                        <a:latin typeface="Consolas" panose="020B0609020204030204" pitchFamily="49" charset="0"/>
                        <a:ea typeface="微软雅黑" panose="020B0503020204020204" pitchFamily="34" charset="-122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D</a:t>
                      </a:r>
                      <a:r>
                        <a:rPr lang="en" altLang="en-US" dirty="0" err="1"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escription</a:t>
                      </a:r>
                      <a:endParaRPr lang="en" altLang="en-US" dirty="0">
                        <a:latin typeface="Consolas" panose="020B0609020204030204" pitchFamily="49" charset="0"/>
                        <a:ea typeface="微软雅黑" panose="020B0503020204020204" pitchFamily="34" charset="-122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6571">
                <a:tc>
                  <a:txBody>
                    <a:bodyPr/>
                    <a:lstStyle/>
                    <a:p>
                      <a:r>
                        <a:rPr lang="en" altLang="zh-CN" sz="1200" dirty="0"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7/3+4&gt;2*3</a:t>
                      </a:r>
                      <a:endParaRPr lang="zh-CN" altLang="en-US" sz="1200" dirty="0">
                        <a:latin typeface="Consolas" panose="020B0609020204030204" pitchFamily="49" charset="0"/>
                        <a:ea typeface="微软雅黑" panose="020B0503020204020204" pitchFamily="34" charset="-122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" altLang="zh-CN" sz="1100" dirty="0"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0 // evaluate both sides </a:t>
                      </a:r>
                      <a:r>
                        <a:rPr lang="en" altLang="en-US" sz="1100" dirty="0"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separately, then compare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6571">
                <a:tc>
                  <a:txBody>
                    <a:bodyPr/>
                    <a:lstStyle/>
                    <a:p>
                      <a:r>
                        <a:rPr lang="en" altLang="zh-CN" sz="1200" dirty="0"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11-(4*2)+7%3&lt;pow(2,3)-2</a:t>
                      </a:r>
                      <a:endParaRPr lang="zh-CN" altLang="en-US" sz="1200" dirty="0">
                        <a:latin typeface="Consolas" panose="020B0609020204030204" pitchFamily="49" charset="0"/>
                        <a:ea typeface="微软雅黑" panose="020B0503020204020204" pitchFamily="34" charset="-122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" altLang="zh-CN" sz="1100" dirty="0"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1 // </a:t>
                      </a:r>
                      <a:r>
                        <a:rPr lang="en" altLang="en-US" sz="1100" dirty="0"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evaluate both sides of &lt; separately, then compare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36571">
                <a:tc>
                  <a:txBody>
                    <a:bodyPr/>
                    <a:lstStyle/>
                    <a:p>
                      <a:r>
                        <a:rPr lang="en" altLang="zh-CN" sz="1200" dirty="0"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a&gt;15</a:t>
                      </a:r>
                      <a:endParaRPr lang="zh-CN" altLang="en-US" sz="1200" dirty="0">
                        <a:latin typeface="Consolas" panose="020B0609020204030204" pitchFamily="49" charset="0"/>
                        <a:ea typeface="微软雅黑" panose="020B0503020204020204" pitchFamily="34" charset="-122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" altLang="zh-CN" sz="1100" dirty="0"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0</a:t>
                      </a:r>
                      <a:endParaRPr lang="zh-CN" altLang="en-US" sz="1100" dirty="0">
                        <a:latin typeface="Consolas" panose="020B0609020204030204" pitchFamily="49" charset="0"/>
                        <a:ea typeface="微软雅黑" panose="020B0503020204020204" pitchFamily="34" charset="-122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0370">
                <a:tc>
                  <a:txBody>
                    <a:bodyPr/>
                    <a:lstStyle/>
                    <a:p>
                      <a:r>
                        <a:rPr lang="en" altLang="zh-CN" sz="1200" dirty="0"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a-2!=b-3</a:t>
                      </a:r>
                      <a:endParaRPr lang="zh-CN" altLang="en-US" sz="1200" dirty="0">
                        <a:latin typeface="Consolas" panose="020B0609020204030204" pitchFamily="49" charset="0"/>
                        <a:ea typeface="微软雅黑" panose="020B0503020204020204" pitchFamily="34" charset="-122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" altLang="zh-CN" sz="1100" dirty="0"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1 // evaluate</a:t>
                      </a:r>
                      <a:r>
                        <a:rPr lang="en" altLang="en-US" sz="1100" dirty="0"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 both sides of </a:t>
                      </a:r>
                      <a:r>
                        <a:rPr lang="en" altLang="zh-CN" sz="1100" dirty="0"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!= separately</a:t>
                      </a:r>
                      <a:r>
                        <a:rPr lang="en" altLang="en-US" sz="1100" dirty="0"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, then determine whether they are equal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2218">
                <a:tc>
                  <a:txBody>
                    <a:bodyPr/>
                    <a:lstStyle/>
                    <a:p>
                      <a:r>
                        <a:rPr lang="en" altLang="zh-CN" sz="1200" dirty="0" err="1"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a+b </a:t>
                      </a:r>
                      <a:r>
                        <a:rPr lang="en" altLang="zh-CN" sz="1200" dirty="0"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&lt; </a:t>
                      </a:r>
                      <a:r>
                        <a:rPr lang="en" altLang="zh-CN" sz="1200" dirty="0" err="1"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b+c</a:t>
                      </a:r>
                      <a:endParaRPr lang="zh-CN" altLang="en-US" sz="1200" dirty="0">
                        <a:latin typeface="Consolas" panose="020B0609020204030204" pitchFamily="49" charset="0"/>
                        <a:ea typeface="微软雅黑" panose="020B0503020204020204" pitchFamily="34" charset="-122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" altLang="zh-CN" sz="1100" dirty="0"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0 // evaluate </a:t>
                      </a:r>
                      <a:r>
                        <a:rPr lang="en" altLang="en-US" sz="1100" dirty="0"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both sides of &lt; separately, then compare the sizes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72218">
                <a:tc>
                  <a:txBody>
                    <a:bodyPr/>
                    <a:lstStyle/>
                    <a:p>
                      <a:r>
                        <a:rPr lang="en" altLang="zh-CN" sz="1200" dirty="0"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'a'&lt;'b'</a:t>
                      </a:r>
                      <a:endParaRPr lang="zh-CN" altLang="en-US" sz="1200" dirty="0">
                        <a:latin typeface="Consolas" panose="020B0609020204030204" pitchFamily="49" charset="0"/>
                        <a:ea typeface="微软雅黑" panose="020B0503020204020204" pitchFamily="34" charset="-122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" altLang="zh-CN" sz="1100" dirty="0"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1 // </a:t>
                      </a:r>
                      <a:r>
                        <a:rPr lang="en" altLang="en-US" sz="1100" dirty="0"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Character type is used for operations, using </a:t>
                      </a:r>
                      <a:r>
                        <a:rPr lang="en" altLang="zh-CN" sz="1100" dirty="0"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ASCII </a:t>
                      </a:r>
                      <a:r>
                        <a:rPr lang="en" altLang="en-US" sz="1100" dirty="0"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code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36571">
                <a:tc>
                  <a:txBody>
                    <a:bodyPr/>
                    <a:lstStyle/>
                    <a:p>
                      <a:r>
                        <a:rPr lang="en" altLang="zh-CN" sz="1200" dirty="0"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(a==3)&gt;=(b==5)</a:t>
                      </a:r>
                      <a:endParaRPr lang="zh-CN" altLang="en-US" sz="1200" dirty="0">
                        <a:latin typeface="Consolas" panose="020B0609020204030204" pitchFamily="49" charset="0"/>
                        <a:ea typeface="微软雅黑" panose="020B0503020204020204" pitchFamily="34" charset="-122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" altLang="zh-CN" sz="1100" dirty="0"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1 // evaluate</a:t>
                      </a:r>
                      <a:r>
                        <a:rPr lang="en" altLang="en-US" sz="1100" dirty="0"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 both sides of &gt;= separately, then compare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9304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" altLang="zh-CN" sz="1200" dirty="0"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0&lt;a&lt;5</a:t>
                      </a:r>
                      <a:endParaRPr lang="zh-CN" altLang="en-US" sz="1200" dirty="0">
                        <a:latin typeface="Consolas" panose="020B0609020204030204" pitchFamily="49" charset="0"/>
                        <a:ea typeface="微软雅黑" panose="020B0503020204020204" pitchFamily="34" charset="-122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" altLang="en-US" sz="1100" dirty="0"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evaluate </a:t>
                      </a:r>
                      <a:r>
                        <a:rPr lang="en" altLang="zh-CN" sz="1100" dirty="0"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0&lt;a first </a:t>
                      </a:r>
                      <a:r>
                        <a:rPr lang="en" altLang="en-US" sz="1100" dirty="0"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and get an intermediate result of either 0 or 1</a:t>
                      </a:r>
                      <a:endParaRPr lang="en-US" altLang="zh-CN" sz="1100" dirty="0">
                        <a:latin typeface="Consolas" panose="020B0609020204030204" pitchFamily="49" charset="0"/>
                        <a:ea typeface="微软雅黑" panose="020B0503020204020204" pitchFamily="34" charset="-122"/>
                        <a:cs typeface="Consolas" panose="020B0609020204030204" pitchFamily="49" charset="0"/>
                      </a:endParaRP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" altLang="en-US" sz="1100" dirty="0"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Then evaluate the intermediate result </a:t>
                      </a:r>
                      <a:r>
                        <a:rPr lang="en" altLang="zh-CN" sz="1100" dirty="0"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&lt;5</a:t>
                      </a:r>
                      <a:r>
                        <a:rPr lang="en" altLang="en-US" sz="1100" dirty="0"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, no matter the intermediate result is </a:t>
                      </a:r>
                      <a:r>
                        <a:rPr lang="en" altLang="zh-CN" sz="1100" dirty="0"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0 </a:t>
                      </a:r>
                      <a:r>
                        <a:rPr lang="en" altLang="en-US" sz="1100" dirty="0"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or </a:t>
                      </a:r>
                      <a:r>
                        <a:rPr lang="en" altLang="zh-CN" sz="1100" dirty="0"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1</a:t>
                      </a:r>
                      <a:r>
                        <a:rPr lang="en" altLang="en-US" sz="1100" dirty="0"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, the final result must be </a:t>
                      </a:r>
                      <a:r>
                        <a:rPr lang="en" altLang="zh-CN" sz="1100" dirty="0"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1</a:t>
                      </a:r>
                      <a:endParaRPr lang="zh-CN" altLang="en-US" sz="1100" dirty="0">
                        <a:latin typeface="Consolas" panose="020B0609020204030204" pitchFamily="49" charset="0"/>
                        <a:ea typeface="微软雅黑" panose="020B0503020204020204" pitchFamily="34" charset="-122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69794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" altLang="zh-CN" sz="1200" dirty="0"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(a=3)&gt;(b=5)</a:t>
                      </a:r>
                      <a:endParaRPr lang="zh-CN" altLang="en-US" sz="1200" dirty="0">
                        <a:latin typeface="Consolas" panose="020B0609020204030204" pitchFamily="49" charset="0"/>
                        <a:ea typeface="微软雅黑" panose="020B0503020204020204" pitchFamily="34" charset="-122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" altLang="zh-CN" sz="1100" dirty="0"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0 // evaluate both sides </a:t>
                      </a:r>
                      <a:r>
                        <a:rPr lang="en" altLang="en-US" sz="1100" dirty="0"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separately, then compare</a:t>
                      </a:r>
                    </a:p>
                    <a:p>
                      <a:r>
                        <a:rPr lang="en" altLang="en-US" sz="1100" dirty="0"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The value of an assignment statement is equal to the assigned value</a:t>
                      </a:r>
                    </a:p>
                    <a:p>
                      <a:r>
                        <a:rPr lang="en" altLang="en-US" sz="1100" dirty="0"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Note: After this expression is executed, the values of </a:t>
                      </a:r>
                      <a:r>
                        <a:rPr lang="en" altLang="zh-CN" sz="1100" dirty="0"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a </a:t>
                      </a:r>
                      <a:r>
                        <a:rPr lang="en" altLang="en-US" sz="1100" dirty="0"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and </a:t>
                      </a:r>
                      <a:r>
                        <a:rPr lang="en" altLang="zh-CN" sz="1100" dirty="0"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b </a:t>
                      </a:r>
                      <a:r>
                        <a:rPr lang="en" altLang="en-US" sz="1100" dirty="0"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have changed.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9" name="文本框 8"/>
          <p:cNvSpPr txBox="1"/>
          <p:nvPr/>
        </p:nvSpPr>
        <p:spPr>
          <a:xfrm>
            <a:off x="347597" y="1076196"/>
            <a:ext cx="6406744" cy="8833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342900" indent="-342900" algn="just" defTabSz="914400">
              <a:lnSpc>
                <a:spcPct val="150000"/>
              </a:lnSpc>
              <a:buFont typeface="+mj-lt"/>
              <a:buAutoNum type="arabicPeriod"/>
              <a:defRPr sz="1400" kern="10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defRPr>
            </a:lvl1pPr>
          </a:lstStyle>
          <a:p>
            <a:pPr marL="0" indent="0">
              <a:buNone/>
            </a:pPr>
            <a:r>
              <a:rPr lang="en" altLang="zh-CN" sz="1800" kern="1200" dirty="0">
                <a:solidFill>
                  <a:srgbClr val="008200"/>
                </a:solidFill>
                <a:latin typeface="Aptos Display" panose="020B0004020202020204" pitchFamily="34" charset="0"/>
                <a:cs typeface="+mn-cs"/>
              </a:rPr>
              <a:t>// </a:t>
            </a:r>
            <a:r>
              <a:rPr lang="en" altLang="en-US" sz="1800" kern="1200" dirty="0">
                <a:solidFill>
                  <a:srgbClr val="008200"/>
                </a:solidFill>
                <a:latin typeface="Aptos Display" panose="020B0004020202020204" pitchFamily="34" charset="0"/>
                <a:cs typeface="+mn-cs"/>
              </a:rPr>
              <a:t>First, define three variables:</a:t>
            </a:r>
            <a:endParaRPr lang="en-US" altLang="zh-CN" sz="1800" kern="1200" dirty="0">
              <a:solidFill>
                <a:srgbClr val="008200"/>
              </a:solidFill>
              <a:latin typeface="Aptos Display" panose="020B0004020202020204" pitchFamily="34" charset="0"/>
              <a:cs typeface="+mn-cs"/>
            </a:endParaRPr>
          </a:p>
          <a:p>
            <a:pPr marL="0" indent="0">
              <a:buNone/>
            </a:pPr>
            <a:r>
              <a:rPr lang="en" altLang="zh-CN" sz="1800" kern="1200" dirty="0">
                <a:solidFill>
                  <a:srgbClr val="808080"/>
                </a:solidFill>
                <a:latin typeface="Aptos Display" panose="020B0004020202020204" pitchFamily="34" charset="0"/>
                <a:cs typeface="Consolas" panose="020B0609020204030204" pitchFamily="49" charset="0"/>
              </a:rPr>
              <a:t>int </a:t>
            </a:r>
            <a:r>
              <a:rPr lang="en" altLang="zh-CN" sz="1800" dirty="0"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a=3,b=5,c=2;</a:t>
            </a:r>
            <a:endParaRPr lang="zh-CN" altLang="en-US" sz="1800" dirty="0">
              <a:latin typeface="Aptos Display" panose="020B0004020202020204" pitchFamily="34" charset="0"/>
              <a:ea typeface="微软雅黑" panose="020B0503020204020204" pitchFamily="34" charset="-122"/>
              <a:cs typeface="Consolas" panose="020B0609020204030204" pitchFamily="49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/>
          <p:cNvSpPr txBox="1"/>
          <p:nvPr/>
        </p:nvSpPr>
        <p:spPr>
          <a:xfrm>
            <a:off x="6871315" y="1228826"/>
            <a:ext cx="4441953" cy="53770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7800" indent="-177800" algn="just" defTabSz="9144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" altLang="en-US" sz="1100" kern="100" dirty="0">
                <a:solidFill>
                  <a:prstClr val="black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  <a:sym typeface="+mn-ea"/>
              </a:rPr>
              <a:t>"And" </a:t>
            </a:r>
            <a:r>
              <a:rPr lang="en" altLang="en-US" sz="1100" kern="100" dirty="0">
                <a:solidFill>
                  <a:prstClr val="black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: </a:t>
            </a:r>
            <a:r>
              <a:rPr lang="en" altLang="zh-CN" sz="1100" kern="100" dirty="0">
                <a:solidFill>
                  <a:schemeClr val="accent6">
                    <a:lumMod val="75000"/>
                  </a:schemeClr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  <a:sym typeface="+mn-ea"/>
              </a:rPr>
              <a:t>&amp;&amp; </a:t>
            </a:r>
            <a:r>
              <a:rPr lang="en" altLang="en-US" sz="1100" kern="100" dirty="0">
                <a:solidFill>
                  <a:prstClr val="black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  <a:sym typeface="+mn-ea"/>
              </a:rPr>
              <a:t>, meaning "and"</a:t>
            </a:r>
          </a:p>
          <a:p>
            <a:pPr indent="161925" algn="just" defTabSz="914400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en" altLang="en-US" sz="1100" kern="100" dirty="0">
                <a:solidFill>
                  <a:prstClr val="black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  <a:sym typeface="+mn-ea"/>
              </a:rPr>
              <a:t>"or" </a:t>
            </a:r>
            <a:r>
              <a:rPr lang="en" altLang="zh-CN" sz="1100" kern="100" dirty="0">
                <a:solidFill>
                  <a:prstClr val="black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: </a:t>
            </a:r>
            <a:r>
              <a:rPr lang="en" altLang="zh-CN" sz="1100" kern="100" dirty="0">
                <a:solidFill>
                  <a:schemeClr val="accent6">
                    <a:lumMod val="75000"/>
                  </a:schemeClr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  <a:sym typeface="+mn-ea"/>
              </a:rPr>
              <a:t>|| </a:t>
            </a:r>
            <a:r>
              <a:rPr lang="en" altLang="en-US" sz="1100" kern="100" dirty="0">
                <a:solidFill>
                  <a:prstClr val="black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  <a:sym typeface="+mn-ea"/>
              </a:rPr>
              <a:t>, meaning "or"</a:t>
            </a:r>
          </a:p>
          <a:p>
            <a:pPr indent="161925" algn="just" defTabSz="914400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en" altLang="en-US" sz="1100" kern="100" dirty="0">
                <a:solidFill>
                  <a:prstClr val="black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  <a:sym typeface="+mn-ea"/>
              </a:rPr>
              <a:t>"Not" </a:t>
            </a:r>
            <a:r>
              <a:rPr lang="en" altLang="en-US" sz="1100" kern="100" dirty="0">
                <a:solidFill>
                  <a:prstClr val="black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: </a:t>
            </a:r>
            <a:r>
              <a:rPr lang="en" altLang="zh-CN" sz="1100" kern="100" dirty="0">
                <a:solidFill>
                  <a:schemeClr val="accent6">
                    <a:lumMod val="75000"/>
                  </a:schemeClr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! </a:t>
            </a:r>
            <a:r>
              <a:rPr lang="en" altLang="en-US" sz="1100" kern="100" dirty="0">
                <a:solidFill>
                  <a:prstClr val="black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, meaning </a:t>
            </a:r>
            <a:r>
              <a:rPr lang="en" altLang="en-US" sz="1100" kern="100" dirty="0">
                <a:solidFill>
                  <a:prstClr val="black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  <a:sym typeface="+mn-ea"/>
              </a:rPr>
              <a:t>"the opposite of"</a:t>
            </a:r>
            <a:endParaRPr lang="zh-CN" altLang="zh-CN" sz="1100" kern="100" dirty="0">
              <a:solidFill>
                <a:prstClr val="black"/>
              </a:solidFill>
              <a:latin typeface="Aptos Display" panose="020B0004020202020204" pitchFamily="34" charset="0"/>
              <a:ea typeface="微软雅黑" panose="020B0503020204020204" pitchFamily="34" charset="-122"/>
              <a:cs typeface="Consolas" panose="020B0609020204030204" pitchFamily="49" charset="0"/>
            </a:endParaRPr>
          </a:p>
          <a:p>
            <a:pPr marL="177800" indent="-177800" algn="just" defTabSz="9144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" altLang="zh-CN" sz="1100" kern="100" dirty="0">
                <a:solidFill>
                  <a:schemeClr val="accent6">
                    <a:lumMod val="75000"/>
                  </a:schemeClr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  <a:sym typeface="+mn-ea"/>
              </a:rPr>
              <a:t>&amp;&amp; </a:t>
            </a:r>
            <a:r>
              <a:rPr lang="en" altLang="en-US" sz="1100" kern="100" dirty="0">
                <a:solidFill>
                  <a:prstClr val="black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and </a:t>
            </a:r>
            <a:r>
              <a:rPr lang="en" altLang="zh-CN" sz="1100" kern="100" dirty="0">
                <a:solidFill>
                  <a:schemeClr val="accent6">
                    <a:lumMod val="75000"/>
                  </a:schemeClr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  <a:sym typeface="+mn-ea"/>
              </a:rPr>
              <a:t>|| </a:t>
            </a:r>
            <a:r>
              <a:rPr lang="en" altLang="en-US" sz="1100" kern="100" dirty="0">
                <a:solidFill>
                  <a:prstClr val="black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are used to </a:t>
            </a:r>
            <a:r>
              <a:rPr lang="en" altLang="zh-CN" sz="1100" kern="100" dirty="0">
                <a:solidFill>
                  <a:prstClr val="black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connect two expressions</a:t>
            </a:r>
            <a:r>
              <a:rPr lang="en" altLang="en-US" sz="1100" kern="100" dirty="0">
                <a:solidFill>
                  <a:prstClr val="black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, </a:t>
            </a:r>
            <a:r>
              <a:rPr lang="en" altLang="zh-CN" sz="1100" kern="100" dirty="0">
                <a:solidFill>
                  <a:schemeClr val="accent6">
                    <a:lumMod val="75000"/>
                  </a:schemeClr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  <a:sym typeface="+mn-ea"/>
              </a:rPr>
              <a:t>! </a:t>
            </a:r>
            <a:r>
              <a:rPr lang="en" altLang="en-US" sz="1100" kern="100" dirty="0">
                <a:solidFill>
                  <a:prstClr val="black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only acts on one expression </a:t>
            </a:r>
            <a:r>
              <a:rPr lang="en" altLang="zh-CN" sz="1100" kern="100" dirty="0">
                <a:solidFill>
                  <a:prstClr val="black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to form </a:t>
            </a:r>
            <a:r>
              <a:rPr lang="en" altLang="zh-CN" sz="1100" kern="100" dirty="0">
                <a:solidFill>
                  <a:schemeClr val="accent6">
                    <a:lumMod val="75000"/>
                  </a:schemeClr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a logical expression</a:t>
            </a:r>
            <a:endParaRPr lang="zh-CN" altLang="zh-CN" sz="1100" kern="100" dirty="0">
              <a:solidFill>
                <a:prstClr val="black"/>
              </a:solidFill>
              <a:latin typeface="Aptos Display" panose="020B0004020202020204" pitchFamily="34" charset="0"/>
              <a:ea typeface="微软雅黑" panose="020B0503020204020204" pitchFamily="34" charset="-122"/>
              <a:cs typeface="Consolas" panose="020B0609020204030204" pitchFamily="49" charset="0"/>
            </a:endParaRPr>
          </a:p>
          <a:p>
            <a:pPr marL="177800" indent="-177800" algn="just" defTabSz="9144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" altLang="zh-CN" sz="1100" kern="100" dirty="0">
                <a:solidFill>
                  <a:prstClr val="black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  <a:sym typeface="+mn-ea"/>
              </a:rPr>
              <a:t>Evaluation process: For </a:t>
            </a:r>
            <a:r>
              <a:rPr lang="en" altLang="zh-CN" sz="1100" kern="100" dirty="0">
                <a:solidFill>
                  <a:schemeClr val="accent6">
                    <a:lumMod val="75000"/>
                  </a:schemeClr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  <a:sym typeface="+mn-ea"/>
              </a:rPr>
              <a:t>&amp;&amp; </a:t>
            </a:r>
            <a:r>
              <a:rPr lang="en" altLang="en-US" sz="1100" kern="100" dirty="0">
                <a:solidFill>
                  <a:prstClr val="black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  <a:sym typeface="+mn-ea"/>
              </a:rPr>
              <a:t>and </a:t>
            </a:r>
            <a:r>
              <a:rPr lang="en" altLang="zh-CN" sz="1100" kern="100" dirty="0">
                <a:solidFill>
                  <a:schemeClr val="accent6">
                    <a:lumMod val="75000"/>
                  </a:schemeClr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  <a:sym typeface="+mn-ea"/>
              </a:rPr>
              <a:t>||</a:t>
            </a:r>
            <a:r>
              <a:rPr lang="en" altLang="zh-CN" sz="1100" kern="100" dirty="0">
                <a:solidFill>
                  <a:prstClr val="black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  <a:sym typeface="+mn-ea"/>
              </a:rPr>
              <a:t>, </a:t>
            </a:r>
            <a:r>
              <a:rPr lang="en-AU" altLang="zh-CN" sz="1100" kern="100" dirty="0">
                <a:solidFill>
                  <a:prstClr val="black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  <a:sym typeface="+mn-ea"/>
              </a:rPr>
              <a:t>evaluate</a:t>
            </a:r>
            <a:r>
              <a:rPr lang="en" altLang="zh-CN" sz="1100" kern="100" dirty="0">
                <a:solidFill>
                  <a:prstClr val="black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  <a:sym typeface="+mn-ea"/>
              </a:rPr>
              <a:t> the values of the expressions on both sides respectively, then perform logical operations; for </a:t>
            </a:r>
            <a:r>
              <a:rPr lang="en" altLang="zh-CN" sz="1100" kern="100" dirty="0">
                <a:solidFill>
                  <a:schemeClr val="accent6">
                    <a:lumMod val="75000"/>
                  </a:schemeClr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  <a:sym typeface="+mn-ea"/>
              </a:rPr>
              <a:t>!</a:t>
            </a:r>
            <a:r>
              <a:rPr lang="en" altLang="en-US" sz="1100" kern="100" dirty="0">
                <a:solidFill>
                  <a:prstClr val="black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  <a:sym typeface="+mn-ea"/>
              </a:rPr>
              <a:t>, first </a:t>
            </a:r>
            <a:r>
              <a:rPr lang="en-AU" altLang="en-US" sz="1100" kern="100" dirty="0">
                <a:solidFill>
                  <a:prstClr val="black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  <a:sym typeface="+mn-ea"/>
              </a:rPr>
              <a:t>evaluate</a:t>
            </a:r>
            <a:r>
              <a:rPr lang="en" altLang="en-US" sz="1100" kern="100" dirty="0">
                <a:solidFill>
                  <a:prstClr val="black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  <a:sym typeface="+mn-ea"/>
              </a:rPr>
              <a:t> the value of the corresponding expression</a:t>
            </a:r>
            <a:endParaRPr lang="zh-CN" altLang="zh-CN" sz="1100" kern="100" dirty="0">
              <a:solidFill>
                <a:prstClr val="black"/>
              </a:solidFill>
              <a:latin typeface="Aptos Display" panose="020B0004020202020204" pitchFamily="34" charset="0"/>
              <a:ea typeface="微软雅黑" panose="020B0503020204020204" pitchFamily="34" charset="-122"/>
              <a:cs typeface="Consolas" panose="020B0609020204030204" pitchFamily="49" charset="0"/>
            </a:endParaRPr>
          </a:p>
          <a:p>
            <a:pPr marL="182880" indent="-182880" defTabSz="9144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" altLang="en-US" sz="1100" kern="100" dirty="0">
                <a:solidFill>
                  <a:prstClr val="black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  <a:sym typeface="+mn-ea"/>
              </a:rPr>
              <a:t>There’re only two possible results: true (</a:t>
            </a:r>
            <a:r>
              <a:rPr lang="en" altLang="zh-CN" sz="1100" kern="100" dirty="0">
                <a:solidFill>
                  <a:prstClr val="black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  <a:sym typeface="+mn-ea"/>
              </a:rPr>
              <a:t>1</a:t>
            </a:r>
            <a:r>
              <a:rPr lang="en" altLang="en-US" sz="1100" kern="100" dirty="0">
                <a:solidFill>
                  <a:prstClr val="black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  <a:sym typeface="+mn-ea"/>
              </a:rPr>
              <a:t>), or false (</a:t>
            </a:r>
            <a:r>
              <a:rPr lang="en" altLang="zh-CN" sz="1100" kern="100" dirty="0">
                <a:solidFill>
                  <a:prstClr val="black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  <a:sym typeface="+mn-ea"/>
              </a:rPr>
              <a:t>0</a:t>
            </a:r>
            <a:r>
              <a:rPr lang="en" altLang="en-US" sz="1100" kern="100" dirty="0">
                <a:solidFill>
                  <a:prstClr val="black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  <a:sym typeface="+mn-ea"/>
              </a:rPr>
              <a:t>)</a:t>
            </a:r>
            <a:endParaRPr lang="zh-CN" altLang="zh-CN" sz="1100" kern="100" dirty="0">
              <a:solidFill>
                <a:prstClr val="black"/>
              </a:solidFill>
              <a:latin typeface="Aptos Display" panose="020B0004020202020204" pitchFamily="34" charset="0"/>
              <a:ea typeface="微软雅黑" panose="020B0503020204020204" pitchFamily="34" charset="-122"/>
              <a:cs typeface="Consolas" panose="020B0609020204030204" pitchFamily="49" charset="0"/>
            </a:endParaRPr>
          </a:p>
          <a:p>
            <a:pPr marL="355600" lvl="2" indent="-177800" algn="just" defTabSz="914400">
              <a:lnSpc>
                <a:spcPct val="150000"/>
              </a:lnSpc>
              <a:buFont typeface="Wingdings" panose="05000000000000000000" charset="0"/>
              <a:buChar char="ü"/>
            </a:pPr>
            <a:r>
              <a:rPr lang="en" altLang="zh-CN" sz="900" kern="100" dirty="0">
                <a:solidFill>
                  <a:schemeClr val="accent6">
                    <a:lumMod val="75000"/>
                  </a:schemeClr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  <a:sym typeface="+mn-ea"/>
              </a:rPr>
              <a:t>&amp;&amp;</a:t>
            </a:r>
            <a:r>
              <a:rPr lang="en" altLang="en-US" sz="900" kern="100" dirty="0">
                <a:solidFill>
                  <a:prstClr val="black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  <a:sym typeface="+mn-ea"/>
              </a:rPr>
              <a:t>: If both expressions are non-zero, it evaluates to </a:t>
            </a:r>
            <a:r>
              <a:rPr lang="en" altLang="zh-CN" sz="900" kern="100" dirty="0">
                <a:solidFill>
                  <a:prstClr val="black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  <a:sym typeface="+mn-ea"/>
              </a:rPr>
              <a:t>1 </a:t>
            </a:r>
            <a:r>
              <a:rPr lang="en" altLang="en-US" sz="900" kern="100" dirty="0">
                <a:solidFill>
                  <a:prstClr val="black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  <a:sym typeface="+mn-ea"/>
              </a:rPr>
              <a:t>, otherwise it evaluates to </a:t>
            </a:r>
            <a:r>
              <a:rPr lang="en" altLang="zh-CN" sz="900" kern="100" dirty="0">
                <a:solidFill>
                  <a:prstClr val="black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  <a:sym typeface="+mn-ea"/>
              </a:rPr>
              <a:t>0</a:t>
            </a:r>
            <a:endParaRPr lang="en-US" altLang="zh-CN" sz="900" kern="100" dirty="0">
              <a:solidFill>
                <a:prstClr val="black"/>
              </a:solidFill>
              <a:latin typeface="Aptos Display" panose="020B0004020202020204" pitchFamily="34" charset="0"/>
              <a:ea typeface="微软雅黑" panose="020B0503020204020204" pitchFamily="34" charset="-122"/>
              <a:cs typeface="Consolas" panose="020B0609020204030204" pitchFamily="49" charset="0"/>
            </a:endParaRPr>
          </a:p>
          <a:p>
            <a:pPr marL="355600" lvl="2" indent="-177800" algn="just" defTabSz="914400">
              <a:lnSpc>
                <a:spcPct val="150000"/>
              </a:lnSpc>
              <a:buFont typeface="Wingdings" panose="05000000000000000000" charset="0"/>
              <a:buChar char="ü"/>
            </a:pPr>
            <a:r>
              <a:rPr lang="en" altLang="zh-CN" sz="900" kern="100" dirty="0">
                <a:solidFill>
                  <a:schemeClr val="accent6">
                    <a:lumMod val="75000"/>
                  </a:schemeClr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  <a:sym typeface="+mn-ea"/>
              </a:rPr>
              <a:t>||</a:t>
            </a:r>
            <a:r>
              <a:rPr lang="en" altLang="en-US" sz="900" kern="100" dirty="0">
                <a:solidFill>
                  <a:prstClr val="black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  <a:sym typeface="+mn-ea"/>
              </a:rPr>
              <a:t>: If one of the two expressions is non-zero, it evaluates to </a:t>
            </a:r>
            <a:r>
              <a:rPr lang="en" altLang="zh-CN" sz="900" kern="100" dirty="0">
                <a:solidFill>
                  <a:prstClr val="black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  <a:sym typeface="+mn-ea"/>
              </a:rPr>
              <a:t>1 </a:t>
            </a:r>
            <a:r>
              <a:rPr lang="en" altLang="en-US" sz="900" kern="100" dirty="0">
                <a:solidFill>
                  <a:prstClr val="black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  <a:sym typeface="+mn-ea"/>
              </a:rPr>
              <a:t>, otherwise it evaluates to </a:t>
            </a:r>
            <a:r>
              <a:rPr lang="en" altLang="zh-CN" sz="900" kern="100" dirty="0">
                <a:solidFill>
                  <a:prstClr val="black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  <a:sym typeface="+mn-ea"/>
              </a:rPr>
              <a:t>0</a:t>
            </a:r>
            <a:endParaRPr lang="en-US" altLang="zh-CN" sz="900" kern="100" dirty="0">
              <a:solidFill>
                <a:prstClr val="black"/>
              </a:solidFill>
              <a:latin typeface="Aptos Display" panose="020B0004020202020204" pitchFamily="34" charset="0"/>
              <a:ea typeface="微软雅黑" panose="020B0503020204020204" pitchFamily="34" charset="-122"/>
              <a:cs typeface="Consolas" panose="020B0609020204030204" pitchFamily="49" charset="0"/>
            </a:endParaRPr>
          </a:p>
          <a:p>
            <a:pPr marL="355600" lvl="2" indent="-177800" algn="just" defTabSz="914400">
              <a:lnSpc>
                <a:spcPct val="150000"/>
              </a:lnSpc>
              <a:buFont typeface="Wingdings" panose="05000000000000000000" charset="0"/>
              <a:buChar char="ü"/>
            </a:pPr>
            <a:r>
              <a:rPr lang="en" altLang="zh-CN" sz="900" kern="100" dirty="0">
                <a:solidFill>
                  <a:schemeClr val="accent6">
                    <a:lumMod val="75000"/>
                  </a:schemeClr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  <a:sym typeface="+mn-ea"/>
              </a:rPr>
              <a:t>!</a:t>
            </a:r>
            <a:r>
              <a:rPr lang="en" altLang="en-US" sz="900" kern="100" dirty="0">
                <a:solidFill>
                  <a:prstClr val="black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  <a:sym typeface="+mn-ea"/>
              </a:rPr>
              <a:t>: If the value of the corresponding expression is </a:t>
            </a:r>
            <a:r>
              <a:rPr lang="en" altLang="zh-CN" sz="900" kern="100" dirty="0">
                <a:solidFill>
                  <a:prstClr val="black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  <a:sym typeface="+mn-ea"/>
              </a:rPr>
              <a:t>0 , 1 </a:t>
            </a:r>
            <a:r>
              <a:rPr lang="en" altLang="en-US" sz="900" kern="100" dirty="0">
                <a:solidFill>
                  <a:prstClr val="black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  <a:sym typeface="+mn-ea"/>
              </a:rPr>
              <a:t>is </a:t>
            </a:r>
            <a:r>
              <a:rPr lang="en-AU" altLang="en-US" sz="900" kern="100" dirty="0">
                <a:solidFill>
                  <a:prstClr val="black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  <a:sym typeface="+mn-ea"/>
              </a:rPr>
              <a:t>evaluate</a:t>
            </a:r>
            <a:r>
              <a:rPr lang="en" altLang="en-US" sz="900" kern="100" dirty="0">
                <a:solidFill>
                  <a:prstClr val="black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  <a:sym typeface="+mn-ea"/>
              </a:rPr>
              <a:t>d , and if it is non-zero, </a:t>
            </a:r>
            <a:r>
              <a:rPr lang="en" altLang="zh-CN" sz="900" kern="100" dirty="0">
                <a:solidFill>
                  <a:prstClr val="black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  <a:sym typeface="+mn-ea"/>
              </a:rPr>
              <a:t>0 is </a:t>
            </a:r>
            <a:r>
              <a:rPr lang="en-AU" altLang="zh-CN" sz="900" kern="100" dirty="0">
                <a:solidFill>
                  <a:prstClr val="black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  <a:sym typeface="+mn-ea"/>
              </a:rPr>
              <a:t>evaluate</a:t>
            </a:r>
            <a:r>
              <a:rPr lang="en" altLang="zh-CN" sz="900" kern="100" dirty="0">
                <a:solidFill>
                  <a:prstClr val="black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  <a:sym typeface="+mn-ea"/>
              </a:rPr>
              <a:t>d.</a:t>
            </a:r>
            <a:endParaRPr lang="zh-CN" altLang="zh-CN" sz="900" kern="100" dirty="0">
              <a:solidFill>
                <a:prstClr val="black"/>
              </a:solidFill>
              <a:latin typeface="Aptos Display" panose="020B0004020202020204" pitchFamily="34" charset="0"/>
              <a:ea typeface="微软雅黑" panose="020B0503020204020204" pitchFamily="34" charset="-122"/>
              <a:cs typeface="Consolas" panose="020B0609020204030204" pitchFamily="49" charset="0"/>
            </a:endParaRPr>
          </a:p>
          <a:p>
            <a:pPr marL="177800" indent="-177800" algn="just" defTabSz="9144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" altLang="zh-CN" sz="1100" kern="100" dirty="0">
                <a:solidFill>
                  <a:prstClr val="black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The precedence of </a:t>
            </a:r>
            <a:r>
              <a:rPr lang="en" altLang="en-US" sz="1100" kern="100" dirty="0">
                <a:solidFill>
                  <a:schemeClr val="accent6">
                    <a:lumMod val="75000"/>
                  </a:schemeClr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  <a:sym typeface="+mn-ea"/>
              </a:rPr>
              <a:t>logical operators: </a:t>
            </a:r>
            <a:r>
              <a:rPr lang="en" altLang="zh-CN" sz="1100" kern="100" dirty="0">
                <a:solidFill>
                  <a:prstClr val="black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&amp;&amp; and || </a:t>
            </a:r>
            <a:r>
              <a:rPr lang="en" altLang="zh-CN" sz="1100" kern="100" dirty="0">
                <a:solidFill>
                  <a:prstClr val="black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  <a:sym typeface="+mn-ea"/>
              </a:rPr>
              <a:t>are lower than arithmetic operators.</a:t>
            </a:r>
            <a:r>
              <a:rPr lang="en" altLang="en-US" sz="1100" kern="100" dirty="0">
                <a:solidFill>
                  <a:prstClr val="black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  <a:sym typeface="+mn-ea"/>
              </a:rPr>
              <a:t> </a:t>
            </a:r>
            <a:endParaRPr lang="zh-CN" altLang="zh-CN" sz="1100" kern="100" dirty="0">
              <a:solidFill>
                <a:prstClr val="black"/>
              </a:solidFill>
              <a:latin typeface="Aptos Display" panose="020B0004020202020204" pitchFamily="34" charset="0"/>
              <a:ea typeface="微软雅黑" panose="020B0503020204020204" pitchFamily="34" charset="-122"/>
              <a:cs typeface="Consolas" panose="020B0609020204030204" pitchFamily="49" charset="0"/>
            </a:endParaRPr>
          </a:p>
          <a:p>
            <a:pPr marL="355600" lvl="1" indent="-175260" algn="just" defTabSz="914400">
              <a:lnSpc>
                <a:spcPct val="150000"/>
              </a:lnSpc>
              <a:buFont typeface="Wingdings" panose="05000000000000000000" charset="0"/>
              <a:buChar char="ü"/>
            </a:pPr>
            <a:r>
              <a:rPr lang="en" altLang="zh-CN" sz="900" kern="100" dirty="0">
                <a:solidFill>
                  <a:srgbClr val="FF0000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  <a:sym typeface="+mn-ea"/>
              </a:rPr>
              <a:t>Attention: </a:t>
            </a:r>
            <a:r>
              <a:rPr lang="en" altLang="zh-CN" sz="900" kern="100" dirty="0">
                <a:solidFill>
                  <a:schemeClr val="accent6">
                    <a:lumMod val="75000"/>
                  </a:schemeClr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  <a:sym typeface="+mn-ea"/>
              </a:rPr>
              <a:t>! </a:t>
            </a:r>
            <a:r>
              <a:rPr lang="en" altLang="zh-CN" sz="900" kern="100" dirty="0">
                <a:solidFill>
                  <a:srgbClr val="FF0000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  <a:sym typeface="+mn-ea"/>
              </a:rPr>
              <a:t>is higher than arithmetic operators ( </a:t>
            </a:r>
            <a:r>
              <a:rPr lang="en" altLang="zh-CN" sz="900" kern="100" dirty="0">
                <a:solidFill>
                  <a:schemeClr val="accent6">
                    <a:lumMod val="75000"/>
                  </a:schemeClr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  <a:sym typeface="+mn-ea"/>
              </a:rPr>
              <a:t>+-*/% </a:t>
            </a:r>
            <a:r>
              <a:rPr lang="en" altLang="zh-CN" sz="900" kern="100" dirty="0">
                <a:solidFill>
                  <a:srgbClr val="FF0000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  <a:sym typeface="+mn-ea"/>
              </a:rPr>
              <a:t>)</a:t>
            </a:r>
            <a:endParaRPr lang="zh-CN" altLang="zh-CN" sz="1100" kern="100" dirty="0">
              <a:solidFill>
                <a:prstClr val="black"/>
              </a:solidFill>
              <a:latin typeface="Aptos Display" panose="020B0004020202020204" pitchFamily="34" charset="0"/>
              <a:ea typeface="微软雅黑" panose="020B0503020204020204" pitchFamily="34" charset="-122"/>
              <a:cs typeface="Consolas" panose="020B0609020204030204" pitchFamily="49" charset="0"/>
              <a:sym typeface="+mn-ea"/>
            </a:endParaRPr>
          </a:p>
          <a:p>
            <a:pPr marL="177800" indent="-177800" algn="just" defTabSz="9144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" altLang="en-US" sz="1100" kern="100" dirty="0">
                <a:solidFill>
                  <a:prstClr val="black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  <a:sym typeface="+mn-ea"/>
              </a:rPr>
              <a:t>If there are multiple </a:t>
            </a:r>
            <a:r>
              <a:rPr lang="en" altLang="en-US" sz="1100" kern="100" dirty="0">
                <a:solidFill>
                  <a:schemeClr val="accent6">
                    <a:lumMod val="75000"/>
                  </a:schemeClr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  <a:sym typeface="+mn-ea"/>
              </a:rPr>
              <a:t>logical operators</a:t>
            </a:r>
            <a:r>
              <a:rPr lang="en" altLang="en-US" sz="1100" kern="100" dirty="0">
                <a:solidFill>
                  <a:prstClr val="black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  <a:sym typeface="+mn-ea"/>
              </a:rPr>
              <a:t>, evaluate from left to right, first </a:t>
            </a:r>
            <a:r>
              <a:rPr lang="en" altLang="zh-CN" sz="1100" kern="100" dirty="0">
                <a:solidFill>
                  <a:schemeClr val="accent6">
                    <a:lumMod val="75000"/>
                  </a:schemeClr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  <a:sym typeface="+mn-ea"/>
              </a:rPr>
              <a:t>!</a:t>
            </a:r>
            <a:r>
              <a:rPr lang="en" altLang="en-US" sz="1100" kern="100" dirty="0">
                <a:solidFill>
                  <a:prstClr val="black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  <a:sym typeface="+mn-ea"/>
              </a:rPr>
              <a:t>, then </a:t>
            </a:r>
            <a:r>
              <a:rPr lang="en" sz="1100" kern="100" dirty="0">
                <a:solidFill>
                  <a:schemeClr val="accent6">
                    <a:lumMod val="75000"/>
                  </a:schemeClr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  <a:sym typeface="+mn-ea"/>
              </a:rPr>
              <a:t>&amp;&amp;</a:t>
            </a:r>
            <a:r>
              <a:rPr lang="en" altLang="en-US" sz="1100" kern="100" dirty="0">
                <a:solidFill>
                  <a:prstClr val="black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  <a:sym typeface="+mn-ea"/>
              </a:rPr>
              <a:t>, then </a:t>
            </a:r>
            <a:r>
              <a:rPr lang="en" sz="1100" kern="100" dirty="0">
                <a:solidFill>
                  <a:schemeClr val="accent6">
                    <a:lumMod val="75000"/>
                  </a:schemeClr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  <a:sym typeface="+mn-ea"/>
              </a:rPr>
              <a:t>||</a:t>
            </a:r>
            <a:r>
              <a:rPr lang="en" altLang="en-US" sz="1100" kern="100" dirty="0">
                <a:solidFill>
                  <a:prstClr val="black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  <a:sym typeface="+mn-ea"/>
              </a:rPr>
              <a:t>, when there are parentheses, </a:t>
            </a:r>
            <a:r>
              <a:rPr lang="en-AU" altLang="en-US" sz="1100" kern="100" dirty="0">
                <a:solidFill>
                  <a:prstClr val="black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  <a:sym typeface="+mn-ea"/>
              </a:rPr>
              <a:t>evaluate</a:t>
            </a:r>
            <a:r>
              <a:rPr lang="en" altLang="en-US" sz="1100" kern="100" dirty="0">
                <a:solidFill>
                  <a:prstClr val="black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  <a:sym typeface="+mn-ea"/>
              </a:rPr>
              <a:t> the ones inside first</a:t>
            </a:r>
            <a:endParaRPr lang="zh-CN" altLang="zh-CN" sz="1100" kern="100" dirty="0">
              <a:solidFill>
                <a:prstClr val="black"/>
              </a:solidFill>
              <a:latin typeface="Aptos Display" panose="020B0004020202020204" pitchFamily="34" charset="0"/>
              <a:ea typeface="微软雅黑" panose="020B0503020204020204" pitchFamily="34" charset="-122"/>
              <a:cs typeface="Consolas" panose="020B0609020204030204" pitchFamily="49" charset="0"/>
            </a:endParaRPr>
          </a:p>
          <a:p>
            <a:pPr marL="177800" indent="-177800" algn="just" defTabSz="9144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" altLang="zh-CN" sz="1100" kern="100" dirty="0">
                <a:solidFill>
                  <a:prstClr val="black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  <a:sym typeface="+mn-ea"/>
              </a:rPr>
              <a:t>(</a:t>
            </a:r>
            <a:r>
              <a:rPr lang="en" altLang="en-US" sz="1100" kern="100" dirty="0">
                <a:solidFill>
                  <a:prstClr val="black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  <a:sym typeface="+mn-ea"/>
              </a:rPr>
              <a:t>Tips</a:t>
            </a:r>
            <a:r>
              <a:rPr lang="en" altLang="zh-CN" sz="1100" kern="100" dirty="0">
                <a:solidFill>
                  <a:prstClr val="black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  <a:sym typeface="+mn-ea"/>
              </a:rPr>
              <a:t>) If </a:t>
            </a:r>
            <a:r>
              <a:rPr lang="en" altLang="en-US" sz="1100" kern="100" dirty="0">
                <a:solidFill>
                  <a:prstClr val="black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  <a:sym typeface="+mn-ea"/>
              </a:rPr>
              <a:t>you can’t remember the precedence of </a:t>
            </a:r>
            <a:r>
              <a:rPr lang="en" altLang="en-US" sz="1100" kern="100" dirty="0">
                <a:solidFill>
                  <a:schemeClr val="accent6">
                    <a:lumMod val="75000"/>
                  </a:schemeClr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  <a:sym typeface="+mn-ea"/>
              </a:rPr>
              <a:t>logical operators</a:t>
            </a:r>
            <a:r>
              <a:rPr lang="en" altLang="zh-CN" sz="1100" kern="100" dirty="0">
                <a:solidFill>
                  <a:prstClr val="black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  <a:sym typeface="+mn-ea"/>
              </a:rPr>
              <a:t>, simply</a:t>
            </a:r>
            <a:r>
              <a:rPr lang="en" altLang="en-US" sz="1100" kern="100" dirty="0">
                <a:solidFill>
                  <a:prstClr val="black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  <a:sym typeface="+mn-ea"/>
              </a:rPr>
              <a:t> can </a:t>
            </a:r>
            <a:r>
              <a:rPr lang="en" altLang="zh-CN" sz="1100" kern="100" dirty="0">
                <a:solidFill>
                  <a:prstClr val="black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  <a:sym typeface="+mn-ea"/>
              </a:rPr>
              <a:t>add more parentheses</a:t>
            </a:r>
          </a:p>
        </p:txBody>
      </p:sp>
      <p:sp>
        <p:nvSpPr>
          <p:cNvPr id="12" name="文本框 11"/>
          <p:cNvSpPr txBox="1"/>
          <p:nvPr/>
        </p:nvSpPr>
        <p:spPr>
          <a:xfrm>
            <a:off x="678609" y="301567"/>
            <a:ext cx="1063465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" altLang="en-US" sz="40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Logical Operators</a:t>
            </a:r>
          </a:p>
        </p:txBody>
      </p:sp>
      <p:graphicFrame>
        <p:nvGraphicFramePr>
          <p:cNvPr id="13" name="表格 12"/>
          <p:cNvGraphicFramePr>
            <a:graphicFrameLocks noGrp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008417847"/>
              </p:ext>
            </p:extLst>
          </p:nvPr>
        </p:nvGraphicFramePr>
        <p:xfrm>
          <a:off x="353947" y="1967408"/>
          <a:ext cx="6517370" cy="4831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4999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66737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" altLang="en-US" sz="1200" dirty="0"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logical expression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" altLang="en-US" sz="1200" dirty="0"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description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" altLang="zh-CN" sz="1000" dirty="0"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a&gt;15&amp;&amp;b&gt;15</a:t>
                      </a:r>
                      <a:endParaRPr lang="zh-CN" altLang="en-US" sz="1000" dirty="0">
                        <a:latin typeface="Consolas" panose="020B0609020204030204" pitchFamily="49" charset="0"/>
                        <a:ea typeface="微软雅黑" panose="020B0503020204020204" pitchFamily="34" charset="-122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71450" indent="-171450">
                        <a:lnSpc>
                          <a:spcPct val="10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AU" altLang="en-US" sz="1000" dirty="0"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evaluate</a:t>
                      </a:r>
                      <a:r>
                        <a:rPr lang="en" altLang="en-US" sz="1000" dirty="0"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 the left side of &amp;&amp;</a:t>
                      </a:r>
                      <a:endParaRPr lang="en-US" altLang="zh-CN" sz="1000" dirty="0">
                        <a:latin typeface="Consolas" panose="020B0609020204030204" pitchFamily="49" charset="0"/>
                        <a:ea typeface="微软雅黑" panose="020B0503020204020204" pitchFamily="34" charset="-122"/>
                        <a:cs typeface="Consolas" panose="020B0609020204030204" pitchFamily="49" charset="0"/>
                      </a:endParaRPr>
                    </a:p>
                    <a:p>
                      <a:pPr marL="171450" indent="-171450">
                        <a:lnSpc>
                          <a:spcPct val="10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" altLang="en-US" sz="1000" dirty="0"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If the left side is </a:t>
                      </a:r>
                      <a:r>
                        <a:rPr lang="en" altLang="zh-CN" sz="1000" dirty="0"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1</a:t>
                      </a:r>
                      <a:r>
                        <a:rPr lang="en" altLang="en-US" sz="1000" dirty="0"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, </a:t>
                      </a:r>
                      <a:r>
                        <a:rPr lang="en-AU" altLang="en-US" sz="1000" dirty="0"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evaluate</a:t>
                      </a:r>
                      <a:r>
                        <a:rPr lang="en" altLang="en-US" sz="1000" dirty="0"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 the right side </a:t>
                      </a:r>
                      <a:endParaRPr lang="en-US" altLang="zh-CN" sz="1000" dirty="0">
                        <a:latin typeface="Consolas" panose="020B0609020204030204" pitchFamily="49" charset="0"/>
                        <a:ea typeface="微软雅黑" panose="020B0503020204020204" pitchFamily="34" charset="-122"/>
                        <a:cs typeface="Consolas" panose="020B0609020204030204" pitchFamily="49" charset="0"/>
                      </a:endParaRPr>
                    </a:p>
                    <a:p>
                      <a:pPr marL="171450" indent="-171450">
                        <a:lnSpc>
                          <a:spcPct val="10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" altLang="en-US" sz="1000" dirty="0"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If the left side is </a:t>
                      </a:r>
                      <a:r>
                        <a:rPr lang="en" altLang="zh-CN" sz="1000" dirty="0"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0</a:t>
                      </a:r>
                      <a:r>
                        <a:rPr lang="en" altLang="en-US" sz="1000" dirty="0"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, the result must be </a:t>
                      </a:r>
                      <a:r>
                        <a:rPr lang="en" altLang="zh-CN" sz="1000" dirty="0"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0</a:t>
                      </a:r>
                      <a:r>
                        <a:rPr lang="en" altLang="en-US" sz="1000" dirty="0"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, there is no need to </a:t>
                      </a:r>
                      <a:r>
                        <a:rPr lang="en-AU" altLang="en-US" sz="1000" dirty="0"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evaluate</a:t>
                      </a:r>
                      <a:r>
                        <a:rPr lang="en" altLang="en-US" sz="1000" dirty="0"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 the right side.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" altLang="zh-CN" sz="1000" dirty="0"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a-2||b-3</a:t>
                      </a:r>
                      <a:endParaRPr lang="zh-CN" altLang="en-US" sz="1000" dirty="0">
                        <a:latin typeface="Consolas" panose="020B0609020204030204" pitchFamily="49" charset="0"/>
                        <a:ea typeface="微软雅黑" panose="020B0503020204020204" pitchFamily="34" charset="-122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marL="171450" indent="-171450">
                        <a:lnSpc>
                          <a:spcPct val="10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AU" altLang="en-US" sz="1000" dirty="0"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evaluate</a:t>
                      </a:r>
                      <a:r>
                        <a:rPr lang="en" altLang="en-US" sz="1000" dirty="0"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 the left side of || </a:t>
                      </a:r>
                      <a:endParaRPr lang="en-US" altLang="zh-CN" sz="1000" dirty="0">
                        <a:latin typeface="Consolas" panose="020B0609020204030204" pitchFamily="49" charset="0"/>
                        <a:ea typeface="微软雅黑" panose="020B0503020204020204" pitchFamily="34" charset="-122"/>
                        <a:cs typeface="Consolas" panose="020B0609020204030204" pitchFamily="49" charset="0"/>
                      </a:endParaRPr>
                    </a:p>
                    <a:p>
                      <a:pPr marL="171450" indent="-171450">
                        <a:lnSpc>
                          <a:spcPct val="10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" altLang="en-US" sz="1000" dirty="0"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If the left side is </a:t>
                      </a:r>
                      <a:r>
                        <a:rPr lang="en" altLang="zh-CN" sz="1000" dirty="0"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0</a:t>
                      </a:r>
                      <a:r>
                        <a:rPr lang="en" altLang="en-US" sz="1000" dirty="0"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, </a:t>
                      </a:r>
                      <a:r>
                        <a:rPr lang="en-AU" altLang="en-US" sz="1000" dirty="0"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evaluate</a:t>
                      </a:r>
                      <a:r>
                        <a:rPr lang="en" altLang="en-US" sz="1000" dirty="0"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 the right side </a:t>
                      </a:r>
                      <a:endParaRPr lang="en-US" altLang="zh-CN" sz="1000" dirty="0">
                        <a:latin typeface="Consolas" panose="020B0609020204030204" pitchFamily="49" charset="0"/>
                        <a:ea typeface="微软雅黑" panose="020B0503020204020204" pitchFamily="34" charset="-122"/>
                        <a:cs typeface="Consolas" panose="020B0609020204030204" pitchFamily="49" charset="0"/>
                      </a:endParaRPr>
                    </a:p>
                    <a:p>
                      <a:pPr marL="171450" indent="-171450">
                        <a:lnSpc>
                          <a:spcPct val="10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" altLang="en-US" sz="1000" dirty="0"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If the left side is </a:t>
                      </a:r>
                      <a:r>
                        <a:rPr lang="en" altLang="zh-CN" sz="1000" dirty="0"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1</a:t>
                      </a:r>
                      <a:r>
                        <a:rPr lang="en" altLang="en-US" sz="1000" dirty="0"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, the result must be </a:t>
                      </a:r>
                      <a:r>
                        <a:rPr lang="en" altLang="zh-CN" sz="1000" dirty="0"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1</a:t>
                      </a:r>
                      <a:r>
                        <a:rPr lang="en" altLang="en-US" sz="1000" dirty="0"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, there is no need to </a:t>
                      </a:r>
                      <a:r>
                        <a:rPr lang="en-AU" altLang="en-US" sz="1000" dirty="0"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evaluate</a:t>
                      </a:r>
                      <a:r>
                        <a:rPr lang="en" altLang="en-US" sz="1000" dirty="0"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 the right side.</a:t>
                      </a:r>
                      <a:endParaRPr lang="zh-CN" altLang="en-US" sz="1000" dirty="0">
                        <a:solidFill>
                          <a:schemeClr val="accent4"/>
                        </a:solidFill>
                        <a:latin typeface="Consolas" panose="020B0609020204030204" pitchFamily="49" charset="0"/>
                        <a:ea typeface="微软雅黑" panose="020B0503020204020204" pitchFamily="34" charset="-122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" altLang="zh-CN" sz="1000" dirty="0"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b%3==1||b%3==2</a:t>
                      </a:r>
                      <a:endParaRPr lang="zh-CN" altLang="en-US" sz="1000" dirty="0">
                        <a:latin typeface="Consolas" panose="020B0609020204030204" pitchFamily="49" charset="0"/>
                        <a:ea typeface="微软雅黑" panose="020B0503020204020204" pitchFamily="34" charset="-122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" altLang="zh-CN" sz="1000" dirty="0"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'a'&lt;=c&amp;&amp;c&lt;='z'||'A'&lt;=c&amp;&amp;c&lt;='Z'</a:t>
                      </a:r>
                    </a:p>
                    <a:p>
                      <a:pPr>
                        <a:lnSpc>
                          <a:spcPct val="100000"/>
                        </a:lnSpc>
                      </a:pPr>
                      <a:r>
                        <a:rPr lang="en" altLang="zh-CN" sz="1000" dirty="0"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// </a:t>
                      </a:r>
                      <a:r>
                        <a:rPr lang="en" altLang="zh-CN" sz="1000" kern="1200" dirty="0">
                          <a:solidFill>
                            <a:schemeClr val="accent4"/>
                          </a:solidFill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standard way </a:t>
                      </a:r>
                      <a:r>
                        <a:rPr lang="en" altLang="en-US" sz="1000" kern="1200" dirty="0">
                          <a:solidFill>
                            <a:schemeClr val="accent4"/>
                          </a:solidFill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to determine whether </a:t>
                      </a:r>
                      <a:r>
                        <a:rPr lang="en" altLang="zh-CN" sz="1000" kern="1200" dirty="0">
                          <a:solidFill>
                            <a:schemeClr val="accent4"/>
                          </a:solidFill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c </a:t>
                      </a:r>
                      <a:r>
                        <a:rPr lang="en" altLang="en-US" sz="1000" kern="1200" dirty="0">
                          <a:solidFill>
                            <a:schemeClr val="accent4"/>
                          </a:solidFill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is a letter</a:t>
                      </a:r>
                      <a:endParaRPr lang="zh-CN" altLang="en-US" sz="1000" dirty="0">
                        <a:latin typeface="Consolas" panose="020B0609020204030204" pitchFamily="49" charset="0"/>
                        <a:ea typeface="微软雅黑" panose="020B0503020204020204" pitchFamily="34" charset="-122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77800" indent="-177800">
                        <a:lnSpc>
                          <a:spcPct val="10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AU" altLang="en-US" sz="1000" dirty="0"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evaluate</a:t>
                      </a:r>
                      <a:r>
                        <a:rPr lang="en" altLang="en-US" sz="1000" dirty="0"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 the left side of ||</a:t>
                      </a:r>
                      <a:endParaRPr lang="en-US" altLang="zh-CN" sz="1000" dirty="0">
                        <a:latin typeface="Consolas" panose="020B0609020204030204" pitchFamily="49" charset="0"/>
                        <a:ea typeface="微软雅黑" panose="020B0503020204020204" pitchFamily="34" charset="-122"/>
                        <a:cs typeface="Consolas" panose="020B0609020204030204" pitchFamily="49" charset="0"/>
                      </a:endParaRPr>
                    </a:p>
                    <a:p>
                      <a:pPr marL="355600" lvl="1" indent="-177800">
                        <a:lnSpc>
                          <a:spcPct val="10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AU" altLang="en-US" sz="1000" dirty="0"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evaluate</a:t>
                      </a:r>
                      <a:r>
                        <a:rPr lang="en" altLang="en-US" sz="1000" dirty="0"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 the left side of &amp;&amp;</a:t>
                      </a:r>
                      <a:endParaRPr lang="en-US" altLang="zh-CN" sz="1000" dirty="0">
                        <a:latin typeface="Consolas" panose="020B0609020204030204" pitchFamily="49" charset="0"/>
                        <a:ea typeface="微软雅黑" panose="020B0503020204020204" pitchFamily="34" charset="-122"/>
                        <a:cs typeface="Consolas" panose="020B0609020204030204" pitchFamily="49" charset="0"/>
                      </a:endParaRPr>
                    </a:p>
                    <a:p>
                      <a:pPr marL="355600" lvl="1" indent="-177800">
                        <a:lnSpc>
                          <a:spcPct val="10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" altLang="en-US" sz="1000" dirty="0"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Decide whether to </a:t>
                      </a:r>
                      <a:r>
                        <a:rPr lang="en-AU" altLang="en-US" sz="1000" dirty="0"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evaluate</a:t>
                      </a:r>
                      <a:r>
                        <a:rPr lang="en" altLang="en-US" sz="1000" dirty="0"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 the right side of </a:t>
                      </a:r>
                      <a:r>
                        <a:rPr lang="en" altLang="zh-CN" sz="1000" dirty="0"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&amp;&amp; based on the results </a:t>
                      </a:r>
                      <a:r>
                        <a:rPr lang="en" altLang="en-US" sz="1000" dirty="0"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on the left side, then get the result based on the truth table</a:t>
                      </a:r>
                      <a:endParaRPr lang="en-US" altLang="zh-CN" sz="1000" dirty="0">
                        <a:latin typeface="Consolas" panose="020B0609020204030204" pitchFamily="49" charset="0"/>
                        <a:ea typeface="微软雅黑" panose="020B0503020204020204" pitchFamily="34" charset="-122"/>
                        <a:cs typeface="Consolas" panose="020B0609020204030204" pitchFamily="49" charset="0"/>
                      </a:endParaRPr>
                    </a:p>
                    <a:p>
                      <a:pPr marL="177800" indent="-177800">
                        <a:lnSpc>
                          <a:spcPct val="10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" altLang="en-US" sz="1000" dirty="0"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Decide whether to </a:t>
                      </a:r>
                      <a:r>
                        <a:rPr lang="en-AU" altLang="en-US" sz="1000" dirty="0"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evaluate</a:t>
                      </a:r>
                      <a:r>
                        <a:rPr lang="en" altLang="en-US" sz="1000" dirty="0"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 the right side of </a:t>
                      </a:r>
                      <a:r>
                        <a:rPr lang="en" altLang="zh-CN" sz="1000" dirty="0"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|| based on the result </a:t>
                      </a:r>
                      <a:r>
                        <a:rPr lang="en" altLang="en-US" sz="1000" dirty="0"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on the left side, </a:t>
                      </a:r>
                      <a:r>
                        <a:rPr lang="en-US" altLang="zh-CN" sz="1000" dirty="0"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then </a:t>
                      </a:r>
                      <a:r>
                        <a:rPr lang="en" altLang="en-US" sz="1000" dirty="0"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get the result based on the truth table</a:t>
                      </a:r>
                      <a:endParaRPr lang="en-US" altLang="zh-CN" sz="1000" dirty="0">
                        <a:latin typeface="Consolas" panose="020B0609020204030204" pitchFamily="49" charset="0"/>
                        <a:ea typeface="微软雅黑" panose="020B0503020204020204" pitchFamily="34" charset="-122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" altLang="zh-CN" sz="1000" dirty="0"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1&lt;=a&amp;&amp;a&lt;=5</a:t>
                      </a:r>
                    </a:p>
                    <a:p>
                      <a:pPr>
                        <a:lnSpc>
                          <a:spcPct val="100000"/>
                        </a:lnSpc>
                      </a:pPr>
                      <a:r>
                        <a:rPr lang="en" altLang="zh-CN" sz="1000" dirty="0"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// </a:t>
                      </a:r>
                      <a:r>
                        <a:rPr lang="en" altLang="en-US" sz="1000" kern="1200" dirty="0">
                          <a:solidFill>
                            <a:schemeClr val="accent4"/>
                          </a:solidFill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Standard way determine whether a is between 1 and 5</a:t>
                      </a:r>
                      <a:endParaRPr lang="zh-CN" altLang="en-US" sz="1000" dirty="0">
                        <a:latin typeface="Consolas" panose="020B0609020204030204" pitchFamily="49" charset="0"/>
                        <a:ea typeface="微软雅黑" panose="020B0503020204020204" pitchFamily="34" charset="-122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77800" lvl="0" indent="-177800">
                        <a:lnSpc>
                          <a:spcPct val="10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AU" altLang="en-US" sz="1000" dirty="0"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evaluate</a:t>
                      </a:r>
                      <a:r>
                        <a:rPr lang="en" altLang="en-US" sz="1000" dirty="0"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 the left side of &amp;&amp;</a:t>
                      </a:r>
                      <a:endParaRPr lang="en-US" altLang="zh-CN" sz="1000" dirty="0">
                        <a:latin typeface="Consolas" panose="020B0609020204030204" pitchFamily="49" charset="0"/>
                        <a:ea typeface="微软雅黑" panose="020B0503020204020204" pitchFamily="34" charset="-122"/>
                        <a:cs typeface="Consolas" panose="020B0609020204030204" pitchFamily="49" charset="0"/>
                      </a:endParaRPr>
                    </a:p>
                    <a:p>
                      <a:pPr marL="177800" lvl="0" indent="-177800">
                        <a:lnSpc>
                          <a:spcPct val="10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" altLang="en-US" sz="1000" dirty="0"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Decide whether to </a:t>
                      </a:r>
                      <a:r>
                        <a:rPr lang="en-AU" altLang="en-US" sz="1000" dirty="0"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evaluate</a:t>
                      </a:r>
                      <a:r>
                        <a:rPr lang="en" altLang="en-US" sz="1000" dirty="0"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 the right side of </a:t>
                      </a:r>
                      <a:r>
                        <a:rPr lang="en" altLang="zh-CN" sz="1000" dirty="0"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&amp;&amp; based on the results </a:t>
                      </a:r>
                      <a:r>
                        <a:rPr lang="en" altLang="en-US" sz="1000" dirty="0"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on the left side, and then get the result based on the truth table</a:t>
                      </a:r>
                      <a:endParaRPr lang="en-US" altLang="zh-CN" sz="1000" dirty="0">
                        <a:latin typeface="Consolas" panose="020B0609020204030204" pitchFamily="49" charset="0"/>
                        <a:ea typeface="微软雅黑" panose="020B0503020204020204" pitchFamily="34" charset="-122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" altLang="zh-CN" sz="1000" dirty="0"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!(a&lt;1||a&gt;5)</a:t>
                      </a:r>
                      <a:endParaRPr lang="zh-CN" altLang="en-US" sz="1000" dirty="0">
                        <a:latin typeface="Consolas" panose="020B0609020204030204" pitchFamily="49" charset="0"/>
                        <a:ea typeface="微软雅黑" panose="020B0503020204020204" pitchFamily="34" charset="-122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77800" lvl="0" indent="-177800" algn="l" defTabSz="914400" rtl="0" eaLnBrk="1" latinLnBrk="0" hangingPunct="1">
                        <a:lnSpc>
                          <a:spcPct val="10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AU" altLang="en-US" sz="1000" kern="1200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evaluate</a:t>
                      </a:r>
                      <a:r>
                        <a:rPr lang="en" altLang="en-US" sz="1000" kern="1200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 the brackets first</a:t>
                      </a:r>
                      <a:endParaRPr lang="en-US" altLang="zh-CN" sz="1000" kern="1200" dirty="0">
                        <a:solidFill>
                          <a:schemeClr val="dk1"/>
                        </a:solidFill>
                        <a:latin typeface="Consolas" panose="020B0609020204030204" pitchFamily="49" charset="0"/>
                        <a:ea typeface="微软雅黑" panose="020B0503020204020204" pitchFamily="34" charset="-122"/>
                        <a:cs typeface="Consolas" panose="020B0609020204030204" pitchFamily="49" charset="0"/>
                      </a:endParaRPr>
                    </a:p>
                    <a:p>
                      <a:pPr marL="355600" lvl="1" indent="-177800">
                        <a:lnSpc>
                          <a:spcPct val="10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AU" altLang="en-US" sz="1000" dirty="0"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evaluate</a:t>
                      </a:r>
                      <a:r>
                        <a:rPr lang="en" altLang="en-US" sz="1000" dirty="0"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 the left side of ||</a:t>
                      </a:r>
                      <a:endParaRPr lang="en-US" altLang="zh-CN" sz="1000" dirty="0">
                        <a:latin typeface="Consolas" panose="020B0609020204030204" pitchFamily="49" charset="0"/>
                        <a:ea typeface="微软雅黑" panose="020B0503020204020204" pitchFamily="34" charset="-122"/>
                        <a:cs typeface="Consolas" panose="020B0609020204030204" pitchFamily="49" charset="0"/>
                      </a:endParaRPr>
                    </a:p>
                    <a:p>
                      <a:pPr marL="355600" lvl="1" indent="-177800">
                        <a:lnSpc>
                          <a:spcPct val="10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" altLang="en-US" sz="1000" dirty="0"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Decide whether to </a:t>
                      </a:r>
                      <a:r>
                        <a:rPr lang="en-AU" altLang="en-US" sz="1000" dirty="0"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evaluate</a:t>
                      </a:r>
                      <a:r>
                        <a:rPr lang="en" altLang="en-US" sz="1000" dirty="0"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 the right side </a:t>
                      </a:r>
                      <a:r>
                        <a:rPr lang="en" altLang="zh-CN" sz="1000" dirty="0"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based on the result </a:t>
                      </a:r>
                      <a:r>
                        <a:rPr lang="en" altLang="en-US" sz="1000" dirty="0"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on the left side, then use the truth table to get the result</a:t>
                      </a:r>
                      <a:endParaRPr lang="en-US" altLang="zh-CN" sz="1000" dirty="0">
                        <a:latin typeface="Consolas" panose="020B0609020204030204" pitchFamily="49" charset="0"/>
                        <a:ea typeface="微软雅黑" panose="020B0503020204020204" pitchFamily="34" charset="-122"/>
                        <a:cs typeface="Consolas" panose="020B0609020204030204" pitchFamily="49" charset="0"/>
                      </a:endParaRPr>
                    </a:p>
                    <a:p>
                      <a:pPr marL="177800" lvl="0" indent="-177800" algn="l" defTabSz="914400" rtl="0" eaLnBrk="1" latinLnBrk="0" hangingPunct="1">
                        <a:lnSpc>
                          <a:spcPct val="10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" altLang="en-US" sz="1000" dirty="0"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According to the truth table, </a:t>
                      </a:r>
                      <a:r>
                        <a:rPr lang="en" altLang="en-US" sz="1000" kern="1200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flip the result </a:t>
                      </a:r>
                      <a:endParaRPr lang="en-US" altLang="zh-CN" sz="1000" kern="1200" dirty="0">
                        <a:solidFill>
                          <a:schemeClr val="dk1"/>
                        </a:solidFill>
                        <a:latin typeface="Consolas" panose="020B0609020204030204" pitchFamily="49" charset="0"/>
                        <a:ea typeface="微软雅黑" panose="020B0503020204020204" pitchFamily="34" charset="-122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4" name="文本框 13"/>
          <p:cNvSpPr txBox="1"/>
          <p:nvPr/>
        </p:nvSpPr>
        <p:spPr>
          <a:xfrm>
            <a:off x="353946" y="1214805"/>
            <a:ext cx="6517369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342900" indent="-342900" algn="just" defTabSz="914400">
              <a:lnSpc>
                <a:spcPct val="150000"/>
              </a:lnSpc>
              <a:buFont typeface="+mj-lt"/>
              <a:buAutoNum type="arabicPeriod"/>
              <a:defRPr sz="1400" kern="10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defRPr>
            </a:lvl1pPr>
          </a:lstStyle>
          <a:p>
            <a:pPr marL="0" indent="0">
              <a:lnSpc>
                <a:spcPct val="100000"/>
              </a:lnSpc>
              <a:buNone/>
            </a:pPr>
            <a:r>
              <a:rPr lang="en" altLang="zh-CN" kern="1200" dirty="0">
                <a:solidFill>
                  <a:srgbClr val="008200"/>
                </a:solidFill>
                <a:latin typeface="Consolas" panose="020B0609020204030204" pitchFamily="49" charset="0"/>
                <a:cs typeface="+mn-cs"/>
              </a:rPr>
              <a:t>// </a:t>
            </a:r>
            <a:r>
              <a:rPr lang="en" altLang="en-US" kern="1200" dirty="0">
                <a:solidFill>
                  <a:srgbClr val="008200"/>
                </a:solidFill>
                <a:latin typeface="Consolas" panose="020B0609020204030204" pitchFamily="49" charset="0"/>
                <a:cs typeface="+mn-cs"/>
              </a:rPr>
              <a:t>First, define three variables:</a:t>
            </a:r>
            <a:endParaRPr lang="en-US" altLang="zh-CN" kern="1200" dirty="0">
              <a:solidFill>
                <a:srgbClr val="008200"/>
              </a:solidFill>
              <a:latin typeface="Consolas" panose="020B0609020204030204" pitchFamily="49" charset="0"/>
              <a:cs typeface="+mn-cs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en" altLang="zh-CN" b="1" kern="1200" dirty="0">
                <a:solidFill>
                  <a:srgbClr val="808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int </a:t>
            </a:r>
            <a:r>
              <a:rPr lang="en" altLang="zh-CN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a=3,b=5;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" altLang="zh-CN" b="1" kern="1200" dirty="0">
                <a:solidFill>
                  <a:srgbClr val="808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char </a:t>
            </a:r>
            <a:r>
              <a:rPr lang="en" altLang="zh-CN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c=</a:t>
            </a:r>
            <a:r>
              <a:rPr lang="en" altLang="zh-CN" dirty="0">
                <a:solidFill>
                  <a:srgbClr val="0000FF"/>
                </a:solidFill>
                <a:latin typeface="Consolas" panose="020B0609020204030204" pitchFamily="49" charset="0"/>
              </a:rPr>
              <a:t>'w'</a:t>
            </a:r>
            <a:r>
              <a:rPr lang="en" altLang="zh-CN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;</a:t>
            </a:r>
            <a:endParaRPr lang="zh-CN" altLang="en-US" dirty="0">
              <a:latin typeface="Consolas" panose="020B0609020204030204" pitchFamily="49" charset="0"/>
              <a:ea typeface="微软雅黑" panose="020B0503020204020204" pitchFamily="34" charset="-122"/>
              <a:cs typeface="Consolas" panose="020B0609020204030204" pitchFamily="49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EA9AA3-C7FA-7AA3-64C5-AB1CB65570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Truth table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09089D-919D-AD70-6588-5E106FE944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endParaRPr lang="en-US" altLang="zh-CN" dirty="0">
              <a:latin typeface="JetBrains Mono" panose="020B0509020102050004" pitchFamily="49" charset="77"/>
            </a:endParaRPr>
          </a:p>
          <a:p>
            <a:pPr marL="0" indent="0">
              <a:buNone/>
            </a:pPr>
            <a:r>
              <a:rPr lang="en-US" altLang="zh-CN" dirty="0">
                <a:latin typeface="JetBrains Mono" panose="020B0509020102050004" pitchFamily="49" charset="77"/>
              </a:rPr>
              <a:t>&amp;&amp;</a:t>
            </a:r>
            <a:r>
              <a:rPr lang="en-US" dirty="0">
                <a:latin typeface="JetBrains Mono" panose="020B0509020102050004" pitchFamily="49" charset="77"/>
              </a:rPr>
              <a:t>		</a:t>
            </a:r>
            <a:r>
              <a:rPr lang="en-US" altLang="zh-CN" dirty="0">
                <a:latin typeface="JetBrains Mono" panose="020B0509020102050004" pitchFamily="49" charset="77"/>
              </a:rPr>
              <a:t>T		F	</a:t>
            </a:r>
          </a:p>
          <a:p>
            <a:pPr marL="0" indent="0">
              <a:buNone/>
            </a:pPr>
            <a:r>
              <a:rPr lang="en-US" altLang="zh-CN" dirty="0">
                <a:latin typeface="JetBrains Mono" panose="020B0509020102050004" pitchFamily="49" charset="77"/>
              </a:rPr>
              <a:t>T		T		F</a:t>
            </a:r>
          </a:p>
          <a:p>
            <a:pPr marL="0" indent="0">
              <a:buNone/>
            </a:pPr>
            <a:r>
              <a:rPr lang="en-US" altLang="zh-CN" dirty="0">
                <a:latin typeface="JetBrains Mono" panose="020B0509020102050004" pitchFamily="49" charset="77"/>
              </a:rPr>
              <a:t>F		F		F</a:t>
            </a:r>
          </a:p>
          <a:p>
            <a:pPr marL="0" indent="0">
              <a:buNone/>
            </a:pPr>
            <a:endParaRPr lang="en-AU" dirty="0">
              <a:latin typeface="JetBrains Mono" panose="020B0509020102050004" pitchFamily="49" charset="77"/>
            </a:endParaRPr>
          </a:p>
          <a:p>
            <a:pPr marL="0" indent="0">
              <a:buNone/>
            </a:pPr>
            <a:r>
              <a:rPr lang="en-US" altLang="zh-CN" dirty="0">
                <a:latin typeface="JetBrains Mono" panose="020B0509020102050004" pitchFamily="49" charset="77"/>
              </a:rPr>
              <a:t>||</a:t>
            </a:r>
            <a:r>
              <a:rPr lang="en-AU" altLang="zh-CN" dirty="0">
                <a:latin typeface="JetBrains Mono" panose="020B0509020102050004" pitchFamily="49" charset="77"/>
              </a:rPr>
              <a:t>		</a:t>
            </a:r>
            <a:r>
              <a:rPr lang="en-US" altLang="zh-CN" dirty="0">
                <a:latin typeface="JetBrains Mono" panose="020B0509020102050004" pitchFamily="49" charset="77"/>
              </a:rPr>
              <a:t>T</a:t>
            </a:r>
            <a:r>
              <a:rPr lang="en-AU" altLang="zh-CN" dirty="0">
                <a:latin typeface="JetBrains Mono" panose="020B0509020102050004" pitchFamily="49" charset="77"/>
              </a:rPr>
              <a:t>		</a:t>
            </a:r>
            <a:r>
              <a:rPr lang="en-US" altLang="zh-CN" dirty="0">
                <a:latin typeface="JetBrains Mono" panose="020B0509020102050004" pitchFamily="49" charset="77"/>
              </a:rPr>
              <a:t>F</a:t>
            </a:r>
          </a:p>
          <a:p>
            <a:pPr marL="0" indent="0">
              <a:buNone/>
            </a:pPr>
            <a:r>
              <a:rPr lang="en-US" altLang="zh-CN" dirty="0">
                <a:latin typeface="JetBrains Mono" panose="020B0509020102050004" pitchFamily="49" charset="77"/>
              </a:rPr>
              <a:t>T		T		T</a:t>
            </a:r>
          </a:p>
          <a:p>
            <a:pPr marL="0" indent="0">
              <a:buNone/>
            </a:pPr>
            <a:r>
              <a:rPr lang="en-US" altLang="zh-CN" dirty="0">
                <a:latin typeface="JetBrains Mono" panose="020B0509020102050004" pitchFamily="49" charset="77"/>
              </a:rPr>
              <a:t>F		T		F</a:t>
            </a:r>
          </a:p>
          <a:p>
            <a:pPr marL="0" indent="0">
              <a:buNone/>
            </a:pPr>
            <a:endParaRPr lang="en-US" altLang="zh-CN" dirty="0">
              <a:latin typeface="JetBrains Mono" panose="020B0509020102050004" pitchFamily="49" charset="77"/>
            </a:endParaRPr>
          </a:p>
          <a:p>
            <a:pPr marL="0" indent="0">
              <a:buNone/>
            </a:pPr>
            <a:r>
              <a:rPr lang="en-US" altLang="zh-CN" dirty="0">
                <a:latin typeface="JetBrains Mono" panose="020B0509020102050004" pitchFamily="49" charset="77"/>
              </a:rPr>
              <a:t>!		T		F</a:t>
            </a:r>
          </a:p>
          <a:p>
            <a:pPr marL="0" indent="0">
              <a:buNone/>
            </a:pPr>
            <a:r>
              <a:rPr lang="en-US" altLang="zh-CN" dirty="0">
                <a:latin typeface="JetBrains Mono" panose="020B0509020102050004" pitchFamily="49" charset="77"/>
              </a:rPr>
              <a:t>		F		T</a:t>
            </a:r>
          </a:p>
          <a:p>
            <a:pPr marL="0" indent="0">
              <a:buNone/>
            </a:pPr>
            <a:endParaRPr lang="en-AU" dirty="0">
              <a:latin typeface="JetBrains Mono" panose="020B0509020102050004" pitchFamily="49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360277930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E028AC-D3D9-8A40-8CA0-37928CD708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EE1E1F-5A98-606B-FA52-98D07434C0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AU" dirty="0"/>
              <a:t>Logical: !, &amp;&amp;, ||</a:t>
            </a:r>
          </a:p>
          <a:p>
            <a:pPr marL="0" indent="0">
              <a:buNone/>
            </a:pPr>
            <a:r>
              <a:rPr lang="en-AU" dirty="0"/>
              <a:t>Relational: &gt;, &lt;, &gt;=, &lt;=, ==, !=</a:t>
            </a:r>
          </a:p>
          <a:p>
            <a:pPr marL="0" indent="0">
              <a:buNone/>
            </a:pPr>
            <a:r>
              <a:rPr lang="en-AU" dirty="0" err="1"/>
              <a:t>Arithmatical</a:t>
            </a:r>
            <a:r>
              <a:rPr lang="en-AU" dirty="0"/>
              <a:t>:, +, -, *, /, %</a:t>
            </a:r>
          </a:p>
          <a:p>
            <a:pPr marL="0" indent="0">
              <a:buNone/>
            </a:pPr>
            <a:r>
              <a:rPr lang="en-AU" dirty="0"/>
              <a:t>Assignment: = </a:t>
            </a:r>
          </a:p>
          <a:p>
            <a:pPr marL="0" indent="0">
              <a:buNone/>
            </a:pPr>
            <a:r>
              <a:rPr lang="en-AU" dirty="0"/>
              <a:t>Negative: - </a:t>
            </a:r>
          </a:p>
        </p:txBody>
      </p:sp>
    </p:spTree>
    <p:extLst>
      <p:ext uri="{BB962C8B-B14F-4D97-AF65-F5344CB8AC3E}">
        <p14:creationId xmlns:p14="http://schemas.microsoft.com/office/powerpoint/2010/main" val="247712452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框 7"/>
          <p:cNvSpPr txBox="1"/>
          <p:nvPr/>
        </p:nvSpPr>
        <p:spPr>
          <a:xfrm>
            <a:off x="678609" y="301567"/>
            <a:ext cx="1063465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40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B</a:t>
            </a:r>
            <a:r>
              <a:rPr lang="en" altLang="zh-CN" sz="4000" dirty="0" err="1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ool</a:t>
            </a:r>
            <a:r>
              <a:rPr lang="en-US" altLang="zh-CN" sz="4000" dirty="0" err="1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ean</a:t>
            </a:r>
            <a:r>
              <a:rPr lang="en" altLang="zh-CN" sz="40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" altLang="en-US" sz="40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type</a:t>
            </a:r>
          </a:p>
        </p:txBody>
      </p:sp>
      <p:sp>
        <p:nvSpPr>
          <p:cNvPr id="9" name="文本框 2"/>
          <p:cNvSpPr txBox="1"/>
          <p:nvPr/>
        </p:nvSpPr>
        <p:spPr>
          <a:xfrm>
            <a:off x="678609" y="1486111"/>
            <a:ext cx="10011558" cy="43964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342900" indent="-342900" algn="just" defTabSz="914400">
              <a:lnSpc>
                <a:spcPct val="150000"/>
              </a:lnSpc>
              <a:buFont typeface="+mj-lt"/>
              <a:buAutoNum type="arabicPeriod"/>
              <a:defRPr sz="1400" kern="10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defRPr>
            </a:lvl1pPr>
          </a:lstStyle>
          <a:p>
            <a:pPr marL="273050" lvl="1" indent="-273050" algn="just" defTabSz="9144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" altLang="en-US" sz="2000" kern="100" dirty="0">
                <a:solidFill>
                  <a:prstClr val="black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boolean</a:t>
            </a:r>
            <a:endParaRPr lang="en-US" altLang="zh-CN" sz="2000" kern="100" dirty="0">
              <a:solidFill>
                <a:prstClr val="black"/>
              </a:solidFill>
              <a:latin typeface="Aptos Display" panose="020B0004020202020204" pitchFamily="34" charset="0"/>
              <a:ea typeface="微软雅黑" panose="020B0503020204020204" pitchFamily="34" charset="-122"/>
              <a:cs typeface="Consolas" panose="020B0609020204030204" pitchFamily="49" charset="0"/>
            </a:endParaRPr>
          </a:p>
          <a:p>
            <a:pPr marL="273050" lvl="1" indent="-273050" algn="just" defTabSz="9144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" altLang="en-US" sz="2000" kern="100" dirty="0">
                <a:solidFill>
                  <a:prstClr val="black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Occupies </a:t>
            </a:r>
            <a:r>
              <a:rPr lang="en" altLang="zh-CN" sz="2000" kern="100" dirty="0">
                <a:solidFill>
                  <a:prstClr val="black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1 byte</a:t>
            </a:r>
            <a:endParaRPr lang="en" altLang="en-US" sz="2000" kern="100" dirty="0">
              <a:solidFill>
                <a:prstClr val="black"/>
              </a:solidFill>
              <a:latin typeface="Aptos Display" panose="020B0004020202020204" pitchFamily="34" charset="0"/>
              <a:ea typeface="微软雅黑" panose="020B0503020204020204" pitchFamily="34" charset="-122"/>
              <a:cs typeface="Consolas" panose="020B0609020204030204" pitchFamily="49" charset="0"/>
            </a:endParaRPr>
          </a:p>
          <a:p>
            <a:pPr marL="273050" lvl="1" indent="-273050" algn="just" defTabSz="9144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" altLang="en-US" sz="2000" kern="100" dirty="0">
                <a:solidFill>
                  <a:prstClr val="black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Value range: </a:t>
            </a:r>
            <a:r>
              <a:rPr lang="en" altLang="zh-CN" sz="2000" kern="100" dirty="0">
                <a:solidFill>
                  <a:prstClr val="black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0 </a:t>
            </a:r>
            <a:r>
              <a:rPr lang="en" altLang="en-US" sz="2000" kern="100" dirty="0">
                <a:solidFill>
                  <a:prstClr val="black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or </a:t>
            </a:r>
            <a:r>
              <a:rPr lang="en" altLang="zh-CN" sz="2000" kern="100" dirty="0">
                <a:solidFill>
                  <a:prstClr val="black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1</a:t>
            </a:r>
          </a:p>
          <a:p>
            <a:pPr marL="273050" lvl="1" indent="-273050" algn="just" defTabSz="9144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" altLang="zh-CN" sz="2000" kern="100" dirty="0">
                <a:solidFill>
                  <a:prstClr val="black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true and false keywords, equivalent to 1 and 0</a:t>
            </a:r>
          </a:p>
          <a:p>
            <a:pPr marL="273050" lvl="1" indent="-273050" algn="just" defTabSz="9144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" altLang="zh-CN" sz="2000" kern="100" dirty="0">
                <a:solidFill>
                  <a:prstClr val="black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For </a:t>
            </a:r>
            <a:r>
              <a:rPr lang="en" altLang="en-US" sz="2000" kern="100" dirty="0">
                <a:solidFill>
                  <a:prstClr val="black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expressions involving </a:t>
            </a:r>
            <a:r>
              <a:rPr lang="en" altLang="en-US" sz="2000" kern="100" dirty="0">
                <a:solidFill>
                  <a:schemeClr val="accent4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relational expression operators </a:t>
            </a:r>
            <a:r>
              <a:rPr lang="en" altLang="en-US" sz="2000" kern="100" dirty="0">
                <a:solidFill>
                  <a:prstClr val="black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or </a:t>
            </a:r>
            <a:r>
              <a:rPr lang="en" altLang="en-US" sz="2000" kern="100" dirty="0">
                <a:solidFill>
                  <a:schemeClr val="accent4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logical operators</a:t>
            </a:r>
            <a:r>
              <a:rPr lang="en" altLang="zh-CN" sz="2000" kern="100" dirty="0">
                <a:solidFill>
                  <a:prstClr val="black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, </a:t>
            </a:r>
            <a:r>
              <a:rPr lang="en" altLang="en-US" sz="2000" kern="100" dirty="0">
                <a:solidFill>
                  <a:prstClr val="black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the result must be of </a:t>
            </a:r>
            <a:r>
              <a:rPr lang="en" altLang="zh-CN" sz="2000" kern="100" dirty="0">
                <a:solidFill>
                  <a:prstClr val="black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bool </a:t>
            </a:r>
            <a:r>
              <a:rPr lang="en" altLang="en-US" sz="2000" kern="100" dirty="0">
                <a:solidFill>
                  <a:prstClr val="black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type.</a:t>
            </a:r>
            <a:endParaRPr lang="en-US" altLang="zh-CN" sz="2000" kern="100" dirty="0">
              <a:solidFill>
                <a:prstClr val="black"/>
              </a:solidFill>
              <a:latin typeface="Aptos Display" panose="020B0004020202020204" pitchFamily="34" charset="0"/>
              <a:ea typeface="微软雅黑" panose="020B0503020204020204" pitchFamily="34" charset="-122"/>
              <a:cs typeface="Consolas" panose="020B0609020204030204" pitchFamily="49" charset="0"/>
            </a:endParaRPr>
          </a:p>
          <a:p>
            <a:pPr marL="273050" lvl="1" indent="-273050" algn="just" defTabSz="9144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" altLang="zh-CN" sz="2000" kern="100" dirty="0">
                <a:solidFill>
                  <a:prstClr val="black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bool </a:t>
            </a:r>
            <a:r>
              <a:rPr lang="en" altLang="en-US" sz="2000" kern="100" dirty="0">
                <a:solidFill>
                  <a:prstClr val="black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is the data type with the lowest precision</a:t>
            </a:r>
            <a:endParaRPr lang="en-US" altLang="zh-CN" sz="2000" kern="100" dirty="0">
              <a:solidFill>
                <a:prstClr val="black"/>
              </a:solidFill>
              <a:latin typeface="Aptos Display" panose="020B0004020202020204" pitchFamily="34" charset="0"/>
              <a:ea typeface="微软雅黑" panose="020B0503020204020204" pitchFamily="34" charset="-122"/>
              <a:cs typeface="Consolas" panose="020B0609020204030204" pitchFamily="49" charset="0"/>
            </a:endParaRPr>
          </a:p>
          <a:p>
            <a:pPr marL="730250" lvl="2" indent="-273050" algn="just" defTabSz="9144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" altLang="en-US" sz="1600" kern="100" dirty="0">
                <a:solidFill>
                  <a:prstClr val="black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Automatic type conversion during evaluation: If evaluating with other data types, they will always be automatically converted to other types.</a:t>
            </a:r>
            <a:endParaRPr lang="en-US" altLang="zh-CN" sz="1600" kern="100" dirty="0">
              <a:solidFill>
                <a:prstClr val="black"/>
              </a:solidFill>
              <a:latin typeface="Aptos Display" panose="020B0004020202020204" pitchFamily="34" charset="0"/>
              <a:ea typeface="微软雅黑" panose="020B0503020204020204" pitchFamily="34" charset="-122"/>
              <a:cs typeface="Consolas" panose="020B0609020204030204" pitchFamily="49" charset="0"/>
            </a:endParaRPr>
          </a:p>
          <a:p>
            <a:pPr marL="730250" lvl="2" indent="-273050" algn="just" defTabSz="9144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" altLang="en-US" sz="1600" kern="100" dirty="0">
                <a:solidFill>
                  <a:prstClr val="black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Automatic type conversion during assignment: </a:t>
            </a:r>
            <a:r>
              <a:rPr lang="en" altLang="zh-CN" sz="1600" kern="100" dirty="0">
                <a:solidFill>
                  <a:prstClr val="black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assigning other types to the bool type, the results are only 1 or 0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>
            <a:extLst>
              <a:ext uri="{FF2B5EF4-FFF2-40B4-BE49-F238E27FC236}">
                <a16:creationId xmlns:a16="http://schemas.microsoft.com/office/drawing/2014/main" id="{DD8E51D1-FB0B-457F-AA4D-B571F34EDD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8609" y="1412078"/>
            <a:ext cx="3088356" cy="1486985"/>
          </a:xfrm>
          <a:prstGeom prst="rect">
            <a:avLst/>
          </a:prstGeom>
        </p:spPr>
      </p:pic>
      <p:pic>
        <p:nvPicPr>
          <p:cNvPr id="3" name="图片 2">
            <a:extLst>
              <a:ext uri="{FF2B5EF4-FFF2-40B4-BE49-F238E27FC236}">
                <a16:creationId xmlns:a16="http://schemas.microsoft.com/office/drawing/2014/main" id="{279E12BF-51D5-4FC8-9F2F-22A3207B5C5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1039" y="1412077"/>
            <a:ext cx="3141516" cy="1486985"/>
          </a:xfrm>
          <a:prstGeom prst="rect">
            <a:avLst/>
          </a:prstGeom>
        </p:spPr>
      </p:pic>
      <p:pic>
        <p:nvPicPr>
          <p:cNvPr id="4" name="图片 3">
            <a:extLst>
              <a:ext uri="{FF2B5EF4-FFF2-40B4-BE49-F238E27FC236}">
                <a16:creationId xmlns:a16="http://schemas.microsoft.com/office/drawing/2014/main" id="{6913D9A4-A535-44A0-99C0-1DC4A815466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19339" y="1412077"/>
            <a:ext cx="3728084" cy="1486985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74B82FB4-97D4-4721-A508-769C2A7E2FC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0240" y="3266629"/>
            <a:ext cx="4116701" cy="1425011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A7F00C8F-78C8-4250-88D5-5D97351F16E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76498" y="3172376"/>
            <a:ext cx="5900599" cy="1425010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251E28F5-5166-4504-AF2D-6095D4E08D9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0240" y="5062472"/>
            <a:ext cx="3441136" cy="1425010"/>
          </a:xfrm>
          <a:prstGeom prst="rect">
            <a:avLst/>
          </a:prstGeom>
        </p:spPr>
      </p:pic>
      <p:sp>
        <p:nvSpPr>
          <p:cNvPr id="9" name="文本框 8">
            <a:extLst>
              <a:ext uri="{FF2B5EF4-FFF2-40B4-BE49-F238E27FC236}">
                <a16:creationId xmlns:a16="http://schemas.microsoft.com/office/drawing/2014/main" id="{8F79F9D7-B619-4E66-B6E5-9174630E3410}"/>
              </a:ext>
            </a:extLst>
          </p:cNvPr>
          <p:cNvSpPr txBox="1"/>
          <p:nvPr/>
        </p:nvSpPr>
        <p:spPr>
          <a:xfrm>
            <a:off x="678609" y="301567"/>
            <a:ext cx="1063465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" altLang="en-US" sz="40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Cloze test</a:t>
            </a:r>
          </a:p>
        </p:txBody>
      </p:sp>
      <p:pic>
        <p:nvPicPr>
          <p:cNvPr id="12" name="图片 11">
            <a:extLst>
              <a:ext uri="{FF2B5EF4-FFF2-40B4-BE49-F238E27FC236}">
                <a16:creationId xmlns:a16="http://schemas.microsoft.com/office/drawing/2014/main" id="{BD1067E5-148F-F29F-6A48-A2D8F5BF1158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090381" y="5061985"/>
            <a:ext cx="4880940" cy="142501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6A298620-4E2E-8218-A298-10581EB62954}"/>
              </a:ext>
            </a:extLst>
          </p:cNvPr>
          <p:cNvSpPr txBox="1"/>
          <p:nvPr/>
        </p:nvSpPr>
        <p:spPr>
          <a:xfrm>
            <a:off x="2137558" y="1412077"/>
            <a:ext cx="1629407" cy="369332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endParaRPr lang="en-AU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066445C-FA5C-C733-BC91-1A66B4C8AF75}"/>
              </a:ext>
            </a:extLst>
          </p:cNvPr>
          <p:cNvSpPr txBox="1"/>
          <p:nvPr/>
        </p:nvSpPr>
        <p:spPr>
          <a:xfrm>
            <a:off x="2204058" y="2293382"/>
            <a:ext cx="821775" cy="307777"/>
          </a:xfrm>
          <a:prstGeom prst="rect">
            <a:avLst/>
          </a:prstGeom>
          <a:solidFill>
            <a:schemeClr val="tx1"/>
          </a:solidFill>
        </p:spPr>
        <p:txBody>
          <a:bodyPr wrap="square" lIns="0" tIns="0" rIns="0" bIns="0" rtlCol="0">
            <a:spAutoFit/>
          </a:bodyPr>
          <a:lstStyle/>
          <a:p>
            <a:r>
              <a:rPr lang="en-US" altLang="zh-CN" sz="20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pass</a:t>
            </a:r>
            <a:endParaRPr lang="en-AU" sz="2000" dirty="0">
              <a:solidFill>
                <a:schemeClr val="bg1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EA2476C-D772-81B0-8EB3-59758EAF332B}"/>
              </a:ext>
            </a:extLst>
          </p:cNvPr>
          <p:cNvSpPr txBox="1"/>
          <p:nvPr/>
        </p:nvSpPr>
        <p:spPr>
          <a:xfrm>
            <a:off x="2187433" y="4096052"/>
            <a:ext cx="2351316" cy="307777"/>
          </a:xfrm>
          <a:prstGeom prst="rect">
            <a:avLst/>
          </a:prstGeom>
          <a:solidFill>
            <a:schemeClr val="tx1"/>
          </a:solidFill>
        </p:spPr>
        <p:txBody>
          <a:bodyPr wrap="square" lIns="0" tIns="0" rIns="0" bIns="0" rtlCol="0">
            <a:spAutoFit/>
          </a:bodyPr>
          <a:lstStyle/>
          <a:p>
            <a:r>
              <a:rPr lang="en-US" altLang="zh-CN" sz="20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n</a:t>
            </a:r>
            <a:r>
              <a:rPr lang="zh-CN" altLang="en-US" sz="20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altLang="zh-CN" sz="20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div.</a:t>
            </a:r>
            <a:r>
              <a:rPr lang="zh-CN" altLang="en-US" sz="20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altLang="zh-CN" sz="20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by</a:t>
            </a:r>
            <a:r>
              <a:rPr lang="zh-CN" altLang="en-US" sz="20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altLang="zh-CN" sz="20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3</a:t>
            </a:r>
            <a:r>
              <a:rPr lang="zh-CN" altLang="en-US" sz="20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altLang="zh-CN" sz="20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&amp;</a:t>
            </a:r>
            <a:r>
              <a:rPr lang="zh-CN" altLang="en-US" sz="20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altLang="zh-CN" sz="20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5</a:t>
            </a:r>
            <a:endParaRPr lang="en-AU" sz="2000" dirty="0">
              <a:solidFill>
                <a:schemeClr val="bg1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255860A-B87C-BAD1-8827-E8DBD81D1C68}"/>
              </a:ext>
            </a:extLst>
          </p:cNvPr>
          <p:cNvSpPr txBox="1"/>
          <p:nvPr/>
        </p:nvSpPr>
        <p:spPr>
          <a:xfrm>
            <a:off x="2137557" y="4971573"/>
            <a:ext cx="1629407" cy="369332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endParaRPr lang="en-AU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4656719-9FAA-DFBF-EDF5-3061740434A4}"/>
              </a:ext>
            </a:extLst>
          </p:cNvPr>
          <p:cNvSpPr txBox="1"/>
          <p:nvPr/>
        </p:nvSpPr>
        <p:spPr>
          <a:xfrm>
            <a:off x="2204059" y="5916485"/>
            <a:ext cx="1629407" cy="261610"/>
          </a:xfrm>
          <a:prstGeom prst="rect">
            <a:avLst/>
          </a:prstGeom>
          <a:solidFill>
            <a:schemeClr val="tx1"/>
          </a:solidFill>
        </p:spPr>
        <p:txBody>
          <a:bodyPr wrap="square" lIns="0" tIns="0" rIns="0" bIns="0" rtlCol="0">
            <a:spAutoFit/>
          </a:bodyPr>
          <a:lstStyle/>
          <a:p>
            <a:r>
              <a:rPr lang="en-US" altLang="zh-CN" sz="17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born</a:t>
            </a:r>
            <a:r>
              <a:rPr lang="zh-CN" altLang="en-US" sz="17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altLang="zh-CN" sz="17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2nd</a:t>
            </a:r>
            <a:r>
              <a:rPr lang="zh-CN" altLang="en-US" sz="17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altLang="zh-CN" sz="17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half</a:t>
            </a:r>
            <a:endParaRPr lang="en-AU" sz="1700" dirty="0">
              <a:solidFill>
                <a:schemeClr val="bg1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4CA3674-B42E-C9F3-FBCC-DBE9C0193F64}"/>
              </a:ext>
            </a:extLst>
          </p:cNvPr>
          <p:cNvSpPr txBox="1"/>
          <p:nvPr/>
        </p:nvSpPr>
        <p:spPr>
          <a:xfrm>
            <a:off x="5666292" y="2293382"/>
            <a:ext cx="1914915" cy="307777"/>
          </a:xfrm>
          <a:prstGeom prst="rect">
            <a:avLst/>
          </a:prstGeom>
          <a:solidFill>
            <a:schemeClr val="tx1"/>
          </a:solidFill>
        </p:spPr>
        <p:txBody>
          <a:bodyPr wrap="square" lIns="0" tIns="0" rIns="0" bIns="0" rtlCol="0">
            <a:spAutoFit/>
          </a:bodyPr>
          <a:lstStyle/>
          <a:p>
            <a:r>
              <a:rPr lang="en-US" altLang="zh-CN" sz="20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cannot</a:t>
            </a:r>
            <a:r>
              <a:rPr lang="zh-CN" altLang="en-US" sz="20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altLang="zh-CN" sz="20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afford</a:t>
            </a:r>
            <a:endParaRPr lang="en-AU" sz="2000" dirty="0">
              <a:solidFill>
                <a:schemeClr val="bg1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A09784D-7600-96B1-F4A1-881C7F6FD7C4}"/>
              </a:ext>
            </a:extLst>
          </p:cNvPr>
          <p:cNvSpPr txBox="1"/>
          <p:nvPr/>
        </p:nvSpPr>
        <p:spPr>
          <a:xfrm>
            <a:off x="6799755" y="3081963"/>
            <a:ext cx="1629407" cy="369332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endParaRPr lang="en-AU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E573BAF-EE8A-3381-15BC-B0316416D25A}"/>
              </a:ext>
            </a:extLst>
          </p:cNvPr>
          <p:cNvSpPr txBox="1"/>
          <p:nvPr/>
        </p:nvSpPr>
        <p:spPr>
          <a:xfrm>
            <a:off x="6898276" y="4018578"/>
            <a:ext cx="4141025" cy="276999"/>
          </a:xfrm>
          <a:prstGeom prst="rect">
            <a:avLst/>
          </a:prstGeom>
          <a:solidFill>
            <a:schemeClr val="tx1"/>
          </a:solidFill>
        </p:spPr>
        <p:txBody>
          <a:bodyPr wrap="square" lIns="0" tIns="0" rIns="0" bIns="0" rtlCol="0">
            <a:spAutoFit/>
          </a:bodyPr>
          <a:lstStyle/>
          <a:p>
            <a:r>
              <a:rPr lang="en-US" altLang="zh-CN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90:</a:t>
            </a:r>
            <a:r>
              <a:rPr lang="zh-CN" altLang="en-US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altLang="zh-CN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B,</a:t>
            </a:r>
            <a:r>
              <a:rPr lang="zh-CN" altLang="en-US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altLang="zh-CN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98:</a:t>
            </a:r>
            <a:r>
              <a:rPr lang="zh-CN" altLang="en-US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altLang="zh-CN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A.</a:t>
            </a:r>
            <a:r>
              <a:rPr lang="zh-CN" altLang="en-US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altLang="zh-CN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You</a:t>
            </a:r>
            <a:r>
              <a:rPr lang="zh-CN" altLang="en-US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altLang="zh-CN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only</a:t>
            </a:r>
            <a:r>
              <a:rPr lang="zh-CN" altLang="en-US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altLang="zh-CN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got</a:t>
            </a:r>
            <a:r>
              <a:rPr lang="zh-CN" altLang="en-US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altLang="zh-CN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B.</a:t>
            </a:r>
            <a:endParaRPr lang="en-AU" dirty="0">
              <a:solidFill>
                <a:schemeClr val="bg1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4B30268-5DC5-499A-CA73-2ADD1C8A22E7}"/>
              </a:ext>
            </a:extLst>
          </p:cNvPr>
          <p:cNvSpPr txBox="1"/>
          <p:nvPr/>
        </p:nvSpPr>
        <p:spPr>
          <a:xfrm>
            <a:off x="9731476" y="2287610"/>
            <a:ext cx="1386000" cy="261610"/>
          </a:xfrm>
          <a:prstGeom prst="rect">
            <a:avLst/>
          </a:prstGeom>
          <a:solidFill>
            <a:schemeClr val="tx1"/>
          </a:solidFill>
        </p:spPr>
        <p:txBody>
          <a:bodyPr wrap="square" lIns="0" tIns="0" rIns="0" bIns="0" rtlCol="0">
            <a:spAutoFit/>
          </a:bodyPr>
          <a:lstStyle/>
          <a:p>
            <a:r>
              <a:rPr lang="en-US" altLang="zh-CN" sz="17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n</a:t>
            </a:r>
            <a:r>
              <a:rPr lang="zh-CN" altLang="en-US" sz="17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altLang="zh-CN" sz="17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div.</a:t>
            </a:r>
            <a:r>
              <a:rPr lang="zh-CN" altLang="en-US" sz="17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altLang="zh-CN" sz="17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by</a:t>
            </a:r>
            <a:r>
              <a:rPr lang="zh-CN" altLang="en-US" sz="17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altLang="zh-CN" sz="17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3</a:t>
            </a:r>
            <a:endParaRPr lang="en-AU" sz="1700" dirty="0">
              <a:solidFill>
                <a:schemeClr val="bg1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9411841-FCE8-F794-4D29-BC05185EB288}"/>
              </a:ext>
            </a:extLst>
          </p:cNvPr>
          <p:cNvSpPr txBox="1"/>
          <p:nvPr/>
        </p:nvSpPr>
        <p:spPr>
          <a:xfrm>
            <a:off x="6573874" y="5916486"/>
            <a:ext cx="3150000" cy="246221"/>
          </a:xfrm>
          <a:prstGeom prst="rect">
            <a:avLst/>
          </a:prstGeom>
          <a:solidFill>
            <a:schemeClr val="tx1"/>
          </a:solidFill>
        </p:spPr>
        <p:txBody>
          <a:bodyPr wrap="square" lIns="0" tIns="0" rIns="0" bIns="0" rtlCol="0">
            <a:spAutoFit/>
          </a:bodyPr>
          <a:lstStyle/>
          <a:p>
            <a:r>
              <a:rPr lang="en-US" altLang="zh-CN" sz="16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n</a:t>
            </a:r>
            <a:r>
              <a:rPr lang="zh-CN" altLang="en-US" sz="16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altLang="zh-CN" sz="16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div.</a:t>
            </a:r>
            <a:r>
              <a:rPr lang="zh-CN" altLang="en-US" sz="16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altLang="zh-CN" sz="16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only</a:t>
            </a:r>
            <a:r>
              <a:rPr lang="zh-CN" altLang="en-US" sz="16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altLang="zh-CN" sz="16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by</a:t>
            </a:r>
            <a:r>
              <a:rPr lang="zh-CN" altLang="en-US" sz="16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altLang="zh-CN" sz="16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one</a:t>
            </a:r>
            <a:r>
              <a:rPr lang="zh-CN" altLang="en-US" sz="16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altLang="zh-CN" sz="16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of</a:t>
            </a:r>
            <a:r>
              <a:rPr lang="zh-CN" altLang="en-US" sz="16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altLang="zh-CN" sz="16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3</a:t>
            </a:r>
            <a:r>
              <a:rPr lang="zh-CN" altLang="en-US" sz="16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altLang="zh-CN" sz="16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or</a:t>
            </a:r>
            <a:r>
              <a:rPr lang="zh-CN" altLang="en-US" sz="16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altLang="zh-CN" sz="16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5</a:t>
            </a:r>
            <a:endParaRPr lang="en-AU" sz="1600" dirty="0">
              <a:solidFill>
                <a:schemeClr val="bg1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2E2FADE-A6A3-659A-673A-793836050CFC}"/>
              </a:ext>
            </a:extLst>
          </p:cNvPr>
          <p:cNvSpPr txBox="1"/>
          <p:nvPr/>
        </p:nvSpPr>
        <p:spPr>
          <a:xfrm>
            <a:off x="1172817" y="3776869"/>
            <a:ext cx="220648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400" dirty="0">
                <a:solidFill>
                  <a:schemeClr val="bg1"/>
                </a:solidFill>
              </a:rPr>
              <a:t>n%3 == 0 &amp;&amp; n%5 == 0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337C0F69-A02A-EB59-520B-83AB705D60DF}"/>
              </a:ext>
            </a:extLst>
          </p:cNvPr>
          <p:cNvSpPr txBox="1"/>
          <p:nvPr/>
        </p:nvSpPr>
        <p:spPr>
          <a:xfrm>
            <a:off x="1146313" y="5618923"/>
            <a:ext cx="220648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400" dirty="0">
                <a:solidFill>
                  <a:schemeClr val="bg1"/>
                </a:solidFill>
              </a:rPr>
              <a:t>n &gt; 6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73B2C187-B0F2-B43C-D3AE-3AEB4802C3D0}"/>
              </a:ext>
            </a:extLst>
          </p:cNvPr>
          <p:cNvSpPr txBox="1"/>
          <p:nvPr/>
        </p:nvSpPr>
        <p:spPr>
          <a:xfrm>
            <a:off x="4585253" y="2001078"/>
            <a:ext cx="220648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400" dirty="0">
                <a:solidFill>
                  <a:schemeClr val="bg1"/>
                </a:solidFill>
              </a:rPr>
              <a:t>money &lt; price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5121281F-1A14-C4D9-43DB-2232083CE0E6}"/>
              </a:ext>
            </a:extLst>
          </p:cNvPr>
          <p:cNvSpPr txBox="1"/>
          <p:nvPr/>
        </p:nvSpPr>
        <p:spPr>
          <a:xfrm>
            <a:off x="4603012" y="4284266"/>
            <a:ext cx="661164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3200" dirty="0">
                <a:solidFill>
                  <a:srgbClr val="FF0000"/>
                </a:solidFill>
              </a:rPr>
              <a:t>(n%3 == 0 or n%5 == 0</a:t>
            </a:r>
            <a:r>
              <a:rPr lang="en-AU" sz="3200">
                <a:solidFill>
                  <a:srgbClr val="FF0000"/>
                </a:solidFill>
              </a:rPr>
              <a:t>) and n%15</a:t>
            </a:r>
            <a:endParaRPr lang="en-AU" sz="32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6770215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文本框 8">
            <a:extLst>
              <a:ext uri="{FF2B5EF4-FFF2-40B4-BE49-F238E27FC236}">
                <a16:creationId xmlns:a16="http://schemas.microsoft.com/office/drawing/2014/main" id="{8F79F9D7-B619-4E66-B6E5-9174630E3410}"/>
              </a:ext>
            </a:extLst>
          </p:cNvPr>
          <p:cNvSpPr txBox="1"/>
          <p:nvPr/>
        </p:nvSpPr>
        <p:spPr>
          <a:xfrm>
            <a:off x="678609" y="301567"/>
            <a:ext cx="1063465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" altLang="en-US" sz="40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Cloze test answers</a:t>
            </a:r>
          </a:p>
        </p:txBody>
      </p:sp>
      <p:pic>
        <p:nvPicPr>
          <p:cNvPr id="12" name="图片 11">
            <a:extLst>
              <a:ext uri="{FF2B5EF4-FFF2-40B4-BE49-F238E27FC236}">
                <a16:creationId xmlns:a16="http://schemas.microsoft.com/office/drawing/2014/main" id="{6E92E840-BE91-4BA9-A814-CDF5829DD7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8609" y="1412077"/>
            <a:ext cx="3068179" cy="1438871"/>
          </a:xfrm>
          <a:prstGeom prst="rect">
            <a:avLst/>
          </a:prstGeom>
        </p:spPr>
      </p:pic>
      <p:pic>
        <p:nvPicPr>
          <p:cNvPr id="15" name="图片 14">
            <a:extLst>
              <a:ext uri="{FF2B5EF4-FFF2-40B4-BE49-F238E27FC236}">
                <a16:creationId xmlns:a16="http://schemas.microsoft.com/office/drawing/2014/main" id="{ECF5ED95-3966-4B2C-97FB-2EE59ED227B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24882" y="1406990"/>
            <a:ext cx="4022898" cy="1497158"/>
          </a:xfrm>
          <a:prstGeom prst="rect">
            <a:avLst/>
          </a:prstGeom>
        </p:spPr>
      </p:pic>
      <p:pic>
        <p:nvPicPr>
          <p:cNvPr id="18" name="图片 17">
            <a:extLst>
              <a:ext uri="{FF2B5EF4-FFF2-40B4-BE49-F238E27FC236}">
                <a16:creationId xmlns:a16="http://schemas.microsoft.com/office/drawing/2014/main" id="{7CEB77ED-8BB2-4EB0-B904-9A78F27F0E4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25875" y="1412077"/>
            <a:ext cx="3351262" cy="1486984"/>
          </a:xfrm>
          <a:prstGeom prst="rect">
            <a:avLst/>
          </a:prstGeom>
        </p:spPr>
      </p:pic>
      <p:pic>
        <p:nvPicPr>
          <p:cNvPr id="20" name="图片 19">
            <a:extLst>
              <a:ext uri="{FF2B5EF4-FFF2-40B4-BE49-F238E27FC236}">
                <a16:creationId xmlns:a16="http://schemas.microsoft.com/office/drawing/2014/main" id="{3FF3D262-1497-4108-A85B-A773F813366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0240" y="3266628"/>
            <a:ext cx="4543026" cy="1296635"/>
          </a:xfrm>
          <a:prstGeom prst="rect">
            <a:avLst/>
          </a:prstGeom>
        </p:spPr>
      </p:pic>
      <p:pic>
        <p:nvPicPr>
          <p:cNvPr id="22" name="图片 21">
            <a:extLst>
              <a:ext uri="{FF2B5EF4-FFF2-40B4-BE49-F238E27FC236}">
                <a16:creationId xmlns:a16="http://schemas.microsoft.com/office/drawing/2014/main" id="{935FE407-CFD8-448D-BA4B-578D45B2FF7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76498" y="3177463"/>
            <a:ext cx="5686577" cy="1381027"/>
          </a:xfrm>
          <a:prstGeom prst="rect">
            <a:avLst/>
          </a:prstGeom>
        </p:spPr>
      </p:pic>
      <p:pic>
        <p:nvPicPr>
          <p:cNvPr id="25" name="图片 24">
            <a:extLst>
              <a:ext uri="{FF2B5EF4-FFF2-40B4-BE49-F238E27FC236}">
                <a16:creationId xmlns:a16="http://schemas.microsoft.com/office/drawing/2014/main" id="{E06DB031-D327-477B-82EE-F5951B9D47E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5349" y="4831996"/>
            <a:ext cx="3446184" cy="1422736"/>
          </a:xfrm>
          <a:prstGeom prst="rect">
            <a:avLst/>
          </a:prstGeom>
        </p:spPr>
      </p:pic>
      <p:pic>
        <p:nvPicPr>
          <p:cNvPr id="16" name="图片 15">
            <a:extLst>
              <a:ext uri="{FF2B5EF4-FFF2-40B4-BE49-F238E27FC236}">
                <a16:creationId xmlns:a16="http://schemas.microsoft.com/office/drawing/2014/main" id="{01B78BE7-DA5B-823C-B5E9-6C5D08A33E03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067292" y="4822450"/>
            <a:ext cx="5199541" cy="1432282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0FA3A31C-4959-2448-4014-CE5760236548}"/>
              </a:ext>
            </a:extLst>
          </p:cNvPr>
          <p:cNvSpPr txBox="1"/>
          <p:nvPr/>
        </p:nvSpPr>
        <p:spPr>
          <a:xfrm>
            <a:off x="2137558" y="1412077"/>
            <a:ext cx="1629407" cy="369332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endParaRPr lang="en-AU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2004F16-1A6B-7243-8465-1140F6E0B208}"/>
              </a:ext>
            </a:extLst>
          </p:cNvPr>
          <p:cNvSpPr txBox="1"/>
          <p:nvPr/>
        </p:nvSpPr>
        <p:spPr>
          <a:xfrm>
            <a:off x="2137558" y="1412077"/>
            <a:ext cx="1629407" cy="369332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endParaRPr lang="en-AU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E3ECB60-CBBC-C32F-C763-EEA899050628}"/>
              </a:ext>
            </a:extLst>
          </p:cNvPr>
          <p:cNvSpPr txBox="1"/>
          <p:nvPr/>
        </p:nvSpPr>
        <p:spPr>
          <a:xfrm>
            <a:off x="2204058" y="2260132"/>
            <a:ext cx="821775" cy="307777"/>
          </a:xfrm>
          <a:prstGeom prst="rect">
            <a:avLst/>
          </a:prstGeom>
          <a:solidFill>
            <a:schemeClr val="tx1"/>
          </a:solidFill>
        </p:spPr>
        <p:txBody>
          <a:bodyPr wrap="square" lIns="0" tIns="0" rIns="0" bIns="0" rtlCol="0">
            <a:spAutoFit/>
          </a:bodyPr>
          <a:lstStyle/>
          <a:p>
            <a:r>
              <a:rPr lang="en-US" altLang="zh-CN" sz="20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pass</a:t>
            </a:r>
            <a:endParaRPr lang="en-AU" sz="2000" dirty="0">
              <a:solidFill>
                <a:schemeClr val="bg1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1EBEC92-97D8-D03E-E325-9C8E8F236161}"/>
              </a:ext>
            </a:extLst>
          </p:cNvPr>
          <p:cNvSpPr txBox="1"/>
          <p:nvPr/>
        </p:nvSpPr>
        <p:spPr>
          <a:xfrm>
            <a:off x="2037807" y="3996302"/>
            <a:ext cx="2142000" cy="307777"/>
          </a:xfrm>
          <a:prstGeom prst="rect">
            <a:avLst/>
          </a:prstGeom>
          <a:solidFill>
            <a:schemeClr val="tx1"/>
          </a:solidFill>
        </p:spPr>
        <p:txBody>
          <a:bodyPr wrap="square" lIns="0" tIns="0" rIns="0" bIns="0" rtlCol="0">
            <a:spAutoFit/>
          </a:bodyPr>
          <a:lstStyle/>
          <a:p>
            <a:r>
              <a:rPr lang="en-US" altLang="zh-CN" sz="20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n</a:t>
            </a:r>
            <a:r>
              <a:rPr lang="zh-CN" altLang="en-US" sz="20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altLang="zh-CN" sz="20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div.</a:t>
            </a:r>
            <a:r>
              <a:rPr lang="zh-CN" altLang="en-US" sz="20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altLang="zh-CN" sz="20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by</a:t>
            </a:r>
            <a:r>
              <a:rPr lang="zh-CN" altLang="en-US" sz="20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altLang="zh-CN" sz="20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3</a:t>
            </a:r>
            <a:r>
              <a:rPr lang="zh-CN" altLang="en-US" sz="20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altLang="zh-CN" sz="20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&amp;</a:t>
            </a:r>
            <a:r>
              <a:rPr lang="zh-CN" altLang="en-US" sz="20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altLang="zh-CN" sz="20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5</a:t>
            </a:r>
            <a:endParaRPr lang="en-AU" sz="2000" dirty="0">
              <a:solidFill>
                <a:schemeClr val="bg1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D5BCF2E-72B7-725D-3C7B-7FF15E11504E}"/>
              </a:ext>
            </a:extLst>
          </p:cNvPr>
          <p:cNvSpPr txBox="1"/>
          <p:nvPr/>
        </p:nvSpPr>
        <p:spPr>
          <a:xfrm>
            <a:off x="2137557" y="4738823"/>
            <a:ext cx="1629407" cy="369332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endParaRPr lang="en-AU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83DB1AA-EA06-42D4-00F2-21E75C446C87}"/>
              </a:ext>
            </a:extLst>
          </p:cNvPr>
          <p:cNvSpPr txBox="1"/>
          <p:nvPr/>
        </p:nvSpPr>
        <p:spPr>
          <a:xfrm>
            <a:off x="2204059" y="5683735"/>
            <a:ext cx="1629407" cy="261610"/>
          </a:xfrm>
          <a:prstGeom prst="rect">
            <a:avLst/>
          </a:prstGeom>
          <a:solidFill>
            <a:schemeClr val="tx1"/>
          </a:solidFill>
        </p:spPr>
        <p:txBody>
          <a:bodyPr wrap="square" lIns="0" tIns="0" rIns="0" bIns="0" rtlCol="0">
            <a:spAutoFit/>
          </a:bodyPr>
          <a:lstStyle/>
          <a:p>
            <a:r>
              <a:rPr lang="en-US" altLang="zh-CN" sz="17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born</a:t>
            </a:r>
            <a:r>
              <a:rPr lang="zh-CN" altLang="en-US" sz="17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altLang="zh-CN" sz="17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2nd</a:t>
            </a:r>
            <a:r>
              <a:rPr lang="zh-CN" altLang="en-US" sz="17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altLang="zh-CN" sz="17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half</a:t>
            </a:r>
            <a:endParaRPr lang="en-AU" sz="1700" dirty="0">
              <a:solidFill>
                <a:schemeClr val="bg1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724A914-B2BB-5102-B0DA-39FFE8668FF6}"/>
              </a:ext>
            </a:extLst>
          </p:cNvPr>
          <p:cNvSpPr txBox="1"/>
          <p:nvPr/>
        </p:nvSpPr>
        <p:spPr>
          <a:xfrm>
            <a:off x="5666292" y="2293382"/>
            <a:ext cx="2099922" cy="307777"/>
          </a:xfrm>
          <a:prstGeom prst="rect">
            <a:avLst/>
          </a:prstGeom>
          <a:solidFill>
            <a:schemeClr val="tx1"/>
          </a:solidFill>
        </p:spPr>
        <p:txBody>
          <a:bodyPr wrap="square" lIns="0" tIns="0" rIns="0" bIns="0" rtlCol="0">
            <a:spAutoFit/>
          </a:bodyPr>
          <a:lstStyle/>
          <a:p>
            <a:r>
              <a:rPr lang="en-US" altLang="zh-CN" sz="20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cannot</a:t>
            </a:r>
            <a:r>
              <a:rPr lang="zh-CN" altLang="en-US" sz="20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altLang="zh-CN" sz="20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afford</a:t>
            </a:r>
            <a:endParaRPr lang="en-AU" sz="2000" dirty="0">
              <a:solidFill>
                <a:schemeClr val="bg1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C22A303-6557-16D3-20AE-E0AD98B3F3C1}"/>
              </a:ext>
            </a:extLst>
          </p:cNvPr>
          <p:cNvSpPr txBox="1"/>
          <p:nvPr/>
        </p:nvSpPr>
        <p:spPr>
          <a:xfrm>
            <a:off x="6799755" y="3081963"/>
            <a:ext cx="1629407" cy="369332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endParaRPr lang="en-AU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263FB64-43B9-E339-61E7-ABA2D3088862}"/>
              </a:ext>
            </a:extLst>
          </p:cNvPr>
          <p:cNvSpPr txBox="1"/>
          <p:nvPr/>
        </p:nvSpPr>
        <p:spPr>
          <a:xfrm>
            <a:off x="6865025" y="4001954"/>
            <a:ext cx="3960000" cy="276999"/>
          </a:xfrm>
          <a:prstGeom prst="rect">
            <a:avLst/>
          </a:prstGeom>
          <a:solidFill>
            <a:schemeClr val="tx1"/>
          </a:solidFill>
        </p:spPr>
        <p:txBody>
          <a:bodyPr wrap="square" lIns="0" tIns="0" rIns="0" bIns="0" rtlCol="0">
            <a:spAutoFit/>
          </a:bodyPr>
          <a:lstStyle/>
          <a:p>
            <a:r>
              <a:rPr lang="en-US" altLang="zh-CN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90:</a:t>
            </a:r>
            <a:r>
              <a:rPr lang="zh-CN" altLang="en-US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altLang="zh-CN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B,</a:t>
            </a:r>
            <a:r>
              <a:rPr lang="zh-CN" altLang="en-US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altLang="zh-CN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98:</a:t>
            </a:r>
            <a:r>
              <a:rPr lang="zh-CN" altLang="en-US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altLang="zh-CN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A.</a:t>
            </a:r>
            <a:r>
              <a:rPr lang="zh-CN" altLang="en-US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altLang="zh-CN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You</a:t>
            </a:r>
            <a:r>
              <a:rPr lang="zh-CN" altLang="en-US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altLang="zh-CN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only</a:t>
            </a:r>
            <a:r>
              <a:rPr lang="zh-CN" altLang="en-US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altLang="zh-CN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got</a:t>
            </a:r>
            <a:r>
              <a:rPr lang="zh-CN" altLang="en-US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altLang="zh-CN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B.</a:t>
            </a:r>
            <a:endParaRPr lang="en-AU" dirty="0">
              <a:solidFill>
                <a:schemeClr val="bg1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39B0871-E22C-DCEF-6293-C23088375EB1}"/>
              </a:ext>
            </a:extLst>
          </p:cNvPr>
          <p:cNvSpPr txBox="1"/>
          <p:nvPr/>
        </p:nvSpPr>
        <p:spPr>
          <a:xfrm>
            <a:off x="9947601" y="2287609"/>
            <a:ext cx="1422000" cy="276999"/>
          </a:xfrm>
          <a:prstGeom prst="rect">
            <a:avLst/>
          </a:prstGeom>
          <a:solidFill>
            <a:schemeClr val="tx1"/>
          </a:solidFill>
        </p:spPr>
        <p:txBody>
          <a:bodyPr wrap="square" lIns="0" tIns="0" rIns="0" bIns="0" rtlCol="0">
            <a:spAutoFit/>
          </a:bodyPr>
          <a:lstStyle/>
          <a:p>
            <a:r>
              <a:rPr lang="en-US" altLang="zh-CN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n</a:t>
            </a:r>
            <a:r>
              <a:rPr lang="zh-CN" altLang="en-US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altLang="zh-CN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div.</a:t>
            </a:r>
            <a:r>
              <a:rPr lang="zh-CN" altLang="en-US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altLang="zh-CN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by</a:t>
            </a:r>
            <a:r>
              <a:rPr lang="zh-CN" altLang="en-US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altLang="zh-CN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3</a:t>
            </a:r>
            <a:endParaRPr lang="en-AU" dirty="0">
              <a:solidFill>
                <a:schemeClr val="bg1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8E1D848-D0E2-CEC5-79CB-65F89C676E5D}"/>
              </a:ext>
            </a:extLst>
          </p:cNvPr>
          <p:cNvSpPr txBox="1"/>
          <p:nvPr/>
        </p:nvSpPr>
        <p:spPr>
          <a:xfrm>
            <a:off x="6673621" y="5683736"/>
            <a:ext cx="3348000" cy="261610"/>
          </a:xfrm>
          <a:prstGeom prst="rect">
            <a:avLst/>
          </a:prstGeom>
          <a:solidFill>
            <a:schemeClr val="tx1"/>
          </a:solidFill>
        </p:spPr>
        <p:txBody>
          <a:bodyPr wrap="square" lIns="0" tIns="0" rIns="0" bIns="0" rtlCol="0">
            <a:spAutoFit/>
          </a:bodyPr>
          <a:lstStyle/>
          <a:p>
            <a:r>
              <a:rPr lang="en-US" altLang="zh-CN" sz="17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n</a:t>
            </a:r>
            <a:r>
              <a:rPr lang="zh-CN" altLang="en-US" sz="17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altLang="zh-CN" sz="17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div.</a:t>
            </a:r>
            <a:r>
              <a:rPr lang="zh-CN" altLang="en-US" sz="17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altLang="zh-CN" sz="17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only</a:t>
            </a:r>
            <a:r>
              <a:rPr lang="zh-CN" altLang="en-US" sz="17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altLang="zh-CN" sz="17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by</a:t>
            </a:r>
            <a:r>
              <a:rPr lang="zh-CN" altLang="en-US" sz="17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altLang="zh-CN" sz="17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one</a:t>
            </a:r>
            <a:r>
              <a:rPr lang="zh-CN" altLang="en-US" sz="17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altLang="zh-CN" sz="17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of</a:t>
            </a:r>
            <a:r>
              <a:rPr lang="zh-CN" altLang="en-US" sz="17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altLang="zh-CN" sz="17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3</a:t>
            </a:r>
            <a:r>
              <a:rPr lang="zh-CN" altLang="en-US" sz="17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altLang="zh-CN" sz="17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or</a:t>
            </a:r>
            <a:r>
              <a:rPr lang="zh-CN" altLang="en-US" sz="14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altLang="zh-CN" sz="17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5</a:t>
            </a:r>
            <a:endParaRPr lang="en-AU" sz="1700" dirty="0">
              <a:solidFill>
                <a:schemeClr val="bg1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FDBBE56-66AE-D0D8-5447-C8D3ABE50AD7}"/>
              </a:ext>
            </a:extLst>
          </p:cNvPr>
          <p:cNvSpPr txBox="1"/>
          <p:nvPr/>
        </p:nvSpPr>
        <p:spPr>
          <a:xfrm>
            <a:off x="3108807" y="3703868"/>
            <a:ext cx="2084459" cy="369332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//</a:t>
            </a:r>
            <a:r>
              <a:rPr lang="zh-CN" altLang="en-US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altLang="zh-CN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or</a:t>
            </a:r>
            <a:r>
              <a:rPr lang="zh-CN" altLang="en-US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altLang="zh-CN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n%15==0</a:t>
            </a:r>
            <a:endParaRPr lang="en-AU" dirty="0">
              <a:solidFill>
                <a:srgbClr val="0070C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0594502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78608" y="1263535"/>
            <a:ext cx="5417395" cy="86521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" altLang="en-US" sz="2000" i="1" dirty="0"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Natural language: The sum of any two sides is greater than the third side</a:t>
            </a:r>
            <a:endParaRPr lang="en-US" altLang="zh-CN" sz="2000" i="1" dirty="0">
              <a:latin typeface="Aptos Display" panose="020B0004020202020204" pitchFamily="34" charset="0"/>
              <a:ea typeface="微软雅黑" panose="020B0503020204020204" pitchFamily="34" charset="-122"/>
              <a:cs typeface="Consolas" panose="020B0609020204030204" pitchFamily="49" charset="0"/>
            </a:endParaRPr>
          </a:p>
        </p:txBody>
      </p:sp>
      <p:sp>
        <p:nvSpPr>
          <p:cNvPr id="4" name="内容占位符 2"/>
          <p:cNvSpPr txBox="1"/>
          <p:nvPr/>
        </p:nvSpPr>
        <p:spPr>
          <a:xfrm>
            <a:off x="6483212" y="1486111"/>
            <a:ext cx="4286387" cy="232256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just">
              <a:lnSpc>
                <a:spcPct val="90000"/>
              </a:lnSpc>
              <a:buSzTx/>
              <a:buNone/>
            </a:pPr>
            <a:r>
              <a:rPr lang="en" altLang="zh-CN" sz="1600" dirty="0">
                <a:solidFill>
                  <a:srgbClr val="808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en" altLang="zh-CN" sz="1600" dirty="0">
                <a:solidFill>
                  <a:prstClr val="black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" altLang="zh-CN" sz="1600" dirty="0" err="1">
                <a:solidFill>
                  <a:prstClr val="black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a,b,c </a:t>
            </a:r>
            <a:r>
              <a:rPr lang="en" altLang="zh-CN" sz="1600" dirty="0">
                <a:solidFill>
                  <a:prstClr val="black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</a:p>
          <a:p>
            <a:pPr marL="0" lvl="0" indent="0" algn="just">
              <a:lnSpc>
                <a:spcPct val="90000"/>
              </a:lnSpc>
              <a:buSzTx/>
              <a:buNone/>
            </a:pPr>
            <a:r>
              <a:rPr lang="en" altLang="zh-CN" sz="1600" dirty="0" err="1">
                <a:solidFill>
                  <a:prstClr val="black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cin </a:t>
            </a:r>
            <a:r>
              <a:rPr lang="en" altLang="zh-CN" sz="1600" dirty="0">
                <a:solidFill>
                  <a:prstClr val="black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&gt;&gt;a&gt;&gt;b&gt;&gt;c;</a:t>
            </a:r>
          </a:p>
          <a:p>
            <a:pPr marL="0" lvl="0" indent="0" algn="just">
              <a:lnSpc>
                <a:spcPct val="90000"/>
              </a:lnSpc>
              <a:buSzTx/>
              <a:buNone/>
            </a:pPr>
            <a:r>
              <a:rPr lang="en" altLang="zh-CN" sz="1600" dirty="0">
                <a:solidFill>
                  <a:srgbClr val="00669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if </a:t>
            </a:r>
            <a:r>
              <a:rPr lang="en" altLang="zh-CN" sz="1600" dirty="0">
                <a:solidFill>
                  <a:prstClr val="black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 </a:t>
            </a:r>
            <a:r>
              <a:rPr lang="en" altLang="zh-CN" sz="16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a+b &gt;c&amp;&amp; b+c &gt;a&amp;&amp; a+c &gt;b </a:t>
            </a:r>
            <a:r>
              <a:rPr lang="en" altLang="zh-CN" sz="1600" dirty="0">
                <a:solidFill>
                  <a:prstClr val="black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</a:p>
          <a:p>
            <a:pPr marL="0" lvl="0" indent="0" algn="just">
              <a:lnSpc>
                <a:spcPct val="90000"/>
              </a:lnSpc>
              <a:buSzTx/>
              <a:buNone/>
            </a:pPr>
            <a:r>
              <a:rPr lang="en" altLang="zh-CN" sz="1600" dirty="0">
                <a:solidFill>
                  <a:prstClr val="black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" altLang="zh-CN" sz="1600" dirty="0" err="1">
                <a:solidFill>
                  <a:prstClr val="black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cout </a:t>
            </a:r>
            <a:r>
              <a:rPr lang="en" altLang="zh-CN" sz="1600" dirty="0">
                <a:solidFill>
                  <a:prstClr val="black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&lt;&lt; </a:t>
            </a:r>
            <a:r>
              <a:rPr lang="en" altLang="zh-CN" sz="16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"yes" </a:t>
            </a:r>
            <a:r>
              <a:rPr lang="en" altLang="zh-CN" sz="1600" dirty="0">
                <a:solidFill>
                  <a:prstClr val="black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</a:p>
          <a:p>
            <a:pPr marL="0" lvl="0" indent="0" algn="just">
              <a:lnSpc>
                <a:spcPct val="90000"/>
              </a:lnSpc>
              <a:buSzTx/>
              <a:buNone/>
            </a:pPr>
            <a:r>
              <a:rPr lang="en" altLang="zh-CN" sz="1600" dirty="0">
                <a:solidFill>
                  <a:srgbClr val="00669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else</a:t>
            </a:r>
          </a:p>
          <a:p>
            <a:pPr marL="0" lvl="0" indent="0" algn="just">
              <a:lnSpc>
                <a:spcPct val="90000"/>
              </a:lnSpc>
              <a:buSzTx/>
              <a:buNone/>
            </a:pPr>
            <a:r>
              <a:rPr lang="en" altLang="zh-CN" sz="1600" dirty="0">
                <a:solidFill>
                  <a:prstClr val="black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" altLang="zh-CN" sz="1600" dirty="0" err="1">
                <a:solidFill>
                  <a:prstClr val="black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cout </a:t>
            </a:r>
            <a:r>
              <a:rPr lang="en" altLang="zh-CN" sz="1600" dirty="0">
                <a:solidFill>
                  <a:prstClr val="black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&lt;&lt; </a:t>
            </a:r>
            <a:r>
              <a:rPr lang="en" altLang="zh-CN" sz="16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"no" </a:t>
            </a:r>
            <a:r>
              <a:rPr lang="en" altLang="zh-CN" sz="1600" dirty="0">
                <a:solidFill>
                  <a:prstClr val="black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  <a:endParaRPr lang="zh-CN" altLang="en-US" sz="1600" dirty="0">
              <a:solidFill>
                <a:prstClr val="black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5" name="内容占位符 2"/>
          <p:cNvSpPr txBox="1"/>
          <p:nvPr/>
        </p:nvSpPr>
        <p:spPr>
          <a:xfrm>
            <a:off x="6483211" y="4038888"/>
            <a:ext cx="4286387" cy="232256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just">
              <a:lnSpc>
                <a:spcPct val="90000"/>
              </a:lnSpc>
              <a:buSzTx/>
              <a:buNone/>
            </a:pPr>
            <a:r>
              <a:rPr lang="en" altLang="zh-CN" sz="1600" dirty="0">
                <a:solidFill>
                  <a:srgbClr val="808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en" altLang="zh-CN" sz="1600" dirty="0">
                <a:solidFill>
                  <a:prstClr val="black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" altLang="zh-CN" sz="1600" dirty="0" err="1">
                <a:solidFill>
                  <a:prstClr val="black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a,b,c </a:t>
            </a:r>
            <a:r>
              <a:rPr lang="en" altLang="zh-CN" sz="1600" dirty="0">
                <a:solidFill>
                  <a:prstClr val="black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</a:p>
          <a:p>
            <a:pPr marL="0" lvl="0" indent="0" algn="just">
              <a:lnSpc>
                <a:spcPct val="90000"/>
              </a:lnSpc>
              <a:buSzTx/>
              <a:buNone/>
            </a:pPr>
            <a:r>
              <a:rPr lang="en" altLang="zh-CN" sz="1600" dirty="0" err="1">
                <a:solidFill>
                  <a:prstClr val="black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cin </a:t>
            </a:r>
            <a:r>
              <a:rPr lang="en" altLang="zh-CN" sz="1600" dirty="0">
                <a:solidFill>
                  <a:prstClr val="black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&gt;&gt;a&gt;&gt;b&gt;&gt;c;</a:t>
            </a:r>
          </a:p>
          <a:p>
            <a:pPr marL="0" lvl="0" indent="0" algn="just">
              <a:lnSpc>
                <a:spcPct val="90000"/>
              </a:lnSpc>
              <a:buSzTx/>
              <a:buNone/>
            </a:pPr>
            <a:r>
              <a:rPr lang="en" altLang="zh-CN" sz="1600" dirty="0">
                <a:solidFill>
                  <a:srgbClr val="00669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if </a:t>
            </a:r>
            <a:r>
              <a:rPr lang="en" altLang="zh-CN" sz="1600" dirty="0">
                <a:solidFill>
                  <a:prstClr val="black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 </a:t>
            </a:r>
            <a:r>
              <a:rPr lang="en" altLang="zh-CN" sz="160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a+b </a:t>
            </a:r>
            <a:r>
              <a:rPr lang="en" altLang="zh-CN" sz="16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&lt;=c|| </a:t>
            </a:r>
            <a:r>
              <a:rPr lang="en" altLang="zh-CN" sz="160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b+c </a:t>
            </a:r>
            <a:r>
              <a:rPr lang="en" altLang="zh-CN" sz="16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&lt;=a|| </a:t>
            </a:r>
            <a:r>
              <a:rPr lang="en" altLang="zh-CN" sz="160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a+c </a:t>
            </a:r>
            <a:r>
              <a:rPr lang="en" altLang="zh-CN" sz="16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&lt;=b </a:t>
            </a:r>
            <a:r>
              <a:rPr lang="en" altLang="zh-CN" sz="1600" dirty="0">
                <a:solidFill>
                  <a:prstClr val="black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</a:p>
          <a:p>
            <a:pPr marL="0" lvl="0" indent="0" algn="just">
              <a:lnSpc>
                <a:spcPct val="90000"/>
              </a:lnSpc>
              <a:buSzTx/>
              <a:buNone/>
            </a:pPr>
            <a:r>
              <a:rPr lang="en" altLang="zh-CN" sz="1600" dirty="0">
                <a:solidFill>
                  <a:prstClr val="black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" altLang="zh-CN" sz="1600" dirty="0" err="1">
                <a:solidFill>
                  <a:prstClr val="black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cout </a:t>
            </a:r>
            <a:r>
              <a:rPr lang="en" altLang="zh-CN" sz="1600" dirty="0">
                <a:solidFill>
                  <a:prstClr val="black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&lt;&lt; </a:t>
            </a:r>
            <a:r>
              <a:rPr lang="en" altLang="zh-CN" sz="16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"no" </a:t>
            </a:r>
            <a:r>
              <a:rPr lang="en" altLang="zh-CN" sz="1600" dirty="0">
                <a:solidFill>
                  <a:prstClr val="black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</a:p>
          <a:p>
            <a:pPr marL="0" lvl="0" indent="0" algn="just">
              <a:lnSpc>
                <a:spcPct val="90000"/>
              </a:lnSpc>
              <a:buSzTx/>
              <a:buNone/>
            </a:pPr>
            <a:r>
              <a:rPr lang="en" altLang="zh-CN" sz="1600" dirty="0">
                <a:solidFill>
                  <a:srgbClr val="00669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else</a:t>
            </a:r>
          </a:p>
          <a:p>
            <a:pPr marL="0" lvl="0" indent="0" algn="just">
              <a:lnSpc>
                <a:spcPct val="90000"/>
              </a:lnSpc>
              <a:buSzTx/>
              <a:buNone/>
            </a:pPr>
            <a:r>
              <a:rPr lang="en" altLang="zh-CN" sz="1600" dirty="0">
                <a:solidFill>
                  <a:prstClr val="black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" altLang="zh-CN" sz="1600" dirty="0" err="1">
                <a:solidFill>
                  <a:prstClr val="black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cout </a:t>
            </a:r>
            <a:r>
              <a:rPr lang="en" altLang="zh-CN" sz="1600" dirty="0">
                <a:solidFill>
                  <a:prstClr val="black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&lt;&lt; </a:t>
            </a:r>
            <a:r>
              <a:rPr lang="en" altLang="zh-CN" sz="16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"yes" </a:t>
            </a:r>
            <a:r>
              <a:rPr lang="en" altLang="zh-CN" sz="1600" dirty="0">
                <a:solidFill>
                  <a:prstClr val="black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  <a:endParaRPr lang="zh-CN" altLang="en-US" sz="1600" dirty="0">
              <a:solidFill>
                <a:prstClr val="black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678609" y="301567"/>
            <a:ext cx="1063465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" altLang="en-US" sz="40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Example </a:t>
            </a:r>
            <a:r>
              <a:rPr lang="en" altLang="zh-CN" sz="40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- </a:t>
            </a:r>
            <a:r>
              <a:rPr lang="en-US" altLang="zh-CN" sz="40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legit</a:t>
            </a:r>
            <a:r>
              <a:rPr lang="en" altLang="en-US" sz="40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 triangle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D1C4DA1E-0E27-4278-8937-C18E89BEEB22}"/>
              </a:ext>
            </a:extLst>
          </p:cNvPr>
          <p:cNvSpPr txBox="1"/>
          <p:nvPr/>
        </p:nvSpPr>
        <p:spPr>
          <a:xfrm>
            <a:off x="678606" y="2128746"/>
            <a:ext cx="5417394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" altLang="en-US" sz="24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Logical expression </a:t>
            </a:r>
            <a:r>
              <a:rPr lang="en" altLang="zh-CN" sz="24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A </a:t>
            </a:r>
            <a:r>
              <a:rPr lang="en" altLang="en-US" sz="24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: if the sum of </a:t>
            </a:r>
            <a:r>
              <a:rPr lang="en" altLang="zh-CN" sz="24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a </a:t>
            </a:r>
            <a:r>
              <a:rPr lang="en" altLang="en-US" sz="24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and </a:t>
            </a:r>
            <a:r>
              <a:rPr lang="en" altLang="zh-CN" sz="24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b </a:t>
            </a:r>
            <a:r>
              <a:rPr lang="en" altLang="en-US" sz="24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is greater than </a:t>
            </a:r>
            <a:r>
              <a:rPr lang="en" altLang="zh-CN" sz="24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c</a:t>
            </a:r>
            <a:r>
              <a:rPr lang="en" altLang="en-US" sz="24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, and the sum of </a:t>
            </a:r>
            <a:r>
              <a:rPr lang="en" altLang="zh-CN" sz="24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b </a:t>
            </a:r>
            <a:r>
              <a:rPr lang="en" altLang="en-US" sz="24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and </a:t>
            </a:r>
            <a:r>
              <a:rPr lang="en" altLang="zh-CN" sz="24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c </a:t>
            </a:r>
            <a:r>
              <a:rPr lang="en" altLang="en-US" sz="24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is greater than </a:t>
            </a:r>
            <a:r>
              <a:rPr lang="en" altLang="zh-CN" sz="24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a</a:t>
            </a:r>
            <a:r>
              <a:rPr lang="en" altLang="en-US" sz="24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, and the sum of </a:t>
            </a:r>
            <a:r>
              <a:rPr lang="en" altLang="zh-CN" sz="24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a </a:t>
            </a:r>
            <a:r>
              <a:rPr lang="en" altLang="en-US" sz="24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and </a:t>
            </a:r>
            <a:r>
              <a:rPr lang="en" altLang="zh-CN" sz="24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c </a:t>
            </a:r>
            <a:r>
              <a:rPr lang="en" altLang="en-US" sz="24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is greater than </a:t>
            </a:r>
            <a:r>
              <a:rPr lang="en-US" altLang="zh-CN" sz="24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b</a:t>
            </a:r>
            <a:r>
              <a:rPr lang="en" altLang="en-US" sz="24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, it is a l</a:t>
            </a:r>
            <a:r>
              <a:rPr lang="en-US" altLang="zh-CN" sz="2400" dirty="0" err="1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egit</a:t>
            </a:r>
            <a:r>
              <a:rPr lang="en" altLang="en-US" sz="24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 triangle, otherwise </a:t>
            </a:r>
            <a:r>
              <a:rPr lang="en-US" altLang="zh-CN" sz="24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not.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316004B2-B87C-47EE-809B-30BE54BA7DC5}"/>
              </a:ext>
            </a:extLst>
          </p:cNvPr>
          <p:cNvSpPr txBox="1"/>
          <p:nvPr/>
        </p:nvSpPr>
        <p:spPr>
          <a:xfrm>
            <a:off x="678605" y="4089828"/>
            <a:ext cx="5417394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" altLang="en-US" sz="24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</a:rPr>
              <a:t>Logical expression </a:t>
            </a:r>
            <a:r>
              <a:rPr lang="en" altLang="zh-CN" sz="24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</a:rPr>
              <a:t>B </a:t>
            </a:r>
            <a:r>
              <a:rPr lang="en" altLang="en-US" sz="24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</a:rPr>
              <a:t>: if the sum of </a:t>
            </a:r>
            <a:r>
              <a:rPr lang="en" altLang="zh-CN" sz="24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</a:rPr>
              <a:t>a </a:t>
            </a:r>
            <a:r>
              <a:rPr lang="en" altLang="en-US" sz="24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</a:rPr>
              <a:t>and </a:t>
            </a:r>
            <a:r>
              <a:rPr lang="en" altLang="zh-CN" sz="24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</a:rPr>
              <a:t>b </a:t>
            </a:r>
            <a:r>
              <a:rPr lang="en" altLang="en-US" sz="24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</a:rPr>
              <a:t>is less than or equal to </a:t>
            </a:r>
            <a:r>
              <a:rPr lang="en" altLang="zh-CN" sz="24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</a:rPr>
              <a:t>c</a:t>
            </a:r>
            <a:r>
              <a:rPr lang="en" altLang="en-US" sz="24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</a:rPr>
              <a:t>, or the sum of </a:t>
            </a:r>
            <a:r>
              <a:rPr lang="en" altLang="zh-CN" sz="24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</a:rPr>
              <a:t>b </a:t>
            </a:r>
            <a:r>
              <a:rPr lang="en" altLang="en-US" sz="24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</a:rPr>
              <a:t>and </a:t>
            </a:r>
            <a:r>
              <a:rPr lang="en" altLang="zh-CN" sz="24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</a:rPr>
              <a:t>c </a:t>
            </a:r>
            <a:r>
              <a:rPr lang="en" altLang="en-US" sz="24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</a:rPr>
              <a:t>is less than or equal to </a:t>
            </a:r>
            <a:r>
              <a:rPr lang="en" altLang="zh-CN" sz="24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</a:rPr>
              <a:t>a</a:t>
            </a:r>
            <a:r>
              <a:rPr lang="en" altLang="en-US" sz="24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</a:rPr>
              <a:t>, or the sum of </a:t>
            </a:r>
            <a:r>
              <a:rPr lang="en" altLang="zh-CN" sz="24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</a:rPr>
              <a:t>a </a:t>
            </a:r>
            <a:r>
              <a:rPr lang="en" altLang="en-US" sz="24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</a:rPr>
              <a:t>and </a:t>
            </a:r>
            <a:r>
              <a:rPr lang="en" altLang="zh-CN" sz="24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</a:rPr>
              <a:t>c </a:t>
            </a:r>
            <a:r>
              <a:rPr lang="en" altLang="en-US" sz="24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</a:rPr>
              <a:t>is less than or equal to </a:t>
            </a:r>
            <a:r>
              <a:rPr lang="en" altLang="zh-CN" sz="24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</a:rPr>
              <a:t>b</a:t>
            </a:r>
            <a:r>
              <a:rPr lang="en" altLang="en-US" sz="24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</a:rPr>
              <a:t>, it is </a:t>
            </a:r>
            <a:r>
              <a:rPr lang="en-US" altLang="zh-CN" sz="24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</a:rPr>
              <a:t>not</a:t>
            </a:r>
            <a:r>
              <a:rPr lang="zh-CN" altLang="en-US" sz="24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</a:rPr>
              <a:t> </a:t>
            </a:r>
            <a:r>
              <a:rPr lang="en" altLang="en-US" sz="24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</a:rPr>
              <a:t>a l</a:t>
            </a:r>
            <a:r>
              <a:rPr lang="en-US" altLang="zh-CN" sz="2400" dirty="0" err="1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</a:rPr>
              <a:t>egit</a:t>
            </a:r>
            <a:r>
              <a:rPr lang="en" altLang="en-US" sz="24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</a:rPr>
              <a:t> triangle, otherwise </a:t>
            </a:r>
            <a:r>
              <a:rPr lang="en-US" altLang="zh-CN" sz="24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</a:rPr>
              <a:t>is.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6DDE1F6C-50FA-4819-AFF6-1A43AA1917AB}"/>
              </a:ext>
            </a:extLst>
          </p:cNvPr>
          <p:cNvSpPr txBox="1"/>
          <p:nvPr/>
        </p:nvSpPr>
        <p:spPr>
          <a:xfrm>
            <a:off x="6991228" y="2128746"/>
            <a:ext cx="312188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" altLang="zh-CN" sz="1600" dirty="0" err="1">
                <a:solidFill>
                  <a:prstClr val="black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a+b </a:t>
            </a:r>
            <a:r>
              <a:rPr lang="en" altLang="zh-CN" sz="1600" dirty="0">
                <a:solidFill>
                  <a:prstClr val="black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&gt;c&amp;&amp; </a:t>
            </a:r>
            <a:r>
              <a:rPr lang="en" altLang="zh-CN" sz="1600" dirty="0" err="1">
                <a:solidFill>
                  <a:prstClr val="black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b+c </a:t>
            </a:r>
            <a:r>
              <a:rPr lang="en" altLang="zh-CN" sz="1600" dirty="0">
                <a:solidFill>
                  <a:prstClr val="black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&gt;a&amp;&amp; </a:t>
            </a:r>
            <a:r>
              <a:rPr lang="en" altLang="zh-CN" sz="1600" dirty="0" err="1">
                <a:solidFill>
                  <a:prstClr val="black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a+c </a:t>
            </a:r>
            <a:r>
              <a:rPr lang="en" altLang="zh-CN" sz="1600" dirty="0">
                <a:solidFill>
                  <a:prstClr val="black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&gt;b</a:t>
            </a:r>
            <a:endParaRPr lang="zh-CN" altLang="en-US" sz="1600" dirty="0">
              <a:solidFill>
                <a:prstClr val="black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C3A882D-8799-4F52-997D-B5F263794D0E}"/>
              </a:ext>
            </a:extLst>
          </p:cNvPr>
          <p:cNvSpPr txBox="1"/>
          <p:nvPr/>
        </p:nvSpPr>
        <p:spPr>
          <a:xfrm>
            <a:off x="7066595" y="4715725"/>
            <a:ext cx="3382574" cy="3435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" altLang="zh-CN" sz="1600" dirty="0" err="1">
                <a:solidFill>
                  <a:prstClr val="black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a+b </a:t>
            </a:r>
            <a:r>
              <a:rPr lang="en" altLang="zh-CN" sz="1600" dirty="0">
                <a:solidFill>
                  <a:prstClr val="black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&lt;=c|| </a:t>
            </a:r>
            <a:r>
              <a:rPr lang="en" altLang="zh-CN" sz="1600" dirty="0" err="1">
                <a:solidFill>
                  <a:prstClr val="black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b+c </a:t>
            </a:r>
            <a:r>
              <a:rPr lang="en" altLang="zh-CN" sz="1600" dirty="0">
                <a:solidFill>
                  <a:prstClr val="black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&lt;=a|| </a:t>
            </a:r>
            <a:r>
              <a:rPr lang="en" altLang="zh-CN" sz="1600" dirty="0" err="1">
                <a:solidFill>
                  <a:prstClr val="black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a+c </a:t>
            </a:r>
            <a:r>
              <a:rPr lang="en" altLang="zh-CN" sz="1600" dirty="0">
                <a:solidFill>
                  <a:prstClr val="black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&lt;=b</a:t>
            </a:r>
            <a:endParaRPr lang="zh-CN" altLang="en-US" sz="1600" dirty="0">
              <a:solidFill>
                <a:prstClr val="black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7" grpId="0"/>
      <p:bldP spid="10" grpId="0"/>
      <p:bldP spid="11" grpId="0"/>
      <p:bldP spid="13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" altLang="en-US" dirty="0"/>
              <a:t>thank you all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9212580" y="6206490"/>
            <a:ext cx="24929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" altLang="en-US" dirty="0">
                <a:latin typeface="华文楷体" panose="02010600040101010101" pitchFamily="2" charset="-122"/>
                <a:ea typeface="华文楷体" panose="02010600040101010101" pitchFamily="2" charset="-122"/>
              </a:rPr>
              <a:t>Teacher Gao Algorithm Competition Training Camp</a:t>
            </a: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12780" y="5361173"/>
            <a:ext cx="760094" cy="765941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6" name="副标题 5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文本框 6"/>
          <p:cNvSpPr txBox="1"/>
          <p:nvPr/>
        </p:nvSpPr>
        <p:spPr>
          <a:xfrm>
            <a:off x="2564130" y="6206490"/>
            <a:ext cx="387798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" altLang="en-US" sz="1600" dirty="0">
                <a:latin typeface="+mj-ea"/>
                <a:ea typeface="+mj-ea"/>
              </a:rPr>
              <a:t>Note: Please turn off your microphone and camera</a:t>
            </a:r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ABLE_BEAUTIFY" val="smartTable{68344772-a139-4164-b2e2-eaee5ec8c587}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ABLE_BEAUTIFY" val="smartTable{68344772-a139-4164-b2e2-eaee5ec8c587}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ABLE_BEAUTIFY" val="smartTable{03b17792-b74b-4970-982f-775fbc490e3c}"/>
  <p:tag name="TABLE_ENDDRAG_ORIGIN_RECT" val="276*381"/>
  <p:tag name="TABLE_ENDDRAG_RECT" val="264*144*276*382"/>
</p:tagLst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电路">
  <a:themeElements>
    <a:clrScheme name="Circuit">
      <a:dk1>
        <a:sysClr val="windowText" lastClr="000000"/>
      </a:dk1>
      <a:lt1>
        <a:sysClr val="window" lastClr="FFFFFF"/>
      </a:lt1>
      <a:dk2>
        <a:srgbClr val="134770"/>
      </a:dk2>
      <a:lt2>
        <a:srgbClr val="82FFFF"/>
      </a:lt2>
      <a:accent1>
        <a:srgbClr val="9ACD4C"/>
      </a:accent1>
      <a:accent2>
        <a:srgbClr val="FAA93A"/>
      </a:accent2>
      <a:accent3>
        <a:srgbClr val="D35940"/>
      </a:accent3>
      <a:accent4>
        <a:srgbClr val="B258D3"/>
      </a:accent4>
      <a:accent5>
        <a:srgbClr val="63A0CC"/>
      </a:accent5>
      <a:accent6>
        <a:srgbClr val="8AC4A7"/>
      </a:accent6>
      <a:hlink>
        <a:srgbClr val="B8FA56"/>
      </a:hlink>
      <a:folHlink>
        <a:srgbClr val="7AF8CC"/>
      </a:folHlink>
    </a:clrScheme>
    <a:fontScheme name="Circuit">
      <a:majorFont>
        <a:latin typeface="Tw Cen M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ircuit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5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6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88000"/>
                <a:hueMod val="106000"/>
                <a:satMod val="140000"/>
                <a:lumMod val="54000"/>
              </a:schemeClr>
              <a:schemeClr val="phClr">
                <a:tint val="98000"/>
                <a:hueMod val="90000"/>
                <a:satMod val="150000"/>
                <a:lumMod val="160000"/>
              </a:schemeClr>
            </a:duotone>
          </a:blip>
          <a:stretch>
            <a:fillRect/>
          </a:stretch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1429</TotalTime>
  <Words>2029</Words>
  <Application>Microsoft Macintosh PowerPoint</Application>
  <PresentationFormat>Widescreen</PresentationFormat>
  <Paragraphs>228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21" baseType="lpstr">
      <vt:lpstr>华文楷体</vt:lpstr>
      <vt:lpstr>Aptos Display</vt:lpstr>
      <vt:lpstr>Arial</vt:lpstr>
      <vt:lpstr>Consolas</vt:lpstr>
      <vt:lpstr>JetBrains Mono</vt:lpstr>
      <vt:lpstr>Tw Cen MT</vt:lpstr>
      <vt:lpstr>Wingdings</vt:lpstr>
      <vt:lpstr>电路</vt:lpstr>
      <vt:lpstr>Language Basics (3)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Truth table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thank you all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NOIP 入门习题精讲 - 09</dc:title>
  <dc:creator>Minren Guan</dc:creator>
  <cp:lastModifiedBy>Bryan Sun</cp:lastModifiedBy>
  <cp:revision>283</cp:revision>
  <dcterms:created xsi:type="dcterms:W3CDTF">2018-08-09T00:16:00Z</dcterms:created>
  <dcterms:modified xsi:type="dcterms:W3CDTF">2026-08-23T04:32:28Z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0E09B697D38146F2A1E20319C05FEB57</vt:lpwstr>
  </property>
  <property fmtid="{D5CDD505-2E9C-101B-9397-08002B2CF9AE}" pid="3" name="KSOProductBuildVer">
    <vt:lpwstr>2052-11.1.0.10700</vt:lpwstr>
  </property>
</Properties>
</file>