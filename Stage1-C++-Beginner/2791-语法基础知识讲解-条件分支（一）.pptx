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8" r:id="rId3"/>
    <p:sldId id="347" r:id="rId4"/>
    <p:sldId id="356" r:id="rId5"/>
    <p:sldId id="332" r:id="rId6"/>
    <p:sldId id="346" r:id="rId7"/>
    <p:sldId id="334" r:id="rId8"/>
    <p:sldId id="357" r:id="rId9"/>
    <p:sldId id="358" r:id="rId10"/>
    <p:sldId id="349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7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NOIP </a:t>
            </a:r>
            <a:r>
              <a:rPr lang="zh-CN" altLang="en-US" dirty="0"/>
              <a:t>入门 </a:t>
            </a:r>
            <a:r>
              <a:rPr lang="en-US" altLang="zh-CN" dirty="0"/>
              <a:t>–</a:t>
            </a:r>
            <a:r>
              <a:rPr lang="zh-CN" altLang="en-US" dirty="0"/>
              <a:t>语言基础（三）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条件分支（一）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160899" y="1486111"/>
            <a:ext cx="5586248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表达式用圆括号括起来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以及其后的语句可省略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if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只能对应一个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，不能对应多个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不能单独出现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后面不能写</a:t>
            </a:r>
            <a:r>
              <a:rPr lang="en-US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</a:t>
            </a:r>
            <a:r>
              <a:rPr lang="en-US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zh-CN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if</a:t>
            </a:r>
            <a:r>
              <a:rPr lang="en-US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</a:t>
            </a:r>
            <a:r>
              <a:rPr lang="en-US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之后，千万不要加分号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花括号之后不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加分号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（加了也不会错，只是没必要）</a:t>
            </a:r>
            <a:endParaRPr lang="zh-CN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509753" y="1736796"/>
            <a:ext cx="2793124" cy="2277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money,price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&gt;&gt;money&gt;&gt;price;</a:t>
            </a:r>
          </a:p>
          <a:p>
            <a:pPr marL="0" indent="0"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(money&gt;=price)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买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买不起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" name="内容占位符 2"/>
          <p:cNvSpPr txBox="1"/>
          <p:nvPr/>
        </p:nvSpPr>
        <p:spPr>
          <a:xfrm>
            <a:off x="3302876" y="1736794"/>
            <a:ext cx="2858023" cy="328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b="1" dirty="0">
                <a:solidFill>
                  <a:srgbClr val="808080"/>
                </a:solidFill>
                <a:ea typeface="+mn-ea"/>
              </a:rPr>
              <a:t>double</a:t>
            </a:r>
            <a:r>
              <a:rPr lang="en-US" altLang="zh-CN" dirty="0"/>
              <a:t> </a:t>
            </a:r>
            <a:r>
              <a:rPr lang="en-US" altLang="zh-CN" dirty="0" err="1"/>
              <a:t>money,price</a:t>
            </a:r>
            <a:r>
              <a:rPr lang="en-US" altLang="zh-CN" dirty="0"/>
              <a:t>;</a:t>
            </a:r>
          </a:p>
          <a:p>
            <a:r>
              <a:rPr lang="en-US" altLang="zh-CN" dirty="0" err="1"/>
              <a:t>cin</a:t>
            </a:r>
            <a:r>
              <a:rPr lang="en-US" altLang="zh-CN" dirty="0"/>
              <a:t>&gt;&gt;money&gt;&gt;price;</a:t>
            </a:r>
          </a:p>
          <a:p>
            <a:r>
              <a:rPr lang="en-US" altLang="zh-CN" b="1" dirty="0">
                <a:solidFill>
                  <a:srgbClr val="006699"/>
                </a:solidFill>
              </a:rPr>
              <a:t>if</a:t>
            </a:r>
            <a:r>
              <a:rPr lang="en-US" altLang="zh-CN" dirty="0"/>
              <a:t>(money&gt;=price){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</a:rPr>
              <a:t>买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</a:rPr>
              <a:t>香草味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  <a:r>
              <a:rPr lang="en-US" altLang="zh-CN" b="1" dirty="0">
                <a:solidFill>
                  <a:srgbClr val="006699"/>
                </a:solidFill>
              </a:rPr>
              <a:t>else</a:t>
            </a:r>
            <a:r>
              <a:rPr lang="en-US" altLang="zh-CN" dirty="0"/>
              <a:t>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</a:rPr>
              <a:t>买不起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</a:rPr>
              <a:t>谢谢！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477304" y="4392186"/>
            <a:ext cx="2793124" cy="2277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b="1" dirty="0">
                <a:solidFill>
                  <a:srgbClr val="808080"/>
                </a:solidFill>
                <a:ea typeface="+mn-ea"/>
              </a:rPr>
              <a:t>double</a:t>
            </a:r>
            <a:r>
              <a:rPr lang="en-US" altLang="zh-CN" dirty="0"/>
              <a:t> </a:t>
            </a:r>
            <a:r>
              <a:rPr lang="en-US" altLang="zh-CN" dirty="0" err="1"/>
              <a:t>money,price</a:t>
            </a:r>
            <a:r>
              <a:rPr lang="en-US" altLang="zh-CN" dirty="0"/>
              <a:t>;</a:t>
            </a:r>
          </a:p>
          <a:p>
            <a:r>
              <a:rPr lang="en-US" altLang="zh-CN" dirty="0" err="1"/>
              <a:t>cin</a:t>
            </a:r>
            <a:r>
              <a:rPr lang="en-US" altLang="zh-CN" dirty="0"/>
              <a:t>&gt;&gt;money&gt;&gt;price;</a:t>
            </a:r>
          </a:p>
          <a:p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</a:rPr>
              <a:t>买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en-US" altLang="zh-CN" dirty="0"/>
              <a:t>;</a:t>
            </a:r>
          </a:p>
          <a:p>
            <a:r>
              <a:rPr lang="en-US" altLang="zh-CN" b="1" dirty="0">
                <a:solidFill>
                  <a:srgbClr val="006699"/>
                </a:solidFill>
              </a:rPr>
              <a:t>if</a:t>
            </a:r>
            <a:r>
              <a:rPr lang="en-US" altLang="zh-CN" dirty="0"/>
              <a:t>(money&lt;price)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</a:rPr>
              <a:t>不起</a:t>
            </a:r>
            <a:r>
              <a:rPr lang="en-US" altLang="zh-CN" dirty="0">
                <a:solidFill>
                  <a:srgbClr val="0000FF"/>
                </a:solidFill>
                <a:ea typeface="+mn-ea"/>
              </a:rPr>
              <a:t>"</a:t>
            </a:r>
            <a:r>
              <a:rPr lang="en-US" altLang="zh-CN" dirty="0"/>
              <a:t>;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买梦龙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159610" y="1486111"/>
            <a:ext cx="5586248" cy="3368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表达式用圆括号括起来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以及其后的语句可省略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只能对应一个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，不能对应多个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不能单独出现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后面不能写</a:t>
            </a:r>
            <a:r>
              <a:rPr lang="en-US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</a:t>
            </a:r>
            <a:r>
              <a:rPr lang="en-US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zh-CN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</a:t>
            </a:r>
            <a:r>
              <a:rPr lang="en-US" altLang="zh-CN" b="1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之后，千万不要加分号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花括号之后不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</a:t>
            </a:r>
            <a:r>
              <a:rPr lang="zh-C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加分号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（单独一个分号是空语句，加了也不会错，只是没必要）</a:t>
            </a:r>
            <a:endParaRPr lang="zh-CN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2208637" y="1742149"/>
            <a:ext cx="15392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+mn-ea"/>
              </a:rPr>
              <a:t>if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表达式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语句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+mn-ea"/>
              </a:rPr>
              <a:t>else</a:t>
            </a:r>
          </a:p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语句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605789" y="1743744"/>
            <a:ext cx="15392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语法说明</a:t>
            </a:r>
          </a:p>
        </p:txBody>
      </p:sp>
      <p:sp>
        <p:nvSpPr>
          <p:cNvPr id="4" name="矩形 3"/>
          <p:cNvSpPr/>
          <p:nvPr/>
        </p:nvSpPr>
        <p:spPr>
          <a:xfrm>
            <a:off x="3747877" y="1748027"/>
            <a:ext cx="1539240" cy="3361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……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endParaRPr lang="zh-CN" altLang="en-US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684324" y="1722925"/>
            <a:ext cx="3281754" cy="9862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just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一个表达式总是可以计算出一个值：</a:t>
            </a:r>
          </a:p>
          <a:p>
            <a:pPr marL="268288" lvl="1" indent="-268288" algn="just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lphaL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如果值不为</a:t>
            </a: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（为非</a:t>
            </a: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），表示成立（真）</a:t>
            </a:r>
          </a:p>
          <a:p>
            <a:pPr marL="268288" lvl="1" indent="-268288" algn="just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lphaLcPeriod"/>
            </a:pPr>
            <a:r>
              <a:rPr lang="zh-CN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如果值为</a:t>
            </a: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，表示不成立（假）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4324" y="301567"/>
            <a:ext cx="106346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表达式与判断</a:t>
            </a:r>
            <a:endParaRPr lang="en-US" altLang="zh-CN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6624579"/>
              </p:ext>
            </p:extLst>
          </p:nvPr>
        </p:nvGraphicFramePr>
        <p:xfrm>
          <a:off x="684707" y="3529069"/>
          <a:ext cx="484238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运算说明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7/3+4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 // 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非零，为真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11-(4*2)-7%3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非零，为真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a-3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 // </a:t>
                      </a:r>
                      <a:r>
                        <a:rPr 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零，为假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a%c-b%c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</a:t>
                      </a:r>
                      <a:r>
                        <a:rPr 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零，为假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a=3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 // </a:t>
                      </a:r>
                      <a:r>
                        <a:rPr 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非零，为真。赋值语句的值等于被赋值的值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a=0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</a:t>
                      </a:r>
                      <a:r>
                        <a:rPr 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零，为假。赋值语句的值等于被赋值的值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4324" y="2863263"/>
            <a:ext cx="2000022" cy="616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首先，定义三个变量：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a=3,b=5,c=2;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0B6C86-C0F7-4F16-ABAE-9083EACAAFFF}"/>
              </a:ext>
            </a:extLst>
          </p:cNvPr>
          <p:cNvSpPr txBox="1"/>
          <p:nvPr/>
        </p:nvSpPr>
        <p:spPr>
          <a:xfrm>
            <a:off x="6412448" y="1722925"/>
            <a:ext cx="1789519" cy="1170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b="1" kern="1200" dirty="0">
                <a:solidFill>
                  <a:srgbClr val="006699"/>
                </a:solidFill>
                <a:latin typeface="Consolas" panose="020B0609020204030204" pitchFamily="49" charset="0"/>
                <a:cs typeface="+mn-cs"/>
              </a:rPr>
              <a:t>if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(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表达式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do 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sth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do 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sth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 after if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B2610B7-25C7-4543-86B8-C4CBC8BFECFB}"/>
              </a:ext>
            </a:extLst>
          </p:cNvPr>
          <p:cNvGrpSpPr/>
          <p:nvPr/>
        </p:nvGrpSpPr>
        <p:grpSpPr>
          <a:xfrm>
            <a:off x="8183006" y="1722925"/>
            <a:ext cx="3292559" cy="821902"/>
            <a:chOff x="5410787" y="1465739"/>
            <a:chExt cx="5220576" cy="82190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E3B97FB-EFC8-489F-9D40-38E20999FFAF}"/>
                </a:ext>
              </a:extLst>
            </p:cNvPr>
            <p:cNvSpPr txBox="1"/>
            <p:nvPr/>
          </p:nvSpPr>
          <p:spPr>
            <a:xfrm>
              <a:off x="5410787" y="1699868"/>
              <a:ext cx="1507071" cy="339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2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charset="-122"/>
                  <a:cs typeface="Consolas" panose="020B0609020204030204" pitchFamily="49" charset="0"/>
                </a:rPr>
                <a:t>表达式的值</a:t>
              </a:r>
              <a:endParaRPr lang="en-US" altLang="zh-CN" sz="1200" dirty="0"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左大括号 12">
              <a:extLst>
                <a:ext uri="{FF2B5EF4-FFF2-40B4-BE49-F238E27FC236}">
                  <a16:creationId xmlns:a16="http://schemas.microsoft.com/office/drawing/2014/main" id="{674E961C-C62D-4535-A492-01D97D8EEB74}"/>
                </a:ext>
              </a:extLst>
            </p:cNvPr>
            <p:cNvSpPr/>
            <p:nvPr/>
          </p:nvSpPr>
          <p:spPr>
            <a:xfrm>
              <a:off x="6856617" y="1672508"/>
              <a:ext cx="244966" cy="467976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Consolas" panose="020B0609020204030204" pitchFamily="49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AB15225-CA85-48EC-AD93-A38367B514F4}"/>
                </a:ext>
              </a:extLst>
            </p:cNvPr>
            <p:cNvSpPr txBox="1"/>
            <p:nvPr/>
          </p:nvSpPr>
          <p:spPr>
            <a:xfrm>
              <a:off x="7101583" y="1465739"/>
              <a:ext cx="3529780" cy="339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l">
                <a:buFont typeface="Arial" panose="020B0604020202020204" pitchFamily="34" charset="0"/>
                <a:buNone/>
              </a:pPr>
              <a:r>
                <a:rPr lang="zh-CN" altLang="en-US" sz="12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charset="-122"/>
                  <a:cs typeface="Consolas" panose="020B0609020204030204" pitchFamily="49" charset="0"/>
                </a:rPr>
                <a:t>真：执行</a:t>
              </a:r>
              <a:r>
                <a:rPr lang="en-US" altLang="zh-CN" sz="1200" dirty="0">
                  <a:solidFill>
                    <a:srgbClr val="008200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if</a:t>
              </a:r>
              <a:r>
                <a:rPr lang="zh-CN" altLang="en-US" sz="1200" dirty="0">
                  <a:solidFill>
                    <a:srgbClr val="008200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代码块内</a:t>
              </a:r>
              <a:r>
                <a:rPr lang="zh-CN" altLang="en-US" sz="12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charset="-122"/>
                  <a:cs typeface="Consolas" panose="020B0609020204030204" pitchFamily="49" charset="0"/>
                </a:rPr>
                <a:t>的逻辑</a:t>
              </a:r>
              <a:endParaRPr lang="en-US" altLang="zh-CN" sz="1200" dirty="0"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71208D6-B094-453B-86F3-8DA1BD4DA1F0}"/>
                </a:ext>
              </a:extLst>
            </p:cNvPr>
            <p:cNvSpPr txBox="1"/>
            <p:nvPr/>
          </p:nvSpPr>
          <p:spPr>
            <a:xfrm>
              <a:off x="7101583" y="1948637"/>
              <a:ext cx="3529777" cy="339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l">
                <a:buFont typeface="Arial" panose="020B0604020202020204" pitchFamily="34" charset="0"/>
                <a:buNone/>
              </a:pPr>
              <a:r>
                <a:rPr lang="zh-CN" altLang="en-US" sz="12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charset="-122"/>
                  <a:cs typeface="Consolas" panose="020B0609020204030204" pitchFamily="49" charset="0"/>
                </a:rPr>
                <a:t>假：执行</a:t>
              </a:r>
              <a:r>
                <a:rPr lang="en-US" altLang="zh-CN" sz="1200" dirty="0">
                  <a:solidFill>
                    <a:srgbClr val="008200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if</a:t>
              </a:r>
              <a:r>
                <a:rPr lang="zh-CN" altLang="en-US" sz="1200" dirty="0">
                  <a:solidFill>
                    <a:srgbClr val="008200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代码块之后</a:t>
              </a:r>
              <a:r>
                <a:rPr lang="zh-CN" altLang="en-US" sz="12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charset="-122"/>
                  <a:cs typeface="Consolas" panose="020B0609020204030204" pitchFamily="49" charset="0"/>
                </a:rPr>
                <a:t>的逻辑</a:t>
              </a:r>
              <a:endParaRPr lang="en-US" altLang="zh-CN" sz="1200" dirty="0"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614E8B9-6C0E-4F34-B185-13E93B944086}"/>
              </a:ext>
            </a:extLst>
          </p:cNvPr>
          <p:cNvSpPr txBox="1"/>
          <p:nvPr/>
        </p:nvSpPr>
        <p:spPr>
          <a:xfrm>
            <a:off x="6406623" y="3238354"/>
            <a:ext cx="1795344" cy="1447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b="1" kern="1200" dirty="0">
                <a:solidFill>
                  <a:srgbClr val="006699"/>
                </a:solidFill>
                <a:latin typeface="Consolas" panose="020B0609020204030204" pitchFamily="49" charset="0"/>
                <a:cs typeface="+mn-cs"/>
              </a:rPr>
              <a:t>if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(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表达式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do 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sth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  <a:r>
              <a:rPr lang="en-US" altLang="zh-CN" sz="1200" b="1" kern="1200" dirty="0">
                <a:solidFill>
                  <a:srgbClr val="006699"/>
                </a:solidFill>
                <a:latin typeface="Consolas" panose="020B0609020204030204" pitchFamily="49" charset="0"/>
                <a:cs typeface="+mn-cs"/>
              </a:rPr>
              <a:t>else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do 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sth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 else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6278FDE-B7E7-4C62-9C7D-95AF52F3C97F}"/>
              </a:ext>
            </a:extLst>
          </p:cNvPr>
          <p:cNvGrpSpPr/>
          <p:nvPr/>
        </p:nvGrpSpPr>
        <p:grpSpPr>
          <a:xfrm>
            <a:off x="8179129" y="3238354"/>
            <a:ext cx="3422685" cy="821902"/>
            <a:chOff x="5404642" y="1465739"/>
            <a:chExt cx="5426900" cy="82190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D39150C-2CC9-459E-BB65-A7FC6327A9A1}"/>
                </a:ext>
              </a:extLst>
            </p:cNvPr>
            <p:cNvSpPr txBox="1"/>
            <p:nvPr/>
          </p:nvSpPr>
          <p:spPr>
            <a:xfrm>
              <a:off x="5404642" y="1708459"/>
              <a:ext cx="1507071" cy="339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2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charset="-122"/>
                  <a:cs typeface="Consolas" panose="020B0609020204030204" pitchFamily="49" charset="0"/>
                </a:rPr>
                <a:t>表达式的值</a:t>
              </a:r>
              <a:endParaRPr lang="en-US" altLang="zh-CN" sz="1200" dirty="0"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19" name="左大括号 18">
              <a:extLst>
                <a:ext uri="{FF2B5EF4-FFF2-40B4-BE49-F238E27FC236}">
                  <a16:creationId xmlns:a16="http://schemas.microsoft.com/office/drawing/2014/main" id="{E52AEFB9-4C9E-4273-82F9-BE3B7DFB27AF}"/>
                </a:ext>
              </a:extLst>
            </p:cNvPr>
            <p:cNvSpPr/>
            <p:nvPr/>
          </p:nvSpPr>
          <p:spPr>
            <a:xfrm>
              <a:off x="6856617" y="1672508"/>
              <a:ext cx="244966" cy="467976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Consolas" panose="020B0609020204030204" pitchFamily="49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F29B7EA-E941-4092-8797-C13567BBFEC9}"/>
                </a:ext>
              </a:extLst>
            </p:cNvPr>
            <p:cNvSpPr txBox="1"/>
            <p:nvPr/>
          </p:nvSpPr>
          <p:spPr>
            <a:xfrm>
              <a:off x="7101582" y="1465739"/>
              <a:ext cx="3529781" cy="339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l">
                <a:buFont typeface="Arial" panose="020B0604020202020204" pitchFamily="34" charset="0"/>
                <a:buNone/>
              </a:pPr>
              <a:r>
                <a:rPr lang="zh-CN" altLang="en-US" sz="12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charset="-122"/>
                  <a:cs typeface="Consolas" panose="020B0609020204030204" pitchFamily="49" charset="0"/>
                </a:rPr>
                <a:t>真：执行</a:t>
              </a:r>
              <a:r>
                <a:rPr lang="en-US" altLang="zh-CN" sz="1200" dirty="0">
                  <a:solidFill>
                    <a:srgbClr val="008200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if</a:t>
              </a:r>
              <a:r>
                <a:rPr lang="zh-CN" altLang="en-US" sz="1200" dirty="0">
                  <a:solidFill>
                    <a:srgbClr val="008200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代码块内</a:t>
              </a:r>
              <a:r>
                <a:rPr lang="zh-CN" altLang="en-US" sz="12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charset="-122"/>
                  <a:cs typeface="Consolas" panose="020B0609020204030204" pitchFamily="49" charset="0"/>
                </a:rPr>
                <a:t>的逻辑</a:t>
              </a:r>
              <a:endParaRPr lang="en-US" altLang="zh-CN" sz="1200" dirty="0"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95E1D36-A7CA-41E7-828E-368C498A6C2E}"/>
                </a:ext>
              </a:extLst>
            </p:cNvPr>
            <p:cNvSpPr txBox="1"/>
            <p:nvPr/>
          </p:nvSpPr>
          <p:spPr>
            <a:xfrm>
              <a:off x="7101582" y="1948637"/>
              <a:ext cx="3729960" cy="339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l">
                <a:buFont typeface="Arial" panose="020B0604020202020204" pitchFamily="34" charset="0"/>
                <a:buNone/>
              </a:pPr>
              <a:r>
                <a:rPr lang="zh-CN" altLang="en-US" sz="12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charset="-122"/>
                  <a:cs typeface="Consolas" panose="020B0609020204030204" pitchFamily="49" charset="0"/>
                </a:rPr>
                <a:t>假：执行</a:t>
              </a:r>
              <a:r>
                <a:rPr lang="en-US" altLang="zh-CN" sz="1200" dirty="0">
                  <a:solidFill>
                    <a:srgbClr val="008200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else</a:t>
              </a:r>
              <a:r>
                <a:rPr lang="zh-CN" altLang="en-US" sz="1200" dirty="0">
                  <a:solidFill>
                    <a:srgbClr val="008200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代码块内</a:t>
              </a:r>
              <a:r>
                <a:rPr lang="zh-CN" altLang="en-US" sz="12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charset="-122"/>
                  <a:cs typeface="Consolas" panose="020B0609020204030204" pitchFamily="49" charset="0"/>
                </a:rPr>
                <a:t>的逻辑</a:t>
              </a:r>
              <a:endParaRPr lang="en-US" altLang="zh-CN" sz="1200" dirty="0"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</p:grp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34AA7200-EF27-4ED5-AA54-3122F7589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584512"/>
              </p:ext>
            </p:extLst>
          </p:nvPr>
        </p:nvGraphicFramePr>
        <p:xfrm>
          <a:off x="1988892" y="3529069"/>
          <a:ext cx="35382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8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运算说明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72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/>
      <p:bldP spid="15" grpId="0"/>
      <p:bldP spid="16" grpId="0"/>
      <p:bldP spid="16" grpId="1"/>
      <p:bldP spid="18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7222046" y="1856197"/>
            <a:ext cx="4622357" cy="336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关系表达式运算符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共有六种：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&gt;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&lt;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&gt;=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&lt;=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==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!=</a:t>
            </a:r>
            <a:endParaRPr lang="zh-CN" altLang="zh-CN" sz="12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连接两个表达式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，形成</a:t>
            </a:r>
            <a:r>
              <a:rPr lang="zh-CN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关系表达式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，作用是对这两个表达式进行比较计算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注意：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==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=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!=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≠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&gt;=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≥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&lt;=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≤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的差别</a:t>
            </a:r>
          </a:p>
          <a:p>
            <a:pPr marL="182880" lvl="1" indent="18161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zh-CN" sz="10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特别注意：</a:t>
            </a:r>
            <a:r>
              <a:rPr lang="en-US" altLang="zh-CN" sz="10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=</a:t>
            </a:r>
            <a:r>
              <a:rPr lang="zh-CN" altLang="en-US" sz="10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表示赋值，</a:t>
            </a:r>
            <a:r>
              <a:rPr lang="en-US" altLang="zh-CN" sz="10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==</a:t>
            </a:r>
            <a:r>
              <a:rPr lang="zh-CN" altLang="en-US" sz="10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表示判断是否相等，很容易混淆</a:t>
            </a:r>
            <a:endParaRPr lang="zh-CN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计算方法：分别计算</a:t>
            </a:r>
            <a:r>
              <a:rPr lang="zh-CN" altLang="en-US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关系表达式运算符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两边的表达式的值，然后进行比较计算</a:t>
            </a:r>
          </a:p>
          <a:p>
            <a:pPr marL="182880" indent="-18288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计算结果只有两种：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成立（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，真），或不成立（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，假）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关系表达式运算符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的优先级：比算术运算符低，所以如果有加减乘除，先做加减乘除，再做关系运算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如果有多个</a:t>
            </a:r>
            <a:r>
              <a:rPr lang="zh-CN" altLang="en-US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关系表达式运算符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，计算方式：从左到右，先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&gt;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&lt;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&gt;=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&lt;=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，后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==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!=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，遇到括号先算括号里的</a:t>
            </a:r>
            <a:endParaRPr lang="zh-CN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关系表达式运算符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3947" y="1905423"/>
          <a:ext cx="6517370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8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关系表达式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运算说明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7/3+4&gt;2*3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分别计算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&gt;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两边的结果，再比大小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11-(4*2)+7%3&lt;pow(2,3)-2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分别计算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&lt;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两边的结果，再比大小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a&gt;15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a-2!=b-3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分别计算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!=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两边的结果，再判断是否相等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a+b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&lt;</a:t>
                      </a:r>
                      <a:r>
                        <a:rPr lang="en-US" altLang="zh-CN" sz="1200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b+c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分别计算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&lt;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两边的结果，再比大小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'a'&lt;'b'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字符类型做运算，用的是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ASCII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(a==3)&gt;=(b==5)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分别计算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&gt;=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两边的结果，再比大小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0&lt;a&lt;5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先计算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0&lt;a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，得到一个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或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的中间结果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再计算中间结果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&lt;5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，无论中间结果是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还是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，最终结果一定是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(a=3)&gt;(b=5)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分别计算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&gt;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两边的结果，再比大小</a:t>
                      </a:r>
                    </a:p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赋值语句的值等于被赋值的值</a:t>
                      </a:r>
                    </a:p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注意：这个表达式执行后，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和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的值都改变了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53564" y="1239617"/>
            <a:ext cx="2000022" cy="616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首先，定义三个变量：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a=3,b=5,c=2;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832352" y="1905423"/>
          <a:ext cx="4039340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运算说明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055121" y="1284446"/>
            <a:ext cx="4822906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“与”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&amp;&amp;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，表示“并且”</a:t>
            </a:r>
          </a:p>
          <a:p>
            <a:pPr indent="161925" algn="just" defTabSz="9144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“或”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||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，表示“或者”</a:t>
            </a:r>
          </a:p>
          <a:p>
            <a:pPr indent="161925" algn="just" defTabSz="9144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“非”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!</a:t>
            </a:r>
            <a:r>
              <a:rPr lang="en-US" altLang="zh-CN" sz="120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，表示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“与之相反”</a:t>
            </a:r>
            <a:endParaRPr lang="zh-CN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&amp;&amp;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||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用于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连接两个表达式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20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仅作用于一个表达式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，形成</a:t>
            </a:r>
            <a:r>
              <a:rPr lang="zh-CN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逻辑表达式</a:t>
            </a: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计算方法：如果是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&amp;&amp;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与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||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，分别计算两边的表达式的值，然后进行逻辑运算；如果是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!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，先计算对应的表达式的值</a:t>
            </a:r>
            <a:endParaRPr lang="zh-CN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计算结果只有两种：成立（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，真），或不成立（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，假）</a:t>
            </a:r>
            <a:endParaRPr lang="zh-CN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2" indent="-17780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0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&amp;&amp;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：两个表达式都为非零则算出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，否则算出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endParaRPr lang="en-US" altLang="zh-CN" sz="10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2" indent="-17780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0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||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：两个表达式有一个为非零则算出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，否则算出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endParaRPr lang="en-US" altLang="zh-CN" sz="10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2" indent="-17780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0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!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：对应表达式的值为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则算出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，为非零则算出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endParaRPr lang="zh-CN" altLang="zh-CN" sz="10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逻辑运算符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的优先级：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&amp;&amp;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||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的优先级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比算术运算符低，所以如果有加减乘除，先做加减乘除，再做逻辑计算</a:t>
            </a:r>
            <a:endParaRPr lang="zh-CN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526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zh-CN" sz="10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特别注意：</a:t>
            </a:r>
            <a:r>
              <a:rPr lang="en-US" altLang="zh-CN" sz="10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!</a:t>
            </a:r>
            <a:r>
              <a:rPr lang="zh-CN" altLang="zh-CN" sz="10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的优先级高于算术运算符（</a:t>
            </a:r>
            <a:r>
              <a:rPr lang="en-US" altLang="zh-CN" sz="10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+-*/%</a:t>
            </a:r>
            <a:r>
              <a:rPr lang="zh-CN" altLang="zh-CN" sz="10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）</a:t>
            </a:r>
            <a:endParaRPr lang="zh-CN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  <a:sym typeface="+mn-ea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如果有多个</a:t>
            </a:r>
            <a:r>
              <a:rPr lang="zh-CN" altLang="en-US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逻辑运算符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，计算方式：从左到右，先</a:t>
            </a:r>
            <a:r>
              <a:rPr lang="en-US" altLang="zh-CN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!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，后</a:t>
            </a:r>
            <a:r>
              <a:rPr lang="en-US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&amp;&amp;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，再</a:t>
            </a:r>
            <a:r>
              <a:rPr lang="en-US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||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，遇到括号先算括号里的</a:t>
            </a:r>
            <a:endParaRPr lang="zh-CN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（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小技巧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）如果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记不清</a:t>
            </a:r>
            <a:r>
              <a:rPr lang="zh-CN" altLang="en-US" sz="12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逻辑运算符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的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计算顺序，</a:t>
            </a:r>
          </a:p>
          <a:p>
            <a:pPr indent="0" algn="just" defTabSz="9144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 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可以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多加括号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逻辑运算符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3947" y="1834408"/>
          <a:ext cx="651737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5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逻辑表达式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运算说明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a&gt;15&amp;&amp;b&gt;15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先计算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&amp;&amp;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的左侧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如果左侧为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，再计算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&amp;&amp;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的右侧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如果左侧为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，根据真值表，结果必定为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，右侧就不必再计算了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a-2||b-3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先计算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||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的左侧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如果左侧为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，再计算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||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的右侧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如果左侧为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，根据真值表，结果必定为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，右侧就不必再计算了</a:t>
                      </a:r>
                      <a:endParaRPr lang="zh-CN" altLang="en-US" sz="12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b%3==1||b%3==2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'a'&lt;=c&amp;&amp;c&lt;='z'||'A'&lt;=c&amp;&amp;c&lt;='Z'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// </a:t>
                      </a:r>
                      <a:r>
                        <a:rPr lang="zh-CN" altLang="en-US" sz="12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判断</a:t>
                      </a:r>
                      <a:r>
                        <a:rPr lang="en-US" altLang="zh-CN" sz="12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</a:t>
                      </a:r>
                      <a:r>
                        <a:rPr lang="zh-CN" altLang="en-US" sz="12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是否为字母的标准写法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先计算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||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的左侧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先计算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&amp;&amp;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的左侧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根据左侧的计算结果决定是否要计算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&amp;&amp;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的右侧，再根据真值表得出结果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根据左侧的计算结果决定是否要计算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||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的右侧，根据真值表得出结果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1&lt;=a&amp;&amp;a&lt;=5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// </a:t>
                      </a:r>
                      <a:r>
                        <a:rPr lang="zh-CN" altLang="en-US" sz="12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判断</a:t>
                      </a:r>
                      <a:r>
                        <a:rPr lang="en-US" altLang="zh-CN" sz="12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zh-CN" altLang="en-US" sz="12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是否在</a:t>
                      </a:r>
                      <a:r>
                        <a:rPr lang="en-US" altLang="zh-CN" sz="12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2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到</a:t>
                      </a:r>
                      <a:r>
                        <a:rPr lang="en-US" altLang="zh-CN" sz="12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zh-CN" altLang="en-US" sz="12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的区间内的标准写法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lvl="0" indent="-1778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先计算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&amp;&amp;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的左侧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7800" lvl="0" indent="-1778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根据左侧的计算结果决定是否要计算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&amp;&amp;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的右侧，再根据真值表得出结果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!(a&lt;1||a&gt;5)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lvl="0" indent="-1778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先计算括号内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先计算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||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的左侧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根据左侧的计算结果决定是否要计算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||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的右侧，再用真值表得出结果</a:t>
                      </a: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7800" lvl="0" indent="-1778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根据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真值表，将括号内的计算结果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、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互换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353947" y="1214805"/>
            <a:ext cx="2000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首先，定义三个变量：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a=3,b=5;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c=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'w'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355975" y="1834515"/>
          <a:ext cx="3515360" cy="4855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运算说明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945">
                <a:tc>
                  <a:txBody>
                    <a:bodyPr/>
                    <a:lstStyle/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zh-CN" altLang="en-US" sz="12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595">
                <a:tc>
                  <a:txBody>
                    <a:bodyPr/>
                    <a:lstStyle/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zh-CN" altLang="en-US" sz="12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1735">
                <a:tc>
                  <a:txBody>
                    <a:bodyPr/>
                    <a:lstStyle/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zh-CN" altLang="en-US" sz="12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1715">
                <a:tc>
                  <a:txBody>
                    <a:bodyPr/>
                    <a:lstStyle/>
                    <a:p>
                      <a:pPr lvl="0" indent="0">
                        <a:buFont typeface="Arial" panose="020B0604020202020204" pitchFamily="34" charset="0"/>
                        <a:buNone/>
                      </a:pP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lvl="0" indent="0">
                        <a:buFont typeface="Arial" panose="020B0604020202020204" pitchFamily="34" charset="0"/>
                        <a:buNone/>
                      </a:pP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lvl="0" indent="0">
                        <a:buFont typeface="Arial" panose="020B0604020202020204" pitchFamily="34" charset="0"/>
                        <a:buNone/>
                      </a:pP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lvl="0" indent="0">
                        <a:buFont typeface="Arial" panose="020B0604020202020204" pitchFamily="34" charset="0"/>
                        <a:buNone/>
                      </a:pP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lvl="0" indent="0">
                        <a:buFont typeface="Arial" panose="020B0604020202020204" pitchFamily="34" charset="0"/>
                        <a:buNone/>
                      </a:pPr>
                      <a:endParaRPr lang="en-US" altLang="zh-CN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bool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</a:t>
            </a:r>
          </a:p>
        </p:txBody>
      </p:sp>
      <p:sp>
        <p:nvSpPr>
          <p:cNvPr id="9" name="文本框 2"/>
          <p:cNvSpPr txBox="1"/>
          <p:nvPr/>
        </p:nvSpPr>
        <p:spPr>
          <a:xfrm>
            <a:off x="678609" y="1486111"/>
            <a:ext cx="7639768" cy="291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布尔型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占用</a:t>
            </a:r>
            <a:r>
              <a:rPr lang="en-US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byte</a:t>
            </a: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数据范围：</a:t>
            </a:r>
            <a:r>
              <a:rPr lang="en-US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或</a:t>
            </a:r>
            <a:r>
              <a:rPr lang="en-US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true</a:t>
            </a:r>
            <a:r>
              <a:rPr lang="zh-C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false</a:t>
            </a:r>
            <a:r>
              <a:rPr lang="zh-C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关键字，等价于</a:t>
            </a:r>
            <a:r>
              <a:rPr lang="en-US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</a:t>
            </a:r>
            <a:r>
              <a:rPr lang="zh-CN" altLang="en-US" sz="1600" kern="100" dirty="0">
                <a:solidFill>
                  <a:schemeClr val="accent4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关系表达式运算符</a:t>
            </a: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或</a:t>
            </a:r>
            <a:r>
              <a:rPr lang="zh-CN" altLang="en-US" sz="1600" kern="100" dirty="0">
                <a:solidFill>
                  <a:schemeClr val="accent4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逻辑运算符</a:t>
            </a: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参与的表达式</a:t>
            </a:r>
            <a:r>
              <a:rPr lang="zh-C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其计算结果一定是</a:t>
            </a: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是精度最低的数据类型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730250" lvl="2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计算时的自动类型转换：如果与其他数据类型进行计算，总是会被自动类型转换为其他类型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730250" lvl="2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赋值时的自动类型转换：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把其他类型赋给</a:t>
            </a: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类型，得到的结果只有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D8E51D1-FB0B-457F-AA4D-B571F34ED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12078"/>
            <a:ext cx="3088356" cy="148698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79E12BF-51D5-4FC8-9F2F-22A3207B5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39" y="1412077"/>
            <a:ext cx="3141516" cy="148698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913D9A4-A535-44A0-99C0-1DC4A8154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339" y="1412077"/>
            <a:ext cx="3728084" cy="14869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4B82FB4-97D4-4721-A508-769C2A7E2F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" y="3266629"/>
            <a:ext cx="4116701" cy="14250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F00C8F-78C8-4250-88D5-5D97351F1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498" y="3172376"/>
            <a:ext cx="5900599" cy="14250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1E28F5-5166-4504-AF2D-6095D4E08D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240" y="5062472"/>
            <a:ext cx="3441136" cy="14250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F79F9D7-B619-4E66-B6E5-9174630E3410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补全逻辑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D1067E5-148F-F29F-6A48-A2D8F5BF11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381" y="5061985"/>
            <a:ext cx="4880940" cy="14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0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F79F9D7-B619-4E66-B6E5-9174630E3410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补全逻辑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E92E840-BE91-4BA9-A814-CDF5829D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12077"/>
            <a:ext cx="3068179" cy="143887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CF5ED95-3966-4B2C-97FB-2EE59ED22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882" y="1406990"/>
            <a:ext cx="4022898" cy="149715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CEB77ED-8BB2-4EB0-B904-9A78F27F0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875" y="1412077"/>
            <a:ext cx="3351262" cy="148698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FF3D262-1497-4108-A85B-A773F8133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" y="3266628"/>
            <a:ext cx="4543026" cy="129663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35FE407-CFD8-448D-BA4B-578D45B2F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498" y="3177463"/>
            <a:ext cx="5686577" cy="13810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06DB031-D327-477B-82EE-F5951B9D47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49" y="5064746"/>
            <a:ext cx="3446184" cy="142273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1B78BE7-DA5B-823C-B5E9-6C5D08A33E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292" y="5055200"/>
            <a:ext cx="5199541" cy="143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45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9" y="1486112"/>
            <a:ext cx="5184400" cy="53236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自然语言：任意两边之和大于第三边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483213" y="1486111"/>
            <a:ext cx="3464528" cy="2322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&gt;c&amp;&amp;</a:t>
            </a: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b+c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&gt;a&amp;&amp;</a:t>
            </a: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a+c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&gt;b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6483212" y="4038888"/>
            <a:ext cx="3464528" cy="2322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&lt;=c||</a:t>
            </a: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b+c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&lt;=a||</a:t>
            </a: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a+c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&lt;=b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合法的三角形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C4DA1E-0E27-4278-8937-C18E89BEEB22}"/>
              </a:ext>
            </a:extLst>
          </p:cNvPr>
          <p:cNvSpPr txBox="1"/>
          <p:nvPr/>
        </p:nvSpPr>
        <p:spPr>
          <a:xfrm>
            <a:off x="678606" y="2128746"/>
            <a:ext cx="51843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逻辑表达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之和大于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，并且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之和大于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，并且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之和大于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，就是合法的三角形，剩余情况是非法的三角形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6004B2-B87C-47EE-809B-30BE54BA7DC5}"/>
              </a:ext>
            </a:extLst>
          </p:cNvPr>
          <p:cNvSpPr txBox="1"/>
          <p:nvPr/>
        </p:nvSpPr>
        <p:spPr>
          <a:xfrm>
            <a:off x="678605" y="3808674"/>
            <a:ext cx="51843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逻辑表达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之和小于等于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，或者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之和小于等于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，或者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之和小于等于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，就是非法的三角形，剩余情况是合法的三角形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DE1F6C-50FA-4819-AFF6-1A43AA1917AB}"/>
              </a:ext>
            </a:extLst>
          </p:cNvPr>
          <p:cNvSpPr txBox="1"/>
          <p:nvPr/>
        </p:nvSpPr>
        <p:spPr>
          <a:xfrm>
            <a:off x="6816503" y="2161032"/>
            <a:ext cx="22983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a+b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&gt;c&amp;&amp;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b+c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&gt;a&amp;&amp;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a+c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&gt;b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3A882D-8799-4F52-997D-B5F263794D0E}"/>
              </a:ext>
            </a:extLst>
          </p:cNvPr>
          <p:cNvSpPr txBox="1"/>
          <p:nvPr/>
        </p:nvSpPr>
        <p:spPr>
          <a:xfrm>
            <a:off x="6816503" y="4720770"/>
            <a:ext cx="264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a+b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&lt;=c||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b+c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&lt;=a||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a+c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&lt;=b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8344772-a139-4164-b2e2-eaee5ec8c58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8344772-a139-4164-b2e2-eaee5ec8c58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3b17792-b74b-4970-982f-775fbc490e3c}"/>
  <p:tag name="TABLE_ENDDRAG_ORIGIN_RECT" val="276*381"/>
  <p:tag name="TABLE_ENDDRAG_RECT" val="264*144*276*38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</TotalTime>
  <Words>1769</Words>
  <Application>Microsoft Office PowerPoint</Application>
  <PresentationFormat>宽屏</PresentationFormat>
  <Paragraphs>210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华文楷体</vt:lpstr>
      <vt:lpstr>微软雅黑</vt:lpstr>
      <vt:lpstr>Arial</vt:lpstr>
      <vt:lpstr>Consolas</vt:lpstr>
      <vt:lpstr>Tw Cen MT</vt:lpstr>
      <vt:lpstr>Wingdings</vt:lpstr>
      <vt:lpstr>电路</vt:lpstr>
      <vt:lpstr>NOIP 入门 –语言基础（三）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woodsgreen@163.com</cp:lastModifiedBy>
  <cp:revision>294</cp:revision>
  <dcterms:created xsi:type="dcterms:W3CDTF">2018-08-09T00:16:00Z</dcterms:created>
  <dcterms:modified xsi:type="dcterms:W3CDTF">2026-02-03T15:33:39Z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0E09B697D38146F2A1E20319C05FEB57</vt:lpwstr>
  </property>
  <property fmtid="{D5CDD505-2E9C-101B-9397-08002B2CF9AE}" pid="3" name="KSOProductBuildVer">
    <vt:lpwstr>2052-11.1.0.10700</vt:lpwstr>
  </property>
</Properties>
</file>