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47" r:id="rId4"/>
    <p:sldId id="356" r:id="rId5"/>
    <p:sldId id="332" r:id="rId6"/>
    <p:sldId id="346" r:id="rId7"/>
    <p:sldId id="334" r:id="rId8"/>
    <p:sldId id="357" r:id="rId9"/>
    <p:sldId id="358" r:id="rId10"/>
    <p:sldId id="349" r:id="rId11"/>
    <p:sldId id="261" r:id="rId12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0FBBE-8D3C-E440-BF98-1EA218419C39}" v="50" dt="2026-08-08T12:05:53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6301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08-08T12:12:54.398" v="114" actId="14100"/>
      <pc:docMkLst>
        <pc:docMk/>
      </pc:docMkLst>
      <pc:sldChg chg="modSp mod">
        <pc:chgData name="Bryan Sun" userId="851caa7714272873" providerId="LiveId" clId="{1DF0C224-3A3E-55A6-A8D1-F8F2208D385B}" dt="2026-08-08T12:12:54.398" v="114" actId="14100"/>
        <pc:sldMkLst>
          <pc:docMk/>
          <pc:sldMk cId="0" sldId="332"/>
        </pc:sldMkLst>
        <pc:spChg chg="mod">
          <ac:chgData name="Bryan Sun" userId="851caa7714272873" providerId="LiveId" clId="{1DF0C224-3A3E-55A6-A8D1-F8F2208D385B}" dt="2026-08-08T12:12:54.398" v="114" actId="14100"/>
          <ac:spMkLst>
            <pc:docMk/>
            <pc:sldMk cId="0" sldId="332"/>
            <ac:spMk id="14" creationId="{00000000-0000-0000-0000-000000000000}"/>
          </ac:spMkLst>
        </pc:spChg>
        <pc:graphicFrameChg chg="mod modGraphic">
          <ac:chgData name="Bryan Sun" userId="851caa7714272873" providerId="LiveId" clId="{1DF0C224-3A3E-55A6-A8D1-F8F2208D385B}" dt="2026-08-08T12:10:11.421" v="111" actId="14734"/>
          <ac:graphicFrameMkLst>
            <pc:docMk/>
            <pc:sldMk cId="0" sldId="332"/>
            <ac:graphicFrameMk id="6" creationId="{00000000-0000-0000-0000-000000000000}"/>
          </ac:graphicFrameMkLst>
        </pc:graphicFrameChg>
      </pc:sldChg>
      <pc:sldChg chg="addSp delSp modSp mod">
        <pc:chgData name="Bryan Sun" userId="851caa7714272873" providerId="LiveId" clId="{1DF0C224-3A3E-55A6-A8D1-F8F2208D385B}" dt="2026-08-08T12:04:12.963" v="66" actId="20577"/>
        <pc:sldMkLst>
          <pc:docMk/>
          <pc:sldMk cId="0" sldId="347"/>
        </pc:sldMkLst>
        <pc:spChg chg="mod">
          <ac:chgData name="Bryan Sun" userId="851caa7714272873" providerId="LiveId" clId="{1DF0C224-3A3E-55A6-A8D1-F8F2208D385B}" dt="2026-08-08T12:02:09.449" v="22" actId="2711"/>
          <ac:spMkLst>
            <pc:docMk/>
            <pc:sldMk cId="0" sldId="347"/>
            <ac:spMk id="2" creationId="{44C57198-F243-2509-7F4A-3CC081D6161E}"/>
          </ac:spMkLst>
        </pc:spChg>
        <pc:spChg chg="add del mod">
          <ac:chgData name="Bryan Sun" userId="851caa7714272873" providerId="LiveId" clId="{1DF0C224-3A3E-55A6-A8D1-F8F2208D385B}" dt="2026-08-08T12:02:14.479" v="25"/>
          <ac:spMkLst>
            <pc:docMk/>
            <pc:sldMk cId="0" sldId="347"/>
            <ac:spMk id="3" creationId="{4238FF9E-35DD-B1F2-E7A5-6CCE12B592DE}"/>
          </ac:spMkLst>
        </pc:spChg>
        <pc:spChg chg="mod">
          <ac:chgData name="Bryan Sun" userId="851caa7714272873" providerId="LiveId" clId="{1DF0C224-3A3E-55A6-A8D1-F8F2208D385B}" dt="2026-08-08T12:04:12.963" v="66" actId="20577"/>
          <ac:spMkLst>
            <pc:docMk/>
            <pc:sldMk cId="0" sldId="347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08-08T12:04:01.625" v="46" actId="20577"/>
          <ac:spMkLst>
            <pc:docMk/>
            <pc:sldMk cId="0" sldId="347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08T12:03:57.804" v="38" actId="20577"/>
          <ac:spMkLst>
            <pc:docMk/>
            <pc:sldMk cId="0" sldId="347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8-08T12:02:09.449" v="22" actId="2711"/>
          <ac:spMkLst>
            <pc:docMk/>
            <pc:sldMk cId="0" sldId="347"/>
            <ac:spMk id="11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08T12:01:38.886" v="14" actId="20577"/>
        <pc:sldMkLst>
          <pc:docMk/>
          <pc:sldMk cId="0" sldId="348"/>
        </pc:sldMkLst>
        <pc:spChg chg="mod">
          <ac:chgData name="Bryan Sun" userId="851caa7714272873" providerId="LiveId" clId="{1DF0C224-3A3E-55A6-A8D1-F8F2208D385B}" dt="2026-08-08T11:54:36.734" v="5" actId="14100"/>
          <ac:spMkLst>
            <pc:docMk/>
            <pc:sldMk cId="0" sldId="34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08T11:52:47.946" v="3" actId="1076"/>
          <ac:spMkLst>
            <pc:docMk/>
            <pc:sldMk cId="0" sldId="348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8-08T11:54:34.128" v="4" actId="1076"/>
          <ac:spMkLst>
            <pc:docMk/>
            <pc:sldMk cId="0" sldId="348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08-08T11:52:47.946" v="3" actId="1076"/>
          <ac:spMkLst>
            <pc:docMk/>
            <pc:sldMk cId="0" sldId="348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08-08T12:01:38.886" v="14" actId="20577"/>
          <ac:spMkLst>
            <pc:docMk/>
            <pc:sldMk cId="0" sldId="348"/>
            <ac:spMk id="1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08T12:05:53.481" v="99" actId="6549"/>
        <pc:sldMkLst>
          <pc:docMk/>
          <pc:sldMk cId="570729498" sldId="356"/>
        </pc:sldMkLst>
        <pc:spChg chg="mod">
          <ac:chgData name="Bryan Sun" userId="851caa7714272873" providerId="LiveId" clId="{1DF0C224-3A3E-55A6-A8D1-F8F2208D385B}" dt="2026-08-08T12:05:01.594" v="69" actId="1076"/>
          <ac:spMkLst>
            <pc:docMk/>
            <pc:sldMk cId="570729498" sldId="356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08T12:05:32.900" v="85" actId="20577"/>
          <ac:spMkLst>
            <pc:docMk/>
            <pc:sldMk cId="570729498" sldId="356"/>
            <ac:spMk id="9" creationId="{380B6C86-C0F7-4F16-ABAE-9083EACAAFFF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2" creationId="{7E3B97FB-EFC8-489F-9D40-38E20999FFAF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3" creationId="{674E961C-C62D-4535-A492-01D97D8EEB74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4" creationId="{EAB15225-CA85-48EC-AD93-A38367B514F4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5" creationId="{071208D6-B094-453B-86F3-8DA1BD4DA1F0}"/>
          </ac:spMkLst>
        </pc:spChg>
        <pc:spChg chg="mod">
          <ac:chgData name="Bryan Sun" userId="851caa7714272873" providerId="LiveId" clId="{1DF0C224-3A3E-55A6-A8D1-F8F2208D385B}" dt="2026-08-08T12:05:53.481" v="99" actId="6549"/>
          <ac:spMkLst>
            <pc:docMk/>
            <pc:sldMk cId="570729498" sldId="356"/>
            <ac:spMk id="16" creationId="{5614E8B9-6C0E-4F34-B185-13E93B944086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18" creationId="{2D39150C-2CC9-459E-BB65-A7FC6327A9A1}"/>
          </ac:spMkLst>
        </pc:spChg>
        <pc:spChg chg="mod">
          <ac:chgData name="Bryan Sun" userId="851caa7714272873" providerId="LiveId" clId="{1DF0C224-3A3E-55A6-A8D1-F8F2208D385B}" dt="2026-08-08T12:04:33.953" v="67" actId="2711"/>
          <ac:spMkLst>
            <pc:docMk/>
            <pc:sldMk cId="570729498" sldId="356"/>
            <ac:spMk id="20" creationId="{6F29B7EA-E941-4092-8797-C13567BBFE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Language Basics (3)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Conditional branch</a:t>
            </a:r>
            <a:r>
              <a:rPr lang="en-US" altLang="zh-CN" dirty="0" err="1"/>
              <a:t>ing</a:t>
            </a:r>
            <a:r>
              <a:rPr lang="en" altLang="en-US" dirty="0"/>
              <a:t> (1)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12527" y="1486111"/>
            <a:ext cx="4479104" cy="3750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are enclosed in parentheses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following statements can be omitted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 only pair with one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multiple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cannot appear alone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write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(expression) after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Never add semicolon after if(expression) or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Don’t add semicolon after the curly braces, no error, just not necessary.  A semicolon alone is a statement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379956" y="1784787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 money,price;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 &gt;&gt; money &gt;&gt; price;</a:t>
            </a:r>
          </a:p>
          <a:p>
            <a:pPr marL="0" indent="0"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if(money &gt;= price)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&lt;&lt; "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buy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cout &lt;&lt; "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Can't afford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3453634" y="1784787"/>
            <a:ext cx="2858023" cy="328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dirty="0"/>
              <a:t>double money,price;</a:t>
            </a:r>
          </a:p>
          <a:p>
            <a:r>
              <a:rPr lang="en" altLang="zh-CN" dirty="0"/>
              <a:t>cin &gt;&gt; money &gt;&gt; price;</a:t>
            </a:r>
          </a:p>
          <a:p>
            <a:r>
              <a:rPr lang="en" altLang="zh-CN" dirty="0"/>
              <a:t>if(money &gt;= price){</a:t>
            </a:r>
          </a:p>
          <a:p>
            <a:r>
              <a:rPr lang="en" altLang="en-US" dirty="0"/>
              <a:t>    </a:t>
            </a:r>
            <a:r>
              <a:rPr lang="en" altLang="zh-CN" dirty="0"/>
              <a:t>cout &lt;&lt; "</a:t>
            </a:r>
            <a:r>
              <a:rPr lang="en" altLang="en-US" dirty="0"/>
              <a:t>buy</a:t>
            </a:r>
            <a:r>
              <a:rPr lang="en" altLang="zh-CN" dirty="0"/>
              <a:t>";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Vanilla</a:t>
            </a:r>
            <a:r>
              <a:rPr lang="en" altLang="zh-CN" dirty="0"/>
              <a:t>";</a:t>
            </a:r>
          </a:p>
          <a:p>
            <a:r>
              <a:rPr lang="en" altLang="zh-CN" dirty="0"/>
              <a:t>}else{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Can't afford</a:t>
            </a:r>
            <a:r>
              <a:rPr lang="en" altLang="zh-CN" dirty="0"/>
              <a:t>";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Thank you!</a:t>
            </a:r>
            <a:r>
              <a:rPr lang="en" altLang="zh-CN" dirty="0"/>
              <a:t>";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347507" y="4440177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dirty="0"/>
              <a:t>double money,price;</a:t>
            </a:r>
          </a:p>
          <a:p>
            <a:r>
              <a:rPr lang="en" altLang="zh-CN" dirty="0"/>
              <a:t>cin &gt;&gt; money &gt;&gt; price;</a:t>
            </a:r>
          </a:p>
          <a:p>
            <a:r>
              <a:rPr lang="en" altLang="zh-CN" dirty="0"/>
              <a:t>cout &lt;&lt;"</a:t>
            </a:r>
            <a:r>
              <a:rPr lang="en" altLang="en-US" dirty="0"/>
              <a:t>buy</a:t>
            </a:r>
            <a:r>
              <a:rPr lang="en" altLang="zh-CN" dirty="0"/>
              <a:t>";</a:t>
            </a:r>
          </a:p>
          <a:p>
            <a:r>
              <a:rPr lang="en" altLang="zh-CN" dirty="0"/>
              <a:t>if(money &lt; price)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Can't afford</a:t>
            </a:r>
            <a:r>
              <a:rPr lang="en" altLang="zh-CN" dirty="0"/>
              <a:t>";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Buying Ice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cream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2208637" y="1743744"/>
            <a:ext cx="1791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expression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else</a:t>
            </a:r>
          </a:p>
          <a:p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605789" y="1743744"/>
            <a:ext cx="16028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(e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xpression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00499" y="1743744"/>
            <a:ext cx="1891145" cy="286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57198-F243-2509-7F4A-3CC081D6161E}"/>
              </a:ext>
            </a:extLst>
          </p:cNvPr>
          <p:cNvSpPr txBox="1"/>
          <p:nvPr/>
        </p:nvSpPr>
        <p:spPr>
          <a:xfrm>
            <a:off x="6160899" y="1486111"/>
            <a:ext cx="5030732" cy="301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are enclosed in parentheses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following statements can be omitted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 only pair with one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multiple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cannot appear alone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write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(expression) after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Never add semicolon after if(expression) or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Don’t add semicolon after the curly braces, no error, just not necessary.  A semicolon alone is a statement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84323" y="1722925"/>
            <a:ext cx="5411293" cy="117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An expression can always evaluate to a value: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value is not </a:t>
            </a: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(is non-zero), </a:t>
            </a: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it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true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value is 0,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it is not true (false)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4324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and judgments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3411375"/>
              </p:ext>
            </p:extLst>
          </p:nvPr>
        </p:nvGraphicFramePr>
        <p:xfrm>
          <a:off x="684707" y="3529069"/>
          <a:ext cx="5411293" cy="295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 // </a:t>
                      </a:r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11-(4*2)-7%3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a-3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// </a:t>
                      </a:r>
                      <a:r>
                        <a:rPr lang="e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zero, false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a%cb%c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e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zero,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 // </a:t>
                      </a:r>
                      <a:r>
                        <a:rPr lang="e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true. The value of an assignment statement is equal to the assigned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a=0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e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Zero, false. The value of an assignment statement is equal to the assigned value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4323" y="2724961"/>
            <a:ext cx="4762999" cy="704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// </a:t>
            </a:r>
            <a:r>
              <a:rPr lang="en" altLang="en-US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First, define three variables:</a:t>
            </a:r>
            <a:endParaRPr lang="en-US" altLang="zh-CN" kern="1200" dirty="0">
              <a:solidFill>
                <a:srgbClr val="008200"/>
              </a:solidFill>
              <a:latin typeface="Aptos Display" panose="020B0004020202020204" pitchFamily="34" charset="0"/>
              <a:cs typeface="+mn-cs"/>
            </a:endParaRPr>
          </a:p>
          <a:p>
            <a:pPr marL="0" indent="0">
              <a:buNone/>
            </a:pPr>
            <a:r>
              <a:rPr lang="en" altLang="zh-CN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a=3,b=5,c=2;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0B6C86-C0F7-4F16-ABAE-9083EACAAFFF}"/>
              </a:ext>
            </a:extLst>
          </p:cNvPr>
          <p:cNvSpPr txBox="1"/>
          <p:nvPr/>
        </p:nvSpPr>
        <p:spPr>
          <a:xfrm>
            <a:off x="6412448" y="1722925"/>
            <a:ext cx="2034133" cy="1170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2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expression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.after if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B2610B7-25C7-4543-86B8-C4CBC8BFECFB}"/>
              </a:ext>
            </a:extLst>
          </p:cNvPr>
          <p:cNvGrpSpPr/>
          <p:nvPr/>
        </p:nvGrpSpPr>
        <p:grpSpPr>
          <a:xfrm>
            <a:off x="8183006" y="1722925"/>
            <a:ext cx="3292559" cy="853850"/>
            <a:chOff x="5410787" y="1465739"/>
            <a:chExt cx="5220576" cy="85385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E3B97FB-EFC8-489F-9D40-38E20999FFAF}"/>
                </a:ext>
              </a:extLst>
            </p:cNvPr>
            <p:cNvSpPr txBox="1"/>
            <p:nvPr/>
          </p:nvSpPr>
          <p:spPr>
            <a:xfrm>
              <a:off x="5410787" y="1699868"/>
              <a:ext cx="1507071" cy="619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value of expression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左大括号 12">
              <a:extLst>
                <a:ext uri="{FF2B5EF4-FFF2-40B4-BE49-F238E27FC236}">
                  <a16:creationId xmlns:a16="http://schemas.microsoft.com/office/drawing/2014/main" id="{674E961C-C62D-4535-A492-01D97D8EEB74}"/>
                </a:ext>
              </a:extLst>
            </p:cNvPr>
            <p:cNvSpPr/>
            <p:nvPr/>
          </p:nvSpPr>
          <p:spPr>
            <a:xfrm>
              <a:off x="6856617" y="1672508"/>
              <a:ext cx="244966" cy="467976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Aptos Display" panose="020B00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AB15225-CA85-48EC-AD93-A38367B514F4}"/>
                </a:ext>
              </a:extLst>
            </p:cNvPr>
            <p:cNvSpPr txBox="1"/>
            <p:nvPr/>
          </p:nvSpPr>
          <p:spPr>
            <a:xfrm>
              <a:off x="7101583" y="1465739"/>
              <a:ext cx="3529780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True: Execute the logic within 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71208D6-B094-453B-86F3-8DA1BD4DA1F0}"/>
                </a:ext>
              </a:extLst>
            </p:cNvPr>
            <p:cNvSpPr txBox="1"/>
            <p:nvPr/>
          </p:nvSpPr>
          <p:spPr>
            <a:xfrm>
              <a:off x="7101583" y="1948637"/>
              <a:ext cx="3529777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False: execute the logic after 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614E8B9-6C0E-4F34-B185-13E93B944086}"/>
              </a:ext>
            </a:extLst>
          </p:cNvPr>
          <p:cNvSpPr txBox="1"/>
          <p:nvPr/>
        </p:nvSpPr>
        <p:spPr>
          <a:xfrm>
            <a:off x="6406623" y="3238354"/>
            <a:ext cx="1795344" cy="144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2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 </a:t>
            </a:r>
            <a:r>
              <a:rPr lang="e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expression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  <a:r>
              <a:rPr lang="en" altLang="zh-CN" sz="12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 else</a:t>
            </a:r>
          </a:p>
          <a:p>
            <a:pPr marL="0" indent="0">
              <a:buNone/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6278FDE-B7E7-4C62-9C7D-95AF52F3C97F}"/>
              </a:ext>
            </a:extLst>
          </p:cNvPr>
          <p:cNvGrpSpPr/>
          <p:nvPr/>
        </p:nvGrpSpPr>
        <p:grpSpPr>
          <a:xfrm>
            <a:off x="8179129" y="3238354"/>
            <a:ext cx="3422685" cy="862441"/>
            <a:chOff x="5404642" y="1465739"/>
            <a:chExt cx="5426900" cy="862441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D39150C-2CC9-459E-BB65-A7FC6327A9A1}"/>
                </a:ext>
              </a:extLst>
            </p:cNvPr>
            <p:cNvSpPr txBox="1"/>
            <p:nvPr/>
          </p:nvSpPr>
          <p:spPr>
            <a:xfrm>
              <a:off x="5404642" y="1708459"/>
              <a:ext cx="1507071" cy="619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value of expression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E52AEFB9-4C9E-4273-82F9-BE3B7DFB27AF}"/>
                </a:ext>
              </a:extLst>
            </p:cNvPr>
            <p:cNvSpPr/>
            <p:nvPr/>
          </p:nvSpPr>
          <p:spPr>
            <a:xfrm>
              <a:off x="6856617" y="1672508"/>
              <a:ext cx="244966" cy="467976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Aptos Display" panose="020B00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29B7EA-E941-4092-8797-C13567BBFEC9}"/>
                </a:ext>
              </a:extLst>
            </p:cNvPr>
            <p:cNvSpPr txBox="1"/>
            <p:nvPr/>
          </p:nvSpPr>
          <p:spPr>
            <a:xfrm>
              <a:off x="7101582" y="1465739"/>
              <a:ext cx="3529781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True: Execute the logic within 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95E1D36-A7CA-41E7-828E-368C498A6C2E}"/>
                </a:ext>
              </a:extLst>
            </p:cNvPr>
            <p:cNvSpPr txBox="1"/>
            <p:nvPr/>
          </p:nvSpPr>
          <p:spPr>
            <a:xfrm>
              <a:off x="7101582" y="1948637"/>
              <a:ext cx="3729960" cy="342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342900" indent="-342900" algn="just" defTabSz="914400">
                <a:lnSpc>
                  <a:spcPct val="150000"/>
                </a:lnSpc>
                <a:buFont typeface="+mj-lt"/>
                <a:buAutoNum type="arabicPeriod"/>
                <a:defRPr sz="1400" kern="10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pPr marL="0" indent="0" algn="l">
                <a:buFont typeface="Arial" panose="020B0604020202020204" pitchFamily="34" charset="0"/>
                <a:buNone/>
              </a:pPr>
              <a:r>
                <a:rPr lang="en" altLang="en-US" sz="1200" dirty="0">
                  <a:solidFill>
                    <a:schemeClr val="bg1"/>
                  </a:solidFill>
                  <a:latin typeface="Aptos Display" panose="020B0004020202020204" pitchFamily="34" charset="0"/>
                  <a:ea typeface="微软雅黑" panose="020B0503020204020204" charset="-122"/>
                  <a:cs typeface="Consolas" panose="020B0609020204030204" pitchFamily="49" charset="0"/>
                </a:rPr>
                <a:t>False: execute the logic within the </a:t>
              </a:r>
              <a:endParaRPr lang="en-US" altLang="zh-CN" sz="1200" dirty="0">
                <a:latin typeface="Aptos Display" panose="020B0004020202020204" pitchFamily="34" charset="0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072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15" grpId="0"/>
      <p:bldP spid="16" grpId="0"/>
      <p:bldP spid="16" grpId="1"/>
      <p:bldP spid="18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460673" y="1419167"/>
            <a:ext cx="4052454" cy="4038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6 types of of relational expression operators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&gt;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&lt;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&gt;=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&lt;=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==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!=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Connect two expressions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to form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 relational expression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used to compare the two expressions.</a:t>
            </a:r>
            <a:endParaRPr lang="en-US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Note: differences between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≠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≥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difference</a:t>
            </a:r>
          </a:p>
          <a:p>
            <a:pPr marL="182880" lvl="1" indent="18161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Attention: </a:t>
            </a: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en-US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assignment, </a:t>
            </a: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 </a:t>
            </a:r>
            <a:r>
              <a:rPr lang="en" altLang="en-US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judging whether they are equal, which is easy to confuse.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values of the expressions on both sides of </a:t>
            </a: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relational expression operator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evaluated s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eparately, and then compared.</a:t>
            </a: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are only two calculation results: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true (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), or false (0)</a:t>
            </a:r>
            <a:endParaRPr lang="en-US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 have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lower precedences than arithmetic operators, so if there are arithmetic oeprations, they are done before relational operations.</a:t>
            </a:r>
            <a:endParaRPr lang="en-US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there are multiple </a:t>
            </a: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order is: from left to right,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&gt;= and &lt;= </a:t>
            </a:r>
            <a:r>
              <a:rPr lang="en" altLang="zh-CN" sz="11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before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==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where there are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parentheses, evaluate what’s inside first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7266616"/>
              </p:ext>
            </p:extLst>
          </p:nvPr>
        </p:nvGraphicFramePr>
        <p:xfrm>
          <a:off x="347597" y="1856198"/>
          <a:ext cx="6920711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554">
                <a:tc>
                  <a:txBody>
                    <a:bodyPr/>
                    <a:lstStyle/>
                    <a:p>
                      <a:r>
                        <a:rPr lang="e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relational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7/3+4&gt;2*3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both sides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11-(4*2)+7%3&lt;pow(2,3)-2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 both sides of &lt; 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a-2!=b-3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evaluate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both sides of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 separately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then determine whether they are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218">
                <a:tc>
                  <a:txBody>
                    <a:bodyPr/>
                    <a:lstStyle/>
                    <a:p>
                      <a:r>
                        <a:rPr lang="en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a+b </a:t>
                      </a: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 </a:t>
                      </a:r>
                      <a:r>
                        <a:rPr lang="en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b+c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both sides of &lt; separately, then compare the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218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'a'&lt;'b'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Character type is used for operations, using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ASCII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(a==3)&gt;=(b==5)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evaluate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both sides of &gt;= 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0&lt;a&lt;5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 first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get an intermediate result of either 0 or 1</a:t>
                      </a:r>
                      <a:endParaRPr lang="en-US" altLang="zh-CN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Then evaluate the intermediate result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&lt;5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no matter the intermediate result is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or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final result must be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79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(a=3)&gt;(b=5)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both sides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separately, then compare</a:t>
                      </a:r>
                    </a:p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 value of an assignment statement is equal to the assigned value</a:t>
                      </a:r>
                    </a:p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Note: After this expression is executed, the values of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have changed.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47597" y="1152158"/>
            <a:ext cx="6406744" cy="704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three variables:</a:t>
            </a:r>
            <a:endParaRPr lang="en-US" altLang="zh-CN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buNone/>
            </a:pPr>
            <a:r>
              <a:rPr lang="en" altLang="zh-CN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a=3,b=5,c=2;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71315" y="1300076"/>
            <a:ext cx="4822906" cy="558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"And"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meaning "and"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"or"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meaning "or"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"Not"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!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meaning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"the opposite of"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are used to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connect two expressions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only acts on one expression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to form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logical expression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Evaluation process: For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and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-AU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values of the expressions on both sides respectively, then perform logical operations; for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first </a:t>
            </a:r>
            <a:r>
              <a:rPr lang="en-AU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value of the corresponding expression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There’re only two possible results: true (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), or false (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8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both expressions are non-zero, it evaluates to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 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otherwise it evaluates to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8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8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one of the two expressions is non-zero, it evaluates to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 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otherwise it evaluates to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8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8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the value of the corresponding expression is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0 , 1 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is </a:t>
            </a:r>
            <a:r>
              <a:rPr lang="en-AU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 , and if it is non-zero, 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 is </a:t>
            </a:r>
            <a:r>
              <a:rPr lang="en-AU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zh-CN" sz="8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d.</a:t>
            </a:r>
            <a:endParaRPr lang="zh-CN" altLang="zh-CN" sz="8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precedence of </a:t>
            </a:r>
            <a:r>
              <a:rPr lang="en" altLang="en-US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operators: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 and ||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are lower than arithmetic operators.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526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8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Attention: </a:t>
            </a:r>
            <a:r>
              <a:rPr lang="en" altLang="zh-CN" sz="8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 </a:t>
            </a:r>
            <a:r>
              <a:rPr lang="en" altLang="zh-CN" sz="8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is higher than arithmetic operators ( </a:t>
            </a:r>
            <a:r>
              <a:rPr lang="en" altLang="zh-CN" sz="80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+-*/% </a:t>
            </a:r>
            <a:r>
              <a:rPr lang="en" altLang="zh-CN" sz="8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  <a:sym typeface="+mn-ea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there are multiple </a:t>
            </a:r>
            <a:r>
              <a:rPr lang="en" altLang="en-US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evaluate from left to right, first </a:t>
            </a:r>
            <a:r>
              <a:rPr lang="en" altLang="zh-C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then </a:t>
            </a:r>
            <a:r>
              <a:rPr lang="e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then </a:t>
            </a:r>
            <a:r>
              <a:rPr lang="en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when there are parentheses, </a:t>
            </a:r>
            <a:r>
              <a:rPr lang="en-AU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ones inside first</a:t>
            </a:r>
            <a:endParaRPr lang="zh-CN" altLang="zh-CN" sz="105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(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Tips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 If 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you can’t remember the precedence of </a:t>
            </a:r>
            <a:r>
              <a:rPr lang="en" altLang="en-US" sz="1050" kern="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simply</a:t>
            </a:r>
            <a:r>
              <a:rPr lang="en" altLang="en-US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can </a:t>
            </a:r>
            <a:r>
              <a:rPr lang="en" altLang="zh-CN" sz="105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add more parentheses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Logical Operators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8184365"/>
              </p:ext>
            </p:extLst>
          </p:nvPr>
        </p:nvGraphicFramePr>
        <p:xfrm>
          <a:off x="353947" y="1834408"/>
          <a:ext cx="651737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logical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a&gt;15&amp;&amp;b&gt;15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result must be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there is no need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a-2||b-3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result must be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there is no need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side.</a:t>
                      </a:r>
                      <a:endParaRPr lang="zh-CN" altLang="en-US" sz="10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b%3==1||b%3==2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'a'&lt;=c&amp;&amp;c&lt;='z'||'A'&lt;=c&amp;&amp;c&lt;='Z'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" altLang="zh-CN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standard way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to determine whether </a:t>
                      </a:r>
                      <a:r>
                        <a:rPr lang="en" altLang="zh-CN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is a letter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 based on the results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then 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 based on the result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</a:t>
                      </a:r>
                      <a:r>
                        <a:rPr lang="en-US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then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1&lt;=a&amp;&amp;a&lt;=5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Standard way determine whether a is between 1 and 5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 based on the results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and then 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!(a&lt;1||a&gt;5)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brackets first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based on the result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then use the truth table to get the result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According to the truth table, </a:t>
                      </a:r>
                      <a:r>
                        <a:rPr lang="en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flip the result 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53946" y="1214805"/>
            <a:ext cx="6517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sz="1200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three variables:</a:t>
            </a:r>
            <a:endParaRPr lang="en-US" altLang="zh-CN" sz="1200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a=3,b=5;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200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c=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'w'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678609" y="1486111"/>
            <a:ext cx="7639768" cy="375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boolean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byte</a:t>
            </a:r>
            <a:endParaRPr lang="en" altLang="en-US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true and false keywords, equivalent to 1 and 0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involving </a:t>
            </a:r>
            <a:r>
              <a:rPr lang="en" altLang="en-US" sz="1600" kern="100" dirty="0">
                <a:solidFill>
                  <a:schemeClr val="accent4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en-US" sz="1600" kern="100" dirty="0">
                <a:solidFill>
                  <a:schemeClr val="accent4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logical operators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result must be of </a:t>
            </a: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type.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 </a:t>
            </a: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is the data type with the lowest precision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conversion during evaluation: If evaluating with other data types, they will always be automatically converted to other types.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conversion during assignment: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assigning other types to the bool type, the results are only 1 or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D8E51D1-FB0B-457F-AA4D-B571F34E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8"/>
            <a:ext cx="3088356" cy="148698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9E12BF-51D5-4FC8-9F2F-22A3207B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39" y="1412077"/>
            <a:ext cx="3141516" cy="14869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13D9A4-A535-44A0-99C0-1DC4A8154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339" y="1412077"/>
            <a:ext cx="3728084" cy="14869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B82FB4-97D4-4721-A508-769C2A7E2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9"/>
            <a:ext cx="4116701" cy="14250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F00C8F-78C8-4250-88D5-5D97351F1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2376"/>
            <a:ext cx="5900599" cy="14250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1E28F5-5166-4504-AF2D-6095D4E08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40" y="5062472"/>
            <a:ext cx="3441136" cy="14250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Cloze test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D1067E5-148F-F29F-6A48-A2D8F5BF11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381" y="5061985"/>
            <a:ext cx="4880940" cy="14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0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Cloze test answers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E92E840-BE91-4BA9-A814-CDF5829D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7"/>
            <a:ext cx="3068179" cy="14388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F5ED95-3966-4B2C-97FB-2EE59ED2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882" y="1406990"/>
            <a:ext cx="4022898" cy="149715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EB77ED-8BB2-4EB0-B904-9A78F27F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875" y="1412077"/>
            <a:ext cx="3351262" cy="14869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F3D262-1497-4108-A85B-A773F8133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8"/>
            <a:ext cx="4543026" cy="129663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35FE407-CFD8-448D-BA4B-578D45B2F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7463"/>
            <a:ext cx="5686577" cy="13810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06DB031-D327-477B-82EE-F5951B9D4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49" y="5064746"/>
            <a:ext cx="3446184" cy="14227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1B78BE7-DA5B-823C-B5E9-6C5D08A33E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292" y="5055200"/>
            <a:ext cx="5199541" cy="14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45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86112"/>
            <a:ext cx="5184400" cy="5323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" altLang="en-US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Natural language: The sum of any two sides is greater than the third side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483212" y="1486111"/>
            <a:ext cx="4286387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&gt;c&amp;&amp; b+c &gt;a&amp;&amp; a+c &gt;b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483211" y="4038888"/>
            <a:ext cx="4286387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&lt;=c||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&lt;=a||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legal triangle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C4DA1E-0E27-4278-8937-C18E89BEEB22}"/>
              </a:ext>
            </a:extLst>
          </p:cNvPr>
          <p:cNvSpPr txBox="1"/>
          <p:nvPr/>
        </p:nvSpPr>
        <p:spPr>
          <a:xfrm>
            <a:off x="678606" y="2128746"/>
            <a:ext cx="51843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Logical expression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: if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 and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 and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 it is a legal triangle, otherwise 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-AU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’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illegal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004B2-B87C-47EE-809B-30BE54BA7DC5}"/>
              </a:ext>
            </a:extLst>
          </p:cNvPr>
          <p:cNvSpPr txBox="1"/>
          <p:nvPr/>
        </p:nvSpPr>
        <p:spPr>
          <a:xfrm>
            <a:off x="678605" y="4089828"/>
            <a:ext cx="51843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expression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less than or equal to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or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less than or equal to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or the sum of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less than or equal to </a:t>
            </a:r>
            <a:r>
              <a:rPr lang="e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e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it is an illegal triangle, otherwise it’s legal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DE1F6C-50FA-4819-AFF6-1A43AA1917AB}"/>
              </a:ext>
            </a:extLst>
          </p:cNvPr>
          <p:cNvSpPr txBox="1"/>
          <p:nvPr/>
        </p:nvSpPr>
        <p:spPr>
          <a:xfrm>
            <a:off x="6991228" y="2128746"/>
            <a:ext cx="3121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&gt;c&amp;&amp;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&gt;a&amp;&amp;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&gt;b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3A882D-8799-4F52-997D-B5F263794D0E}"/>
              </a:ext>
            </a:extLst>
          </p:cNvPr>
          <p:cNvSpPr txBox="1"/>
          <p:nvPr/>
        </p:nvSpPr>
        <p:spPr>
          <a:xfrm>
            <a:off x="7066595" y="4715725"/>
            <a:ext cx="3382574" cy="34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&lt;=c||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&lt;=a||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</a:rPr>
              <a:t>&lt;=b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b17792-b74b-4970-982f-775fbc490e3c}"/>
  <p:tag name="TABLE_ENDDRAG_ORIGIN_RECT" val="276*381"/>
  <p:tag name="TABLE_ENDDRAG_RECT" val="264*144*276*38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1846</Words>
  <Application>Microsoft Macintosh PowerPoint</Application>
  <PresentationFormat>Widescreen</PresentationFormat>
  <Paragraphs>198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微软雅黑</vt:lpstr>
      <vt:lpstr>华文楷体</vt:lpstr>
      <vt:lpstr>Aptos Display</vt:lpstr>
      <vt:lpstr>Arial</vt:lpstr>
      <vt:lpstr>Consolas</vt:lpstr>
      <vt:lpstr>Tw Cen MT</vt:lpstr>
      <vt:lpstr>Wingdings</vt:lpstr>
      <vt:lpstr>电路</vt:lpstr>
      <vt:lpstr>Language Basics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281</cp:revision>
  <dcterms:created xsi:type="dcterms:W3CDTF">2018-08-09T00:16:00Z</dcterms:created>
  <dcterms:modified xsi:type="dcterms:W3CDTF">2026-08-08T12:12:56Z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0E09B697D38146F2A1E20319C05FEB57</vt:lpwstr>
  </property>
  <property fmtid="{D5CDD505-2E9C-101B-9397-08002B2CF9AE}" pid="3" name="KSOProductBuildVer">
    <vt:lpwstr>2052-11.1.0.10700</vt:lpwstr>
  </property>
</Properties>
</file>