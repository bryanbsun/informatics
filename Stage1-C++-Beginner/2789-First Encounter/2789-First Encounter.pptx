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49" r:id="rId3"/>
    <p:sldId id="347" r:id="rId4"/>
    <p:sldId id="361" r:id="rId5"/>
    <p:sldId id="362" r:id="rId6"/>
    <p:sldId id="332" r:id="rId7"/>
    <p:sldId id="343" r:id="rId8"/>
    <p:sldId id="353" r:id="rId9"/>
    <p:sldId id="354" r:id="rId10"/>
    <p:sldId id="357" r:id="rId11"/>
    <p:sldId id="358" r:id="rId12"/>
    <p:sldId id="359" r:id="rId13"/>
    <p:sldId id="345" r:id="rId14"/>
    <p:sldId id="346" r:id="rId15"/>
    <p:sldId id="348" r:id="rId16"/>
    <p:sldId id="360" r:id="rId17"/>
    <p:sldId id="261" r:id="rId18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3986" autoAdjust="0"/>
  </p:normalViewPr>
  <p:slideViewPr>
    <p:cSldViewPr snapToGrid="0">
      <p:cViewPr varScale="1">
        <p:scale>
          <a:sx n="90" d="100"/>
          <a:sy n="90" d="100"/>
        </p:scale>
        <p:origin x="232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EF43D-0357-4278-88A3-68E399B55887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E4075-04D0-4A01-9B80-B34031DE52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71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4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897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First </a:t>
            </a:r>
            <a:r>
              <a:rPr lang="en-US" altLang="zh-CN" dirty="0"/>
              <a:t>Encounter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" altLang="zh-CN" dirty="0"/>
              <a:t>C++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79" y="6206490"/>
            <a:ext cx="290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Gao</a:t>
            </a:r>
            <a:r>
              <a:rPr lang="en-US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’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9" y="1486111"/>
            <a:ext cx="7621936" cy="205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Machine language, binary, programming language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Compilation vs interpretation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Integrated development environment </a:t>
            </a:r>
            <a:r>
              <a:rPr lang="en" altLang="zh-CN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IDE</a:t>
            </a:r>
          </a:p>
          <a:p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Source program, source code, code, writing code, </a:t>
            </a:r>
            <a:r>
              <a:rPr lang="en-US" altLang="zh-CN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‘punching’</a:t>
            </a: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code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8" y="1311010"/>
            <a:ext cx="46129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20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20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20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Hello World</a:t>
            </a:r>
            <a:endParaRPr lang="en-US" altLang="zh-CN" sz="20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" altLang="zh-CN" sz="20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using</a:t>
            </a:r>
            <a:r>
              <a:rPr lang="e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    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    </a:t>
            </a:r>
            <a:r>
              <a:rPr lang="en" altLang="zh-CN" sz="20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1823" y="1311009"/>
            <a:ext cx="5931567" cy="4950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followed by the header file, no semicolon is needed at the end of the line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Universal header file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bits/stdc++.h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Just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include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this header file, add angle brackets at both ends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using namespace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followed by the namespace,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ending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semicolon.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()”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function is the main part of the program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function content is enclosed between a pair of curly braces</a:t>
            </a: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Inside the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function, each statement must end with a 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semicolon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last statement </a:t>
            </a:r>
            <a:r>
              <a:rPr lang="en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returns 0;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used to output content to the console. Contents between 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 quotes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will be output as is.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 beg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 with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“//”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comments, written for humans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read, and will be ignored by computers.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Program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tructure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8609" y="4014982"/>
            <a:ext cx="4612918" cy="2129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 2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3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7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fixed content, must be present in each program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 comment, optional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the specific program content, each program is different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E859262-343F-496A-240B-8F4AF786E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79" y="4262310"/>
            <a:ext cx="7772400" cy="21619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9ED2EA-19EB-A4F9-7E4A-1A7E25276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566" y="1487135"/>
            <a:ext cx="4203948" cy="2690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9AB9CA-8495-C181-D906-2488205D6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79" y="2016715"/>
            <a:ext cx="6516370" cy="19024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0442" y="1401414"/>
            <a:ext cx="2813559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en-US" sz="1800" dirty="0">
                <a:latin typeface="Aptos Display" panose="020B0004020202020204" pitchFamily="34" charset="0"/>
                <a:ea typeface="微软雅黑" panose="020B0503020204020204" pitchFamily="34" charset="-122"/>
              </a:rPr>
              <a:t>Online practice system: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Training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ite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9804" y="2649685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①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11447" y="2593299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②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38285" y="1275117"/>
            <a:ext cx="46829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4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http://xmoj.tech</a:t>
            </a:r>
            <a:endParaRPr lang="zh-CN" altLang="en-US" sz="40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0442" y="5050228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③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F69E97-EC8D-E6B9-B5C1-EEB7C971F00F}"/>
              </a:ext>
            </a:extLst>
          </p:cNvPr>
          <p:cNvSpPr/>
          <p:nvPr/>
        </p:nvSpPr>
        <p:spPr>
          <a:xfrm>
            <a:off x="6039622" y="2781688"/>
            <a:ext cx="1019563" cy="34956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4950D-CCE4-6649-D29F-177F37E48BBC}"/>
              </a:ext>
            </a:extLst>
          </p:cNvPr>
          <p:cNvSpPr/>
          <p:nvPr/>
        </p:nvSpPr>
        <p:spPr>
          <a:xfrm>
            <a:off x="5303942" y="3147768"/>
            <a:ext cx="1019563" cy="34956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CF937E-B6BF-8A40-19E9-7B134A1B82EC}"/>
              </a:ext>
            </a:extLst>
          </p:cNvPr>
          <p:cNvSpPr/>
          <p:nvPr/>
        </p:nvSpPr>
        <p:spPr>
          <a:xfrm>
            <a:off x="4256183" y="5091589"/>
            <a:ext cx="1019563" cy="34956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489B36-977B-57AD-E06E-A046E1E78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27" y="3309257"/>
            <a:ext cx="4094789" cy="355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C3BFE-B766-06D8-F6DF-D55EE7511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512" y="1229313"/>
            <a:ext cx="6360534" cy="3629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F98A73-F7F7-49D2-2DD1-0543A7491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19" y="2310765"/>
            <a:ext cx="4332497" cy="9719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C4E097-A2E3-ABEE-0028-5508CF2CB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20" y="1126620"/>
            <a:ext cx="3582670" cy="1093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Training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ite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77769" y="817017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①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83765" y="1855730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②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26299" y="1557152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③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95170" y="4627518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60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④</a:t>
            </a:r>
            <a:endParaRPr lang="en-US" altLang="zh-CN" sz="60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A0668E-5768-F967-088B-6FA9816591F9}"/>
              </a:ext>
            </a:extLst>
          </p:cNvPr>
          <p:cNvSpPr/>
          <p:nvPr/>
        </p:nvSpPr>
        <p:spPr>
          <a:xfrm>
            <a:off x="8175812" y="2774344"/>
            <a:ext cx="595609" cy="36330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9FD79-E891-F6BA-349C-8E961FD70C95}"/>
              </a:ext>
            </a:extLst>
          </p:cNvPr>
          <p:cNvSpPr/>
          <p:nvPr/>
        </p:nvSpPr>
        <p:spPr>
          <a:xfrm>
            <a:off x="1981200" y="6556433"/>
            <a:ext cx="624067" cy="36330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9927C7-1BA9-9CE3-D7F7-AE2AB63DB306}"/>
              </a:ext>
            </a:extLst>
          </p:cNvPr>
          <p:cNvSpPr txBox="1"/>
          <p:nvPr/>
        </p:nvSpPr>
        <p:spPr>
          <a:xfrm>
            <a:off x="784074" y="4304353"/>
            <a:ext cx="3237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FF0000"/>
                </a:solidFill>
                <a:latin typeface="Aptos Display" panose="020B0004020202020204" pitchFamily="34" charset="0"/>
              </a:rPr>
              <a:t>Paste code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09" y="423660"/>
            <a:ext cx="10368800" cy="646331"/>
          </a:xfr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Common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130" y="1486111"/>
            <a:ext cx="3771900" cy="47625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030" y="1486111"/>
            <a:ext cx="3771900" cy="1571625"/>
          </a:xfrm>
          <a:prstGeom prst="rect">
            <a:avLst/>
          </a:prstGeom>
        </p:spPr>
      </p:pic>
      <p:pic>
        <p:nvPicPr>
          <p:cNvPr id="3" name="图片 18">
            <a:extLst>
              <a:ext uri="{FF2B5EF4-FFF2-40B4-BE49-F238E27FC236}">
                <a16:creationId xmlns:a16="http://schemas.microsoft.com/office/drawing/2014/main" id="{2C376B32-212C-DD77-53E8-60C4DC337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30" y="1486111"/>
            <a:ext cx="4000500" cy="476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60E5D6-3CB7-9EF8-3EBE-04F559AA9022}"/>
              </a:ext>
            </a:extLst>
          </p:cNvPr>
          <p:cNvSpPr txBox="1"/>
          <p:nvPr/>
        </p:nvSpPr>
        <p:spPr>
          <a:xfrm>
            <a:off x="2542460" y="2628900"/>
            <a:ext cx="186567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Use correct punctuation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83037-B709-5ED0-439C-CB557BE48466}"/>
              </a:ext>
            </a:extLst>
          </p:cNvPr>
          <p:cNvSpPr txBox="1"/>
          <p:nvPr/>
        </p:nvSpPr>
        <p:spPr>
          <a:xfrm>
            <a:off x="2542460" y="4092878"/>
            <a:ext cx="172474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Incorrect punctuation have different colour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02337-BB9B-49F5-DC10-15BDD5970389}"/>
              </a:ext>
            </a:extLst>
          </p:cNvPr>
          <p:cNvSpPr txBox="1"/>
          <p:nvPr/>
        </p:nvSpPr>
        <p:spPr>
          <a:xfrm>
            <a:off x="2542460" y="5725391"/>
            <a:ext cx="172474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Punctuation between quotation marks.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8FD62-4F15-D766-A5A6-4DC9951693A2}"/>
              </a:ext>
            </a:extLst>
          </p:cNvPr>
          <p:cNvSpPr txBox="1"/>
          <p:nvPr/>
        </p:nvSpPr>
        <p:spPr>
          <a:xfrm>
            <a:off x="7369690" y="1723303"/>
            <a:ext cx="810340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Missed .h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6E4F6-EF09-37B5-51B9-49EE5BF82CBB}"/>
              </a:ext>
            </a:extLst>
          </p:cNvPr>
          <p:cNvSpPr txBox="1"/>
          <p:nvPr/>
        </p:nvSpPr>
        <p:spPr>
          <a:xfrm>
            <a:off x="7369690" y="5012613"/>
            <a:ext cx="810340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Missed </a:t>
            </a:r>
            <a:r>
              <a:rPr lang="en-US" altLang="zh-CN" sz="1400" dirty="0">
                <a:solidFill>
                  <a:srgbClr val="FF0000"/>
                </a:solidFill>
              </a:rPr>
              <a:t>;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96E3D-4D7E-5E7C-D73B-0D0BB7C8B4CC}"/>
              </a:ext>
            </a:extLst>
          </p:cNvPr>
          <p:cNvSpPr txBox="1"/>
          <p:nvPr/>
        </p:nvSpPr>
        <p:spPr>
          <a:xfrm>
            <a:off x="8715890" y="2749960"/>
            <a:ext cx="1901310" cy="308867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Missed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right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curly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bracket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332889" y="1360377"/>
            <a:ext cx="2996928" cy="35086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altLang="en-US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Integer operations</a:t>
            </a:r>
            <a:endParaRPr lang="en-US" altLang="zh-CN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(addition),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(subtraction), *(multiplication),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/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(division), </a:t>
            </a:r>
            <a:b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%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(modulo operation)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quotient obtained by division is an integer with no decimal part (instead of rounding, the decimal part is discarded)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5715931" y="1360377"/>
            <a:ext cx="2834853" cy="306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en-US" sz="18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Operations of real numbers:</a:t>
            </a:r>
            <a:endParaRPr lang="en-US" altLang="zh-CN" sz="18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(addition),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(subtraction), * (multiplication),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/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(division)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 modulo operation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quotient obtained by division includes the decimal part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1721287" y="4398158"/>
            <a:ext cx="5066424" cy="1930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Multiplication and division are written differently compared to mathematical operators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 multiplication operator cannot be omitted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Just write the expression directly to get the answer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 order of operations: From left to right, multiplication, division and modulo first, then addition and subtraction. Parentheses take precedence over all others.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Operators and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xpressions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91549"/>
              </p:ext>
            </p:extLst>
          </p:nvPr>
        </p:nvGraphicFramePr>
        <p:xfrm>
          <a:off x="3052838" y="1710772"/>
          <a:ext cx="262345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altLang="en-US" sz="1400" b="0" i="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Console output</a:t>
                      </a:r>
                      <a:endParaRPr lang="en" altLang="en-US" sz="1400" b="0" i="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&lt;&lt;6+7;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&lt;&lt;15-3;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&lt;&lt;10/3;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&lt;&lt;11/3;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&lt;&lt;11%3;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3951"/>
              </p:ext>
            </p:extLst>
          </p:nvPr>
        </p:nvGraphicFramePr>
        <p:xfrm>
          <a:off x="8590422" y="1710772"/>
          <a:ext cx="32983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onsole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6.5+7.6;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14.1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15.7-3.3*2.5;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7.45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11.45/3.2;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3.578125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11.45%3.2;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72121"/>
              </p:ext>
            </p:extLst>
          </p:nvPr>
        </p:nvGraphicFramePr>
        <p:xfrm>
          <a:off x="6787711" y="4398158"/>
          <a:ext cx="368300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altLang="en-US" sz="1400" b="0" i="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</a:t>
                      </a:r>
                      <a:r>
                        <a:rPr lang="en" altLang="en-US" sz="1400" b="0" i="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onsole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&lt;&lt;6+7+8%3-8/3;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&lt;&lt;15-3*2;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&lt;&lt;(15-3)*2;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24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" altLang="zh-CN" sz="14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 </a:t>
                      </a:r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&lt;&lt;(5-2)*(5+2)/4;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532696" y="1276842"/>
            <a:ext cx="4623504" cy="241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of a trapezoid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 edge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3 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Bottom edge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5 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eight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4 &lt;&lt; endl;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(3+5)*4/2 &lt;&lt; endl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21424" y="1194817"/>
            <a:ext cx="1915438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2" name="内容占位符 2"/>
          <p:cNvSpPr txBox="1"/>
          <p:nvPr/>
        </p:nvSpPr>
        <p:spPr>
          <a:xfrm>
            <a:off x="532694" y="3956430"/>
            <a:ext cx="4288730" cy="260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of a circle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 radius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&lt;&lt;1.5&lt;&lt; endl;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 area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&lt;&lt;fixed&lt;&lt; setprecision (4)&lt;&lt;1.5*1.5*3.1415927&lt;&lt; endl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3746" y="3893322"/>
            <a:ext cx="2045977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7360595" y="1276842"/>
            <a:ext cx="2956040" cy="2412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 character triangle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*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**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***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****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endl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76563" y="1194817"/>
            <a:ext cx="1915438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B9F14-060F-A43A-14C1-2BE39178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325" y="1652314"/>
            <a:ext cx="2260600" cy="104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A401F8-AF34-7214-5D48-1FAE3EFE8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325" y="4331902"/>
            <a:ext cx="18161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F1AFE9-4E23-DBFF-8F17-060F52526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120" y="1804714"/>
            <a:ext cx="965200" cy="88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2" grpId="0"/>
      <p:bldP spid="13" grpId="0"/>
      <p:bldP spid="11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Output: 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609" y="1442078"/>
            <a:ext cx="10380160" cy="3103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is used to output content to the </a:t>
            </a:r>
            <a:r>
              <a:rPr lang="en-AU" altLang="en-US" sz="2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endParaRPr lang="en-US" altLang="zh-CN" sz="2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at the beginning of a line, followed by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then followed by the content to be output.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content enclosed in double quotes will be output to the </a:t>
            </a: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as-is.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00B05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outputs a newline to the </a:t>
            </a:r>
            <a:r>
              <a:rPr lang="en-AU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computer will not automatically wrap the line. You must write the output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the program to make it wrap.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there are multiple contents to output, use multiple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connect them.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How many decimal places should be kept (rounded):</a:t>
            </a:r>
          </a:p>
          <a:p>
            <a:pPr marL="273050" lvl="1">
              <a:lnSpc>
                <a:spcPct val="150000"/>
              </a:lnSpc>
            </a:pP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&lt;&lt;fixed&lt;&lt; </a:t>
            </a:r>
            <a:r>
              <a:rPr lang="en" altLang="zh-CN" sz="1600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setprecision </a:t>
            </a:r>
            <a:r>
              <a:rPr lang="en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en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&lt;&lt;3.1415926;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532695" y="1276842"/>
            <a:ext cx="5649273" cy="3568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of the trapezoid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 edge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a 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ottom edge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b 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eight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c 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“A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”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c/2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Input: 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21424" y="1194817"/>
            <a:ext cx="2118638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532695" y="4654563"/>
            <a:ext cx="3478090" cy="2799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420197" y="1194817"/>
            <a:ext cx="2118638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6" name="内容占位符 2"/>
          <p:cNvSpPr txBox="1"/>
          <p:nvPr/>
        </p:nvSpPr>
        <p:spPr>
          <a:xfrm>
            <a:off x="7057519" y="1293654"/>
            <a:ext cx="4499481" cy="3110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character triangle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    char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 c;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c&lt;&lt; c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 &lt;&lt; c &lt;&lt; c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 &lt;&lt; c &lt;&lt; c &lt;&lt; c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754B86-570D-6F44-610F-937EE1333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162" y="1616920"/>
            <a:ext cx="1993900" cy="123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A6E315-95F3-C852-E078-BA78D1212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5610" y="1616920"/>
            <a:ext cx="1143000" cy="1193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Input: </a:t>
            </a:r>
            <a:r>
              <a:rPr lang="en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tatement</a:t>
            </a:r>
            <a:endParaRPr lang="zh-CN" altLang="en-US" sz="4000" dirty="0">
              <a:solidFill>
                <a:schemeClr val="bg1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609" y="1225765"/>
            <a:ext cx="5145248" cy="421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is used to read data from the </a:t>
            </a:r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assign it to variables</a:t>
            </a:r>
            <a:endParaRPr lang="en-US" altLang="zh-CN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at the beginning of a line, followed by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then followed by the variable to be assigned.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read multiple values, use multiple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connect different variables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Key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or ENTER in the </a:t>
            </a: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separate multiple values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number of variables after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less than the number of values entered in the </a:t>
            </a: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takes the first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several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values and ignores the rest.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857" y="4720318"/>
            <a:ext cx="3400425" cy="2238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43" y="1310368"/>
            <a:ext cx="4276725" cy="3409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C34BFD-A298-5A74-211B-3825805E8C5B}"/>
              </a:ext>
            </a:extLst>
          </p:cNvPr>
          <p:cNvSpPr txBox="1"/>
          <p:nvPr/>
        </p:nvSpPr>
        <p:spPr>
          <a:xfrm>
            <a:off x="7213601" y="3340100"/>
            <a:ext cx="2667000" cy="1278363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100" dirty="0" err="1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cin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start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of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line,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followed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by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 err="1">
                <a:solidFill>
                  <a:srgbClr val="FF0000"/>
                </a:solidFill>
                <a:latin typeface="Aptos Display" panose="020B0004020202020204" pitchFamily="34" charset="0"/>
              </a:rPr>
              <a:t>mulitple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variables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if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necessary,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separated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by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&gt;&gt;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;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when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 err="1">
                <a:solidFill>
                  <a:srgbClr val="FF0000"/>
                </a:solidFill>
                <a:latin typeface="Aptos Display" panose="020B0004020202020204" pitchFamily="34" charset="0"/>
              </a:rPr>
              <a:t>inputing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console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window,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use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spaces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to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separate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3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numbers.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program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starts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to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get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the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numbers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after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ENTER.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First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number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3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is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put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a,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second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number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4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b,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third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number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5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in</a:t>
            </a:r>
            <a:r>
              <a:rPr lang="zh-CN" altLang="en-US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Aptos Display" panose="020B0004020202020204" pitchFamily="34" charset="0"/>
              </a:rPr>
              <a:t>c.</a:t>
            </a:r>
            <a:endParaRPr lang="en-AU" sz="11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51C8C-B5C4-8545-9626-E6D4993B35AC}"/>
              </a:ext>
            </a:extLst>
          </p:cNvPr>
          <p:cNvSpPr txBox="1"/>
          <p:nvPr/>
        </p:nvSpPr>
        <p:spPr>
          <a:xfrm>
            <a:off x="6515101" y="6265650"/>
            <a:ext cx="1358900" cy="647421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gets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3,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gets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4,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remaining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5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6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are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discarded</a:t>
            </a:r>
            <a:endParaRPr lang="en-AU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ommon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Mistakes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532695" y="4654563"/>
            <a:ext cx="3478090" cy="2799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1333500"/>
            <a:ext cx="7810500" cy="4191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9093266" y="2096623"/>
            <a:ext cx="2220002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Correct: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cin&gt;&gt;a&gt;&gt;b&gt;&gt;c;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57737" y="1207935"/>
            <a:ext cx="618976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A variable is equivalent to a room where data is placed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Put one data in one room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 must be defined before it can be used (unregistered rooms cannot be checked in)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The data type must be specified when defining a variable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You need to specify the room type, which determines how much data can be placed in the room.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Variable names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Call a specific room by room number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Composed of letters, numbers, and underscores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Cannot start</a:t>
            </a:r>
            <a:r>
              <a:rPr lang="zh-C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numeral</a:t>
            </a: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</a:t>
            </a:r>
            <a:r>
              <a:rPr lang="en" altLang="en-US" sz="12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ase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sensitive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Cannot be a keyword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AU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ultiple variables can be defined together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</a:rPr>
              <a:t>, separated by commas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ssignment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statements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left side of the equal sign is the variable name, and the right side is the expression.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First evaluate the expression on the right, resulting in a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value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then place the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value</a:t>
            </a: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into the room represented by the variable on the left</a:t>
            </a:r>
            <a:endParaRPr lang="en-US" altLang="zh-CN" sz="12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Can be assigned </a:t>
            </a:r>
            <a:r>
              <a:rPr lang="en-US" altLang="zh-CN" sz="12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consecutively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en" altLang="zh-CN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ccessing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variable name in the expression represents the value of the variable</a:t>
            </a:r>
            <a:endParaRPr lang="en-US" altLang="zh-CN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Expression with variable name: Read the current value of the variable and perform calculations</a:t>
            </a:r>
            <a:endParaRPr lang="en-US" altLang="zh-CN" sz="12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V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ariables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22570" y="1228202"/>
            <a:ext cx="5329343" cy="25753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Defini</a:t>
            </a:r>
            <a:r>
              <a:rPr lang="en-US" altLang="zh-CN" sz="1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tion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and assign</a:t>
            </a:r>
            <a:r>
              <a:rPr lang="en-US" altLang="zh-CN" sz="1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ment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assignment on definition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multiple assignments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a+b+c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*d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using cu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rrent values of a,b,c 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622570" y="3931758"/>
            <a:ext cx="5168630" cy="2575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en-US" sz="1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Defini</a:t>
            </a:r>
            <a:r>
              <a:rPr lang="en-US" altLang="zh-CN" sz="1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tion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assignment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int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'*',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'&amp;'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using cu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rrent values of a,b,c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en-US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8" y="1486111"/>
            <a:ext cx="9494091" cy="426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nteger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type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bytes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 2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around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-2.1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billion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 2.1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billion,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-2×10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~2×10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Character type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byte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Data range: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character enclosed in single quotes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character in the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 table is represented by a number, which is the ASCII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code (internal code)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Data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ype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: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endParaRPr lang="zh-CN" altLang="en-US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文字&#10;&#10;自动生成的说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81" y="1232491"/>
            <a:ext cx="7909849" cy="5398610"/>
          </a:xfrm>
          <a:prstGeom prst="rect">
            <a:avLst/>
          </a:prstGeom>
        </p:spPr>
      </p:pic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ASCII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ode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09" y="421865"/>
            <a:ext cx="10368800" cy="649922"/>
          </a:xfr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Common mistakes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38" y="1286256"/>
            <a:ext cx="4229100" cy="2105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8" y="3622246"/>
            <a:ext cx="4038600" cy="2095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48" y="1286256"/>
            <a:ext cx="5476875" cy="2867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848" y="4389008"/>
            <a:ext cx="3514725" cy="2085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BFA48-867E-AEFE-C0C3-2E48C5452B0D}"/>
              </a:ext>
            </a:extLst>
          </p:cNvPr>
          <p:cNvSpPr txBox="1"/>
          <p:nvPr/>
        </p:nvSpPr>
        <p:spPr>
          <a:xfrm>
            <a:off x="2523431" y="1951557"/>
            <a:ext cx="2499112" cy="647421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Use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commas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separate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multiple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variables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when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defining.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needed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when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there’s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only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one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variable.</a:t>
            </a:r>
            <a:endParaRPr lang="en-AU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E06D3-5CA7-E398-5C83-F8DE9E2F919B}"/>
              </a:ext>
            </a:extLst>
          </p:cNvPr>
          <p:cNvSpPr txBox="1"/>
          <p:nvPr/>
        </p:nvSpPr>
        <p:spPr>
          <a:xfrm>
            <a:off x="2523431" y="4438618"/>
            <a:ext cx="2499112" cy="462755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Want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output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times?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Use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;</a:t>
            </a:r>
            <a:endParaRPr lang="en-AU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4585C-D05E-F916-2527-E7FD35620107}"/>
              </a:ext>
            </a:extLst>
          </p:cNvPr>
          <p:cNvSpPr txBox="1"/>
          <p:nvPr/>
        </p:nvSpPr>
        <p:spPr>
          <a:xfrm>
            <a:off x="8047930" y="2249867"/>
            <a:ext cx="3115369" cy="278089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It’s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necessary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to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output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spaces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end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lines.</a:t>
            </a:r>
            <a:endParaRPr lang="en-AU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10EFC-7336-9AFE-C55C-2A34DD37D356}"/>
              </a:ext>
            </a:extLst>
          </p:cNvPr>
          <p:cNvSpPr txBox="1"/>
          <p:nvPr/>
        </p:nvSpPr>
        <p:spPr>
          <a:xfrm>
            <a:off x="7787354" y="5153906"/>
            <a:ext cx="3115369" cy="462755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46800" rIns="36000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Should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,</a:t>
            </a:r>
          </a:p>
          <a:p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not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end1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.</a:t>
            </a:r>
            <a:endParaRPr lang="en-AU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Gao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’s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Algorithm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1785</Words>
  <Application>Microsoft Macintosh PowerPoint</Application>
  <PresentationFormat>Widescreen</PresentationFormat>
  <Paragraphs>243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等线</vt:lpstr>
      <vt:lpstr>宋体</vt:lpstr>
      <vt:lpstr>华文楷体</vt:lpstr>
      <vt:lpstr>Aptos Display</vt:lpstr>
      <vt:lpstr>Arial</vt:lpstr>
      <vt:lpstr>Consolas</vt:lpstr>
      <vt:lpstr>Tw Cen MT</vt:lpstr>
      <vt:lpstr>电路</vt:lpstr>
      <vt:lpstr>First Encounter with C++</vt:lpstr>
      <vt:lpstr>PowerPoint Presentation</vt:lpstr>
      <vt:lpstr>PowerPoint Presentation</vt:lpstr>
      <vt:lpstr>PowerPoint Presentation</vt:lpstr>
      <vt:lpstr>PowerPoint Presentation</vt:lpstr>
      <vt:lpstr>Common Mistakes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mistakes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385</cp:revision>
  <dcterms:created xsi:type="dcterms:W3CDTF">2018-08-09T00:16:00Z</dcterms:created>
  <dcterms:modified xsi:type="dcterms:W3CDTF">2026-08-02T07:16:44Z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D1F5DB4B0FD34000B15BD761914F0D09</vt:lpwstr>
  </property>
  <property fmtid="{D5CDD505-2E9C-101B-9397-08002B2CF9AE}" pid="3" name="KSOProductBuildVer">
    <vt:lpwstr>2052-11.1.0.10578</vt:lpwstr>
  </property>
</Properties>
</file>