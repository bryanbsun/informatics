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341" r:id="rId3"/>
    <p:sldId id="348" r:id="rId4"/>
    <p:sldId id="344" r:id="rId5"/>
    <p:sldId id="351" r:id="rId6"/>
    <p:sldId id="346" r:id="rId7"/>
    <p:sldId id="347" r:id="rId8"/>
    <p:sldId id="355" r:id="rId9"/>
    <p:sldId id="350" r:id="rId10"/>
    <p:sldId id="349" r:id="rId11"/>
    <p:sldId id="352" r:id="rId12"/>
    <p:sldId id="353" r:id="rId13"/>
    <p:sldId id="354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86" autoAdjust="0"/>
    <p:restoredTop sz="82315" autoAdjust="0"/>
  </p:normalViewPr>
  <p:slideViewPr>
    <p:cSldViewPr snapToGrid="0">
      <p:cViewPr varScale="1">
        <p:scale>
          <a:sx n="152" d="100"/>
          <a:sy n="152" d="100"/>
        </p:scale>
        <p:origin x="33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77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930032" y="6191731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Mr. Gao's Coding Camp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178824" y="5640321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NOIP </a:t>
            </a:r>
            <a:r>
              <a:rPr lang="zh-CN" altLang="en-US" dirty="0">
                <a:latin typeface="+mj-ea"/>
              </a:rPr>
              <a:t>Beginner </a:t>
            </a:r>
            <a:r>
              <a:rPr lang="en-US" altLang="zh-CN" dirty="0">
                <a:latin typeface="+mj-ea"/>
              </a:rPr>
              <a:t>—</a:t>
            </a:r>
            <a:r>
              <a:rPr lang="zh-CN" altLang="en-US" dirty="0">
                <a:latin typeface="+mj-ea"/>
              </a:rPr>
              <a:t> Character Arrays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Mr. Gao's Coding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3E163A8-6C60-4F40-9122-D9FD0004ED3D}"/>
              </a:ext>
            </a:extLst>
          </p:cNvPr>
          <p:cNvSpPr txBox="1"/>
          <p:nvPr/>
        </p:nvSpPr>
        <p:spPr>
          <a:xfrm>
            <a:off x="678610" y="1377254"/>
            <a:ext cx="4666276" cy="1235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type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/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one byte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/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-128~127</a:t>
            </a: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-2</a:t>
            </a:r>
            <a:r>
              <a:rPr lang="en-US" altLang="zh-CN" sz="1600" baseline="300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~2</a:t>
            </a:r>
            <a:r>
              <a:rPr lang="en-US" altLang="zh-CN" sz="1600" baseline="300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342C7C-A45D-49B1-BABD-5D3D798D0D4C}"/>
              </a:ext>
            </a:extLst>
          </p:cNvPr>
          <p:cNvSpPr txBox="1"/>
          <p:nvPr/>
        </p:nvSpPr>
        <p:spPr>
          <a:xfrm>
            <a:off x="6096000" y="5879595"/>
            <a:ext cx="5217268" cy="954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Converting a digit character to a number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0363"/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c-'0';</a:t>
            </a:r>
          </a:p>
        </p:txBody>
      </p:sp>
      <p:sp>
        <p:nvSpPr>
          <p:cNvPr id="10" name="文本框 23">
            <a:extLst>
              <a:ext uri="{FF2B5EF4-FFF2-40B4-BE49-F238E27FC236}">
                <a16:creationId xmlns:a16="http://schemas.microsoft.com/office/drawing/2014/main" id="{1A42C120-029D-4105-8BA4-AEF2BDF47F48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What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we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learned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</a:t>
            </a:r>
            <a:endParaRPr lang="en-US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E5DB3E-200D-4452-A56F-EEEBF882E061}"/>
              </a:ext>
            </a:extLst>
          </p:cNvPr>
          <p:cNvSpPr/>
          <p:nvPr/>
        </p:nvSpPr>
        <p:spPr>
          <a:xfrm>
            <a:off x="678609" y="2612571"/>
            <a:ext cx="4666277" cy="2072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Stored in memory as its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code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calculations with other types, its code value is used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narrower than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with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it is promoted to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endParaRPr lang="zh-C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E31F7-5E75-450B-86AA-CC0D196B8A49}"/>
              </a:ext>
            </a:extLst>
          </p:cNvPr>
          <p:cNvSpPr/>
          <p:nvPr/>
        </p:nvSpPr>
        <p:spPr>
          <a:xfrm>
            <a:off x="678609" y="4715288"/>
            <a:ext cx="4666277" cy="1841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</a:t>
            </a:r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the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table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 need to memorise the codes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0~9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A~Z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a~z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are each consecutive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&lt;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&lt;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Z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&lt;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z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uppercase &lt; lowercase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code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written as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endParaRPr lang="zh-C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7463BE-CD9D-4363-9B50-695CEC0A3C11}"/>
              </a:ext>
            </a:extLst>
          </p:cNvPr>
          <p:cNvSpPr/>
          <p:nvPr/>
        </p:nvSpPr>
        <p:spPr>
          <a:xfrm>
            <a:off x="6096000" y="2977454"/>
            <a:ext cx="5532784" cy="827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Check whether it is a digit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0363" lvl="1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if(‘0'&lt;=c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c&lt;='9')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A55595-A356-4845-9DB1-DCB65684709C}"/>
              </a:ext>
            </a:extLst>
          </p:cNvPr>
          <p:cNvSpPr/>
          <p:nvPr/>
        </p:nvSpPr>
        <p:spPr>
          <a:xfrm>
            <a:off x="6096000" y="3804796"/>
            <a:ext cx="5532784" cy="827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Check for a letter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/</a:t>
            </a:r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 upper (lower) case letter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0363" lvl="1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if('A'&lt;=c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c&lt;='Z'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||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'a'&lt;=c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c&lt;='z')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A1DEFC-1DC7-4F81-8E31-2E7102EFB7FD}"/>
              </a:ext>
            </a:extLst>
          </p:cNvPr>
          <p:cNvSpPr/>
          <p:nvPr/>
        </p:nvSpPr>
        <p:spPr>
          <a:xfrm>
            <a:off x="6096000" y="4632138"/>
            <a:ext cx="5532784" cy="1247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Converting between cases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0363" lvl="1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Lowercase to uppercase: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c-'a'+'A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';</a:t>
            </a:r>
          </a:p>
          <a:p>
            <a:pPr marL="360363" lvl="1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Uppercase to lowercase: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c-'A'+'a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';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9218548-DF4F-45C5-90D9-00C5CFC8F3A8}"/>
              </a:ext>
            </a:extLst>
          </p:cNvPr>
          <p:cNvSpPr txBox="1"/>
          <p:nvPr/>
        </p:nvSpPr>
        <p:spPr>
          <a:xfrm>
            <a:off x="6096000" y="1453711"/>
            <a:ext cx="5532784" cy="15237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Only the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type is printed as a character according to the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table; all other types print the number directly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0363"/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(char)97; // </a:t>
            </a:r>
            <a:r>
              <a:rPr lang="en-US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prints the letter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</a:p>
          <a:p>
            <a:pPr marL="360363"/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(int)'a'; // </a:t>
            </a:r>
            <a:r>
              <a:rPr lang="en-US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prints the number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97</a:t>
            </a:r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2" grpId="0"/>
      <p:bldP spid="13" grpId="0"/>
      <p:bldP spid="14" grpId="0"/>
      <p:bldP spid="15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ASCII code table">
            <a:extLst>
              <a:ext uri="{FF2B5EF4-FFF2-40B4-BE49-F238E27FC236}">
                <a16:creationId xmlns:a16="http://schemas.microsoft.com/office/drawing/2014/main" id="{AB5EE649-ACF1-4051-9C75-A1ACBBA9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81" y="1232491"/>
            <a:ext cx="7909849" cy="5398610"/>
          </a:xfrm>
          <a:prstGeom prst="rect">
            <a:avLst/>
          </a:prstGeom>
        </p:spPr>
      </p:pic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347663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D92AC97-741F-49AC-9CD2-4E42A588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09" y="2392197"/>
            <a:ext cx="5187167" cy="3431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Defining a character array: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</a:t>
            </a:r>
            <a:r>
              <a:rPr lang="en-US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arrayName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-US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numElements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];</a:t>
            </a:r>
          </a:p>
          <a:p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number of elements must be a constant or constant expression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Storage cells are contiguous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Immediately after all stored characters, store the terminating character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</a:p>
          <a:p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the character whose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code is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38ACB403-7191-4104-A6A9-5EF6BA73694A}"/>
              </a:ext>
            </a:extLst>
          </p:cNvPr>
          <p:cNvSpPr txBox="1">
            <a:spLocks/>
          </p:cNvSpPr>
          <p:nvPr/>
        </p:nvSpPr>
        <p:spPr>
          <a:xfrm>
            <a:off x="6326220" y="2413651"/>
            <a:ext cx="4925941" cy="2461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Accessing elements: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arrayName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-US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index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</a:p>
          <a:p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index can be a constant, variable, or expression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Indices start at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index must not go out of bounds</a:t>
            </a:r>
          </a:p>
        </p:txBody>
      </p:sp>
      <p:sp>
        <p:nvSpPr>
          <p:cNvPr id="7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Character Arrays</a:t>
            </a:r>
          </a:p>
        </p:txBody>
      </p:sp>
      <p:sp>
        <p:nvSpPr>
          <p:cNvPr id="8" name="内容占位符 4">
            <a:extLst>
              <a:ext uri="{FF2B5EF4-FFF2-40B4-BE49-F238E27FC236}">
                <a16:creationId xmlns:a16="http://schemas.microsoft.com/office/drawing/2014/main" id="{BD92AC97-741F-49AC-9CD2-4E42A588FC3C}"/>
              </a:ext>
            </a:extLst>
          </p:cNvPr>
          <p:cNvSpPr txBox="1">
            <a:spLocks/>
          </p:cNvSpPr>
          <p:nvPr/>
        </p:nvSpPr>
        <p:spPr>
          <a:xfrm>
            <a:off x="678609" y="1348700"/>
            <a:ext cx="5187167" cy="762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piece of text enclosed in double quotes is called a </a:t>
            </a:r>
            <a:r>
              <a:rPr lang="en-US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string</a:t>
            </a:r>
            <a:r>
              <a:rPr lang="en-US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Strings are stored as character arrays.</a:t>
            </a:r>
          </a:p>
        </p:txBody>
      </p:sp>
    </p:spTree>
    <p:extLst>
      <p:ext uri="{BB962C8B-B14F-4D97-AF65-F5344CB8AC3E}">
        <p14:creationId xmlns:p14="http://schemas.microsoft.com/office/powerpoint/2010/main" val="69150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F056CE5-B378-480D-824E-722420460336}"/>
              </a:ext>
            </a:extLst>
          </p:cNvPr>
          <p:cNvSpPr/>
          <p:nvPr/>
        </p:nvSpPr>
        <p:spPr>
          <a:xfrm>
            <a:off x="678609" y="5401504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b[6]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F67FCB5-D801-4D90-A01C-3F1533C6E2F5}"/>
              </a:ext>
            </a:extLst>
          </p:cNvPr>
          <p:cNvSpPr/>
          <p:nvPr/>
        </p:nvSpPr>
        <p:spPr>
          <a:xfrm>
            <a:off x="3439563" y="5420414"/>
            <a:ext cx="35000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 room left for </a:t>
            </a:r>
            <a:r>
              <a:rPr lang="en-US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so it fails to compile</a:t>
            </a:r>
          </a:p>
        </p:txBody>
      </p:sp>
      <p:sp>
        <p:nvSpPr>
          <p:cNvPr id="7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Initialisation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7F0FC1-BD02-4DBF-A1A6-78447825ECFC}"/>
              </a:ext>
            </a:extLst>
          </p:cNvPr>
          <p:cNvSpPr/>
          <p:nvPr/>
        </p:nvSpPr>
        <p:spPr>
          <a:xfrm>
            <a:off x="678609" y="2231965"/>
            <a:ext cx="48295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a[6]={'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a','b','c','d','e','f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'};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0A1AF64-0373-4D9F-974D-DB02AA8D2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71" y="1898807"/>
            <a:ext cx="3286584" cy="771633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D3A29ADC-46D6-4680-8347-1EB255AD8B16}"/>
              </a:ext>
            </a:extLst>
          </p:cNvPr>
          <p:cNvSpPr/>
          <p:nvPr/>
        </p:nvSpPr>
        <p:spPr>
          <a:xfrm>
            <a:off x="678609" y="1548444"/>
            <a:ext cx="5636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Brace initialisation (as with 1D arrays; the rest is set to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):</a:t>
            </a:r>
            <a:endParaRPr lang="zh-CN" altLang="en-US" dirty="0">
              <a:latin typeface="Aptos Display" panose="020B00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8E4A53-81E2-4ED3-9E4F-8D5E53ED0142}"/>
              </a:ext>
            </a:extLst>
          </p:cNvPr>
          <p:cNvSpPr/>
          <p:nvPr/>
        </p:nvSpPr>
        <p:spPr>
          <a:xfrm>
            <a:off x="678609" y="3003068"/>
            <a:ext cx="48295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b[10]={'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a','b','c','d','e','f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'};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5E5745-07B7-435D-9FEF-633CC76265C7}"/>
              </a:ext>
            </a:extLst>
          </p:cNvPr>
          <p:cNvSpPr/>
          <p:nvPr/>
        </p:nvSpPr>
        <p:spPr>
          <a:xfrm>
            <a:off x="678608" y="3986347"/>
            <a:ext cx="76163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String initialisation (a quoted string ends with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taking one extra slot):</a:t>
            </a:r>
            <a:endParaRPr lang="zh-CN" altLang="en-US" dirty="0">
              <a:latin typeface="Aptos Display" panose="020B00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FF21816-F3E1-4EE2-9522-A3543F8C0000}"/>
              </a:ext>
            </a:extLst>
          </p:cNvPr>
          <p:cNvSpPr/>
          <p:nvPr/>
        </p:nvSpPr>
        <p:spPr>
          <a:xfrm>
            <a:off x="678608" y="4707728"/>
            <a:ext cx="2970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a[10]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CC48748-113C-401A-A994-F7DE840E8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71" y="2670440"/>
            <a:ext cx="5306165" cy="771633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0B18784-AD8D-4807-A1DD-C19631B17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019" y="4396121"/>
            <a:ext cx="5306165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0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2" grpId="0"/>
      <p:bldP spid="9" grpId="0"/>
      <p:bldP spid="19" grpId="0"/>
      <p:bldP spid="20" grpId="0"/>
      <p:bldP spid="23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D92AC97-741F-49AC-9CD2-4E42A588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5" y="1340191"/>
            <a:ext cx="6433459" cy="1430102"/>
          </a:xfrm>
        </p:spPr>
        <p:txBody>
          <a:bodyPr>
            <a:normAutofit lnSpcReduction="10000"/>
          </a:bodyPr>
          <a:lstStyle/>
          <a:p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Method 1: 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&gt;&gt;s;</a:t>
            </a:r>
          </a:p>
          <a:p>
            <a:pPr lvl="1"/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Stops at whitespace </a:t>
            </a:r>
            <a:r>
              <a:rPr lang="en-US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 '</a:t>
            </a:r>
            <a:r>
              <a:rPr lang="en-US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'\t'</a:t>
            </a:r>
            <a:r>
              <a:rPr lang="en-US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'\n'</a:t>
            </a:r>
            <a:r>
              <a:rPr lang="en-US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'\r'</a:t>
            </a:r>
            <a:r>
              <a:rPr lang="en-US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Used to read strings </a:t>
            </a:r>
            <a:r>
              <a:rPr lang="en-US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</a:t>
            </a:r>
            <a:r>
              <a:rPr lang="zh-C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containing</a:t>
            </a:r>
            <a:r>
              <a:rPr lang="en-US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whitespace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characters read do not include whitespace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Two Ways to Read a Char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acter</a:t>
            </a:r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Array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</a:t>
            </a:r>
            <a:endParaRPr lang="en-US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997A9F-D81B-4A8C-8985-1D23F95FF6F5}"/>
              </a:ext>
            </a:extLst>
          </p:cNvPr>
          <p:cNvSpPr/>
          <p:nvPr/>
        </p:nvSpPr>
        <p:spPr>
          <a:xfrm>
            <a:off x="7424057" y="1732076"/>
            <a:ext cx="37150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Both methods guarantee that right after the last character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read, the next position is set to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470636-9086-4FE7-8BE6-B69D9F9FC0F7}"/>
              </a:ext>
            </a:extLst>
          </p:cNvPr>
          <p:cNvSpPr/>
          <p:nvPr/>
        </p:nvSpPr>
        <p:spPr>
          <a:xfrm>
            <a:off x="7424057" y="2851188"/>
            <a:ext cx="3102131" cy="1953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en-US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Example: read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en-US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chars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</a:t>
            </a:r>
            <a:r>
              <a:rPr lang="en-US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(incl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en-US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whitespace)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s[110];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fgets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(s,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105,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stdin);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strtok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(s,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"\r\n");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37F05E-ECE3-4E89-8281-202B5852B69A}"/>
              </a:ext>
            </a:extLst>
          </p:cNvPr>
          <p:cNvSpPr/>
          <p:nvPr/>
        </p:nvSpPr>
        <p:spPr>
          <a:xfrm>
            <a:off x="566056" y="2851188"/>
            <a:ext cx="6433457" cy="3774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Method 2: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fgets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s,m,stdin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);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Used to read </a:t>
            </a:r>
            <a:r>
              <a:rPr lang="en-US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whole line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that may contain whitespace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char array,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-US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expected character count,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stdin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standard input</a:t>
            </a:r>
            <a:endParaRPr lang="en-US" altLang="zh-CN" sz="16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Reading stops in two cases:</a:t>
            </a:r>
            <a:endParaRPr lang="en-US" altLang="zh-CN" sz="16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990600" lvl="2" indent="-271463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input length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≥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m-1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reads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m-1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chars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(subscript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–</a:t>
            </a:r>
            <a:r>
              <a:rPr lang="zh-CN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m-2)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s[m-1]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</a:p>
          <a:p>
            <a:pPr marL="990600" lvl="2" indent="-271463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input length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&lt;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m-1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stops at newline (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'\n'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), reads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chars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indices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–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k-1)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s[k]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'\n'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s[k+1]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read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chars: array size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m+2 (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better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m+10)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2nd argument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m+1 (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better </a:t>
            </a:r>
            <a:r>
              <a:rPr lang="en-US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m+5)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strtok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(s,"\r\n");</a:t>
            </a:r>
            <a:r>
              <a:rPr lang="en-US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strip the </a:t>
            </a:r>
            <a:r>
              <a:rPr lang="en-US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\r\n</a:t>
            </a:r>
            <a:endParaRPr lang="en-US" altLang="zh-CN" sz="16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61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  <p:bldP spid="7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17" y="1563677"/>
            <a:ext cx="5319421" cy="11636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(s)</a:t>
            </a: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function: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Starting from index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it moves forward, stops at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returns the number of characters before the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Number of Characters (String Length)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F1E65045-C37B-44B5-9AC5-971CA4541C8B}"/>
              </a:ext>
            </a:extLst>
          </p:cNvPr>
          <p:cNvSpPr txBox="1">
            <a:spLocks/>
          </p:cNvSpPr>
          <p:nvPr/>
        </p:nvSpPr>
        <p:spPr>
          <a:xfrm>
            <a:off x="6202691" y="1568672"/>
            <a:ext cx="5319420" cy="1163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6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Note</a:t>
            </a:r>
            <a:endParaRPr lang="en-US" altLang="zh-CN" sz="1600" b="1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char array contains no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 value returned by 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(s)</a:t>
            </a: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unpredictable.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3B14AE-EB62-4ACD-A618-D22AEB194C1E}"/>
              </a:ext>
            </a:extLst>
          </p:cNvPr>
          <p:cNvSpPr/>
          <p:nvPr/>
        </p:nvSpPr>
        <p:spPr>
          <a:xfrm>
            <a:off x="6200329" y="2732316"/>
            <a:ext cx="5515282" cy="790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a[6]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{'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a','b','c','d','e','f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’};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(a);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7A0DB4F-51D9-41C7-9BED-82BE18F9F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064" y="3510143"/>
            <a:ext cx="3286584" cy="771633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EC103142-8358-4C51-B814-A7E7146B1B1F}"/>
              </a:ext>
            </a:extLst>
          </p:cNvPr>
          <p:cNvSpPr/>
          <p:nvPr/>
        </p:nvSpPr>
        <p:spPr>
          <a:xfrm>
            <a:off x="6196064" y="4300744"/>
            <a:ext cx="5117204" cy="790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b[10]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{'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a','b','c','d','e','f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’};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(b); // </a:t>
            </a:r>
            <a:r>
              <a:rPr lang="en-US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prints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F126281-0995-49FA-9E50-768253D10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691" y="5110313"/>
            <a:ext cx="5306165" cy="771633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69889" y="2801467"/>
            <a:ext cx="4553275" cy="79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b[10]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(b); // </a:t>
            </a:r>
            <a:r>
              <a:rPr lang="en-US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prints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E58B293-2057-4C65-8B4A-8C88BDB0A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89" y="3511032"/>
            <a:ext cx="5306165" cy="77163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742D666-2DDF-4F6E-96F8-7AE12A26B536}"/>
              </a:ext>
            </a:extLst>
          </p:cNvPr>
          <p:cNvSpPr/>
          <p:nvPr/>
        </p:nvSpPr>
        <p:spPr>
          <a:xfrm>
            <a:off x="8486109" y="3184362"/>
            <a:ext cx="25719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Unpredictable – wrong usage</a:t>
            </a:r>
            <a:endParaRPr lang="zh-CN" altLang="en-US" sz="1600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77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  <p:bldP spid="20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17" y="1364164"/>
            <a:ext cx="5544174" cy="7472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Method 1: use 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print it all at once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Prints from index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up to 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Printing Strings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8" y="1984054"/>
            <a:ext cx="5317330" cy="6160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s[110]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efgh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s; // </a:t>
            </a:r>
            <a:r>
              <a:rPr lang="en-US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efgh</a:t>
            </a:r>
            <a:endParaRPr lang="en-US" altLang="zh-CN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 txBox="1">
            <a:spLocks/>
          </p:cNvSpPr>
          <p:nvPr/>
        </p:nvSpPr>
        <p:spPr>
          <a:xfrm>
            <a:off x="678608" y="4463843"/>
            <a:ext cx="5544174" cy="573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While traversing, you can add any processing, e.g. a dot between every two characters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8" y="5037633"/>
            <a:ext cx="531733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s[110]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efgh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len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(s);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s[0];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(int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=1;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++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'. '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];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 txBox="1">
            <a:spLocks/>
          </p:cNvSpPr>
          <p:nvPr/>
        </p:nvSpPr>
        <p:spPr>
          <a:xfrm>
            <a:off x="678609" y="2766338"/>
            <a:ext cx="5544174" cy="373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Method 2: traverse the char array and print each character one by one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9" y="3254227"/>
            <a:ext cx="5317330" cy="117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s[110]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efgh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len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(s);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(int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=0;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++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70555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/>
      <p:bldP spid="10" grpId="0"/>
      <p:bldP spid="11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B05A0AF-2059-4AEF-9CA7-8E91B6F4BF9D}"/>
              </a:ext>
            </a:extLst>
          </p:cNvPr>
          <p:cNvSpPr txBox="1">
            <a:spLocks/>
          </p:cNvSpPr>
          <p:nvPr/>
        </p:nvSpPr>
        <p:spPr>
          <a:xfrm>
            <a:off x="6543681" y="1353373"/>
            <a:ext cx="5163410" cy="5107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s[1010];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s;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(s);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=0;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8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('a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&lt;=s[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&amp;&amp;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]&lt;='z')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]-'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a'+'A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';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8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('A'&lt;=s[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&amp;&amp;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]&lt;='Z')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]-'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A'+'a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';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s;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28C42E-69D7-4593-9497-2DE249299BB3}"/>
              </a:ext>
            </a:extLst>
          </p:cNvPr>
          <p:cNvSpPr/>
          <p:nvPr/>
        </p:nvSpPr>
        <p:spPr>
          <a:xfrm>
            <a:off x="678607" y="1353373"/>
            <a:ext cx="4155784" cy="1211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</a:t>
            </a:r>
            <a:endParaRPr lang="en-US" altLang="zh-CN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Read a string of up to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1000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letters/digits; swap the case of each letter, keep digits, print it.</a:t>
            </a:r>
            <a:endParaRPr lang="zh-CN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813334-C1F6-41CE-B9BB-63FF41C8D8C3}"/>
              </a:ext>
            </a:extLst>
          </p:cNvPr>
          <p:cNvSpPr/>
          <p:nvPr/>
        </p:nvSpPr>
        <p:spPr>
          <a:xfrm>
            <a:off x="678607" y="2925727"/>
            <a:ext cx="4361225" cy="3662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Analysis</a:t>
            </a:r>
            <a:endParaRPr lang="en-US" altLang="zh-CN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Length ≤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1000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allowing for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use size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1010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 whitespace, so read with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Count characters with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Valid characters: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subscript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len-1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 over each character: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Lowercase → uppercase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Uppercase → lowercase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Otherwise unchanged</a:t>
            </a:r>
            <a:endParaRPr lang="zh-CN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Swap Letter Case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7EBCF1-A5B3-473E-BE2A-C58C4A7556DE}"/>
              </a:ext>
            </a:extLst>
          </p:cNvPr>
          <p:cNvSpPr/>
          <p:nvPr/>
        </p:nvSpPr>
        <p:spPr>
          <a:xfrm>
            <a:off x="4976985" y="4486164"/>
            <a:ext cx="15666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What if you remove this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b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</a:br>
            <a:r>
              <a:rPr lang="en-US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? Why?</a:t>
            </a:r>
            <a:endParaRPr lang="en-US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1743388-85EC-4B59-9B87-424D11E85D05}"/>
              </a:ext>
            </a:extLst>
          </p:cNvPr>
          <p:cNvSpPr/>
          <p:nvPr/>
        </p:nvSpPr>
        <p:spPr>
          <a:xfrm rot="19685537">
            <a:off x="6558076" y="4406563"/>
            <a:ext cx="560832" cy="2147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32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Check for a Palindrome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B05A0AF-2059-4AEF-9CA7-8E91B6F4BF9D}"/>
              </a:ext>
            </a:extLst>
          </p:cNvPr>
          <p:cNvSpPr txBox="1">
            <a:spLocks/>
          </p:cNvSpPr>
          <p:nvPr/>
        </p:nvSpPr>
        <p:spPr>
          <a:xfrm>
            <a:off x="5651293" y="1322347"/>
            <a:ext cx="3255364" cy="4827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s[110];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s;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(s),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=0,j=len-1;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&lt;=j;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,--j)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(s[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!=s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[j])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break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j)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"YES";</a:t>
            </a:r>
          </a:p>
          <a:p>
            <a:pPr marL="0" indent="0"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"NO";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28C42E-69D7-4593-9497-2DE249299BB3}"/>
              </a:ext>
            </a:extLst>
          </p:cNvPr>
          <p:cNvSpPr/>
          <p:nvPr/>
        </p:nvSpPr>
        <p:spPr>
          <a:xfrm>
            <a:off x="678610" y="1322347"/>
            <a:ext cx="4972683" cy="1572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palindrome reads the same both ways. Read a string; print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if it is a palindrome, otherwise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 whitespace; length ≤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zh-CN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813334-C1F6-41CE-B9BB-63FF41C8D8C3}"/>
              </a:ext>
            </a:extLst>
          </p:cNvPr>
          <p:cNvSpPr/>
          <p:nvPr/>
        </p:nvSpPr>
        <p:spPr>
          <a:xfrm>
            <a:off x="678609" y="2894701"/>
            <a:ext cx="4972683" cy="3057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Analysis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Length ≤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allowing for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use size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110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 whitespace, so read with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Count characters with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Compare the 1st with the last, the 2nd with the 2nd-last, and so on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Two indices: one counts up from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one down from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len-1</a:t>
            </a:r>
            <a:r>
              <a:rPr lang="en-US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until they cross</a:t>
            </a:r>
            <a:endParaRPr lang="zh-CN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D968FBC-AB24-40F1-81B3-461F35CAD7A3}"/>
              </a:ext>
            </a:extLst>
          </p:cNvPr>
          <p:cNvSpPr txBox="1">
            <a:spLocks/>
          </p:cNvSpPr>
          <p:nvPr/>
        </p:nvSpPr>
        <p:spPr>
          <a:xfrm>
            <a:off x="8906658" y="1322347"/>
            <a:ext cx="3255364" cy="4827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s[110];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s;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(s),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=0,j=len-1;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&lt;=j;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,--j)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(s[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!=s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[j]){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"NO";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"YES";</a:t>
            </a:r>
          </a:p>
        </p:txBody>
      </p:sp>
    </p:spTree>
    <p:extLst>
      <p:ext uri="{BB962C8B-B14F-4D97-AF65-F5344CB8AC3E}">
        <p14:creationId xmlns:p14="http://schemas.microsoft.com/office/powerpoint/2010/main" val="345682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17" y="1563675"/>
            <a:ext cx="5391774" cy="440950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</a:t>
            </a:r>
            <a:r>
              <a:rPr lang="en-US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function: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Compares two strings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there are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possible results: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en-US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&lt; </a:t>
            </a:r>
            <a:r>
              <a:rPr lang="en-US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en-US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returns a negative number (usually </a:t>
            </a:r>
            <a:r>
              <a:rPr lang="en-US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en-US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but not guaranteed to be </a:t>
            </a:r>
            <a:r>
              <a:rPr lang="en-US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en-US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en-US" altLang="zh-CN" sz="12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en-US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= </a:t>
            </a:r>
            <a:r>
              <a:rPr lang="en-US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en-US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returns </a:t>
            </a:r>
            <a:r>
              <a:rPr lang="en-US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en-US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&gt; </a:t>
            </a:r>
            <a:r>
              <a:rPr lang="en-US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en-US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returns a positive number (usually </a:t>
            </a:r>
            <a:r>
              <a:rPr lang="en-US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-US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but not guaranteed to be </a:t>
            </a:r>
            <a:r>
              <a:rPr lang="en-US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-US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en-US" altLang="zh-CN" sz="12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Compares character by character from left to right (by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value) until a different character or 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reached.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all characters are equal,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equals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 the first differing character, if the 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s1[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's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value is less than that of 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s2[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then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&lt;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otherwise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&gt; </a:t>
            </a:r>
            <a:r>
              <a:rPr lang="en-US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one string ends before the other and all characters up to that point are equal, the one that ends first is smaller (essentially, 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smaller than every other character).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Compare Two Strings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3B14AE-EB62-4ACD-A618-D22AEB194C1E}"/>
              </a:ext>
            </a:extLst>
          </p:cNvPr>
          <p:cNvSpPr/>
          <p:nvPr/>
        </p:nvSpPr>
        <p:spPr>
          <a:xfrm>
            <a:off x="6353280" y="4067357"/>
            <a:ext cx="2943533" cy="826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</a:t>
            </a:r>
            <a:r>
              <a:rPr lang="en-US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endParaRPr lang="en-US" altLang="zh-CN" sz="11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353281" y="1651554"/>
            <a:ext cx="2796261" cy="826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</a:t>
            </a:r>
            <a:r>
              <a:rPr lang="en-US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8D61EF-1CC0-4919-AA0C-AF9AA29A1001}"/>
              </a:ext>
            </a:extLst>
          </p:cNvPr>
          <p:cNvSpPr/>
          <p:nvPr/>
        </p:nvSpPr>
        <p:spPr>
          <a:xfrm>
            <a:off x="9296814" y="1651554"/>
            <a:ext cx="2895186" cy="826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abcdeg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 </a:t>
            </a:r>
            <a:r>
              <a:rPr lang="en-US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08628E-1C00-4665-BA11-1274055AF76C}"/>
              </a:ext>
            </a:extLst>
          </p:cNvPr>
          <p:cNvSpPr/>
          <p:nvPr/>
        </p:nvSpPr>
        <p:spPr>
          <a:xfrm>
            <a:off x="6353281" y="2660658"/>
            <a:ext cx="2796261" cy="826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abcdee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</a:t>
            </a:r>
            <a:r>
              <a:rPr lang="en-US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-US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ADFE31-D68D-40DB-B8E7-4664553CBC56}"/>
              </a:ext>
            </a:extLst>
          </p:cNvPr>
          <p:cNvSpPr/>
          <p:nvPr/>
        </p:nvSpPr>
        <p:spPr>
          <a:xfrm>
            <a:off x="9324214" y="4035276"/>
            <a:ext cx="2867786" cy="826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</a:t>
            </a:r>
            <a:r>
              <a:rPr lang="en-US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en-US" altLang="zh-CN" sz="11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9FE3FC-5D46-4427-B7B0-AF187AD980A3}"/>
              </a:ext>
            </a:extLst>
          </p:cNvPr>
          <p:cNvSpPr/>
          <p:nvPr/>
        </p:nvSpPr>
        <p:spPr>
          <a:xfrm>
            <a:off x="6353280" y="5076461"/>
            <a:ext cx="2867786" cy="826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abbd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1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</a:t>
            </a:r>
            <a:r>
              <a:rPr lang="en-US" altLang="en-US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-US" altLang="zh-CN" sz="1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endParaRPr lang="en-US" altLang="zh-CN" sz="11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68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15" grpId="0"/>
      <p:bldP spid="16" grpId="0"/>
      <p:bldP spid="19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701" y="1311131"/>
            <a:ext cx="5391774" cy="91351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dst,src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function: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Copies the contents of string 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into 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character by character from left to right until 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copied too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Copy a String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80701" y="2205341"/>
            <a:ext cx="31840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s2[110]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s2);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s1; //</a:t>
            </a:r>
            <a:r>
              <a:rPr lang="en-US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endParaRPr lang="en-US" altLang="zh-CN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9" y="4092092"/>
            <a:ext cx="3184039" cy="619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s1[5],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s2[110]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s2); // </a:t>
            </a:r>
            <a:r>
              <a:rPr lang="en-US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 of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range</a:t>
            </a:r>
          </a:p>
        </p:txBody>
      </p:sp>
      <p:sp>
        <p:nvSpPr>
          <p:cNvPr id="4" name="矩形 3"/>
          <p:cNvSpPr/>
          <p:nvPr/>
        </p:nvSpPr>
        <p:spPr>
          <a:xfrm>
            <a:off x="678609" y="3445870"/>
            <a:ext cx="6096000" cy="65146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-US" altLang="en-US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Note</a:t>
            </a:r>
            <a:r>
              <a:rPr lang="en-US" altLang="zh-CN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</a:p>
          <a:p>
            <a:pPr lvl="0" defTabSz="914400">
              <a:spcBef>
                <a:spcPts val="1000"/>
              </a:spcBef>
              <a:buSzPct val="125000"/>
            </a:pPr>
            <a:r>
              <a:rPr lang="en-US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en-US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longer than 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en-US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can hold, it goes out of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range</a:t>
            </a:r>
            <a:r>
              <a:rPr lang="en-US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51477" y="1311131"/>
            <a:ext cx="5519345" cy="651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-US" altLang="en-US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Note</a:t>
            </a:r>
            <a:r>
              <a:rPr lang="en-US" altLang="zh-CN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</a:p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only works on character arrays, not on arrays of other types.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251477" y="2023855"/>
            <a:ext cx="3184039" cy="619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a[110],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b[110]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{1,2,3,4,5};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b); //</a:t>
            </a:r>
            <a:r>
              <a:rPr lang="en-US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compile error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78609" y="5062944"/>
            <a:ext cx="55193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returns the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array, so you can operate directly on its return value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9" y="5546869"/>
            <a:ext cx="5098736" cy="619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(s1,s2)); //</a:t>
            </a:r>
            <a:r>
              <a:rPr lang="en-US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23" name="矩形 22"/>
          <p:cNvSpPr/>
          <p:nvPr/>
        </p:nvSpPr>
        <p:spPr>
          <a:xfrm>
            <a:off x="6251477" y="3138953"/>
            <a:ext cx="5519345" cy="1210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en-US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copy any kind of array, use the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memcpy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size)</a:t>
            </a:r>
            <a:r>
              <a:rPr lang="en-US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function:</a:t>
            </a:r>
            <a:endParaRPr lang="en-US" altLang="zh-CN" sz="14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>
              <a:spcBef>
                <a:spcPts val="1000"/>
              </a:spcBef>
              <a:buSzPct val="125000"/>
            </a:pP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Copies all of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into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element by element from index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(each element of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the same index in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size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the size of array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always written as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sizeof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251477" y="4348701"/>
            <a:ext cx="5519345" cy="619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a[110],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b[110]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{1,2,3,4,5};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memcpy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sizeof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(b)); //</a:t>
            </a:r>
            <a:r>
              <a:rPr lang="en-US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copy all of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en-US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into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/>
      <p:bldP spid="9" grpId="0"/>
      <p:bldP spid="4" grpId="0"/>
      <p:bldP spid="12" grpId="0"/>
      <p:bldP spid="14" grpId="0"/>
      <p:bldP spid="17" grpId="0"/>
      <p:bldP spid="21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351" y="3738303"/>
            <a:ext cx="53054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17" y="1372477"/>
            <a:ext cx="5391774" cy="71401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function: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Appends the contents of char array 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the end of 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then adds 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en-US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at the end.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en-US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Concatenate Strings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9" y="2137879"/>
            <a:ext cx="5530142" cy="117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“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s2[10]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(s1)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"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(s2)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// </a:t>
            </a:r>
            <a:r>
              <a:rPr lang="en-US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4 3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s2);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(s1)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"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s1; //</a:t>
            </a:r>
            <a:r>
              <a:rPr lang="en-US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abcdefg</a:t>
            </a:r>
            <a:endParaRPr lang="en-US" altLang="zh-CN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352" y="3340863"/>
            <a:ext cx="53054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846684" y="2134080"/>
            <a:ext cx="5305424" cy="619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abcdefg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s2[10]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hij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s2);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46684" y="1429667"/>
            <a:ext cx="5305424" cy="651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-US" altLang="en-US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Note</a:t>
            </a:r>
            <a:r>
              <a:rPr lang="en-US" altLang="zh-CN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</a:p>
          <a:p>
            <a:pPr lvl="0" defTabSz="914400">
              <a:spcBef>
                <a:spcPts val="1000"/>
              </a:spcBef>
              <a:buSzPct val="125000"/>
            </a:pPr>
            <a:r>
              <a:rPr lang="en-US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en-US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longer than the space left in 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en-US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it goes out of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range</a:t>
            </a:r>
            <a:r>
              <a:rPr lang="en-US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20690" y="2723199"/>
            <a:ext cx="32927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en-US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has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-US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free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places</a:t>
            </a:r>
            <a:r>
              <a:rPr lang="en-US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en-US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has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-US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characters to copy,</a:t>
            </a:r>
            <a:endParaRPr lang="en-US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plus a final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‘\0’</a:t>
            </a:r>
            <a:r>
              <a:rPr lang="en-US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so the array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subscript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goes out of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range</a:t>
            </a:r>
            <a:endParaRPr lang="zh-CN" altLang="en-US" sz="1200" dirty="0">
              <a:latin typeface="Aptos Display" panose="020B00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1093" y="3726625"/>
            <a:ext cx="8011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en-US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before:</a:t>
            </a:r>
            <a:endParaRPr lang="zh-CN" altLang="en-US" sz="1200" dirty="0">
              <a:latin typeface="Aptos Display" panose="020B00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81092" y="4108157"/>
            <a:ext cx="6929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en-US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after:</a:t>
            </a:r>
            <a:endParaRPr lang="zh-CN" alt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89406" y="4821875"/>
            <a:ext cx="61159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returns the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en-US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array, so you can operate directly on its return value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89406" y="5202087"/>
            <a:ext cx="4697241" cy="619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“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s2[10]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s2)); //</a:t>
            </a:r>
            <a:r>
              <a:rPr lang="en-US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4951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" grpId="0"/>
      <p:bldP spid="18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Thank You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Mr. Gao's Coding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52512</TotalTime>
  <Words>2224</Words>
  <Application>Microsoft Macintosh PowerPoint</Application>
  <PresentationFormat>Widescreen</PresentationFormat>
  <Paragraphs>222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等线</vt:lpstr>
      <vt:lpstr>宋体</vt:lpstr>
      <vt:lpstr>华文楷体</vt:lpstr>
      <vt:lpstr>Aptos Display</vt:lpstr>
      <vt:lpstr>Arial</vt:lpstr>
      <vt:lpstr>Consolas</vt:lpstr>
      <vt:lpstr>Tw Cen MT</vt:lpstr>
      <vt:lpstr>电路</vt:lpstr>
      <vt:lpstr>NOIP Beginner — Character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Bryan Sun</cp:lastModifiedBy>
  <cp:revision>387</cp:revision>
  <dcterms:created xsi:type="dcterms:W3CDTF">2018-08-09T00:16:20Z</dcterms:created>
  <dcterms:modified xsi:type="dcterms:W3CDTF">2026-10-24T23:44:27Z</dcterms:modified>
</cp:coreProperties>
</file>