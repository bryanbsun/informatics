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341" r:id="rId3"/>
    <p:sldId id="348" r:id="rId4"/>
    <p:sldId id="344" r:id="rId5"/>
    <p:sldId id="351" r:id="rId6"/>
    <p:sldId id="346" r:id="rId7"/>
    <p:sldId id="347" r:id="rId8"/>
    <p:sldId id="355" r:id="rId9"/>
    <p:sldId id="350" r:id="rId10"/>
    <p:sldId id="349" r:id="rId11"/>
    <p:sldId id="352" r:id="rId12"/>
    <p:sldId id="353" r:id="rId13"/>
    <p:sldId id="354" r:id="rId14"/>
    <p:sldId id="26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25" autoAdjust="0"/>
    <p:restoredTop sz="82313" autoAdjust="0"/>
  </p:normalViewPr>
  <p:slideViewPr>
    <p:cSldViewPr snapToGrid="0">
      <p:cViewPr varScale="1">
        <p:scale>
          <a:sx n="102" d="100"/>
          <a:sy n="102" d="100"/>
        </p:scale>
        <p:origin x="944" y="1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2024/12/7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772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930032" y="6191731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1178824" y="5640321"/>
            <a:ext cx="547200" cy="5514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NOIP </a:t>
            </a:r>
            <a:r>
              <a:rPr lang="zh-CN" altLang="en-US" dirty="0">
                <a:latin typeface="+mj-ea"/>
              </a:rPr>
              <a:t>入门 </a:t>
            </a:r>
            <a:r>
              <a:rPr lang="en-US" altLang="zh-CN" dirty="0">
                <a:latin typeface="+mj-ea"/>
              </a:rPr>
              <a:t>——</a:t>
            </a:r>
            <a:r>
              <a:rPr lang="zh-CN" altLang="en-US" dirty="0">
                <a:latin typeface="+mj-ea"/>
              </a:rPr>
              <a:t> 字符数组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3E163A8-6C60-4F40-9122-D9FD0004ED3D}"/>
              </a:ext>
            </a:extLst>
          </p:cNvPr>
          <p:cNvSpPr txBox="1"/>
          <p:nvPr/>
        </p:nvSpPr>
        <p:spPr>
          <a:xfrm>
            <a:off x="678610" y="1377254"/>
            <a:ext cx="4666276" cy="1235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类型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/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占一个字节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/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取值范围：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-128~127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-2</a:t>
            </a:r>
            <a:r>
              <a:rPr lang="en-US" altLang="zh-CN" sz="1600" baseline="30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7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~2</a:t>
            </a:r>
            <a:r>
              <a:rPr lang="en-US" altLang="zh-CN" sz="1600" baseline="30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7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342C7C-A45D-49B1-BABD-5D3D798D0D4C}"/>
              </a:ext>
            </a:extLst>
          </p:cNvPr>
          <p:cNvSpPr txBox="1"/>
          <p:nvPr/>
        </p:nvSpPr>
        <p:spPr>
          <a:xfrm>
            <a:off x="6096000" y="5879595"/>
            <a:ext cx="5217268" cy="954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数字字符转换为数字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0363"/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 a=c-'0';</a:t>
            </a:r>
          </a:p>
        </p:txBody>
      </p:sp>
      <p:sp>
        <p:nvSpPr>
          <p:cNvPr id="10" name="文本框 23">
            <a:extLst>
              <a:ext uri="{FF2B5EF4-FFF2-40B4-BE49-F238E27FC236}">
                <a16:creationId xmlns:a16="http://schemas.microsoft.com/office/drawing/2014/main" id="{1A42C120-029D-4105-8BA4-AEF2BDF47F48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字符知识回顾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E5DB3E-200D-4452-A56F-EEEBF882E061}"/>
              </a:ext>
            </a:extLst>
          </p:cNvPr>
          <p:cNvSpPr/>
          <p:nvPr/>
        </p:nvSpPr>
        <p:spPr>
          <a:xfrm>
            <a:off x="678609" y="2612571"/>
            <a:ext cx="4666277" cy="2072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的关系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在内存里的是其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值（即内码）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与其他类型发生计算时，使用其内码参与计算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的精度低于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，与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运算时会被自动类型转换为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endParaRPr lang="zh-CN" altLang="en-US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E31F7-5E75-450B-86AA-CC0D196B8A49}"/>
              </a:ext>
            </a:extLst>
          </p:cNvPr>
          <p:cNvSpPr/>
          <p:nvPr/>
        </p:nvSpPr>
        <p:spPr>
          <a:xfrm>
            <a:off x="678609" y="4715288"/>
            <a:ext cx="4666277" cy="1841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关于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无需记内码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0~9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A~Z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a~z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是连续的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比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小，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比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Z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小，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比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z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小，大写比小写小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1825" lvl="1" indent="-27305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码为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记为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endParaRPr lang="zh-CN" altLang="en-US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7463BE-CD9D-4363-9B50-695CEC0A3C11}"/>
              </a:ext>
            </a:extLst>
          </p:cNvPr>
          <p:cNvSpPr/>
          <p:nvPr/>
        </p:nvSpPr>
        <p:spPr>
          <a:xfrm>
            <a:off x="6096000" y="2977454"/>
            <a:ext cx="5532784" cy="827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判断是否为数字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0363" lvl="1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if('0'&lt;=c&amp;&amp;c&lt;='9')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A55595-A356-4845-9DB1-DCB65684709C}"/>
              </a:ext>
            </a:extLst>
          </p:cNvPr>
          <p:cNvSpPr/>
          <p:nvPr/>
        </p:nvSpPr>
        <p:spPr>
          <a:xfrm>
            <a:off x="6096000" y="3804796"/>
            <a:ext cx="5532784" cy="827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判断是否为字母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大（小）写字母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0363" lvl="1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if('A'&lt;=c&amp;&amp;c&lt;='Z'||'a'&lt;=c&amp;&amp;c&lt;='z')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A1DEFC-1DC7-4F81-8E31-2E7102EFB7FD}"/>
              </a:ext>
            </a:extLst>
          </p:cNvPr>
          <p:cNvSpPr/>
          <p:nvPr/>
        </p:nvSpPr>
        <p:spPr>
          <a:xfrm>
            <a:off x="6096000" y="4632138"/>
            <a:ext cx="5532784" cy="1247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大小写字母互相转换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0363" lvl="1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小写转大写：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c=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c-'a'+'A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';</a:t>
            </a:r>
          </a:p>
          <a:p>
            <a:pPr marL="360363" lvl="1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大写转小写：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c=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c-'A'+'a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';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9218548-DF4F-45C5-90D9-00C5CFC8F3A8}"/>
              </a:ext>
            </a:extLst>
          </p:cNvPr>
          <p:cNvSpPr txBox="1"/>
          <p:nvPr/>
        </p:nvSpPr>
        <p:spPr>
          <a:xfrm>
            <a:off x="6096000" y="1453711"/>
            <a:ext cx="5532784" cy="15237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indent="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只有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类型在输出时会将值根据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码表变成字符输出，其他类型都是直接输出数字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0363"/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&lt;&lt;(char)97; // 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输出字母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</a:p>
          <a:p>
            <a:pPr marL="360363"/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&lt;&lt;(int)'a'; // 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输出数字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97</a:t>
            </a:r>
          </a:p>
        </p:txBody>
      </p:sp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2" grpId="0"/>
      <p:bldP spid="13" grpId="0"/>
      <p:bldP spid="14" grpId="0"/>
      <p:bldP spid="15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文字&#10;&#10;自动生成的说明">
            <a:extLst>
              <a:ext uri="{FF2B5EF4-FFF2-40B4-BE49-F238E27FC236}">
                <a16:creationId xmlns:a16="http://schemas.microsoft.com/office/drawing/2014/main" id="{AB5EE649-ACF1-4051-9C75-A1ACBBA91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681" y="1232491"/>
            <a:ext cx="7909849" cy="5398610"/>
          </a:xfrm>
          <a:prstGeom prst="rect">
            <a:avLst/>
          </a:prstGeom>
        </p:spPr>
      </p:pic>
      <p:sp>
        <p:nvSpPr>
          <p:cNvPr id="6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码表</a:t>
            </a:r>
          </a:p>
        </p:txBody>
      </p:sp>
    </p:spTree>
    <p:extLst>
      <p:ext uri="{BB962C8B-B14F-4D97-AF65-F5344CB8AC3E}">
        <p14:creationId xmlns:p14="http://schemas.microsoft.com/office/powerpoint/2010/main" val="3476631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D92AC97-741F-49AC-9CD2-4E42A588F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09" y="2392197"/>
            <a:ext cx="5187167" cy="3431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字符数组定义：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数组名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元素个数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];</a:t>
            </a:r>
          </a:p>
          <a:p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元素个数必须是常量或常量表达式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存储单元连续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要确保在存入的所有字符之后紧接着存入结束字符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</a:p>
          <a:p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表示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码表中内码为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的那个字符</a:t>
            </a:r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38ACB403-7191-4104-A6A9-5EF6BA73694A}"/>
              </a:ext>
            </a:extLst>
          </p:cNvPr>
          <p:cNvSpPr txBox="1">
            <a:spLocks/>
          </p:cNvSpPr>
          <p:nvPr/>
        </p:nvSpPr>
        <p:spPr>
          <a:xfrm>
            <a:off x="6326220" y="2413651"/>
            <a:ext cx="4925941" cy="2461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引用：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数组名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下标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</a:p>
          <a:p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下标可以是常量、变量、表达式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下标从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开始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下标不能越界</a:t>
            </a:r>
          </a:p>
        </p:txBody>
      </p:sp>
      <p:sp>
        <p:nvSpPr>
          <p:cNvPr id="7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字符数组</a:t>
            </a:r>
          </a:p>
        </p:txBody>
      </p:sp>
      <p:sp>
        <p:nvSpPr>
          <p:cNvPr id="8" name="内容占位符 4">
            <a:extLst>
              <a:ext uri="{FF2B5EF4-FFF2-40B4-BE49-F238E27FC236}">
                <a16:creationId xmlns:a16="http://schemas.microsoft.com/office/drawing/2014/main" id="{BD92AC97-741F-49AC-9CD2-4E42A588FC3C}"/>
              </a:ext>
            </a:extLst>
          </p:cNvPr>
          <p:cNvSpPr txBox="1">
            <a:spLocks/>
          </p:cNvSpPr>
          <p:nvPr/>
        </p:nvSpPr>
        <p:spPr>
          <a:xfrm>
            <a:off x="678609" y="1348700"/>
            <a:ext cx="5187167" cy="762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用双引号引起来的一段文本，称为字符串，字符串是以字符数组的形式来保存的。</a:t>
            </a:r>
          </a:p>
        </p:txBody>
      </p:sp>
    </p:spTree>
    <p:extLst>
      <p:ext uri="{BB962C8B-B14F-4D97-AF65-F5344CB8AC3E}">
        <p14:creationId xmlns:p14="http://schemas.microsoft.com/office/powerpoint/2010/main" val="691503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F056CE5-B378-480D-824E-722420460336}"/>
              </a:ext>
            </a:extLst>
          </p:cNvPr>
          <p:cNvSpPr/>
          <p:nvPr/>
        </p:nvSpPr>
        <p:spPr>
          <a:xfrm>
            <a:off x="678609" y="5401504"/>
            <a:ext cx="2590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b[6]="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F67FCB5-D801-4D90-A01C-3F1533C6E2F5}"/>
              </a:ext>
            </a:extLst>
          </p:cNvPr>
          <p:cNvSpPr/>
          <p:nvPr/>
        </p:nvSpPr>
        <p:spPr>
          <a:xfrm>
            <a:off x="3439563" y="5420414"/>
            <a:ext cx="45320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因为没有多余的位置存放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，所以会报编译错</a:t>
            </a:r>
          </a:p>
        </p:txBody>
      </p:sp>
      <p:sp>
        <p:nvSpPr>
          <p:cNvPr id="7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初始化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7F0FC1-BD02-4DBF-A1A6-78447825ECFC}"/>
              </a:ext>
            </a:extLst>
          </p:cNvPr>
          <p:cNvSpPr/>
          <p:nvPr/>
        </p:nvSpPr>
        <p:spPr>
          <a:xfrm>
            <a:off x="678609" y="2231965"/>
            <a:ext cx="48295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a[6]={'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a','b','c','d','e','f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'};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0A1AF64-0373-4D9F-974D-DB02AA8D2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71" y="1898807"/>
            <a:ext cx="3286584" cy="771633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D3A29ADC-46D6-4680-8347-1EB255AD8B16}"/>
              </a:ext>
            </a:extLst>
          </p:cNvPr>
          <p:cNvSpPr/>
          <p:nvPr/>
        </p:nvSpPr>
        <p:spPr>
          <a:xfrm>
            <a:off x="678609" y="1548444"/>
            <a:ext cx="66928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用花括号初始化（与一维数组一样，不足部分初始化为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）：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8E4A53-81E2-4ED3-9E4F-8D5E53ED0142}"/>
              </a:ext>
            </a:extLst>
          </p:cNvPr>
          <p:cNvSpPr/>
          <p:nvPr/>
        </p:nvSpPr>
        <p:spPr>
          <a:xfrm>
            <a:off x="678609" y="3003068"/>
            <a:ext cx="48295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b[10]={'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a','b','c','d','e','f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'};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75E5745-07B7-435D-9FEF-633CC76265C7}"/>
              </a:ext>
            </a:extLst>
          </p:cNvPr>
          <p:cNvSpPr/>
          <p:nvPr/>
        </p:nvSpPr>
        <p:spPr>
          <a:xfrm>
            <a:off x="678608" y="3986347"/>
            <a:ext cx="76163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用字符串初始化（双引号引起来的是字符串，以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结尾，多占一位）：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FF21816-F3E1-4EE2-9522-A3543F8C0000}"/>
              </a:ext>
            </a:extLst>
          </p:cNvPr>
          <p:cNvSpPr/>
          <p:nvPr/>
        </p:nvSpPr>
        <p:spPr>
          <a:xfrm>
            <a:off x="678608" y="4707728"/>
            <a:ext cx="2717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a[10]="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5CC48748-113C-401A-A994-F7DE840E8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71" y="2670440"/>
            <a:ext cx="5306165" cy="771633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0B18784-AD8D-4807-A1DD-C19631B17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019" y="4396121"/>
            <a:ext cx="5306165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0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2" grpId="0"/>
      <p:bldP spid="9" grpId="0"/>
      <p:bldP spid="19" grpId="0"/>
      <p:bldP spid="20" grpId="0"/>
      <p:bldP spid="23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D92AC97-741F-49AC-9CD2-4E42A588F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5" y="1340191"/>
            <a:ext cx="6433459" cy="1430102"/>
          </a:xfrm>
        </p:spPr>
        <p:txBody>
          <a:bodyPr>
            <a:normAutofit lnSpcReduction="10000"/>
          </a:bodyPr>
          <a:lstStyle/>
          <a:p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方法一：</a:t>
            </a: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&gt;&gt;s;</a:t>
            </a:r>
          </a:p>
          <a:p>
            <a:pPr lvl="1"/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遇到空白（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 '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'\t'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'\n'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'\r'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）则停止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用于读取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不包含空白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的字符串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读入的字符不包含空白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从终端读取字符数组的两种方法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997A9F-D81B-4A8C-8985-1D23F95FF6F5}"/>
              </a:ext>
            </a:extLst>
          </p:cNvPr>
          <p:cNvSpPr/>
          <p:nvPr/>
        </p:nvSpPr>
        <p:spPr>
          <a:xfrm>
            <a:off x="7424057" y="1732076"/>
            <a:ext cx="371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两种方法均能保证在读入的最后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一个字符之后的位置存入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470636-9086-4FE7-8BE6-B69D9F9FC0F7}"/>
              </a:ext>
            </a:extLst>
          </p:cNvPr>
          <p:cNvSpPr/>
          <p:nvPr/>
        </p:nvSpPr>
        <p:spPr>
          <a:xfrm>
            <a:off x="7424057" y="2851188"/>
            <a:ext cx="3730508" cy="15844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示例：读入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个字符（包含空白）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s[110];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fgets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(s,105,stdin);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strtok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(s,"\r\n");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37F05E-ECE3-4E89-8281-202B5852B69A}"/>
              </a:ext>
            </a:extLst>
          </p:cNvPr>
          <p:cNvSpPr/>
          <p:nvPr/>
        </p:nvSpPr>
        <p:spPr>
          <a:xfrm>
            <a:off x="566056" y="2851188"/>
            <a:ext cx="6433457" cy="3769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方法二：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fgets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s,m,stdin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);</a:t>
            </a:r>
          </a:p>
          <a:p>
            <a:pPr marL="685800" lvl="1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用于读取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包含空白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的一整行字符串</a:t>
            </a:r>
            <a:endParaRPr lang="en-US" altLang="zh-CN" sz="16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为字符数组，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为期望读入的字符数，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stdin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表示标准输入</a:t>
            </a:r>
            <a:endParaRPr lang="en-US" altLang="zh-CN" sz="16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有两种情况会结束读取：</a:t>
            </a:r>
            <a:endParaRPr lang="en-US" altLang="zh-CN" sz="16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990600" lvl="2" indent="-271463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实际输入的字符数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大于等于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m-1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，读取到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m-1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个字符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下标为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m-2)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s[m-1]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</a:p>
          <a:p>
            <a:pPr marL="990600" lvl="2" indent="-271463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实际输入的字符数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小于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m-1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，遇到换行符（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'\n'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），读取到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个字符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下标为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k-1)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s[k]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'\n'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s[k+1]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</a:p>
          <a:p>
            <a:pPr marL="685800" lvl="1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若希望读入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个字符，数组大小应为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m+2(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最好再大一些，比如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m+10)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，第二个参数填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m+1(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最好再大一些，比如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m+5)</a:t>
            </a:r>
          </a:p>
          <a:p>
            <a:pPr marL="685800" lvl="1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配合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strtok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(s,"\r\n");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去掉回车换行符</a:t>
            </a:r>
            <a:endParaRPr lang="en-US" altLang="zh-CN" sz="16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61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/>
      <p:bldP spid="7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517" y="1563677"/>
            <a:ext cx="5319421" cy="11636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(s)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函数：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从下标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开始往后，遇到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停下，返回在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之前的字符个数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：字符的数量（字符串长度）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F1E65045-C37B-44B5-9AC5-971CA4541C8B}"/>
              </a:ext>
            </a:extLst>
          </p:cNvPr>
          <p:cNvSpPr txBox="1">
            <a:spLocks/>
          </p:cNvSpPr>
          <p:nvPr/>
        </p:nvSpPr>
        <p:spPr>
          <a:xfrm>
            <a:off x="6202691" y="1568672"/>
            <a:ext cx="5319420" cy="1163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注意</a:t>
            </a:r>
            <a:endParaRPr lang="en-US" altLang="zh-CN" sz="1600" b="1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如果字符数组中不包含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(s)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返回的数字是无法预知的。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3B14AE-EB62-4ACD-A618-D22AEB194C1E}"/>
              </a:ext>
            </a:extLst>
          </p:cNvPr>
          <p:cNvSpPr/>
          <p:nvPr/>
        </p:nvSpPr>
        <p:spPr>
          <a:xfrm>
            <a:off x="6200329" y="2732316"/>
            <a:ext cx="5515282" cy="790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a[6]={'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a','b','c','d','e','f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'};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(a);</a:t>
            </a:r>
            <a:endParaRPr lang="en-US" altLang="zh-CN" sz="1600" b="1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7A0DB4F-51D9-41C7-9BED-82BE18F9F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064" y="3510143"/>
            <a:ext cx="3286584" cy="771633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EC103142-8358-4C51-B814-A7E7146B1B1F}"/>
              </a:ext>
            </a:extLst>
          </p:cNvPr>
          <p:cNvSpPr/>
          <p:nvPr/>
        </p:nvSpPr>
        <p:spPr>
          <a:xfrm>
            <a:off x="6196064" y="4300744"/>
            <a:ext cx="4224233" cy="790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b[10]={'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a','b','c','d','e','f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'};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(b); // 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F126281-0995-49FA-9E50-768253D10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691" y="5110313"/>
            <a:ext cx="5306165" cy="771633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69889" y="2801467"/>
            <a:ext cx="2951449" cy="790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b[10]="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(b); // </a:t>
            </a:r>
            <a:r>
              <a:rPr lang="zh-CN" altLang="en-US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E58B293-2057-4C65-8B4A-8C88BDB0A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89" y="3511032"/>
            <a:ext cx="5306165" cy="77163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742D666-2DDF-4F6E-96F8-7AE12A26B536}"/>
              </a:ext>
            </a:extLst>
          </p:cNvPr>
          <p:cNvSpPr/>
          <p:nvPr/>
        </p:nvSpPr>
        <p:spPr>
          <a:xfrm>
            <a:off x="8056616" y="3184362"/>
            <a:ext cx="28520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无法预知输出内容，错误用法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6577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7" grpId="0"/>
      <p:bldP spid="20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517" y="1364164"/>
            <a:ext cx="5544174" cy="74726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方法一：用</a:t>
            </a: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整体输出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从下标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开始，一直到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为止，每个字符依次输出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输出字符串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78608" y="1984054"/>
            <a:ext cx="5317330" cy="6160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s[110]="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efgh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&lt;&lt;s; // 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efgh</a:t>
            </a:r>
            <a:endParaRPr lang="en-US" altLang="zh-CN" sz="12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 txBox="1">
            <a:spLocks/>
          </p:cNvSpPr>
          <p:nvPr/>
        </p:nvSpPr>
        <p:spPr>
          <a:xfrm>
            <a:off x="678608" y="4463843"/>
            <a:ext cx="5544174" cy="573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对字符数组进行遍历的过程中，可以穿插各种处理。例如，每两个字符之间加一个点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78608" y="5037633"/>
            <a:ext cx="531733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s[110]="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efgh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b="1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(s);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&lt;&lt;s[0];</a:t>
            </a:r>
          </a:p>
          <a:p>
            <a:pPr lvl="0">
              <a:lnSpc>
                <a:spcPct val="150000"/>
              </a:lnSpc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=1;i&lt;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;++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&lt;&lt;'.'&lt;&lt;s[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];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 txBox="1">
            <a:spLocks/>
          </p:cNvSpPr>
          <p:nvPr/>
        </p:nvSpPr>
        <p:spPr>
          <a:xfrm>
            <a:off x="678609" y="2766338"/>
            <a:ext cx="5544174" cy="373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方法二：对字符数组进行遍历，依次输出每个字符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78609" y="3157242"/>
            <a:ext cx="5317330" cy="117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s[110]="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efgh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b="1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(s);</a:t>
            </a:r>
          </a:p>
          <a:p>
            <a:pPr lvl="0">
              <a:lnSpc>
                <a:spcPct val="150000"/>
              </a:lnSpc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=0;i&lt;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;++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&lt;&lt;s[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70555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0" grpId="0"/>
      <p:bldP spid="10" grpId="0"/>
      <p:bldP spid="11" grpId="0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B05A0AF-2059-4AEF-9CA7-8E91B6F4BF9D}"/>
              </a:ext>
            </a:extLst>
          </p:cNvPr>
          <p:cNvSpPr txBox="1">
            <a:spLocks/>
          </p:cNvSpPr>
          <p:nvPr/>
        </p:nvSpPr>
        <p:spPr>
          <a:xfrm>
            <a:off x="6543681" y="1353373"/>
            <a:ext cx="4361225" cy="5107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s[1010];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&gt;&gt;s;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(s);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8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=0;i&lt;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;++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8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('a'&lt;=s[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]&amp;&amp;s[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]&lt;='z')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s[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]=s[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]-'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a'+'A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';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8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('A'&lt;=s[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]&amp;&amp;s[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]&lt;='Z')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s[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]=s[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]-'</a:t>
            </a: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A'+'a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';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&lt;&lt;s;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28C42E-69D7-4593-9497-2DE249299BB3}"/>
              </a:ext>
            </a:extLst>
          </p:cNvPr>
          <p:cNvSpPr/>
          <p:nvPr/>
        </p:nvSpPr>
        <p:spPr>
          <a:xfrm>
            <a:off x="678607" y="1353373"/>
            <a:ext cx="4155784" cy="1572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输入一个长度不超过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的字符串（由字母和数字组成），将其中的大小写字母互换、数字不变，然后输出。</a:t>
            </a:r>
            <a:endParaRPr lang="zh-CN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813334-C1F6-41CE-B9BB-63FF41C8D8C3}"/>
              </a:ext>
            </a:extLst>
          </p:cNvPr>
          <p:cNvSpPr/>
          <p:nvPr/>
        </p:nvSpPr>
        <p:spPr>
          <a:xfrm>
            <a:off x="678607" y="2925727"/>
            <a:ext cx="4361225" cy="3655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分析</a:t>
            </a:r>
            <a:endParaRPr lang="en-US" altLang="zh-CN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长度不超过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，考虑到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，定义数组时设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1010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字符串中不包含空白，用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字符个数用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计算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数组中有效的字符，从下标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len-1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循环，对每一个字符进行处理：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如果是小写字母，转为大写输出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如果是大写字母，转为小写输出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否则原封不动输出</a:t>
            </a:r>
            <a:endParaRPr lang="zh-CN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大小写字母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互转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7EBCF1-A5B3-473E-BE2A-C58C4A7556DE}"/>
              </a:ext>
            </a:extLst>
          </p:cNvPr>
          <p:cNvSpPr/>
          <p:nvPr/>
        </p:nvSpPr>
        <p:spPr>
          <a:xfrm>
            <a:off x="4976985" y="4486164"/>
            <a:ext cx="1629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1000"/>
              </a:spcBef>
              <a:buSzPct val="125000"/>
            </a:pP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如果去掉这里的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b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</a:b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会发生什么？为什么？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A1743388-85EC-4B59-9B87-424D11E85D05}"/>
              </a:ext>
            </a:extLst>
          </p:cNvPr>
          <p:cNvSpPr/>
          <p:nvPr/>
        </p:nvSpPr>
        <p:spPr>
          <a:xfrm rot="19685537">
            <a:off x="6558076" y="4406563"/>
            <a:ext cx="560832" cy="2147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320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判断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回文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B05A0AF-2059-4AEF-9CA7-8E91B6F4BF9D}"/>
              </a:ext>
            </a:extLst>
          </p:cNvPr>
          <p:cNvSpPr txBox="1">
            <a:spLocks/>
          </p:cNvSpPr>
          <p:nvPr/>
        </p:nvSpPr>
        <p:spPr>
          <a:xfrm>
            <a:off x="5873645" y="1322347"/>
            <a:ext cx="3033011" cy="4827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s[110];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&gt;&gt;s;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(s),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i,j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=0,j=len-1;i&lt;=j;++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,--j)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(s[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]!=s[j])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break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&gt;j)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&lt;&lt;"YES";</a:t>
            </a:r>
          </a:p>
          <a:p>
            <a:pPr marL="0" indent="0">
              <a:buNone/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&lt;&lt;"NO";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28C42E-69D7-4593-9497-2DE249299BB3}"/>
              </a:ext>
            </a:extLst>
          </p:cNvPr>
          <p:cNvSpPr/>
          <p:nvPr/>
        </p:nvSpPr>
        <p:spPr>
          <a:xfrm>
            <a:off x="678610" y="1322347"/>
            <a:ext cx="4972683" cy="1572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回文是顺读和倒读都一样的字符串。输入一个字符串，判断是否为回文，是则输出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YES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，否则输出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NO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字符串中没有空白字符，长度不超过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zh-CN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813334-C1F6-41CE-B9BB-63FF41C8D8C3}"/>
              </a:ext>
            </a:extLst>
          </p:cNvPr>
          <p:cNvSpPr/>
          <p:nvPr/>
        </p:nvSpPr>
        <p:spPr>
          <a:xfrm>
            <a:off x="678609" y="2894701"/>
            <a:ext cx="4972683" cy="3419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分析</a:t>
            </a:r>
            <a:endParaRPr lang="en-US" altLang="zh-CN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长度不超过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，考虑到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，定义数组时设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110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字符串中不包含空白，用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字符个数用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计算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根据回文的特点，应取第一个字符与最后一个字符判断是否相同，再取第二个字符与倒数第二个字符判断是否相同，一直到所有字符都比较过了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循环，设置两个下标变量，一个从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开始自增，一个从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len-1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开始自减，直到前者大于后者为止</a:t>
            </a:r>
            <a:endParaRPr lang="zh-CN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D968FBC-AB24-40F1-81B3-461F35CAD7A3}"/>
              </a:ext>
            </a:extLst>
          </p:cNvPr>
          <p:cNvSpPr txBox="1">
            <a:spLocks/>
          </p:cNvSpPr>
          <p:nvPr/>
        </p:nvSpPr>
        <p:spPr>
          <a:xfrm>
            <a:off x="9129010" y="1322347"/>
            <a:ext cx="3033011" cy="4827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s[110];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&gt;&gt;s;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(s),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i,j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=0,j=len-1;i&lt;=j;++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,--j)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(s[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]!=s[j]){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&lt;&lt;"NO";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&lt;&lt;"YES";</a:t>
            </a:r>
          </a:p>
        </p:txBody>
      </p:sp>
    </p:spTree>
    <p:extLst>
      <p:ext uri="{BB962C8B-B14F-4D97-AF65-F5344CB8AC3E}">
        <p14:creationId xmlns:p14="http://schemas.microsoft.com/office/powerpoint/2010/main" val="345682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517" y="1563675"/>
            <a:ext cx="5391774" cy="366502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strcmp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函数：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比较两个字符串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，结果为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种可能：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小于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：返回负数（常见的是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，但不保证一定是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等于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：返回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大于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：返回正数（常见的是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，但不保证一定是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从左向右逐个字符相比（按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值大小相比较），直到出现不同的字符或遇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为止。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如果所有字符都相等，则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等于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；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遇到第一个不相等的字符，如果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s1[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值小于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s2[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的，则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小于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，否则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大于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遇到一个字符串结束了而另一个没结束，而在此之前所有字符都相等，则先结束的那个更小（本质上是“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比其他字符都小”）。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strcmp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：比较两个字符串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3B14AE-EB62-4ACD-A618-D22AEB194C1E}"/>
              </a:ext>
            </a:extLst>
          </p:cNvPr>
          <p:cNvSpPr/>
          <p:nvPr/>
        </p:nvSpPr>
        <p:spPr>
          <a:xfrm>
            <a:off x="6353280" y="4067357"/>
            <a:ext cx="29435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s1[110]="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s2[110]="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strcmp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(s1,s2); //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353281" y="1651554"/>
            <a:ext cx="27962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s1[110]="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s2[110]="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strcmp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(s1,s2); // 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88D61EF-1CC0-4919-AA0C-AF9AA29A1001}"/>
              </a:ext>
            </a:extLst>
          </p:cNvPr>
          <p:cNvSpPr/>
          <p:nvPr/>
        </p:nvSpPr>
        <p:spPr>
          <a:xfrm>
            <a:off x="9296814" y="1651554"/>
            <a:ext cx="28951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s1[110]="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s2[110]="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abcdeg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strcmp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(s1,s2); // 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08628E-1C00-4665-BA11-1274055AF76C}"/>
              </a:ext>
            </a:extLst>
          </p:cNvPr>
          <p:cNvSpPr/>
          <p:nvPr/>
        </p:nvSpPr>
        <p:spPr>
          <a:xfrm>
            <a:off x="6353281" y="2660658"/>
            <a:ext cx="27962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s1[110]="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s2[110]="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abcdee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strcmp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(s1,s2); // 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8ADFE31-D68D-40DB-B8E7-4664553CBC56}"/>
              </a:ext>
            </a:extLst>
          </p:cNvPr>
          <p:cNvSpPr/>
          <p:nvPr/>
        </p:nvSpPr>
        <p:spPr>
          <a:xfrm>
            <a:off x="9324214" y="4035276"/>
            <a:ext cx="28677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s1[110]="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s2[110]="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strcmp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(s1,s2); //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9FE3FC-5D46-4427-B7B0-AF187AD980A3}"/>
              </a:ext>
            </a:extLst>
          </p:cNvPr>
          <p:cNvSpPr/>
          <p:nvPr/>
        </p:nvSpPr>
        <p:spPr>
          <a:xfrm>
            <a:off x="6353280" y="5076461"/>
            <a:ext cx="28677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s1[110]="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abbd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s2[110]="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strcmp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(s1,s2); //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68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15" grpId="0"/>
      <p:bldP spid="16" grpId="0"/>
      <p:bldP spid="19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701" y="1311131"/>
            <a:ext cx="5391774" cy="91351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strcpy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dst,src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函数：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把字符串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的内容复制到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中：从左向右逐个字符复制，直到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为止（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也会复制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）。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strcpy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：复制字符串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80701" y="2205341"/>
            <a:ext cx="31840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s1[110],s2[110]="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strcpy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&lt;&lt;s1; // 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endParaRPr lang="en-US" altLang="zh-CN" sz="12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78609" y="4092092"/>
            <a:ext cx="31840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s1[5],s2[110]="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strcpy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(s1,s2); // </a:t>
            </a:r>
            <a:r>
              <a:rPr lang="zh-CN" altLang="en-US" sz="12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数组越界</a:t>
            </a:r>
            <a:endParaRPr lang="en-US" altLang="zh-CN" sz="1200" b="1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78609" y="3445870"/>
            <a:ext cx="6096000" cy="65146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>
              <a:spcBef>
                <a:spcPts val="1000"/>
              </a:spcBef>
              <a:buSzPct val="125000"/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【</a:t>
            </a: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注意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】</a:t>
            </a:r>
          </a:p>
          <a:p>
            <a:pPr lvl="0"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中字符的数量超过了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可容纳的数量，会发生数组越界。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51477" y="1311131"/>
            <a:ext cx="5519345" cy="651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1000"/>
              </a:spcBef>
              <a:buSzPct val="125000"/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【</a:t>
            </a: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注意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】</a:t>
            </a:r>
          </a:p>
          <a:p>
            <a:pPr lvl="0" defTabSz="914400">
              <a:spcBef>
                <a:spcPts val="1000"/>
              </a:spcBef>
              <a:buSzPct val="125000"/>
            </a:pP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strcpy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只能用于字符数组，不能用于其他类型的数组。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251477" y="2023855"/>
            <a:ext cx="31840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a[110],b[110]={1,2,3,4,5};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strcpy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); // </a:t>
            </a:r>
            <a:r>
              <a:rPr lang="zh-CN" altLang="en-US" sz="12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编译出错</a:t>
            </a:r>
            <a:endParaRPr lang="en-US" altLang="zh-CN" sz="1200" b="1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78609" y="5062944"/>
            <a:ext cx="55193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1000"/>
              </a:spcBef>
              <a:buSzPct val="125000"/>
            </a:pP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strcpy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会返回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数组，所以可以直接对其返回值进行操作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78609" y="5443156"/>
            <a:ext cx="50987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s1[110],s2[110]="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strcpy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(s1,s2)); // 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</a:t>
            </a:r>
          </a:p>
        </p:txBody>
      </p:sp>
      <p:sp>
        <p:nvSpPr>
          <p:cNvPr id="23" name="矩形 22"/>
          <p:cNvSpPr/>
          <p:nvPr/>
        </p:nvSpPr>
        <p:spPr>
          <a:xfrm>
            <a:off x="6251477" y="3138953"/>
            <a:ext cx="5519345" cy="1210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要想对任意数组进行复制，可以用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memcpy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dst,src,size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函数：</a:t>
            </a:r>
            <a:endParaRPr lang="en-US" altLang="zh-CN" sz="14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将数组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整体复制到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。即，从下标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开始，依次将数组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的元素复制到数组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的对应下标位置。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>
              <a:spcBef>
                <a:spcPts val="1000"/>
              </a:spcBef>
              <a:buSzPct val="125000"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size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为数组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的大小，固定写法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sizeof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251477" y="4348701"/>
            <a:ext cx="55193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a[110],b[110]={1,2,3,4,5};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memcpy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a,b,sizeof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(b)); // 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将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整体复制到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endParaRPr lang="en-US" altLang="zh-CN" sz="1200" b="1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0" grpId="0"/>
      <p:bldP spid="9" grpId="0"/>
      <p:bldP spid="4" grpId="0"/>
      <p:bldP spid="12" grpId="0"/>
      <p:bldP spid="14" grpId="0"/>
      <p:bldP spid="17" grpId="0"/>
      <p:bldP spid="21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351" y="3604079"/>
            <a:ext cx="53054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517" y="1372477"/>
            <a:ext cx="5391774" cy="71401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strcat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dst,src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函数：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将字符数组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的内容拼接在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之后，并在最后加上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strcat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：拼接字符串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78609" y="2072814"/>
            <a:ext cx="47080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s1[10]="abcd",s2[10]="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efg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(s1)&lt;&lt;" "&lt;&lt;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(s2)&lt;&lt;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 // 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4 3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strcat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(s1)&lt;&lt;" "&lt;&lt;s1; // 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7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abcdefg</a:t>
            </a:r>
            <a:endParaRPr lang="en-US" altLang="zh-CN" sz="12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352" y="3206639"/>
            <a:ext cx="53054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846684" y="2134080"/>
            <a:ext cx="53054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s1[10]="abcdefg",s2[10]="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hij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strcat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(s1,s2);</a:t>
            </a:r>
            <a:endParaRPr lang="en-US" altLang="zh-CN" sz="1200" b="1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46684" y="1429667"/>
            <a:ext cx="5305424" cy="651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1000"/>
              </a:spcBef>
              <a:buSzPct val="125000"/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【</a:t>
            </a: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注意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】</a:t>
            </a:r>
          </a:p>
          <a:p>
            <a:pPr lvl="0"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src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中字符的数量超过了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剩余的数量，会发生数组越界。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271112" y="2566840"/>
            <a:ext cx="2848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zh-CN" altLang="en-US" sz="12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剩余</a:t>
            </a:r>
            <a:r>
              <a:rPr lang="en-US" altLang="zh-CN" sz="12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2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个空位，</a:t>
            </a:r>
            <a:r>
              <a:rPr lang="en-US" altLang="zh-CN" sz="12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s2</a:t>
            </a:r>
            <a:r>
              <a:rPr lang="zh-CN" altLang="en-US" sz="12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有</a:t>
            </a:r>
            <a:r>
              <a:rPr lang="en-US" altLang="zh-CN" sz="12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2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个字符要复制，</a:t>
            </a:r>
            <a:endParaRPr lang="en-US" altLang="zh-CN" sz="1200" b="1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2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最后还要加上一个</a:t>
            </a:r>
            <a:r>
              <a:rPr lang="en-US" altLang="zh-CN" sz="12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'\0'</a:t>
            </a:r>
            <a:r>
              <a:rPr lang="zh-CN" altLang="en-US" sz="12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，导致数组越界</a:t>
            </a:r>
            <a:endParaRPr lang="zh-CN" altLang="en-US" sz="1200" dirty="0"/>
          </a:p>
        </p:txBody>
      </p:sp>
      <p:sp>
        <p:nvSpPr>
          <p:cNvPr id="4" name="矩形 3"/>
          <p:cNvSpPr/>
          <p:nvPr/>
        </p:nvSpPr>
        <p:spPr>
          <a:xfrm>
            <a:off x="681093" y="3592401"/>
            <a:ext cx="11240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拼接前的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zh-CN" altLang="en-US" sz="1200" dirty="0"/>
          </a:p>
        </p:txBody>
      </p:sp>
      <p:sp>
        <p:nvSpPr>
          <p:cNvPr id="17" name="矩形 16"/>
          <p:cNvSpPr/>
          <p:nvPr/>
        </p:nvSpPr>
        <p:spPr>
          <a:xfrm>
            <a:off x="681092" y="3973933"/>
            <a:ext cx="11240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拼接后的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s1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zh-CN" altLang="en-US" sz="1200" dirty="0"/>
          </a:p>
        </p:txBody>
      </p:sp>
      <p:sp>
        <p:nvSpPr>
          <p:cNvPr id="18" name="矩形 17"/>
          <p:cNvSpPr/>
          <p:nvPr/>
        </p:nvSpPr>
        <p:spPr>
          <a:xfrm>
            <a:off x="689406" y="4821875"/>
            <a:ext cx="55193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1000"/>
              </a:spcBef>
              <a:buSzPct val="125000"/>
            </a:pP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strcat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会返回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dst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数组，所以可以直接对其返回值进行操作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9CA6357-7724-41CA-8D68-D5E4501C36FA}"/>
              </a:ext>
            </a:extLst>
          </p:cNvPr>
          <p:cNvSpPr/>
          <p:nvPr/>
        </p:nvSpPr>
        <p:spPr>
          <a:xfrm>
            <a:off x="689406" y="5202087"/>
            <a:ext cx="46972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 s1[10]="abcd",s2[10]="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efg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lvl="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strlen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strcat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(s1,s2)); // 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4951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2" grpId="0"/>
      <p:bldP spid="18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52405</TotalTime>
  <Words>2304</Words>
  <Application>Microsoft Office PowerPoint</Application>
  <PresentationFormat>宽屏</PresentationFormat>
  <Paragraphs>221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华文楷体</vt:lpstr>
      <vt:lpstr>Arial</vt:lpstr>
      <vt:lpstr>Consolas</vt:lpstr>
      <vt:lpstr>Tw Cen MT</vt:lpstr>
      <vt:lpstr>电路</vt:lpstr>
      <vt:lpstr>NOIP 入门 —— 字符数组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青 林</cp:lastModifiedBy>
  <cp:revision>386</cp:revision>
  <dcterms:created xsi:type="dcterms:W3CDTF">2018-08-09T00:16:20Z</dcterms:created>
  <dcterms:modified xsi:type="dcterms:W3CDTF">2024-12-07T07:55:29Z</dcterms:modified>
</cp:coreProperties>
</file>