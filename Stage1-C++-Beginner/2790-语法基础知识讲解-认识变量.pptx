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49" r:id="rId3"/>
    <p:sldId id="350" r:id="rId4"/>
    <p:sldId id="347" r:id="rId5"/>
    <p:sldId id="332" r:id="rId6"/>
    <p:sldId id="346" r:id="rId7"/>
    <p:sldId id="334" r:id="rId8"/>
    <p:sldId id="355" r:id="rId9"/>
    <p:sldId id="348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462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NOIP </a:t>
            </a:r>
            <a:r>
              <a:rPr lang="zh-CN" altLang="en-US" dirty="0"/>
              <a:t>入门 </a:t>
            </a:r>
            <a:r>
              <a:rPr lang="en-US" altLang="zh-CN" dirty="0"/>
              <a:t>– </a:t>
            </a:r>
            <a:r>
              <a:rPr lang="zh-CN" altLang="en-US" dirty="0"/>
              <a:t>语言基础（二）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认识变量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561248C-4066-40A7-980B-CE7271CC60D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变量的值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82CB96-6147-4FAC-BBF7-1946FD4BCEE9}"/>
              </a:ext>
            </a:extLst>
          </p:cNvPr>
          <p:cNvSpPr txBox="1"/>
          <p:nvPr/>
        </p:nvSpPr>
        <p:spPr>
          <a:xfrm>
            <a:off x="6524932" y="1228202"/>
            <a:ext cx="49884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174625" indent="-174625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变量相当于一个放数据的房间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一个房间放一个数据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必须要先定义后才能使用（没登记过的房间不能入住）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可以为一个变量多次赋值（房间一直都在，但是里面装的数据可以变）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放入新的数据，原有的数据就被替换了，就丢了（喜新厌旧）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变量定义后，如果不赋值，其值无法预知，使用前必须初始化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定义变量时必须指定数据类型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需要指定房型，决定了房间里能放多大的数据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可一次性定义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多个变量，逗号分隔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赋值语句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等号左侧是变量名，右侧是表达式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先计算右侧的表达式，结果数字，然后将数字放入左侧变量代表的房间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可以连续赋值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表达式中的变量名，代表该变量的值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带有变量名的表达式：读取变量当前的值并进行计算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B3D9D11-1613-4434-8479-18C41058FF67}"/>
              </a:ext>
            </a:extLst>
          </p:cNvPr>
          <p:cNvSpPr txBox="1">
            <a:spLocks/>
          </p:cNvSpPr>
          <p:nvPr/>
        </p:nvSpPr>
        <p:spPr>
          <a:xfrm>
            <a:off x="622570" y="1228202"/>
            <a:ext cx="5755531" cy="3264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 </a:t>
            </a: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008200"/>
                </a:solidFill>
                <a:latin typeface="Consolas" panose="020B0609020204030204" pitchFamily="49" charset="0"/>
              </a:rPr>
              <a:t>例题</a:t>
            </a: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</a:rPr>
              <a:t>: </a:t>
            </a:r>
            <a:r>
              <a:rPr lang="zh-CN" altLang="en-US" sz="1600" dirty="0">
                <a:solidFill>
                  <a:srgbClr val="008200"/>
                </a:solidFill>
                <a:latin typeface="Consolas" panose="020B0609020204030204" pitchFamily="49" charset="0"/>
              </a:rPr>
              <a:t>未初始化就使用变量</a:t>
            </a:r>
            <a:endParaRPr lang="en-US" altLang="zh-CN" sz="16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 </a:t>
            </a: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3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 </a:t>
            </a: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5 </a:t>
            </a: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a,b,c,d,e,f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6 </a:t>
            </a: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7 </a:t>
            </a: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8 </a:t>
            </a: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&lt;&lt;c&lt;&lt;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6 </a:t>
            </a: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&lt;&lt;d&lt;&lt;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7 </a:t>
            </a: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&lt;&lt;e&lt;&lt;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8 </a:t>
            </a: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&lt;&lt;f&lt;&lt;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9 </a:t>
            </a: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1250B67-14B4-4CFA-9F46-2A2046321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057" y="1616086"/>
            <a:ext cx="752475" cy="18478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58422BC-2C00-45D6-B559-400C72883B1B}"/>
              </a:ext>
            </a:extLst>
          </p:cNvPr>
          <p:cNvSpPr/>
          <p:nvPr/>
        </p:nvSpPr>
        <p:spPr>
          <a:xfrm>
            <a:off x="4256880" y="1194817"/>
            <a:ext cx="1435537" cy="421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黑窗口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9744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E0AA4-2F96-4FF5-94ED-637BF1D02D7F}"/>
              </a:ext>
            </a:extLst>
          </p:cNvPr>
          <p:cNvSpPr txBox="1">
            <a:spLocks/>
          </p:cNvSpPr>
          <p:nvPr/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6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Comic Sans MS" panose="030F0702030302020204" pitchFamily="66" charset="0"/>
                <a:ea typeface="微软雅黑" panose="020B0503020204020204" pitchFamily="34" charset="-122"/>
              </a:rPr>
              <a:t>例题</a:t>
            </a:r>
            <a:r>
              <a:rPr lang="en-US" altLang="zh-CN" dirty="0">
                <a:latin typeface="Comic Sans MS" panose="030F0702030302020204" pitchFamily="66" charset="0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Comic Sans MS" panose="030F0702030302020204" pitchFamily="66" charset="0"/>
                <a:ea typeface="微软雅黑" panose="020B0503020204020204" pitchFamily="34" charset="-122"/>
              </a:rPr>
              <a:t>交换两个变量的值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AF0413-3E30-49ED-80AC-DAA9A78686ED}"/>
              </a:ext>
            </a:extLst>
          </p:cNvPr>
          <p:cNvSpPr txBox="1"/>
          <p:nvPr/>
        </p:nvSpPr>
        <p:spPr>
          <a:xfrm>
            <a:off x="431091" y="1199867"/>
            <a:ext cx="19135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-US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a=b;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b=a;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</a:t>
            </a:r>
            <a:r>
              <a:rPr lang="zh-C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D8D48B-8EF8-4447-8130-4F52BE09BD52}"/>
              </a:ext>
            </a:extLst>
          </p:cNvPr>
          <p:cNvSpPr txBox="1"/>
          <p:nvPr/>
        </p:nvSpPr>
        <p:spPr>
          <a:xfrm>
            <a:off x="3383199" y="1200409"/>
            <a:ext cx="19135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方法一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-US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t=a;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a=b;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b=t;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</a:t>
            </a:r>
            <a:r>
              <a:rPr lang="en-US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09A4D3-C0C3-44F5-A454-332AB9F0385C}"/>
              </a:ext>
            </a:extLst>
          </p:cNvPr>
          <p:cNvSpPr txBox="1"/>
          <p:nvPr/>
        </p:nvSpPr>
        <p:spPr>
          <a:xfrm>
            <a:off x="7196533" y="1200409"/>
            <a:ext cx="19135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方法二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-US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a+b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b=a-b;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a=a-b;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</a:t>
            </a:r>
            <a:r>
              <a:rPr lang="en-US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5C1833-FA3A-4934-BF4E-69008FB00D99}"/>
              </a:ext>
            </a:extLst>
          </p:cNvPr>
          <p:cNvSpPr txBox="1"/>
          <p:nvPr/>
        </p:nvSpPr>
        <p:spPr>
          <a:xfrm>
            <a:off x="3383198" y="3793857"/>
            <a:ext cx="3583115" cy="2555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 用</a:t>
            </a:r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大法观察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-US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t=a;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</a:t>
            </a:r>
            <a:r>
              <a:rPr lang="en-US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"a="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b="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</a:t>
            </a:r>
            <a:r>
              <a:rPr lang="en-US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t="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&lt;&lt;t&lt;&lt;</a:t>
            </a:r>
            <a:r>
              <a:rPr lang="en-US" altLang="zh-CN" sz="12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a=b;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</a:t>
            </a:r>
            <a:r>
              <a:rPr lang="en-US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"a="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b="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</a:t>
            </a:r>
            <a:r>
              <a:rPr lang="en-US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t="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&lt;&lt;t&lt;&lt;</a:t>
            </a:r>
            <a:r>
              <a:rPr lang="en-US" altLang="zh-CN" sz="12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b=t;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</a:t>
            </a:r>
            <a:r>
              <a:rPr lang="en-US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ACB134-E3E4-4B54-AC02-748CCC6C8ACB}"/>
              </a:ext>
            </a:extLst>
          </p:cNvPr>
          <p:cNvSpPr txBox="1"/>
          <p:nvPr/>
        </p:nvSpPr>
        <p:spPr>
          <a:xfrm>
            <a:off x="7196533" y="3779013"/>
            <a:ext cx="2866400" cy="2555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 用</a:t>
            </a:r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大法观察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-US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a+b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</a:t>
            </a:r>
            <a:r>
              <a:rPr lang="en-US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"a="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b="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</a:t>
            </a:r>
            <a:r>
              <a:rPr lang="en-US" altLang="zh-CN" sz="12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b=a-b;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</a:t>
            </a:r>
            <a:r>
              <a:rPr lang="en-US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"a="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b="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</a:t>
            </a:r>
            <a:r>
              <a:rPr lang="en-US" altLang="zh-CN" sz="12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a=a-b;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</a:t>
            </a:r>
            <a:r>
              <a:rPr lang="en-US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5">
            <a:extLst>
              <a:ext uri="{FF2B5EF4-FFF2-40B4-BE49-F238E27FC236}">
                <a16:creationId xmlns:a16="http://schemas.microsoft.com/office/drawing/2014/main" id="{3D5C1833-FA3A-4934-BF4E-69008FB00D99}"/>
              </a:ext>
            </a:extLst>
          </p:cNvPr>
          <p:cNvSpPr txBox="1"/>
          <p:nvPr/>
        </p:nvSpPr>
        <p:spPr>
          <a:xfrm>
            <a:off x="431092" y="3793857"/>
            <a:ext cx="2648766" cy="2001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 用</a:t>
            </a:r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大法观察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-US" altLang="zh-CN" sz="1200" b="1" kern="1200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a=b;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</a:t>
            </a:r>
            <a:r>
              <a:rPr lang="en-US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"a="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b="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</a:t>
            </a:r>
            <a:r>
              <a:rPr lang="en-US" altLang="zh-CN" sz="12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b=a;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</a:t>
            </a:r>
            <a:r>
              <a:rPr lang="en-US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F75D62-4479-4747-9B4E-DB2F9A2DB0A3}"/>
              </a:ext>
            </a:extLst>
          </p:cNvPr>
          <p:cNvSpPr/>
          <p:nvPr/>
        </p:nvSpPr>
        <p:spPr>
          <a:xfrm>
            <a:off x="2043058" y="3291441"/>
            <a:ext cx="1435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黑窗口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F75D62-4479-4747-9B4E-DB2F9A2DB0A3}"/>
              </a:ext>
            </a:extLst>
          </p:cNvPr>
          <p:cNvSpPr/>
          <p:nvPr/>
        </p:nvSpPr>
        <p:spPr>
          <a:xfrm>
            <a:off x="4954366" y="3291441"/>
            <a:ext cx="1435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黑窗口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F75D62-4479-4747-9B4E-DB2F9A2DB0A3}"/>
              </a:ext>
            </a:extLst>
          </p:cNvPr>
          <p:cNvSpPr/>
          <p:nvPr/>
        </p:nvSpPr>
        <p:spPr>
          <a:xfrm>
            <a:off x="8796987" y="3291441"/>
            <a:ext cx="1435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黑窗口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9" name="文本框 4">
            <a:extLst>
              <a:ext uri="{FF2B5EF4-FFF2-40B4-BE49-F238E27FC236}">
                <a16:creationId xmlns:a16="http://schemas.microsoft.com/office/drawing/2014/main" id="{B909A4D3-C0C3-44F5-A454-332AB9F0385C}"/>
              </a:ext>
            </a:extLst>
          </p:cNvPr>
          <p:cNvSpPr txBox="1"/>
          <p:nvPr/>
        </p:nvSpPr>
        <p:spPr>
          <a:xfrm>
            <a:off x="10062933" y="1199867"/>
            <a:ext cx="1913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方法三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-US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swap(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</a:t>
            </a:r>
            <a:r>
              <a:rPr lang="en-US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6124F2-F17B-4A96-9BAA-426876F1D5F8}"/>
              </a:ext>
            </a:extLst>
          </p:cNvPr>
          <p:cNvSpPr txBox="1"/>
          <p:nvPr/>
        </p:nvSpPr>
        <p:spPr>
          <a:xfrm>
            <a:off x="431091" y="1255836"/>
            <a:ext cx="19135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错误做法</a:t>
            </a:r>
            <a:endParaRPr lang="zh-CN" altLang="en-US" sz="12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6B2E0B3-6EC0-453E-BF8C-FC2075C0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020" y="3660773"/>
            <a:ext cx="940837" cy="79609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50CC2F5-5EEF-425B-A64A-22B3BDD58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925" y="3660773"/>
            <a:ext cx="1336977" cy="95884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72BB94C-B89A-458A-823A-E72072547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523" y="3660773"/>
            <a:ext cx="900159" cy="100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3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1" grpId="0"/>
      <p:bldP spid="12" grpId="0"/>
      <p:bldP spid="19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">
            <a:extLst>
              <a:ext uri="{FF2B5EF4-FFF2-40B4-BE49-F238E27FC236}">
                <a16:creationId xmlns:a16="http://schemas.microsoft.com/office/drawing/2014/main" id="{3561248C-4066-40A7-980B-CE7271CC60D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数据类型与精度</a:t>
            </a:r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F1AF0413-3E30-49ED-80AC-DAA9A78686ED}"/>
              </a:ext>
            </a:extLst>
          </p:cNvPr>
          <p:cNvSpPr txBox="1"/>
          <p:nvPr/>
        </p:nvSpPr>
        <p:spPr>
          <a:xfrm>
            <a:off x="316002" y="2154020"/>
            <a:ext cx="5591184" cy="1262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整型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占用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byte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数据范围：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，约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亿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亿，约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-2×10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~2×10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后面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个零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2">
            <a:extLst>
              <a:ext uri="{FF2B5EF4-FFF2-40B4-BE49-F238E27FC236}">
                <a16:creationId xmlns:a16="http://schemas.microsoft.com/office/drawing/2014/main" id="{F1AF0413-3E30-49ED-80AC-DAA9A78686ED}"/>
              </a:ext>
            </a:extLst>
          </p:cNvPr>
          <p:cNvSpPr txBox="1"/>
          <p:nvPr/>
        </p:nvSpPr>
        <p:spPr>
          <a:xfrm>
            <a:off x="5907186" y="3461549"/>
            <a:ext cx="5130984" cy="1262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float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单精度浮点型（实数）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占用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byte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数据范围：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位有效数字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6002" y="1611452"/>
            <a:ext cx="2180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《</a:t>
            </a:r>
            <a:r>
              <a:rPr lang="zh-CN" altLang="en-US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入门篇</a:t>
            </a:r>
            <a:r>
              <a:rPr lang="en-US" altLang="zh-CN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》P57</a:t>
            </a:r>
            <a:r>
              <a:rPr lang="zh-CN" altLang="en-US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表格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6FC2C3-FD56-4E9F-8FB2-8B2487421771}"/>
              </a:ext>
            </a:extLst>
          </p:cNvPr>
          <p:cNvSpPr/>
          <p:nvPr/>
        </p:nvSpPr>
        <p:spPr>
          <a:xfrm>
            <a:off x="5907186" y="2154020"/>
            <a:ext cx="6096000" cy="11392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long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long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整型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占用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byte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数据范围：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63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63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，约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-9×10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18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~9×10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18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后面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18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个零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6F9556-B9F9-412A-9DC1-07529C6B3CF9}"/>
              </a:ext>
            </a:extLst>
          </p:cNvPr>
          <p:cNvSpPr/>
          <p:nvPr/>
        </p:nvSpPr>
        <p:spPr>
          <a:xfrm>
            <a:off x="5907186" y="4892188"/>
            <a:ext cx="5130984" cy="1139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double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双精度浮点型（实数）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占用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byte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数据范围：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15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位有效数字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3DB1AE-BEC5-4C3F-8A6A-52EE12361618}"/>
              </a:ext>
            </a:extLst>
          </p:cNvPr>
          <p:cNvSpPr/>
          <p:nvPr/>
        </p:nvSpPr>
        <p:spPr>
          <a:xfrm>
            <a:off x="316002" y="3589589"/>
            <a:ext cx="5591184" cy="169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字符类型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占用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byte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数据范围：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-128~127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英文单引号引起来的一个字符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表中的每个字符都有一个数字来代表，此为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码（内码）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879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/>
      <p:bldP spid="6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50868A-4E36-4BDE-947E-0C5F310E4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7345" y="1341543"/>
            <a:ext cx="5312781" cy="4225176"/>
          </a:xfrm>
          <a:solidFill>
            <a:schemeClr val="tx1">
              <a:alpha val="9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表达式的计算方法：</a:t>
            </a:r>
            <a:endParaRPr lang="en-US" altLang="zh-CN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r>
              <a:rPr lang="zh-C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从左向右，先乘除取余后加减，有括号先算括号里的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r>
              <a:rPr lang="zh-C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算出一个中间结果后再做下一个计算，依次进行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r>
              <a:rPr lang="zh-C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不同数据类型的数会先转换为相同的数据类型后再计算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这种转换是自动进行的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精度低的数据类型被转为精度更高的数据类型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计算后的中间结果仍然是精度更高的数据类型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只是计算过程中临时发生了转换，变量的值并没有改变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r>
              <a:rPr lang="zh-C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数据类型的精度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能表达更大数据范围的数据类型精度更高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实数比整数精度更高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  int   long </a:t>
            </a:r>
            <a:r>
              <a:rPr lang="en-US" altLang="zh-CN" sz="1200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long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float   double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6461CB64-699C-43A5-B0DB-725F450426E5}"/>
              </a:ext>
            </a:extLst>
          </p:cNvPr>
          <p:cNvSpPr/>
          <p:nvPr/>
        </p:nvSpPr>
        <p:spPr>
          <a:xfrm>
            <a:off x="7500854" y="5307013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4D26B2C-2714-4C4B-9AFF-3E107AEF563B}"/>
              </a:ext>
            </a:extLst>
          </p:cNvPr>
          <p:cNvSpPr/>
          <p:nvPr/>
        </p:nvSpPr>
        <p:spPr>
          <a:xfrm>
            <a:off x="7994476" y="5307012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B97C898-EE3A-455C-A08E-7AA552631FC0}"/>
              </a:ext>
            </a:extLst>
          </p:cNvPr>
          <p:cNvSpPr/>
          <p:nvPr/>
        </p:nvSpPr>
        <p:spPr>
          <a:xfrm>
            <a:off x="9003520" y="5307011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82E5D10-1DC8-4D31-9465-89959E3726F3}"/>
              </a:ext>
            </a:extLst>
          </p:cNvPr>
          <p:cNvSpPr/>
          <p:nvPr/>
        </p:nvSpPr>
        <p:spPr>
          <a:xfrm>
            <a:off x="9670239" y="5307011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3">
            <a:extLst>
              <a:ext uri="{FF2B5EF4-FFF2-40B4-BE49-F238E27FC236}">
                <a16:creationId xmlns:a16="http://schemas.microsoft.com/office/drawing/2014/main" id="{3561248C-4066-40A7-980B-CE7271CC60D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自动数据类型转换：计算表达式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479274"/>
              </p:ext>
            </p:extLst>
          </p:nvPr>
        </p:nvGraphicFramePr>
        <p:xfrm>
          <a:off x="341874" y="1911858"/>
          <a:ext cx="6105225" cy="315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程序片段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3E3F5429-7D89-5F74-4963-99E490B6B7CB}"/>
              </a:ext>
            </a:extLst>
          </p:cNvPr>
          <p:cNvSpPr txBox="1"/>
          <p:nvPr/>
        </p:nvSpPr>
        <p:spPr>
          <a:xfrm>
            <a:off x="341874" y="2300406"/>
            <a:ext cx="17337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&lt;&lt;5/3;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5E598A-99EA-E0DB-B989-6C4A7C8D11C4}"/>
              </a:ext>
            </a:extLst>
          </p:cNvPr>
          <p:cNvSpPr txBox="1"/>
          <p:nvPr/>
        </p:nvSpPr>
        <p:spPr>
          <a:xfrm>
            <a:off x="341874" y="2698704"/>
            <a:ext cx="17337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&lt;&lt;5/3.0;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53BFC2-F9F0-9DDB-CDAC-FE18B17545FF}"/>
              </a:ext>
            </a:extLst>
          </p:cNvPr>
          <p:cNvSpPr txBox="1"/>
          <p:nvPr/>
        </p:nvSpPr>
        <p:spPr>
          <a:xfrm>
            <a:off x="333786" y="3365076"/>
            <a:ext cx="1723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&lt;&lt;5/3*2.0;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3AD07FB-AB3D-FFD9-92AF-A8EEAC26C3E7}"/>
              </a:ext>
            </a:extLst>
          </p:cNvPr>
          <p:cNvSpPr txBox="1"/>
          <p:nvPr/>
        </p:nvSpPr>
        <p:spPr>
          <a:xfrm>
            <a:off x="341874" y="4387871"/>
            <a:ext cx="17337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&lt;&lt;5/3.0*2.0;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49686FB-F320-029B-6C1E-D4625AC14934}"/>
              </a:ext>
            </a:extLst>
          </p:cNvPr>
          <p:cNvSpPr txBox="1"/>
          <p:nvPr/>
        </p:nvSpPr>
        <p:spPr>
          <a:xfrm>
            <a:off x="2148120" y="2327802"/>
            <a:ext cx="8699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16365DB-0E20-066C-3C0D-B9F6AA0431D7}"/>
              </a:ext>
            </a:extLst>
          </p:cNvPr>
          <p:cNvSpPr txBox="1"/>
          <p:nvPr/>
        </p:nvSpPr>
        <p:spPr>
          <a:xfrm>
            <a:off x="2148120" y="2704695"/>
            <a:ext cx="914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1.66667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E04A80-0834-8843-7542-9CE6F962AAA2}"/>
              </a:ext>
            </a:extLst>
          </p:cNvPr>
          <p:cNvSpPr txBox="1"/>
          <p:nvPr/>
        </p:nvSpPr>
        <p:spPr>
          <a:xfrm>
            <a:off x="2109890" y="3359848"/>
            <a:ext cx="889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F6C6630-70C0-7C9D-4D3E-31D36FB4338A}"/>
              </a:ext>
            </a:extLst>
          </p:cNvPr>
          <p:cNvSpPr txBox="1"/>
          <p:nvPr/>
        </p:nvSpPr>
        <p:spPr>
          <a:xfrm>
            <a:off x="2140667" y="4382643"/>
            <a:ext cx="8774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3.33333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A2E6306-04F7-34AB-AFA3-E11CE2797AE6}"/>
              </a:ext>
            </a:extLst>
          </p:cNvPr>
          <p:cNvSpPr txBox="1"/>
          <p:nvPr/>
        </p:nvSpPr>
        <p:spPr>
          <a:xfrm>
            <a:off x="3064803" y="2322574"/>
            <a:ext cx="3382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整数除法无小数</a:t>
            </a:r>
            <a:endParaRPr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F00D01A-4DB3-2274-456D-6A9CF37764B1}"/>
              </a:ext>
            </a:extLst>
          </p:cNvPr>
          <p:cNvSpPr txBox="1"/>
          <p:nvPr/>
        </p:nvSpPr>
        <p:spPr>
          <a:xfrm>
            <a:off x="3062960" y="2698703"/>
            <a:ext cx="3382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自动类型转换为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float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后再计算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2C73205-6241-C176-DD9C-C0BCDB159B63}"/>
              </a:ext>
            </a:extLst>
          </p:cNvPr>
          <p:cNvSpPr txBox="1"/>
          <p:nvPr/>
        </p:nvSpPr>
        <p:spPr>
          <a:xfrm>
            <a:off x="3062960" y="3192777"/>
            <a:ext cx="33133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先计算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5/3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，整数除法无小数得到中间结果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；然后计算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1*2.0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自动类型转换为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float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后再计算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CB17C8E-1338-CCF7-59C3-00ED9C0D9CAA}"/>
              </a:ext>
            </a:extLst>
          </p:cNvPr>
          <p:cNvSpPr txBox="1"/>
          <p:nvPr/>
        </p:nvSpPr>
        <p:spPr>
          <a:xfrm>
            <a:off x="3070588" y="4167199"/>
            <a:ext cx="33133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先计算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5/3.0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自动类型转换为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float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后再计算得到中间结果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1.66667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；然后计算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1.66667*2.0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588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  <p:bldP spid="25" grpId="0"/>
      <p:bldP spid="29" grpId="0"/>
      <p:bldP spid="33" grpId="0"/>
      <p:bldP spid="37" grpId="0"/>
      <p:bldP spid="41" grpId="0"/>
      <p:bldP spid="45" grpId="0"/>
      <p:bldP spid="49" grpId="0"/>
      <p:bldP spid="53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50868A-4E36-4BDE-947E-0C5F310E4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294" y="1486111"/>
            <a:ext cx="5185458" cy="5104470"/>
          </a:xfrm>
        </p:spPr>
        <p:txBody>
          <a:bodyPr/>
          <a:lstStyle/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赋值时，先计算等号右边的表达式，再将计算结果赋值给等号左边的变量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如果等号两边类型不一样，会自动将右侧的类型转换为左侧的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如果将精度高的的数值赋值给精度更低类型的变量，将丢失一部分精度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将实数类型的数值赋值给整数类型的变量，小数部分会丢失（单纯的丢失，不是四舍五入）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0" indent="0">
              <a:buNone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文本框 3">
            <a:extLst>
              <a:ext uri="{FF2B5EF4-FFF2-40B4-BE49-F238E27FC236}">
                <a16:creationId xmlns:a16="http://schemas.microsoft.com/office/drawing/2014/main" id="{3561248C-4066-40A7-980B-CE7271CC60D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自动数据类型转换：赋值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748493"/>
              </p:ext>
            </p:extLst>
          </p:nvPr>
        </p:nvGraphicFramePr>
        <p:xfrm>
          <a:off x="341874" y="1911858"/>
          <a:ext cx="6105225" cy="329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1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程序片段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26A6EA2-EF6B-439D-8697-339E3CC4C4FF}"/>
              </a:ext>
            </a:extLst>
          </p:cNvPr>
          <p:cNvSpPr txBox="1"/>
          <p:nvPr/>
        </p:nvSpPr>
        <p:spPr>
          <a:xfrm>
            <a:off x="374248" y="2260002"/>
            <a:ext cx="3294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a=5/3;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&lt;&lt;a;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FA11AB-18F6-6EF1-65FA-A0DB2CE54DA4}"/>
              </a:ext>
            </a:extLst>
          </p:cNvPr>
          <p:cNvSpPr txBox="1"/>
          <p:nvPr/>
        </p:nvSpPr>
        <p:spPr>
          <a:xfrm>
            <a:off x="3701193" y="2367723"/>
            <a:ext cx="601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F8EFA0-2995-528E-19C8-E91600595148}"/>
              </a:ext>
            </a:extLst>
          </p:cNvPr>
          <p:cNvSpPr txBox="1"/>
          <p:nvPr/>
        </p:nvSpPr>
        <p:spPr>
          <a:xfrm>
            <a:off x="352035" y="2884119"/>
            <a:ext cx="33167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b=5,c=3;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d=b/c;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&lt;&lt;fixed&lt;&lt;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setprecision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(2)&lt;&lt;d;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1DCE3FA-0100-D315-B17D-4F65057DA81C}"/>
              </a:ext>
            </a:extLst>
          </p:cNvPr>
          <p:cNvSpPr txBox="1"/>
          <p:nvPr/>
        </p:nvSpPr>
        <p:spPr>
          <a:xfrm>
            <a:off x="3668820" y="3098283"/>
            <a:ext cx="633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FC5CE2D-CB3A-3165-2A41-CC552147D5EA}"/>
              </a:ext>
            </a:extLst>
          </p:cNvPr>
          <p:cNvSpPr txBox="1"/>
          <p:nvPr/>
        </p:nvSpPr>
        <p:spPr>
          <a:xfrm>
            <a:off x="4335101" y="2593137"/>
            <a:ext cx="2071309" cy="70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等号右边表达式为整数相除，无小数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1ED4C6-950F-7DC3-59A4-153E5CA7BCC6}"/>
              </a:ext>
            </a:extLst>
          </p:cNvPr>
          <p:cNvSpPr txBox="1"/>
          <p:nvPr/>
        </p:nvSpPr>
        <p:spPr>
          <a:xfrm>
            <a:off x="374248" y="3870151"/>
            <a:ext cx="3294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e=2.1;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&lt;&lt;e;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B119930-3E55-E29A-DB84-A94D1B40D309}"/>
              </a:ext>
            </a:extLst>
          </p:cNvPr>
          <p:cNvSpPr txBox="1"/>
          <p:nvPr/>
        </p:nvSpPr>
        <p:spPr>
          <a:xfrm>
            <a:off x="3712300" y="3976593"/>
            <a:ext cx="601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12DA5BD-4BE4-47D1-7CA0-9903738E0C64}"/>
              </a:ext>
            </a:extLst>
          </p:cNvPr>
          <p:cNvSpPr txBox="1"/>
          <p:nvPr/>
        </p:nvSpPr>
        <p:spPr>
          <a:xfrm>
            <a:off x="374248" y="4536631"/>
            <a:ext cx="33269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f=2.9;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&lt;&lt;f;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C395887-4643-9151-3E08-DCA3C0A82E10}"/>
              </a:ext>
            </a:extLst>
          </p:cNvPr>
          <p:cNvSpPr txBox="1"/>
          <p:nvPr/>
        </p:nvSpPr>
        <p:spPr>
          <a:xfrm>
            <a:off x="3695356" y="4644352"/>
            <a:ext cx="601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F426999-186C-8395-370E-96298EFF44AE}"/>
              </a:ext>
            </a:extLst>
          </p:cNvPr>
          <p:cNvSpPr txBox="1"/>
          <p:nvPr/>
        </p:nvSpPr>
        <p:spPr>
          <a:xfrm>
            <a:off x="4346208" y="3754797"/>
            <a:ext cx="2060202" cy="1026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实数赋值给整数类型，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丢失小数部分（不是四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舍五入）</a:t>
            </a:r>
          </a:p>
        </p:txBody>
      </p:sp>
    </p:spTree>
    <p:extLst>
      <p:ext uri="{BB962C8B-B14F-4D97-AF65-F5344CB8AC3E}">
        <p14:creationId xmlns:p14="http://schemas.microsoft.com/office/powerpoint/2010/main" val="302640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4" grpId="0"/>
      <p:bldP spid="28" grpId="0"/>
      <p:bldP spid="32" grpId="0"/>
      <p:bldP spid="36" grpId="0"/>
      <p:bldP spid="37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BD88DE-6361-4171-9990-2DB5286642E7}"/>
              </a:ext>
            </a:extLst>
          </p:cNvPr>
          <p:cNvSpPr txBox="1">
            <a:spLocks/>
          </p:cNvSpPr>
          <p:nvPr/>
        </p:nvSpPr>
        <p:spPr>
          <a:xfrm>
            <a:off x="6551269" y="1261641"/>
            <a:ext cx="5312781" cy="532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自动数据类型转换达不到目的时，可以进行强制数据类型转换，也就是明确的告诉计算机做转换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r>
              <a:rPr lang="zh-C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强制类型转换的语法：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对于变量：</a:t>
            </a:r>
            <a:r>
              <a:rPr lang="en-US" altLang="zh-CN" sz="1200" dirty="0">
                <a:latin typeface="Comic Sans MS" pitchFamily="66" charset="0"/>
                <a:ea typeface="微软雅黑" pitchFamily="34" charset="-122"/>
              </a:rPr>
              <a:t>(</a:t>
            </a:r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类型名</a:t>
            </a:r>
            <a:r>
              <a:rPr lang="en-US" altLang="zh-CN" sz="1200" dirty="0">
                <a:latin typeface="Comic Sans MS" pitchFamily="66" charset="0"/>
                <a:ea typeface="微软雅黑" pitchFamily="34" charset="-122"/>
              </a:rPr>
              <a:t>) </a:t>
            </a:r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变量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对于表达式：</a:t>
            </a:r>
            <a:r>
              <a:rPr lang="en-US" altLang="zh-CN" sz="1200" dirty="0">
                <a:latin typeface="Comic Sans MS" pitchFamily="66" charset="0"/>
                <a:ea typeface="微软雅黑" pitchFamily="34" charset="-122"/>
              </a:rPr>
              <a:t>(</a:t>
            </a:r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类型名</a:t>
            </a:r>
            <a:r>
              <a:rPr lang="en-US" altLang="zh-CN" sz="1200" dirty="0">
                <a:latin typeface="Comic Sans MS" pitchFamily="66" charset="0"/>
                <a:ea typeface="微软雅黑" pitchFamily="34" charset="-122"/>
              </a:rPr>
              <a:t>) (</a:t>
            </a:r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表达式</a:t>
            </a:r>
            <a:r>
              <a:rPr lang="en-US" altLang="zh-CN" sz="1200" dirty="0">
                <a:latin typeface="Comic Sans MS" pitchFamily="66" charset="0"/>
                <a:ea typeface="微软雅黑" pitchFamily="34" charset="-122"/>
              </a:rPr>
              <a:t>)</a:t>
            </a: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强制类型转换是一种运算，其优先级比加减乘除取余都要高，所以如果要对表达式进行强制类型转换，需要在表达式外面加上括号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r>
              <a:rPr lang="zh-C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不同数据类型的数会先转换为相同的数据类型后再计算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转换只是临时产生一个结果，变量本身并没有改变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转换后的临时结果再与别的变量或数字进行计算时，又会引发自动类型转换，计算规则与自动类型转换相同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计算后的中间结果仍然是精度更高的数据类型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</p:txBody>
      </p:sp>
      <p:sp>
        <p:nvSpPr>
          <p:cNvPr id="8" name="文本框 3">
            <a:extLst>
              <a:ext uri="{FF2B5EF4-FFF2-40B4-BE49-F238E27FC236}">
                <a16:creationId xmlns:a16="http://schemas.microsoft.com/office/drawing/2014/main" id="{B3CD85D7-6B51-4988-9F06-93CDAF3FF50D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强制数据类型转换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A568A6B-AA6D-4D66-9A6F-3E5DC10C2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27638"/>
              </p:ext>
            </p:extLst>
          </p:nvPr>
        </p:nvGraphicFramePr>
        <p:xfrm>
          <a:off x="341874" y="1935720"/>
          <a:ext cx="6105225" cy="47829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2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程序片段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lnSpc>
                          <a:spcPct val="150000"/>
                        </a:lnSpc>
                        <a:buAutoNum type="arabicPeriod"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15119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6BCB1F6-ABD4-41D3-9D8B-5B77E022C6AF}"/>
              </a:ext>
            </a:extLst>
          </p:cNvPr>
          <p:cNvSpPr txBox="1"/>
          <p:nvPr/>
        </p:nvSpPr>
        <p:spPr>
          <a:xfrm>
            <a:off x="353564" y="1239617"/>
            <a:ext cx="2000022" cy="616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首先，定义三个变量：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-US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a=5,b=3,c=2;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9E24A1-4C0B-C36F-D60E-D7B32E148757}"/>
              </a:ext>
            </a:extLst>
          </p:cNvPr>
          <p:cNvSpPr txBox="1"/>
          <p:nvPr/>
        </p:nvSpPr>
        <p:spPr>
          <a:xfrm>
            <a:off x="353564" y="2347393"/>
            <a:ext cx="19345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&lt;&lt;a/b;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9C61BE-7AE0-37FC-1B3A-93A36103899A}"/>
              </a:ext>
            </a:extLst>
          </p:cNvPr>
          <p:cNvSpPr txBox="1"/>
          <p:nvPr/>
        </p:nvSpPr>
        <p:spPr>
          <a:xfrm>
            <a:off x="2288127" y="2347392"/>
            <a:ext cx="9058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993327-E775-D2E9-DBA7-5E29E02D6D28}"/>
              </a:ext>
            </a:extLst>
          </p:cNvPr>
          <p:cNvSpPr txBox="1"/>
          <p:nvPr/>
        </p:nvSpPr>
        <p:spPr>
          <a:xfrm>
            <a:off x="2321666" y="3435531"/>
            <a:ext cx="913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E8C797-1F00-4B51-8297-F02303E1B27C}"/>
              </a:ext>
            </a:extLst>
          </p:cNvPr>
          <p:cNvSpPr txBox="1"/>
          <p:nvPr/>
        </p:nvSpPr>
        <p:spPr>
          <a:xfrm>
            <a:off x="3235488" y="2359817"/>
            <a:ext cx="31780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整数除法无小数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BFC1FC3-829C-A58C-409D-1ED63B693164}"/>
              </a:ext>
            </a:extLst>
          </p:cNvPr>
          <p:cNvSpPr txBox="1"/>
          <p:nvPr/>
        </p:nvSpPr>
        <p:spPr>
          <a:xfrm>
            <a:off x="350391" y="2782528"/>
            <a:ext cx="19345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)a/b;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4961451-043E-754D-95E8-78EA06A6D8D0}"/>
              </a:ext>
            </a:extLst>
          </p:cNvPr>
          <p:cNvSpPr txBox="1"/>
          <p:nvPr/>
        </p:nvSpPr>
        <p:spPr>
          <a:xfrm>
            <a:off x="2284954" y="2787832"/>
            <a:ext cx="950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1.66667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29EDAD5-E1C1-B523-60B7-5E563F9AA2EA}"/>
              </a:ext>
            </a:extLst>
          </p:cNvPr>
          <p:cNvSpPr txBox="1"/>
          <p:nvPr/>
        </p:nvSpPr>
        <p:spPr>
          <a:xfrm>
            <a:off x="3235488" y="2656660"/>
            <a:ext cx="3178071" cy="528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被强制类型转换为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被自动类型转换为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后再计算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F5B1346-777C-B974-6D63-8B147343FC11}"/>
              </a:ext>
            </a:extLst>
          </p:cNvPr>
          <p:cNvSpPr txBox="1"/>
          <p:nvPr/>
        </p:nvSpPr>
        <p:spPr>
          <a:xfrm>
            <a:off x="383931" y="3440515"/>
            <a:ext cx="1950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)(a/b);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B40FC3B-C1A3-5B99-1A6C-4B086C232480}"/>
              </a:ext>
            </a:extLst>
          </p:cNvPr>
          <p:cNvSpPr txBox="1"/>
          <p:nvPr/>
        </p:nvSpPr>
        <p:spPr>
          <a:xfrm>
            <a:off x="3269028" y="3309663"/>
            <a:ext cx="3204155" cy="528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先计算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a/b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：整数除法无小数，得到中间结果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然后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被强制类型转换为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7EE0611-EC48-F30E-104C-880A7CED9DB5}"/>
              </a:ext>
            </a:extLst>
          </p:cNvPr>
          <p:cNvSpPr txBox="1"/>
          <p:nvPr/>
        </p:nvSpPr>
        <p:spPr>
          <a:xfrm>
            <a:off x="389797" y="4543330"/>
            <a:ext cx="1928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&lt;&lt;a/(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)b*c;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CF44BAF-3363-6F13-E3EE-E7A010663542}"/>
              </a:ext>
            </a:extLst>
          </p:cNvPr>
          <p:cNvSpPr txBox="1"/>
          <p:nvPr/>
        </p:nvSpPr>
        <p:spPr>
          <a:xfrm>
            <a:off x="2314231" y="4538346"/>
            <a:ext cx="913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3.33333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AD61A89-BF12-84BF-150D-92FF1C853794}"/>
              </a:ext>
            </a:extLst>
          </p:cNvPr>
          <p:cNvSpPr txBox="1"/>
          <p:nvPr/>
        </p:nvSpPr>
        <p:spPr>
          <a:xfrm>
            <a:off x="3269028" y="4005999"/>
            <a:ext cx="3178071" cy="145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先计算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a/(double)b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被强制类型转换为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</a:p>
          <a:p>
            <a:pPr marL="357188" marR="0" lvl="1" indent="-17462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被自动类型转换为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</a:p>
          <a:p>
            <a:pPr marL="357188" marR="0" lvl="1" indent="-17462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再计算得到中间结果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1.66667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然后计算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1.66667*c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被自动类型转换为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后再计算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9DC2490-551D-4EDE-1345-257A57029719}"/>
              </a:ext>
            </a:extLst>
          </p:cNvPr>
          <p:cNvSpPr txBox="1"/>
          <p:nvPr/>
        </p:nvSpPr>
        <p:spPr>
          <a:xfrm>
            <a:off x="341874" y="5853328"/>
            <a:ext cx="19461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&lt;&lt;a/b*(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)c;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6CB5616-5058-0FC6-78EA-5499EF1E412B}"/>
              </a:ext>
            </a:extLst>
          </p:cNvPr>
          <p:cNvSpPr txBox="1"/>
          <p:nvPr/>
        </p:nvSpPr>
        <p:spPr>
          <a:xfrm>
            <a:off x="2314232" y="5853327"/>
            <a:ext cx="913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5BEE3AC-F539-3571-3F5F-AFCFAB719AC2}"/>
              </a:ext>
            </a:extLst>
          </p:cNvPr>
          <p:cNvSpPr txBox="1"/>
          <p:nvPr/>
        </p:nvSpPr>
        <p:spPr>
          <a:xfrm>
            <a:off x="3194020" y="5636177"/>
            <a:ext cx="3130226" cy="99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先计算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a/b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：整数除法无小数，得到中间结果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然后计算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1*(double)c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被强制类型转换为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</a:p>
          <a:p>
            <a:pPr marL="357188" marR="0" lvl="1" indent="-17462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被自动类型转换为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后再计算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342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18" grpId="0"/>
      <p:bldP spid="22" grpId="0"/>
      <p:bldP spid="26" grpId="0"/>
      <p:bldP spid="30" grpId="0"/>
      <p:bldP spid="34" grpId="0"/>
      <p:bldP spid="38" grpId="0"/>
      <p:bldP spid="42" grpId="0"/>
      <p:bldP spid="46" grpId="0"/>
      <p:bldP spid="50" grpId="0"/>
      <p:bldP spid="54" grpId="0"/>
      <p:bldP spid="58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3">
            <a:extLst>
              <a:ext uri="{FF2B5EF4-FFF2-40B4-BE49-F238E27FC236}">
                <a16:creationId xmlns:a16="http://schemas.microsoft.com/office/drawing/2014/main" id="{B3CD85D7-6B51-4988-9F06-93CDAF3FF50D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强制数据类型转换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A568A6B-AA6D-4D66-9A6F-3E5DC10C2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772311"/>
              </p:ext>
            </p:extLst>
          </p:nvPr>
        </p:nvGraphicFramePr>
        <p:xfrm>
          <a:off x="353564" y="2093505"/>
          <a:ext cx="10273117" cy="4644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6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程序片段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151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lnSpc>
                          <a:spcPct val="150000"/>
                        </a:lnSpc>
                        <a:buAutoNum type="arabicPeriod"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746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lnSpc>
                          <a:spcPct val="150000"/>
                        </a:lnSpc>
                        <a:buAutoNum type="arabicPeriod"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31891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6BCB1F6-ABD4-41D3-9D8B-5B77E022C6AF}"/>
              </a:ext>
            </a:extLst>
          </p:cNvPr>
          <p:cNvSpPr txBox="1"/>
          <p:nvPr/>
        </p:nvSpPr>
        <p:spPr>
          <a:xfrm>
            <a:off x="353564" y="1191911"/>
            <a:ext cx="4186631" cy="893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想要计算三个很大的整数的和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-US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zh-C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首先，定义三个变量：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-US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a=1100000000,b=1200000000,c=1300000000;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3C81B5-ECCE-5120-25E3-00DA62A32933}"/>
              </a:ext>
            </a:extLst>
          </p:cNvPr>
          <p:cNvSpPr txBox="1"/>
          <p:nvPr/>
        </p:nvSpPr>
        <p:spPr>
          <a:xfrm>
            <a:off x="353564" y="2509008"/>
            <a:ext cx="2432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a+b+c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;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55BA46-F595-60A3-262E-5944EA9AADEF}"/>
              </a:ext>
            </a:extLst>
          </p:cNvPr>
          <p:cNvSpPr txBox="1"/>
          <p:nvPr/>
        </p:nvSpPr>
        <p:spPr>
          <a:xfrm>
            <a:off x="2785730" y="2509008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3C8F92-9C37-7B4A-4516-94F00F3921D0}"/>
              </a:ext>
            </a:extLst>
          </p:cNvPr>
          <p:cNvSpPr txBox="1"/>
          <p:nvPr/>
        </p:nvSpPr>
        <p:spPr>
          <a:xfrm>
            <a:off x="3895769" y="2539786"/>
            <a:ext cx="67309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溢出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31642D4-8899-DD45-46CF-E91D42A365FA}"/>
              </a:ext>
            </a:extLst>
          </p:cNvPr>
          <p:cNvSpPr txBox="1"/>
          <p:nvPr/>
        </p:nvSpPr>
        <p:spPr>
          <a:xfrm>
            <a:off x="353564" y="3290500"/>
            <a:ext cx="2432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a+b+c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;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2A5A992-EC25-E244-14EA-DE26E17D6F6A}"/>
              </a:ext>
            </a:extLst>
          </p:cNvPr>
          <p:cNvSpPr txBox="1"/>
          <p:nvPr/>
        </p:nvSpPr>
        <p:spPr>
          <a:xfrm>
            <a:off x="2785730" y="3289160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3600000000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9C85EC4-E0CF-5712-6E68-F9A564A974C1}"/>
              </a:ext>
            </a:extLst>
          </p:cNvPr>
          <p:cNvSpPr txBox="1"/>
          <p:nvPr/>
        </p:nvSpPr>
        <p:spPr>
          <a:xfrm>
            <a:off x="3895769" y="2822169"/>
            <a:ext cx="6730912" cy="1221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先计算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(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被强制类型转换为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被自动类型转换为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357188" marR="0" lvl="1" indent="-17462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再计算得到中间结果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2300000000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然后计算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2300000000+c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被自动类型转换为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再计算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F8A0A73-94B2-F862-9094-CEDC142C56C3}"/>
              </a:ext>
            </a:extLst>
          </p:cNvPr>
          <p:cNvSpPr txBox="1"/>
          <p:nvPr/>
        </p:nvSpPr>
        <p:spPr>
          <a:xfrm>
            <a:off x="353564" y="4511711"/>
            <a:ext cx="2432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&lt;&lt;a+(</a:t>
            </a:r>
            <a:r>
              <a:rPr lang="en-US" altLang="zh-CN" sz="1200" b="1" kern="1200" noProof="0" dirty="0">
                <a:solidFill>
                  <a:srgbClr val="80808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long long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b+c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;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589AB1C-5669-E9F3-BD77-9C1AC3D5F47C}"/>
              </a:ext>
            </a:extLst>
          </p:cNvPr>
          <p:cNvSpPr txBox="1"/>
          <p:nvPr/>
        </p:nvSpPr>
        <p:spPr>
          <a:xfrm>
            <a:off x="2785729" y="4511711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3600000000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3A141D7-C880-186A-F8F4-8F80BDA84D94}"/>
              </a:ext>
            </a:extLst>
          </p:cNvPr>
          <p:cNvSpPr txBox="1"/>
          <p:nvPr/>
        </p:nvSpPr>
        <p:spPr>
          <a:xfrm>
            <a:off x="3895768" y="4054774"/>
            <a:ext cx="6096708" cy="1221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先计算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a+(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被强制类型转换为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被自动类型转换为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357188" marR="0" lvl="1" indent="-17462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再计算得到中间结果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2300000000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然后计算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2300000000+c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被自动类型转换为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再计算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D7161A3-45BB-1BBA-BC64-E4DCEE9511AE}"/>
              </a:ext>
            </a:extLst>
          </p:cNvPr>
          <p:cNvSpPr txBox="1"/>
          <p:nvPr/>
        </p:nvSpPr>
        <p:spPr>
          <a:xfrm>
            <a:off x="353564" y="5333761"/>
            <a:ext cx="24321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+(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)c;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6EBAE0D-3C2A-95C8-95FD-DF176277E04F}"/>
              </a:ext>
            </a:extLst>
          </p:cNvPr>
          <p:cNvSpPr txBox="1"/>
          <p:nvPr/>
        </p:nvSpPr>
        <p:spPr>
          <a:xfrm>
            <a:off x="2785729" y="5333760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28A36CC-5EB1-F184-DA73-74C989F9527F}"/>
              </a:ext>
            </a:extLst>
          </p:cNvPr>
          <p:cNvSpPr txBox="1"/>
          <p:nvPr/>
        </p:nvSpPr>
        <p:spPr>
          <a:xfrm>
            <a:off x="3904270" y="5333760"/>
            <a:ext cx="60967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先计算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，中间结果已经溢出了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D75B683-2856-6AB0-8173-C817554A90B9}"/>
              </a:ext>
            </a:extLst>
          </p:cNvPr>
          <p:cNvSpPr txBox="1"/>
          <p:nvPr/>
        </p:nvSpPr>
        <p:spPr>
          <a:xfrm>
            <a:off x="353564" y="5666089"/>
            <a:ext cx="24321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)(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a+b+c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);</a:t>
            </a:r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6D04547-A7A6-CAA2-6894-F7AD1A8D6CA9}"/>
              </a:ext>
            </a:extLst>
          </p:cNvPr>
          <p:cNvSpPr txBox="1"/>
          <p:nvPr/>
        </p:nvSpPr>
        <p:spPr>
          <a:xfrm>
            <a:off x="2785727" y="5708308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A2399AC-39AD-BC79-6250-E597C718E856}"/>
              </a:ext>
            </a:extLst>
          </p:cNvPr>
          <p:cNvSpPr txBox="1"/>
          <p:nvPr/>
        </p:nvSpPr>
        <p:spPr>
          <a:xfrm>
            <a:off x="2789979" y="6040391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9CAA751-CE36-7993-B082-151667E5EABE}"/>
              </a:ext>
            </a:extLst>
          </p:cNvPr>
          <p:cNvSpPr txBox="1"/>
          <p:nvPr/>
        </p:nvSpPr>
        <p:spPr>
          <a:xfrm>
            <a:off x="2785728" y="6421414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731769F-A4A2-261F-1425-0C868309EFC2}"/>
              </a:ext>
            </a:extLst>
          </p:cNvPr>
          <p:cNvSpPr txBox="1"/>
          <p:nvPr/>
        </p:nvSpPr>
        <p:spPr>
          <a:xfrm>
            <a:off x="353564" y="6032246"/>
            <a:ext cx="2432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)(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)+c;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CDE325E-2D0F-A5E8-7F65-BFEA9BFC36F7}"/>
              </a:ext>
            </a:extLst>
          </p:cNvPr>
          <p:cNvSpPr txBox="1"/>
          <p:nvPr/>
        </p:nvSpPr>
        <p:spPr>
          <a:xfrm>
            <a:off x="353564" y="6413269"/>
            <a:ext cx="2432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&lt;&lt;a+(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)(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b+c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);</a:t>
            </a:r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34A1238-937E-138F-9CB5-CCB929DB5BE7}"/>
              </a:ext>
            </a:extLst>
          </p:cNvPr>
          <p:cNvSpPr txBox="1"/>
          <p:nvPr/>
        </p:nvSpPr>
        <p:spPr>
          <a:xfrm>
            <a:off x="3904270" y="6050356"/>
            <a:ext cx="67309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都是先计算括号中的表达式，然后再对中间结果进行强制类型转换，然而括号中的表达式的计算结果已经溢出了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791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20" grpId="0"/>
      <p:bldP spid="24" grpId="0"/>
      <p:bldP spid="28" grpId="0"/>
      <p:bldP spid="29" grpId="0"/>
      <p:bldP spid="30" grpId="0"/>
      <p:bldP spid="34" grpId="0"/>
      <p:bldP spid="38" grpId="0"/>
      <p:bldP spid="42" grpId="0"/>
      <p:bldP spid="46" grpId="0"/>
      <p:bldP spid="50" grpId="0"/>
      <p:bldP spid="51" grpId="0"/>
      <p:bldP spid="52" grpId="0"/>
      <p:bldP spid="53" grpId="0"/>
      <p:bldP spid="57" grpId="0"/>
      <p:bldP spid="61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">
            <a:extLst>
              <a:ext uri="{FF2B5EF4-FFF2-40B4-BE49-F238E27FC236}">
                <a16:creationId xmlns:a16="http://schemas.microsoft.com/office/drawing/2014/main" id="{FA5DC3C6-0D0E-4E95-BFC4-A449C56B535B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常用函数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BFC3F282-737E-4B66-A706-1C7BF9E74D13}"/>
              </a:ext>
            </a:extLst>
          </p:cNvPr>
          <p:cNvSpPr txBox="1">
            <a:spLocks/>
          </p:cNvSpPr>
          <p:nvPr/>
        </p:nvSpPr>
        <p:spPr>
          <a:xfrm>
            <a:off x="6551269" y="1261641"/>
            <a:ext cx="5312781" cy="532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《</a:t>
            </a:r>
            <a:r>
              <a:rPr lang="zh-C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入门篇</a:t>
            </a:r>
            <a:r>
              <a:rPr lang="en-US" altLang="zh-CN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》</a:t>
            </a:r>
            <a:r>
              <a:rPr lang="en-US" altLang="zh-CN" sz="1600" dirty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P58</a:t>
            </a:r>
            <a:r>
              <a:rPr lang="zh-C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表格</a:t>
            </a:r>
          </a:p>
          <a:p>
            <a:pPr marL="0" indent="0">
              <a:buNone/>
            </a:pP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r>
              <a:rPr lang="zh-C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格式说明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函数名：通过这个名称来让函数运行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参数类型：需要把该类型的数据传递给函数，才能正常运行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返回类型：该函数运行结束后，会得到一个计算结果，返回类型指的是这个计算结果的数据类型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r>
              <a:rPr lang="zh-C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“让函数运行”，专业的表述是“函数调用”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函数调用的形式：函数名</a:t>
            </a:r>
            <a:r>
              <a:rPr lang="en-US" altLang="zh-CN" sz="1200" dirty="0">
                <a:latin typeface="Comic Sans MS" pitchFamily="66" charset="0"/>
                <a:ea typeface="微软雅黑" pitchFamily="34" charset="-122"/>
              </a:rPr>
              <a:t>(</a:t>
            </a:r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参数</a:t>
            </a:r>
            <a:r>
              <a:rPr lang="en-US" altLang="zh-CN" sz="1200" dirty="0">
                <a:latin typeface="Comic Sans MS" pitchFamily="66" charset="0"/>
                <a:ea typeface="微软雅黑" pitchFamily="34" charset="-122"/>
              </a:rPr>
              <a:t>)</a:t>
            </a: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可以把函数调用当做一个变量来对待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函数调用可以写在表达式中，计算表达式时要注意自动类型转换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pPr marL="450850" lvl="1" indent="-184150"/>
            <a:r>
              <a:rPr lang="zh-CN" altLang="en-US" sz="1200" dirty="0">
                <a:latin typeface="Comic Sans MS" pitchFamily="66" charset="0"/>
                <a:ea typeface="微软雅黑" pitchFamily="34" charset="-122"/>
              </a:rPr>
              <a:t>也可以对函数调用进行强制类型转换</a:t>
            </a:r>
            <a:endParaRPr lang="en-US" altLang="zh-CN" sz="1400" dirty="0">
              <a:latin typeface="Comic Sans MS" pitchFamily="66" charset="0"/>
              <a:ea typeface="微软雅黑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00E2977-A088-48F1-8DA0-034660AB8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753" y="1708868"/>
            <a:ext cx="2314575" cy="609600"/>
          </a:xfrm>
          <a:prstGeom prst="rect">
            <a:avLst/>
          </a:prstGeom>
        </p:spPr>
      </p:pic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35C6E67-20FE-44B0-AC92-B902C145B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849434"/>
              </p:ext>
            </p:extLst>
          </p:nvPr>
        </p:nvGraphicFramePr>
        <p:xfrm>
          <a:off x="327950" y="1385844"/>
          <a:ext cx="6105225" cy="4720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示例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int abs(int x)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返回整数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x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的绝对值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int a=-5;</a:t>
                      </a:r>
                    </a:p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cout&lt;&lt;abs(a); // 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输出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5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26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fabs(double x)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返回浮点数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x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的绝对值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a=-3.14159; // 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输出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3.142</a:t>
                      </a:r>
                    </a:p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cout&lt;&lt;fixed&lt;&lt;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setprecision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(3)&lt;&lt;fabs(a);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04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fr-FR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int max(int a,int b)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返回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与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b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中大的那个数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int a=3,b=5;</a:t>
                      </a:r>
                    </a:p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cout&lt;&lt;max(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a,b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); // 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输出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5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61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long 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long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 max(long 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long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 a, long 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long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 b)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返回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与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b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中大的那个数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long 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long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 a=3,b=5;</a:t>
                      </a:r>
                    </a:p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cout&lt;&lt;max(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a,b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); // 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输出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5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582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sv-SE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int min(int a,int b)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返回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与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b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中小的那个数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int a=3,b=5;</a:t>
                      </a:r>
                    </a:p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cout&lt;&lt;min(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a,b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); // 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输出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3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690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long 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long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 min(long 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long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 a, long 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long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 b)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返回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与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b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中小的那个数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long 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long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 a=3,b=5;</a:t>
                      </a:r>
                    </a:p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cout&lt;&lt;min(</a:t>
                      </a:r>
                      <a:r>
                        <a:rPr lang="en-US" altLang="zh-CN" sz="10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a,b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); // 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输出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3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63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ceil(double)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向上取整（取大于等于给定数字的最小的整数）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cout&lt;&lt;ceil(5.0/3); // 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输出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2</a:t>
                      </a:r>
                      <a:b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</a:b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cout&lt;&lt;ceil(5); // 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输出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5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floor(double)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向下取整（取小于等于给定数字的最大的整数）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cout&lt;&lt;floor(5.0/3); // 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输出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1</a:t>
                      </a:r>
                      <a:b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</a:b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cout&lt;&lt;floor(5); // 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输出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sqrt(double x)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求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x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的平方根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zh-CN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// </a:t>
                      </a:r>
                      <a:r>
                        <a:rPr lang="zh-CN" altLang="en-US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输出</a:t>
                      </a:r>
                      <a:r>
                        <a:rPr lang="en-US" altLang="zh-CN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2.236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zh-CN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cout&lt;&lt;fixed&lt;&lt;</a:t>
                      </a:r>
                      <a:r>
                        <a:rPr lang="en-US" altLang="zh-CN" sz="1000" kern="12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setprecision</a:t>
                      </a:r>
                      <a:r>
                        <a:rPr lang="en-US" altLang="zh-CN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(3)&lt;&lt;sqrt(5);</a:t>
                      </a: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pow(double x, double y)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求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x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的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y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次方幂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zh-CN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cout&lt;&lt;pow(2,3); // </a:t>
                      </a:r>
                      <a:r>
                        <a:rPr lang="zh-CN" altLang="en-US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输出</a:t>
                      </a:r>
                      <a:r>
                        <a:rPr lang="en-US" altLang="zh-CN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151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967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43057</TotalTime>
  <Words>2245</Words>
  <Application>Microsoft Office PowerPoint</Application>
  <PresentationFormat>宽屏</PresentationFormat>
  <Paragraphs>317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华文楷体</vt:lpstr>
      <vt:lpstr>微软雅黑</vt:lpstr>
      <vt:lpstr>Arial</vt:lpstr>
      <vt:lpstr>Comic Sans MS</vt:lpstr>
      <vt:lpstr>Consolas</vt:lpstr>
      <vt:lpstr>Tw Cen MT</vt:lpstr>
      <vt:lpstr>电路</vt:lpstr>
      <vt:lpstr>NOIP 入门 – 语言基础（二）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青 林</cp:lastModifiedBy>
  <cp:revision>276</cp:revision>
  <dcterms:created xsi:type="dcterms:W3CDTF">2018-08-09T00:16:20Z</dcterms:created>
  <dcterms:modified xsi:type="dcterms:W3CDTF">2025-09-19T17:35:57Z</dcterms:modified>
</cp:coreProperties>
</file>