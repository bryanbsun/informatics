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646" r:id="rId3"/>
    <p:sldId id="647" r:id="rId4"/>
    <p:sldId id="642" r:id="rId5"/>
    <p:sldId id="641" r:id="rId6"/>
    <p:sldId id="644" r:id="rId7"/>
    <p:sldId id="649" r:id="rId8"/>
    <p:sldId id="643" r:id="rId9"/>
    <p:sldId id="648" r:id="rId10"/>
    <p:sldId id="347" r:id="rId11"/>
    <p:sldId id="636" r:id="rId12"/>
    <p:sldId id="638" r:id="rId13"/>
    <p:sldId id="639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5970"/>
  </p:normalViewPr>
  <p:slideViewPr>
    <p:cSldViewPr snapToGrid="0">
      <p:cViewPr varScale="1">
        <p:scale>
          <a:sx n="102" d="100"/>
          <a:sy n="102" d="100"/>
        </p:scale>
        <p:origin x="126" y="678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09128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6" y="5666005"/>
            <a:ext cx="546595" cy="550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cap="none" dirty="0">
                <a:latin typeface="+mj-ea"/>
              </a:rPr>
              <a:t>NOIP </a:t>
            </a:r>
            <a:r>
              <a:rPr lang="zh-CN" altLang="en-US" cap="none" dirty="0">
                <a:latin typeface="+mj-ea"/>
              </a:rPr>
              <a:t>入门 </a:t>
            </a:r>
            <a:r>
              <a:rPr lang="en-US" altLang="zh-CN" cap="none" dirty="0">
                <a:latin typeface="+mj-ea"/>
              </a:rPr>
              <a:t>— </a:t>
            </a:r>
            <a:r>
              <a:rPr lang="zh-CN" altLang="en-US" cap="none" dirty="0">
                <a:latin typeface="+mj-ea"/>
              </a:rPr>
              <a:t>循环（二）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64772" y="1486111"/>
            <a:ext cx="5817476" cy="380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循环控制部分由括号括起，由两个分号分隔成三个部分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执行过程：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执行初始化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执行判断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如果成立，执行循环体</a:t>
            </a:r>
            <a:endParaRPr lang="en-US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如果不成立，结束循环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执行改变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重复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endParaRPr lang="zh-CN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循环体如果有多句语句，要加上花括号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初始化一定会执行一次；循环体执行了几次，改变就执行了几次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通常为循环体的语句加上缩进，让程序更容易看懂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14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之后不要加分号</a:t>
            </a:r>
            <a:endParaRPr lang="en-US" altLang="zh-CN" sz="14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改变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……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115047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86329" y="22007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循环：语法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64772" y="1486111"/>
            <a:ext cx="5817476" cy="286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循环控制部分由括号括起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执行过程：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执行判断</a:t>
            </a: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如果成立，执行循环体</a:t>
            </a: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如果不成立，结束循环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重复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循环体如果有多句语句，要加上花括号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通常为循环体的语句加上缩进，让程序更容易看懂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while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之后不要加分号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while(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……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115047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86329" y="22007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while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循环：语法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929636" y="1318317"/>
            <a:ext cx="636310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(n&gt;0){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cout&lt;&lt;n%10&lt;&lt;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n/=10;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600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8609" y="1318317"/>
            <a:ext cx="3591241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输入一个整数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4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），从个位开始分离出它的每一位数字依次输出，数字之间以一个空格分隔。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  <a:sym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样例输入：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11357029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样例输出：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9 2 0 7 5 3 1 1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8608" y="3353248"/>
            <a:ext cx="3591241" cy="2707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“分离每一位数字并输出”，很明显是将同一件事重复执行，应该用循环来实现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找出可以反复执行的动作，作为循环中不变的那个部分：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取个位数：对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取余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去掉当前的个位，让十位变成新的个位：除以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循环结束的条件：该数字不断变小，直到变成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最后会多输出个空格，不影响判题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分离整数的各个数位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93AFEC2-73A2-1FF3-7D71-683FCFD08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08132"/>
              </p:ext>
            </p:extLst>
          </p:nvPr>
        </p:nvGraphicFramePr>
        <p:xfrm>
          <a:off x="8374566" y="1353950"/>
          <a:ext cx="3252137" cy="3352800"/>
        </p:xfrm>
        <a:graphic>
          <a:graphicData uri="http://schemas.openxmlformats.org/drawingml/2006/table">
            <a:tbl>
              <a:tblPr firstRow="1" bandRow="1"/>
              <a:tblGrid>
                <a:gridCol w="128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n&gt;0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n%10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11357029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9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1135702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646152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943819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982139"/>
                  </a:ext>
                </a:extLst>
              </a:tr>
              <a:tr h="29951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154560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不满足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2738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A21CFCB-6174-C717-576A-18EEBD2F9AB5}"/>
              </a:ext>
            </a:extLst>
          </p:cNvPr>
          <p:cNvSpPr/>
          <p:nvPr/>
        </p:nvSpPr>
        <p:spPr>
          <a:xfrm>
            <a:off x="4929635" y="4942247"/>
            <a:ext cx="461308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这是“分离一个整数的每个数位”的标准代码模板：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(n){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82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思考一下：为什么 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n&gt;0</a:t>
            </a:r>
            <a:r>
              <a:rPr lang="en-US" altLang="zh-CN" sz="1200" dirty="0">
                <a:solidFill>
                  <a:srgbClr val="0082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82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可以简写为 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endParaRPr lang="zh-CN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with n%10</a:t>
            </a:r>
            <a:endParaRPr lang="zh-CN" altLang="zh-CN" sz="11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n/=10;</a:t>
            </a:r>
            <a:endParaRPr lang="zh-CN" altLang="zh-CN" sz="11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这里的“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sth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”根据具体题目要求而改变，例如“求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的各个数位之和”，就应该变为对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n%10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求和的逻辑。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4" grpId="0"/>
      <p:bldP spid="14" grpId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64772" y="1486111"/>
            <a:ext cx="5817476" cy="3482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r>
              <a:rPr lang="zh-CN" altLang="en-US" dirty="0"/>
              <a:t>循环控制部分由括号括起</a:t>
            </a:r>
            <a:endParaRPr lang="en-US" altLang="zh-CN" dirty="0"/>
          </a:p>
          <a:p>
            <a:r>
              <a:rPr lang="zh-CN" altLang="en-US" dirty="0"/>
              <a:t>执行过程：</a:t>
            </a:r>
            <a:endParaRPr lang="en-US" altLang="zh-CN" dirty="0"/>
          </a:p>
          <a:p>
            <a:pPr lvl="1">
              <a:buFont typeface="+mj-lt"/>
              <a:buAutoNum type="alphaLcPeriod"/>
            </a:pPr>
            <a:r>
              <a:rPr lang="zh-CN" altLang="en-US" dirty="0"/>
              <a:t>先执行一次循环体</a:t>
            </a:r>
            <a:endParaRPr lang="en-US" altLang="zh-CN" dirty="0"/>
          </a:p>
          <a:p>
            <a:pPr lvl="1">
              <a:buFont typeface="+mj-lt"/>
              <a:buAutoNum type="alphaLcPeriod"/>
            </a:pPr>
            <a:r>
              <a:rPr lang="zh-CN" altLang="en-US" dirty="0"/>
              <a:t>执行判断</a:t>
            </a:r>
            <a:endParaRPr lang="en-US" altLang="zh-CN" dirty="0"/>
          </a:p>
          <a:p>
            <a:pPr lvl="2"/>
            <a:r>
              <a:rPr lang="zh-CN" altLang="en-US" dirty="0"/>
              <a:t>如果成立，执行循环体</a:t>
            </a:r>
            <a:endParaRPr lang="en-US" altLang="zh-CN" dirty="0"/>
          </a:p>
          <a:p>
            <a:pPr lvl="2"/>
            <a:r>
              <a:rPr lang="zh-CN" altLang="en-US" dirty="0"/>
              <a:t>如果不成立，结束循环</a:t>
            </a:r>
            <a:endParaRPr lang="zh-CN" altLang="zh-CN" dirty="0"/>
          </a:p>
          <a:p>
            <a:pPr lvl="1">
              <a:buAutoNum type="alphaLcPeriod"/>
            </a:pPr>
            <a:r>
              <a:rPr lang="zh-CN" altLang="en-US" dirty="0"/>
              <a:t>重复</a:t>
            </a:r>
            <a:r>
              <a:rPr lang="en-US" altLang="zh-CN" dirty="0"/>
              <a:t>b</a:t>
            </a:r>
            <a:endParaRPr lang="zh-CN" altLang="zh-CN" dirty="0"/>
          </a:p>
          <a:p>
            <a:r>
              <a:rPr lang="zh-CN" altLang="en-US" dirty="0"/>
              <a:t>循环体一定会执行一次</a:t>
            </a:r>
            <a:endParaRPr lang="en-US" altLang="zh-CN" dirty="0"/>
          </a:p>
          <a:p>
            <a:r>
              <a:rPr lang="zh-CN" altLang="en-US" dirty="0"/>
              <a:t>循环体如果有多句语句，要加上花括号</a:t>
            </a:r>
            <a:endParaRPr lang="en-US" altLang="zh-CN" dirty="0"/>
          </a:p>
          <a:p>
            <a:r>
              <a:rPr lang="zh-CN" altLang="en-US" dirty="0"/>
              <a:t>通常为循环体的语句加上缩进，让程序更容易看懂</a:t>
            </a:r>
            <a:endParaRPr lang="en-US" altLang="zh-CN" dirty="0"/>
          </a:p>
          <a:p>
            <a:r>
              <a:rPr lang="en-US" altLang="zh-CN" dirty="0"/>
              <a:t>while</a:t>
            </a:r>
            <a:r>
              <a:rPr lang="zh-CN" altLang="en-US" dirty="0"/>
              <a:t>之后必须要加分号</a:t>
            </a:r>
            <a:endParaRPr lang="en-US" altLang="zh-CN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194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do{</a:t>
            </a:r>
          </a:p>
          <a:p>
            <a:r>
              <a:rPr lang="zh-CN" altLang="en-US" dirty="0"/>
              <a:t>    语句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    语句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……</a:t>
            </a:r>
          </a:p>
          <a:p>
            <a:r>
              <a:rPr lang="en-US" altLang="zh-CN" dirty="0"/>
              <a:t>}while(</a:t>
            </a:r>
            <a:r>
              <a:rPr lang="zh-CN" altLang="en-US" dirty="0"/>
              <a:t>判断</a:t>
            </a:r>
            <a:r>
              <a:rPr lang="en-US" altLang="zh-CN" dirty="0"/>
              <a:t>);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115047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86329" y="22007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循环体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do-while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循环：语法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39845" y="1313861"/>
            <a:ext cx="322612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(n==1)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i=2;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i&lt;n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6818" y="1318317"/>
            <a:ext cx="2902310" cy="2055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对于大于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的正整数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，如果除了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和它自己之外没有其他因数，我们把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称为质数。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输入一个正整数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（保证在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范围内），如果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是质数则输出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6818" y="3484057"/>
            <a:ext cx="2902310" cy="2594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的所有数都不能被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整除，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就是质数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“到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”可优化为“到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的平方根（向上取整）”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循环体为空语句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循环有两个出口，根据不同出口判断是否为质数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考虑特殊情况：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不是质数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76684" y="1313861"/>
            <a:ext cx="345650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(n==1)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i=2;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(i*i&gt;n)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判断质数</a:t>
            </a:r>
          </a:p>
        </p:txBody>
      </p:sp>
      <p:sp>
        <p:nvSpPr>
          <p:cNvPr id="5" name="矩形 4"/>
          <p:cNvSpPr/>
          <p:nvPr/>
        </p:nvSpPr>
        <p:spPr>
          <a:xfrm>
            <a:off x="3739845" y="5289040"/>
            <a:ext cx="30190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有两种可能导致循环结束：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要么是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不满足了，要么是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n%i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不满足了。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前者表示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是质数，后者表示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不是质数。所以循环结束后根据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&gt;=n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的反面）来区分是哪种情况。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99645" y="2650302"/>
            <a:ext cx="2146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没必要将小于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的数全都试一遍，试到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的平方根就足够了</a:t>
            </a:r>
          </a:p>
        </p:txBody>
      </p:sp>
      <p:sp>
        <p:nvSpPr>
          <p:cNvPr id="12" name="矩形 11"/>
          <p:cNvSpPr/>
          <p:nvPr/>
        </p:nvSpPr>
        <p:spPr>
          <a:xfrm>
            <a:off x="9679229" y="3228945"/>
            <a:ext cx="20859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想一想，为什么是</a:t>
            </a:r>
            <a:r>
              <a:rPr lang="en-US" altLang="zh-CN" sz="10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en-US" altLang="zh-CN" sz="10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&lt;=n</a:t>
            </a:r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，而不是</a:t>
            </a:r>
            <a:r>
              <a:rPr lang="en-US" altLang="zh-CN" sz="10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en-US" altLang="zh-CN" sz="10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&lt;n</a:t>
            </a:r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？多个等号的作用是什么？</a:t>
            </a:r>
          </a:p>
        </p:txBody>
      </p:sp>
      <p:sp>
        <p:nvSpPr>
          <p:cNvPr id="13" name="矩形 12"/>
          <p:cNvSpPr/>
          <p:nvPr/>
        </p:nvSpPr>
        <p:spPr>
          <a:xfrm>
            <a:off x="7376684" y="5289041"/>
            <a:ext cx="322612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有两种可能导致循环结束：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要么是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&lt;=n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不满足了，要么是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n%i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不满足了。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前者表示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是质数，后者表示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不是质数。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所以循环结束后根据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&lt;=n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反面）来区分是哪种情况。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6" grpId="0"/>
      <p:bldP spid="5" grpId="0"/>
      <p:bldP spid="7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BAD1-5B7F-8A72-B5A0-685B88C3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F6345ED-8695-0543-67C2-E408FCB14938}"/>
              </a:ext>
            </a:extLst>
          </p:cNvPr>
          <p:cNvSpPr txBox="1"/>
          <p:nvPr/>
        </p:nvSpPr>
        <p:spPr>
          <a:xfrm>
            <a:off x="678609" y="1436728"/>
            <a:ext cx="4743847" cy="105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r>
              <a:rPr lang="zh-CN" altLang="en-US" sz="2000" dirty="0"/>
              <a:t>在循环中使用</a:t>
            </a:r>
            <a:r>
              <a:rPr lang="en-US" altLang="zh-CN" sz="2000" b="1" dirty="0">
                <a:solidFill>
                  <a:srgbClr val="006699"/>
                </a:solidFill>
              </a:rPr>
              <a:t>break</a:t>
            </a:r>
            <a:r>
              <a:rPr lang="zh-CN" altLang="en-US" sz="2000" dirty="0"/>
              <a:t>语句让当前循环直接结束；</a:t>
            </a:r>
            <a:endParaRPr lang="en-US" altLang="zh-CN" sz="2000" dirty="0"/>
          </a:p>
          <a:p>
            <a:r>
              <a:rPr lang="zh-CN" altLang="en-US" sz="2000" dirty="0"/>
              <a:t>如果是</a:t>
            </a:r>
            <a:r>
              <a:rPr lang="en-US" altLang="zh-CN" sz="2000" b="1" dirty="0">
                <a:solidFill>
                  <a:srgbClr val="006699"/>
                </a:solidFill>
              </a:rPr>
              <a:t>for</a:t>
            </a:r>
            <a:r>
              <a:rPr lang="zh-CN" altLang="en-US" sz="2000" dirty="0"/>
              <a:t>循环，不会执行“改变”。</a:t>
            </a:r>
            <a:endParaRPr lang="zh-CN" altLang="zh-CN" sz="2000" dirty="0"/>
          </a:p>
        </p:txBody>
      </p:sp>
      <p:sp>
        <p:nvSpPr>
          <p:cNvPr id="9" name="文本框 23">
            <a:extLst>
              <a:ext uri="{FF2B5EF4-FFF2-40B4-BE49-F238E27FC236}">
                <a16:creationId xmlns:a16="http://schemas.microsoft.com/office/drawing/2014/main" id="{1FA6FB05-DF09-D7C8-2EBF-3043817CB70C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break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406FC9-442D-D41A-BBDB-5DD28DF942A0}"/>
              </a:ext>
            </a:extLst>
          </p:cNvPr>
          <p:cNvSpPr txBox="1"/>
          <p:nvPr/>
        </p:nvSpPr>
        <p:spPr>
          <a:xfrm>
            <a:off x="5832500" y="1296762"/>
            <a:ext cx="5023271" cy="4524315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n%10==0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n/=10;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数位中包含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数位中不包含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440615" y="1322574"/>
            <a:ext cx="5072778" cy="167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在循环中使用</a:t>
            </a:r>
            <a:r>
              <a:rPr lang="en-US" altLang="zh-CN" b="1" dirty="0">
                <a:solidFill>
                  <a:srgbClr val="006699"/>
                </a:solidFill>
              </a:rPr>
              <a:t>continue</a:t>
            </a:r>
            <a:r>
              <a:rPr lang="zh-CN" altLang="en-US" dirty="0"/>
              <a:t>语句结束本次循环体，循环继续执行：</a:t>
            </a:r>
            <a:endParaRPr lang="en-US" altLang="zh-CN" dirty="0"/>
          </a:p>
          <a:p>
            <a:pPr marL="268288" lvl="1" indent="-268288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如果是</a:t>
            </a:r>
            <a:r>
              <a:rPr lang="en-US" altLang="zh-CN" b="1" dirty="0">
                <a:solidFill>
                  <a:srgbClr val="006699"/>
                </a:solidFill>
              </a:rPr>
              <a:t>for</a:t>
            </a:r>
            <a:r>
              <a:rPr lang="zh-CN" altLang="en-US" dirty="0"/>
              <a:t>循环，会执行“改变”，再执行“判断”；</a:t>
            </a:r>
            <a:endParaRPr lang="en-US" altLang="zh-CN" dirty="0"/>
          </a:p>
          <a:p>
            <a:pPr marL="268288" lvl="1" indent="-268288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如果是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zh-CN" altLang="en-US" dirty="0"/>
              <a:t>循环，会直接执行“判断”；</a:t>
            </a:r>
            <a:endParaRPr lang="en-US" altLang="zh-CN" dirty="0"/>
          </a:p>
          <a:p>
            <a:pPr marL="447675" lvl="2" indent="-179388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如果判断成立，执行循环体；</a:t>
            </a:r>
            <a:endParaRPr lang="en-US" altLang="zh-CN" dirty="0"/>
          </a:p>
          <a:p>
            <a:pPr marL="447675" lvl="2" indent="-179388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如果判断不成立，结束循环；</a:t>
            </a:r>
            <a:endParaRPr lang="zh-CN" altLang="zh-CN" dirty="0"/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continue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94F0FE-6A11-61E1-8036-D5A974DCE3D8}"/>
              </a:ext>
            </a:extLst>
          </p:cNvPr>
          <p:cNvSpPr txBox="1"/>
          <p:nvPr/>
        </p:nvSpPr>
        <p:spPr>
          <a:xfrm>
            <a:off x="678609" y="3424204"/>
            <a:ext cx="5587908" cy="304698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特殊性质的五位数</a:t>
            </a:r>
            <a:endParaRPr lang="en-US" altLang="zh-CN" sz="1600" dirty="0">
              <a:solidFill>
                <a:srgbClr val="00820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=10000;i&lt;100000;i++){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a=i%10,b=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/10%10,c=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/100%10;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/1000%10,e=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/10000;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(a&amp;&amp;b&amp;&amp;c&amp;&amp;d&amp;&amp;e&amp;&amp;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a+c+e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b+d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&amp;&amp;a*c*e==b*d)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";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2D4439-694D-CE0C-C1CC-0BE1D640AE01}"/>
              </a:ext>
            </a:extLst>
          </p:cNvPr>
          <p:cNvSpPr txBox="1"/>
          <p:nvPr/>
        </p:nvSpPr>
        <p:spPr>
          <a:xfrm>
            <a:off x="7014662" y="3318570"/>
            <a:ext cx="4866141" cy="353943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特殊性质的五位数</a:t>
            </a:r>
            <a:endParaRPr lang="en-US" altLang="zh-CN" sz="1600" dirty="0">
              <a:solidFill>
                <a:srgbClr val="00820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=10000;i&lt;100000;i++){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a=i%10,b=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/10%10,c=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/100%10;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/1000%10,e=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/10000;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(a*b*c*d*e==0)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continue</a:t>
            </a:r>
            <a:r>
              <a:rPr lang="en-US" altLang="zh-CN" sz="1600" b="1" dirty="0">
                <a:solidFill>
                  <a:srgbClr val="006699"/>
                </a:solidFill>
              </a:rPr>
              <a:t> 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a+c+e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b+d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continue</a:t>
            </a:r>
            <a:r>
              <a:rPr lang="en-US" altLang="zh-CN" sz="1600" b="1" dirty="0">
                <a:solidFill>
                  <a:srgbClr val="006699"/>
                </a:solidFill>
              </a:rPr>
              <a:t> 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(a*c*e!=b*d)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continue</a:t>
            </a:r>
            <a:r>
              <a:rPr lang="en-US" altLang="zh-CN" sz="1600" b="1" dirty="0">
                <a:solidFill>
                  <a:srgbClr val="006699"/>
                </a:solidFill>
              </a:rPr>
              <a:t> ;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";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2A81F41-1974-6877-FBC3-41E64F3EF880}"/>
              </a:ext>
            </a:extLst>
          </p:cNvPr>
          <p:cNvSpPr>
            <a:spLocks noGrp="1"/>
          </p:cNvSpPr>
          <p:nvPr/>
        </p:nvSpPr>
        <p:spPr>
          <a:xfrm>
            <a:off x="7553536" y="1285899"/>
            <a:ext cx="3390469" cy="907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9C09D7-660F-1F0C-2B8D-3C277199BF05}"/>
              </a:ext>
            </a:extLst>
          </p:cNvPr>
          <p:cNvSpPr txBox="1"/>
          <p:nvPr/>
        </p:nvSpPr>
        <p:spPr>
          <a:xfrm>
            <a:off x="678609" y="1322574"/>
            <a:ext cx="5072778" cy="199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just" defTabSz="914400">
              <a:lnSpc>
                <a:spcPct val="150000"/>
              </a:lnSpc>
              <a:buFont typeface="+mj-lt"/>
              <a:buNone/>
              <a:defRPr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charset="-122"/>
                <a:cs typeface="Courier New" panose="02070309020205020404" pitchFamily="49" charset="0"/>
              </a:defRPr>
            </a:lvl1pPr>
          </a:lstStyle>
          <a:p>
            <a:r>
              <a:rPr lang="en-US" altLang="zh-CN" sz="1400" dirty="0"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1400" dirty="0"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特殊性质的五位数</a:t>
            </a:r>
            <a:endParaRPr lang="en-US" altLang="zh-CN" sz="1400" dirty="0"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有一类五位数，满足以下性质：</a:t>
            </a:r>
            <a:endParaRPr lang="en-US" altLang="zh-CN" sz="1400" dirty="0"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、每个数位都不是</a:t>
            </a:r>
            <a:r>
              <a:rPr lang="en-US" altLang="zh-CN" sz="1400" dirty="0"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；</a:t>
            </a:r>
            <a:endParaRPr lang="en-US" altLang="zh-CN" sz="1400" dirty="0"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、个位加上百位加上万位等于十位加上千位；</a:t>
            </a:r>
            <a:endParaRPr lang="en-US" altLang="zh-CN" sz="1400" dirty="0"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ea typeface="微软雅黑" panose="020B0503020204020204" pitchFamily="34" charset="-122"/>
                <a:cs typeface="Consolas" panose="020B0609020204030204" pitchFamily="49" charset="0"/>
              </a:rPr>
              <a:t>、个位乘以百位乘以万位等于十位乘以千位；</a:t>
            </a:r>
            <a:endParaRPr lang="en-US" altLang="zh-CN" sz="1400" dirty="0"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400" dirty="0"/>
              <a:t>从小到大依次输出所有满足题目要求的五位数，空格分隔。</a:t>
            </a:r>
            <a:endParaRPr lang="en-US" altLang="zh-CN" sz="1400" dirty="0"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112D732-8401-B752-7FC6-2AD6BFB0FFD5}"/>
              </a:ext>
            </a:extLst>
          </p:cNvPr>
          <p:cNvSpPr/>
          <p:nvPr/>
        </p:nvSpPr>
        <p:spPr>
          <a:xfrm>
            <a:off x="6542367" y="4279216"/>
            <a:ext cx="472295" cy="81915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3" grpId="0" animBg="1"/>
      <p:bldP spid="5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小松鼠的骄傲</a:t>
            </a:r>
          </a:p>
        </p:txBody>
      </p:sp>
      <p:sp>
        <p:nvSpPr>
          <p:cNvPr id="8" name="矩形 7"/>
          <p:cNvSpPr/>
          <p:nvPr/>
        </p:nvSpPr>
        <p:spPr>
          <a:xfrm>
            <a:off x="431989" y="1310322"/>
            <a:ext cx="278402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小松鼠学会了捡松果，第一天捡了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个，第二天捡了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，第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天捡了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个。它非常骄傲，想把松果都摆出来给妈妈看。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），一个字符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（确保是可打印字符）。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行，每行显示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，字符之间有一个空格。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 *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 *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 *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3695393" y="1310322"/>
            <a:ext cx="2784028" cy="289769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&gt;&gt;c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;i&lt;=n;++i)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&lt;c&lt;&lt;" 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958797" y="1310322"/>
            <a:ext cx="3623386" cy="2897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&gt;&gt;c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;i&lt;=n;++i)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23540" y="2834185"/>
            <a:ext cx="9584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每行最后总会多个空格</a:t>
            </a:r>
          </a:p>
        </p:txBody>
      </p:sp>
      <p:sp>
        <p:nvSpPr>
          <p:cNvPr id="13" name="矩形 12"/>
          <p:cNvSpPr/>
          <p:nvPr/>
        </p:nvSpPr>
        <p:spPr>
          <a:xfrm>
            <a:off x="9492002" y="2759169"/>
            <a:ext cx="15695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可以先输出第一个字符，再对后面的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i-1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个字符做循环，循环体里先输出空格再输出字符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977218" y="1295481"/>
            <a:ext cx="4336050" cy="2672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r>
              <a:rPr lang="en-US" altLang="zh-CN" dirty="0"/>
              <a:t>for</a:t>
            </a:r>
            <a:r>
              <a:rPr lang="zh-CN" altLang="en-US" dirty="0"/>
              <a:t>、</a:t>
            </a:r>
            <a:r>
              <a:rPr lang="en-US" altLang="zh-CN" dirty="0"/>
              <a:t>while</a:t>
            </a:r>
            <a:r>
              <a:rPr lang="zh-CN" altLang="en-US" dirty="0"/>
              <a:t>、</a:t>
            </a:r>
            <a:r>
              <a:rPr lang="en-US" altLang="zh-CN" dirty="0"/>
              <a:t>do-while</a:t>
            </a:r>
            <a:r>
              <a:rPr lang="zh-CN" altLang="en-US" dirty="0"/>
              <a:t>的两两组合，共</a:t>
            </a:r>
            <a:r>
              <a:rPr lang="en-US" altLang="zh-CN" dirty="0"/>
              <a:t>9</a:t>
            </a:r>
            <a:r>
              <a:rPr lang="zh-CN" altLang="en-US" dirty="0"/>
              <a:t>种搭配</a:t>
            </a:r>
            <a:endParaRPr lang="en-US" altLang="zh-CN" dirty="0"/>
          </a:p>
          <a:p>
            <a:r>
              <a:rPr lang="zh-CN" altLang="en-US" dirty="0"/>
              <a:t>上述两两组合可以与与</a:t>
            </a:r>
            <a:r>
              <a:rPr lang="en-US" altLang="zh-CN" dirty="0"/>
              <a:t>for</a:t>
            </a:r>
            <a:r>
              <a:rPr lang="zh-CN" altLang="en-US" dirty="0"/>
              <a:t>、</a:t>
            </a:r>
            <a:r>
              <a:rPr lang="en-US" altLang="zh-CN" dirty="0"/>
              <a:t>while</a:t>
            </a:r>
            <a:r>
              <a:rPr lang="zh-CN" altLang="en-US" dirty="0"/>
              <a:t>、</a:t>
            </a:r>
            <a:r>
              <a:rPr lang="en-US" altLang="zh-CN" dirty="0"/>
              <a:t>do-while</a:t>
            </a:r>
            <a:r>
              <a:rPr lang="zh-CN" altLang="en-US" dirty="0"/>
              <a:t>搭配，构成更复杂的多重循环</a:t>
            </a:r>
            <a:endParaRPr lang="zh-CN" altLang="zh-CN" dirty="0"/>
          </a:p>
          <a:p>
            <a:r>
              <a:rPr lang="zh-CN" altLang="en-US" dirty="0"/>
              <a:t>内层的循环，作为外层循环的循环体，在循环体的每次执行时，都要完整的执行一遍</a:t>
            </a:r>
            <a:endParaRPr lang="en-US" altLang="zh-CN" dirty="0"/>
          </a:p>
          <a:p>
            <a:r>
              <a:rPr lang="zh-CN" altLang="en-US" dirty="0"/>
              <a:t>内层循环的循环体，总共的执行次数遵循乘法原则：</a:t>
            </a:r>
            <a:endParaRPr lang="en-US" altLang="zh-CN" dirty="0"/>
          </a:p>
          <a:p>
            <a:pPr marL="6413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每一次执行内层循环体的次数全部相加</a:t>
            </a:r>
            <a:endParaRPr lang="en-US" altLang="zh-CN" dirty="0"/>
          </a:p>
          <a:p>
            <a:pPr marL="6413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或者说，外层循环体执行次数</a:t>
            </a:r>
            <a:r>
              <a:rPr lang="en-US" altLang="zh-CN" dirty="0"/>
              <a:t>×</a:t>
            </a:r>
            <a:r>
              <a:rPr lang="zh-CN" altLang="en-US" dirty="0"/>
              <a:t>执行一次内层循环其循环体执行次数</a:t>
            </a:r>
            <a:endParaRPr lang="en-US" altLang="zh-CN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678608" y="1295481"/>
            <a:ext cx="2800761" cy="194008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i,j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=1;i&lt;=10;++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(j=1;j&lt;=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;++j)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&lt;&lt;"*";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3679229" y="3796742"/>
            <a:ext cx="2895136" cy="2905899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006699"/>
                </a:solidFill>
              </a:rPr>
              <a:t>for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=1;i&lt;=10;++</a:t>
            </a:r>
            <a:r>
              <a:rPr lang="en-US" altLang="zh-CN" dirty="0" err="1"/>
              <a:t>i</a:t>
            </a:r>
            <a:r>
              <a:rPr lang="en-US" altLang="zh-CN" dirty="0"/>
              <a:t>){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    j=1;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while</a:t>
            </a:r>
            <a:r>
              <a:rPr lang="en-US" altLang="zh-CN" dirty="0"/>
              <a:t>(j&lt;=</a:t>
            </a:r>
            <a:r>
              <a:rPr lang="en-US" altLang="zh-CN" dirty="0" err="1"/>
              <a:t>i</a:t>
            </a:r>
            <a:r>
              <a:rPr lang="en-US" altLang="zh-CN" dirty="0"/>
              <a:t>){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&lt;&lt;"*";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        ++j;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    }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sp>
        <p:nvSpPr>
          <p:cNvPr id="14" name="内容占位符 2"/>
          <p:cNvSpPr txBox="1"/>
          <p:nvPr/>
        </p:nvSpPr>
        <p:spPr>
          <a:xfrm>
            <a:off x="3679229" y="1285148"/>
            <a:ext cx="2895136" cy="228498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=1,j;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006699"/>
                </a:solidFill>
              </a:rPr>
              <a:t>while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&lt;=10){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for</a:t>
            </a:r>
            <a:r>
              <a:rPr lang="en-US" altLang="zh-CN" dirty="0"/>
              <a:t>(j=1;j&lt;=</a:t>
            </a:r>
            <a:r>
              <a:rPr lang="en-US" altLang="zh-CN" dirty="0" err="1"/>
              <a:t>i</a:t>
            </a:r>
            <a:r>
              <a:rPr lang="en-US" altLang="zh-CN" dirty="0"/>
              <a:t>;++j)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&lt;&lt;"*";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++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78608" y="3428999"/>
            <a:ext cx="2800761" cy="3273641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80808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=1,j;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006699"/>
                </a:solidFill>
              </a:rPr>
              <a:t>while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&lt;=10){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j=1;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6699"/>
                </a:solidFill>
              </a:rPr>
              <a:t>while</a:t>
            </a:r>
            <a:r>
              <a:rPr lang="en-US" altLang="zh-CN" dirty="0"/>
              <a:t>(j&lt;=</a:t>
            </a:r>
            <a:r>
              <a:rPr lang="en-US" altLang="zh-CN" dirty="0" err="1"/>
              <a:t>i</a:t>
            </a:r>
            <a:r>
              <a:rPr lang="en-US" altLang="zh-CN" dirty="0"/>
              <a:t>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&lt;&lt;"*";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    ++j;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    ++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sp>
        <p:nvSpPr>
          <p:cNvPr id="10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多重循环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401813"/>
            <a:ext cx="2886323" cy="38360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m,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n,i;</a:t>
            </a:r>
            <a:endParaRPr lang="nn-NO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</a:t>
            </a: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cout&lt;&lt;2;</a:t>
            </a:r>
          </a:p>
          <a:p>
            <a:pPr marL="0" indent="0"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(m=3;m&lt;=n;++m){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(i=2;i&lt;m;++i)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(m%i==0)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nn-NO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nn-NO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(i&gt;=m)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cout&lt;&lt;" "&lt;&lt;m;</a:t>
            </a:r>
          </a:p>
          <a:p>
            <a:pPr marL="0" indent="0">
              <a:buNone/>
            </a:pPr>
            <a:r>
              <a:rPr lang="nn-NO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239100" y="1401813"/>
          <a:ext cx="7480298" cy="4286250"/>
        </p:xfrm>
        <a:graphic>
          <a:graphicData uri="http://schemas.openxmlformats.org/drawingml/2006/table">
            <a:tbl>
              <a:tblPr/>
              <a:tblGrid>
                <a:gridCol w="506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9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3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2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55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7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外层循环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判断条件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m&lt;=n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第几次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执行外层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循环体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内层循环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判断条件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i&lt;m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第几次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执行内层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循环体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break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m%i==0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输出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i&gt;=m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输出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3&gt;=3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2&gt;=4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5&gt;=5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5-&gt;6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5%3==0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5%4==0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2&gt;=6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6-&gt;7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12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7&gt;=7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7-&gt;8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7%3==0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7%4==0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7%5==0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5-&gt;6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7%6==0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6-&gt;7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不大于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的所有质数</a:t>
            </a:r>
          </a:p>
        </p:txBody>
      </p:sp>
      <p:sp>
        <p:nvSpPr>
          <p:cNvPr id="8" name="矩形 7"/>
          <p:cNvSpPr/>
          <p:nvPr/>
        </p:nvSpPr>
        <p:spPr>
          <a:xfrm>
            <a:off x="2819235" y="2967335"/>
            <a:ext cx="9892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m-1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每个数都判断是否为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的约数，观察变量表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409750"/>
            <a:ext cx="3312796" cy="38014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m,n,i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&lt;&lt;2;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(m=3;m&lt;=n;++m){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=2;i*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&lt;=m;++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m%i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==0)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&gt;m)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&lt;&lt;" "&lt;&lt;m;</a:t>
            </a:r>
          </a:p>
          <a:p>
            <a:pPr marL="0" indent="0"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469374" y="1409750"/>
          <a:ext cx="7378700" cy="2619375"/>
        </p:xfrm>
        <a:graphic>
          <a:graphicData uri="http://schemas.openxmlformats.org/drawingml/2006/table">
            <a:tbl>
              <a:tblPr/>
              <a:tblGrid>
                <a:gridCol w="506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5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7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80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53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5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外层循环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判断条件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m&lt;=n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第几次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执行外层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循环体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内层循环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判断条件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i*i&lt;=m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第几次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执行内层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循环体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break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m%i==0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输出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条件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i*i&gt;m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输出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变化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5-&gt;6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3*3&lt;=5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6-&gt;7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7-&gt;8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不执行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002120" y="2888320"/>
            <a:ext cx="9892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从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的平方根每个数都判断是否为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的约数，观察变量表</a:t>
            </a:r>
          </a:p>
        </p:txBody>
      </p:sp>
      <p:sp>
        <p:nvSpPr>
          <p:cNvPr id="7" name="矩形 6"/>
          <p:cNvSpPr/>
          <p:nvPr/>
        </p:nvSpPr>
        <p:spPr>
          <a:xfrm>
            <a:off x="3007134" y="4690021"/>
            <a:ext cx="2262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由于双重循环的内层循环体执行次数遵循乘法原则，所以一点点优化带来的效果都很可观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不大于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的所有质数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7" y="1486111"/>
            <a:ext cx="6591832" cy="2539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多重循环最内层循环体的执行次数符合乘法原则</a:t>
            </a:r>
            <a:endParaRPr lang="en-US" altLang="zh-CN" sz="18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当循环次数达到</a:t>
            </a:r>
            <a:r>
              <a:rPr lang="en-US" altLang="zh-CN" sz="1800" dirty="0"/>
              <a:t>10</a:t>
            </a:r>
            <a:r>
              <a:rPr lang="en-US" altLang="zh-CN" sz="1800" baseline="30000" dirty="0"/>
              <a:t>7</a:t>
            </a:r>
            <a:r>
              <a:rPr lang="zh-CN" altLang="en-US" sz="1800" dirty="0"/>
              <a:t>次的数量级时，就有很高的时间超限风险</a:t>
            </a:r>
            <a:endParaRPr lang="zh-CN" altLang="zh-CN" sz="18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应该调整算法，以期对循环次数达到数量级级别的优化。</a:t>
            </a:r>
            <a:endParaRPr lang="en-US" altLang="zh-CN" sz="1800" dirty="0"/>
          </a:p>
          <a:p>
            <a:pPr marL="35877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/>
              <a:t>例如：循环次数从</a:t>
            </a:r>
            <a:r>
              <a:rPr lang="en-US" altLang="zh-CN" sz="1800" dirty="0"/>
              <a:t>10</a:t>
            </a:r>
            <a:r>
              <a:rPr lang="en-US" altLang="zh-CN" sz="1800" baseline="30000" dirty="0"/>
              <a:t>7</a:t>
            </a:r>
            <a:r>
              <a:rPr lang="zh-CN" altLang="en-US" sz="1800" dirty="0"/>
              <a:t>次的数量级降到</a:t>
            </a:r>
            <a:r>
              <a:rPr lang="en-US" altLang="zh-CN" sz="1800" dirty="0"/>
              <a:t>10</a:t>
            </a:r>
            <a:r>
              <a:rPr lang="en-US" altLang="zh-CN" sz="1800" baseline="30000" dirty="0"/>
              <a:t>6</a:t>
            </a:r>
            <a:r>
              <a:rPr lang="zh-CN" altLang="en-US" sz="1800" dirty="0"/>
              <a:t>次的数量级。</a:t>
            </a:r>
            <a:endParaRPr lang="en-US" altLang="zh-CN" sz="1800" dirty="0"/>
          </a:p>
          <a:p>
            <a:pPr marL="35877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/>
              <a:t>“循环次数从</a:t>
            </a:r>
            <a:r>
              <a:rPr lang="en-US" altLang="zh-CN" sz="1800" dirty="0"/>
              <a:t>5000</a:t>
            </a:r>
            <a:r>
              <a:rPr lang="zh-CN" altLang="en-US" sz="1800" dirty="0"/>
              <a:t>次减少到</a:t>
            </a:r>
            <a:r>
              <a:rPr lang="en-US" altLang="zh-CN" sz="1800" dirty="0"/>
              <a:t>4000</a:t>
            </a:r>
            <a:r>
              <a:rPr lang="zh-CN" altLang="en-US" sz="1800" dirty="0"/>
              <a:t>次”这样的优化对于解决时间超限问题作用是很有限的。</a:t>
            </a:r>
            <a:endParaRPr lang="en-US" altLang="zh-CN" sz="1800" dirty="0"/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循环次数与时间超限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2883</Words>
  <Application>Microsoft Office PowerPoint</Application>
  <PresentationFormat>宽屏</PresentationFormat>
  <Paragraphs>554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华文楷体</vt:lpstr>
      <vt:lpstr>微软雅黑</vt:lpstr>
      <vt:lpstr>Arial</vt:lpstr>
      <vt:lpstr>Comic Sans MS</vt:lpstr>
      <vt:lpstr>Consolas</vt:lpstr>
      <vt:lpstr>Tw Cen MT</vt:lpstr>
      <vt:lpstr>Wingdings</vt:lpstr>
      <vt:lpstr>电路</vt:lpstr>
      <vt:lpstr>NOIP 入门 — 循环（二）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woodsgreen@163.com</cp:lastModifiedBy>
  <cp:revision>427</cp:revision>
  <dcterms:created xsi:type="dcterms:W3CDTF">2018-08-09T00:16:00Z</dcterms:created>
  <dcterms:modified xsi:type="dcterms:W3CDTF">2026-02-03T15:50:27Z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45DFB123E8414405A7AE1B621733429F</vt:lpwstr>
  </property>
  <property fmtid="{D5CDD505-2E9C-101B-9397-08002B2CF9AE}" pid="3" name="KSOProductBuildVer">
    <vt:lpwstr>2052-11.1.0.10700</vt:lpwstr>
  </property>
</Properties>
</file>