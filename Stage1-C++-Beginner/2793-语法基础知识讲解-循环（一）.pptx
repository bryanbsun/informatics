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62" r:id="rId3"/>
    <p:sldId id="347" r:id="rId4"/>
    <p:sldId id="636" r:id="rId5"/>
    <p:sldId id="627" r:id="rId6"/>
    <p:sldId id="625" r:id="rId7"/>
    <p:sldId id="626" r:id="rId8"/>
    <p:sldId id="630" r:id="rId9"/>
    <p:sldId id="629" r:id="rId10"/>
    <p:sldId id="637" r:id="rId11"/>
    <p:sldId id="631" r:id="rId12"/>
    <p:sldId id="261" r:id="rId13"/>
    <p:sldId id="628" r:id="rId14"/>
    <p:sldId id="63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38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55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702" y="144"/>
      </p:cViewPr>
      <p:guideLst>
        <p:guide orient="horz" pos="2145"/>
        <p:guide pos="38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/>
          <p:cNvSpPr txBox="1"/>
          <p:nvPr userDrawn="1"/>
        </p:nvSpPr>
        <p:spPr>
          <a:xfrm>
            <a:off x="10057394" y="6282804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1346105" y="5731394"/>
            <a:ext cx="547200" cy="5514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cap="none" dirty="0">
                <a:latin typeface="+mj-ea"/>
              </a:rPr>
              <a:t>NOIP </a:t>
            </a:r>
            <a:r>
              <a:rPr lang="zh-CN" altLang="en-US" cap="none" dirty="0">
                <a:latin typeface="+mj-ea"/>
              </a:rPr>
              <a:t>入门 </a:t>
            </a:r>
            <a:r>
              <a:rPr lang="en-US" altLang="zh-CN" cap="none" dirty="0">
                <a:latin typeface="+mj-ea"/>
              </a:rPr>
              <a:t>— </a:t>
            </a:r>
            <a:r>
              <a:rPr lang="zh-CN" altLang="en-US" cap="none" dirty="0">
                <a:latin typeface="+mj-ea"/>
              </a:rPr>
              <a:t>循环（一）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2"/>
            <a:ext cx="760946" cy="766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/>
          <p:nvPr/>
        </p:nvSpPr>
        <p:spPr>
          <a:xfrm>
            <a:off x="7590133" y="1310322"/>
            <a:ext cx="4215576" cy="30734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zh-CN" altLang="zh-CN" sz="1200" dirty="0">
                <a:solidFill>
                  <a:srgbClr val="808080"/>
                </a:solidFill>
              </a:rPr>
              <a:t>#include&lt;bits/stdc++.h&gt;</a:t>
            </a:r>
            <a:endParaRPr lang="zh-CN" altLang="zh-CN" sz="12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zh-CN" sz="1200" b="1" dirty="0">
                <a:solidFill>
                  <a:srgbClr val="006699"/>
                </a:solidFill>
              </a:rPr>
              <a:t>using</a:t>
            </a:r>
            <a:r>
              <a:rPr lang="zh-CN" altLang="zh-CN" sz="1200" dirty="0">
                <a:solidFill>
                  <a:schemeClr val="tx1"/>
                </a:solidFill>
              </a:rPr>
              <a:t> </a:t>
            </a:r>
            <a:r>
              <a:rPr lang="zh-CN" altLang="zh-CN" sz="1200" b="1" dirty="0">
                <a:solidFill>
                  <a:srgbClr val="006699"/>
                </a:solidFill>
              </a:rPr>
              <a:t>namespace</a:t>
            </a:r>
            <a:r>
              <a:rPr lang="zh-CN" altLang="zh-CN" sz="1200" dirty="0">
                <a:solidFill>
                  <a:schemeClr val="tx1"/>
                </a:solidFill>
              </a:rPr>
              <a:t> </a:t>
            </a:r>
            <a:r>
              <a:rPr lang="zh-CN" altLang="zh-CN" sz="1200" dirty="0">
                <a:solidFill>
                  <a:srgbClr val="000000"/>
                </a:solidFill>
              </a:rPr>
              <a:t>std;</a:t>
            </a:r>
            <a:endParaRPr lang="en-US" altLang="zh-CN" sz="1200" dirty="0"/>
          </a:p>
          <a:p>
            <a:pPr>
              <a:lnSpc>
                <a:spcPct val="100000"/>
              </a:lnSpc>
            </a:pPr>
            <a:r>
              <a:rPr lang="zh-CN" altLang="zh-CN" sz="1200" b="1" dirty="0">
                <a:solidFill>
                  <a:srgbClr val="808080"/>
                </a:solidFill>
              </a:rPr>
              <a:t>int</a:t>
            </a:r>
            <a:r>
              <a:rPr lang="zh-CN" altLang="zh-CN" sz="1200" dirty="0">
                <a:solidFill>
                  <a:schemeClr val="tx1"/>
                </a:solidFill>
              </a:rPr>
              <a:t> </a:t>
            </a:r>
            <a:r>
              <a:rPr lang="zh-CN" altLang="zh-CN" sz="1200" dirty="0">
                <a:solidFill>
                  <a:srgbClr val="000000"/>
                </a:solidFill>
              </a:rPr>
              <a:t>main(){</a:t>
            </a:r>
            <a:endParaRPr lang="en-US" altLang="zh-CN" sz="1200" dirty="0"/>
          </a:p>
          <a:p>
            <a:pPr>
              <a:lnSpc>
                <a:spcPct val="100000"/>
              </a:lnSpc>
            </a:pPr>
            <a:r>
              <a:rPr lang="en-US" altLang="zh-CN" sz="1200" b="1" dirty="0">
                <a:solidFill>
                  <a:srgbClr val="808080"/>
                </a:solidFill>
              </a:rPr>
              <a:t>    int</a:t>
            </a:r>
            <a:r>
              <a:rPr lang="en-US" altLang="zh-CN" sz="1200" dirty="0"/>
              <a:t> </a:t>
            </a:r>
            <a:r>
              <a:rPr lang="en-US" altLang="zh-CN" sz="1200" dirty="0" err="1"/>
              <a:t>n,i</a:t>
            </a:r>
            <a:r>
              <a:rPr lang="en-US" altLang="zh-CN" sz="1200" dirty="0"/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200" dirty="0"/>
              <a:t>    </a:t>
            </a:r>
            <a:r>
              <a:rPr lang="en-US" altLang="zh-CN" sz="1200" dirty="0" err="1"/>
              <a:t>cin</a:t>
            </a:r>
            <a:r>
              <a:rPr lang="en-US" altLang="zh-CN" sz="1200" dirty="0"/>
              <a:t>&gt;&gt;n;</a:t>
            </a:r>
          </a:p>
          <a:p>
            <a:pPr>
              <a:lnSpc>
                <a:spcPct val="100000"/>
              </a:lnSpc>
            </a:pPr>
            <a:r>
              <a:rPr lang="en-US" altLang="zh-CN" sz="1200" dirty="0"/>
              <a:t>    </a:t>
            </a:r>
            <a:r>
              <a:rPr lang="en-US" altLang="zh-CN" sz="1200" b="1" dirty="0">
                <a:solidFill>
                  <a:srgbClr val="006699"/>
                </a:solidFill>
              </a:rPr>
              <a:t>for</a:t>
            </a:r>
            <a:r>
              <a:rPr lang="en-US" altLang="zh-CN" sz="1200" dirty="0"/>
              <a:t>(i=1;i&lt;=n;++i)</a:t>
            </a:r>
          </a:p>
          <a:p>
            <a:pPr>
              <a:lnSpc>
                <a:spcPct val="100000"/>
              </a:lnSpc>
            </a:pPr>
            <a:r>
              <a:rPr lang="en-US" altLang="zh-CN" sz="1200" dirty="0"/>
              <a:t>        </a:t>
            </a:r>
            <a:r>
              <a:rPr lang="en-US" altLang="zh-CN" sz="1200" dirty="0" err="1"/>
              <a:t>cout</a:t>
            </a:r>
            <a:r>
              <a:rPr lang="en-US" altLang="zh-CN" sz="1200" dirty="0"/>
              <a:t>&lt;&lt;"</a:t>
            </a:r>
            <a:r>
              <a:rPr lang="zh-CN" altLang="en-US" sz="1200" dirty="0"/>
              <a:t>第</a:t>
            </a:r>
            <a:r>
              <a:rPr lang="en-US" altLang="zh-CN" sz="1200" dirty="0"/>
              <a:t>"&lt;&lt;i&lt;&lt;"</a:t>
            </a:r>
            <a:r>
              <a:rPr lang="zh-CN" altLang="en-US" sz="1200" dirty="0"/>
              <a:t>天</a:t>
            </a:r>
            <a:r>
              <a:rPr lang="en-US" altLang="zh-CN" sz="1200" dirty="0"/>
              <a:t>: "&lt;&lt;i*2&lt;&lt;"</a:t>
            </a:r>
            <a:r>
              <a:rPr lang="zh-CN" altLang="en-US" sz="1200" dirty="0"/>
              <a:t>个</a:t>
            </a:r>
            <a:r>
              <a:rPr lang="en-US" altLang="zh-CN" sz="1200" dirty="0"/>
              <a:t>"&lt;&lt;</a:t>
            </a:r>
            <a:r>
              <a:rPr lang="en-US" altLang="zh-CN" sz="1200" dirty="0" err="1"/>
              <a:t>endl</a:t>
            </a:r>
            <a:r>
              <a:rPr lang="en-US" altLang="zh-CN" sz="1200" dirty="0"/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200" dirty="0"/>
              <a:t>    </a:t>
            </a:r>
            <a:r>
              <a:rPr lang="en-US" altLang="zh-CN" sz="1200" b="1" dirty="0">
                <a:solidFill>
                  <a:srgbClr val="006699"/>
                </a:solidFill>
              </a:rPr>
              <a:t>return</a:t>
            </a:r>
            <a:r>
              <a:rPr lang="en-US" altLang="zh-CN" sz="1200" dirty="0"/>
              <a:t> 0;</a:t>
            </a:r>
          </a:p>
          <a:p>
            <a:pPr>
              <a:lnSpc>
                <a:spcPct val="100000"/>
              </a:lnSpc>
            </a:pPr>
            <a:r>
              <a:rPr lang="en-US" altLang="zh-CN" sz="1200" dirty="0"/>
              <a:t>}</a:t>
            </a:r>
          </a:p>
        </p:txBody>
      </p:sp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小松鼠的骄傲</a:t>
            </a:r>
          </a:p>
        </p:txBody>
      </p:sp>
      <p:sp>
        <p:nvSpPr>
          <p:cNvPr id="8" name="矩形 7"/>
          <p:cNvSpPr/>
          <p:nvPr/>
        </p:nvSpPr>
        <p:spPr>
          <a:xfrm>
            <a:off x="431989" y="1310322"/>
            <a:ext cx="278402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小松鼠学会了捡松果，第一天捡了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个，第二天捡了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……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，第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天捡了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个。它非常骄傲，想把这份成绩列出来给妈妈看。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一个整数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行，每行都是“第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天：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y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个”的形式。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样例输入：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样例输出：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天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天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4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天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6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天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8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天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10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endParaRPr lang="zh-CN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3620847" y="1310322"/>
            <a:ext cx="3564456" cy="50409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2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2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2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n;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&gt;&gt;n;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(n&gt;=1) 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&lt;&lt;"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天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2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"&lt;&lt;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(n&gt;=2) 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&lt;&lt;"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天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4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"&lt;&lt;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(n&gt;=3) 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&lt;&lt;"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天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6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"&lt;&lt;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(n&gt;=4) 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&lt;&lt;"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天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8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"&lt;&lt;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(n&gt;=5) 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&lt;&lt;"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天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10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"&lt;&lt;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(n&gt;=6) 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&lt;&lt;"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天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12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"&lt;&lt;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(n&gt;=7) 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&lt;&lt;"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7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天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14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"&lt;&lt;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(n&gt;=8) 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&lt;&lt;"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8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天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16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"&lt;&lt;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(n&gt;=9) 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&lt;&lt;"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天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18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"&lt;&lt;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(n&gt;=10) 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&lt;&lt;"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天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20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"&lt;&lt;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864772" y="1486111"/>
            <a:ext cx="5817476" cy="3804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循环控制部分由括号括起，由两个分号分隔成三个部分</a:t>
            </a:r>
            <a:endParaRPr lang="en-US" altLang="zh-CN" sz="14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执行过程：</a:t>
            </a:r>
            <a:endParaRPr lang="en-US" altLang="zh-CN" sz="14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执行初始化</a:t>
            </a:r>
            <a:endParaRPr lang="zh-CN" altLang="zh-CN" sz="14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执行判断</a:t>
            </a:r>
            <a:endParaRPr lang="en-US" altLang="zh-CN" sz="14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如果成立，执行循环体</a:t>
            </a:r>
            <a:endParaRPr lang="en-US" altLang="zh-CN" sz="14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如果不成立，结束循环</a:t>
            </a:r>
            <a:endParaRPr lang="zh-CN" altLang="zh-CN" sz="14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执行改变</a:t>
            </a:r>
            <a:endParaRPr lang="zh-CN" altLang="zh-CN" sz="14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重复</a:t>
            </a:r>
            <a:r>
              <a:rPr lang="en-US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endParaRPr lang="zh-CN" altLang="zh-CN" sz="1400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循环体如果有多句语句，要加上花括号</a:t>
            </a:r>
            <a:endParaRPr lang="en-US" altLang="zh-CN" sz="1400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初始化一定会执行一次；循环体执行了几次，改变就执行了几次</a:t>
            </a:r>
            <a:endParaRPr lang="en-US" altLang="zh-CN" sz="1400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通常为循环体的语句加上缩进，让程序更容易看懂</a:t>
            </a:r>
            <a:endParaRPr lang="en-US" altLang="zh-CN" sz="1400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for</a:t>
            </a: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之后不要加分号</a:t>
            </a:r>
            <a:endParaRPr lang="en-US" altLang="zh-CN" sz="1400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678610" y="1486111"/>
            <a:ext cx="3853976" cy="1942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for(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初始化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判断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改变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语句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语句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……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右大括号 4"/>
          <p:cNvSpPr/>
          <p:nvPr/>
        </p:nvSpPr>
        <p:spPr>
          <a:xfrm>
            <a:off x="2115047" y="1948070"/>
            <a:ext cx="310101" cy="874643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486329" y="220072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循环体</a:t>
            </a:r>
          </a:p>
        </p:txBody>
      </p:sp>
      <p:sp>
        <p:nvSpPr>
          <p:cNvPr id="9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for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循环：语法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23"/>
          <p:cNvSpPr txBox="1"/>
          <p:nvPr/>
        </p:nvSpPr>
        <p:spPr>
          <a:xfrm>
            <a:off x="678609" y="301567"/>
            <a:ext cx="1063465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for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循环：执行过程</a:t>
            </a:r>
            <a:endParaRPr lang="en-US" altLang="zh-CN" sz="4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64772" y="1479126"/>
            <a:ext cx="5817476" cy="3804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循环控制部分由括号括起，由两个分号分隔成三个部分</a:t>
            </a:r>
            <a:endParaRPr lang="en-US" altLang="zh-CN" sz="14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执行过程：</a:t>
            </a:r>
            <a:endParaRPr lang="en-US" altLang="zh-CN" sz="14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执行初始化</a:t>
            </a:r>
            <a:endParaRPr lang="zh-CN" altLang="zh-CN" sz="14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执行判断</a:t>
            </a:r>
            <a:endParaRPr lang="en-US" altLang="zh-CN" sz="14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如果成立，执行循环体</a:t>
            </a:r>
            <a:endParaRPr lang="en-US" altLang="zh-CN" sz="14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如果不成立，结束循环</a:t>
            </a:r>
            <a:endParaRPr lang="zh-CN" altLang="zh-CN" sz="14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执行改变</a:t>
            </a:r>
            <a:endParaRPr lang="zh-CN" altLang="zh-CN" sz="14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重复</a:t>
            </a:r>
            <a:r>
              <a:rPr lang="en-US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endParaRPr lang="zh-CN" altLang="zh-CN" sz="1400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循环体如果有多句语句，要加上花括号</a:t>
            </a:r>
            <a:endParaRPr lang="en-US" altLang="zh-CN" sz="1400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初始化一定会执行一次；循环体执行了几次，改变就执行了几次</a:t>
            </a:r>
            <a:endParaRPr lang="en-US" altLang="zh-CN" sz="1400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通常为循环体的语句加上缩进，让程序更容易看懂</a:t>
            </a:r>
            <a:endParaRPr lang="en-US" altLang="zh-CN" sz="1400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for</a:t>
            </a: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之后不要加分号</a:t>
            </a:r>
            <a:endParaRPr lang="en-US" altLang="zh-CN" sz="1400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4CD01BA-5BF3-48A5-8520-36CC9785E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79" y="1479126"/>
            <a:ext cx="5623393" cy="45374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78608" y="3511119"/>
          <a:ext cx="5417390" cy="2255520"/>
        </p:xfrm>
        <a:graphic>
          <a:graphicData uri="http://schemas.openxmlformats.org/drawingml/2006/table">
            <a:tbl>
              <a:tblPr firstRow="1" bandRow="1"/>
              <a:tblGrid>
                <a:gridCol w="1171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0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6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第几次执行循环体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黑窗口输出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的改变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条件判断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第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天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: 2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个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由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变为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满足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第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天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: 4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个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由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变为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满足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第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天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: 6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个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由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变为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满足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第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天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: 8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个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由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变为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满足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第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天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: 10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个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由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变为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不满足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内容占位符 2"/>
          <p:cNvSpPr txBox="1"/>
          <p:nvPr/>
        </p:nvSpPr>
        <p:spPr>
          <a:xfrm>
            <a:off x="678610" y="1486111"/>
            <a:ext cx="1709483" cy="454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黑窗口输入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变量表</a:t>
            </a:r>
          </a:p>
        </p:txBody>
      </p:sp>
      <p:sp>
        <p:nvSpPr>
          <p:cNvPr id="8" name="内容占位符 2"/>
          <p:cNvSpPr txBox="1"/>
          <p:nvPr/>
        </p:nvSpPr>
        <p:spPr>
          <a:xfrm>
            <a:off x="678609" y="2260016"/>
            <a:ext cx="4012661" cy="10868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随着时间的推移，变量会发生改变，用变量表来观察变量在每次执行循环体的一瞬间的值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7013025" y="1713114"/>
            <a:ext cx="5006697" cy="30734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zh-CN" sz="1400" dirty="0"/>
              <a:t>1 </a:t>
            </a:r>
            <a:r>
              <a:rPr lang="zh-CN" altLang="zh-CN" sz="1400" dirty="0">
                <a:solidFill>
                  <a:srgbClr val="808080"/>
                </a:solidFill>
              </a:rPr>
              <a:t>#include&lt;bits/stdc++.h&gt;</a:t>
            </a:r>
            <a:endParaRPr lang="zh-CN" altLang="zh-CN" sz="11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400" dirty="0"/>
              <a:t>2 </a:t>
            </a:r>
            <a:r>
              <a:rPr lang="zh-CN" altLang="zh-CN" sz="1400" b="1" dirty="0">
                <a:solidFill>
                  <a:srgbClr val="006699"/>
                </a:solidFill>
              </a:rPr>
              <a:t>using</a:t>
            </a:r>
            <a:r>
              <a:rPr lang="zh-CN" altLang="zh-CN" sz="1400" dirty="0">
                <a:solidFill>
                  <a:schemeClr val="tx1"/>
                </a:solidFill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</a:rPr>
              <a:t>namespace</a:t>
            </a:r>
            <a:r>
              <a:rPr lang="zh-CN" altLang="zh-CN" sz="1400" dirty="0">
                <a:solidFill>
                  <a:schemeClr val="tx1"/>
                </a:solidFill>
              </a:rPr>
              <a:t> </a:t>
            </a:r>
            <a:r>
              <a:rPr lang="zh-CN" altLang="zh-CN" sz="1400" dirty="0">
                <a:solidFill>
                  <a:srgbClr val="000000"/>
                </a:solidFill>
              </a:rPr>
              <a:t>std;</a:t>
            </a:r>
            <a:endParaRPr lang="en-US" altLang="zh-CN" sz="1400" dirty="0"/>
          </a:p>
          <a:p>
            <a:pPr>
              <a:lnSpc>
                <a:spcPct val="100000"/>
              </a:lnSpc>
            </a:pPr>
            <a:r>
              <a:rPr lang="en-US" altLang="zh-CN" sz="1400" dirty="0"/>
              <a:t>3 </a:t>
            </a:r>
            <a:r>
              <a:rPr lang="zh-CN" altLang="zh-CN" sz="1400" b="1" dirty="0">
                <a:solidFill>
                  <a:srgbClr val="808080"/>
                </a:solidFill>
              </a:rPr>
              <a:t>int</a:t>
            </a:r>
            <a:r>
              <a:rPr lang="zh-CN" altLang="zh-CN" sz="1400" dirty="0">
                <a:solidFill>
                  <a:schemeClr val="tx1"/>
                </a:solidFill>
              </a:rPr>
              <a:t> </a:t>
            </a:r>
            <a:r>
              <a:rPr lang="zh-CN" altLang="zh-CN" sz="1400" dirty="0">
                <a:solidFill>
                  <a:srgbClr val="000000"/>
                </a:solidFill>
              </a:rPr>
              <a:t>main(){</a:t>
            </a:r>
            <a:endParaRPr lang="en-US" altLang="zh-CN" sz="1400" dirty="0"/>
          </a:p>
          <a:p>
            <a:pPr>
              <a:lnSpc>
                <a:spcPct val="100000"/>
              </a:lnSpc>
            </a:pPr>
            <a:r>
              <a:rPr lang="en-US" altLang="zh-CN" sz="1400" dirty="0"/>
              <a:t>4     </a:t>
            </a:r>
            <a:r>
              <a:rPr lang="en-US" altLang="zh-CN" sz="1400" b="1" dirty="0">
                <a:solidFill>
                  <a:srgbClr val="808080"/>
                </a:solidFill>
              </a:rPr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n,i</a:t>
            </a:r>
            <a:r>
              <a:rPr lang="en-US" altLang="zh-CN" sz="1400" dirty="0"/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 dirty="0"/>
              <a:t>5     </a:t>
            </a:r>
            <a:r>
              <a:rPr lang="en-US" altLang="zh-CN" sz="1400" dirty="0" err="1"/>
              <a:t>cin</a:t>
            </a:r>
            <a:r>
              <a:rPr lang="en-US" altLang="zh-CN" sz="1400" dirty="0"/>
              <a:t>&gt;&gt;n;</a:t>
            </a:r>
          </a:p>
          <a:p>
            <a:pPr>
              <a:lnSpc>
                <a:spcPct val="100000"/>
              </a:lnSpc>
            </a:pPr>
            <a:r>
              <a:rPr lang="en-US" altLang="zh-CN" sz="1400" dirty="0"/>
              <a:t>6     </a:t>
            </a:r>
            <a:r>
              <a:rPr lang="en-US" altLang="zh-CN" sz="1400" b="1" dirty="0">
                <a:solidFill>
                  <a:srgbClr val="006699"/>
                </a:solidFill>
              </a:rPr>
              <a:t>for</a:t>
            </a:r>
            <a:r>
              <a:rPr lang="en-US" altLang="zh-CN" sz="1400" dirty="0"/>
              <a:t>(i=1;i&lt;=n;++i)</a:t>
            </a:r>
          </a:p>
          <a:p>
            <a:pPr>
              <a:lnSpc>
                <a:spcPct val="100000"/>
              </a:lnSpc>
            </a:pPr>
            <a:r>
              <a:rPr lang="en-US" altLang="zh-CN" sz="1400" dirty="0"/>
              <a:t>7       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第</a:t>
            </a:r>
            <a:r>
              <a:rPr lang="en-US" altLang="zh-CN" sz="1400" dirty="0"/>
              <a:t>"&lt;&lt;i&lt;&lt;"</a:t>
            </a:r>
            <a:r>
              <a:rPr lang="zh-CN" altLang="en-US" sz="1400" dirty="0"/>
              <a:t>天</a:t>
            </a:r>
            <a:r>
              <a:rPr lang="en-US" altLang="zh-CN" sz="1400" dirty="0"/>
              <a:t>: "&lt;&lt;i*2&lt;&lt;"</a:t>
            </a:r>
            <a:r>
              <a:rPr lang="zh-CN" altLang="en-US" sz="1400" dirty="0"/>
              <a:t>个</a:t>
            </a:r>
            <a:r>
              <a:rPr lang="en-US" altLang="zh-CN" sz="1400" dirty="0"/>
              <a:t>"&lt;&lt;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 dirty="0"/>
              <a:t>8     </a:t>
            </a:r>
            <a:r>
              <a:rPr lang="en-US" altLang="zh-CN" sz="1400" b="1" dirty="0">
                <a:solidFill>
                  <a:srgbClr val="006699"/>
                </a:solidFill>
              </a:rPr>
              <a:t>return</a:t>
            </a:r>
            <a:r>
              <a:rPr lang="en-US" altLang="zh-CN" sz="1400" dirty="0"/>
              <a:t> 0;</a:t>
            </a:r>
          </a:p>
          <a:p>
            <a:pPr>
              <a:lnSpc>
                <a:spcPct val="100000"/>
              </a:lnSpc>
            </a:pPr>
            <a:r>
              <a:rPr lang="en-US" altLang="zh-CN" sz="1400" dirty="0"/>
              <a:t>9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864772" y="1486111"/>
            <a:ext cx="5817476" cy="3513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以下两句语句效果是一样的：</a:t>
            </a:r>
            <a:endParaRPr lang="en-US" altLang="zh-CN" sz="14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arenR"/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a++;</a:t>
            </a: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arenR"/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a=a+1;</a:t>
            </a: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同理，以下两句效果也是一样的：</a:t>
            </a:r>
            <a:endParaRPr lang="en-US" altLang="zh-CN" sz="14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arenR"/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a--;</a:t>
            </a: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arenR"/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a=a-1;</a:t>
            </a: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++a</a:t>
            </a: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与</a:t>
            </a:r>
            <a:r>
              <a:rPr lang="en-US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a++</a:t>
            </a: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的区别</a:t>
            </a:r>
            <a:endParaRPr lang="en-US" altLang="zh-CN" sz="14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arenR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如果单独写，效果一模一样</a:t>
            </a:r>
            <a:endParaRPr lang="en-US" altLang="zh-CN" sz="14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arenR"/>
            </a:pP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如果放在表达式中参与计算：</a:t>
            </a:r>
            <a:endParaRPr lang="en-US" altLang="zh-CN" sz="1400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en-US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++a</a:t>
            </a: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会先做自增再参与计算</a:t>
            </a:r>
            <a:endParaRPr lang="en-US" altLang="zh-CN" sz="1400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en-US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a++</a:t>
            </a: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会先参与计算再做自增</a:t>
            </a:r>
            <a:endParaRPr lang="en-US" altLang="zh-CN" sz="1400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678610" y="1486111"/>
            <a:ext cx="3853976" cy="1137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a=10;</a:t>
            </a:r>
          </a:p>
          <a:p>
            <a:pPr marL="0" indent="0"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a++;</a:t>
            </a:r>
          </a:p>
          <a:p>
            <a:pPr marL="0" indent="0">
              <a:buNone/>
            </a:pP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&lt;&lt;a;</a:t>
            </a:r>
          </a:p>
        </p:txBody>
      </p:sp>
      <p:sp>
        <p:nvSpPr>
          <p:cNvPr id="5" name="内容占位符 2"/>
          <p:cNvSpPr txBox="1"/>
          <p:nvPr/>
        </p:nvSpPr>
        <p:spPr>
          <a:xfrm>
            <a:off x="678609" y="2964681"/>
            <a:ext cx="3853976" cy="1137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a=10;</a:t>
            </a:r>
          </a:p>
          <a:p>
            <a:pPr marL="0" indent="0"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a--;</a:t>
            </a:r>
          </a:p>
          <a:p>
            <a:pPr marL="0" indent="0">
              <a:buNone/>
            </a:pP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&lt;&lt;a;</a:t>
            </a:r>
          </a:p>
        </p:txBody>
      </p:sp>
      <p:sp>
        <p:nvSpPr>
          <p:cNvPr id="9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自增、自减</a:t>
            </a:r>
          </a:p>
        </p:txBody>
      </p:sp>
      <p:sp>
        <p:nvSpPr>
          <p:cNvPr id="6" name="矩形 5"/>
          <p:cNvSpPr/>
          <p:nvPr/>
        </p:nvSpPr>
        <p:spPr>
          <a:xfrm>
            <a:off x="1724616" y="2116869"/>
            <a:ext cx="75533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</a:t>
            </a:r>
            <a:endParaRPr lang="zh-CN" altLang="en-US" sz="14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22891" y="3574285"/>
            <a:ext cx="6431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endParaRPr lang="zh-CN" altLang="en-US" sz="14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  <p:bldP spid="6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>
          <a:xfrm>
            <a:off x="678610" y="1486111"/>
            <a:ext cx="3853976" cy="1137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a=10;</a:t>
            </a:r>
          </a:p>
          <a:p>
            <a:pPr marL="0" indent="0"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a+=5;</a:t>
            </a:r>
          </a:p>
          <a:p>
            <a:pPr marL="0" indent="0">
              <a:buNone/>
            </a:pP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&lt;&lt;a;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254115" y="1486111"/>
          <a:ext cx="6060988" cy="2146806"/>
        </p:xfrm>
        <a:graphic>
          <a:graphicData uri="http://schemas.openxmlformats.org/drawingml/2006/table">
            <a:tbl>
              <a:tblPr firstRow="1" bandRow="1"/>
              <a:tblGrid>
                <a:gridCol w="1636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1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8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复合算术赋值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表达式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效果说明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8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+=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+= 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= x + 5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8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-=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-= 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= x</a:t>
                      </a:r>
                      <a:r>
                        <a:rPr lang="en-US" altLang="zh-CN" sz="1600" baseline="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– 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8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*=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*= 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= x * 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8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/=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/= 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= x / 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8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%=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%= 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= x % 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1876897" y="2111963"/>
            <a:ext cx="7425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15</a:t>
            </a:r>
            <a:endParaRPr lang="zh-CN" altLang="en-US" sz="14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复合算术赋值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864772" y="1486111"/>
            <a:ext cx="5817476" cy="1862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初始化可以写多个语句，用逗号分隔；</a:t>
            </a:r>
            <a:endParaRPr lang="en-US" altLang="zh-CN" sz="14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en-US" sz="1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改变也可以写多个语句，用逗号分隔；</a:t>
            </a:r>
            <a:endParaRPr lang="zh-CN" altLang="zh-CN" sz="1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初始化、判断、改变都可以省略其中的一个或多个，甚至全部省略，但是两个分号不能省略；</a:t>
            </a:r>
            <a:endParaRPr lang="en-US" altLang="zh-CN" sz="14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省略判断，意味着判断总是成立；</a:t>
            </a:r>
            <a:endParaRPr lang="en-US" altLang="zh-CN" sz="14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endParaRPr lang="en-US" altLang="zh-CN" sz="1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678609" y="1295281"/>
            <a:ext cx="3853976" cy="21337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en-US" altLang="zh-CN" sz="1400" dirty="0">
              <a:solidFill>
                <a:srgbClr val="8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i,j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(i=0,j=10;i&lt;j;++i,--j)</a:t>
            </a:r>
          </a:p>
          <a:p>
            <a:pPr marL="0" lvl="0" indent="0" eaLnBrk="0" fontAlgn="base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&lt;&lt;i&lt;&lt;" "&lt;&lt;j&lt;&lt;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pPr marL="0" lvl="0" indent="0" eaLnBrk="0" fontAlgn="base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内容占位符 2"/>
          <p:cNvSpPr txBox="1"/>
          <p:nvPr/>
        </p:nvSpPr>
        <p:spPr>
          <a:xfrm>
            <a:off x="678609" y="3657725"/>
            <a:ext cx="3853976" cy="2577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en-US" altLang="zh-CN" sz="1400" dirty="0">
              <a:solidFill>
                <a:srgbClr val="8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i=0,j=10;</a:t>
            </a:r>
          </a:p>
          <a:p>
            <a:pPr marL="0" lvl="0" indent="0" eaLnBrk="0" fontAlgn="base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(;i&lt;j;){</a:t>
            </a:r>
          </a:p>
          <a:p>
            <a:pPr marL="0" lvl="0" indent="0" eaLnBrk="0" fontAlgn="base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&lt;&lt;i&lt;&lt;" "&lt;&lt;j&lt;&lt;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,--j;</a:t>
            </a:r>
          </a:p>
          <a:p>
            <a:pPr marL="0" lvl="0" indent="0" eaLnBrk="0" fontAlgn="base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lvl="0" indent="0" eaLnBrk="0" fontAlgn="base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pPr marL="0" lvl="0" indent="0" eaLnBrk="0" fontAlgn="base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for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语法说明</a:t>
            </a:r>
          </a:p>
        </p:txBody>
      </p:sp>
      <p:sp>
        <p:nvSpPr>
          <p:cNvPr id="10" name="矩形 9"/>
          <p:cNvSpPr/>
          <p:nvPr/>
        </p:nvSpPr>
        <p:spPr>
          <a:xfrm>
            <a:off x="4175499" y="1891286"/>
            <a:ext cx="723275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0 10</a:t>
            </a:r>
          </a:p>
          <a:p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1 9</a:t>
            </a:r>
          </a:p>
          <a:p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2 8</a:t>
            </a:r>
          </a:p>
          <a:p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3 7</a:t>
            </a:r>
          </a:p>
          <a:p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4 6</a:t>
            </a:r>
          </a:p>
        </p:txBody>
      </p:sp>
      <p:sp>
        <p:nvSpPr>
          <p:cNvPr id="11" name="矩形 10"/>
          <p:cNvSpPr/>
          <p:nvPr/>
        </p:nvSpPr>
        <p:spPr>
          <a:xfrm>
            <a:off x="4175499" y="4253730"/>
            <a:ext cx="723275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0 10</a:t>
            </a:r>
          </a:p>
          <a:p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1 9</a:t>
            </a:r>
          </a:p>
          <a:p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2 8</a:t>
            </a:r>
          </a:p>
          <a:p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3 7</a:t>
            </a:r>
          </a:p>
          <a:p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5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2068" y="1303231"/>
            <a:ext cx="2750392" cy="4133892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n,m,sum1=0,sum2=0;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&gt;&gt;n&gt;&gt;m;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n;i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&lt;=m;++i)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(i%2)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sum1+=i;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sum2+=i;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&lt;&lt;sum1&lt;&lt;" "&lt;&lt;sum2;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内容占位符 2"/>
          <p:cNvSpPr txBox="1"/>
          <p:nvPr/>
        </p:nvSpPr>
        <p:spPr>
          <a:xfrm>
            <a:off x="7779753" y="1303231"/>
            <a:ext cx="3942395" cy="4133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n,m,sum1=0,sum2=0;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&gt;&gt;n&gt;&gt;m;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n,j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=n+1;j&lt;=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m;i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+=2,j+=2){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sum1+=i;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sum2+=j;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&lt;&lt;sum1&lt;&lt;" "&lt;&lt;sum2;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内容占位符 2"/>
          <p:cNvSpPr txBox="1"/>
          <p:nvPr/>
        </p:nvSpPr>
        <p:spPr>
          <a:xfrm>
            <a:off x="4262067" y="5437123"/>
            <a:ext cx="2036135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循环体执行了</a:t>
            </a:r>
            <a:r>
              <a:rPr lang="en-US" altLang="zh-CN" dirty="0"/>
              <a:t>m-n+1</a:t>
            </a:r>
            <a:r>
              <a:rPr lang="zh-CN" altLang="en-US" dirty="0"/>
              <a:t>次</a:t>
            </a:r>
            <a:endParaRPr lang="en-US" altLang="zh-CN" dirty="0"/>
          </a:p>
        </p:txBody>
      </p:sp>
      <p:sp>
        <p:nvSpPr>
          <p:cNvPr id="7" name="内容占位符 2"/>
          <p:cNvSpPr txBox="1"/>
          <p:nvPr/>
        </p:nvSpPr>
        <p:spPr>
          <a:xfrm>
            <a:off x="7779754" y="5437123"/>
            <a:ext cx="2337499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循环体执行了</a:t>
            </a:r>
            <a:r>
              <a:rPr lang="en-US" altLang="zh-CN" dirty="0"/>
              <a:t>(m-n+1)/2</a:t>
            </a:r>
            <a:r>
              <a:rPr lang="zh-CN" altLang="en-US" dirty="0"/>
              <a:t>次</a:t>
            </a:r>
            <a:endParaRPr lang="en-US" altLang="zh-CN" dirty="0"/>
          </a:p>
        </p:txBody>
      </p:sp>
      <p:sp>
        <p:nvSpPr>
          <p:cNvPr id="8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奇数之和与偶数之和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B879DE20-20B8-AFD7-FB04-6CAD4D90363D}"/>
              </a:ext>
            </a:extLst>
          </p:cNvPr>
          <p:cNvSpPr>
            <a:spLocks noGrp="1"/>
          </p:cNvSpPr>
          <p:nvPr/>
        </p:nvSpPr>
        <p:spPr>
          <a:xfrm>
            <a:off x="567895" y="1646598"/>
            <a:ext cx="3100422" cy="4507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给定整数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，计算从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的奇数之和与偶数之和。</a:t>
            </a:r>
            <a:endParaRPr lang="en-US" altLang="zh-CN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D4B7BC-8DD3-79C5-8BAA-D1AC81939FB0}"/>
              </a:ext>
            </a:extLst>
          </p:cNvPr>
          <p:cNvSpPr/>
          <p:nvPr/>
        </p:nvSpPr>
        <p:spPr>
          <a:xfrm>
            <a:off x="574067" y="1310216"/>
            <a:ext cx="309544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027174CB-F347-DC93-C343-880ED4231983}"/>
              </a:ext>
            </a:extLst>
          </p:cNvPr>
          <p:cNvSpPr txBox="1"/>
          <p:nvPr/>
        </p:nvSpPr>
        <p:spPr>
          <a:xfrm>
            <a:off x="567894" y="2447296"/>
            <a:ext cx="3097932" cy="4485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空格分隔的两个整数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1&lt;n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＜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1000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，保证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为奇数、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为偶数）。</a:t>
            </a:r>
            <a:endParaRPr lang="en-US" altLang="zh-CN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4CFB636-DB80-8B6D-DA10-A38D9A6D028A}"/>
              </a:ext>
            </a:extLst>
          </p:cNvPr>
          <p:cNvSpPr/>
          <p:nvPr/>
        </p:nvSpPr>
        <p:spPr>
          <a:xfrm>
            <a:off x="569255" y="2103598"/>
            <a:ext cx="30979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EDAAA97E-B098-87A1-2731-776DDA5CD060}"/>
              </a:ext>
            </a:extLst>
          </p:cNvPr>
          <p:cNvSpPr txBox="1"/>
          <p:nvPr/>
        </p:nvSpPr>
        <p:spPr>
          <a:xfrm>
            <a:off x="566634" y="3241065"/>
            <a:ext cx="3100236" cy="4872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空格分隔的两个整数，前一个为偶数之和，后一个为奇数之和。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082F796-60C0-857C-7AC6-33D291110205}"/>
              </a:ext>
            </a:extLst>
          </p:cNvPr>
          <p:cNvSpPr/>
          <p:nvPr/>
        </p:nvSpPr>
        <p:spPr>
          <a:xfrm>
            <a:off x="566533" y="2897058"/>
            <a:ext cx="31004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C01BAA40-36B6-22E7-CF15-F95D04160CBD}"/>
              </a:ext>
            </a:extLst>
          </p:cNvPr>
          <p:cNvSpPr txBox="1"/>
          <p:nvPr/>
        </p:nvSpPr>
        <p:spPr>
          <a:xfrm>
            <a:off x="570604" y="3722871"/>
            <a:ext cx="1816731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样例输入：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1 100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598E40A-336B-FCDF-3DAA-F464C3ADED4C}"/>
              </a:ext>
            </a:extLst>
          </p:cNvPr>
          <p:cNvSpPr/>
          <p:nvPr/>
        </p:nvSpPr>
        <p:spPr>
          <a:xfrm>
            <a:off x="2387335" y="3728324"/>
            <a:ext cx="1107440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样例输出：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2500 2550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/>
          <p:nvPr/>
        </p:nvSpPr>
        <p:spPr>
          <a:xfrm>
            <a:off x="6899680" y="1310216"/>
            <a:ext cx="5030769" cy="5034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=10000;i&lt;100000;i++){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a,b,c,d,e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a=i%10;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b=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/10%10;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c=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/100%10;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d=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/1000%10;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e=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/10000;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(a&amp;&amp;b&amp;&amp;c&amp;&amp;d&amp;&amp;e&amp;&amp;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a+c+e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b+d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&amp;&amp;a*c*e==b*d)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&lt;&lt;" ";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特殊性质的五位数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E00C9E6-C8C5-64AC-B8CB-526D381A56BE}"/>
              </a:ext>
            </a:extLst>
          </p:cNvPr>
          <p:cNvSpPr>
            <a:spLocks noGrp="1"/>
          </p:cNvSpPr>
          <p:nvPr/>
        </p:nvSpPr>
        <p:spPr>
          <a:xfrm>
            <a:off x="570846" y="1645887"/>
            <a:ext cx="3390469" cy="9075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有一类五位数，满足以下性质：</a:t>
            </a:r>
            <a:endParaRPr lang="en-US" altLang="zh-CN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、每个数位都不是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；</a:t>
            </a:r>
            <a:endParaRPr lang="en-US" altLang="zh-CN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、个位加上百位加上万位等于十位加上千位；</a:t>
            </a:r>
            <a:endParaRPr lang="en-US" altLang="zh-CN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、个位乘以百位乘以万位等于十位乘以千位；</a:t>
            </a:r>
            <a:endParaRPr lang="en-US" altLang="zh-CN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7F8D3E-5D4C-5D79-AAE7-5A385D9BE3CD}"/>
              </a:ext>
            </a:extLst>
          </p:cNvPr>
          <p:cNvSpPr/>
          <p:nvPr/>
        </p:nvSpPr>
        <p:spPr>
          <a:xfrm>
            <a:off x="574067" y="1310216"/>
            <a:ext cx="338502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3E5FDB6E-687A-361A-584E-344D504A2D56}"/>
              </a:ext>
            </a:extLst>
          </p:cNvPr>
          <p:cNvSpPr txBox="1"/>
          <p:nvPr/>
        </p:nvSpPr>
        <p:spPr>
          <a:xfrm>
            <a:off x="571052" y="2890526"/>
            <a:ext cx="3390265" cy="5675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从小到大依次输出所有满足题目要求的五位数，每两个数之间由一个空格分隔。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3AE092-A26A-B91A-81C4-4ECE8215012E}"/>
              </a:ext>
            </a:extLst>
          </p:cNvPr>
          <p:cNvSpPr/>
          <p:nvPr/>
        </p:nvSpPr>
        <p:spPr>
          <a:xfrm>
            <a:off x="570846" y="2553419"/>
            <a:ext cx="339046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4045CC3-E7AF-7837-4792-6E2DB1D11AD6}"/>
              </a:ext>
            </a:extLst>
          </p:cNvPr>
          <p:cNvSpPr txBox="1"/>
          <p:nvPr/>
        </p:nvSpPr>
        <p:spPr>
          <a:xfrm>
            <a:off x="570846" y="3795175"/>
            <a:ext cx="5586963" cy="1832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530" lvl="0" indent="-176530" algn="just" defTabSz="914400" fontAlgn="auto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五位数的范围从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10000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99999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；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6530" lvl="0" indent="-176530" algn="just" defTabSz="914400" fontAlgn="auto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从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10000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开始，从小到大依次检查每一个五位数，如果满足条件就输出；</a:t>
            </a:r>
          </a:p>
          <a:p>
            <a:pPr marL="176530" lvl="0" indent="-176530" algn="just" defTabSz="914400" fontAlgn="auto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获取一个五位数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的每个数位：</a:t>
            </a:r>
          </a:p>
          <a:p>
            <a:pPr marL="633730" lvl="1" indent="-176530" algn="just" defTabSz="914400" fontAlgn="auto">
              <a:lnSpc>
                <a:spcPct val="90000"/>
              </a:lnSpc>
              <a:spcBef>
                <a:spcPts val="400"/>
              </a:spcBef>
              <a:buFont typeface="Wingdings" panose="05000000000000000000" charset="0"/>
              <a:buChar char="ü"/>
            </a:pP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个位：</a:t>
            </a:r>
            <a:r>
              <a:rPr lang="en-US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x%10</a:t>
            </a:r>
            <a:endParaRPr lang="zh-CN" altLang="en-US" sz="10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633730" lvl="1" indent="-176530" algn="just" defTabSz="914400" fontAlgn="auto">
              <a:lnSpc>
                <a:spcPct val="90000"/>
              </a:lnSpc>
              <a:spcBef>
                <a:spcPts val="400"/>
              </a:spcBef>
              <a:buFont typeface="Wingdings" panose="05000000000000000000" charset="0"/>
              <a:buChar char="ü"/>
            </a:pP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十位：</a:t>
            </a:r>
            <a:r>
              <a:rPr lang="en-US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x/10%10</a:t>
            </a:r>
          </a:p>
          <a:p>
            <a:pPr marL="633730" lvl="1" indent="-176530" algn="just" defTabSz="914400" fontAlgn="auto">
              <a:lnSpc>
                <a:spcPct val="90000"/>
              </a:lnSpc>
              <a:spcBef>
                <a:spcPts val="400"/>
              </a:spcBef>
              <a:buFont typeface="Wingdings" panose="05000000000000000000" charset="0"/>
              <a:buChar char="ü"/>
            </a:pP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百位：</a:t>
            </a:r>
            <a:r>
              <a:rPr lang="en-US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x/100%10</a:t>
            </a:r>
          </a:p>
          <a:p>
            <a:pPr marL="633730" lvl="1" indent="-176530" algn="just" defTabSz="914400" fontAlgn="auto">
              <a:lnSpc>
                <a:spcPct val="90000"/>
              </a:lnSpc>
              <a:spcBef>
                <a:spcPts val="400"/>
              </a:spcBef>
              <a:buFont typeface="Wingdings" panose="05000000000000000000" charset="0"/>
              <a:buChar char="ü"/>
            </a:pP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千位：</a:t>
            </a:r>
            <a:r>
              <a:rPr lang="en-US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x/1000%10</a:t>
            </a:r>
          </a:p>
          <a:p>
            <a:pPr marL="633730" lvl="1" indent="-176530" algn="just" defTabSz="914400" fontAlgn="auto">
              <a:lnSpc>
                <a:spcPct val="90000"/>
              </a:lnSpc>
              <a:spcBef>
                <a:spcPts val="400"/>
              </a:spcBef>
              <a:buFont typeface="Wingdings" panose="05000000000000000000" charset="0"/>
              <a:buChar char="ü"/>
            </a:pP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万位：</a:t>
            </a:r>
            <a:r>
              <a:rPr lang="en-US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x/10000%10</a:t>
            </a:r>
          </a:p>
          <a:p>
            <a:pPr marL="989013" lvl="1" algn="just" defTabSz="914400" fontAlgn="auto">
              <a:lnSpc>
                <a:spcPct val="90000"/>
              </a:lnSpc>
              <a:spcBef>
                <a:spcPts val="400"/>
              </a:spcBef>
              <a:tabLst>
                <a:tab pos="989013" algn="l"/>
              </a:tabLst>
            </a:pP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因为五位数除以</a:t>
            </a:r>
            <a:r>
              <a:rPr lang="en-US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10000</a:t>
            </a: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的商一定是个位数，所以</a:t>
            </a:r>
            <a:r>
              <a:rPr lang="en-US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%10</a:t>
            </a: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可以省略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A86A864-7C36-A426-777C-30472E1276D3}"/>
              </a:ext>
            </a:extLst>
          </p:cNvPr>
          <p:cNvSpPr txBox="1"/>
          <p:nvPr/>
        </p:nvSpPr>
        <p:spPr>
          <a:xfrm>
            <a:off x="570846" y="3429000"/>
            <a:ext cx="1810327" cy="33718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r>
              <a:rPr lang="zh-CN" altLang="zh-CN" dirty="0"/>
              <a:t>分析</a:t>
            </a:r>
          </a:p>
        </p:txBody>
      </p:sp>
    </p:spTree>
    <p:extLst>
      <p:ext uri="{BB962C8B-B14F-4D97-AF65-F5344CB8AC3E}">
        <p14:creationId xmlns:p14="http://schemas.microsoft.com/office/powerpoint/2010/main" val="1019893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3201" y="1286270"/>
            <a:ext cx="2447290" cy="3277235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1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n,maxn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,x,i;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&gt;&gt;n;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(i=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;i&lt;n;++i){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&gt;&gt;x;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maxn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&lt;x)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maxn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=x;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maxn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内容占位符 2"/>
          <p:cNvSpPr txBox="1"/>
          <p:nvPr/>
        </p:nvSpPr>
        <p:spPr>
          <a:xfrm>
            <a:off x="6439321" y="2726696"/>
            <a:ext cx="1552028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循环体执行了</a:t>
            </a:r>
            <a:r>
              <a:rPr lang="en-US" altLang="zh-CN" dirty="0"/>
              <a:t>n</a:t>
            </a:r>
            <a:r>
              <a:rPr lang="zh-CN" altLang="en-US" dirty="0"/>
              <a:t>次</a:t>
            </a:r>
            <a:endParaRPr lang="en-US" altLang="zh-CN" dirty="0"/>
          </a:p>
        </p:txBody>
      </p:sp>
      <p:sp>
        <p:nvSpPr>
          <p:cNvPr id="8" name="内容占位符 2"/>
          <p:cNvSpPr txBox="1"/>
          <p:nvPr/>
        </p:nvSpPr>
        <p:spPr>
          <a:xfrm>
            <a:off x="7586584" y="1286270"/>
            <a:ext cx="2518410" cy="3277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2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zh-CN" altLang="zh-CN" dirty="0">
                <a:solidFill>
                  <a:srgbClr val="808080"/>
                </a:solidFill>
              </a:rPr>
              <a:t>#include&lt;bits/stdc++.h&gt;</a:t>
            </a:r>
            <a:endParaRPr lang="zh-CN" altLang="zh-CN" sz="1100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zh-CN" altLang="zh-CN" b="1" dirty="0">
                <a:solidFill>
                  <a:srgbClr val="006699"/>
                </a:solidFill>
              </a:rPr>
              <a:t>using</a:t>
            </a:r>
            <a:r>
              <a:rPr lang="zh-CN" altLang="zh-CN" dirty="0"/>
              <a:t> </a:t>
            </a:r>
            <a:r>
              <a:rPr lang="zh-CN" altLang="zh-CN" b="1" dirty="0">
                <a:solidFill>
                  <a:srgbClr val="006699"/>
                </a:solidFill>
              </a:rPr>
              <a:t>namespace</a:t>
            </a:r>
            <a:r>
              <a:rPr lang="zh-CN" altLang="zh-CN" dirty="0"/>
              <a:t> </a:t>
            </a:r>
            <a:r>
              <a:rPr lang="zh-CN" altLang="zh-CN" dirty="0">
                <a:solidFill>
                  <a:srgbClr val="000000"/>
                </a:solidFill>
              </a:rPr>
              <a:t>std;</a:t>
            </a:r>
            <a:endParaRPr lang="zh-CN" altLang="zh-CN" sz="1100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zh-CN" altLang="zh-CN" b="1" dirty="0">
                <a:solidFill>
                  <a:srgbClr val="808080"/>
                </a:solidFill>
              </a:rPr>
              <a:t>int</a:t>
            </a:r>
            <a:r>
              <a:rPr lang="zh-CN" altLang="zh-CN" dirty="0"/>
              <a:t> </a:t>
            </a:r>
            <a:r>
              <a:rPr lang="zh-CN" altLang="zh-CN" dirty="0">
                <a:solidFill>
                  <a:srgbClr val="000000"/>
                </a:solidFill>
              </a:rPr>
              <a:t>main(){</a:t>
            </a:r>
            <a:endParaRPr lang="zh-CN" altLang="zh-CN" sz="1100" dirty="0"/>
          </a:p>
          <a:p>
            <a:r>
              <a:rPr lang="en-US" altLang="zh-CN" dirty="0"/>
              <a:t>    </a:t>
            </a:r>
            <a:r>
              <a:rPr lang="en-US" altLang="zh-CN" b="1" dirty="0">
                <a:solidFill>
                  <a:srgbClr val="808080"/>
                </a:solidFill>
              </a:rPr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n,maxn,x,i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cin</a:t>
            </a:r>
            <a:r>
              <a:rPr lang="en-US" altLang="zh-CN" dirty="0"/>
              <a:t>&gt;&gt;n</a:t>
            </a:r>
            <a:r>
              <a:rPr lang="en-US" altLang="zh-CN" dirty="0">
                <a:solidFill>
                  <a:srgbClr val="FF0000"/>
                </a:solidFill>
              </a:rPr>
              <a:t>&gt;&gt;</a:t>
            </a:r>
            <a:r>
              <a:rPr lang="en-US" altLang="zh-CN" dirty="0" err="1">
                <a:solidFill>
                  <a:srgbClr val="FF0000"/>
                </a:solidFill>
              </a:rPr>
              <a:t>maxn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b="1" dirty="0">
                <a:solidFill>
                  <a:srgbClr val="006699"/>
                </a:solidFill>
              </a:rPr>
              <a:t>for</a:t>
            </a:r>
            <a:r>
              <a:rPr lang="en-US" altLang="zh-CN" dirty="0"/>
              <a:t>(i=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;i&lt;n;++i){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cin</a:t>
            </a:r>
            <a:r>
              <a:rPr lang="en-US" altLang="zh-CN" dirty="0"/>
              <a:t>&gt;&gt;x;</a:t>
            </a:r>
          </a:p>
          <a:p>
            <a:r>
              <a:rPr lang="en-US" altLang="zh-CN" dirty="0"/>
              <a:t>        </a:t>
            </a:r>
            <a:r>
              <a:rPr lang="en-US" altLang="zh-CN" b="1" dirty="0">
                <a:solidFill>
                  <a:srgbClr val="006699"/>
                </a:solidFill>
              </a:rPr>
              <a:t>if</a:t>
            </a:r>
            <a:r>
              <a:rPr lang="en-US" altLang="zh-CN" dirty="0"/>
              <a:t>(</a:t>
            </a:r>
            <a:r>
              <a:rPr lang="en-US" altLang="zh-CN" dirty="0" err="1"/>
              <a:t>maxn</a:t>
            </a:r>
            <a:r>
              <a:rPr lang="en-US" altLang="zh-CN" dirty="0"/>
              <a:t>&lt;x)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maxn</a:t>
            </a:r>
            <a:r>
              <a:rPr lang="en-US" altLang="zh-CN" dirty="0"/>
              <a:t>=x;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</a:t>
            </a:r>
            <a:r>
              <a:rPr lang="en-US" altLang="zh-CN" dirty="0" err="1"/>
              <a:t>maxn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b="1" dirty="0">
                <a:solidFill>
                  <a:srgbClr val="006699"/>
                </a:solidFill>
              </a:rPr>
              <a:t>return</a:t>
            </a:r>
            <a:r>
              <a:rPr lang="en-US" altLang="zh-CN" dirty="0"/>
              <a:t> 0;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9" name="内容占位符 2"/>
          <p:cNvSpPr txBox="1"/>
          <p:nvPr/>
        </p:nvSpPr>
        <p:spPr>
          <a:xfrm>
            <a:off x="9391518" y="2724566"/>
            <a:ext cx="173477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循环体执行了</a:t>
            </a:r>
            <a:r>
              <a:rPr lang="en-US" altLang="zh-CN" dirty="0"/>
              <a:t>n-1</a:t>
            </a:r>
            <a:r>
              <a:rPr lang="zh-CN" altLang="en-US" dirty="0"/>
              <a:t>次</a:t>
            </a:r>
            <a:endParaRPr lang="en-US" altLang="zh-CN" dirty="0"/>
          </a:p>
        </p:txBody>
      </p:sp>
      <p:sp>
        <p:nvSpPr>
          <p:cNvPr id="10" name="文本框 9"/>
          <p:cNvSpPr txBox="1"/>
          <p:nvPr/>
        </p:nvSpPr>
        <p:spPr>
          <a:xfrm>
            <a:off x="7606533" y="4840663"/>
            <a:ext cx="2653030" cy="928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zh-CN" altLang="en-US" sz="1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思考：</a:t>
            </a:r>
          </a:p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zh-CN" altLang="en-US" sz="1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如果是求最小值，要如何处理？</a:t>
            </a:r>
            <a:endParaRPr lang="en-US" altLang="zh-CN" sz="1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zh-CN" altLang="en-US" sz="1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如果是求平均值呢？</a:t>
            </a:r>
            <a:endParaRPr lang="en-US" altLang="zh-CN" sz="1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1" name="文本框 23"/>
          <p:cNvSpPr txBox="1"/>
          <p:nvPr/>
        </p:nvSpPr>
        <p:spPr>
          <a:xfrm>
            <a:off x="678609" y="301567"/>
            <a:ext cx="1063465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求最高的身高</a:t>
            </a:r>
          </a:p>
        </p:txBody>
      </p:sp>
      <p:sp>
        <p:nvSpPr>
          <p:cNvPr id="12" name="内容占位符 2"/>
          <p:cNvSpPr txBox="1"/>
          <p:nvPr/>
        </p:nvSpPr>
        <p:spPr>
          <a:xfrm>
            <a:off x="9391518" y="2247616"/>
            <a:ext cx="2265364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sz="1000" dirty="0">
                <a:solidFill>
                  <a:srgbClr val="00B050"/>
                </a:solidFill>
              </a:rPr>
              <a:t>将</a:t>
            </a:r>
            <a:r>
              <a:rPr lang="en-US" altLang="zh-CN" sz="1000" dirty="0">
                <a:solidFill>
                  <a:srgbClr val="00B050"/>
                </a:solidFill>
              </a:rPr>
              <a:t>n</a:t>
            </a:r>
            <a:r>
              <a:rPr lang="zh-CN" altLang="en-US" sz="1000" dirty="0">
                <a:solidFill>
                  <a:srgbClr val="00B050"/>
                </a:solidFill>
              </a:rPr>
              <a:t>个数中的第一个直接读入到</a:t>
            </a:r>
            <a:r>
              <a:rPr lang="en-US" altLang="zh-CN" sz="1000" dirty="0" err="1">
                <a:solidFill>
                  <a:srgbClr val="00B050"/>
                </a:solidFill>
              </a:rPr>
              <a:t>maxn</a:t>
            </a:r>
            <a:endParaRPr lang="en-US" altLang="zh-CN" sz="1000" dirty="0">
              <a:solidFill>
                <a:srgbClr val="00B050"/>
              </a:solidFill>
            </a:endParaRPr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591847" y="1649648"/>
            <a:ext cx="3390469" cy="3323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给定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个学生的身高，求其中最高的身高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en-US" altLang="zh-CN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74067" y="1310216"/>
            <a:ext cx="338502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567923" y="2315210"/>
            <a:ext cx="3639185" cy="5632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第一行为一个整数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1&lt;n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），表示</a:t>
            </a:r>
            <a:r>
              <a:rPr 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有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个身高；</a:t>
            </a:r>
            <a:endParaRPr lang="en-US" altLang="zh-CN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第二行为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个正整数</a:t>
            </a:r>
            <a:r>
              <a:rPr 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，每个正整数表示一个身高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en-US" altLang="zh-CN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70847" y="1979670"/>
            <a:ext cx="33877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4" name="内容占位符 2"/>
          <p:cNvSpPr txBox="1"/>
          <p:nvPr/>
        </p:nvSpPr>
        <p:spPr>
          <a:xfrm>
            <a:off x="592053" y="3261995"/>
            <a:ext cx="3390265" cy="2882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dirty="0">
                <a:latin typeface="Consolas" panose="020B0609020204030204" pitchFamily="49" charset="0"/>
              </a:rPr>
              <a:t>一个整数，为最高的身高</a:t>
            </a:r>
            <a:r>
              <a:rPr lang="zh-CN" altLang="en-US" dirty="0">
                <a:latin typeface="Consolas" panose="020B0609020204030204" pitchFamily="49" charset="0"/>
              </a:rPr>
              <a:t>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91847" y="2924888"/>
            <a:ext cx="339046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6" name="内容占位符 2"/>
          <p:cNvSpPr txBox="1"/>
          <p:nvPr/>
        </p:nvSpPr>
        <p:spPr>
          <a:xfrm>
            <a:off x="592052" y="3571240"/>
            <a:ext cx="1816731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样例输入：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5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135 142 132 140 139</a:t>
            </a:r>
          </a:p>
        </p:txBody>
      </p:sp>
      <p:sp>
        <p:nvSpPr>
          <p:cNvPr id="17" name="矩形 16"/>
          <p:cNvSpPr/>
          <p:nvPr/>
        </p:nvSpPr>
        <p:spPr>
          <a:xfrm>
            <a:off x="2874876" y="3571240"/>
            <a:ext cx="1107440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样例输出：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142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591847" y="4657345"/>
            <a:ext cx="5586963" cy="167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530" lvl="0" indent="-176530" algn="just" defTabSz="914400" fontAlgn="auto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用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“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打擂台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”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的方法来求最大值。</a:t>
            </a:r>
          </a:p>
          <a:p>
            <a:pPr marL="180975" lvl="0" indent="0" algn="just" defTabSz="914400" fontAlgn="auto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先定义一个擂主变量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maxn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，初始化为非常小、一定会输给所有输入数字的值。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0975" lvl="0" algn="just" defTabSz="914400" fontAlgn="auto">
              <a:lnSpc>
                <a:spcPct val="90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每个数字都找擂主打擂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台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：如果新数字大于擂主，新数字打擂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台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成功，代替原来擂主；否则打擂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台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失败，擂主不变</a:t>
            </a:r>
          </a:p>
          <a:p>
            <a:pPr marL="176530" lvl="0" indent="-176530" algn="just" defTabSz="914400" fontAlgn="auto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下面这件事重复了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次：</a:t>
            </a:r>
          </a:p>
          <a:p>
            <a:pPr marL="633730" lvl="1" indent="-176530" algn="just" defTabSz="914400" fontAlgn="auto">
              <a:lnSpc>
                <a:spcPct val="90000"/>
              </a:lnSpc>
              <a:spcBef>
                <a:spcPts val="400"/>
              </a:spcBef>
              <a:buFont typeface="Wingdings" panose="05000000000000000000" charset="0"/>
              <a:buChar char="ü"/>
            </a:pP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输入一个数字</a:t>
            </a:r>
          </a:p>
          <a:p>
            <a:pPr marL="633730" lvl="1" indent="-176530" algn="just" defTabSz="914400" fontAlgn="auto">
              <a:lnSpc>
                <a:spcPct val="90000"/>
              </a:lnSpc>
              <a:spcBef>
                <a:spcPts val="400"/>
              </a:spcBef>
              <a:buFont typeface="Wingdings" panose="05000000000000000000" charset="0"/>
              <a:buChar char="ü"/>
            </a:pP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让这个数字和</a:t>
            </a:r>
            <a:r>
              <a:rPr lang="en-US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maxn</a:t>
            </a: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打擂台</a:t>
            </a:r>
          </a:p>
          <a:p>
            <a:pPr lvl="0" indent="172085" algn="just" defTabSz="914400" fontAlgn="auto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所以可以放入循环作为循环体，让循环体执行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次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591847" y="4272358"/>
            <a:ext cx="1810327" cy="33718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r>
              <a:rPr lang="zh-CN" altLang="zh-CN" dirty="0"/>
              <a:t>分析</a:t>
            </a:r>
          </a:p>
        </p:txBody>
      </p:sp>
      <p:sp>
        <p:nvSpPr>
          <p:cNvPr id="24" name="内容占位符 2"/>
          <p:cNvSpPr txBox="1"/>
          <p:nvPr/>
        </p:nvSpPr>
        <p:spPr>
          <a:xfrm>
            <a:off x="6037392" y="2192494"/>
            <a:ext cx="1749197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l"/>
            <a:r>
              <a:rPr lang="zh-CN" altLang="en-US" sz="1000" dirty="0" err="1"/>
              <a:t>注意</a:t>
            </a:r>
            <a:r>
              <a:rPr lang="en-US" altLang="zh-CN" sz="1000" dirty="0" err="1"/>
              <a:t>maxn</a:t>
            </a:r>
            <a:r>
              <a:rPr lang="zh-CN" altLang="en-US" sz="1000" dirty="0" err="1"/>
              <a:t>应该被初始化为</a:t>
            </a:r>
            <a:r>
              <a:rPr lang="en-US" altLang="zh-CN" sz="1000" dirty="0" err="1"/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8" grpId="0"/>
      <p:bldP spid="9" grpId="0"/>
      <p:bldP spid="10" grpId="0"/>
      <p:bldP spid="12" grpId="0"/>
      <p:bldP spid="22" grpId="0"/>
      <p:bldP spid="23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8609" y="1303230"/>
            <a:ext cx="3036138" cy="3517344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i;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(i=1;i&lt;=100;++i)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(i%2==0)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&lt;&lt;i&lt;&lt;" ";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内容占位符 2"/>
          <p:cNvSpPr txBox="1"/>
          <p:nvPr/>
        </p:nvSpPr>
        <p:spPr>
          <a:xfrm>
            <a:off x="4176386" y="1303230"/>
            <a:ext cx="3036138" cy="249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i;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(i=2;i&lt;=100;i+=2)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&lt;&lt;i&lt;&lt;" ";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内容占位符 2"/>
          <p:cNvSpPr txBox="1"/>
          <p:nvPr/>
        </p:nvSpPr>
        <p:spPr>
          <a:xfrm>
            <a:off x="678609" y="4107419"/>
            <a:ext cx="1758815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循环体执行了</a:t>
            </a:r>
            <a:r>
              <a:rPr lang="en-US" altLang="zh-CN" dirty="0"/>
              <a:t>100</a:t>
            </a:r>
            <a:r>
              <a:rPr lang="zh-CN" altLang="en-US" dirty="0"/>
              <a:t>次</a:t>
            </a:r>
            <a:endParaRPr lang="en-US" altLang="zh-CN" dirty="0"/>
          </a:p>
        </p:txBody>
      </p:sp>
      <p:sp>
        <p:nvSpPr>
          <p:cNvPr id="7" name="内容占位符 2"/>
          <p:cNvSpPr txBox="1"/>
          <p:nvPr/>
        </p:nvSpPr>
        <p:spPr>
          <a:xfrm>
            <a:off x="4176386" y="4107419"/>
            <a:ext cx="1653017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循环体执行了</a:t>
            </a:r>
            <a:r>
              <a:rPr lang="en-US" altLang="zh-CN" dirty="0"/>
              <a:t>50</a:t>
            </a:r>
            <a:r>
              <a:rPr lang="zh-CN" altLang="en-US" dirty="0"/>
              <a:t>次</a:t>
            </a:r>
            <a:endParaRPr lang="en-US" altLang="zh-CN" dirty="0"/>
          </a:p>
        </p:txBody>
      </p:sp>
      <p:sp>
        <p:nvSpPr>
          <p:cNvPr id="9" name="文本框 23"/>
          <p:cNvSpPr txBox="1"/>
          <p:nvPr/>
        </p:nvSpPr>
        <p:spPr>
          <a:xfrm>
            <a:off x="678609" y="301567"/>
            <a:ext cx="1063465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以内所有偶数正整数</a:t>
            </a:r>
          </a:p>
        </p:txBody>
      </p:sp>
      <p:sp>
        <p:nvSpPr>
          <p:cNvPr id="10" name="内容占位符 2"/>
          <p:cNvSpPr txBox="1"/>
          <p:nvPr/>
        </p:nvSpPr>
        <p:spPr>
          <a:xfrm>
            <a:off x="7674163" y="1303230"/>
            <a:ext cx="3036138" cy="249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i;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(i=1;i&lt;=50;++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&lt;&lt;i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2&lt;&lt;" ";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1" name="内容占位符 2"/>
          <p:cNvSpPr txBox="1"/>
          <p:nvPr/>
        </p:nvSpPr>
        <p:spPr>
          <a:xfrm>
            <a:off x="7674163" y="4110785"/>
            <a:ext cx="1653017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循环体执行了</a:t>
            </a:r>
            <a:r>
              <a:rPr lang="en-US" altLang="zh-CN" dirty="0"/>
              <a:t>50</a:t>
            </a:r>
            <a:r>
              <a:rPr lang="zh-CN" altLang="en-US" dirty="0"/>
              <a:t>次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5" grpId="0"/>
      <p:bldP spid="7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斐波那契数列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8609" y="1303231"/>
            <a:ext cx="5109941" cy="3703775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1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int n,f2=1,f1=1,f,i;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&gt;&gt;n;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if(n&lt;3)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&lt;&lt;1;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else{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for(i=3;i&lt;=n;++i){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f=f2+f1;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f2=f1;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f1=f;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&lt;&lt;f;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678609" y="5007006"/>
            <a:ext cx="1973617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循环体执行了</a:t>
            </a:r>
            <a:r>
              <a:rPr lang="en-US" altLang="zh-CN" dirty="0"/>
              <a:t>n-3+1</a:t>
            </a:r>
            <a:r>
              <a:rPr lang="zh-CN" altLang="en-US" dirty="0"/>
              <a:t>次</a:t>
            </a:r>
            <a:endParaRPr lang="en-US" altLang="zh-CN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4474346" y="1486111"/>
          <a:ext cx="4435901" cy="2339240"/>
        </p:xfrm>
        <a:graphic>
          <a:graphicData uri="http://schemas.openxmlformats.org/drawingml/2006/table">
            <a:tbl>
              <a:tblPr firstRow="1" bandRow="1"/>
              <a:tblGrid>
                <a:gridCol w="1180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8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48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42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第几次</a:t>
                      </a:r>
                      <a:endParaRPr lang="en-US" altLang="zh-CN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执行循环体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f2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f1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的改变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2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?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2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2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2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2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2654</TotalTime>
  <Words>2452</Words>
  <Application>Microsoft Office PowerPoint</Application>
  <PresentationFormat>宽屏</PresentationFormat>
  <Paragraphs>403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华文楷体</vt:lpstr>
      <vt:lpstr>宋体</vt:lpstr>
      <vt:lpstr>微软雅黑</vt:lpstr>
      <vt:lpstr>Arial</vt:lpstr>
      <vt:lpstr>Consolas</vt:lpstr>
      <vt:lpstr>Tw Cen MT</vt:lpstr>
      <vt:lpstr>Wingdings</vt:lpstr>
      <vt:lpstr>电路</vt:lpstr>
      <vt:lpstr>NOIP 入门 — 循环（一）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谢谢大家</vt:lpstr>
      <vt:lpstr>PowerPoint 演示文稿</vt:lpstr>
      <vt:lpstr>例题-斐波那契数列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青 林</cp:lastModifiedBy>
  <cp:revision>313</cp:revision>
  <dcterms:created xsi:type="dcterms:W3CDTF">2018-08-09T00:16:00Z</dcterms:created>
  <dcterms:modified xsi:type="dcterms:W3CDTF">2023-10-25T06:36:43Z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3F4C9B3D74A7499CBC3E5D04972B6390</vt:lpwstr>
  </property>
  <property fmtid="{D5CDD505-2E9C-101B-9397-08002B2CF9AE}" pid="3" name="KSOProductBuildVer">
    <vt:lpwstr>2052-11.1.0.10938</vt:lpwstr>
  </property>
</Properties>
</file>