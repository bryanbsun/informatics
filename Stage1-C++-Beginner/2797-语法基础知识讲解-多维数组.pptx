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341" r:id="rId3"/>
    <p:sldId id="346" r:id="rId4"/>
    <p:sldId id="355" r:id="rId5"/>
    <p:sldId id="356" r:id="rId6"/>
    <p:sldId id="352" r:id="rId7"/>
    <p:sldId id="353" r:id="rId8"/>
    <p:sldId id="261" r:id="rId9"/>
    <p:sldId id="350" r:id="rId10"/>
    <p:sldId id="351" r:id="rId11"/>
    <p:sldId id="35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5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2" d="100"/>
          <a:sy n="102" d="100"/>
        </p:scale>
        <p:origin x="114" y="79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 y="-1"/>
            <a:ext cx="12192000" cy="6857999"/>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077511" y="5410201"/>
            <a:ext cx="2743200" cy="365125"/>
          </a:xfrm>
          <a:prstGeom prst="rect">
            <a:avLst/>
          </a:prstGeom>
        </p:spPr>
        <p:txBody>
          <a:bodyPr/>
          <a:lstStyle/>
          <a:p>
            <a:fld id="{48A87A34-81AB-432B-8DAE-1953F412C126}" type="datetimeFigureOut">
              <a:rPr lang="en-US" dirty="0"/>
              <a:t>3/21/2026</a:t>
            </a:fld>
            <a:endParaRPr lang="en-US" dirty="0"/>
          </a:p>
        </p:txBody>
      </p:sp>
      <p:sp>
        <p:nvSpPr>
          <p:cNvPr id="5" name="Footer Placeholder 4"/>
          <p:cNvSpPr>
            <a:spLocks noGrp="1"/>
          </p:cNvSpPr>
          <p:nvPr>
            <p:ph type="ftr" sz="quarter" idx="11"/>
          </p:nvPr>
        </p:nvSpPr>
        <p:spPr>
          <a:xfrm>
            <a:off x="1876424" y="5410201"/>
            <a:ext cx="5124886"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zh-CN" altLang="en-US"/>
              <a:t>单击此处编辑母版标题样式</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141410" y="3073397"/>
            <a:ext cx="4878391" cy="271780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3073397"/>
            <a:ext cx="4875210" cy="271780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8" name="Footer Placeholder 7"/>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4" name="Footer Placeholder 3"/>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3" name="Footer Placeholder 2"/>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zh-CN" altLang="en-US"/>
              <a:t>单击图标添加图片</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4" name="Footer Placeholder 3"/>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4" name="Footer Placeholder 3"/>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3/21/2026</a:t>
            </a:fld>
            <a:endParaRPr lang="en-US" dirty="0"/>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53" name="图片 52"/>
          <p:cNvPicPr>
            <a:picLocks noChangeAspect="1"/>
          </p:cNvPicPr>
          <p:nvPr userDrawn="1"/>
        </p:nvPicPr>
        <p:blipFill>
          <a:blip r:embed="rId19"/>
          <a:stretch>
            <a:fillRect/>
          </a:stretch>
        </p:blipFill>
        <p:spPr>
          <a:xfrm>
            <a:off x="0" y="0"/>
            <a:ext cx="12191999" cy="6858000"/>
          </a:xfrm>
          <a:prstGeom prst="rect">
            <a:avLst/>
          </a:prstGeom>
        </p:spPr>
      </p:pic>
      <p:sp>
        <p:nvSpPr>
          <p:cNvPr id="2" name="Title Placeholder 1"/>
          <p:cNvSpPr>
            <a:spLocks noGrp="1"/>
          </p:cNvSpPr>
          <p:nvPr>
            <p:ph type="title"/>
          </p:nvPr>
        </p:nvSpPr>
        <p:spPr>
          <a:xfrm>
            <a:off x="678609" y="7541"/>
            <a:ext cx="10368800"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678612" y="1486111"/>
            <a:ext cx="10368800" cy="510447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文本框 3">
            <a:extLst>
              <a:ext uri="{FF2B5EF4-FFF2-40B4-BE49-F238E27FC236}">
                <a16:creationId xmlns:a16="http://schemas.microsoft.com/office/drawing/2014/main" id="{12825C78-EB07-A933-2BFB-E26C00683CF7}"/>
              </a:ext>
            </a:extLst>
          </p:cNvPr>
          <p:cNvSpPr txBox="1"/>
          <p:nvPr userDrawn="1"/>
        </p:nvSpPr>
        <p:spPr>
          <a:xfrm>
            <a:off x="9212580" y="6206490"/>
            <a:ext cx="2492990" cy="369332"/>
          </a:xfrm>
          <a:prstGeom prst="rect">
            <a:avLst/>
          </a:prstGeom>
          <a:noFill/>
        </p:spPr>
        <p:txBody>
          <a:bodyPr wrap="none" rtlCol="0">
            <a:spAutoFit/>
          </a:bodyPr>
          <a:lstStyle/>
          <a:p>
            <a:r>
              <a:rPr lang="zh-CN" altLang="en-US" dirty="0">
                <a:solidFill>
                  <a:schemeClr val="bg1"/>
                </a:solidFill>
                <a:latin typeface="华文楷体" panose="02010600040101010101" pitchFamily="2" charset="-122"/>
                <a:ea typeface="华文楷体" panose="02010600040101010101" pitchFamily="2" charset="-122"/>
              </a:rPr>
              <a:t>高老师算法竞赛训练营</a:t>
            </a:r>
          </a:p>
        </p:txBody>
      </p:sp>
      <p:pic>
        <p:nvPicPr>
          <p:cNvPr id="5" name="图片 4">
            <a:extLst>
              <a:ext uri="{FF2B5EF4-FFF2-40B4-BE49-F238E27FC236}">
                <a16:creationId xmlns:a16="http://schemas.microsoft.com/office/drawing/2014/main" id="{D40C0E4D-1751-0CC5-305C-01D1E444ED97}"/>
              </a:ext>
            </a:extLst>
          </p:cNvPr>
          <p:cNvPicPr>
            <a:picLocks noChangeAspect="1"/>
          </p:cNvPicPr>
          <p:nvPr userDrawn="1"/>
        </p:nvPicPr>
        <p:blipFill>
          <a:blip r:embed="rId20"/>
          <a:stretch>
            <a:fillRect/>
          </a:stretch>
        </p:blipFill>
        <p:spPr>
          <a:xfrm>
            <a:off x="10812780" y="5361173"/>
            <a:ext cx="760094" cy="765941"/>
          </a:xfrm>
          <a:prstGeom prst="rect">
            <a:avLst/>
          </a:prstGeom>
          <a:effectLst>
            <a:outerShdw blurRad="50800" dist="38100" dir="2700000" algn="tl" rotWithShape="0">
              <a:prstClr val="black">
                <a:alpha val="40000"/>
              </a:prstClr>
            </a:outerShdw>
          </a:effectLst>
        </p:spPr>
      </p:pic>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en-US" altLang="zh-CN" dirty="0"/>
              <a:t>NOIP </a:t>
            </a:r>
            <a:r>
              <a:rPr lang="zh-CN" altLang="en-US" dirty="0"/>
              <a:t>语言基础（八）</a:t>
            </a:r>
          </a:p>
        </p:txBody>
      </p:sp>
      <p:sp>
        <p:nvSpPr>
          <p:cNvPr id="3" name="副标题 2"/>
          <p:cNvSpPr>
            <a:spLocks noGrp="1"/>
          </p:cNvSpPr>
          <p:nvPr>
            <p:ph type="subTitle" idx="1"/>
          </p:nvPr>
        </p:nvSpPr>
        <p:spPr/>
        <p:txBody>
          <a:bodyPr/>
          <a:lstStyle/>
          <a:p>
            <a:r>
              <a:rPr lang="zh-CN" altLang="en-US" dirty="0"/>
              <a:t>多维数组</a:t>
            </a:r>
          </a:p>
        </p:txBody>
      </p:sp>
      <p:sp>
        <p:nvSpPr>
          <p:cNvPr id="4" name="文本框 3"/>
          <p:cNvSpPr txBox="1"/>
          <p:nvPr/>
        </p:nvSpPr>
        <p:spPr>
          <a:xfrm>
            <a:off x="9212580" y="6206490"/>
            <a:ext cx="2492990" cy="369332"/>
          </a:xfrm>
          <a:prstGeom prst="rect">
            <a:avLst/>
          </a:prstGeom>
          <a:noFill/>
        </p:spPr>
        <p:txBody>
          <a:bodyPr wrap="none" rtlCol="0">
            <a:spAutoFit/>
          </a:bodyPr>
          <a:lstStyle/>
          <a:p>
            <a:r>
              <a:rPr lang="zh-CN" altLang="en-US" dirty="0">
                <a:latin typeface="华文楷体" panose="02010600040101010101" pitchFamily="2" charset="-122"/>
                <a:ea typeface="华文楷体" panose="02010600040101010101" pitchFamily="2" charset="-122"/>
              </a:rPr>
              <a:t>高老师算法竞赛训练营</a:t>
            </a:r>
          </a:p>
        </p:txBody>
      </p:sp>
      <p:pic>
        <p:nvPicPr>
          <p:cNvPr id="5" name="图片 4"/>
          <p:cNvPicPr>
            <a:picLocks noChangeAspect="1"/>
          </p:cNvPicPr>
          <p:nvPr/>
        </p:nvPicPr>
        <p:blipFill>
          <a:blip r:embed="rId2"/>
          <a:stretch>
            <a:fillRect/>
          </a:stretch>
        </p:blipFill>
        <p:spPr>
          <a:xfrm>
            <a:off x="10812780" y="5361173"/>
            <a:ext cx="760094" cy="765941"/>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75388" y="1678906"/>
            <a:ext cx="3779382" cy="2219303"/>
          </a:xfrm>
        </p:spPr>
        <p:txBody>
          <a:bodyPr>
            <a:normAutofit/>
          </a:bodyPr>
          <a:lstStyle/>
          <a:p>
            <a:r>
              <a:rPr lang="zh-CN" altLang="en-US" sz="1200" dirty="0">
                <a:latin typeface="微软雅黑" panose="020B0503020204020204" pitchFamily="34" charset="-122"/>
                <a:ea typeface="微软雅黑" panose="020B0503020204020204" pitchFamily="34" charset="-122"/>
                <a:cs typeface="Consolas" panose="020B0609020204030204" pitchFamily="49" charset="0"/>
              </a:rPr>
              <a:t>类型名 数组名</a:t>
            </a:r>
            <a:r>
              <a:rPr lang="en-US" altLang="zh-CN" sz="1200" dirty="0">
                <a:latin typeface="微软雅黑" panose="020B0503020204020204" pitchFamily="34" charset="-122"/>
                <a:ea typeface="微软雅黑" panose="020B0503020204020204" pitchFamily="34" charset="-122"/>
                <a:cs typeface="Consolas" panose="020B0609020204030204" pitchFamily="49" charset="0"/>
              </a:rPr>
              <a:t>[</a:t>
            </a:r>
            <a:r>
              <a:rPr lang="zh-CN" altLang="en-US" sz="1200" dirty="0">
                <a:latin typeface="微软雅黑" panose="020B0503020204020204" pitchFamily="34" charset="-122"/>
                <a:ea typeface="微软雅黑" panose="020B0503020204020204" pitchFamily="34" charset="-122"/>
                <a:cs typeface="Consolas" panose="020B0609020204030204" pitchFamily="49" charset="0"/>
              </a:rPr>
              <a:t>第一维元素个数</a:t>
            </a:r>
            <a:r>
              <a:rPr lang="en-US" altLang="zh-CN" sz="1200" dirty="0">
                <a:latin typeface="微软雅黑" panose="020B0503020204020204" pitchFamily="34" charset="-122"/>
                <a:ea typeface="微软雅黑" panose="020B0503020204020204" pitchFamily="34" charset="-122"/>
                <a:cs typeface="Consolas" panose="020B0609020204030204" pitchFamily="49" charset="0"/>
              </a:rPr>
              <a:t>][</a:t>
            </a:r>
            <a:r>
              <a:rPr lang="zh-CN" altLang="en-US" sz="1200" dirty="0">
                <a:latin typeface="微软雅黑" panose="020B0503020204020204" pitchFamily="34" charset="-122"/>
                <a:ea typeface="微软雅黑" panose="020B0503020204020204" pitchFamily="34" charset="-122"/>
                <a:cs typeface="Consolas" panose="020B0609020204030204" pitchFamily="49" charset="0"/>
              </a:rPr>
              <a:t>第二维元素个数</a:t>
            </a:r>
            <a:r>
              <a:rPr lang="en-US" altLang="zh-CN" sz="1200" dirty="0">
                <a:latin typeface="微软雅黑" panose="020B0503020204020204" pitchFamily="34" charset="-122"/>
                <a:ea typeface="微软雅黑" panose="020B0503020204020204" pitchFamily="34" charset="-122"/>
                <a:cs typeface="Consolas" panose="020B0609020204030204" pitchFamily="49" charset="0"/>
              </a:rPr>
              <a:t>]</a:t>
            </a:r>
          </a:p>
          <a:p>
            <a:r>
              <a:rPr lang="zh-CN" altLang="en-US" sz="1200" dirty="0">
                <a:latin typeface="微软雅黑" panose="020B0503020204020204" pitchFamily="34" charset="-122"/>
                <a:ea typeface="微软雅黑" panose="020B0503020204020204" pitchFamily="34" charset="-122"/>
                <a:cs typeface="Consolas" panose="020B0609020204030204" pitchFamily="49" charset="0"/>
              </a:rPr>
              <a:t>元素个数必须是常量或常量表达式</a:t>
            </a:r>
            <a:endParaRPr lang="en-US" altLang="zh-CN" sz="1200" dirty="0">
              <a:latin typeface="微软雅黑" panose="020B0503020204020204" pitchFamily="34" charset="-122"/>
              <a:ea typeface="微软雅黑" panose="020B0503020204020204" pitchFamily="34" charset="-122"/>
              <a:cs typeface="Consolas" panose="020B0609020204030204" pitchFamily="49" charset="0"/>
            </a:endParaRPr>
          </a:p>
          <a:p>
            <a:r>
              <a:rPr lang="zh-CN" altLang="en-US" sz="1200" dirty="0">
                <a:latin typeface="微软雅黑" panose="020B0503020204020204" pitchFamily="34" charset="-122"/>
                <a:ea typeface="微软雅黑" panose="020B0503020204020204" pitchFamily="34" charset="-122"/>
                <a:cs typeface="Consolas" panose="020B0609020204030204" pitchFamily="49" charset="0"/>
              </a:rPr>
              <a:t>数组定义就是向计算机申请了若干（即第一维元素个数）个连续的存储单元，每个存储单元其实又是若干（即第二维元素个数）个连续的存储单元</a:t>
            </a:r>
            <a:endParaRPr lang="en-US" altLang="zh-CN" sz="1200" dirty="0">
              <a:latin typeface="微软雅黑" panose="020B0503020204020204" pitchFamily="34" charset="-122"/>
              <a:ea typeface="微软雅黑" panose="020B0503020204020204" pitchFamily="34" charset="-122"/>
              <a:cs typeface="Consolas" panose="020B0609020204030204" pitchFamily="49" charset="0"/>
            </a:endParaRPr>
          </a:p>
          <a:p>
            <a:r>
              <a:rPr lang="zh-CN" altLang="en-US" sz="1200" dirty="0">
                <a:latin typeface="微软雅黑" panose="020B0503020204020204" pitchFamily="34" charset="-122"/>
                <a:ea typeface="微软雅黑" panose="020B0503020204020204" pitchFamily="34" charset="-122"/>
                <a:cs typeface="Consolas" panose="020B0609020204030204" pitchFamily="49" charset="0"/>
              </a:rPr>
              <a:t>数组的名称用于指代所有这些内存空间，下标是它们的编号，第一个下标为</a:t>
            </a:r>
            <a:r>
              <a:rPr lang="en-US" altLang="zh-CN" sz="1200" dirty="0">
                <a:latin typeface="微软雅黑" panose="020B0503020204020204" pitchFamily="34" charset="-122"/>
                <a:ea typeface="微软雅黑" panose="020B0503020204020204" pitchFamily="34" charset="-122"/>
                <a:cs typeface="Consolas" panose="020B0609020204030204" pitchFamily="49" charset="0"/>
              </a:rPr>
              <a:t>0</a:t>
            </a:r>
            <a:r>
              <a:rPr lang="zh-CN" altLang="en-US" sz="1200" dirty="0">
                <a:latin typeface="微软雅黑" panose="020B0503020204020204" pitchFamily="34" charset="-122"/>
                <a:ea typeface="微软雅黑" panose="020B0503020204020204" pitchFamily="34" charset="-122"/>
                <a:cs typeface="Consolas" panose="020B0609020204030204" pitchFamily="49" charset="0"/>
              </a:rPr>
              <a:t>，第二个下标为</a:t>
            </a:r>
            <a:r>
              <a:rPr lang="en-US" altLang="zh-CN" sz="1200" dirty="0">
                <a:latin typeface="微软雅黑" panose="020B0503020204020204" pitchFamily="34" charset="-122"/>
                <a:ea typeface="微软雅黑" panose="020B0503020204020204" pitchFamily="34" charset="-122"/>
                <a:cs typeface="Consolas" panose="020B0609020204030204" pitchFamily="49" charset="0"/>
              </a:rPr>
              <a:t>1</a:t>
            </a:r>
            <a:r>
              <a:rPr lang="zh-CN" altLang="en-US" sz="1200" dirty="0">
                <a:latin typeface="微软雅黑" panose="020B0503020204020204" pitchFamily="34" charset="-122"/>
                <a:ea typeface="微软雅黑" panose="020B0503020204020204" pitchFamily="34" charset="-122"/>
                <a:cs typeface="Consolas" panose="020B0609020204030204" pitchFamily="49" charset="0"/>
              </a:rPr>
              <a:t>，以此类推</a:t>
            </a:r>
            <a:endParaRPr lang="en-US" altLang="zh-CN" sz="1200" dirty="0">
              <a:latin typeface="微软雅黑" panose="020B0503020204020204" pitchFamily="34" charset="-122"/>
              <a:ea typeface="微软雅黑" panose="020B0503020204020204" pitchFamily="34" charset="-122"/>
              <a:cs typeface="Consolas" panose="020B0609020204030204" pitchFamily="49" charset="0"/>
            </a:endParaRPr>
          </a:p>
        </p:txBody>
      </p:sp>
      <p:sp>
        <p:nvSpPr>
          <p:cNvPr id="8" name="内容占位符 4"/>
          <p:cNvSpPr txBox="1"/>
          <p:nvPr/>
        </p:nvSpPr>
        <p:spPr>
          <a:xfrm>
            <a:off x="675385" y="4427839"/>
            <a:ext cx="2858387" cy="1297108"/>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zh-CN" altLang="en-US" sz="1200" dirty="0">
                <a:latin typeface="微软雅黑" panose="020B0503020204020204" pitchFamily="34" charset="-122"/>
                <a:ea typeface="微软雅黑" panose="020B0503020204020204" pitchFamily="34" charset="-122"/>
                <a:cs typeface="Consolas" panose="020B0609020204030204" pitchFamily="49" charset="0"/>
              </a:rPr>
              <a:t>数组名</a:t>
            </a:r>
            <a:r>
              <a:rPr lang="en-US" altLang="zh-CN" sz="1200" dirty="0">
                <a:latin typeface="微软雅黑" panose="020B0503020204020204" pitchFamily="34" charset="-122"/>
                <a:ea typeface="微软雅黑" panose="020B0503020204020204" pitchFamily="34" charset="-122"/>
                <a:cs typeface="Consolas" panose="020B0609020204030204" pitchFamily="49" charset="0"/>
              </a:rPr>
              <a:t>[</a:t>
            </a:r>
            <a:r>
              <a:rPr lang="zh-CN" altLang="en-US" sz="1200" dirty="0">
                <a:latin typeface="微软雅黑" panose="020B0503020204020204" pitchFamily="34" charset="-122"/>
                <a:ea typeface="微软雅黑" panose="020B0503020204020204" pitchFamily="34" charset="-122"/>
                <a:cs typeface="Consolas" panose="020B0609020204030204" pitchFamily="49" charset="0"/>
              </a:rPr>
              <a:t>第一维下标</a:t>
            </a:r>
            <a:r>
              <a:rPr lang="en-US" altLang="zh-CN" sz="1200" dirty="0">
                <a:latin typeface="微软雅黑" panose="020B0503020204020204" pitchFamily="34" charset="-122"/>
                <a:ea typeface="微软雅黑" panose="020B0503020204020204" pitchFamily="34" charset="-122"/>
                <a:cs typeface="Consolas" panose="020B0609020204030204" pitchFamily="49" charset="0"/>
              </a:rPr>
              <a:t>][</a:t>
            </a:r>
            <a:r>
              <a:rPr lang="zh-CN" altLang="en-US" sz="1200" dirty="0">
                <a:latin typeface="微软雅黑" panose="020B0503020204020204" pitchFamily="34" charset="-122"/>
                <a:ea typeface="微软雅黑" panose="020B0503020204020204" pitchFamily="34" charset="-122"/>
                <a:cs typeface="Consolas" panose="020B0609020204030204" pitchFamily="49" charset="0"/>
              </a:rPr>
              <a:t>第二维下标</a:t>
            </a:r>
            <a:r>
              <a:rPr lang="en-US" altLang="zh-CN" sz="1200" dirty="0">
                <a:latin typeface="微软雅黑" panose="020B0503020204020204" pitchFamily="34" charset="-122"/>
                <a:ea typeface="微软雅黑" panose="020B0503020204020204" pitchFamily="34" charset="-122"/>
                <a:cs typeface="Consolas" panose="020B0609020204030204" pitchFamily="49" charset="0"/>
              </a:rPr>
              <a:t>]</a:t>
            </a:r>
          </a:p>
          <a:p>
            <a:r>
              <a:rPr lang="zh-CN" altLang="en-US" sz="1200" dirty="0">
                <a:latin typeface="微软雅黑" panose="020B0503020204020204" pitchFamily="34" charset="-122"/>
                <a:ea typeface="微软雅黑" panose="020B0503020204020204" pitchFamily="34" charset="-122"/>
                <a:cs typeface="Consolas" panose="020B0609020204030204" pitchFamily="49" charset="0"/>
              </a:rPr>
              <a:t>下标可以是常量、变量、表达式，从</a:t>
            </a:r>
            <a:r>
              <a:rPr lang="en-US" altLang="zh-CN" sz="1200" dirty="0">
                <a:latin typeface="微软雅黑" panose="020B0503020204020204" pitchFamily="34" charset="-122"/>
                <a:ea typeface="微软雅黑" panose="020B0503020204020204" pitchFamily="34" charset="-122"/>
                <a:cs typeface="Consolas" panose="020B0609020204030204" pitchFamily="49" charset="0"/>
              </a:rPr>
              <a:t>0</a:t>
            </a:r>
            <a:r>
              <a:rPr lang="zh-CN" altLang="en-US" sz="1200" dirty="0">
                <a:latin typeface="微软雅黑" panose="020B0503020204020204" pitchFamily="34" charset="-122"/>
                <a:ea typeface="微软雅黑" panose="020B0503020204020204" pitchFamily="34" charset="-122"/>
                <a:cs typeface="Consolas" panose="020B0609020204030204" pitchFamily="49" charset="0"/>
              </a:rPr>
              <a:t>开始，不能越界</a:t>
            </a:r>
          </a:p>
        </p:txBody>
      </p:sp>
      <p:sp>
        <p:nvSpPr>
          <p:cNvPr id="9" name="文本框 8"/>
          <p:cNvSpPr txBox="1"/>
          <p:nvPr/>
        </p:nvSpPr>
        <p:spPr>
          <a:xfrm>
            <a:off x="678609" y="301567"/>
            <a:ext cx="10634659" cy="707886"/>
          </a:xfrm>
          <a:prstGeom prst="rect">
            <a:avLst/>
          </a:prstGeom>
          <a:noFill/>
        </p:spPr>
        <p:txBody>
          <a:bodyPr wrap="square" rtlCol="0">
            <a:spAutoFit/>
          </a:bodyPr>
          <a:lstStyle/>
          <a:p>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语法</a:t>
            </a:r>
          </a:p>
        </p:txBody>
      </p:sp>
      <p:sp>
        <p:nvSpPr>
          <p:cNvPr id="2" name="矩形 1"/>
          <p:cNvSpPr/>
          <p:nvPr/>
        </p:nvSpPr>
        <p:spPr>
          <a:xfrm>
            <a:off x="9222265" y="1622871"/>
            <a:ext cx="1398109" cy="738664"/>
          </a:xfrm>
          <a:prstGeom prst="rect">
            <a:avLst/>
          </a:prstGeom>
        </p:spPr>
        <p:txBody>
          <a:bodyPr wrap="square">
            <a:spAutoFit/>
          </a:bodyPr>
          <a:lstStyle/>
          <a:p>
            <a:pPr lvl="0" defTabSz="914400" eaLnBrk="0" fontAlgn="base" hangingPunct="0">
              <a:spcBef>
                <a:spcPct val="0"/>
              </a:spcBef>
              <a:spcAft>
                <a:spcPct val="0"/>
              </a:spcAft>
            </a:pPr>
            <a:r>
              <a:rPr lang="en-US" altLang="zh-CN" sz="14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n;</a:t>
            </a:r>
          </a:p>
          <a:p>
            <a:pPr defTabSz="914400" eaLnBrk="0" fontAlgn="base" hangingPunct="0">
              <a:spcBef>
                <a:spcPct val="0"/>
              </a:spcBef>
              <a:spcAft>
                <a:spcPct val="0"/>
              </a:spcAft>
            </a:pPr>
            <a:r>
              <a:rPr lang="en-US" altLang="zh-CN" sz="1400" dirty="0" err="1">
                <a:solidFill>
                  <a:schemeClr val="bg1"/>
                </a:solidFill>
                <a:latin typeface="Consolas" panose="020B0609020204030204" pitchFamily="49" charset="0"/>
                <a:ea typeface="微软雅黑" panose="020B0503020204020204" pitchFamily="34" charset="-122"/>
                <a:cs typeface="Consolas" panose="020B0609020204030204" pitchFamily="49" charset="0"/>
              </a:rPr>
              <a:t>cin</a:t>
            </a:r>
            <a:r>
              <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&gt;&gt;n;</a:t>
            </a:r>
          </a:p>
          <a:p>
            <a:pPr defTabSz="914400" eaLnBrk="0" fontAlgn="base" hangingPunct="0">
              <a:spcBef>
                <a:spcPct val="0"/>
              </a:spcBef>
              <a:spcAft>
                <a:spcPct val="0"/>
              </a:spcAft>
            </a:pPr>
            <a:r>
              <a:rPr lang="en-US" altLang="zh-CN" sz="14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a[n][n];</a:t>
            </a:r>
          </a:p>
        </p:txBody>
      </p:sp>
      <p:sp>
        <p:nvSpPr>
          <p:cNvPr id="4" name="矩形 3"/>
          <p:cNvSpPr/>
          <p:nvPr/>
        </p:nvSpPr>
        <p:spPr>
          <a:xfrm>
            <a:off x="9222265" y="1339727"/>
            <a:ext cx="902811" cy="307777"/>
          </a:xfrm>
          <a:prstGeom prst="rect">
            <a:avLst/>
          </a:prstGeom>
        </p:spPr>
        <p:txBody>
          <a:bodyPr wrap="none">
            <a:spAutoFit/>
          </a:bodyPr>
          <a:lstStyle/>
          <a:p>
            <a:r>
              <a:rPr lang="zh-CN" altLang="en-US" sz="14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错误写法</a:t>
            </a:r>
            <a:endParaRPr lang="zh-CN" altLang="en-US" sz="1400" dirty="0">
              <a:solidFill>
                <a:srgbClr val="FF0000"/>
              </a:solidFill>
            </a:endParaRPr>
          </a:p>
        </p:txBody>
      </p:sp>
      <p:sp>
        <p:nvSpPr>
          <p:cNvPr id="10" name="矩形 9"/>
          <p:cNvSpPr/>
          <p:nvPr/>
        </p:nvSpPr>
        <p:spPr>
          <a:xfrm>
            <a:off x="4895849" y="1651013"/>
            <a:ext cx="2045807" cy="523220"/>
          </a:xfrm>
          <a:prstGeom prst="rect">
            <a:avLst/>
          </a:prstGeom>
        </p:spPr>
        <p:txBody>
          <a:bodyPr wrap="square">
            <a:spAutoFit/>
          </a:bodyPr>
          <a:lstStyle/>
          <a:p>
            <a:pPr lvl="0" defTabSz="914400" eaLnBrk="0" fontAlgn="base" hangingPunct="0">
              <a:spcBef>
                <a:spcPct val="0"/>
              </a:spcBef>
              <a:spcAft>
                <a:spcPct val="0"/>
              </a:spcAft>
            </a:pPr>
            <a:r>
              <a:rPr lang="en-US" altLang="zh-CN" sz="14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 </a:t>
            </a:r>
            <a:r>
              <a:rPr lang="en-US" altLang="zh-CN" sz="1400" dirty="0" err="1">
                <a:solidFill>
                  <a:schemeClr val="bg1"/>
                </a:solidFill>
                <a:latin typeface="Consolas" panose="020B0609020204030204" pitchFamily="49" charset="0"/>
                <a:ea typeface="微软雅黑" panose="020B0503020204020204" pitchFamily="34" charset="-122"/>
                <a:cs typeface="Consolas" panose="020B0609020204030204" pitchFamily="49" charset="0"/>
              </a:rPr>
              <a:t>n,a</a:t>
            </a:r>
            <a:r>
              <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[110][110];</a:t>
            </a:r>
          </a:p>
          <a:p>
            <a:pPr defTabSz="914400" eaLnBrk="0" fontAlgn="base" hangingPunct="0">
              <a:spcBef>
                <a:spcPct val="0"/>
              </a:spcBef>
              <a:spcAft>
                <a:spcPct val="0"/>
              </a:spcAft>
            </a:pPr>
            <a:r>
              <a:rPr lang="en-US" altLang="zh-CN" sz="1400" dirty="0" err="1">
                <a:solidFill>
                  <a:schemeClr val="bg1"/>
                </a:solidFill>
                <a:latin typeface="Consolas" panose="020B0609020204030204" pitchFamily="49" charset="0"/>
                <a:ea typeface="微软雅黑" panose="020B0503020204020204" pitchFamily="34" charset="-122"/>
                <a:cs typeface="Consolas" panose="020B0609020204030204" pitchFamily="49" charset="0"/>
              </a:rPr>
              <a:t>cin</a:t>
            </a:r>
            <a:r>
              <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&gt;&gt;n;</a:t>
            </a:r>
          </a:p>
        </p:txBody>
      </p:sp>
      <p:sp>
        <p:nvSpPr>
          <p:cNvPr id="11" name="矩形 10"/>
          <p:cNvSpPr/>
          <p:nvPr/>
        </p:nvSpPr>
        <p:spPr>
          <a:xfrm>
            <a:off x="6941658" y="1651013"/>
            <a:ext cx="2154717" cy="738664"/>
          </a:xfrm>
          <a:prstGeom prst="rect">
            <a:avLst/>
          </a:prstGeom>
        </p:spPr>
        <p:txBody>
          <a:bodyPr wrap="square">
            <a:spAutoFit/>
          </a:bodyPr>
          <a:lstStyle/>
          <a:p>
            <a:pPr lvl="0" defTabSz="914400" eaLnBrk="0" fontAlgn="base" hangingPunct="0">
              <a:spcBef>
                <a:spcPct val="0"/>
              </a:spcBef>
              <a:spcAft>
                <a:spcPct val="0"/>
              </a:spcAft>
            </a:pPr>
            <a:r>
              <a:rPr lang="en-US" altLang="zh-CN" sz="14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const int </a:t>
            </a:r>
            <a:r>
              <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MAXN=110;</a:t>
            </a:r>
          </a:p>
          <a:p>
            <a:pPr lvl="0" defTabSz="914400" eaLnBrk="0" fontAlgn="base" hangingPunct="0">
              <a:spcBef>
                <a:spcPct val="0"/>
              </a:spcBef>
              <a:spcAft>
                <a:spcPct val="0"/>
              </a:spcAft>
            </a:pPr>
            <a:r>
              <a:rPr lang="en-US" altLang="zh-CN" sz="14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t>
            </a:r>
            <a:r>
              <a:rPr lang="en-US" altLang="zh-CN" sz="1400" dirty="0" err="1">
                <a:solidFill>
                  <a:schemeClr val="bg1"/>
                </a:solidFill>
                <a:latin typeface="Consolas" panose="020B0609020204030204" pitchFamily="49" charset="0"/>
                <a:ea typeface="微软雅黑" panose="020B0503020204020204" pitchFamily="34" charset="-122"/>
                <a:cs typeface="Consolas" panose="020B0609020204030204" pitchFamily="49" charset="0"/>
              </a:rPr>
              <a:t>n,a</a:t>
            </a:r>
            <a:r>
              <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[MAXN][MAXN];</a:t>
            </a:r>
          </a:p>
          <a:p>
            <a:pPr defTabSz="914400" eaLnBrk="0" fontAlgn="base" hangingPunct="0">
              <a:spcBef>
                <a:spcPct val="0"/>
              </a:spcBef>
              <a:spcAft>
                <a:spcPct val="0"/>
              </a:spcAft>
            </a:pPr>
            <a:r>
              <a:rPr lang="en-US" altLang="zh-CN" sz="1400" dirty="0" err="1">
                <a:solidFill>
                  <a:schemeClr val="bg1"/>
                </a:solidFill>
                <a:latin typeface="Consolas" panose="020B0609020204030204" pitchFamily="49" charset="0"/>
                <a:ea typeface="微软雅黑" panose="020B0503020204020204" pitchFamily="34" charset="-122"/>
                <a:cs typeface="Consolas" panose="020B0609020204030204" pitchFamily="49" charset="0"/>
              </a:rPr>
              <a:t>cin</a:t>
            </a:r>
            <a:r>
              <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&gt;&gt;n;</a:t>
            </a:r>
          </a:p>
        </p:txBody>
      </p:sp>
      <p:sp>
        <p:nvSpPr>
          <p:cNvPr id="12" name="矩形 11"/>
          <p:cNvSpPr/>
          <p:nvPr/>
        </p:nvSpPr>
        <p:spPr>
          <a:xfrm>
            <a:off x="4898544" y="1346157"/>
            <a:ext cx="902811" cy="307777"/>
          </a:xfrm>
          <a:prstGeom prst="rect">
            <a:avLst/>
          </a:prstGeom>
        </p:spPr>
        <p:txBody>
          <a:bodyPr wrap="none">
            <a:spAutoFit/>
          </a:bodyPr>
          <a:lstStyle/>
          <a:p>
            <a:r>
              <a:rPr lang="zh-CN" altLang="en-US" sz="1400" dirty="0">
                <a:solidFill>
                  <a:schemeClr val="accent6">
                    <a:lumMod val="75000"/>
                  </a:schemeClr>
                </a:solidFill>
                <a:latin typeface="Consolas" panose="020B0609020204030204" pitchFamily="49" charset="0"/>
                <a:ea typeface="微软雅黑" panose="020B0503020204020204" pitchFamily="34" charset="-122"/>
                <a:cs typeface="Consolas" panose="020B0609020204030204" pitchFamily="49" charset="0"/>
              </a:rPr>
              <a:t>正确写法</a:t>
            </a:r>
            <a:endParaRPr lang="zh-CN" altLang="en-US" sz="1400" dirty="0">
              <a:solidFill>
                <a:schemeClr val="accent6">
                  <a:lumMod val="75000"/>
                </a:schemeClr>
              </a:solidFill>
            </a:endParaRPr>
          </a:p>
        </p:txBody>
      </p:sp>
      <p:sp>
        <p:nvSpPr>
          <p:cNvPr id="13" name="矩形 12"/>
          <p:cNvSpPr/>
          <p:nvPr/>
        </p:nvSpPr>
        <p:spPr>
          <a:xfrm>
            <a:off x="6941659" y="1339727"/>
            <a:ext cx="902811" cy="307777"/>
          </a:xfrm>
          <a:prstGeom prst="rect">
            <a:avLst/>
          </a:prstGeom>
        </p:spPr>
        <p:txBody>
          <a:bodyPr wrap="none">
            <a:spAutoFit/>
          </a:bodyPr>
          <a:lstStyle/>
          <a:p>
            <a:r>
              <a:rPr lang="zh-CN" altLang="en-US" sz="1400" dirty="0">
                <a:solidFill>
                  <a:schemeClr val="accent6">
                    <a:lumMod val="75000"/>
                  </a:schemeClr>
                </a:solidFill>
                <a:latin typeface="Consolas" panose="020B0609020204030204" pitchFamily="49" charset="0"/>
                <a:ea typeface="微软雅黑" panose="020B0503020204020204" pitchFamily="34" charset="-122"/>
                <a:cs typeface="Consolas" panose="020B0609020204030204" pitchFamily="49" charset="0"/>
              </a:rPr>
              <a:t>正确写法</a:t>
            </a:r>
            <a:endParaRPr lang="zh-CN" altLang="en-US" sz="1400" dirty="0">
              <a:solidFill>
                <a:schemeClr val="accent6">
                  <a:lumMod val="75000"/>
                </a:schemeClr>
              </a:solidFill>
            </a:endParaRPr>
          </a:p>
        </p:txBody>
      </p:sp>
      <p:sp>
        <p:nvSpPr>
          <p:cNvPr id="14" name="矩形 13"/>
          <p:cNvSpPr/>
          <p:nvPr/>
        </p:nvSpPr>
        <p:spPr>
          <a:xfrm>
            <a:off x="678609" y="1343236"/>
            <a:ext cx="3281227"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定义</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5" name="矩形 14"/>
          <p:cNvSpPr/>
          <p:nvPr/>
        </p:nvSpPr>
        <p:spPr>
          <a:xfrm>
            <a:off x="675387" y="4089285"/>
            <a:ext cx="2858386"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引用</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矩形 5"/>
          <p:cNvSpPr/>
          <p:nvPr/>
        </p:nvSpPr>
        <p:spPr>
          <a:xfrm>
            <a:off x="4009129" y="4792379"/>
            <a:ext cx="2753355" cy="1328569"/>
          </a:xfrm>
          <a:prstGeom prst="rect">
            <a:avLst/>
          </a:prstGeom>
          <a:solidFill>
            <a:srgbClr val="FFFFFF">
              <a:alpha val="69804"/>
            </a:srgbClr>
          </a:solidFill>
        </p:spPr>
        <p:txBody>
          <a:bodyPr wrap="square">
            <a:spAutoFit/>
          </a:bodyPr>
          <a:lstStyle/>
          <a:p>
            <a:pPr marL="180975" indent="-180975" defTabSz="914400" eaLnBrk="0" fontAlgn="base" hangingPunct="0">
              <a:spcBef>
                <a:spcPts val="1000"/>
              </a:spcBef>
              <a:spcAft>
                <a:spcPct val="0"/>
              </a:spcAft>
              <a:buFont typeface="Arial" panose="020B0604020202020204" pitchFamily="34" charset="0"/>
              <a:buChar char="•"/>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定义数组的大小要按题目要求的数据范围的最大值来，不能用变量</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和</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的值作为数组的大小</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marL="180975" indent="-180975" defTabSz="914400" eaLnBrk="0" fontAlgn="base" hangingPunct="0">
              <a:spcBef>
                <a:spcPts val="1000"/>
              </a:spcBef>
              <a:spcAft>
                <a:spcPct val="0"/>
              </a:spcAft>
              <a:buFont typeface="Arial" panose="020B0604020202020204" pitchFamily="34" charset="0"/>
              <a:buChar char="•"/>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一般会把数组的大小定得比题目要求的最大范围再大一点点，比如大</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10</a:t>
            </a:r>
          </a:p>
        </p:txBody>
      </p:sp>
      <p:sp>
        <p:nvSpPr>
          <p:cNvPr id="16" name="矩形 15"/>
          <p:cNvSpPr/>
          <p:nvPr/>
        </p:nvSpPr>
        <p:spPr>
          <a:xfrm>
            <a:off x="4009129" y="4456542"/>
            <a:ext cx="2753355"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注意</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7" name="矩形 16"/>
          <p:cNvSpPr/>
          <p:nvPr/>
        </p:nvSpPr>
        <p:spPr>
          <a:xfrm>
            <a:off x="7237842" y="4427839"/>
            <a:ext cx="2542755" cy="1554272"/>
          </a:xfrm>
          <a:prstGeom prst="rect">
            <a:avLst/>
          </a:prstGeom>
        </p:spPr>
        <p:txBody>
          <a:bodyPr wrap="square">
            <a:spAutoFit/>
          </a:bodyPr>
          <a:lstStyle/>
          <a:p>
            <a:pPr>
              <a:spcBef>
                <a:spcPts val="1000"/>
              </a:spcBef>
            </a:pP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例如，题目要求：</a:t>
            </a:r>
            <a:endParaRPr lang="en-US" altLang="zh-CN" sz="8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a:spcBef>
                <a:spcPts val="1000"/>
              </a:spcBef>
            </a:pP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第一行为两个整数</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n</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和</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m</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1</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n</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m</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100</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）；接下来为</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n</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行，每行</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m</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个整数</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(0≤</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每个整数≤</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100)</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endParaRPr lang="en-US" altLang="zh-CN" sz="8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a:spcBef>
                <a:spcPts val="1000"/>
              </a:spcBef>
            </a:pP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这样就可以定义一个两个大小均为</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110</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的二维数组：</a:t>
            </a:r>
            <a:endPar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a:spcBef>
                <a:spcPts val="1000"/>
              </a:spcBef>
            </a:pPr>
            <a:r>
              <a:rPr lang="en-US" altLang="zh-CN" sz="10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t>
            </a:r>
            <a:r>
              <a:rPr lang="en-US" altLang="zh-CN" sz="1000" dirty="0" err="1">
                <a:solidFill>
                  <a:schemeClr val="bg1"/>
                </a:solidFill>
                <a:latin typeface="Consolas" panose="020B0609020204030204" pitchFamily="49" charset="0"/>
                <a:ea typeface="微软雅黑" panose="020B0503020204020204" pitchFamily="34" charset="-122"/>
                <a:cs typeface="Consolas" panose="020B0609020204030204" pitchFamily="49" charset="0"/>
              </a:rPr>
              <a:t>n,m,a</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[110][110];</a:t>
            </a:r>
          </a:p>
        </p:txBody>
      </p:sp>
      <p:sp>
        <p:nvSpPr>
          <p:cNvPr id="20" name="矩形 19"/>
          <p:cNvSpPr/>
          <p:nvPr/>
        </p:nvSpPr>
        <p:spPr>
          <a:xfrm>
            <a:off x="4895849" y="2479082"/>
            <a:ext cx="6950711" cy="507831"/>
          </a:xfrm>
          <a:prstGeom prst="rect">
            <a:avLst/>
          </a:prstGeom>
        </p:spPr>
        <p:txBody>
          <a:bodyPr wrap="square">
            <a:spAutoFit/>
          </a:bodyPr>
          <a:lstStyle/>
          <a:p>
            <a:pPr>
              <a:spcBef>
                <a:spcPts val="600"/>
              </a:spcBef>
            </a:pP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例如：</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 a[</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100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50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就是申请了连续存储的</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100</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50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类型的变量</a:t>
            </a:r>
            <a:endParaRPr lang="en-US" altLang="zh-CN" sz="11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a:spcBef>
                <a:spcPts val="600"/>
              </a:spcBef>
            </a:pP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共</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100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50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=5000</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类型的变量；占用</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100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50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×4=20000</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个字节；</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 a</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代表这</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5000</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个连续存放的</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变量</a:t>
            </a:r>
            <a:endParaRPr lang="en-US" altLang="zh-CN" sz="1100" dirty="0">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矩形 4"/>
          <p:cNvSpPr/>
          <p:nvPr/>
        </p:nvSpPr>
        <p:spPr>
          <a:xfrm>
            <a:off x="7675243" y="3039806"/>
            <a:ext cx="3496317" cy="754053"/>
          </a:xfrm>
          <a:prstGeom prst="rect">
            <a:avLst/>
          </a:prstGeom>
        </p:spPr>
        <p:txBody>
          <a:bodyPr wrap="square">
            <a:spAutoFit/>
          </a:bodyPr>
          <a:lstStyle/>
          <a:p>
            <a:pPr>
              <a:spcBef>
                <a:spcPts val="600"/>
              </a:spcBef>
            </a:pP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代表第</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1</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50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的第</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1</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变量</a:t>
            </a:r>
            <a:endParaRPr lang="en-US" altLang="zh-CN" sz="11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a:spcBef>
                <a:spcPts val="600"/>
              </a:spcBef>
            </a:pP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3</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12</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代表第</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4</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50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的第</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13</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变量</a:t>
            </a:r>
            <a:endParaRPr lang="en-US" altLang="zh-CN" sz="11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a:spcBef>
                <a:spcPts val="600"/>
              </a:spcBef>
            </a:pP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99</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49</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代表最后一个</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50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的最后一个</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变量</a:t>
            </a:r>
            <a:endParaRPr lang="zh-CN" altLang="en-US" sz="1100" dirty="0"/>
          </a:p>
        </p:txBody>
      </p:sp>
      <p:sp>
        <p:nvSpPr>
          <p:cNvPr id="21" name="矩形 20"/>
          <p:cNvSpPr/>
          <p:nvPr/>
        </p:nvSpPr>
        <p:spPr>
          <a:xfrm>
            <a:off x="4895849" y="3045038"/>
            <a:ext cx="2753355" cy="1000274"/>
          </a:xfrm>
          <a:prstGeom prst="rect">
            <a:avLst/>
          </a:prstGeom>
        </p:spPr>
        <p:txBody>
          <a:bodyPr wrap="square">
            <a:spAutoFit/>
          </a:bodyPr>
          <a:lstStyle/>
          <a:p>
            <a:pPr>
              <a:spcBef>
                <a:spcPts val="600"/>
              </a:spcBef>
            </a:pP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代表第</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1</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50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p>
          <a:p>
            <a:pPr>
              <a:spcBef>
                <a:spcPts val="600"/>
              </a:spcBef>
            </a:pP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1</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代表第</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2</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50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p>
          <a:p>
            <a:pPr>
              <a:spcBef>
                <a:spcPts val="600"/>
              </a:spcBef>
            </a:pP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99</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代表第</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100</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个（最后一个）</a:t>
            </a:r>
            <a:r>
              <a:rPr lang="en-US" altLang="zh-CN" sz="1100" b="1" dirty="0">
                <a:solidFill>
                  <a:srgbClr val="006699"/>
                </a:solidFill>
                <a:latin typeface="Consolas" panose="020B0609020204030204" pitchFamily="49" charset="0"/>
                <a:ea typeface="微软雅黑" panose="020B0503020204020204" pitchFamily="34" charset="-122"/>
                <a:cs typeface="Consolas" panose="020B0609020204030204" pitchFamily="49" charset="0"/>
              </a:rPr>
              <a:t>int</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100" b="1" dirty="0">
                <a:solidFill>
                  <a:srgbClr val="00B050"/>
                </a:solidFill>
                <a:latin typeface="Consolas" panose="020B0609020204030204" pitchFamily="49" charset="0"/>
                <a:ea typeface="微软雅黑" panose="020B0503020204020204" pitchFamily="34" charset="-122"/>
                <a:cs typeface="Consolas" panose="020B0609020204030204" pitchFamily="49" charset="0"/>
              </a:rPr>
              <a:t>50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p>
          <a:p>
            <a:pPr>
              <a:spcBef>
                <a:spcPts val="600"/>
              </a:spcBef>
            </a:pP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a:t>
            </a:r>
            <a:r>
              <a:rPr lang="en-US" altLang="zh-CN"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100</a:t>
            </a:r>
            <a:r>
              <a:rPr lang="en-US" altLang="zh-CN" sz="11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就</a:t>
            </a:r>
            <a:r>
              <a:rPr lang="zh-CN" altLang="en-US" sz="1100" b="1" dirty="0">
                <a:solidFill>
                  <a:srgbClr val="FF0000"/>
                </a:solidFill>
                <a:latin typeface="Consolas" panose="020B0609020204030204" pitchFamily="49" charset="0"/>
                <a:ea typeface="微软雅黑" panose="020B0503020204020204" pitchFamily="34" charset="-122"/>
                <a:cs typeface="Consolas" panose="020B0609020204030204" pitchFamily="49" charset="0"/>
              </a:rPr>
              <a:t>越界</a:t>
            </a:r>
            <a:r>
              <a:rPr lang="zh-CN" altLang="en-US" sz="11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了</a:t>
            </a:r>
            <a:endParaRPr lang="zh-CN" alt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78609" y="301567"/>
            <a:ext cx="10634659" cy="707886"/>
          </a:xfrm>
          <a:prstGeom prst="rect">
            <a:avLst/>
          </a:prstGeom>
          <a:noFill/>
        </p:spPr>
        <p:txBody>
          <a:bodyPr wrap="square" rtlCol="0">
            <a:spAutoFit/>
          </a:bodyPr>
          <a:lstStyle/>
          <a:p>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初始化</a:t>
            </a:r>
          </a:p>
        </p:txBody>
      </p:sp>
      <p:sp>
        <p:nvSpPr>
          <p:cNvPr id="8" name="矩形 7"/>
          <p:cNvSpPr/>
          <p:nvPr/>
        </p:nvSpPr>
        <p:spPr>
          <a:xfrm>
            <a:off x="4333143" y="1402863"/>
            <a:ext cx="1544012" cy="794641"/>
          </a:xfrm>
          <a:prstGeom prst="rect">
            <a:avLst/>
          </a:prstGeom>
        </p:spPr>
        <p:txBody>
          <a:bodyPr wrap="none">
            <a:spAutoFit/>
          </a:bodyPr>
          <a:lstStyle/>
          <a:p>
            <a:pPr>
              <a:lnSpc>
                <a:spcPct val="80000"/>
              </a:lnSpc>
              <a:spcBef>
                <a:spcPts val="1000"/>
              </a:spcBef>
            </a:pP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main(){</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t>
            </a: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a[5][5];</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p>
        </p:txBody>
      </p:sp>
      <p:sp>
        <p:nvSpPr>
          <p:cNvPr id="9" name="矩形 8"/>
          <p:cNvSpPr/>
          <p:nvPr/>
        </p:nvSpPr>
        <p:spPr>
          <a:xfrm>
            <a:off x="4333143" y="2291807"/>
            <a:ext cx="2393604" cy="1070614"/>
          </a:xfrm>
          <a:prstGeom prst="rect">
            <a:avLst/>
          </a:prstGeom>
        </p:spPr>
        <p:txBody>
          <a:bodyPr wrap="none">
            <a:spAutoFit/>
          </a:bodyPr>
          <a:lstStyle/>
          <a:p>
            <a:pPr>
              <a:lnSpc>
                <a:spcPct val="80000"/>
              </a:lnSpc>
              <a:spcBef>
                <a:spcPts val="1000"/>
              </a:spcBef>
            </a:pP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main(){</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t>
            </a: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a[5][5];</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t>
            </a:r>
            <a:r>
              <a:rPr lang="en-US" altLang="zh-CN" sz="1200" dirty="0" err="1">
                <a:solidFill>
                  <a:schemeClr val="bg1"/>
                </a:solidFill>
                <a:latin typeface="Consolas" panose="020B0609020204030204" pitchFamily="49" charset="0"/>
                <a:ea typeface="微软雅黑" panose="020B0503020204020204" pitchFamily="34" charset="-122"/>
                <a:cs typeface="Consolas" panose="020B0609020204030204" pitchFamily="49" charset="0"/>
              </a:rPr>
              <a:t>memset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(a,0,sizeof(a));</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p>
        </p:txBody>
      </p:sp>
      <p:sp>
        <p:nvSpPr>
          <p:cNvPr id="10" name="矩形 9"/>
          <p:cNvSpPr/>
          <p:nvPr/>
        </p:nvSpPr>
        <p:spPr>
          <a:xfrm>
            <a:off x="253390" y="1867216"/>
            <a:ext cx="3785960" cy="1390061"/>
          </a:xfrm>
          <a:prstGeom prst="rect">
            <a:avLst/>
          </a:prstGeom>
        </p:spPr>
        <p:txBody>
          <a:bodyPr wrap="square">
            <a:spAutoFit/>
          </a:bodyPr>
          <a:lstStyle/>
          <a:p>
            <a:pPr marL="177800" indent="-177800">
              <a:lnSpc>
                <a:spcPct val="80000"/>
              </a:lnSpc>
              <a:spcBef>
                <a:spcPts val="1000"/>
              </a:spcBef>
              <a:buFont typeface="Arial" panose="020B0604020202020204" pitchFamily="34" charset="0"/>
              <a:buChar char="•"/>
            </a:pPr>
            <a:r>
              <a:rPr lang="zh-CN" altLang="en-US"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用花括号初始化</a:t>
            </a:r>
            <a:endPar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marL="355600" lvl="1" indent="-177800">
              <a:lnSpc>
                <a:spcPct val="80000"/>
              </a:lnSpc>
              <a:spcBef>
                <a:spcPts val="1000"/>
              </a:spcBef>
              <a:buFont typeface="Arial" panose="020B0604020202020204" pitchFamily="34" charset="0"/>
              <a:buChar char="•"/>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只能用于定义数组时</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marL="355600" lvl="1" indent="-177800">
              <a:lnSpc>
                <a:spcPct val="80000"/>
              </a:lnSpc>
              <a:spcBef>
                <a:spcPts val="1000"/>
              </a:spcBef>
              <a:buFont typeface="Arial" panose="020B0604020202020204" pitchFamily="34" charset="0"/>
              <a:buChar char="•"/>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用于初始化的元素可以等于或少于数组元素个数，但不能多于</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marL="355600" lvl="1" indent="-177800">
              <a:lnSpc>
                <a:spcPct val="80000"/>
              </a:lnSpc>
              <a:spcBef>
                <a:spcPts val="1000"/>
              </a:spcBef>
              <a:buFont typeface="Arial" panose="020B0604020202020204" pitchFamily="34" charset="0"/>
              <a:buChar char="•"/>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当元素个数少于数组元素个数时，按顺序从前往后分别赋值，数组剩余元素全部被初始化为</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0</a:t>
            </a:r>
          </a:p>
        </p:txBody>
      </p:sp>
      <p:sp>
        <p:nvSpPr>
          <p:cNvPr id="11" name="矩形 10"/>
          <p:cNvSpPr/>
          <p:nvPr/>
        </p:nvSpPr>
        <p:spPr>
          <a:xfrm>
            <a:off x="253390" y="3403914"/>
            <a:ext cx="3785959" cy="1242328"/>
          </a:xfrm>
          <a:prstGeom prst="rect">
            <a:avLst/>
          </a:prstGeom>
        </p:spPr>
        <p:txBody>
          <a:bodyPr wrap="square">
            <a:spAutoFit/>
          </a:bodyPr>
          <a:lstStyle/>
          <a:p>
            <a:pPr marL="177800" indent="-177800">
              <a:lnSpc>
                <a:spcPct val="80000"/>
              </a:lnSpc>
              <a:spcBef>
                <a:spcPts val="1000"/>
              </a:spcBef>
              <a:buFont typeface="Arial" panose="020B0604020202020204" pitchFamily="34" charset="0"/>
              <a:buChar char="•"/>
            </a:pPr>
            <a:r>
              <a:rPr lang="zh-CN" altLang="en-US"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用</a:t>
            </a:r>
            <a:r>
              <a:rPr lang="en-US" altLang="zh-CN" sz="1400" dirty="0" err="1">
                <a:solidFill>
                  <a:schemeClr val="bg1"/>
                </a:solidFill>
                <a:latin typeface="Consolas" panose="020B0609020204030204" pitchFamily="49" charset="0"/>
                <a:ea typeface="微软雅黑" panose="020B0503020204020204" pitchFamily="34" charset="-122"/>
                <a:cs typeface="Consolas" panose="020B0609020204030204" pitchFamily="49" charset="0"/>
              </a:rPr>
              <a:t>memset</a:t>
            </a:r>
            <a:r>
              <a:rPr lang="zh-CN" altLang="en-US"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函数初始化</a:t>
            </a:r>
            <a:endPar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marL="355600" lvl="1" indent="-177800">
              <a:lnSpc>
                <a:spcPct val="80000"/>
              </a:lnSpc>
              <a:spcBef>
                <a:spcPts val="1000"/>
              </a:spcBef>
              <a:buFont typeface="Arial" panose="020B0604020202020204" pitchFamily="34" charset="0"/>
              <a:buChar char="•"/>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既可以用于定义数组时，也可以用于程序中</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marL="355600" lvl="1" indent="-177800">
              <a:lnSpc>
                <a:spcPct val="80000"/>
              </a:lnSpc>
              <a:spcBef>
                <a:spcPts val="1000"/>
              </a:spcBef>
              <a:buFont typeface="Arial" panose="020B0604020202020204" pitchFamily="34" charset="0"/>
              <a:buChar char="•"/>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第一个参数为数组名称，第三个参数为固定写法</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marL="355600" lvl="1" indent="-177800">
              <a:lnSpc>
                <a:spcPct val="80000"/>
              </a:lnSpc>
              <a:spcBef>
                <a:spcPts val="1000"/>
              </a:spcBef>
              <a:buFont typeface="Arial" panose="020B0604020202020204" pitchFamily="34" charset="0"/>
              <a:buChar char="•"/>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初始化是以字节为单位进行的，所以第二个参数只能是</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0</a:t>
            </a: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或</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-1</a:t>
            </a:r>
          </a:p>
        </p:txBody>
      </p:sp>
      <p:sp>
        <p:nvSpPr>
          <p:cNvPr id="12" name="矩形 11"/>
          <p:cNvSpPr/>
          <p:nvPr/>
        </p:nvSpPr>
        <p:spPr>
          <a:xfrm>
            <a:off x="6934082" y="1402863"/>
            <a:ext cx="5152058" cy="794641"/>
          </a:xfrm>
          <a:prstGeom prst="rect">
            <a:avLst/>
          </a:prstGeom>
        </p:spPr>
        <p:txBody>
          <a:bodyPr wrap="square">
            <a:spAutoFit/>
          </a:bodyPr>
          <a:lstStyle/>
          <a:p>
            <a:pPr>
              <a:lnSpc>
                <a:spcPct val="80000"/>
              </a:lnSpc>
              <a:spcBef>
                <a:spcPts val="1000"/>
              </a:spcBef>
            </a:pP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main(){</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t>
            </a: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a[5][2]={{1,2},{3,4},{5,6},{7,8},{9,10}};</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p>
        </p:txBody>
      </p:sp>
      <p:sp>
        <p:nvSpPr>
          <p:cNvPr id="16" name="矩形 15"/>
          <p:cNvSpPr/>
          <p:nvPr/>
        </p:nvSpPr>
        <p:spPr>
          <a:xfrm>
            <a:off x="6934082" y="2342853"/>
            <a:ext cx="2563522" cy="794641"/>
          </a:xfrm>
          <a:prstGeom prst="rect">
            <a:avLst/>
          </a:prstGeom>
        </p:spPr>
        <p:txBody>
          <a:bodyPr wrap="none">
            <a:spAutoFit/>
          </a:bodyPr>
          <a:lstStyle/>
          <a:p>
            <a:pPr>
              <a:lnSpc>
                <a:spcPct val="80000"/>
              </a:lnSpc>
              <a:spcBef>
                <a:spcPts val="1000"/>
              </a:spcBef>
            </a:pP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main(){</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t>
            </a: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a[5][3]={{1,2},{3}};</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p>
        </p:txBody>
      </p:sp>
      <p:sp>
        <p:nvSpPr>
          <p:cNvPr id="19" name="矩形 18"/>
          <p:cNvSpPr/>
          <p:nvPr/>
        </p:nvSpPr>
        <p:spPr>
          <a:xfrm>
            <a:off x="262318" y="4792879"/>
            <a:ext cx="3785959" cy="1094595"/>
          </a:xfrm>
          <a:prstGeom prst="rect">
            <a:avLst/>
          </a:prstGeom>
        </p:spPr>
        <p:txBody>
          <a:bodyPr wrap="square">
            <a:spAutoFit/>
          </a:bodyPr>
          <a:lstStyle/>
          <a:p>
            <a:pPr marL="177800" indent="-177800">
              <a:lnSpc>
                <a:spcPct val="80000"/>
              </a:lnSpc>
              <a:spcBef>
                <a:spcPts val="1000"/>
              </a:spcBef>
              <a:buFont typeface="Arial" panose="020B0604020202020204" pitchFamily="34" charset="0"/>
              <a:buChar char="•"/>
            </a:pPr>
            <a:r>
              <a:rPr lang="zh-CN" altLang="en-US"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全局变量的初始化</a:t>
            </a:r>
            <a:endPar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marL="355600" lvl="1" indent="-177800">
              <a:lnSpc>
                <a:spcPct val="80000"/>
              </a:lnSpc>
              <a:spcBef>
                <a:spcPts val="1000"/>
              </a:spcBef>
              <a:buFont typeface="Arial" panose="020B0604020202020204" pitchFamily="34" charset="0"/>
              <a:buChar char="•"/>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在</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main</a:t>
            </a: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函数内定义的变量，属于局部变量</a:t>
            </a:r>
          </a:p>
          <a:p>
            <a:pPr marL="355600" lvl="1" indent="-177800">
              <a:lnSpc>
                <a:spcPct val="80000"/>
              </a:lnSpc>
              <a:spcBef>
                <a:spcPts val="1000"/>
              </a:spcBef>
              <a:buFont typeface="Arial" panose="020B0604020202020204" pitchFamily="34" charset="0"/>
              <a:buChar char="•"/>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定义在</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main</a:t>
            </a: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函数之外的变量，叫做全局变量</a:t>
            </a:r>
          </a:p>
          <a:p>
            <a:pPr marL="355600" lvl="1" indent="-177800">
              <a:lnSpc>
                <a:spcPct val="80000"/>
              </a:lnSpc>
              <a:spcBef>
                <a:spcPts val="1000"/>
              </a:spcBef>
              <a:buFont typeface="Arial" panose="020B0604020202020204" pitchFamily="34" charset="0"/>
              <a:buChar char="•"/>
            </a:pPr>
            <a:r>
              <a:rPr lang="zh-CN" altLang="en-US" sz="12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全局变量默认全部初始化为</a:t>
            </a:r>
            <a:r>
              <a:rPr lang="en-US" altLang="zh-CN" sz="12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0</a:t>
            </a:r>
          </a:p>
        </p:txBody>
      </p:sp>
      <p:sp>
        <p:nvSpPr>
          <p:cNvPr id="20" name="矩形 19"/>
          <p:cNvSpPr/>
          <p:nvPr/>
        </p:nvSpPr>
        <p:spPr>
          <a:xfrm>
            <a:off x="4338104" y="3488375"/>
            <a:ext cx="1204176" cy="794641"/>
          </a:xfrm>
          <a:prstGeom prst="rect">
            <a:avLst/>
          </a:prstGeom>
        </p:spPr>
        <p:txBody>
          <a:bodyPr wrap="none">
            <a:spAutoFit/>
          </a:bodyPr>
          <a:lstStyle/>
          <a:p>
            <a:pPr>
              <a:lnSpc>
                <a:spcPct val="80000"/>
              </a:lnSpc>
              <a:spcBef>
                <a:spcPts val="1000"/>
              </a:spcBef>
            </a:pP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a[5][5];</a:t>
            </a:r>
            <a:endParaRPr lang="en-US" altLang="zh-CN" sz="1200" b="1" dirty="0">
              <a:solidFill>
                <a:srgbClr val="808080"/>
              </a:solidFill>
              <a:latin typeface="Consolas" panose="020B0609020204030204" pitchFamily="49" charset="0"/>
              <a:cs typeface="Consolas" panose="020B0609020204030204" pitchFamily="49" charset="0"/>
            </a:endParaRPr>
          </a:p>
          <a:p>
            <a:pPr>
              <a:lnSpc>
                <a:spcPct val="80000"/>
              </a:lnSpc>
              <a:spcBef>
                <a:spcPts val="1000"/>
              </a:spcBef>
            </a:pP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main(){</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p>
        </p:txBody>
      </p:sp>
      <p:sp>
        <p:nvSpPr>
          <p:cNvPr id="21" name="矩形 20"/>
          <p:cNvSpPr/>
          <p:nvPr/>
        </p:nvSpPr>
        <p:spPr>
          <a:xfrm>
            <a:off x="4667705" y="3106324"/>
            <a:ext cx="1765249" cy="246221"/>
          </a:xfrm>
          <a:prstGeom prst="rect">
            <a:avLst/>
          </a:prstGeom>
        </p:spPr>
        <p:txBody>
          <a:bodyPr wrap="square">
            <a:spAutoFit/>
          </a:bodyPr>
          <a:lstStyle/>
          <a:p>
            <a:r>
              <a:rPr lang="zh-CN" altLang="en-US" sz="1000" dirty="0">
                <a:solidFill>
                  <a:srgbClr val="008200"/>
                </a:solidFill>
                <a:latin typeface="Consolas" panose="020B0609020204030204" pitchFamily="49" charset="0"/>
                <a:ea typeface="微软雅黑" panose="020B0503020204020204" pitchFamily="34" charset="-122"/>
              </a:rPr>
              <a:t>全部初始化为</a:t>
            </a:r>
            <a:r>
              <a:rPr lang="en-US" altLang="zh-CN" sz="1000" dirty="0">
                <a:solidFill>
                  <a:srgbClr val="008200"/>
                </a:solidFill>
                <a:latin typeface="Consolas" panose="020B0609020204030204" pitchFamily="49" charset="0"/>
                <a:ea typeface="微软雅黑" panose="020B0503020204020204" pitchFamily="34" charset="-122"/>
              </a:rPr>
              <a:t>0</a:t>
            </a:r>
            <a:endParaRPr lang="zh-CN" altLang="en-US" sz="1000" dirty="0">
              <a:solidFill>
                <a:srgbClr val="008200"/>
              </a:solidFill>
              <a:latin typeface="Consolas" panose="020B0609020204030204" pitchFamily="49" charset="0"/>
              <a:ea typeface="微软雅黑" panose="020B0503020204020204" pitchFamily="34" charset="-122"/>
            </a:endParaRPr>
          </a:p>
        </p:txBody>
      </p:sp>
      <p:sp>
        <p:nvSpPr>
          <p:cNvPr id="22" name="矩形 21"/>
          <p:cNvSpPr/>
          <p:nvPr/>
        </p:nvSpPr>
        <p:spPr>
          <a:xfrm>
            <a:off x="4329089" y="5128013"/>
            <a:ext cx="2053767" cy="794641"/>
          </a:xfrm>
          <a:prstGeom prst="rect">
            <a:avLst/>
          </a:prstGeom>
        </p:spPr>
        <p:txBody>
          <a:bodyPr wrap="none">
            <a:spAutoFit/>
          </a:bodyPr>
          <a:lstStyle/>
          <a:p>
            <a:pPr>
              <a:lnSpc>
                <a:spcPct val="80000"/>
              </a:lnSpc>
              <a:spcBef>
                <a:spcPts val="1000"/>
              </a:spcBef>
            </a:pP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main(){</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t>
            </a: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a[3000][3000];</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p>
        </p:txBody>
      </p:sp>
      <p:sp>
        <p:nvSpPr>
          <p:cNvPr id="25" name="矩形 24"/>
          <p:cNvSpPr/>
          <p:nvPr/>
        </p:nvSpPr>
        <p:spPr>
          <a:xfrm>
            <a:off x="4666722" y="4024521"/>
            <a:ext cx="1765249" cy="253916"/>
          </a:xfrm>
          <a:prstGeom prst="rect">
            <a:avLst/>
          </a:prstGeom>
        </p:spPr>
        <p:txBody>
          <a:bodyPr wrap="square">
            <a:spAutoFit/>
          </a:bodyPr>
          <a:lstStyle/>
          <a:p>
            <a:r>
              <a:rPr lang="zh-CN" altLang="en-US" sz="1000" dirty="0">
                <a:solidFill>
                  <a:srgbClr val="008200"/>
                </a:solidFill>
                <a:latin typeface="Consolas" panose="020B0609020204030204" pitchFamily="49" charset="0"/>
                <a:ea typeface="微软雅黑" panose="020B0503020204020204" pitchFamily="34" charset="-122"/>
              </a:rPr>
              <a:t>全局变量：全部初始化为</a:t>
            </a:r>
            <a:r>
              <a:rPr lang="en-US" altLang="zh-CN" sz="1000" dirty="0">
                <a:solidFill>
                  <a:srgbClr val="008200"/>
                </a:solidFill>
                <a:latin typeface="Consolas" panose="020B0609020204030204" pitchFamily="49" charset="0"/>
                <a:ea typeface="微软雅黑" panose="020B0503020204020204" pitchFamily="34" charset="-122"/>
              </a:rPr>
              <a:t>0</a:t>
            </a:r>
            <a:endParaRPr lang="zh-CN" altLang="en-US" sz="1000" dirty="0">
              <a:solidFill>
                <a:srgbClr val="008200"/>
              </a:solidFill>
              <a:latin typeface="Consolas" panose="020B0609020204030204" pitchFamily="49" charset="0"/>
              <a:ea typeface="微软雅黑" panose="020B0503020204020204" pitchFamily="34" charset="-122"/>
            </a:endParaRPr>
          </a:p>
        </p:txBody>
      </p:sp>
      <p:sp>
        <p:nvSpPr>
          <p:cNvPr id="26" name="矩形 25"/>
          <p:cNvSpPr/>
          <p:nvPr/>
        </p:nvSpPr>
        <p:spPr>
          <a:xfrm>
            <a:off x="4667706" y="1917006"/>
            <a:ext cx="1765249" cy="246221"/>
          </a:xfrm>
          <a:prstGeom prst="rect">
            <a:avLst/>
          </a:prstGeom>
        </p:spPr>
        <p:txBody>
          <a:bodyPr wrap="square">
            <a:spAutoFit/>
          </a:bodyPr>
          <a:lstStyle/>
          <a:p>
            <a:r>
              <a:rPr lang="zh-CN" altLang="en-US" sz="1000" dirty="0">
                <a:solidFill>
                  <a:srgbClr val="008200"/>
                </a:solidFill>
                <a:latin typeface="Consolas" panose="020B0609020204030204" pitchFamily="49" charset="0"/>
                <a:ea typeface="微软雅黑" panose="020B0503020204020204" pitchFamily="34" charset="-122"/>
              </a:rPr>
              <a:t>值全部为未知</a:t>
            </a:r>
          </a:p>
        </p:txBody>
      </p:sp>
      <p:sp>
        <p:nvSpPr>
          <p:cNvPr id="27" name="矩形 26"/>
          <p:cNvSpPr/>
          <p:nvPr/>
        </p:nvSpPr>
        <p:spPr>
          <a:xfrm>
            <a:off x="7292405" y="1926864"/>
            <a:ext cx="3962309" cy="400110"/>
          </a:xfrm>
          <a:prstGeom prst="rect">
            <a:avLst/>
          </a:prstGeom>
        </p:spPr>
        <p:txBody>
          <a:bodyPr wrap="square">
            <a:spAutoFit/>
          </a:bodyPr>
          <a:lstStyle/>
          <a:p>
            <a:r>
              <a:rPr lang="en-US" altLang="zh-CN" sz="1000" dirty="0">
                <a:solidFill>
                  <a:srgbClr val="008200"/>
                </a:solidFill>
                <a:latin typeface="Consolas" panose="020B0609020204030204" pitchFamily="49" charset="0"/>
                <a:ea typeface="微软雅黑" panose="020B0503020204020204" pitchFamily="34" charset="-122"/>
              </a:rPr>
              <a:t>5</a:t>
            </a:r>
            <a:r>
              <a:rPr lang="zh-CN" altLang="en-US" sz="1000" dirty="0">
                <a:solidFill>
                  <a:srgbClr val="008200"/>
                </a:solidFill>
                <a:latin typeface="Consolas" panose="020B0609020204030204" pitchFamily="49" charset="0"/>
                <a:ea typeface="微软雅黑" panose="020B0503020204020204" pitchFamily="34" charset="-122"/>
              </a:rPr>
              <a:t>组共</a:t>
            </a:r>
            <a:r>
              <a:rPr lang="en-US" altLang="zh-CN" sz="1000" dirty="0">
                <a:solidFill>
                  <a:srgbClr val="008200"/>
                </a:solidFill>
                <a:latin typeface="Consolas" panose="020B0609020204030204" pitchFamily="49" charset="0"/>
                <a:ea typeface="微软雅黑" panose="020B0503020204020204" pitchFamily="34" charset="-122"/>
              </a:rPr>
              <a:t>10</a:t>
            </a:r>
            <a:r>
              <a:rPr lang="zh-CN" altLang="en-US" sz="1000" dirty="0">
                <a:solidFill>
                  <a:srgbClr val="008200"/>
                </a:solidFill>
                <a:latin typeface="Consolas" panose="020B0609020204030204" pitchFamily="49" charset="0"/>
                <a:ea typeface="微软雅黑" panose="020B0503020204020204" pitchFamily="34" charset="-122"/>
              </a:rPr>
              <a:t>个数字按顺序初始化：第一个</a:t>
            </a:r>
            <a:r>
              <a:rPr lang="en-US" altLang="zh-CN" sz="1000" dirty="0">
                <a:solidFill>
                  <a:srgbClr val="008200"/>
                </a:solidFill>
                <a:latin typeface="Consolas" panose="020B0609020204030204" pitchFamily="49" charset="0"/>
                <a:ea typeface="微软雅黑" panose="020B0503020204020204" pitchFamily="34" charset="-122"/>
              </a:rPr>
              <a:t>int[2]</a:t>
            </a:r>
            <a:r>
              <a:rPr lang="zh-CN" altLang="en-US" sz="1000" dirty="0">
                <a:solidFill>
                  <a:srgbClr val="008200"/>
                </a:solidFill>
                <a:latin typeface="Consolas" panose="020B0609020204030204" pitchFamily="49" charset="0"/>
                <a:ea typeface="微软雅黑" panose="020B0503020204020204" pitchFamily="34" charset="-122"/>
              </a:rPr>
              <a:t>被初始化为</a:t>
            </a:r>
            <a:r>
              <a:rPr lang="en-US" altLang="zh-CN" sz="1000" dirty="0">
                <a:solidFill>
                  <a:srgbClr val="008200"/>
                </a:solidFill>
                <a:latin typeface="Consolas" panose="020B0609020204030204" pitchFamily="49" charset="0"/>
                <a:ea typeface="微软雅黑" panose="020B0503020204020204" pitchFamily="34" charset="-122"/>
              </a:rPr>
              <a:t>{1,2}</a:t>
            </a:r>
            <a:r>
              <a:rPr lang="zh-CN" altLang="en-US" sz="1000" dirty="0">
                <a:solidFill>
                  <a:srgbClr val="008200"/>
                </a:solidFill>
                <a:latin typeface="Consolas" panose="020B0609020204030204" pitchFamily="49" charset="0"/>
                <a:ea typeface="微软雅黑" panose="020B0503020204020204" pitchFamily="34" charset="-122"/>
              </a:rPr>
              <a:t>，第二个</a:t>
            </a:r>
            <a:r>
              <a:rPr lang="en-US" altLang="zh-CN" sz="1000" dirty="0">
                <a:solidFill>
                  <a:srgbClr val="008200"/>
                </a:solidFill>
                <a:latin typeface="Consolas" panose="020B0609020204030204" pitchFamily="49" charset="0"/>
                <a:ea typeface="微软雅黑" panose="020B0503020204020204" pitchFamily="34" charset="-122"/>
              </a:rPr>
              <a:t>int[2]</a:t>
            </a:r>
            <a:r>
              <a:rPr lang="zh-CN" altLang="en-US" sz="1000" dirty="0">
                <a:solidFill>
                  <a:srgbClr val="008200"/>
                </a:solidFill>
                <a:latin typeface="Consolas" panose="020B0609020204030204" pitchFamily="49" charset="0"/>
                <a:ea typeface="微软雅黑" panose="020B0503020204020204" pitchFamily="34" charset="-122"/>
              </a:rPr>
              <a:t>被初始化为</a:t>
            </a:r>
            <a:r>
              <a:rPr lang="en-US" altLang="zh-CN" sz="1000" dirty="0">
                <a:solidFill>
                  <a:srgbClr val="008200"/>
                </a:solidFill>
                <a:latin typeface="Consolas" panose="020B0609020204030204" pitchFamily="49" charset="0"/>
                <a:ea typeface="微软雅黑" panose="020B0503020204020204" pitchFamily="34" charset="-122"/>
              </a:rPr>
              <a:t>{3,4}</a:t>
            </a:r>
            <a:r>
              <a:rPr lang="zh-CN" altLang="en-US" sz="1000" dirty="0">
                <a:solidFill>
                  <a:srgbClr val="008200"/>
                </a:solidFill>
                <a:latin typeface="Consolas" panose="020B0609020204030204" pitchFamily="49" charset="0"/>
                <a:ea typeface="微软雅黑" panose="020B0503020204020204" pitchFamily="34" charset="-122"/>
              </a:rPr>
              <a:t>，以此类推</a:t>
            </a:r>
          </a:p>
        </p:txBody>
      </p:sp>
      <p:sp>
        <p:nvSpPr>
          <p:cNvPr id="28" name="矩形 27"/>
          <p:cNvSpPr/>
          <p:nvPr/>
        </p:nvSpPr>
        <p:spPr>
          <a:xfrm>
            <a:off x="7019163" y="3903964"/>
            <a:ext cx="4125471" cy="1143839"/>
          </a:xfrm>
          <a:prstGeom prst="rect">
            <a:avLst/>
          </a:prstGeom>
        </p:spPr>
        <p:txBody>
          <a:bodyPr wrap="square">
            <a:spAutoFit/>
          </a:bodyPr>
          <a:lstStyle/>
          <a:p>
            <a:pPr>
              <a:lnSpc>
                <a:spcPct val="80000"/>
              </a:lnSpc>
              <a:spcBef>
                <a:spcPts val="1000"/>
              </a:spcBef>
            </a:pPr>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注意</a:t>
            </a:r>
            <a:endParaRPr lang="en-US" altLang="zh-CN"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marL="177800" lvl="1" indent="-177800">
              <a:lnSpc>
                <a:spcPct val="80000"/>
              </a:lnSpc>
              <a:spcBef>
                <a:spcPts val="1000"/>
              </a:spcBef>
              <a:buFont typeface="Arial" panose="020B0604020202020204" pitchFamily="34" charset="0"/>
              <a:buChar char="•"/>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在</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main</a:t>
            </a: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函数内定义的变量，大小有限制：</a:t>
            </a:r>
          </a:p>
          <a:p>
            <a:pPr marL="177800" lvl="1">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Windows</a:t>
            </a: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下仅限</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1M</a:t>
            </a: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或</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2M</a:t>
            </a: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（差不多相当于</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int[720][720]</a:t>
            </a: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p>
          <a:p>
            <a:pPr marL="177800" lvl="1" indent="-177800">
              <a:lnSpc>
                <a:spcPct val="80000"/>
              </a:lnSpc>
              <a:spcBef>
                <a:spcPts val="1000"/>
              </a:spcBef>
              <a:buFont typeface="Arial" panose="020B0604020202020204" pitchFamily="34" charset="0"/>
              <a:buChar char="•"/>
            </a:pPr>
            <a:r>
              <a:rPr lang="zh-CN" altLang="en-US" sz="12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当需要定义较大的数组时，应定义为全局变量</a:t>
            </a:r>
          </a:p>
        </p:txBody>
      </p:sp>
      <p:sp>
        <p:nvSpPr>
          <p:cNvPr id="29" name="矩形 28"/>
          <p:cNvSpPr/>
          <p:nvPr/>
        </p:nvSpPr>
        <p:spPr>
          <a:xfrm>
            <a:off x="7019163" y="5128013"/>
            <a:ext cx="1713931" cy="794641"/>
          </a:xfrm>
          <a:prstGeom prst="rect">
            <a:avLst/>
          </a:prstGeom>
        </p:spPr>
        <p:txBody>
          <a:bodyPr wrap="none">
            <a:spAutoFit/>
          </a:bodyPr>
          <a:lstStyle/>
          <a:p>
            <a:pPr>
              <a:lnSpc>
                <a:spcPct val="80000"/>
              </a:lnSpc>
              <a:spcBef>
                <a:spcPts val="1000"/>
              </a:spcBef>
            </a:pP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a[3000][3000];</a:t>
            </a:r>
          </a:p>
          <a:p>
            <a:pPr>
              <a:lnSpc>
                <a:spcPct val="80000"/>
              </a:lnSpc>
              <a:spcBef>
                <a:spcPts val="1000"/>
              </a:spcBef>
            </a:pP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main(){</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p>
        </p:txBody>
      </p:sp>
      <p:sp>
        <p:nvSpPr>
          <p:cNvPr id="30" name="矩形 29"/>
          <p:cNvSpPr/>
          <p:nvPr/>
        </p:nvSpPr>
        <p:spPr>
          <a:xfrm>
            <a:off x="5797906" y="6042423"/>
            <a:ext cx="3198314" cy="553998"/>
          </a:xfrm>
          <a:prstGeom prst="rect">
            <a:avLst/>
          </a:prstGeom>
        </p:spPr>
        <p:txBody>
          <a:bodyPr wrap="square">
            <a:spAutoFit/>
          </a:bodyPr>
          <a:lstStyle/>
          <a:p>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int a[3000][3000]</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占用内存：</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3000×3000×4÷1024÷1024</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34.3M</a:t>
            </a:r>
            <a:endParaRPr lang="en-US" altLang="zh-CN" sz="1000" dirty="0">
              <a:solidFill>
                <a:srgbClr val="FF0000"/>
              </a:solidFill>
              <a:latin typeface="Consolas" panose="020B0609020204030204" pitchFamily="49" charset="0"/>
              <a:ea typeface="微软雅黑" panose="020B0503020204020204" pitchFamily="34" charset="-122"/>
              <a:cs typeface="Consolas" panose="020B0609020204030204" pitchFamily="49" charset="0"/>
            </a:endParaRPr>
          </a:p>
          <a:p>
            <a:r>
              <a:rPr lang="zh-CN" altLang="en-US" sz="10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远超</a:t>
            </a:r>
            <a:r>
              <a:rPr lang="en-US" altLang="zh-CN" sz="10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main</a:t>
            </a:r>
            <a:r>
              <a:rPr lang="zh-CN" altLang="en-US" sz="10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函数中允许的大小，必须定义为全局变量。</a:t>
            </a:r>
          </a:p>
        </p:txBody>
      </p:sp>
      <p:sp>
        <p:nvSpPr>
          <p:cNvPr id="2" name="矩形 1"/>
          <p:cNvSpPr/>
          <p:nvPr/>
        </p:nvSpPr>
        <p:spPr>
          <a:xfrm>
            <a:off x="8733094" y="5171390"/>
            <a:ext cx="566181" cy="707886"/>
          </a:xfrm>
          <a:prstGeom prst="rect">
            <a:avLst/>
          </a:prstGeom>
          <a:noFill/>
        </p:spPr>
        <p:txBody>
          <a:bodyPr wrap="square" lIns="91440" tIns="45720" rIns="91440" bIns="45720">
            <a:spAutoFit/>
          </a:bodyPr>
          <a:lstStyle/>
          <a:p>
            <a:pPr algn="ctr"/>
            <a:r>
              <a:rPr lang="zh-CN" altLang="en-US" sz="4000" dirty="0">
                <a:ln w="0"/>
                <a:solidFill>
                  <a:schemeClr val="accent1"/>
                </a:solidFill>
                <a:effectLst>
                  <a:outerShdw blurRad="38100" dist="25400" dir="5400000" algn="ctr" rotWithShape="0">
                    <a:srgbClr val="6E747A">
                      <a:alpha val="43000"/>
                    </a:srgbClr>
                  </a:outerShdw>
                </a:effectLst>
                <a:latin typeface="Consolas" panose="020B0609020204030204" pitchFamily="49" charset="0"/>
                <a:ea typeface="微软雅黑" panose="020B0503020204020204" pitchFamily="34" charset="-122"/>
                <a:cs typeface="Consolas" panose="020B0609020204030204" pitchFamily="49" charset="0"/>
              </a:rPr>
              <a:t>√</a:t>
            </a:r>
            <a:endParaRPr lang="zh-CN" altLang="en-US" sz="4000" dirty="0">
              <a:ln w="0"/>
              <a:solidFill>
                <a:schemeClr val="accent1"/>
              </a:solidFill>
              <a:effectLst>
                <a:outerShdw blurRad="38100" dist="25400" dir="5400000" algn="ctr" rotWithShape="0">
                  <a:srgbClr val="6E747A">
                    <a:alpha val="43000"/>
                  </a:srgbClr>
                </a:outerShdw>
              </a:effectLst>
            </a:endParaRPr>
          </a:p>
        </p:txBody>
      </p:sp>
      <p:sp>
        <p:nvSpPr>
          <p:cNvPr id="3" name="矩形 2"/>
          <p:cNvSpPr/>
          <p:nvPr/>
        </p:nvSpPr>
        <p:spPr>
          <a:xfrm>
            <a:off x="6234852" y="5157268"/>
            <a:ext cx="699230" cy="707886"/>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altLang="zh-CN" sz="4000" b="1" cap="none" spc="0" dirty="0">
                <a:solidFill>
                  <a:srgbClr val="E75940"/>
                </a:solidFill>
                <a:effectLst/>
              </a:rPr>
              <a:t>×</a:t>
            </a:r>
            <a:endParaRPr lang="zh-CN" altLang="en-US" sz="4000" b="1" cap="none" spc="0" dirty="0">
              <a:solidFill>
                <a:srgbClr val="E75940"/>
              </a:solidFill>
              <a:effectLst/>
            </a:endParaRPr>
          </a:p>
        </p:txBody>
      </p:sp>
      <p:sp>
        <p:nvSpPr>
          <p:cNvPr id="35" name="矩形 34"/>
          <p:cNvSpPr/>
          <p:nvPr/>
        </p:nvSpPr>
        <p:spPr>
          <a:xfrm>
            <a:off x="7292405" y="2840406"/>
            <a:ext cx="3962309" cy="553998"/>
          </a:xfrm>
          <a:prstGeom prst="rect">
            <a:avLst/>
          </a:prstGeom>
        </p:spPr>
        <p:txBody>
          <a:bodyPr wrap="square">
            <a:spAutoFit/>
          </a:bodyPr>
          <a:lstStyle/>
          <a:p>
            <a:r>
              <a:rPr lang="en-US" altLang="zh-CN" sz="1000" dirty="0">
                <a:solidFill>
                  <a:srgbClr val="008200"/>
                </a:solidFill>
                <a:latin typeface="Consolas" panose="020B0609020204030204" pitchFamily="49" charset="0"/>
                <a:ea typeface="微软雅黑" panose="020B0503020204020204" pitchFamily="34" charset="-122"/>
              </a:rPr>
              <a:t>2</a:t>
            </a:r>
            <a:r>
              <a:rPr lang="zh-CN" altLang="en-US" sz="1000" dirty="0">
                <a:solidFill>
                  <a:srgbClr val="008200"/>
                </a:solidFill>
                <a:latin typeface="Consolas" panose="020B0609020204030204" pitchFamily="49" charset="0"/>
                <a:ea typeface="微软雅黑" panose="020B0503020204020204" pitchFamily="34" charset="-122"/>
              </a:rPr>
              <a:t>组共</a:t>
            </a:r>
            <a:r>
              <a:rPr lang="en-US" altLang="zh-CN" sz="1000" dirty="0">
                <a:solidFill>
                  <a:srgbClr val="008200"/>
                </a:solidFill>
                <a:latin typeface="Consolas" panose="020B0609020204030204" pitchFamily="49" charset="0"/>
                <a:ea typeface="微软雅黑" panose="020B0503020204020204" pitchFamily="34" charset="-122"/>
              </a:rPr>
              <a:t>3</a:t>
            </a:r>
            <a:r>
              <a:rPr lang="zh-CN" altLang="en-US" sz="1000" dirty="0">
                <a:solidFill>
                  <a:srgbClr val="008200"/>
                </a:solidFill>
                <a:latin typeface="Consolas" panose="020B0609020204030204" pitchFamily="49" charset="0"/>
                <a:ea typeface="微软雅黑" panose="020B0503020204020204" pitchFamily="34" charset="-122"/>
              </a:rPr>
              <a:t>个数字按顺序初始化：第一个</a:t>
            </a:r>
            <a:r>
              <a:rPr lang="en-US" altLang="zh-CN" sz="1000" dirty="0">
                <a:solidFill>
                  <a:srgbClr val="008200"/>
                </a:solidFill>
                <a:latin typeface="Consolas" panose="020B0609020204030204" pitchFamily="49" charset="0"/>
                <a:ea typeface="微软雅黑" panose="020B0503020204020204" pitchFamily="34" charset="-122"/>
              </a:rPr>
              <a:t>int[3]</a:t>
            </a:r>
            <a:r>
              <a:rPr lang="zh-CN" altLang="en-US" sz="1000" dirty="0">
                <a:solidFill>
                  <a:srgbClr val="008200"/>
                </a:solidFill>
                <a:latin typeface="Consolas" panose="020B0609020204030204" pitchFamily="49" charset="0"/>
                <a:ea typeface="微软雅黑" panose="020B0503020204020204" pitchFamily="34" charset="-122"/>
              </a:rPr>
              <a:t>被初始化为</a:t>
            </a:r>
            <a:r>
              <a:rPr lang="en-US" altLang="zh-CN" sz="1000" dirty="0">
                <a:solidFill>
                  <a:srgbClr val="008200"/>
                </a:solidFill>
                <a:latin typeface="Consolas" panose="020B0609020204030204" pitchFamily="49" charset="0"/>
                <a:ea typeface="微软雅黑" panose="020B0503020204020204" pitchFamily="34" charset="-122"/>
              </a:rPr>
              <a:t>{1,2}</a:t>
            </a:r>
            <a:r>
              <a:rPr lang="zh-CN" altLang="en-US" sz="1000" dirty="0">
                <a:solidFill>
                  <a:srgbClr val="008200"/>
                </a:solidFill>
                <a:latin typeface="Consolas" panose="020B0609020204030204" pitchFamily="49" charset="0"/>
                <a:ea typeface="微软雅黑" panose="020B0503020204020204" pitchFamily="34" charset="-122"/>
              </a:rPr>
              <a:t>（第</a:t>
            </a:r>
            <a:r>
              <a:rPr lang="en-US" altLang="zh-CN" sz="1000" dirty="0">
                <a:solidFill>
                  <a:srgbClr val="008200"/>
                </a:solidFill>
                <a:latin typeface="Consolas" panose="020B0609020204030204" pitchFamily="49" charset="0"/>
                <a:ea typeface="微软雅黑" panose="020B0503020204020204" pitchFamily="34" charset="-122"/>
              </a:rPr>
              <a:t>3</a:t>
            </a:r>
            <a:r>
              <a:rPr lang="zh-CN" altLang="en-US" sz="1000" dirty="0">
                <a:solidFill>
                  <a:srgbClr val="008200"/>
                </a:solidFill>
                <a:latin typeface="Consolas" panose="020B0609020204030204" pitchFamily="49" charset="0"/>
                <a:ea typeface="微软雅黑" panose="020B0503020204020204" pitchFamily="34" charset="-122"/>
              </a:rPr>
              <a:t>个变量被初始化为</a:t>
            </a:r>
            <a:r>
              <a:rPr lang="en-US" altLang="zh-CN" sz="1000" dirty="0">
                <a:solidFill>
                  <a:srgbClr val="008200"/>
                </a:solidFill>
                <a:latin typeface="Consolas" panose="020B0609020204030204" pitchFamily="49" charset="0"/>
                <a:ea typeface="微软雅黑" panose="020B0503020204020204" pitchFamily="34" charset="-122"/>
              </a:rPr>
              <a:t>0</a:t>
            </a:r>
            <a:r>
              <a:rPr lang="zh-CN" altLang="en-US" sz="1000" dirty="0">
                <a:solidFill>
                  <a:srgbClr val="008200"/>
                </a:solidFill>
                <a:latin typeface="Consolas" panose="020B0609020204030204" pitchFamily="49" charset="0"/>
                <a:ea typeface="微软雅黑" panose="020B0503020204020204" pitchFamily="34" charset="-122"/>
              </a:rPr>
              <a:t>），第二个</a:t>
            </a:r>
            <a:r>
              <a:rPr lang="en-US" altLang="zh-CN" sz="1000" dirty="0">
                <a:solidFill>
                  <a:srgbClr val="008200"/>
                </a:solidFill>
                <a:latin typeface="Consolas" panose="020B0609020204030204" pitchFamily="49" charset="0"/>
                <a:ea typeface="微软雅黑" panose="020B0503020204020204" pitchFamily="34" charset="-122"/>
              </a:rPr>
              <a:t>int[3]</a:t>
            </a:r>
            <a:r>
              <a:rPr lang="zh-CN" altLang="en-US" sz="1000" dirty="0">
                <a:solidFill>
                  <a:srgbClr val="008200"/>
                </a:solidFill>
                <a:latin typeface="Consolas" panose="020B0609020204030204" pitchFamily="49" charset="0"/>
                <a:ea typeface="微软雅黑" panose="020B0503020204020204" pitchFamily="34" charset="-122"/>
              </a:rPr>
              <a:t>被初始化为</a:t>
            </a:r>
            <a:r>
              <a:rPr lang="en-US" altLang="zh-CN" sz="1000" dirty="0">
                <a:solidFill>
                  <a:srgbClr val="008200"/>
                </a:solidFill>
                <a:latin typeface="Consolas" panose="020B0609020204030204" pitchFamily="49" charset="0"/>
                <a:ea typeface="微软雅黑" panose="020B0503020204020204" pitchFamily="34" charset="-122"/>
              </a:rPr>
              <a:t>{3}</a:t>
            </a:r>
            <a:r>
              <a:rPr lang="zh-CN" altLang="en-US" sz="1000" dirty="0">
                <a:solidFill>
                  <a:srgbClr val="008200"/>
                </a:solidFill>
                <a:latin typeface="Consolas" panose="020B0609020204030204" pitchFamily="49" charset="0"/>
                <a:ea typeface="微软雅黑" panose="020B0503020204020204" pitchFamily="34" charset="-122"/>
              </a:rPr>
              <a:t>（第</a:t>
            </a:r>
            <a:r>
              <a:rPr lang="en-US" altLang="zh-CN" sz="1000" dirty="0">
                <a:solidFill>
                  <a:srgbClr val="008200"/>
                </a:solidFill>
                <a:latin typeface="Consolas" panose="020B0609020204030204" pitchFamily="49" charset="0"/>
                <a:ea typeface="微软雅黑" panose="020B0503020204020204" pitchFamily="34" charset="-122"/>
              </a:rPr>
              <a:t>2</a:t>
            </a:r>
            <a:r>
              <a:rPr lang="zh-CN" altLang="en-US" sz="1000" dirty="0">
                <a:solidFill>
                  <a:srgbClr val="008200"/>
                </a:solidFill>
                <a:latin typeface="Consolas" panose="020B0609020204030204" pitchFamily="49" charset="0"/>
                <a:ea typeface="微软雅黑" panose="020B0503020204020204" pitchFamily="34" charset="-122"/>
              </a:rPr>
              <a:t>、</a:t>
            </a:r>
            <a:r>
              <a:rPr lang="en-US" altLang="zh-CN" sz="1000" dirty="0">
                <a:solidFill>
                  <a:srgbClr val="008200"/>
                </a:solidFill>
                <a:latin typeface="Consolas" panose="020B0609020204030204" pitchFamily="49" charset="0"/>
                <a:ea typeface="微软雅黑" panose="020B0503020204020204" pitchFamily="34" charset="-122"/>
              </a:rPr>
              <a:t>3</a:t>
            </a:r>
            <a:r>
              <a:rPr lang="zh-CN" altLang="en-US" sz="1000" dirty="0">
                <a:solidFill>
                  <a:srgbClr val="008200"/>
                </a:solidFill>
                <a:latin typeface="Consolas" panose="020B0609020204030204" pitchFamily="49" charset="0"/>
                <a:ea typeface="微软雅黑" panose="020B0503020204020204" pitchFamily="34" charset="-122"/>
              </a:rPr>
              <a:t>两个变量被初始化为</a:t>
            </a:r>
            <a:r>
              <a:rPr lang="en-US" altLang="zh-CN" sz="1000" dirty="0">
                <a:solidFill>
                  <a:srgbClr val="008200"/>
                </a:solidFill>
                <a:latin typeface="Consolas" panose="020B0609020204030204" pitchFamily="49" charset="0"/>
                <a:ea typeface="微软雅黑" panose="020B0503020204020204" pitchFamily="34" charset="-122"/>
              </a:rPr>
              <a:t>0</a:t>
            </a:r>
            <a:r>
              <a:rPr lang="zh-CN" altLang="en-US" sz="1000" dirty="0">
                <a:solidFill>
                  <a:srgbClr val="008200"/>
                </a:solidFill>
                <a:latin typeface="Consolas" panose="020B0609020204030204" pitchFamily="49" charset="0"/>
                <a:ea typeface="微软雅黑" panose="020B0503020204020204" pitchFamily="34" charset="-122"/>
              </a:rPr>
              <a:t>），剩下的</a:t>
            </a:r>
            <a:r>
              <a:rPr lang="en-US" altLang="zh-CN" sz="1000" dirty="0">
                <a:solidFill>
                  <a:srgbClr val="008200"/>
                </a:solidFill>
                <a:latin typeface="Consolas" panose="020B0609020204030204" pitchFamily="49" charset="0"/>
                <a:ea typeface="微软雅黑" panose="020B0503020204020204" pitchFamily="34" charset="-122"/>
              </a:rPr>
              <a:t>3</a:t>
            </a:r>
            <a:r>
              <a:rPr lang="zh-CN" altLang="en-US" sz="1000" dirty="0">
                <a:solidFill>
                  <a:srgbClr val="008200"/>
                </a:solidFill>
                <a:latin typeface="Consolas" panose="020B0609020204030204" pitchFamily="49" charset="0"/>
                <a:ea typeface="微软雅黑" panose="020B0503020204020204" pitchFamily="34" charset="-122"/>
              </a:rPr>
              <a:t>个</a:t>
            </a:r>
            <a:r>
              <a:rPr lang="en-US" altLang="zh-CN" sz="1000" dirty="0">
                <a:solidFill>
                  <a:srgbClr val="008200"/>
                </a:solidFill>
                <a:latin typeface="Consolas" panose="020B0609020204030204" pitchFamily="49" charset="0"/>
                <a:ea typeface="微软雅黑" panose="020B0503020204020204" pitchFamily="34" charset="-122"/>
              </a:rPr>
              <a:t>int[3]</a:t>
            </a:r>
            <a:r>
              <a:rPr lang="zh-CN" altLang="en-US" sz="1000" dirty="0">
                <a:solidFill>
                  <a:srgbClr val="008200"/>
                </a:solidFill>
                <a:latin typeface="Consolas" panose="020B0609020204030204" pitchFamily="49" charset="0"/>
                <a:ea typeface="微软雅黑" panose="020B0503020204020204" pitchFamily="34" charset="-122"/>
              </a:rPr>
              <a:t>全部被初始化为</a:t>
            </a:r>
            <a:r>
              <a:rPr lang="en-US" altLang="zh-CN" sz="1000" dirty="0">
                <a:solidFill>
                  <a:srgbClr val="008200"/>
                </a:solidFill>
                <a:latin typeface="Consolas" panose="020B0609020204030204" pitchFamily="49" charset="0"/>
                <a:ea typeface="微软雅黑" panose="020B0503020204020204" pitchFamily="34" charset="-122"/>
              </a:rPr>
              <a:t>0</a:t>
            </a:r>
            <a:endParaRPr lang="zh-CN" altLang="en-US" sz="1000" dirty="0">
              <a:solidFill>
                <a:srgbClr val="008200"/>
              </a:solidFill>
              <a:latin typeface="Consolas" panose="020B0609020204030204" pitchFamily="49" charset="0"/>
              <a:ea typeface="微软雅黑" panose="020B0503020204020204" pitchFamily="34" charset="-122"/>
            </a:endParaRPr>
          </a:p>
        </p:txBody>
      </p:sp>
      <p:sp>
        <p:nvSpPr>
          <p:cNvPr id="4" name="矩形 3"/>
          <p:cNvSpPr/>
          <p:nvPr/>
        </p:nvSpPr>
        <p:spPr>
          <a:xfrm>
            <a:off x="258137" y="1453518"/>
            <a:ext cx="3416320" cy="267061"/>
          </a:xfrm>
          <a:prstGeom prst="rect">
            <a:avLst/>
          </a:prstGeom>
        </p:spPr>
        <p:txBody>
          <a:bodyPr wrap="none">
            <a:spAutoFit/>
          </a:bodyPr>
          <a:lstStyle/>
          <a:p>
            <a:pPr marL="177800" indent="-177800">
              <a:lnSpc>
                <a:spcPct val="80000"/>
              </a:lnSpc>
              <a:spcBef>
                <a:spcPts val="1000"/>
              </a:spcBef>
              <a:buFont typeface="Arial" panose="020B0604020202020204" pitchFamily="34" charset="0"/>
              <a:buChar char="•"/>
            </a:pPr>
            <a:r>
              <a:rPr lang="zh-CN" altLang="en-US" sz="14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如果不做初始化，每个元素的值都随机</a:t>
            </a:r>
            <a:endParaRPr lang="en-US" altLang="zh-CN" sz="14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6" grpId="0"/>
      <p:bldP spid="19" grpId="0"/>
      <p:bldP spid="20" grpId="0"/>
      <p:bldP spid="21" grpId="0"/>
      <p:bldP spid="22" grpId="0"/>
      <p:bldP spid="25" grpId="0"/>
      <p:bldP spid="26" grpId="0"/>
      <p:bldP spid="27" grpId="0"/>
      <p:bldP spid="28" grpId="0"/>
      <p:bldP spid="29" grpId="0"/>
      <p:bldP spid="30" grpId="0"/>
      <p:bldP spid="2" grpId="0"/>
      <p:bldP spid="3" grpId="0"/>
      <p:bldP spid="35"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78609" y="301567"/>
            <a:ext cx="10634659" cy="707886"/>
          </a:xfrm>
          <a:prstGeom prst="rect">
            <a:avLst/>
          </a:prstGeom>
          <a:noFill/>
        </p:spPr>
        <p:txBody>
          <a:bodyPr wrap="square" rtlCol="0">
            <a:spAutoFit/>
          </a:bodyPr>
          <a:lstStyle/>
          <a:p>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矩阵</a:t>
            </a:r>
          </a:p>
        </p:txBody>
      </p:sp>
      <p:sp>
        <p:nvSpPr>
          <p:cNvPr id="16" name="矩形 15"/>
          <p:cNvSpPr/>
          <p:nvPr/>
        </p:nvSpPr>
        <p:spPr>
          <a:xfrm>
            <a:off x="376664" y="1301815"/>
            <a:ext cx="2563522" cy="794641"/>
          </a:xfrm>
          <a:prstGeom prst="rect">
            <a:avLst/>
          </a:prstGeom>
        </p:spPr>
        <p:txBody>
          <a:bodyPr wrap="none">
            <a:spAutoFit/>
          </a:bodyPr>
          <a:lstStyle/>
          <a:p>
            <a:pPr>
              <a:lnSpc>
                <a:spcPct val="80000"/>
              </a:lnSpc>
              <a:spcBef>
                <a:spcPts val="1000"/>
              </a:spcBef>
            </a:pP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main(){</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t>
            </a:r>
            <a:r>
              <a:rPr lang="en-US" altLang="zh-CN" sz="1200" b="1" dirty="0">
                <a:solidFill>
                  <a:srgbClr val="808080"/>
                </a:solidFill>
                <a:latin typeface="Consolas" panose="020B0609020204030204" pitchFamily="49" charset="0"/>
                <a:cs typeface="Consolas" panose="020B0609020204030204" pitchFamily="49" charset="0"/>
              </a:rPr>
              <a:t>int</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 a[5][3]={{1,2},{3}};</a:t>
            </a:r>
          </a:p>
          <a:p>
            <a:pPr>
              <a:lnSpc>
                <a:spcPct val="80000"/>
              </a:lnSpc>
              <a:spcBef>
                <a:spcPts val="1000"/>
              </a:spcBef>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p>
        </p:txBody>
      </p:sp>
      <p:graphicFrame>
        <p:nvGraphicFramePr>
          <p:cNvPr id="31" name="表格 30"/>
          <p:cNvGraphicFramePr>
            <a:graphicFrameLocks noGrp="1"/>
          </p:cNvGraphicFramePr>
          <p:nvPr/>
        </p:nvGraphicFramePr>
        <p:xfrm>
          <a:off x="376664" y="2552562"/>
          <a:ext cx="1803400" cy="2952750"/>
        </p:xfrm>
        <a:graphic>
          <a:graphicData uri="http://schemas.openxmlformats.org/drawingml/2006/table">
            <a:tbl>
              <a:tblPr/>
              <a:tblGrid>
                <a:gridCol w="431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200025">
                <a:tc>
                  <a:txBody>
                    <a:bodyPr/>
                    <a:lstStyle/>
                    <a:p>
                      <a:pPr algn="ctr" fontAlgn="ctr"/>
                      <a:endParaRPr lang="zh-CN" altLang="en-US" sz="1100" b="0" i="0" u="none" strike="noStrike">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a[0][0]</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1</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a[0]</a:t>
                      </a: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a[0][1]</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2</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0025">
                <a:tc>
                  <a:txBody>
                    <a:bodyPr/>
                    <a:lstStyle/>
                    <a:p>
                      <a:pPr algn="ctr" fontAlgn="ctr"/>
                      <a:endParaRPr lang="zh-CN" altLang="en-US" sz="1100" b="0" i="0" u="none" strike="noStrike">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a[0][2]</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025">
                <a:tc>
                  <a:txBody>
                    <a:bodyPr/>
                    <a:lstStyle/>
                    <a:p>
                      <a:pPr algn="ctr" fontAlgn="ctr"/>
                      <a:endParaRPr lang="zh-CN" altLang="en-US" sz="1100" b="0" i="0" u="none" strike="noStrike" dirty="0">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a[1][0]</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3</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90500">
                <a:tc>
                  <a:txBody>
                    <a:bodyPr/>
                    <a:lstStyle/>
                    <a:p>
                      <a:pPr algn="ctr" fontAlgn="ctr"/>
                      <a:r>
                        <a:rPr lang="en-US" sz="1100" b="0" i="0" u="none" strike="noStrike" dirty="0">
                          <a:solidFill>
                            <a:srgbClr val="000000"/>
                          </a:solidFill>
                          <a:effectLst/>
                          <a:latin typeface="Consolas" panose="020B0609020204030204" pitchFamily="49" charset="0"/>
                          <a:ea typeface="等线" panose="02010600030101010101" pitchFamily="2" charset="-122"/>
                        </a:rPr>
                        <a:t>a[1]</a:t>
                      </a:r>
                    </a:p>
                  </a:txBody>
                  <a:tcPr marL="9525" marR="9525" marT="9525" marB="0" anchor="ctr">
                    <a:lnL>
                      <a:noFill/>
                    </a:lnL>
                    <a:lnR>
                      <a:noFill/>
                    </a:lnR>
                    <a:lnT>
                      <a:noFill/>
                    </a:lnT>
                    <a:lnB>
                      <a:noFill/>
                    </a:lnB>
                  </a:tcPr>
                </a:tc>
                <a:tc>
                  <a:txBody>
                    <a:bodyPr/>
                    <a:lstStyle/>
                    <a:p>
                      <a:pPr algn="ctr" fontAlgn="ctr"/>
                      <a:r>
                        <a:rPr lang="en-US" sz="1100" b="0" i="0" u="none" strike="noStrike" dirty="0">
                          <a:solidFill>
                            <a:srgbClr val="000000"/>
                          </a:solidFill>
                          <a:effectLst/>
                          <a:latin typeface="Consolas" panose="020B0609020204030204" pitchFamily="49" charset="0"/>
                          <a:ea typeface="等线" panose="02010600030101010101" pitchFamily="2" charset="-122"/>
                        </a:rPr>
                        <a:t>a[1][1]</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025">
                <a:tc>
                  <a:txBody>
                    <a:bodyPr/>
                    <a:lstStyle/>
                    <a:p>
                      <a:pPr algn="ctr" fontAlgn="ctr"/>
                      <a:endParaRPr lang="zh-CN" altLang="en-US" sz="1100" b="0" i="0" u="none" strike="noStrike" dirty="0">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a[1][2]</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025">
                <a:tc>
                  <a:txBody>
                    <a:bodyPr/>
                    <a:lstStyle/>
                    <a:p>
                      <a:pPr algn="ctr" fontAlgn="ctr"/>
                      <a:endParaRPr lang="zh-CN" altLang="en-US" sz="1100" b="0" i="0" u="none" strike="noStrike" dirty="0">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a[2][0]</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90500">
                <a:tc>
                  <a:txBody>
                    <a:bodyPr/>
                    <a:lstStyle/>
                    <a:p>
                      <a:pPr algn="ctr" fontAlgn="ctr"/>
                      <a:r>
                        <a:rPr lang="en-US" sz="1100" b="0" i="0" u="none" strike="noStrike" dirty="0">
                          <a:solidFill>
                            <a:srgbClr val="000000"/>
                          </a:solidFill>
                          <a:effectLst/>
                          <a:latin typeface="Consolas" panose="020B0609020204030204" pitchFamily="49" charset="0"/>
                          <a:ea typeface="等线" panose="02010600030101010101" pitchFamily="2" charset="-122"/>
                        </a:rPr>
                        <a:t>a[2]</a:t>
                      </a: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a[2][1]</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025">
                <a:tc>
                  <a:txBody>
                    <a:bodyPr/>
                    <a:lstStyle/>
                    <a:p>
                      <a:pPr algn="ctr" fontAlgn="ctr"/>
                      <a:endParaRPr lang="zh-CN" altLang="en-US" sz="1100" b="0" i="0" u="none" strike="noStrike" dirty="0">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a[2][2]</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00025">
                <a:tc>
                  <a:txBody>
                    <a:bodyPr/>
                    <a:lstStyle/>
                    <a:p>
                      <a:pPr algn="ctr" fontAlgn="ctr"/>
                      <a:endParaRPr lang="zh-CN" altLang="en-US" sz="1100" b="0" i="0" u="none" strike="noStrike" dirty="0">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a[3][0]</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90500">
                <a:tc>
                  <a:txBody>
                    <a:bodyPr/>
                    <a:lstStyle/>
                    <a:p>
                      <a:pPr algn="ctr" fontAlgn="ctr"/>
                      <a:r>
                        <a:rPr lang="en-US" sz="1100" b="0" i="0" u="none" strike="noStrike" dirty="0">
                          <a:solidFill>
                            <a:srgbClr val="000000"/>
                          </a:solidFill>
                          <a:effectLst/>
                          <a:latin typeface="Consolas" panose="020B0609020204030204" pitchFamily="49" charset="0"/>
                          <a:ea typeface="等线" panose="02010600030101010101" pitchFamily="2" charset="-122"/>
                        </a:rPr>
                        <a:t>a[3]</a:t>
                      </a: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a[3][1]</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00025">
                <a:tc>
                  <a:txBody>
                    <a:bodyPr/>
                    <a:lstStyle/>
                    <a:p>
                      <a:pPr algn="ctr" fontAlgn="ctr"/>
                      <a:endParaRPr lang="zh-CN" altLang="en-US" sz="1100" b="0" i="0" u="none" strike="noStrike" dirty="0">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a[3][2]</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0025">
                <a:tc>
                  <a:txBody>
                    <a:bodyPr/>
                    <a:lstStyle/>
                    <a:p>
                      <a:pPr algn="ctr" fontAlgn="ctr"/>
                      <a:endParaRPr lang="zh-CN" altLang="en-US" sz="1100" b="0" i="0" u="none" strike="noStrike" dirty="0">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a[4][0]</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90500">
                <a:tc>
                  <a:txBody>
                    <a:bodyPr/>
                    <a:lstStyle/>
                    <a:p>
                      <a:pPr algn="ctr" fontAlgn="ctr"/>
                      <a:r>
                        <a:rPr lang="en-US" sz="1100" b="0" i="0" u="none" strike="noStrike" dirty="0">
                          <a:solidFill>
                            <a:srgbClr val="000000"/>
                          </a:solidFill>
                          <a:effectLst/>
                          <a:latin typeface="Consolas" panose="020B0609020204030204" pitchFamily="49" charset="0"/>
                          <a:ea typeface="等线" panose="02010600030101010101" pitchFamily="2" charset="-122"/>
                        </a:rPr>
                        <a:t>a[4]</a:t>
                      </a: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a[4][1]</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00025">
                <a:tc>
                  <a:txBody>
                    <a:bodyPr/>
                    <a:lstStyle/>
                    <a:p>
                      <a:pPr algn="ctr" fontAlgn="ctr"/>
                      <a:endParaRPr lang="zh-CN" altLang="en-US" sz="1100" b="0" i="0" u="none" strike="noStrike" dirty="0">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a[4][2]</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graphicFrame>
        <p:nvGraphicFramePr>
          <p:cNvPr id="33" name="表格 32"/>
          <p:cNvGraphicFramePr>
            <a:graphicFrameLocks noGrp="1"/>
          </p:cNvGraphicFramePr>
          <p:nvPr/>
        </p:nvGraphicFramePr>
        <p:xfrm>
          <a:off x="3288756" y="2607795"/>
          <a:ext cx="2057400" cy="4191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209550">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a[0][0]</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a[0][1]</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a[0][2]</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9550">
                <a:tc>
                  <a:txBody>
                    <a:bodyPr/>
                    <a:lstStyle/>
                    <a:p>
                      <a:pPr algn="ctr" fontAlgn="ctr"/>
                      <a:r>
                        <a:rPr lang="en-US" altLang="zh-CN" sz="1100" b="0" i="0" u="none" strike="noStrike">
                          <a:solidFill>
                            <a:srgbClr val="000000"/>
                          </a:solidFill>
                          <a:effectLst/>
                          <a:latin typeface="等线" panose="02010600030101010101" pitchFamily="2" charset="-122"/>
                          <a:ea typeface="等线" panose="02010600030101010101" pitchFamily="2" charset="-122"/>
                        </a:rPr>
                        <a:t>1</a:t>
                      </a:r>
                    </a:p>
                  </a:txBody>
                  <a:tcPr marL="9525" marR="9525" marT="952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等线" panose="02010600030101010101" pitchFamily="2" charset="-122"/>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等线" panose="02010600030101010101" pitchFamily="2" charset="-122"/>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36" name="表格 35"/>
          <p:cNvGraphicFramePr>
            <a:graphicFrameLocks noGrp="1"/>
          </p:cNvGraphicFramePr>
          <p:nvPr>
            <p:extLst>
              <p:ext uri="{D42A27DB-BD31-4B8C-83A1-F6EECF244321}">
                <p14:modId xmlns:p14="http://schemas.microsoft.com/office/powerpoint/2010/main" val="2650381246"/>
              </p:ext>
            </p:extLst>
          </p:nvPr>
        </p:nvGraphicFramePr>
        <p:xfrm>
          <a:off x="3288756" y="3207176"/>
          <a:ext cx="2057400" cy="4191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209550">
                <a:tc>
                  <a:txBody>
                    <a:bodyPr/>
                    <a:lstStyle/>
                    <a:p>
                      <a:pPr algn="ctr" fontAlgn="ctr"/>
                      <a:r>
                        <a:rPr lang="en-US" sz="1100" b="0" i="0" u="none" strike="noStrike" dirty="0">
                          <a:solidFill>
                            <a:srgbClr val="000000"/>
                          </a:solidFill>
                          <a:effectLst/>
                          <a:latin typeface="Consolas" panose="020B0609020204030204" pitchFamily="49" charset="0"/>
                          <a:ea typeface="等线" panose="02010600030101010101" pitchFamily="2" charset="-122"/>
                        </a:rPr>
                        <a:t>a[1][0]</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onsolas" panose="020B0609020204030204" pitchFamily="49" charset="0"/>
                          <a:ea typeface="等线" panose="02010600030101010101" pitchFamily="2" charset="-122"/>
                        </a:rPr>
                        <a:t>a[1][1]</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Consolas" panose="020B0609020204030204" pitchFamily="49" charset="0"/>
                          <a:ea typeface="等线" panose="02010600030101010101" pitchFamily="2" charset="-122"/>
                        </a:rPr>
                        <a:t>a[1][2]</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9550">
                <a:tc>
                  <a:txBody>
                    <a:bodyPr/>
                    <a:lstStyle/>
                    <a:p>
                      <a:pPr algn="ctr" fontAlgn="ctr"/>
                      <a:r>
                        <a:rPr lang="en-US" altLang="zh-CN" sz="1100" b="0" i="0" u="none" strike="noStrike">
                          <a:solidFill>
                            <a:srgbClr val="000000"/>
                          </a:solidFill>
                          <a:effectLst/>
                          <a:latin typeface="等线" panose="02010600030101010101" pitchFamily="2" charset="-122"/>
                          <a:ea typeface="等线" panose="02010600030101010101" pitchFamily="2" charset="-122"/>
                        </a:rPr>
                        <a:t>3</a:t>
                      </a:r>
                    </a:p>
                  </a:txBody>
                  <a:tcPr marL="9525" marR="9525" marT="952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等线" panose="02010600030101010101" pitchFamily="2" charset="-122"/>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等线" panose="02010600030101010101" pitchFamily="2" charset="-122"/>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38" name="表格 37"/>
          <p:cNvGraphicFramePr>
            <a:graphicFrameLocks noGrp="1"/>
          </p:cNvGraphicFramePr>
          <p:nvPr/>
        </p:nvGraphicFramePr>
        <p:xfrm>
          <a:off x="3288756" y="3806557"/>
          <a:ext cx="2057400" cy="4191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209550">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a[2][0]</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a[2][1]</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a[2][2]</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9550">
                <a:tc>
                  <a:txBody>
                    <a:bodyPr/>
                    <a:lstStyle/>
                    <a:p>
                      <a:pPr algn="ctr" fontAlgn="ctr"/>
                      <a:r>
                        <a:rPr lang="en-US" altLang="zh-CN" sz="1100" b="0" i="0" u="none" strike="noStrike">
                          <a:solidFill>
                            <a:srgbClr val="000000"/>
                          </a:solidFill>
                          <a:effectLst/>
                          <a:latin typeface="等线" panose="02010600030101010101" pitchFamily="2" charset="-122"/>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等线" panose="02010600030101010101" pitchFamily="2" charset="-122"/>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等线" panose="02010600030101010101" pitchFamily="2" charset="-122"/>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40" name="表格 39"/>
          <p:cNvGraphicFramePr>
            <a:graphicFrameLocks noGrp="1"/>
          </p:cNvGraphicFramePr>
          <p:nvPr/>
        </p:nvGraphicFramePr>
        <p:xfrm>
          <a:off x="3288756" y="4405938"/>
          <a:ext cx="2057400" cy="4191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209550">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a[3][0]</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a[3][1]</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a[3][2]</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9550">
                <a:tc>
                  <a:txBody>
                    <a:bodyPr/>
                    <a:lstStyle/>
                    <a:p>
                      <a:pPr algn="ctr" fontAlgn="ctr"/>
                      <a:r>
                        <a:rPr lang="en-US" altLang="zh-CN" sz="1100" b="0" i="0" u="none" strike="noStrike">
                          <a:solidFill>
                            <a:srgbClr val="000000"/>
                          </a:solidFill>
                          <a:effectLst/>
                          <a:latin typeface="等线" panose="02010600030101010101" pitchFamily="2" charset="-122"/>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等线" panose="02010600030101010101" pitchFamily="2" charset="-122"/>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等线" panose="02010600030101010101" pitchFamily="2" charset="-122"/>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42" name="表格 41"/>
          <p:cNvGraphicFramePr>
            <a:graphicFrameLocks noGrp="1"/>
          </p:cNvGraphicFramePr>
          <p:nvPr/>
        </p:nvGraphicFramePr>
        <p:xfrm>
          <a:off x="3288756" y="5005319"/>
          <a:ext cx="2057400" cy="4191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209550">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a[4][0]</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a[4][1]</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a[4][2]</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9550">
                <a:tc>
                  <a:txBody>
                    <a:bodyPr/>
                    <a:lstStyle/>
                    <a:p>
                      <a:pPr algn="ctr" fontAlgn="ctr"/>
                      <a:r>
                        <a:rPr lang="en-US" altLang="zh-CN" sz="1100" b="0" i="0" u="none" strike="noStrike">
                          <a:solidFill>
                            <a:srgbClr val="000000"/>
                          </a:solidFill>
                          <a:effectLst/>
                          <a:latin typeface="等线" panose="02010600030101010101" pitchFamily="2" charset="-122"/>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等线" panose="02010600030101010101" pitchFamily="2" charset="-122"/>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等线" panose="02010600030101010101" pitchFamily="2" charset="-122"/>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44" name="表格 43"/>
          <p:cNvGraphicFramePr>
            <a:graphicFrameLocks noGrp="1"/>
          </p:cNvGraphicFramePr>
          <p:nvPr/>
        </p:nvGraphicFramePr>
        <p:xfrm>
          <a:off x="6362793" y="2540056"/>
          <a:ext cx="2743200" cy="12573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209550">
                <a:tc>
                  <a:txBody>
                    <a:bodyPr/>
                    <a:lstStyle/>
                    <a:p>
                      <a:pPr algn="ctr" fontAlgn="ctr"/>
                      <a:endParaRPr lang="zh-CN" altLang="en-US" sz="1100" b="0" i="0" u="none" strike="noStrike">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a[?][0]</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a[?][1]</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a[?][2]</a:t>
                      </a:r>
                    </a:p>
                  </a:txBody>
                  <a:tcPr marL="9525" marR="9525" marT="9525" marB="0" anchor="ctr">
                    <a:lnL>
                      <a:noFill/>
                    </a:lnL>
                    <a:lnR>
                      <a:noFill/>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9550">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a[0][?]</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1</a:t>
                      </a:r>
                    </a:p>
                  </a:txBody>
                  <a:tcPr marL="9525" marR="9525" marT="952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9550">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a[1][?]</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3</a:t>
                      </a:r>
                    </a:p>
                  </a:txBody>
                  <a:tcPr marL="9525" marR="9525" marT="952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9550">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a[2][?]</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9550">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a[3][?]</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9550">
                <a:tc>
                  <a:txBody>
                    <a:bodyPr/>
                    <a:lstStyle/>
                    <a:p>
                      <a:pPr algn="ctr" fontAlgn="ctr"/>
                      <a:r>
                        <a:rPr lang="en-US" sz="1100" b="0" i="0" u="none" strike="noStrike">
                          <a:solidFill>
                            <a:srgbClr val="000000"/>
                          </a:solidFill>
                          <a:effectLst/>
                          <a:latin typeface="Consolas" panose="020B0609020204030204" pitchFamily="49" charset="0"/>
                          <a:ea typeface="等线" panose="02010600030101010101" pitchFamily="2" charset="-122"/>
                        </a:rPr>
                        <a:t>a[4][?]</a:t>
                      </a:r>
                    </a:p>
                  </a:txBody>
                  <a:tcPr marL="9525" marR="9525" marT="9525"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5" name="箭头: 右 44"/>
          <p:cNvSpPr/>
          <p:nvPr/>
        </p:nvSpPr>
        <p:spPr>
          <a:xfrm>
            <a:off x="2504449" y="3674994"/>
            <a:ext cx="459921" cy="7078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箭头: 右 45"/>
          <p:cNvSpPr/>
          <p:nvPr/>
        </p:nvSpPr>
        <p:spPr>
          <a:xfrm>
            <a:off x="5670541" y="2918390"/>
            <a:ext cx="459921" cy="7078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8" name="表格 47"/>
          <p:cNvGraphicFramePr>
            <a:graphicFrameLocks noGrp="1"/>
          </p:cNvGraphicFramePr>
          <p:nvPr/>
        </p:nvGraphicFramePr>
        <p:xfrm>
          <a:off x="6769693" y="4351556"/>
          <a:ext cx="2374900" cy="1257300"/>
        </p:xfrm>
        <a:graphic>
          <a:graphicData uri="http://schemas.openxmlformats.org/drawingml/2006/table">
            <a:tbl>
              <a:tblPr/>
              <a:tblGrid>
                <a:gridCol w="3175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209550">
                <a:tc>
                  <a:txBody>
                    <a:bodyPr/>
                    <a:lstStyle/>
                    <a:p>
                      <a:pPr algn="ctr" fontAlgn="ctr"/>
                      <a:endParaRPr lang="zh-CN" altLang="en-US" sz="1100" b="0" i="0" u="none" strike="noStrike">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1</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2</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9550">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9550">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1</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9550">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2</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9550">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3</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9550">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4</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9" name="矩形 48"/>
          <p:cNvSpPr/>
          <p:nvPr/>
        </p:nvSpPr>
        <p:spPr>
          <a:xfrm>
            <a:off x="456515" y="2203482"/>
            <a:ext cx="1723549" cy="242054"/>
          </a:xfrm>
          <a:prstGeom prst="rect">
            <a:avLst/>
          </a:prstGeom>
        </p:spPr>
        <p:txBody>
          <a:bodyPr wrap="none">
            <a:spAutoFit/>
          </a:bodyPr>
          <a:lstStyle/>
          <a:p>
            <a:pPr>
              <a:lnSpc>
                <a:spcPct val="80000"/>
              </a:lnSpc>
              <a:spcBef>
                <a:spcPts val="1000"/>
              </a:spcBef>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内存中连续的存储单元</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0" name="矩形 49"/>
          <p:cNvSpPr/>
          <p:nvPr/>
        </p:nvSpPr>
        <p:spPr>
          <a:xfrm>
            <a:off x="3416408" y="2203482"/>
            <a:ext cx="1802096" cy="242054"/>
          </a:xfrm>
          <a:prstGeom prst="rect">
            <a:avLst/>
          </a:prstGeom>
        </p:spPr>
        <p:txBody>
          <a:bodyPr wrap="none">
            <a:spAutoFit/>
          </a:bodyPr>
          <a:lstStyle/>
          <a:p>
            <a:pPr>
              <a:lnSpc>
                <a:spcPct val="80000"/>
              </a:lnSpc>
              <a:spcBef>
                <a:spcPts val="1000"/>
              </a:spcBef>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将第二维逆时针旋转</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90°</a:t>
            </a:r>
          </a:p>
        </p:txBody>
      </p:sp>
      <p:sp>
        <p:nvSpPr>
          <p:cNvPr id="51" name="箭头: 右 50"/>
          <p:cNvSpPr/>
          <p:nvPr/>
        </p:nvSpPr>
        <p:spPr>
          <a:xfrm rot="5400000">
            <a:off x="7830884" y="3720513"/>
            <a:ext cx="252517" cy="7078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6948792" y="2203482"/>
            <a:ext cx="2356885" cy="242054"/>
          </a:xfrm>
          <a:prstGeom prst="rect">
            <a:avLst/>
          </a:prstGeom>
        </p:spPr>
        <p:txBody>
          <a:bodyPr wrap="square">
            <a:spAutoFit/>
          </a:bodyPr>
          <a:lstStyle/>
          <a:p>
            <a:pPr algn="ctr">
              <a:lnSpc>
                <a:spcPct val="80000"/>
              </a:lnSpc>
              <a:spcBef>
                <a:spcPts val="1000"/>
              </a:spcBef>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合并为一个矩形，称为“矩阵”</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3" name="矩形 52"/>
          <p:cNvSpPr/>
          <p:nvPr/>
        </p:nvSpPr>
        <p:spPr>
          <a:xfrm>
            <a:off x="9305677" y="4535527"/>
            <a:ext cx="2524905" cy="794000"/>
          </a:xfrm>
          <a:prstGeom prst="rect">
            <a:avLst/>
          </a:prstGeom>
        </p:spPr>
        <p:txBody>
          <a:bodyPr wrap="square">
            <a:spAutoFit/>
          </a:bodyPr>
          <a:lstStyle/>
          <a:p>
            <a:pPr>
              <a:lnSpc>
                <a:spcPct val="80000"/>
              </a:lnSpc>
              <a:spcBef>
                <a:spcPts val="1000"/>
              </a:spcBef>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矩阵的常规形式：</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a:lnSpc>
                <a:spcPct val="80000"/>
              </a:lnSpc>
              <a:spcBef>
                <a:spcPts val="1000"/>
              </a:spcBef>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行号表示第一维，列号表示第二维</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a:lnSpc>
                <a:spcPct val="80000"/>
              </a:lnSpc>
              <a:spcBef>
                <a:spcPts val="1000"/>
              </a:spcBef>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第</a:t>
            </a:r>
            <a:r>
              <a:rPr lang="en-US" altLang="zh-CN" sz="1200" dirty="0" err="1">
                <a:solidFill>
                  <a:schemeClr val="bg1"/>
                </a:solidFill>
                <a:latin typeface="Consolas" panose="020B0609020204030204" pitchFamily="49" charset="0"/>
                <a:ea typeface="微软雅黑" panose="020B0503020204020204" pitchFamily="34" charset="-122"/>
                <a:cs typeface="Consolas" panose="020B0609020204030204" pitchFamily="49" charset="0"/>
              </a:rPr>
              <a:t>i</a:t>
            </a: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行第</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j</a:t>
            </a: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列的单元格代表</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a:t>
            </a:r>
            <a:r>
              <a:rPr lang="en-US" altLang="zh-CN" sz="1200" dirty="0" err="1">
                <a:solidFill>
                  <a:schemeClr val="bg1"/>
                </a:solidFill>
                <a:latin typeface="Consolas" panose="020B0609020204030204" pitchFamily="49" charset="0"/>
                <a:ea typeface="微软雅黑" panose="020B0503020204020204" pitchFamily="34" charset="-122"/>
                <a:cs typeface="Consolas" panose="020B0609020204030204" pitchFamily="49" charset="0"/>
              </a:rPr>
              <a:t>i</a:t>
            </a: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][j]</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50" grpId="0"/>
      <p:bldP spid="51" grpId="0" animBg="1"/>
      <p:bldP spid="52" grpId="0"/>
      <p:bldP spid="5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0710B0B8-BC79-59A3-3976-C272FEB44175}"/>
              </a:ext>
            </a:extLst>
          </p:cNvPr>
          <p:cNvSpPr txBox="1"/>
          <p:nvPr/>
        </p:nvSpPr>
        <p:spPr>
          <a:xfrm>
            <a:off x="741958" y="5819502"/>
            <a:ext cx="2374521" cy="553998"/>
          </a:xfrm>
          <a:prstGeom prst="rect">
            <a:avLst/>
          </a:prstGeom>
          <a:noFill/>
        </p:spPr>
        <p:txBody>
          <a:bodyPr wrap="square">
            <a:spAutoFit/>
          </a:bodyPr>
          <a:lstStyle/>
          <a:p>
            <a:pPr lvl="0" eaLnBrk="0" fontAlgn="base" hangingPunct="0">
              <a:spcBef>
                <a:spcPct val="0"/>
              </a:spcBef>
              <a:spcAft>
                <a:spcPct val="0"/>
              </a:spcAft>
            </a:pPr>
            <a:r>
              <a:rPr lang="en-US" altLang="zh-CN" sz="1000" dirty="0">
                <a:solidFill>
                  <a:srgbClr val="000000"/>
                </a:solidFill>
                <a:latin typeface="Consolas" panose="020B0609020204030204" pitchFamily="49" charset="0"/>
                <a:cs typeface="Consolas" panose="020B0609020204030204" pitchFamily="49" charset="0"/>
              </a:rPr>
              <a:t>    cout&lt;&lt;a[</a:t>
            </a:r>
            <a:r>
              <a:rPr lang="en-US" altLang="zh-CN" sz="1000" dirty="0">
                <a:solidFill>
                  <a:srgbClr val="FF0000"/>
                </a:solidFill>
                <a:latin typeface="Consolas" panose="020B0609020204030204" pitchFamily="49" charset="0"/>
                <a:cs typeface="Consolas" panose="020B0609020204030204" pitchFamily="49" charset="0"/>
              </a:rPr>
              <a:t>0</a:t>
            </a:r>
            <a:r>
              <a:rPr lang="en-US" altLang="zh-CN" sz="1000" dirty="0">
                <a:solidFill>
                  <a:srgbClr val="000000"/>
                </a:solidFill>
                <a:latin typeface="Consolas" panose="020B0609020204030204" pitchFamily="49" charset="0"/>
                <a:cs typeface="Consolas" panose="020B0609020204030204" pitchFamily="49" charset="0"/>
              </a:rPr>
              <a:t>];</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b="1" dirty="0">
                <a:solidFill>
                  <a:srgbClr val="006699"/>
                </a:solidFill>
                <a:latin typeface="Consolas" panose="020B0609020204030204" pitchFamily="49" charset="0"/>
                <a:cs typeface="Consolas" panose="020B0609020204030204" pitchFamily="49" charset="0"/>
              </a:rPr>
              <a:t>for</a:t>
            </a:r>
            <a:r>
              <a:rPr lang="zh-CN" altLang="zh-CN" sz="1000" dirty="0">
                <a:solidFill>
                  <a:srgbClr val="000000"/>
                </a:solidFill>
                <a:latin typeface="Consolas" panose="020B0609020204030204" pitchFamily="49" charset="0"/>
                <a:cs typeface="Consolas" panose="020B0609020204030204" pitchFamily="49" charset="0"/>
              </a:rPr>
              <a:t>(i=</a:t>
            </a:r>
            <a:r>
              <a:rPr lang="en-US" altLang="zh-CN" sz="1000" dirty="0">
                <a:solidFill>
                  <a:srgbClr val="FF0000"/>
                </a:solidFill>
                <a:latin typeface="Consolas" panose="020B0609020204030204" pitchFamily="49" charset="0"/>
                <a:cs typeface="Consolas" panose="020B0609020204030204" pitchFamily="49" charset="0"/>
              </a:rPr>
              <a:t>1</a:t>
            </a:r>
            <a:r>
              <a:rPr lang="zh-CN" altLang="zh-CN" sz="1000" dirty="0">
                <a:solidFill>
                  <a:srgbClr val="000000"/>
                </a:solidFill>
                <a:latin typeface="Consolas" panose="020B0609020204030204" pitchFamily="49" charset="0"/>
                <a:cs typeface="Consolas" panose="020B0609020204030204" pitchFamily="49" charset="0"/>
              </a:rPr>
              <a:t>;i&lt;</a:t>
            </a:r>
            <a:r>
              <a:rPr lang="en-US" altLang="zh-CN" sz="1000" dirty="0">
                <a:solidFill>
                  <a:srgbClr val="000000"/>
                </a:solidFill>
                <a:latin typeface="Consolas" panose="020B0609020204030204" pitchFamily="49" charset="0"/>
                <a:cs typeface="Consolas" panose="020B0609020204030204" pitchFamily="49" charset="0"/>
              </a:rPr>
              <a:t>n</a:t>
            </a:r>
            <a:r>
              <a:rPr lang="zh-CN" altLang="zh-CN" sz="1000" dirty="0">
                <a:solidFill>
                  <a:srgbClr val="000000"/>
                </a:solidFill>
                <a:latin typeface="Consolas" panose="020B0609020204030204" pitchFamily="49" charset="0"/>
                <a:cs typeface="Consolas" panose="020B0609020204030204" pitchFamily="49" charset="0"/>
              </a:rPr>
              <a:t>;++i)</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en-US" altLang="zh-CN" sz="1000" dirty="0">
                <a:solidFill>
                  <a:srgbClr val="000000"/>
                </a:solidFill>
                <a:latin typeface="Consolas" panose="020B0609020204030204" pitchFamily="49" charset="0"/>
                <a:cs typeface="Consolas" panose="020B0609020204030204" pitchFamily="49" charset="0"/>
              </a:rPr>
              <a:t>cout&lt;&lt;</a:t>
            </a:r>
            <a:r>
              <a:rPr lang="en-US" altLang="zh-CN" sz="1000" dirty="0">
                <a:solidFill>
                  <a:srgbClr val="008200"/>
                </a:solidFill>
                <a:latin typeface="Consolas" panose="020B0609020204030204" pitchFamily="49" charset="0"/>
                <a:ea typeface="微软雅黑" panose="020B0503020204020204" pitchFamily="34" charset="-122"/>
              </a:rPr>
              <a:t>","</a:t>
            </a:r>
            <a:r>
              <a:rPr lang="en-US" altLang="zh-CN" sz="1000" dirty="0">
                <a:solidFill>
                  <a:srgbClr val="000000"/>
                </a:solidFill>
                <a:latin typeface="Consolas" panose="020B0609020204030204" pitchFamily="49" charset="0"/>
                <a:cs typeface="Consolas" panose="020B0609020204030204" pitchFamily="49" charset="0"/>
              </a:rPr>
              <a:t>&lt;&lt;a[i]</a:t>
            </a:r>
            <a:r>
              <a:rPr lang="zh-CN" altLang="zh-CN" sz="1000" dirty="0">
                <a:solidFill>
                  <a:srgbClr val="000000"/>
                </a:solidFill>
                <a:latin typeface="Consolas" panose="020B0609020204030204" pitchFamily="49" charset="0"/>
                <a:cs typeface="Consolas" panose="020B0609020204030204" pitchFamily="49" charset="0"/>
              </a:rPr>
              <a:t>;</a:t>
            </a:r>
            <a:endParaRPr lang="zh-CN" altLang="zh-CN" sz="1000" dirty="0">
              <a:latin typeface="Consolas" panose="020B0609020204030204" pitchFamily="49" charset="0"/>
              <a:cs typeface="Consolas" panose="020B0609020204030204" pitchFamily="49" charset="0"/>
            </a:endParaRPr>
          </a:p>
        </p:txBody>
      </p:sp>
      <p:sp>
        <p:nvSpPr>
          <p:cNvPr id="27" name="文本框 26">
            <a:extLst>
              <a:ext uri="{FF2B5EF4-FFF2-40B4-BE49-F238E27FC236}">
                <a16:creationId xmlns:a16="http://schemas.microsoft.com/office/drawing/2014/main" id="{BDE31799-BF6D-618D-FE1E-405BE8B4DEDB}"/>
              </a:ext>
            </a:extLst>
          </p:cNvPr>
          <p:cNvSpPr txBox="1"/>
          <p:nvPr/>
        </p:nvSpPr>
        <p:spPr>
          <a:xfrm>
            <a:off x="741958" y="3908588"/>
            <a:ext cx="2374521" cy="1785104"/>
          </a:xfrm>
          <a:prstGeom prst="rect">
            <a:avLst/>
          </a:prstGeom>
          <a:noFill/>
        </p:spPr>
        <p:txBody>
          <a:bodyPr wrap="square">
            <a:spAutoFit/>
          </a:bodyPr>
          <a:lstStyle/>
          <a:p>
            <a:pPr lvl="0" eaLnBrk="0" fontAlgn="base" hangingPunct="0">
              <a:spcBef>
                <a:spcPct val="0"/>
              </a:spcBef>
              <a:spcAft>
                <a:spcPct val="0"/>
              </a:spcAft>
            </a:pPr>
            <a:r>
              <a:rPr lang="zh-CN" altLang="zh-CN" sz="1000" dirty="0">
                <a:solidFill>
                  <a:srgbClr val="808080"/>
                </a:solidFill>
                <a:latin typeface="Consolas" panose="020B0609020204030204" pitchFamily="49" charset="0"/>
                <a:cs typeface="Consolas" panose="020B0609020204030204" pitchFamily="49" charset="0"/>
              </a:rPr>
              <a:t>#include&lt;bits/stdc++.h&gt;</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b="1" dirty="0">
                <a:solidFill>
                  <a:srgbClr val="006699"/>
                </a:solidFill>
                <a:latin typeface="Consolas" panose="020B0609020204030204" pitchFamily="49" charset="0"/>
                <a:cs typeface="Consolas" panose="020B0609020204030204" pitchFamily="49" charset="0"/>
              </a:rPr>
              <a:t>using</a:t>
            </a:r>
            <a:r>
              <a:rPr lang="zh-CN" altLang="zh-CN" sz="1000" dirty="0">
                <a:latin typeface="Consolas" panose="020B0609020204030204" pitchFamily="49" charset="0"/>
                <a:cs typeface="Consolas" panose="020B0609020204030204" pitchFamily="49" charset="0"/>
              </a:rPr>
              <a:t> </a:t>
            </a:r>
            <a:r>
              <a:rPr lang="zh-CN" altLang="zh-CN" sz="1000" b="1" dirty="0">
                <a:solidFill>
                  <a:srgbClr val="006699"/>
                </a:solidFill>
                <a:latin typeface="Consolas" panose="020B0609020204030204" pitchFamily="49" charset="0"/>
                <a:cs typeface="Consolas" panose="020B0609020204030204" pitchFamily="49" charset="0"/>
              </a:rPr>
              <a:t>namespace</a:t>
            </a:r>
            <a:r>
              <a:rPr lang="zh-CN" altLang="zh-CN" sz="1000" dirty="0">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std;</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b="1" dirty="0">
                <a:solidFill>
                  <a:srgbClr val="808080"/>
                </a:solidFill>
                <a:latin typeface="Consolas" panose="020B0609020204030204" pitchFamily="49" charset="0"/>
                <a:cs typeface="Consolas" panose="020B0609020204030204" pitchFamily="49" charset="0"/>
              </a:rPr>
              <a:t>int</a:t>
            </a:r>
            <a:r>
              <a:rPr lang="zh-CN" altLang="zh-CN" sz="1000" dirty="0">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n,a[</a:t>
            </a:r>
            <a:r>
              <a:rPr lang="en-US" altLang="zh-CN" sz="1000" dirty="0">
                <a:solidFill>
                  <a:srgbClr val="000000"/>
                </a:solidFill>
                <a:latin typeface="Consolas" panose="020B0609020204030204" pitchFamily="49" charset="0"/>
                <a:cs typeface="Consolas" panose="020B0609020204030204" pitchFamily="49" charset="0"/>
              </a:rPr>
              <a:t>110</a:t>
            </a:r>
            <a:r>
              <a:rPr lang="zh-CN" altLang="zh-CN" sz="1000" dirty="0">
                <a:solidFill>
                  <a:srgbClr val="000000"/>
                </a:solidFill>
                <a:latin typeface="Consolas" panose="020B0609020204030204" pitchFamily="49" charset="0"/>
                <a:cs typeface="Consolas" panose="020B0609020204030204" pitchFamily="49" charset="0"/>
              </a:rPr>
              <a:t>]</a:t>
            </a:r>
            <a:r>
              <a:rPr lang="en-US" altLang="zh-CN" sz="1000" dirty="0">
                <a:solidFill>
                  <a:srgbClr val="000000"/>
                </a:solidFill>
                <a:latin typeface="Consolas" panose="020B0609020204030204" pitchFamily="49" charset="0"/>
                <a:cs typeface="Consolas" panose="020B0609020204030204" pitchFamily="49" charset="0"/>
              </a:rPr>
              <a:t>,</a:t>
            </a:r>
            <a:r>
              <a:rPr lang="zh-CN" altLang="zh-CN" sz="1000" dirty="0">
                <a:solidFill>
                  <a:srgbClr val="000000"/>
                </a:solidFill>
                <a:latin typeface="Consolas" panose="020B0609020204030204" pitchFamily="49" charset="0"/>
                <a:cs typeface="Consolas" panose="020B0609020204030204" pitchFamily="49" charset="0"/>
              </a:rPr>
              <a:t>i;</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b="1" dirty="0">
                <a:solidFill>
                  <a:srgbClr val="808080"/>
                </a:solidFill>
                <a:latin typeface="Consolas" panose="020B0609020204030204" pitchFamily="49" charset="0"/>
                <a:cs typeface="Consolas" panose="020B0609020204030204" pitchFamily="49" charset="0"/>
              </a:rPr>
              <a:t>int</a:t>
            </a:r>
            <a:r>
              <a:rPr lang="zh-CN" altLang="zh-CN" sz="1000" dirty="0">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main(){</a:t>
            </a:r>
            <a:endParaRPr lang="zh-CN" altLang="zh-CN" sz="1000" dirty="0">
              <a:latin typeface="Consolas" panose="020B0609020204030204" pitchFamily="49" charset="0"/>
              <a:cs typeface="Consolas" panose="020B0609020204030204" pitchFamily="49" charset="0"/>
            </a:endParaRPr>
          </a:p>
          <a:p>
            <a:pPr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cin&gt;&gt;n;</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b="1" dirty="0">
                <a:solidFill>
                  <a:srgbClr val="006699"/>
                </a:solidFill>
                <a:latin typeface="Consolas" panose="020B0609020204030204" pitchFamily="49" charset="0"/>
                <a:cs typeface="Consolas" panose="020B0609020204030204" pitchFamily="49" charset="0"/>
              </a:rPr>
              <a:t>for</a:t>
            </a:r>
            <a:r>
              <a:rPr lang="zh-CN" altLang="zh-CN" sz="1000" dirty="0">
                <a:solidFill>
                  <a:srgbClr val="000000"/>
                </a:solidFill>
                <a:latin typeface="Consolas" panose="020B0609020204030204" pitchFamily="49" charset="0"/>
                <a:cs typeface="Consolas" panose="020B0609020204030204" pitchFamily="49" charset="0"/>
              </a:rPr>
              <a:t>(i=</a:t>
            </a:r>
            <a:r>
              <a:rPr lang="en-US" altLang="zh-CN" sz="1000" dirty="0">
                <a:solidFill>
                  <a:srgbClr val="000000"/>
                </a:solidFill>
                <a:latin typeface="Consolas" panose="020B0609020204030204" pitchFamily="49" charset="0"/>
                <a:cs typeface="Consolas" panose="020B0609020204030204" pitchFamily="49" charset="0"/>
              </a:rPr>
              <a:t>0</a:t>
            </a:r>
            <a:r>
              <a:rPr lang="zh-CN" altLang="zh-CN" sz="1000" dirty="0">
                <a:solidFill>
                  <a:srgbClr val="000000"/>
                </a:solidFill>
                <a:latin typeface="Consolas" panose="020B0609020204030204" pitchFamily="49" charset="0"/>
                <a:cs typeface="Consolas" panose="020B0609020204030204" pitchFamily="49" charset="0"/>
              </a:rPr>
              <a:t>;i&lt;</a:t>
            </a:r>
            <a:r>
              <a:rPr lang="en-US" altLang="zh-CN" sz="1000" dirty="0">
                <a:solidFill>
                  <a:srgbClr val="000000"/>
                </a:solidFill>
                <a:latin typeface="Consolas" panose="020B0609020204030204" pitchFamily="49" charset="0"/>
                <a:cs typeface="Consolas" panose="020B0609020204030204" pitchFamily="49" charset="0"/>
              </a:rPr>
              <a:t>n</a:t>
            </a:r>
            <a:r>
              <a:rPr lang="zh-CN" altLang="zh-CN" sz="1000" dirty="0">
                <a:solidFill>
                  <a:srgbClr val="000000"/>
                </a:solidFill>
                <a:latin typeface="Consolas" panose="020B0609020204030204" pitchFamily="49" charset="0"/>
                <a:cs typeface="Consolas" panose="020B0609020204030204" pitchFamily="49" charset="0"/>
              </a:rPr>
              <a:t>;++i)</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cin&gt;&gt;a[i];</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b="1" dirty="0">
                <a:solidFill>
                  <a:srgbClr val="006699"/>
                </a:solidFill>
                <a:latin typeface="Consolas" panose="020B0609020204030204" pitchFamily="49" charset="0"/>
                <a:cs typeface="Consolas" panose="020B0609020204030204" pitchFamily="49" charset="0"/>
              </a:rPr>
              <a:t>for</a:t>
            </a:r>
            <a:r>
              <a:rPr lang="zh-CN" altLang="zh-CN" sz="1000" dirty="0">
                <a:solidFill>
                  <a:srgbClr val="000000"/>
                </a:solidFill>
                <a:latin typeface="Consolas" panose="020B0609020204030204" pitchFamily="49" charset="0"/>
                <a:cs typeface="Consolas" panose="020B0609020204030204" pitchFamily="49" charset="0"/>
              </a:rPr>
              <a:t>(i=</a:t>
            </a:r>
            <a:r>
              <a:rPr lang="en-US" altLang="zh-CN" sz="1000" dirty="0">
                <a:solidFill>
                  <a:srgbClr val="000000"/>
                </a:solidFill>
                <a:latin typeface="Consolas" panose="020B0609020204030204" pitchFamily="49" charset="0"/>
                <a:cs typeface="Consolas" panose="020B0609020204030204" pitchFamily="49" charset="0"/>
              </a:rPr>
              <a:t>0</a:t>
            </a:r>
            <a:r>
              <a:rPr lang="zh-CN" altLang="zh-CN" sz="1000" dirty="0">
                <a:solidFill>
                  <a:srgbClr val="000000"/>
                </a:solidFill>
                <a:latin typeface="Consolas" panose="020B0609020204030204" pitchFamily="49" charset="0"/>
                <a:cs typeface="Consolas" panose="020B0609020204030204" pitchFamily="49" charset="0"/>
              </a:rPr>
              <a:t>;i&lt;</a:t>
            </a:r>
            <a:r>
              <a:rPr lang="en-US" altLang="zh-CN" sz="1000" dirty="0">
                <a:solidFill>
                  <a:srgbClr val="000000"/>
                </a:solidFill>
                <a:latin typeface="Consolas" panose="020B0609020204030204" pitchFamily="49" charset="0"/>
                <a:cs typeface="Consolas" panose="020B0609020204030204" pitchFamily="49" charset="0"/>
              </a:rPr>
              <a:t>n</a:t>
            </a:r>
            <a:r>
              <a:rPr lang="zh-CN" altLang="zh-CN" sz="1000" dirty="0">
                <a:solidFill>
                  <a:srgbClr val="000000"/>
                </a:solidFill>
                <a:latin typeface="Consolas" panose="020B0609020204030204" pitchFamily="49" charset="0"/>
                <a:cs typeface="Consolas" panose="020B0609020204030204" pitchFamily="49" charset="0"/>
              </a:rPr>
              <a:t>;++i)</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en-US" altLang="zh-CN" sz="1000" dirty="0">
                <a:solidFill>
                  <a:srgbClr val="000000"/>
                </a:solidFill>
                <a:latin typeface="Consolas" panose="020B0609020204030204" pitchFamily="49" charset="0"/>
                <a:cs typeface="Consolas" panose="020B0609020204030204" pitchFamily="49" charset="0"/>
              </a:rPr>
              <a:t>cout&lt;&lt;a[i]&lt;&lt;</a:t>
            </a:r>
            <a:r>
              <a:rPr lang="en-US" altLang="zh-CN" sz="1000" dirty="0">
                <a:solidFill>
                  <a:srgbClr val="008200"/>
                </a:solidFill>
                <a:latin typeface="Consolas" panose="020B0609020204030204" pitchFamily="49" charset="0"/>
                <a:ea typeface="微软雅黑" panose="020B0503020204020204" pitchFamily="34" charset="-122"/>
              </a:rPr>
              <a:t>","</a:t>
            </a:r>
            <a:r>
              <a:rPr lang="zh-CN" altLang="zh-CN" sz="1000" dirty="0">
                <a:solidFill>
                  <a:srgbClr val="000000"/>
                </a:solidFill>
                <a:latin typeface="Consolas" panose="020B0609020204030204" pitchFamily="49" charset="0"/>
                <a:cs typeface="Consolas" panose="020B0609020204030204" pitchFamily="49" charset="0"/>
              </a:rPr>
              <a:t>;</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b="1" dirty="0">
                <a:solidFill>
                  <a:srgbClr val="006699"/>
                </a:solidFill>
                <a:latin typeface="Consolas" panose="020B0609020204030204" pitchFamily="49" charset="0"/>
                <a:cs typeface="Consolas" panose="020B0609020204030204" pitchFamily="49" charset="0"/>
              </a:rPr>
              <a:t>return</a:t>
            </a:r>
            <a:r>
              <a:rPr lang="zh-CN" altLang="zh-CN" sz="1000" dirty="0">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0;</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000000"/>
                </a:solidFill>
                <a:latin typeface="Consolas" panose="020B0609020204030204" pitchFamily="49" charset="0"/>
                <a:cs typeface="Consolas" panose="020B0609020204030204" pitchFamily="49" charset="0"/>
              </a:rPr>
              <a:t>}</a:t>
            </a:r>
            <a:endParaRPr lang="zh-CN" altLang="zh-CN" sz="1000" dirty="0">
              <a:latin typeface="Consolas" panose="020B0609020204030204" pitchFamily="49" charset="0"/>
              <a:cs typeface="Consolas" panose="020B0609020204030204" pitchFamily="49" charset="0"/>
            </a:endParaRPr>
          </a:p>
        </p:txBody>
      </p:sp>
      <p:sp>
        <p:nvSpPr>
          <p:cNvPr id="6" name="文本框 23"/>
          <p:cNvSpPr txBox="1"/>
          <p:nvPr/>
        </p:nvSpPr>
        <p:spPr>
          <a:xfrm>
            <a:off x="678609" y="301567"/>
            <a:ext cx="10634659" cy="707886"/>
          </a:xfrm>
          <a:prstGeom prst="rect">
            <a:avLst/>
          </a:prstGeom>
          <a:noFill/>
        </p:spPr>
        <p:txBody>
          <a:bodyPr wrap="square" rtlCol="0">
            <a:spAutoFit/>
          </a:bodyPr>
          <a:lstStyle/>
          <a:p>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二维数组的输入输出</a:t>
            </a:r>
          </a:p>
        </p:txBody>
      </p:sp>
      <p:sp>
        <p:nvSpPr>
          <p:cNvPr id="8" name="矩形 7"/>
          <p:cNvSpPr>
            <a:spLocks/>
          </p:cNvSpPr>
          <p:nvPr/>
        </p:nvSpPr>
        <p:spPr>
          <a:xfrm>
            <a:off x="3240675" y="1267501"/>
            <a:ext cx="3271565"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二维数组的输入输出</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3" name="内容占位符 2"/>
          <p:cNvSpPr txBox="1">
            <a:spLocks/>
          </p:cNvSpPr>
          <p:nvPr/>
        </p:nvSpPr>
        <p:spPr>
          <a:xfrm>
            <a:off x="3250661" y="3197695"/>
            <a:ext cx="1260965" cy="954106"/>
          </a:xfrm>
          <a:prstGeom prst="rect">
            <a:avLst/>
          </a:prstGeom>
        </p:spPr>
        <p:txBody>
          <a:bodyPr vert="horz" lIns="91440" tIns="45720" rIns="91440" bIns="45720" rtlCol="0">
            <a:noAutofit/>
          </a:bodyPr>
          <a:lstStyle>
            <a:lvl1pPr indent="0" defTabSz="914400">
              <a:lnSpc>
                <a:spcPct val="100000"/>
              </a:lnSpc>
              <a:spcBef>
                <a:spcPts val="0"/>
              </a:spcBef>
              <a:buSzPct val="125000"/>
              <a:buFont typeface="Arial" panose="020B0604020202020204" pitchFamily="34" charset="0"/>
              <a:buNone/>
              <a:defRPr sz="1200">
                <a:solidFill>
                  <a:schemeClr val="bg1"/>
                </a:solidFill>
                <a:latin typeface="微软雅黑" panose="020B0503020204020204" pitchFamily="34" charset="-122"/>
                <a:ea typeface="微软雅黑" panose="020B0503020204020204" pitchFamily="34" charset="-122"/>
                <a:cs typeface="Consolas" panose="020B0609020204030204" pitchFamily="49" charset="0"/>
              </a:defRPr>
            </a:lvl1pPr>
            <a:lvl2pPr marL="685800" indent="-228600" defTabSz="914400">
              <a:lnSpc>
                <a:spcPct val="120000"/>
              </a:lnSpc>
              <a:spcBef>
                <a:spcPts val="500"/>
              </a:spcBef>
              <a:buSzPct val="125000"/>
              <a:buFont typeface="Arial" panose="020B0604020202020204" pitchFamily="34" charset="0"/>
              <a:buChar char="•"/>
              <a:defRPr sz="2000">
                <a:solidFill>
                  <a:schemeClr val="bg1"/>
                </a:solidFill>
              </a:defRPr>
            </a:lvl2pPr>
            <a:lvl3pPr marL="1143000" indent="-228600" defTabSz="914400">
              <a:lnSpc>
                <a:spcPct val="120000"/>
              </a:lnSpc>
              <a:spcBef>
                <a:spcPts val="500"/>
              </a:spcBef>
              <a:buSzPct val="125000"/>
              <a:buFont typeface="Arial" panose="020B0604020202020204" pitchFamily="34" charset="0"/>
              <a:buChar char="•"/>
              <a:defRPr>
                <a:solidFill>
                  <a:schemeClr val="bg1"/>
                </a:solidFill>
              </a:defRPr>
            </a:lvl3pPr>
            <a:lvl4pPr marL="1600200" indent="-228600" defTabSz="914400">
              <a:lnSpc>
                <a:spcPct val="120000"/>
              </a:lnSpc>
              <a:spcBef>
                <a:spcPts val="500"/>
              </a:spcBef>
              <a:buSzPct val="125000"/>
              <a:buFont typeface="Arial" panose="020B0604020202020204" pitchFamily="34" charset="0"/>
              <a:buChar char="•"/>
              <a:defRPr sz="1600">
                <a:solidFill>
                  <a:schemeClr val="bg1"/>
                </a:solidFill>
              </a:defRPr>
            </a:lvl4pPr>
            <a:lvl5pPr marL="2057400" indent="-228600" defTabSz="914400">
              <a:lnSpc>
                <a:spcPct val="120000"/>
              </a:lnSpc>
              <a:spcBef>
                <a:spcPts val="500"/>
              </a:spcBef>
              <a:buSzPct val="125000"/>
              <a:buFont typeface="Arial" panose="020B0604020202020204" pitchFamily="34" charset="0"/>
              <a:buChar char="•"/>
              <a:defRPr sz="1600">
                <a:solidFill>
                  <a:schemeClr val="bg1"/>
                </a:solidFill>
              </a:defRPr>
            </a:lvl5pPr>
            <a:lvl6pPr marL="2514600" indent="-228600" defTabSz="914400">
              <a:lnSpc>
                <a:spcPct val="120000"/>
              </a:lnSpc>
              <a:spcBef>
                <a:spcPts val="500"/>
              </a:spcBef>
              <a:buSzPct val="125000"/>
              <a:buFont typeface="Arial" panose="020B0604020202020204" pitchFamily="34" charset="0"/>
              <a:buChar char="•"/>
              <a:defRPr sz="1400"/>
            </a:lvl6pPr>
            <a:lvl7pPr marL="2971800" indent="-228600" defTabSz="914400">
              <a:lnSpc>
                <a:spcPct val="120000"/>
              </a:lnSpc>
              <a:spcBef>
                <a:spcPts val="500"/>
              </a:spcBef>
              <a:buSzPct val="125000"/>
              <a:buFont typeface="Arial" panose="020B0604020202020204" pitchFamily="34" charset="0"/>
              <a:buChar char="•"/>
              <a:defRPr sz="1400"/>
            </a:lvl7pPr>
            <a:lvl8pPr marL="3429000" indent="-228600" defTabSz="914400">
              <a:lnSpc>
                <a:spcPct val="120000"/>
              </a:lnSpc>
              <a:spcBef>
                <a:spcPts val="500"/>
              </a:spcBef>
              <a:buSzPct val="125000"/>
              <a:buFont typeface="Arial" panose="020B0604020202020204" pitchFamily="34" charset="0"/>
              <a:buChar char="•"/>
              <a:defRPr sz="1400"/>
            </a:lvl8pPr>
            <a:lvl9pPr marL="3886200" indent="-228600" defTabSz="914400">
              <a:lnSpc>
                <a:spcPct val="120000"/>
              </a:lnSpc>
              <a:spcBef>
                <a:spcPts val="500"/>
              </a:spcBef>
              <a:buSzPct val="125000"/>
              <a:buFont typeface="Arial" panose="020B0604020202020204" pitchFamily="34" charset="0"/>
              <a:buChar char="•"/>
              <a:defRPr sz="1400"/>
            </a:lvl9pPr>
          </a:lstStyle>
          <a:p>
            <a:r>
              <a:rPr lang="zh-CN" altLang="en-US" b="1" dirty="0">
                <a:latin typeface="Consolas" panose="020B0609020204030204" pitchFamily="49" charset="0"/>
              </a:rPr>
              <a:t>样例输入</a:t>
            </a:r>
            <a:endParaRPr lang="en-US" altLang="zh-CN" dirty="0">
              <a:latin typeface="Consolas" panose="020B0609020204030204" pitchFamily="49" charset="0"/>
            </a:endParaRPr>
          </a:p>
          <a:p>
            <a:endParaRPr lang="en-US" altLang="zh-CN" sz="800" dirty="0">
              <a:latin typeface="Consolas" panose="020B0609020204030204" pitchFamily="49" charset="0"/>
            </a:endParaRPr>
          </a:p>
          <a:p>
            <a:r>
              <a:rPr lang="en-US" altLang="zh-CN" sz="1000" dirty="0">
                <a:latin typeface="Consolas" panose="020B0609020204030204" pitchFamily="49" charset="0"/>
              </a:rPr>
              <a:t>3 5</a:t>
            </a:r>
          </a:p>
          <a:p>
            <a:r>
              <a:rPr lang="en-US" altLang="zh-CN" sz="1000" dirty="0">
                <a:latin typeface="Consolas" panose="020B0609020204030204" pitchFamily="49" charset="0"/>
              </a:rPr>
              <a:t>1 2 3 4 5</a:t>
            </a:r>
          </a:p>
          <a:p>
            <a:r>
              <a:rPr lang="en-US" altLang="zh-CN" sz="1000" dirty="0">
                <a:latin typeface="Consolas" panose="020B0609020204030204" pitchFamily="49" charset="0"/>
              </a:rPr>
              <a:t>2 3 4 5 6</a:t>
            </a:r>
          </a:p>
          <a:p>
            <a:r>
              <a:rPr lang="en-US" altLang="zh-CN" sz="1000" dirty="0">
                <a:latin typeface="Consolas" panose="020B0609020204030204" pitchFamily="49" charset="0"/>
              </a:rPr>
              <a:t>3 4 5 6 7</a:t>
            </a:r>
            <a:endParaRPr lang="en-US" altLang="zh-CN" dirty="0">
              <a:latin typeface="Consolas" panose="020B0609020204030204" pitchFamily="49" charset="0"/>
            </a:endParaRPr>
          </a:p>
        </p:txBody>
      </p:sp>
      <p:sp>
        <p:nvSpPr>
          <p:cNvPr id="2" name="矩形 1"/>
          <p:cNvSpPr>
            <a:spLocks noGrp="1" noRot="1" noMove="1" noResize="1" noEditPoints="1" noAdjustHandles="1" noChangeArrowheads="1" noChangeShapeType="1"/>
          </p:cNvSpPr>
          <p:nvPr/>
        </p:nvSpPr>
        <p:spPr>
          <a:xfrm>
            <a:off x="4501641" y="3197694"/>
            <a:ext cx="1107677" cy="954107"/>
          </a:xfrm>
          <a:prstGeom prst="rect">
            <a:avLst/>
          </a:prstGeom>
        </p:spPr>
        <p:txBody>
          <a:bodyPr vert="horz" lIns="91440" tIns="45720" rIns="91440" bIns="45720" rtlCol="0">
            <a:noAutofit/>
          </a:bodyPr>
          <a:lstStyle/>
          <a:p>
            <a:pPr defTabSz="914400">
              <a:buSzPct val="125000"/>
            </a:pPr>
            <a:r>
              <a:rPr lang="zh-CN" altLang="en-US" sz="12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样例输出</a:t>
            </a:r>
            <a:endParaRPr lang="en-US" altLang="zh-CN" sz="12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defTabSz="914400">
              <a:buSzPct val="125000"/>
            </a:pPr>
            <a:endParaRPr lang="en-US" altLang="zh-CN" sz="8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defTabSz="914400">
              <a:buSzPct val="125000"/>
            </a:pP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1,2,3,4,5</a:t>
            </a:r>
          </a:p>
          <a:p>
            <a:pPr defTabSz="914400">
              <a:buSzPct val="125000"/>
            </a:pP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2,3,4,5,6</a:t>
            </a:r>
          </a:p>
          <a:p>
            <a:pPr defTabSz="914400">
              <a:buSzPct val="125000"/>
            </a:pP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3,4,5,6,7</a:t>
            </a:r>
          </a:p>
        </p:txBody>
      </p:sp>
      <p:sp>
        <p:nvSpPr>
          <p:cNvPr id="15" name="矩形 14"/>
          <p:cNvSpPr/>
          <p:nvPr/>
        </p:nvSpPr>
        <p:spPr>
          <a:xfrm>
            <a:off x="354200" y="1275589"/>
            <a:ext cx="2206580"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一维数组的输入输出</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6" name="内容占位符 2"/>
          <p:cNvSpPr txBox="1"/>
          <p:nvPr/>
        </p:nvSpPr>
        <p:spPr>
          <a:xfrm>
            <a:off x="357420" y="1614144"/>
            <a:ext cx="2206579" cy="144872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lvl="0" indent="0" defTabSz="457200">
              <a:lnSpc>
                <a:spcPct val="100000"/>
              </a:lnSpc>
              <a:spcBef>
                <a:spcPts val="0"/>
              </a:spcBef>
              <a:buSzTx/>
              <a:buNone/>
            </a:pPr>
            <a:r>
              <a:rPr lang="zh-CN" altLang="en-US" sz="1000" dirty="0">
                <a:latin typeface="Consolas" panose="020B0609020204030204" pitchFamily="49" charset="0"/>
                <a:ea typeface="微软雅黑" panose="020B0503020204020204" pitchFamily="34" charset="-122"/>
                <a:cs typeface="Consolas" panose="020B0609020204030204" pitchFamily="49" charset="0"/>
              </a:rPr>
              <a:t>给定</a:t>
            </a:r>
            <a:r>
              <a:rPr lang="en-US" altLang="zh-CN" sz="1000" dirty="0">
                <a:latin typeface="Consolas" panose="020B0609020204030204" pitchFamily="49" charset="0"/>
                <a:ea typeface="微软雅黑" panose="020B0503020204020204" pitchFamily="34" charset="-122"/>
                <a:cs typeface="Consolas" panose="020B0609020204030204" pitchFamily="49" charset="0"/>
              </a:rPr>
              <a:t>n</a:t>
            </a:r>
            <a:r>
              <a:rPr lang="zh-CN" altLang="en-US" sz="1000" dirty="0">
                <a:latin typeface="Consolas" panose="020B0609020204030204" pitchFamily="49" charset="0"/>
                <a:ea typeface="微软雅黑" panose="020B0503020204020204" pitchFamily="34" charset="-122"/>
                <a:cs typeface="Consolas" panose="020B0609020204030204" pitchFamily="49" charset="0"/>
              </a:rPr>
              <a:t>个数字，并将其输出。</a:t>
            </a:r>
            <a:endParaRPr lang="en-US" altLang="zh-CN" sz="1000" dirty="0">
              <a:latin typeface="Consolas" panose="020B0609020204030204" pitchFamily="49" charset="0"/>
              <a:ea typeface="微软雅黑" panose="020B0503020204020204" pitchFamily="34" charset="-122"/>
              <a:cs typeface="Consolas" panose="020B0609020204030204" pitchFamily="49" charset="0"/>
            </a:endParaRPr>
          </a:p>
          <a:p>
            <a:pPr marL="0" lvl="0" indent="0" defTabSz="457200">
              <a:lnSpc>
                <a:spcPct val="100000"/>
              </a:lnSpc>
              <a:spcBef>
                <a:spcPts val="0"/>
              </a:spcBef>
              <a:buSzTx/>
              <a:buNone/>
            </a:pPr>
            <a:endParaRPr lang="en-US" altLang="zh-CN" sz="8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Font typeface="Arial" panose="020B0604020202020204" pitchFamily="34" charset="0"/>
              <a:buNone/>
            </a:pPr>
            <a:r>
              <a:rPr lang="zh-CN" altLang="en-US" sz="1200" b="1" dirty="0">
                <a:latin typeface="Consolas" panose="020B0609020204030204" pitchFamily="49" charset="0"/>
                <a:ea typeface="微软雅黑" panose="020B0503020204020204" pitchFamily="34" charset="-122"/>
                <a:cs typeface="Consolas" panose="020B0609020204030204" pitchFamily="49" charset="0"/>
              </a:rPr>
              <a:t>输入</a:t>
            </a:r>
            <a:endParaRPr lang="en-US" altLang="zh-CN" sz="8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None/>
            </a:pPr>
            <a:r>
              <a:rPr lang="zh-CN" altLang="en-US" sz="1000" dirty="0">
                <a:latin typeface="Consolas" panose="020B0609020204030204" pitchFamily="49" charset="0"/>
                <a:ea typeface="微软雅黑" panose="020B0503020204020204" pitchFamily="34" charset="-122"/>
                <a:cs typeface="Consolas" panose="020B0609020204030204" pitchFamily="49" charset="0"/>
              </a:rPr>
              <a:t>第一行为一个整数</a:t>
            </a:r>
            <a:r>
              <a:rPr lang="en-US" altLang="zh-CN" sz="1000" dirty="0">
                <a:latin typeface="Consolas" panose="020B0609020204030204" pitchFamily="49" charset="0"/>
                <a:ea typeface="微软雅黑" panose="020B0503020204020204" pitchFamily="34" charset="-122"/>
                <a:cs typeface="Consolas" panose="020B0609020204030204" pitchFamily="49" charset="0"/>
              </a:rPr>
              <a:t>n(1</a:t>
            </a:r>
            <a:r>
              <a:rPr lang="zh-CN" altLang="en-US" sz="1000" dirty="0">
                <a:latin typeface="Consolas" panose="020B0609020204030204" pitchFamily="49" charset="0"/>
                <a:ea typeface="微软雅黑" panose="020B0503020204020204" pitchFamily="34" charset="-122"/>
                <a:cs typeface="Consolas" panose="020B0609020204030204" pitchFamily="49" charset="0"/>
              </a:rPr>
              <a:t>≤</a:t>
            </a:r>
            <a:r>
              <a:rPr lang="en-US" altLang="zh-CN" sz="1000" dirty="0">
                <a:latin typeface="Consolas" panose="020B0609020204030204" pitchFamily="49" charset="0"/>
                <a:ea typeface="微软雅黑" panose="020B0503020204020204" pitchFamily="34" charset="-122"/>
                <a:cs typeface="Consolas" panose="020B0609020204030204" pitchFamily="49" charset="0"/>
              </a:rPr>
              <a:t>n</a:t>
            </a:r>
            <a:r>
              <a:rPr lang="zh-CN" altLang="en-US" sz="1000" dirty="0">
                <a:latin typeface="Consolas" panose="020B0609020204030204" pitchFamily="49" charset="0"/>
                <a:ea typeface="微软雅黑" panose="020B0503020204020204" pitchFamily="34" charset="-122"/>
                <a:cs typeface="Consolas" panose="020B0609020204030204" pitchFamily="49" charset="0"/>
              </a:rPr>
              <a:t>≤</a:t>
            </a:r>
            <a:r>
              <a:rPr lang="en-US" altLang="zh-CN" sz="1000" dirty="0">
                <a:latin typeface="Consolas" panose="020B0609020204030204" pitchFamily="49" charset="0"/>
                <a:ea typeface="微软雅黑" panose="020B0503020204020204" pitchFamily="34" charset="-122"/>
                <a:cs typeface="Consolas" panose="020B0609020204030204" pitchFamily="49" charset="0"/>
              </a:rPr>
              <a:t>100)</a:t>
            </a:r>
            <a:r>
              <a:rPr lang="zh-CN" altLang="en-US" sz="1000" dirty="0">
                <a:latin typeface="Consolas" panose="020B0609020204030204" pitchFamily="49" charset="0"/>
                <a:ea typeface="微软雅黑" panose="020B0503020204020204" pitchFamily="34" charset="-122"/>
                <a:cs typeface="Consolas" panose="020B0609020204030204" pitchFamily="49" charset="0"/>
              </a:rPr>
              <a:t>；第二行为</a:t>
            </a:r>
            <a:r>
              <a:rPr lang="en-US" altLang="zh-CN" sz="1000" dirty="0">
                <a:latin typeface="Consolas" panose="020B0609020204030204" pitchFamily="49" charset="0"/>
                <a:ea typeface="微软雅黑" panose="020B0503020204020204" pitchFamily="34" charset="-122"/>
                <a:cs typeface="Consolas" panose="020B0609020204030204" pitchFamily="49" charset="0"/>
              </a:rPr>
              <a:t>n</a:t>
            </a:r>
            <a:r>
              <a:rPr lang="zh-CN" altLang="en-US" sz="1000" dirty="0">
                <a:latin typeface="Consolas" panose="020B0609020204030204" pitchFamily="49" charset="0"/>
                <a:ea typeface="微软雅黑" panose="020B0503020204020204" pitchFamily="34" charset="-122"/>
                <a:cs typeface="Consolas" panose="020B0609020204030204" pitchFamily="49" charset="0"/>
              </a:rPr>
              <a:t>个整数</a:t>
            </a:r>
            <a:r>
              <a:rPr lang="en-US" altLang="zh-CN" sz="1000" dirty="0">
                <a:latin typeface="Consolas" panose="020B0609020204030204" pitchFamily="49" charset="0"/>
                <a:ea typeface="微软雅黑" panose="020B0503020204020204" pitchFamily="34" charset="-122"/>
                <a:cs typeface="Consolas" panose="020B0609020204030204" pitchFamily="49" charset="0"/>
              </a:rPr>
              <a:t>(0</a:t>
            </a:r>
            <a:r>
              <a:rPr lang="zh-CN" altLang="en-US" sz="1000" dirty="0">
                <a:latin typeface="Consolas" panose="020B0609020204030204" pitchFamily="49" charset="0"/>
                <a:ea typeface="微软雅黑" panose="020B0503020204020204" pitchFamily="34" charset="-122"/>
                <a:cs typeface="Consolas" panose="020B0609020204030204" pitchFamily="49" charset="0"/>
              </a:rPr>
              <a:t>≤每个整数≤</a:t>
            </a:r>
            <a:r>
              <a:rPr lang="en-US" altLang="zh-CN" sz="1000" dirty="0">
                <a:latin typeface="Consolas" panose="020B0609020204030204" pitchFamily="49" charset="0"/>
                <a:ea typeface="微软雅黑" panose="020B0503020204020204" pitchFamily="34" charset="-122"/>
                <a:cs typeface="Consolas" panose="020B0609020204030204" pitchFamily="49" charset="0"/>
              </a:rPr>
              <a:t>100)</a:t>
            </a:r>
            <a:r>
              <a:rPr lang="zh-CN" altLang="en-US" sz="1000" dirty="0">
                <a:latin typeface="Consolas" panose="020B0609020204030204" pitchFamily="49" charset="0"/>
                <a:ea typeface="微软雅黑" panose="020B0503020204020204" pitchFamily="34" charset="-122"/>
                <a:cs typeface="Consolas" panose="020B0609020204030204" pitchFamily="49" charset="0"/>
              </a:rPr>
              <a:t>。</a:t>
            </a:r>
            <a:endParaRPr lang="en-US" altLang="zh-CN" sz="10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Font typeface="Arial" panose="020B0604020202020204" pitchFamily="34" charset="0"/>
              <a:buNone/>
            </a:pPr>
            <a:endParaRPr lang="en-US" altLang="zh-CN" sz="8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None/>
            </a:pPr>
            <a:r>
              <a:rPr lang="zh-CN" altLang="en-US" sz="1200" b="1" dirty="0">
                <a:latin typeface="Consolas" panose="020B0609020204030204" pitchFamily="49" charset="0"/>
                <a:ea typeface="微软雅黑" panose="020B0503020204020204" pitchFamily="34" charset="-122"/>
                <a:cs typeface="Consolas" panose="020B0609020204030204" pitchFamily="49" charset="0"/>
              </a:rPr>
              <a:t>输出</a:t>
            </a:r>
            <a:endParaRPr lang="en-US" altLang="zh-CN" sz="8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None/>
            </a:pPr>
            <a:r>
              <a:rPr lang="zh-CN" altLang="en-US" sz="1000" dirty="0">
                <a:latin typeface="Consolas" panose="020B0609020204030204" pitchFamily="49" charset="0"/>
                <a:ea typeface="微软雅黑" panose="020B0503020204020204" pitchFamily="34" charset="-122"/>
                <a:cs typeface="Consolas" panose="020B0609020204030204" pitchFamily="49" charset="0"/>
              </a:rPr>
              <a:t>一行，依次输出</a:t>
            </a:r>
            <a:r>
              <a:rPr lang="en-US" altLang="zh-CN" sz="1000" dirty="0">
                <a:latin typeface="Consolas" panose="020B0609020204030204" pitchFamily="49" charset="0"/>
                <a:ea typeface="微软雅黑" panose="020B0503020204020204" pitchFamily="34" charset="-122"/>
                <a:cs typeface="Consolas" panose="020B0609020204030204" pitchFamily="49" charset="0"/>
              </a:rPr>
              <a:t>n</a:t>
            </a:r>
            <a:r>
              <a:rPr lang="zh-CN" altLang="en-US" sz="1000" dirty="0">
                <a:latin typeface="Consolas" panose="020B0609020204030204" pitchFamily="49" charset="0"/>
                <a:ea typeface="微软雅黑" panose="020B0503020204020204" pitchFamily="34" charset="-122"/>
                <a:cs typeface="Consolas" panose="020B0609020204030204" pitchFamily="49" charset="0"/>
              </a:rPr>
              <a:t>个数字，每两个数字之间有一个逗号，行尾无逗号。</a:t>
            </a:r>
            <a:endParaRPr lang="en-US" altLang="zh-CN" sz="1000" dirty="0">
              <a:latin typeface="Consolas" panose="020B0609020204030204" pitchFamily="49" charset="0"/>
              <a:ea typeface="微软雅黑" panose="020B0503020204020204" pitchFamily="34" charset="-122"/>
              <a:cs typeface="Consolas" panose="020B0609020204030204" pitchFamily="49" charset="0"/>
            </a:endParaRPr>
          </a:p>
        </p:txBody>
      </p:sp>
      <p:sp>
        <p:nvSpPr>
          <p:cNvPr id="3" name="矩形 2"/>
          <p:cNvSpPr/>
          <p:nvPr/>
        </p:nvSpPr>
        <p:spPr>
          <a:xfrm>
            <a:off x="1040841" y="5845991"/>
            <a:ext cx="1524000" cy="49499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802841" y="6340989"/>
            <a:ext cx="1220697" cy="215444"/>
          </a:xfrm>
          <a:prstGeom prst="rect">
            <a:avLst/>
          </a:prstGeom>
        </p:spPr>
        <p:txBody>
          <a:bodyPr wrap="square">
            <a:spAutoFit/>
          </a:bodyPr>
          <a:lstStyle/>
          <a:p>
            <a:r>
              <a:rPr lang="zh-CN" altLang="en-US" sz="8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行尾不输出逗号的技巧</a:t>
            </a:r>
          </a:p>
        </p:txBody>
      </p:sp>
      <p:graphicFrame>
        <p:nvGraphicFramePr>
          <p:cNvPr id="24" name="表格 23"/>
          <p:cNvGraphicFramePr>
            <a:graphicFrameLocks noGrp="1"/>
          </p:cNvGraphicFramePr>
          <p:nvPr>
            <p:custDataLst>
              <p:tags r:id="rId1"/>
            </p:custDataLst>
          </p:nvPr>
        </p:nvGraphicFramePr>
        <p:xfrm>
          <a:off x="6515459" y="1637116"/>
          <a:ext cx="1804202" cy="5105633"/>
        </p:xfrm>
        <a:graphic>
          <a:graphicData uri="http://schemas.openxmlformats.org/drawingml/2006/table">
            <a:tbl>
              <a:tblPr/>
              <a:tblGrid>
                <a:gridCol w="526632">
                  <a:extLst>
                    <a:ext uri="{9D8B030D-6E8A-4147-A177-3AD203B41FA5}">
                      <a16:colId xmlns:a16="http://schemas.microsoft.com/office/drawing/2014/main" val="20000"/>
                    </a:ext>
                  </a:extLst>
                </a:gridCol>
                <a:gridCol w="750938">
                  <a:extLst>
                    <a:ext uri="{9D8B030D-6E8A-4147-A177-3AD203B41FA5}">
                      <a16:colId xmlns:a16="http://schemas.microsoft.com/office/drawing/2014/main" val="20001"/>
                    </a:ext>
                  </a:extLst>
                </a:gridCol>
                <a:gridCol w="526632">
                  <a:extLst>
                    <a:ext uri="{9D8B030D-6E8A-4147-A177-3AD203B41FA5}">
                      <a16:colId xmlns:a16="http://schemas.microsoft.com/office/drawing/2014/main" val="20002"/>
                    </a:ext>
                  </a:extLst>
                </a:gridCol>
              </a:tblGrid>
              <a:tr h="160915">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a[0][0]</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1</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160915">
                <a:tc>
                  <a:txBody>
                    <a:bodyPr/>
                    <a:lstStyle/>
                    <a:p>
                      <a:pPr algn="r" fontAlgn="ctr"/>
                      <a:endParaRPr lang="zh-CN" altLang="en-US" sz="800" b="0" i="0" u="none" strike="noStrike">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a[0][1]</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2</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160915">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a[0][2]</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3</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160915">
                <a:tc rowSpan="2">
                  <a:txBody>
                    <a:bodyPr/>
                    <a:lstStyle/>
                    <a:p>
                      <a:pPr algn="r" fontAlgn="ctr"/>
                      <a:r>
                        <a:rPr lang="en-US" sz="800" b="0" i="0" u="none" strike="noStrike" dirty="0">
                          <a:solidFill>
                            <a:srgbClr val="000000"/>
                          </a:solidFill>
                          <a:effectLst/>
                          <a:latin typeface="Consolas" panose="020B0609020204030204" pitchFamily="49" charset="0"/>
                          <a:ea typeface="等线" panose="02010600030101010101" pitchFamily="2" charset="-122"/>
                        </a:rPr>
                        <a:t>a[0]</a:t>
                      </a: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a[0][3]</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4</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160915">
                <a:tc vMerge="1">
                  <a:txBody>
                    <a:bodyPr/>
                    <a:lstStyle/>
                    <a:p>
                      <a:endParaRPr lang="zh-CN"/>
                    </a:p>
                  </a:txBody>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a[0][4]</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5</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r h="160915">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a[0][5]</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60915">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60915">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a[0][109]</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60915">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a[1][0]</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2</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8"/>
                  </a:ext>
                </a:extLst>
              </a:tr>
              <a:tr h="160915">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a[1][1]</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3</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9"/>
                  </a:ext>
                </a:extLst>
              </a:tr>
              <a:tr h="160915">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a[1][2]</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4</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0"/>
                  </a:ext>
                </a:extLst>
              </a:tr>
              <a:tr h="160915">
                <a:tc rowSpan="2">
                  <a:txBody>
                    <a:bodyPr/>
                    <a:lstStyle/>
                    <a:p>
                      <a:pPr algn="r" fontAlgn="ctr"/>
                      <a:r>
                        <a:rPr lang="en-US" sz="800" b="0" i="0" u="none" strike="noStrike" dirty="0">
                          <a:solidFill>
                            <a:srgbClr val="000000"/>
                          </a:solidFill>
                          <a:effectLst/>
                          <a:latin typeface="Consolas" panose="020B0609020204030204" pitchFamily="49" charset="0"/>
                          <a:ea typeface="等线" panose="02010600030101010101" pitchFamily="2" charset="-122"/>
                        </a:rPr>
                        <a:t>a[1]</a:t>
                      </a: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a[1][3]</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5</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1"/>
                  </a:ext>
                </a:extLst>
              </a:tr>
              <a:tr h="160915">
                <a:tc vMerge="1">
                  <a:txBody>
                    <a:bodyPr/>
                    <a:lstStyle/>
                    <a:p>
                      <a:endParaRPr lang="zh-CN"/>
                    </a:p>
                  </a:txBody>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a[1][4]</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6</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2"/>
                  </a:ext>
                </a:extLst>
              </a:tr>
              <a:tr h="160915">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a[1][5]</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60915">
                <a:tc>
                  <a:txBody>
                    <a:bodyPr/>
                    <a:lstStyle/>
                    <a:p>
                      <a:pPr algn="r" fontAlgn="ctr"/>
                      <a:endParaRPr lang="zh-CN" altLang="en-US" sz="800" b="0" i="0" u="none" strike="noStrike">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60915">
                <a:tc>
                  <a:txBody>
                    <a:bodyPr/>
                    <a:lstStyle/>
                    <a:p>
                      <a:pPr algn="r" fontAlgn="ctr"/>
                      <a:endParaRPr lang="zh-CN" altLang="en-US" sz="800" b="0" i="0" u="none" strike="noStrike">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a[1][109]</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53601">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a[2][0]</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3</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6"/>
                  </a:ext>
                </a:extLst>
              </a:tr>
              <a:tr h="146287">
                <a:tc>
                  <a:txBody>
                    <a:bodyPr/>
                    <a:lstStyle/>
                    <a:p>
                      <a:pPr algn="r" fontAlgn="ctr"/>
                      <a:endParaRPr lang="zh-CN" altLang="en-US" sz="800" b="0" i="0" u="none" strike="noStrike">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a[2][1]</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4</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7"/>
                  </a:ext>
                </a:extLst>
              </a:tr>
              <a:tr h="146287">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a[2][2]</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5</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8"/>
                  </a:ext>
                </a:extLst>
              </a:tr>
              <a:tr h="146287">
                <a:tc rowSpan="2">
                  <a:txBody>
                    <a:bodyPr/>
                    <a:lstStyle/>
                    <a:p>
                      <a:pPr algn="r" fontAlgn="ctr"/>
                      <a:r>
                        <a:rPr lang="en-US" sz="800" b="0" i="0" u="none" strike="noStrike" dirty="0">
                          <a:solidFill>
                            <a:srgbClr val="000000"/>
                          </a:solidFill>
                          <a:effectLst/>
                          <a:latin typeface="Consolas" panose="020B0609020204030204" pitchFamily="49" charset="0"/>
                          <a:ea typeface="等线" panose="02010600030101010101" pitchFamily="2" charset="-122"/>
                        </a:rPr>
                        <a:t>a[2]</a:t>
                      </a: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a[2][3]</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6</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9"/>
                  </a:ext>
                </a:extLst>
              </a:tr>
              <a:tr h="146287">
                <a:tc vMerge="1">
                  <a:txBody>
                    <a:bodyPr/>
                    <a:lstStyle/>
                    <a:p>
                      <a:endParaRPr lang="zh-CN"/>
                    </a:p>
                  </a:txBody>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a[2][4]</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7</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20"/>
                  </a:ext>
                </a:extLst>
              </a:tr>
              <a:tr h="146287">
                <a:tc>
                  <a:txBody>
                    <a:bodyPr/>
                    <a:lstStyle/>
                    <a:p>
                      <a:pPr algn="r" fontAlgn="ctr"/>
                      <a:endParaRPr lang="zh-CN" altLang="en-US" sz="800" b="0" i="0" u="none" strike="noStrike">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a[2][5]</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146287">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153670">
                <a:tc>
                  <a:txBody>
                    <a:bodyPr/>
                    <a:lstStyle/>
                    <a:p>
                      <a:pPr algn="r" fontAlgn="ctr"/>
                      <a:endParaRPr lang="zh-CN" altLang="en-US" sz="800" b="0" i="0" u="none" strike="noStrike">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a[2][109]</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160915">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a:t>
                      </a:r>
                    </a:p>
                  </a:txBody>
                  <a:tcPr marL="7314" marR="7314" marT="7314" marB="0" anchor="ctr">
                    <a:lnL>
                      <a:noFill/>
                    </a:lnL>
                    <a:lnR>
                      <a:noFill/>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a:t>
                      </a:r>
                    </a:p>
                  </a:txBody>
                  <a:tcPr marL="7314" marR="7314" marT="7314"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r h="153601">
                <a:tc>
                  <a:txBody>
                    <a:bodyPr/>
                    <a:lstStyle/>
                    <a:p>
                      <a:pPr algn="r" fontAlgn="ctr"/>
                      <a:endParaRPr lang="zh-CN" altLang="en-US" sz="800" b="0" i="0" u="none" strike="noStrike">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a[109][0]</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146287">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a[109][1]</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146685">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a:solidFill>
                            <a:srgbClr val="000000"/>
                          </a:solidFill>
                          <a:effectLst/>
                          <a:latin typeface="Consolas" panose="020B0609020204030204" pitchFamily="49" charset="0"/>
                          <a:ea typeface="等线" panose="02010600030101010101" pitchFamily="2" charset="-122"/>
                        </a:rPr>
                        <a:t>a[109][2]</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7"/>
                  </a:ext>
                </a:extLst>
              </a:tr>
              <a:tr h="146050">
                <a:tc rowSpan="2">
                  <a:txBody>
                    <a:bodyPr/>
                    <a:lstStyle/>
                    <a:p>
                      <a:pPr algn="r" fontAlgn="ctr"/>
                      <a:r>
                        <a:rPr lang="en-US" sz="800" b="0" i="0" u="none" strike="noStrike" dirty="0">
                          <a:solidFill>
                            <a:srgbClr val="000000"/>
                          </a:solidFill>
                          <a:effectLst/>
                          <a:latin typeface="Consolas" panose="020B0609020204030204" pitchFamily="49" charset="0"/>
                          <a:ea typeface="等线" panose="02010600030101010101" pitchFamily="2" charset="-122"/>
                        </a:rPr>
                        <a:t>a[109]</a:t>
                      </a: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a[109][3]</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8"/>
                  </a:ext>
                </a:extLst>
              </a:tr>
              <a:tr h="146287">
                <a:tc vMerge="1">
                  <a:txBody>
                    <a:bodyPr/>
                    <a:lstStyle/>
                    <a:p>
                      <a:endParaRPr lang="zh-CN"/>
                    </a:p>
                  </a:txBody>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a[109][4]</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9"/>
                  </a:ext>
                </a:extLst>
              </a:tr>
              <a:tr h="146287">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a[109][5]</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
                  </a:ext>
                </a:extLst>
              </a:tr>
              <a:tr h="146287">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a:solidFill>
                            <a:srgbClr val="000000"/>
                          </a:solidFill>
                          <a:effectLst/>
                          <a:latin typeface="Consolas" panose="020B0609020204030204" pitchFamily="49" charset="0"/>
                          <a:ea typeface="等线" panose="02010600030101010101" pitchFamily="2" charset="-122"/>
                        </a:rPr>
                        <a:t>……</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1"/>
                  </a:ext>
                </a:extLst>
              </a:tr>
              <a:tr h="153601">
                <a:tc>
                  <a:txBody>
                    <a:bodyPr/>
                    <a:lstStyle/>
                    <a:p>
                      <a:pPr algn="r" fontAlgn="ctr"/>
                      <a:endParaRPr lang="zh-CN" altLang="en-US" sz="800" b="0" i="0" u="none" strike="noStrike" dirty="0">
                        <a:solidFill>
                          <a:srgbClr val="000000"/>
                        </a:solidFill>
                        <a:effectLst/>
                        <a:latin typeface="Consolas" panose="020B0609020204030204" pitchFamily="49" charset="0"/>
                        <a:ea typeface="等线" panose="02010600030101010101" pitchFamily="2" charset="-122"/>
                      </a:endParaRPr>
                    </a:p>
                  </a:txBody>
                  <a:tcPr marL="7314" marR="7314" marT="7314" marB="0" anchor="ctr">
                    <a:lnL>
                      <a:noFill/>
                    </a:lnL>
                    <a:lnR>
                      <a:noFill/>
                    </a:lnR>
                    <a:lnT>
                      <a:noFill/>
                    </a:lnT>
                    <a:lnB>
                      <a:noFill/>
                    </a:lnB>
                  </a:tcPr>
                </a:tc>
                <a:tc>
                  <a:txBody>
                    <a:bodyPr/>
                    <a:lstStyle/>
                    <a:p>
                      <a:pPr algn="ctr" fontAlgn="ctr"/>
                      <a:r>
                        <a:rPr lang="en-US" sz="800" b="0" i="0" u="none" strike="noStrike" dirty="0">
                          <a:solidFill>
                            <a:srgbClr val="000000"/>
                          </a:solidFill>
                          <a:effectLst/>
                          <a:latin typeface="Consolas" panose="020B0609020204030204" pitchFamily="49" charset="0"/>
                          <a:ea typeface="等线" panose="02010600030101010101" pitchFamily="2" charset="-122"/>
                        </a:rPr>
                        <a:t>a[109][109]</a:t>
                      </a:r>
                    </a:p>
                  </a:txBody>
                  <a:tcPr marL="7314" marR="7314" marT="7314" marB="0" anchor="ctr">
                    <a:lnL>
                      <a:noFill/>
                    </a:lnL>
                    <a:lnR w="190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800" b="0" i="0" u="none" strike="noStrike" dirty="0">
                          <a:solidFill>
                            <a:srgbClr val="000000"/>
                          </a:solidFill>
                          <a:effectLst/>
                          <a:latin typeface="Consolas" panose="020B0609020204030204" pitchFamily="49" charset="0"/>
                          <a:ea typeface="等线" panose="02010600030101010101" pitchFamily="2" charset="-122"/>
                        </a:rPr>
                        <a:t>0</a:t>
                      </a:r>
                    </a:p>
                  </a:txBody>
                  <a:tcPr marL="7314" marR="7314" marT="7314"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2"/>
                  </a:ext>
                </a:extLst>
              </a:tr>
            </a:tbl>
          </a:graphicData>
        </a:graphic>
      </p:graphicFrame>
      <p:graphicFrame>
        <p:nvGraphicFramePr>
          <p:cNvPr id="29" name="表格 28"/>
          <p:cNvGraphicFramePr>
            <a:graphicFrameLocks noGrp="1"/>
          </p:cNvGraphicFramePr>
          <p:nvPr/>
        </p:nvGraphicFramePr>
        <p:xfrm>
          <a:off x="8674711" y="1596020"/>
          <a:ext cx="3162300" cy="1466850"/>
        </p:xfrm>
        <a:graphic>
          <a:graphicData uri="http://schemas.openxmlformats.org/drawingml/2006/table">
            <a:tbl>
              <a:tblPr/>
              <a:tblGrid>
                <a:gridCol w="317500">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55600">
                  <a:extLst>
                    <a:ext uri="{9D8B030D-6E8A-4147-A177-3AD203B41FA5}">
                      <a16:colId xmlns:a16="http://schemas.microsoft.com/office/drawing/2014/main" val="20003"/>
                    </a:ext>
                  </a:extLst>
                </a:gridCol>
                <a:gridCol w="355600">
                  <a:extLst>
                    <a:ext uri="{9D8B030D-6E8A-4147-A177-3AD203B41FA5}">
                      <a16:colId xmlns:a16="http://schemas.microsoft.com/office/drawing/2014/main" val="20004"/>
                    </a:ext>
                  </a:extLst>
                </a:gridCol>
                <a:gridCol w="355600">
                  <a:extLst>
                    <a:ext uri="{9D8B030D-6E8A-4147-A177-3AD203B41FA5}">
                      <a16:colId xmlns:a16="http://schemas.microsoft.com/office/drawing/2014/main" val="20005"/>
                    </a:ext>
                  </a:extLst>
                </a:gridCol>
                <a:gridCol w="355600">
                  <a:extLst>
                    <a:ext uri="{9D8B030D-6E8A-4147-A177-3AD203B41FA5}">
                      <a16:colId xmlns:a16="http://schemas.microsoft.com/office/drawing/2014/main" val="20006"/>
                    </a:ext>
                  </a:extLst>
                </a:gridCol>
                <a:gridCol w="355600">
                  <a:extLst>
                    <a:ext uri="{9D8B030D-6E8A-4147-A177-3AD203B41FA5}">
                      <a16:colId xmlns:a16="http://schemas.microsoft.com/office/drawing/2014/main" val="20007"/>
                    </a:ext>
                  </a:extLst>
                </a:gridCol>
                <a:gridCol w="355600">
                  <a:extLst>
                    <a:ext uri="{9D8B030D-6E8A-4147-A177-3AD203B41FA5}">
                      <a16:colId xmlns:a16="http://schemas.microsoft.com/office/drawing/2014/main" val="20008"/>
                    </a:ext>
                  </a:extLst>
                </a:gridCol>
              </a:tblGrid>
              <a:tr h="209550">
                <a:tc>
                  <a:txBody>
                    <a:bodyPr/>
                    <a:lstStyle/>
                    <a:p>
                      <a:pPr algn="ctr" fontAlgn="ctr"/>
                      <a:endParaRPr lang="zh-CN" altLang="en-US" sz="1000" b="0" i="0" u="none" strike="noStrike" dirty="0">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1</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2</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3</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4</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5</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109</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9550">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9550">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1</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9550">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2</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9550">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3</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9550">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9550">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109</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0" name="矩形 29"/>
          <p:cNvSpPr/>
          <p:nvPr/>
        </p:nvSpPr>
        <p:spPr>
          <a:xfrm>
            <a:off x="7074254" y="1271136"/>
            <a:ext cx="1415772" cy="242054"/>
          </a:xfrm>
          <a:prstGeom prst="rect">
            <a:avLst/>
          </a:prstGeom>
        </p:spPr>
        <p:txBody>
          <a:bodyPr wrap="none">
            <a:spAutoFit/>
          </a:bodyPr>
          <a:lstStyle/>
          <a:p>
            <a:pPr>
              <a:lnSpc>
                <a:spcPct val="80000"/>
              </a:lnSpc>
              <a:spcBef>
                <a:spcPts val="1000"/>
              </a:spcBef>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样例输入在内存中</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1" name="矩形 30"/>
          <p:cNvSpPr/>
          <p:nvPr/>
        </p:nvSpPr>
        <p:spPr>
          <a:xfrm>
            <a:off x="9163254" y="1271136"/>
            <a:ext cx="2185214" cy="242054"/>
          </a:xfrm>
          <a:prstGeom prst="rect">
            <a:avLst/>
          </a:prstGeom>
        </p:spPr>
        <p:txBody>
          <a:bodyPr wrap="none">
            <a:spAutoFit/>
          </a:bodyPr>
          <a:lstStyle/>
          <a:p>
            <a:pPr>
              <a:lnSpc>
                <a:spcPct val="80000"/>
              </a:lnSpc>
              <a:spcBef>
                <a:spcPts val="1000"/>
              </a:spcBef>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样例输入在内存中用矩阵表示</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2" name="矩形 31"/>
          <p:cNvSpPr/>
          <p:nvPr/>
        </p:nvSpPr>
        <p:spPr>
          <a:xfrm>
            <a:off x="8674735" y="3764915"/>
            <a:ext cx="3365500" cy="1578610"/>
          </a:xfrm>
          <a:prstGeom prst="rect">
            <a:avLst/>
          </a:prstGeom>
          <a:solidFill>
            <a:srgbClr val="FFFFFF">
              <a:alpha val="69804"/>
            </a:srgbClr>
          </a:solidFill>
        </p:spPr>
        <p:txBody>
          <a:bodyPr wrap="square">
            <a:spAutoFit/>
          </a:bodyPr>
          <a:lstStyle/>
          <a:p>
            <a:pPr marL="180975" indent="-180975" defTabSz="914400" eaLnBrk="0" fontAlgn="base" hangingPunct="0">
              <a:spcBef>
                <a:spcPts val="1000"/>
              </a:spcBef>
              <a:spcAft>
                <a:spcPct val="0"/>
              </a:spcAft>
              <a:buFont typeface="Arial" panose="020B0604020202020204" pitchFamily="34" charset="0"/>
              <a:buChar char="•"/>
            </a:pP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对第二维，输入的</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m</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个数字保存在数组的</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0</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到</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m-1</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下标中，后续只使用数组的</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0</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到</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m-1</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下标的部分，其余下标都不使用</a:t>
            </a:r>
            <a:endPar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marL="180975" indent="-180975" defTabSz="914400" eaLnBrk="0" fontAlgn="base" hangingPunct="0">
              <a:spcBef>
                <a:spcPts val="1000"/>
              </a:spcBef>
              <a:spcAft>
                <a:spcPct val="0"/>
              </a:spcAft>
              <a:buFont typeface="Arial" panose="020B0604020202020204" pitchFamily="34" charset="0"/>
              <a:buChar char="•"/>
            </a:pP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对第一维，输入的</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n</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组数字保存在数组的</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0</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到</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n-1</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下标中，后续只使用数组的</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0</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到</a:t>
            </a: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n-1</a:t>
            </a: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下标的部分，其余下标都不使用</a:t>
            </a:r>
          </a:p>
          <a:p>
            <a:pPr marL="180975" indent="-180975" defTabSz="914400" eaLnBrk="0" fontAlgn="base" hangingPunct="0">
              <a:spcBef>
                <a:spcPts val="1000"/>
              </a:spcBef>
              <a:spcAft>
                <a:spcPct val="0"/>
              </a:spcAft>
              <a:buFont typeface="Arial" panose="020B0604020202020204" pitchFamily="34" charset="0"/>
              <a:buChar char="•"/>
            </a:pPr>
            <a:r>
              <a:rPr lang="zh-CN" altLang="en-US" sz="1000" dirty="0">
                <a:solidFill>
                  <a:schemeClr val="bg1"/>
                </a:solidFill>
                <a:latin typeface="Consolas" panose="020B0609020204030204" pitchFamily="49" charset="0"/>
                <a:ea typeface="微软雅黑" panose="020B0503020204020204" pitchFamily="34" charset="-122"/>
                <a:cs typeface="Consolas" panose="020B0609020204030204" pitchFamily="49" charset="0"/>
                <a:sym typeface="+mn-ea"/>
              </a:rPr>
              <a:t>假如数组大小为110，但只输入了m个数字，那么循环体的执行次数是m而不是110</a:t>
            </a:r>
            <a:endPar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3" name="矩形 32"/>
          <p:cNvSpPr/>
          <p:nvPr/>
        </p:nvSpPr>
        <p:spPr>
          <a:xfrm>
            <a:off x="8674711" y="3429000"/>
            <a:ext cx="2016735"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注意</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7" name="内容占位符 2"/>
          <p:cNvSpPr>
            <a:spLocks noGrp="1"/>
          </p:cNvSpPr>
          <p:nvPr>
            <p:ph idx="1"/>
          </p:nvPr>
        </p:nvSpPr>
        <p:spPr>
          <a:xfrm>
            <a:off x="3245989" y="1608277"/>
            <a:ext cx="3271565" cy="1589418"/>
          </a:xfrm>
        </p:spPr>
        <p:txBody>
          <a:bodyPr vert="horz" lIns="91440" tIns="45720" rIns="91440" bIns="45720" rtlCol="0">
            <a:noAutofit/>
          </a:bodyPr>
          <a:lstStyle/>
          <a:p>
            <a:pPr marL="0" lvl="0" indent="0" defTabSz="457200">
              <a:lnSpc>
                <a:spcPct val="100000"/>
              </a:lnSpc>
              <a:spcBef>
                <a:spcPts val="0"/>
              </a:spcBef>
              <a:buSzTx/>
              <a:buNone/>
            </a:pPr>
            <a:r>
              <a:rPr lang="zh-CN" altLang="en-US" sz="1000" dirty="0">
                <a:latin typeface="Consolas" panose="020B0609020204030204" pitchFamily="49" charset="0"/>
                <a:ea typeface="微软雅黑" panose="020B0503020204020204" pitchFamily="34" charset="-122"/>
                <a:cs typeface="Consolas" panose="020B0609020204030204" pitchFamily="49" charset="0"/>
              </a:rPr>
              <a:t>给定一个</a:t>
            </a:r>
            <a:r>
              <a:rPr lang="en-US" altLang="zh-CN" sz="1000" dirty="0" err="1">
                <a:latin typeface="Consolas" panose="020B0609020204030204" pitchFamily="49" charset="0"/>
                <a:ea typeface="微软雅黑" panose="020B0503020204020204" pitchFamily="34" charset="-122"/>
                <a:cs typeface="Consolas" panose="020B0609020204030204" pitchFamily="49" charset="0"/>
              </a:rPr>
              <a:t>n×m</a:t>
            </a:r>
            <a:r>
              <a:rPr lang="zh-CN" altLang="en-US" sz="1000" dirty="0">
                <a:latin typeface="Consolas" panose="020B0609020204030204" pitchFamily="49" charset="0"/>
                <a:ea typeface="微软雅黑" panose="020B0503020204020204" pitchFamily="34" charset="-122"/>
                <a:cs typeface="Consolas" panose="020B0609020204030204" pitchFamily="49" charset="0"/>
              </a:rPr>
              <a:t>的矩阵，并将其输出。</a:t>
            </a:r>
            <a:endParaRPr lang="en-US" altLang="zh-CN" sz="1000" dirty="0">
              <a:latin typeface="Consolas" panose="020B0609020204030204" pitchFamily="49" charset="0"/>
              <a:ea typeface="微软雅黑" panose="020B0503020204020204" pitchFamily="34" charset="-122"/>
              <a:cs typeface="Consolas" panose="020B0609020204030204" pitchFamily="49" charset="0"/>
            </a:endParaRPr>
          </a:p>
          <a:p>
            <a:pPr marL="0" lvl="0" indent="0" defTabSz="457200">
              <a:lnSpc>
                <a:spcPct val="100000"/>
              </a:lnSpc>
              <a:spcBef>
                <a:spcPts val="0"/>
              </a:spcBef>
              <a:buSzTx/>
              <a:buNone/>
            </a:pPr>
            <a:endParaRPr lang="en-US" altLang="zh-CN" sz="8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None/>
            </a:pPr>
            <a:r>
              <a:rPr lang="zh-CN" altLang="en-US" sz="1200" b="1" dirty="0">
                <a:latin typeface="Consolas" panose="020B0609020204030204" pitchFamily="49" charset="0"/>
                <a:ea typeface="微软雅黑" panose="020B0503020204020204" pitchFamily="34" charset="-122"/>
                <a:cs typeface="Consolas" panose="020B0609020204030204" pitchFamily="49" charset="0"/>
              </a:rPr>
              <a:t>输入</a:t>
            </a:r>
            <a:endParaRPr lang="en-US" altLang="zh-CN" sz="8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None/>
            </a:pPr>
            <a:endParaRPr lang="en-US" altLang="zh-CN" sz="8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None/>
            </a:pPr>
            <a:r>
              <a:rPr lang="zh-CN" altLang="en-US" sz="1000" dirty="0">
                <a:latin typeface="Consolas" panose="020B0609020204030204" pitchFamily="49" charset="0"/>
                <a:ea typeface="微软雅黑" panose="020B0503020204020204" pitchFamily="34" charset="-122"/>
                <a:cs typeface="Consolas" panose="020B0609020204030204" pitchFamily="49" charset="0"/>
              </a:rPr>
              <a:t>第一行为两个整数</a:t>
            </a:r>
            <a:r>
              <a:rPr lang="en-US" altLang="zh-CN" sz="1000" dirty="0">
                <a:latin typeface="Consolas" panose="020B0609020204030204" pitchFamily="49" charset="0"/>
                <a:ea typeface="微软雅黑" panose="020B0503020204020204" pitchFamily="34" charset="-122"/>
                <a:cs typeface="Consolas" panose="020B0609020204030204" pitchFamily="49" charset="0"/>
              </a:rPr>
              <a:t>n</a:t>
            </a:r>
            <a:r>
              <a:rPr lang="zh-CN" altLang="en-US" sz="1000" dirty="0">
                <a:latin typeface="Consolas" panose="020B0609020204030204" pitchFamily="49" charset="0"/>
                <a:ea typeface="微软雅黑" panose="020B0503020204020204" pitchFamily="34" charset="-122"/>
                <a:cs typeface="Consolas" panose="020B0609020204030204" pitchFamily="49" charset="0"/>
              </a:rPr>
              <a:t>、</a:t>
            </a:r>
            <a:r>
              <a:rPr lang="en-US" altLang="zh-CN" sz="1000" dirty="0">
                <a:latin typeface="Consolas" panose="020B0609020204030204" pitchFamily="49" charset="0"/>
                <a:ea typeface="微软雅黑" panose="020B0503020204020204" pitchFamily="34" charset="-122"/>
                <a:cs typeface="Consolas" panose="020B0609020204030204" pitchFamily="49" charset="0"/>
              </a:rPr>
              <a:t>m(1</a:t>
            </a:r>
            <a:r>
              <a:rPr lang="zh-CN" altLang="en-US" sz="1000" dirty="0">
                <a:latin typeface="Consolas" panose="020B0609020204030204" pitchFamily="49" charset="0"/>
                <a:ea typeface="微软雅黑" panose="020B0503020204020204" pitchFamily="34" charset="-122"/>
                <a:cs typeface="Consolas" panose="020B0609020204030204" pitchFamily="49" charset="0"/>
              </a:rPr>
              <a:t>≤</a:t>
            </a:r>
            <a:r>
              <a:rPr lang="en-US" altLang="zh-CN" sz="1000" dirty="0" err="1">
                <a:latin typeface="Consolas" panose="020B0609020204030204" pitchFamily="49" charset="0"/>
                <a:ea typeface="微软雅黑" panose="020B0503020204020204" pitchFamily="34" charset="-122"/>
                <a:cs typeface="Consolas" panose="020B0609020204030204" pitchFamily="49" charset="0"/>
              </a:rPr>
              <a:t>n,m</a:t>
            </a:r>
            <a:r>
              <a:rPr lang="zh-CN" altLang="en-US" sz="1000" dirty="0">
                <a:latin typeface="Consolas" panose="020B0609020204030204" pitchFamily="49" charset="0"/>
                <a:ea typeface="微软雅黑" panose="020B0503020204020204" pitchFamily="34" charset="-122"/>
                <a:cs typeface="Consolas" panose="020B0609020204030204" pitchFamily="49" charset="0"/>
              </a:rPr>
              <a:t>≤</a:t>
            </a:r>
            <a:r>
              <a:rPr lang="en-US" altLang="zh-CN" sz="1000" dirty="0">
                <a:latin typeface="Consolas" panose="020B0609020204030204" pitchFamily="49" charset="0"/>
                <a:ea typeface="微软雅黑" panose="020B0503020204020204" pitchFamily="34" charset="-122"/>
                <a:cs typeface="Consolas" panose="020B0609020204030204" pitchFamily="49" charset="0"/>
              </a:rPr>
              <a:t>100)</a:t>
            </a:r>
            <a:r>
              <a:rPr lang="zh-CN" altLang="en-US" sz="1000" dirty="0">
                <a:latin typeface="Consolas" panose="020B0609020204030204" pitchFamily="49" charset="0"/>
                <a:ea typeface="微软雅黑" panose="020B0503020204020204" pitchFamily="34" charset="-122"/>
                <a:cs typeface="Consolas" panose="020B0609020204030204" pitchFamily="49" charset="0"/>
              </a:rPr>
              <a:t>，表示矩阵有</a:t>
            </a:r>
            <a:r>
              <a:rPr lang="en-US" altLang="zh-CN" sz="1000" dirty="0">
                <a:latin typeface="Consolas" panose="020B0609020204030204" pitchFamily="49" charset="0"/>
                <a:ea typeface="微软雅黑" panose="020B0503020204020204" pitchFamily="34" charset="-122"/>
                <a:cs typeface="Consolas" panose="020B0609020204030204" pitchFamily="49" charset="0"/>
              </a:rPr>
              <a:t>n</a:t>
            </a:r>
            <a:r>
              <a:rPr lang="zh-CN" altLang="en-US" sz="1000" dirty="0">
                <a:latin typeface="Consolas" panose="020B0609020204030204" pitchFamily="49" charset="0"/>
                <a:ea typeface="微软雅黑" panose="020B0503020204020204" pitchFamily="34" charset="-122"/>
                <a:cs typeface="Consolas" panose="020B0609020204030204" pitchFamily="49" charset="0"/>
              </a:rPr>
              <a:t>行、</a:t>
            </a:r>
            <a:r>
              <a:rPr lang="en-US" altLang="zh-CN" sz="1000" dirty="0">
                <a:latin typeface="Consolas" panose="020B0609020204030204" pitchFamily="49" charset="0"/>
                <a:ea typeface="微软雅黑" panose="020B0503020204020204" pitchFamily="34" charset="-122"/>
                <a:cs typeface="Consolas" panose="020B0609020204030204" pitchFamily="49" charset="0"/>
              </a:rPr>
              <a:t>m</a:t>
            </a:r>
            <a:r>
              <a:rPr lang="zh-CN" altLang="en-US" sz="1000" dirty="0">
                <a:latin typeface="Consolas" panose="020B0609020204030204" pitchFamily="49" charset="0"/>
                <a:ea typeface="微软雅黑" panose="020B0503020204020204" pitchFamily="34" charset="-122"/>
                <a:cs typeface="Consolas" panose="020B0609020204030204" pitchFamily="49" charset="0"/>
              </a:rPr>
              <a:t>列；接下来为</a:t>
            </a:r>
            <a:r>
              <a:rPr lang="en-US" altLang="zh-CN" sz="1000" dirty="0">
                <a:latin typeface="Consolas" panose="020B0609020204030204" pitchFamily="49" charset="0"/>
                <a:ea typeface="微软雅黑" panose="020B0503020204020204" pitchFamily="34" charset="-122"/>
                <a:cs typeface="Consolas" panose="020B0609020204030204" pitchFamily="49" charset="0"/>
              </a:rPr>
              <a:t>n</a:t>
            </a:r>
            <a:r>
              <a:rPr lang="zh-CN" altLang="en-US" sz="1000" dirty="0">
                <a:latin typeface="Consolas" panose="020B0609020204030204" pitchFamily="49" charset="0"/>
                <a:ea typeface="微软雅黑" panose="020B0503020204020204" pitchFamily="34" charset="-122"/>
                <a:cs typeface="Consolas" panose="020B0609020204030204" pitchFamily="49" charset="0"/>
              </a:rPr>
              <a:t>行，每行</a:t>
            </a:r>
            <a:r>
              <a:rPr lang="en-US" altLang="zh-CN" sz="1000" dirty="0">
                <a:latin typeface="Consolas" panose="020B0609020204030204" pitchFamily="49" charset="0"/>
                <a:ea typeface="微软雅黑" panose="020B0503020204020204" pitchFamily="34" charset="-122"/>
                <a:cs typeface="Consolas" panose="020B0609020204030204" pitchFamily="49" charset="0"/>
              </a:rPr>
              <a:t>m</a:t>
            </a:r>
            <a:r>
              <a:rPr lang="zh-CN" altLang="en-US" sz="1000" dirty="0">
                <a:latin typeface="Consolas" panose="020B0609020204030204" pitchFamily="49" charset="0"/>
                <a:ea typeface="微软雅黑" panose="020B0503020204020204" pitchFamily="34" charset="-122"/>
                <a:cs typeface="Consolas" panose="020B0609020204030204" pitchFamily="49" charset="0"/>
              </a:rPr>
              <a:t>个整数</a:t>
            </a:r>
            <a:r>
              <a:rPr lang="en-US" altLang="zh-CN" sz="1000" dirty="0">
                <a:latin typeface="Consolas" panose="020B0609020204030204" pitchFamily="49" charset="0"/>
                <a:ea typeface="微软雅黑" panose="020B0503020204020204" pitchFamily="34" charset="-122"/>
                <a:cs typeface="Consolas" panose="020B0609020204030204" pitchFamily="49" charset="0"/>
              </a:rPr>
              <a:t>(0</a:t>
            </a:r>
            <a:r>
              <a:rPr lang="zh-CN" altLang="en-US" sz="1000" dirty="0">
                <a:latin typeface="Consolas" panose="020B0609020204030204" pitchFamily="49" charset="0"/>
                <a:ea typeface="微软雅黑" panose="020B0503020204020204" pitchFamily="34" charset="-122"/>
                <a:cs typeface="Consolas" panose="020B0609020204030204" pitchFamily="49" charset="0"/>
              </a:rPr>
              <a:t>≤每个整数≤</a:t>
            </a:r>
            <a:r>
              <a:rPr lang="en-US" altLang="zh-CN" sz="1000" dirty="0">
                <a:latin typeface="Consolas" panose="020B0609020204030204" pitchFamily="49" charset="0"/>
                <a:ea typeface="微软雅黑" panose="020B0503020204020204" pitchFamily="34" charset="-122"/>
                <a:cs typeface="Consolas" panose="020B0609020204030204" pitchFamily="49" charset="0"/>
              </a:rPr>
              <a:t>100)</a:t>
            </a:r>
            <a:r>
              <a:rPr lang="zh-CN" altLang="en-US" sz="1000" dirty="0">
                <a:latin typeface="Consolas" panose="020B0609020204030204" pitchFamily="49" charset="0"/>
                <a:ea typeface="微软雅黑" panose="020B0503020204020204" pitchFamily="34" charset="-122"/>
                <a:cs typeface="Consolas" panose="020B0609020204030204" pitchFamily="49" charset="0"/>
              </a:rPr>
              <a:t>。</a:t>
            </a:r>
            <a:endParaRPr lang="en-US" altLang="zh-CN" sz="10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None/>
            </a:pPr>
            <a:endParaRPr lang="en-US" altLang="zh-CN" sz="8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None/>
            </a:pPr>
            <a:r>
              <a:rPr lang="zh-CN" altLang="en-US" sz="1200" b="1" dirty="0">
                <a:latin typeface="Consolas" panose="020B0609020204030204" pitchFamily="49" charset="0"/>
                <a:ea typeface="微软雅黑" panose="020B0503020204020204" pitchFamily="34" charset="-122"/>
                <a:cs typeface="Consolas" panose="020B0609020204030204" pitchFamily="49" charset="0"/>
              </a:rPr>
              <a:t>输出</a:t>
            </a:r>
            <a:endParaRPr lang="en-US" altLang="zh-CN" sz="8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None/>
            </a:pPr>
            <a:endParaRPr lang="en-US" altLang="zh-CN" sz="8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None/>
            </a:pPr>
            <a:r>
              <a:rPr lang="en-US" altLang="zh-CN" sz="1000" dirty="0">
                <a:latin typeface="Consolas" panose="020B0609020204030204" pitchFamily="49" charset="0"/>
                <a:ea typeface="微软雅黑" panose="020B0503020204020204" pitchFamily="34" charset="-122"/>
                <a:cs typeface="Consolas" panose="020B0609020204030204" pitchFamily="49" charset="0"/>
              </a:rPr>
              <a:t>n</a:t>
            </a:r>
            <a:r>
              <a:rPr lang="zh-CN" altLang="en-US" sz="1000" dirty="0">
                <a:latin typeface="Consolas" panose="020B0609020204030204" pitchFamily="49" charset="0"/>
                <a:ea typeface="微软雅黑" panose="020B0503020204020204" pitchFamily="34" charset="-122"/>
                <a:cs typeface="Consolas" panose="020B0609020204030204" pitchFamily="49" charset="0"/>
              </a:rPr>
              <a:t>行、</a:t>
            </a:r>
            <a:r>
              <a:rPr lang="en-US" altLang="zh-CN" sz="1000" dirty="0">
                <a:latin typeface="Consolas" panose="020B0609020204030204" pitchFamily="49" charset="0"/>
                <a:ea typeface="微软雅黑" panose="020B0503020204020204" pitchFamily="34" charset="-122"/>
                <a:cs typeface="Consolas" panose="020B0609020204030204" pitchFamily="49" charset="0"/>
              </a:rPr>
              <a:t>m</a:t>
            </a:r>
            <a:r>
              <a:rPr lang="zh-CN" altLang="en-US" sz="1000" dirty="0">
                <a:latin typeface="Consolas" panose="020B0609020204030204" pitchFamily="49" charset="0"/>
                <a:ea typeface="微软雅黑" panose="020B0503020204020204" pitchFamily="34" charset="-122"/>
                <a:cs typeface="Consolas" panose="020B0609020204030204" pitchFamily="49" charset="0"/>
              </a:rPr>
              <a:t>列，每两个数字之间有个空格，行尾无空格。</a:t>
            </a:r>
            <a:endParaRPr lang="en-US" altLang="zh-CN" sz="1000" dirty="0">
              <a:latin typeface="Consolas" panose="020B0609020204030204" pitchFamily="49" charset="0"/>
              <a:ea typeface="微软雅黑" panose="020B0503020204020204" pitchFamily="34" charset="-122"/>
              <a:cs typeface="Consolas" panose="020B0609020204030204" pitchFamily="49" charset="0"/>
            </a:endParaRPr>
          </a:p>
        </p:txBody>
      </p:sp>
      <p:sp>
        <p:nvSpPr>
          <p:cNvPr id="10" name="文本框 9">
            <a:extLst>
              <a:ext uri="{FF2B5EF4-FFF2-40B4-BE49-F238E27FC236}">
                <a16:creationId xmlns:a16="http://schemas.microsoft.com/office/drawing/2014/main" id="{832BEE65-0BE5-41F4-0959-2E3C92818669}"/>
              </a:ext>
            </a:extLst>
          </p:cNvPr>
          <p:cNvSpPr txBox="1"/>
          <p:nvPr/>
        </p:nvSpPr>
        <p:spPr>
          <a:xfrm>
            <a:off x="354200" y="5819502"/>
            <a:ext cx="387759" cy="553998"/>
          </a:xfrm>
          <a:prstGeom prst="rect">
            <a:avLst/>
          </a:prstGeom>
          <a:noFill/>
        </p:spPr>
        <p:txBody>
          <a:bodyPr wrap="square">
            <a:spAutoFit/>
          </a:bodyPr>
          <a:lstStyle/>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8</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9</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10</a:t>
            </a:r>
          </a:p>
        </p:txBody>
      </p:sp>
      <p:sp>
        <p:nvSpPr>
          <p:cNvPr id="11" name="内容占位符 2">
            <a:extLst>
              <a:ext uri="{FF2B5EF4-FFF2-40B4-BE49-F238E27FC236}">
                <a16:creationId xmlns:a16="http://schemas.microsoft.com/office/drawing/2014/main" id="{67FA09F6-1887-7608-D0C6-BFBF56BF7229}"/>
              </a:ext>
            </a:extLst>
          </p:cNvPr>
          <p:cNvSpPr txBox="1"/>
          <p:nvPr/>
        </p:nvSpPr>
        <p:spPr>
          <a:xfrm>
            <a:off x="362610" y="3131786"/>
            <a:ext cx="1260965" cy="707886"/>
          </a:xfrm>
          <a:prstGeom prst="rect">
            <a:avLst/>
          </a:prstGeom>
        </p:spPr>
        <p:txBody>
          <a:bodyPr vert="horz" lIns="91440" tIns="45720" rIns="91440" bIns="45720" rtlCol="0">
            <a:noAutofit/>
          </a:bodyPr>
          <a:lstStyle>
            <a:lvl1pPr indent="0" defTabSz="914400">
              <a:lnSpc>
                <a:spcPct val="100000"/>
              </a:lnSpc>
              <a:spcBef>
                <a:spcPts val="0"/>
              </a:spcBef>
              <a:buSzPct val="125000"/>
              <a:buFont typeface="Arial" panose="020B0604020202020204" pitchFamily="34" charset="0"/>
              <a:buNone/>
              <a:defRPr sz="1200">
                <a:solidFill>
                  <a:schemeClr val="bg1"/>
                </a:solidFill>
                <a:latin typeface="微软雅黑" panose="020B0503020204020204" pitchFamily="34" charset="-122"/>
                <a:ea typeface="微软雅黑" panose="020B0503020204020204" pitchFamily="34" charset="-122"/>
                <a:cs typeface="Consolas" panose="020B0609020204030204" pitchFamily="49" charset="0"/>
              </a:defRPr>
            </a:lvl1pPr>
            <a:lvl2pPr marL="685800" indent="-228600" defTabSz="914400">
              <a:lnSpc>
                <a:spcPct val="120000"/>
              </a:lnSpc>
              <a:spcBef>
                <a:spcPts val="500"/>
              </a:spcBef>
              <a:buSzPct val="125000"/>
              <a:buFont typeface="Arial" panose="020B0604020202020204" pitchFamily="34" charset="0"/>
              <a:buChar char="•"/>
              <a:defRPr sz="2000">
                <a:solidFill>
                  <a:schemeClr val="bg1"/>
                </a:solidFill>
              </a:defRPr>
            </a:lvl2pPr>
            <a:lvl3pPr marL="1143000" indent="-228600" defTabSz="914400">
              <a:lnSpc>
                <a:spcPct val="120000"/>
              </a:lnSpc>
              <a:spcBef>
                <a:spcPts val="500"/>
              </a:spcBef>
              <a:buSzPct val="125000"/>
              <a:buFont typeface="Arial" panose="020B0604020202020204" pitchFamily="34" charset="0"/>
              <a:buChar char="•"/>
              <a:defRPr>
                <a:solidFill>
                  <a:schemeClr val="bg1"/>
                </a:solidFill>
              </a:defRPr>
            </a:lvl3pPr>
            <a:lvl4pPr marL="1600200" indent="-228600" defTabSz="914400">
              <a:lnSpc>
                <a:spcPct val="120000"/>
              </a:lnSpc>
              <a:spcBef>
                <a:spcPts val="500"/>
              </a:spcBef>
              <a:buSzPct val="125000"/>
              <a:buFont typeface="Arial" panose="020B0604020202020204" pitchFamily="34" charset="0"/>
              <a:buChar char="•"/>
              <a:defRPr sz="1600">
                <a:solidFill>
                  <a:schemeClr val="bg1"/>
                </a:solidFill>
              </a:defRPr>
            </a:lvl4pPr>
            <a:lvl5pPr marL="2057400" indent="-228600" defTabSz="914400">
              <a:lnSpc>
                <a:spcPct val="120000"/>
              </a:lnSpc>
              <a:spcBef>
                <a:spcPts val="500"/>
              </a:spcBef>
              <a:buSzPct val="125000"/>
              <a:buFont typeface="Arial" panose="020B0604020202020204" pitchFamily="34" charset="0"/>
              <a:buChar char="•"/>
              <a:defRPr sz="1600">
                <a:solidFill>
                  <a:schemeClr val="bg1"/>
                </a:solidFill>
              </a:defRPr>
            </a:lvl5pPr>
            <a:lvl6pPr marL="2514600" indent="-228600" defTabSz="914400">
              <a:lnSpc>
                <a:spcPct val="120000"/>
              </a:lnSpc>
              <a:spcBef>
                <a:spcPts val="500"/>
              </a:spcBef>
              <a:buSzPct val="125000"/>
              <a:buFont typeface="Arial" panose="020B0604020202020204" pitchFamily="34" charset="0"/>
              <a:buChar char="•"/>
              <a:defRPr sz="1400"/>
            </a:lvl6pPr>
            <a:lvl7pPr marL="2971800" indent="-228600" defTabSz="914400">
              <a:lnSpc>
                <a:spcPct val="120000"/>
              </a:lnSpc>
              <a:spcBef>
                <a:spcPts val="500"/>
              </a:spcBef>
              <a:buSzPct val="125000"/>
              <a:buFont typeface="Arial" panose="020B0604020202020204" pitchFamily="34" charset="0"/>
              <a:buChar char="•"/>
              <a:defRPr sz="1400"/>
            </a:lvl7pPr>
            <a:lvl8pPr marL="3429000" indent="-228600" defTabSz="914400">
              <a:lnSpc>
                <a:spcPct val="120000"/>
              </a:lnSpc>
              <a:spcBef>
                <a:spcPts val="500"/>
              </a:spcBef>
              <a:buSzPct val="125000"/>
              <a:buFont typeface="Arial" panose="020B0604020202020204" pitchFamily="34" charset="0"/>
              <a:buChar char="•"/>
              <a:defRPr sz="1400"/>
            </a:lvl8pPr>
            <a:lvl9pPr marL="3886200" indent="-228600" defTabSz="914400">
              <a:lnSpc>
                <a:spcPct val="120000"/>
              </a:lnSpc>
              <a:spcBef>
                <a:spcPts val="500"/>
              </a:spcBef>
              <a:buSzPct val="125000"/>
              <a:buFont typeface="Arial" panose="020B0604020202020204" pitchFamily="34" charset="0"/>
              <a:buChar char="•"/>
              <a:defRPr sz="1400"/>
            </a:lvl9pPr>
          </a:lstStyle>
          <a:p>
            <a:r>
              <a:rPr lang="zh-CN" altLang="en-US" b="1" dirty="0">
                <a:latin typeface="Consolas" panose="020B0609020204030204" pitchFamily="49" charset="0"/>
              </a:rPr>
              <a:t>样例输入</a:t>
            </a:r>
            <a:endParaRPr lang="en-US" altLang="zh-CN" dirty="0">
              <a:latin typeface="Consolas" panose="020B0609020204030204" pitchFamily="49" charset="0"/>
            </a:endParaRPr>
          </a:p>
          <a:p>
            <a:endParaRPr lang="en-US" altLang="zh-CN" sz="800" dirty="0">
              <a:latin typeface="Consolas" panose="020B0609020204030204" pitchFamily="49" charset="0"/>
            </a:endParaRPr>
          </a:p>
          <a:p>
            <a:r>
              <a:rPr lang="en-US" altLang="zh-CN" sz="1000" dirty="0">
                <a:latin typeface="Consolas" panose="020B0609020204030204" pitchFamily="49" charset="0"/>
              </a:rPr>
              <a:t>5</a:t>
            </a:r>
          </a:p>
          <a:p>
            <a:r>
              <a:rPr lang="en-US" altLang="zh-CN" sz="1000" dirty="0">
                <a:latin typeface="Consolas" panose="020B0609020204030204" pitchFamily="49" charset="0"/>
              </a:rPr>
              <a:t>1 2 3 4 5</a:t>
            </a:r>
            <a:endParaRPr lang="en-US" altLang="zh-CN" dirty="0">
              <a:latin typeface="Consolas" panose="020B0609020204030204" pitchFamily="49" charset="0"/>
            </a:endParaRPr>
          </a:p>
        </p:txBody>
      </p:sp>
      <p:sp>
        <p:nvSpPr>
          <p:cNvPr id="25" name="文本框 24">
            <a:extLst>
              <a:ext uri="{FF2B5EF4-FFF2-40B4-BE49-F238E27FC236}">
                <a16:creationId xmlns:a16="http://schemas.microsoft.com/office/drawing/2014/main" id="{E50284A8-D5C8-8B37-8BB5-98D3EFC20B55}"/>
              </a:ext>
            </a:extLst>
          </p:cNvPr>
          <p:cNvSpPr txBox="1"/>
          <p:nvPr/>
        </p:nvSpPr>
        <p:spPr>
          <a:xfrm>
            <a:off x="3637601" y="4271901"/>
            <a:ext cx="2374521" cy="2554545"/>
          </a:xfrm>
          <a:prstGeom prst="rect">
            <a:avLst/>
          </a:prstGeom>
          <a:noFill/>
        </p:spPr>
        <p:txBody>
          <a:bodyPr wrap="square">
            <a:spAutoFit/>
          </a:bodyPr>
          <a:lstStyle/>
          <a:p>
            <a:pPr lvl="0" eaLnBrk="0" fontAlgn="base" hangingPunct="0">
              <a:spcBef>
                <a:spcPct val="0"/>
              </a:spcBef>
              <a:spcAft>
                <a:spcPct val="0"/>
              </a:spcAft>
            </a:pPr>
            <a:r>
              <a:rPr lang="zh-CN" altLang="zh-CN" sz="1000" dirty="0">
                <a:solidFill>
                  <a:srgbClr val="808080"/>
                </a:solidFill>
                <a:latin typeface="Consolas" panose="020B0609020204030204" pitchFamily="49" charset="0"/>
                <a:cs typeface="Consolas" panose="020B0609020204030204" pitchFamily="49" charset="0"/>
              </a:rPr>
              <a:t>#include&lt;bits/stdc++.h&gt;</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b="1" dirty="0">
                <a:solidFill>
                  <a:srgbClr val="006699"/>
                </a:solidFill>
                <a:latin typeface="Consolas" panose="020B0609020204030204" pitchFamily="49" charset="0"/>
                <a:cs typeface="Consolas" panose="020B0609020204030204" pitchFamily="49" charset="0"/>
              </a:rPr>
              <a:t>using</a:t>
            </a:r>
            <a:r>
              <a:rPr lang="zh-CN" altLang="zh-CN" sz="1000" dirty="0">
                <a:latin typeface="Consolas" panose="020B0609020204030204" pitchFamily="49" charset="0"/>
                <a:cs typeface="Consolas" panose="020B0609020204030204" pitchFamily="49" charset="0"/>
              </a:rPr>
              <a:t> </a:t>
            </a:r>
            <a:r>
              <a:rPr lang="zh-CN" altLang="zh-CN" sz="1000" b="1" dirty="0">
                <a:solidFill>
                  <a:srgbClr val="006699"/>
                </a:solidFill>
                <a:latin typeface="Consolas" panose="020B0609020204030204" pitchFamily="49" charset="0"/>
                <a:cs typeface="Consolas" panose="020B0609020204030204" pitchFamily="49" charset="0"/>
              </a:rPr>
              <a:t>namespace</a:t>
            </a:r>
            <a:r>
              <a:rPr lang="zh-CN" altLang="zh-CN" sz="1000" dirty="0">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std;</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b="1" dirty="0">
                <a:solidFill>
                  <a:srgbClr val="808080"/>
                </a:solidFill>
                <a:latin typeface="Consolas" panose="020B0609020204030204" pitchFamily="49" charset="0"/>
                <a:cs typeface="Consolas" panose="020B0609020204030204" pitchFamily="49" charset="0"/>
              </a:rPr>
              <a:t>int</a:t>
            </a:r>
            <a:r>
              <a:rPr lang="zh-CN" altLang="zh-CN" sz="1000" dirty="0">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n,</a:t>
            </a:r>
            <a:r>
              <a:rPr lang="en-US" altLang="zh-CN" sz="1000" dirty="0">
                <a:solidFill>
                  <a:srgbClr val="000000"/>
                </a:solidFill>
                <a:latin typeface="Consolas" panose="020B0609020204030204" pitchFamily="49" charset="0"/>
                <a:cs typeface="Consolas" panose="020B0609020204030204" pitchFamily="49" charset="0"/>
              </a:rPr>
              <a:t>m,</a:t>
            </a:r>
            <a:r>
              <a:rPr lang="zh-CN" altLang="zh-CN" sz="1000" dirty="0">
                <a:solidFill>
                  <a:srgbClr val="000000"/>
                </a:solidFill>
                <a:latin typeface="Consolas" panose="020B0609020204030204" pitchFamily="49" charset="0"/>
                <a:cs typeface="Consolas" panose="020B0609020204030204" pitchFamily="49" charset="0"/>
              </a:rPr>
              <a:t>a[</a:t>
            </a:r>
            <a:r>
              <a:rPr lang="en-US" altLang="zh-CN" sz="1000" dirty="0">
                <a:solidFill>
                  <a:srgbClr val="000000"/>
                </a:solidFill>
                <a:latin typeface="Consolas" panose="020B0609020204030204" pitchFamily="49" charset="0"/>
                <a:cs typeface="Consolas" panose="020B0609020204030204" pitchFamily="49" charset="0"/>
              </a:rPr>
              <a:t>110</a:t>
            </a:r>
            <a:r>
              <a:rPr lang="zh-CN" altLang="zh-CN" sz="1000" dirty="0">
                <a:solidFill>
                  <a:srgbClr val="000000"/>
                </a:solidFill>
                <a:latin typeface="Consolas" panose="020B0609020204030204" pitchFamily="49" charset="0"/>
                <a:cs typeface="Consolas" panose="020B0609020204030204" pitchFamily="49" charset="0"/>
              </a:rPr>
              <a:t>][</a:t>
            </a:r>
            <a:r>
              <a:rPr lang="en-US" altLang="zh-CN" sz="1000" dirty="0">
                <a:solidFill>
                  <a:srgbClr val="000000"/>
                </a:solidFill>
                <a:latin typeface="Consolas" panose="020B0609020204030204" pitchFamily="49" charset="0"/>
                <a:cs typeface="Consolas" panose="020B0609020204030204" pitchFamily="49" charset="0"/>
              </a:rPr>
              <a:t>110</a:t>
            </a:r>
            <a:r>
              <a:rPr lang="zh-CN" altLang="zh-CN" sz="1000" dirty="0">
                <a:solidFill>
                  <a:srgbClr val="000000"/>
                </a:solidFill>
                <a:latin typeface="Consolas" panose="020B0609020204030204" pitchFamily="49" charset="0"/>
                <a:cs typeface="Consolas" panose="020B0609020204030204" pitchFamily="49" charset="0"/>
              </a:rPr>
              <a:t>]</a:t>
            </a:r>
            <a:r>
              <a:rPr lang="en-US" altLang="zh-CN" sz="1000" dirty="0">
                <a:solidFill>
                  <a:srgbClr val="000000"/>
                </a:solidFill>
                <a:latin typeface="Consolas" panose="020B0609020204030204" pitchFamily="49" charset="0"/>
                <a:cs typeface="Consolas" panose="020B0609020204030204" pitchFamily="49" charset="0"/>
              </a:rPr>
              <a:t>,</a:t>
            </a:r>
            <a:r>
              <a:rPr lang="zh-CN" altLang="zh-CN" sz="1000" dirty="0">
                <a:solidFill>
                  <a:srgbClr val="000000"/>
                </a:solidFill>
                <a:latin typeface="Consolas" panose="020B0609020204030204" pitchFamily="49" charset="0"/>
                <a:cs typeface="Consolas" panose="020B0609020204030204" pitchFamily="49" charset="0"/>
              </a:rPr>
              <a:t>i,j;</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b="1" dirty="0">
                <a:solidFill>
                  <a:srgbClr val="808080"/>
                </a:solidFill>
                <a:latin typeface="Consolas" panose="020B0609020204030204" pitchFamily="49" charset="0"/>
                <a:cs typeface="Consolas" panose="020B0609020204030204" pitchFamily="49" charset="0"/>
              </a:rPr>
              <a:t>int</a:t>
            </a:r>
            <a:r>
              <a:rPr lang="zh-CN" altLang="zh-CN" sz="1000" dirty="0">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main(){</a:t>
            </a:r>
            <a:endParaRPr lang="zh-CN" altLang="zh-CN" sz="1000" dirty="0">
              <a:latin typeface="Consolas" panose="020B0609020204030204" pitchFamily="49" charset="0"/>
              <a:cs typeface="Consolas" panose="020B0609020204030204" pitchFamily="49" charset="0"/>
            </a:endParaRPr>
          </a:p>
          <a:p>
            <a:pPr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cin&gt;&gt;n</a:t>
            </a:r>
            <a:r>
              <a:rPr lang="en-US" altLang="zh-CN" sz="1000" dirty="0">
                <a:solidFill>
                  <a:srgbClr val="000000"/>
                </a:solidFill>
                <a:latin typeface="Consolas" panose="020B0609020204030204" pitchFamily="49" charset="0"/>
                <a:cs typeface="Consolas" panose="020B0609020204030204" pitchFamily="49" charset="0"/>
              </a:rPr>
              <a:t>&gt;&gt;m</a:t>
            </a:r>
            <a:r>
              <a:rPr lang="zh-CN" altLang="zh-CN" sz="1000" dirty="0">
                <a:solidFill>
                  <a:srgbClr val="000000"/>
                </a:solidFill>
                <a:latin typeface="Consolas" panose="020B0609020204030204" pitchFamily="49" charset="0"/>
                <a:cs typeface="Consolas" panose="020B0609020204030204" pitchFamily="49" charset="0"/>
              </a:rPr>
              <a:t>;</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b="1" dirty="0">
                <a:solidFill>
                  <a:srgbClr val="006699"/>
                </a:solidFill>
                <a:latin typeface="Consolas" panose="020B0609020204030204" pitchFamily="49" charset="0"/>
                <a:cs typeface="Consolas" panose="020B0609020204030204" pitchFamily="49" charset="0"/>
              </a:rPr>
              <a:t>for</a:t>
            </a:r>
            <a:r>
              <a:rPr lang="zh-CN" altLang="zh-CN" sz="1000" dirty="0">
                <a:solidFill>
                  <a:srgbClr val="000000"/>
                </a:solidFill>
                <a:latin typeface="Consolas" panose="020B0609020204030204" pitchFamily="49" charset="0"/>
                <a:cs typeface="Consolas" panose="020B0609020204030204" pitchFamily="49" charset="0"/>
              </a:rPr>
              <a:t>(i=</a:t>
            </a:r>
            <a:r>
              <a:rPr lang="en-US" altLang="zh-CN" sz="1000" dirty="0">
                <a:solidFill>
                  <a:srgbClr val="000000"/>
                </a:solidFill>
                <a:latin typeface="Consolas" panose="020B0609020204030204" pitchFamily="49" charset="0"/>
                <a:cs typeface="Consolas" panose="020B0609020204030204" pitchFamily="49" charset="0"/>
              </a:rPr>
              <a:t>0</a:t>
            </a:r>
            <a:r>
              <a:rPr lang="zh-CN" altLang="zh-CN" sz="1000" dirty="0">
                <a:solidFill>
                  <a:srgbClr val="000000"/>
                </a:solidFill>
                <a:latin typeface="Consolas" panose="020B0609020204030204" pitchFamily="49" charset="0"/>
                <a:cs typeface="Consolas" panose="020B0609020204030204" pitchFamily="49" charset="0"/>
              </a:rPr>
              <a:t>;i&lt;</a:t>
            </a:r>
            <a:r>
              <a:rPr lang="en-US" altLang="zh-CN" sz="1000" dirty="0">
                <a:solidFill>
                  <a:srgbClr val="000000"/>
                </a:solidFill>
                <a:latin typeface="Consolas" panose="020B0609020204030204" pitchFamily="49" charset="0"/>
                <a:cs typeface="Consolas" panose="020B0609020204030204" pitchFamily="49" charset="0"/>
              </a:rPr>
              <a:t>n</a:t>
            </a:r>
            <a:r>
              <a:rPr lang="zh-CN" altLang="zh-CN" sz="1000" dirty="0">
                <a:solidFill>
                  <a:srgbClr val="000000"/>
                </a:solidFill>
                <a:latin typeface="Consolas" panose="020B0609020204030204" pitchFamily="49" charset="0"/>
                <a:cs typeface="Consolas" panose="020B0609020204030204" pitchFamily="49" charset="0"/>
              </a:rPr>
              <a:t>;++i)</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b="1" dirty="0">
                <a:solidFill>
                  <a:srgbClr val="006699"/>
                </a:solidFill>
                <a:latin typeface="Consolas" panose="020B0609020204030204" pitchFamily="49" charset="0"/>
                <a:cs typeface="Consolas" panose="020B0609020204030204" pitchFamily="49" charset="0"/>
              </a:rPr>
              <a:t>for</a:t>
            </a:r>
            <a:r>
              <a:rPr lang="zh-CN" altLang="zh-CN" sz="1000" dirty="0">
                <a:solidFill>
                  <a:srgbClr val="000000"/>
                </a:solidFill>
                <a:latin typeface="Consolas" panose="020B0609020204030204" pitchFamily="49" charset="0"/>
                <a:cs typeface="Consolas" panose="020B0609020204030204" pitchFamily="49" charset="0"/>
              </a:rPr>
              <a:t>(j=</a:t>
            </a:r>
            <a:r>
              <a:rPr lang="en-US" altLang="zh-CN" sz="1000" dirty="0">
                <a:solidFill>
                  <a:srgbClr val="000000"/>
                </a:solidFill>
                <a:latin typeface="Consolas" panose="020B0609020204030204" pitchFamily="49" charset="0"/>
                <a:cs typeface="Consolas" panose="020B0609020204030204" pitchFamily="49" charset="0"/>
              </a:rPr>
              <a:t>0</a:t>
            </a:r>
            <a:r>
              <a:rPr lang="zh-CN" altLang="zh-CN" sz="1000" dirty="0">
                <a:solidFill>
                  <a:srgbClr val="000000"/>
                </a:solidFill>
                <a:latin typeface="Consolas" panose="020B0609020204030204" pitchFamily="49" charset="0"/>
                <a:cs typeface="Consolas" panose="020B0609020204030204" pitchFamily="49" charset="0"/>
              </a:rPr>
              <a:t>;j&lt;</a:t>
            </a:r>
            <a:r>
              <a:rPr lang="en-US" altLang="zh-CN" sz="1000" dirty="0">
                <a:solidFill>
                  <a:srgbClr val="000000"/>
                </a:solidFill>
                <a:latin typeface="Consolas" panose="020B0609020204030204" pitchFamily="49" charset="0"/>
                <a:cs typeface="Consolas" panose="020B0609020204030204" pitchFamily="49" charset="0"/>
              </a:rPr>
              <a:t>m</a:t>
            </a:r>
            <a:r>
              <a:rPr lang="zh-CN" altLang="zh-CN" sz="1000" dirty="0">
                <a:solidFill>
                  <a:srgbClr val="000000"/>
                </a:solidFill>
                <a:latin typeface="Consolas" panose="020B0609020204030204" pitchFamily="49" charset="0"/>
                <a:cs typeface="Consolas" panose="020B0609020204030204" pitchFamily="49" charset="0"/>
              </a:rPr>
              <a:t>;++j)</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cin&gt;&gt;a[i][j];</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b="1" dirty="0">
                <a:solidFill>
                  <a:srgbClr val="006699"/>
                </a:solidFill>
                <a:latin typeface="Consolas" panose="020B0609020204030204" pitchFamily="49" charset="0"/>
                <a:cs typeface="Consolas" panose="020B0609020204030204" pitchFamily="49" charset="0"/>
              </a:rPr>
              <a:t>for</a:t>
            </a:r>
            <a:r>
              <a:rPr lang="zh-CN" altLang="zh-CN" sz="1000" dirty="0">
                <a:solidFill>
                  <a:srgbClr val="000000"/>
                </a:solidFill>
                <a:latin typeface="Consolas" panose="020B0609020204030204" pitchFamily="49" charset="0"/>
                <a:cs typeface="Consolas" panose="020B0609020204030204" pitchFamily="49" charset="0"/>
              </a:rPr>
              <a:t>(i=</a:t>
            </a:r>
            <a:r>
              <a:rPr lang="en-US" altLang="zh-CN" sz="1000" dirty="0">
                <a:solidFill>
                  <a:srgbClr val="000000"/>
                </a:solidFill>
                <a:latin typeface="Consolas" panose="020B0609020204030204" pitchFamily="49" charset="0"/>
                <a:cs typeface="Consolas" panose="020B0609020204030204" pitchFamily="49" charset="0"/>
              </a:rPr>
              <a:t>0</a:t>
            </a:r>
            <a:r>
              <a:rPr lang="zh-CN" altLang="zh-CN" sz="1000" dirty="0">
                <a:solidFill>
                  <a:srgbClr val="000000"/>
                </a:solidFill>
                <a:latin typeface="Consolas" panose="020B0609020204030204" pitchFamily="49" charset="0"/>
                <a:cs typeface="Consolas" panose="020B0609020204030204" pitchFamily="49" charset="0"/>
              </a:rPr>
              <a:t>;i&lt;</a:t>
            </a:r>
            <a:r>
              <a:rPr lang="en-US" altLang="zh-CN" sz="1000" dirty="0">
                <a:solidFill>
                  <a:srgbClr val="000000"/>
                </a:solidFill>
                <a:latin typeface="Consolas" panose="020B0609020204030204" pitchFamily="49" charset="0"/>
                <a:cs typeface="Consolas" panose="020B0609020204030204" pitchFamily="49" charset="0"/>
              </a:rPr>
              <a:t>n</a:t>
            </a:r>
            <a:r>
              <a:rPr lang="zh-CN" altLang="zh-CN" sz="1000" dirty="0">
                <a:solidFill>
                  <a:srgbClr val="000000"/>
                </a:solidFill>
                <a:latin typeface="Consolas" panose="020B0609020204030204" pitchFamily="49" charset="0"/>
                <a:cs typeface="Consolas" panose="020B0609020204030204" pitchFamily="49" charset="0"/>
              </a:rPr>
              <a:t>;++i){</a:t>
            </a:r>
            <a:endParaRPr lang="en-US" altLang="zh-CN" sz="1000" dirty="0">
              <a:solidFill>
                <a:srgbClr val="000000"/>
              </a:solidFill>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en-US" altLang="zh-CN" sz="1000" dirty="0">
                <a:solidFill>
                  <a:srgbClr val="000000"/>
                </a:solidFill>
                <a:latin typeface="Consolas" panose="020B0609020204030204" pitchFamily="49" charset="0"/>
                <a:cs typeface="Consolas" panose="020B0609020204030204" pitchFamily="49" charset="0"/>
              </a:rPr>
              <a:t>        cout&lt;&lt;a[i][</a:t>
            </a:r>
            <a:r>
              <a:rPr lang="en-US" altLang="zh-CN" sz="1000" dirty="0">
                <a:solidFill>
                  <a:srgbClr val="FF0000"/>
                </a:solidFill>
                <a:latin typeface="Consolas" panose="020B0609020204030204" pitchFamily="49" charset="0"/>
                <a:cs typeface="Consolas" panose="020B0609020204030204" pitchFamily="49" charset="0"/>
              </a:rPr>
              <a:t>0</a:t>
            </a:r>
            <a:r>
              <a:rPr lang="en-US" altLang="zh-CN" sz="1000" dirty="0">
                <a:solidFill>
                  <a:srgbClr val="000000"/>
                </a:solidFill>
                <a:latin typeface="Consolas" panose="020B0609020204030204" pitchFamily="49" charset="0"/>
                <a:cs typeface="Consolas" panose="020B0609020204030204" pitchFamily="49" charset="0"/>
              </a:rPr>
              <a:t>];</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b="1" dirty="0">
                <a:solidFill>
                  <a:srgbClr val="006699"/>
                </a:solidFill>
                <a:latin typeface="Consolas" panose="020B0609020204030204" pitchFamily="49" charset="0"/>
                <a:cs typeface="Consolas" panose="020B0609020204030204" pitchFamily="49" charset="0"/>
              </a:rPr>
              <a:t>for</a:t>
            </a:r>
            <a:r>
              <a:rPr lang="zh-CN" altLang="zh-CN" sz="1000" dirty="0">
                <a:solidFill>
                  <a:srgbClr val="000000"/>
                </a:solidFill>
                <a:latin typeface="Consolas" panose="020B0609020204030204" pitchFamily="49" charset="0"/>
                <a:cs typeface="Consolas" panose="020B0609020204030204" pitchFamily="49" charset="0"/>
              </a:rPr>
              <a:t>(j=</a:t>
            </a:r>
            <a:r>
              <a:rPr lang="en-US" altLang="zh-CN" sz="1000" dirty="0">
                <a:solidFill>
                  <a:srgbClr val="FF0000"/>
                </a:solidFill>
                <a:latin typeface="Consolas" panose="020B0609020204030204" pitchFamily="49" charset="0"/>
                <a:cs typeface="Consolas" panose="020B0609020204030204" pitchFamily="49" charset="0"/>
              </a:rPr>
              <a:t>1</a:t>
            </a:r>
            <a:r>
              <a:rPr lang="zh-CN" altLang="zh-CN" sz="1000" dirty="0">
                <a:solidFill>
                  <a:srgbClr val="000000"/>
                </a:solidFill>
                <a:latin typeface="Consolas" panose="020B0609020204030204" pitchFamily="49" charset="0"/>
                <a:cs typeface="Consolas" panose="020B0609020204030204" pitchFamily="49" charset="0"/>
              </a:rPr>
              <a:t>;j&lt;</a:t>
            </a:r>
            <a:r>
              <a:rPr lang="en-US" altLang="zh-CN" sz="1000" dirty="0">
                <a:solidFill>
                  <a:srgbClr val="000000"/>
                </a:solidFill>
                <a:latin typeface="Consolas" panose="020B0609020204030204" pitchFamily="49" charset="0"/>
                <a:cs typeface="Consolas" panose="020B0609020204030204" pitchFamily="49" charset="0"/>
              </a:rPr>
              <a:t>m</a:t>
            </a:r>
            <a:r>
              <a:rPr lang="zh-CN" altLang="zh-CN" sz="1000" dirty="0">
                <a:solidFill>
                  <a:srgbClr val="000000"/>
                </a:solidFill>
                <a:latin typeface="Consolas" panose="020B0609020204030204" pitchFamily="49" charset="0"/>
                <a:cs typeface="Consolas" panose="020B0609020204030204" pitchFamily="49" charset="0"/>
              </a:rPr>
              <a:t>;++j)</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cout</a:t>
            </a:r>
            <a:r>
              <a:rPr lang="en-US" altLang="zh-CN" sz="1000" dirty="0">
                <a:solidFill>
                  <a:srgbClr val="000000"/>
                </a:solidFill>
                <a:latin typeface="Consolas" panose="020B0609020204030204" pitchFamily="49" charset="0"/>
                <a:cs typeface="Consolas" panose="020B0609020204030204" pitchFamily="49" charset="0"/>
              </a:rPr>
              <a:t>&lt;&lt;</a:t>
            </a:r>
            <a:r>
              <a:rPr lang="en-US" altLang="zh-CN" sz="1000" dirty="0">
                <a:solidFill>
                  <a:srgbClr val="008200"/>
                </a:solidFill>
                <a:latin typeface="Consolas" panose="020B0609020204030204" pitchFamily="49" charset="0"/>
                <a:ea typeface="微软雅黑" panose="020B0503020204020204" pitchFamily="34" charset="-122"/>
              </a:rPr>
              <a:t>","</a:t>
            </a:r>
            <a:r>
              <a:rPr lang="zh-CN" altLang="zh-CN" sz="1000" dirty="0">
                <a:solidFill>
                  <a:srgbClr val="000000"/>
                </a:solidFill>
                <a:latin typeface="Consolas" panose="020B0609020204030204" pitchFamily="49" charset="0"/>
                <a:cs typeface="Consolas" panose="020B0609020204030204" pitchFamily="49" charset="0"/>
              </a:rPr>
              <a:t>&lt;&lt;a[i][j];</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cout&lt;&lt;endl;</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C7254E"/>
                </a:solidFill>
                <a:latin typeface="Consolas" panose="020B0609020204030204" pitchFamily="49" charset="0"/>
                <a:cs typeface="Consolas" panose="020B0609020204030204" pitchFamily="49" charset="0"/>
              </a:rPr>
              <a:t>    </a:t>
            </a:r>
            <a:r>
              <a:rPr lang="zh-CN" altLang="zh-CN" sz="1000" b="1" dirty="0">
                <a:solidFill>
                  <a:srgbClr val="006699"/>
                </a:solidFill>
                <a:latin typeface="Consolas" panose="020B0609020204030204" pitchFamily="49" charset="0"/>
                <a:cs typeface="Consolas" panose="020B0609020204030204" pitchFamily="49" charset="0"/>
              </a:rPr>
              <a:t>return</a:t>
            </a:r>
            <a:r>
              <a:rPr lang="zh-CN" altLang="zh-CN" sz="1000" dirty="0">
                <a:latin typeface="Consolas" panose="020B0609020204030204" pitchFamily="49" charset="0"/>
                <a:cs typeface="Consolas" panose="020B0609020204030204" pitchFamily="49" charset="0"/>
              </a:rPr>
              <a:t> </a:t>
            </a:r>
            <a:r>
              <a:rPr lang="zh-CN" altLang="zh-CN" sz="1000" dirty="0">
                <a:solidFill>
                  <a:srgbClr val="000000"/>
                </a:solidFill>
                <a:latin typeface="Consolas" panose="020B0609020204030204" pitchFamily="49" charset="0"/>
                <a:cs typeface="Consolas" panose="020B0609020204030204" pitchFamily="49" charset="0"/>
              </a:rPr>
              <a:t>0;</a:t>
            </a:r>
            <a:endParaRPr lang="zh-CN" altLang="zh-CN" sz="10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000" dirty="0">
                <a:solidFill>
                  <a:srgbClr val="000000"/>
                </a:solidFill>
                <a:latin typeface="Consolas" panose="020B0609020204030204" pitchFamily="49" charset="0"/>
                <a:cs typeface="Consolas" panose="020B0609020204030204" pitchFamily="49" charset="0"/>
              </a:rPr>
              <a:t>}</a:t>
            </a:r>
            <a:endParaRPr lang="zh-CN" altLang="zh-CN" sz="1000" dirty="0">
              <a:latin typeface="Consolas" panose="020B0609020204030204" pitchFamily="49" charset="0"/>
              <a:cs typeface="Consolas" panose="020B0609020204030204" pitchFamily="49" charset="0"/>
            </a:endParaRPr>
          </a:p>
        </p:txBody>
      </p:sp>
      <p:sp>
        <p:nvSpPr>
          <p:cNvPr id="12" name="矩形 11">
            <a:extLst>
              <a:ext uri="{FF2B5EF4-FFF2-40B4-BE49-F238E27FC236}">
                <a16:creationId xmlns:a16="http://schemas.microsoft.com/office/drawing/2014/main" id="{12859A03-1E35-1784-68C9-6B5CAC9B6582}"/>
              </a:ext>
            </a:extLst>
          </p:cNvPr>
          <p:cNvSpPr/>
          <p:nvPr/>
        </p:nvSpPr>
        <p:spPr>
          <a:xfrm>
            <a:off x="1613590" y="3131785"/>
            <a:ext cx="1107677" cy="707887"/>
          </a:xfrm>
          <a:prstGeom prst="rect">
            <a:avLst/>
          </a:prstGeom>
        </p:spPr>
        <p:txBody>
          <a:bodyPr vert="horz" lIns="91440" tIns="45720" rIns="91440" bIns="45720" rtlCol="0">
            <a:noAutofit/>
          </a:bodyPr>
          <a:lstStyle/>
          <a:p>
            <a:pPr defTabSz="914400">
              <a:buSzPct val="125000"/>
            </a:pPr>
            <a:r>
              <a:rPr lang="zh-CN" altLang="en-US" sz="12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样例输出</a:t>
            </a:r>
            <a:endParaRPr lang="en-US" altLang="zh-CN" sz="12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defTabSz="914400">
              <a:buSzPct val="125000"/>
            </a:pPr>
            <a:endParaRPr lang="en-US" altLang="zh-CN" sz="8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defTabSz="914400">
              <a:buSzPct val="125000"/>
            </a:pPr>
            <a:r>
              <a:rPr lang="en-US" altLang="zh-CN" sz="1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1,2,3,4,5</a:t>
            </a:r>
          </a:p>
        </p:txBody>
      </p:sp>
      <p:sp>
        <p:nvSpPr>
          <p:cNvPr id="26" name="文本框 25">
            <a:extLst>
              <a:ext uri="{FF2B5EF4-FFF2-40B4-BE49-F238E27FC236}">
                <a16:creationId xmlns:a16="http://schemas.microsoft.com/office/drawing/2014/main" id="{51D10690-DAD2-CC11-D902-2980336A5047}"/>
              </a:ext>
            </a:extLst>
          </p:cNvPr>
          <p:cNvSpPr txBox="1"/>
          <p:nvPr/>
        </p:nvSpPr>
        <p:spPr>
          <a:xfrm>
            <a:off x="3249843" y="4271901"/>
            <a:ext cx="387759" cy="2554545"/>
          </a:xfrm>
          <a:prstGeom prst="rect">
            <a:avLst/>
          </a:prstGeom>
          <a:noFill/>
        </p:spPr>
        <p:txBody>
          <a:bodyPr wrap="square">
            <a:spAutoFit/>
          </a:bodyPr>
          <a:lstStyle/>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1</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2</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3</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4</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5</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6</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7</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8</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9</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10</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11</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12</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13</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14</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15</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16</a:t>
            </a:r>
          </a:p>
        </p:txBody>
      </p:sp>
      <p:sp>
        <p:nvSpPr>
          <p:cNvPr id="22" name="矩形 21"/>
          <p:cNvSpPr/>
          <p:nvPr/>
        </p:nvSpPr>
        <p:spPr>
          <a:xfrm>
            <a:off x="4176524" y="5669744"/>
            <a:ext cx="1798169" cy="6308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4836065" y="6312654"/>
            <a:ext cx="1220697" cy="215444"/>
          </a:xfrm>
          <a:prstGeom prst="rect">
            <a:avLst/>
          </a:prstGeom>
        </p:spPr>
        <p:txBody>
          <a:bodyPr wrap="square">
            <a:spAutoFit/>
          </a:bodyPr>
          <a:lstStyle/>
          <a:p>
            <a:r>
              <a:rPr lang="zh-CN" altLang="en-US" sz="8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行尾不输出逗号的技巧</a:t>
            </a:r>
          </a:p>
        </p:txBody>
      </p:sp>
      <p:sp>
        <p:nvSpPr>
          <p:cNvPr id="19" name="矩形 18"/>
          <p:cNvSpPr/>
          <p:nvPr/>
        </p:nvSpPr>
        <p:spPr>
          <a:xfrm>
            <a:off x="1040841" y="5021658"/>
            <a:ext cx="1524000" cy="3269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748589" y="5333730"/>
            <a:ext cx="1220697" cy="215444"/>
          </a:xfrm>
          <a:prstGeom prst="rect">
            <a:avLst/>
          </a:prstGeom>
        </p:spPr>
        <p:txBody>
          <a:bodyPr wrap="square">
            <a:spAutoFit/>
          </a:bodyPr>
          <a:lstStyle/>
          <a:p>
            <a:r>
              <a:rPr lang="zh-CN" altLang="en-US" sz="8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行尾会多输出一个逗号</a:t>
            </a:r>
          </a:p>
        </p:txBody>
      </p:sp>
      <p:sp>
        <p:nvSpPr>
          <p:cNvPr id="28" name="文本框 27">
            <a:extLst>
              <a:ext uri="{FF2B5EF4-FFF2-40B4-BE49-F238E27FC236}">
                <a16:creationId xmlns:a16="http://schemas.microsoft.com/office/drawing/2014/main" id="{DC95DA87-35A0-64F2-3E78-477B332B1E94}"/>
              </a:ext>
            </a:extLst>
          </p:cNvPr>
          <p:cNvSpPr txBox="1"/>
          <p:nvPr/>
        </p:nvSpPr>
        <p:spPr>
          <a:xfrm>
            <a:off x="354200" y="3908588"/>
            <a:ext cx="387759" cy="1785104"/>
          </a:xfrm>
          <a:prstGeom prst="rect">
            <a:avLst/>
          </a:prstGeom>
          <a:noFill/>
        </p:spPr>
        <p:txBody>
          <a:bodyPr wrap="square">
            <a:spAutoFit/>
          </a:bodyPr>
          <a:lstStyle/>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1</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2</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3</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4</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5</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6</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7</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8</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 9</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10</a:t>
            </a:r>
          </a:p>
          <a:p>
            <a:pPr marL="0" indent="0" algn="r" eaLnBrk="0" fontAlgn="base" hangingPunct="0">
              <a:lnSpc>
                <a:spcPct val="100000"/>
              </a:lnSpc>
              <a:spcBef>
                <a:spcPct val="0"/>
              </a:spcBef>
              <a:spcAft>
                <a:spcPct val="0"/>
              </a:spcAft>
              <a:buSzTx/>
              <a:buFont typeface="+mj-lt"/>
              <a:buNone/>
              <a:defRPr/>
            </a:pPr>
            <a:r>
              <a:rPr lang="en-US" altLang="zh-CN" sz="1000" dirty="0">
                <a:solidFill>
                  <a:srgbClr val="808080"/>
                </a:solidFill>
                <a:latin typeface="Consolas" panose="020B0609020204030204" pitchFamily="49" charset="0"/>
                <a:cs typeface="Consolas" panose="020B0609020204030204" pitchFamily="49" charset="0"/>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7" grpId="0"/>
      <p:bldP spid="3" grpId="0" animBg="1"/>
      <p:bldP spid="21" grpId="0"/>
      <p:bldP spid="30" grpId="0"/>
      <p:bldP spid="31" grpId="0"/>
      <p:bldP spid="32" grpId="0" animBg="1"/>
      <p:bldP spid="33" grpId="0"/>
      <p:bldP spid="10" grpId="0"/>
      <p:bldP spid="25" grpId="0"/>
      <p:bldP spid="26" grpId="0"/>
      <p:bldP spid="22" grpId="0" animBg="1"/>
      <p:bldP spid="23" grpId="0"/>
      <p:bldP spid="19" grpId="0" animBg="1"/>
      <p:bldP spid="20" grpId="0"/>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文本框 23"/>
          <p:cNvSpPr txBox="1"/>
          <p:nvPr/>
        </p:nvSpPr>
        <p:spPr>
          <a:xfrm>
            <a:off x="678609" y="301567"/>
            <a:ext cx="10634659" cy="707886"/>
          </a:xfrm>
          <a:prstGeom prst="rect">
            <a:avLst/>
          </a:prstGeom>
          <a:noFill/>
        </p:spPr>
        <p:txBody>
          <a:bodyPr wrap="square" rtlCol="0">
            <a:spAutoFit/>
          </a:bodyPr>
          <a:lstStyle/>
          <a:p>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例题</a:t>
            </a:r>
            <a:r>
              <a:rPr lang="en-US" altLang="zh-CN"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矩阵交换列</a:t>
            </a:r>
          </a:p>
        </p:txBody>
      </p:sp>
      <p:sp>
        <p:nvSpPr>
          <p:cNvPr id="7" name="内容占位符 2"/>
          <p:cNvSpPr>
            <a:spLocks noGrp="1"/>
          </p:cNvSpPr>
          <p:nvPr>
            <p:ph idx="1"/>
          </p:nvPr>
        </p:nvSpPr>
        <p:spPr>
          <a:xfrm>
            <a:off x="675388" y="1678907"/>
            <a:ext cx="3390469" cy="332341"/>
          </a:xfrm>
        </p:spPr>
        <p:txBody>
          <a:bodyPr vert="horz" lIns="91440" tIns="45720" rIns="91440" bIns="45720" rtlCol="0">
            <a:noAutofit/>
          </a:bodyPr>
          <a:lstStyle/>
          <a:p>
            <a:pPr marL="0" indent="0">
              <a:lnSpc>
                <a:spcPct val="100000"/>
              </a:lnSpc>
              <a:spcBef>
                <a:spcPts val="0"/>
              </a:spcBef>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给定一个</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en-US" altLang="zh-CN" sz="1200" dirty="0" err="1">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的矩阵，将其指定的两列进行交换。</a:t>
            </a:r>
            <a:endParaRPr lang="en-US" altLang="zh-CN" sz="1200" dirty="0">
              <a:latin typeface="Consolas" panose="020B0609020204030204" pitchFamily="49" charset="0"/>
              <a:ea typeface="微软雅黑" panose="020B0503020204020204" pitchFamily="34" charset="-122"/>
              <a:cs typeface="Consolas" panose="020B0609020204030204" pitchFamily="49" charset="0"/>
            </a:endParaRPr>
          </a:p>
        </p:txBody>
      </p:sp>
      <p:sp>
        <p:nvSpPr>
          <p:cNvPr id="8" name="矩形 7"/>
          <p:cNvSpPr/>
          <p:nvPr/>
        </p:nvSpPr>
        <p:spPr>
          <a:xfrm>
            <a:off x="678609" y="1343236"/>
            <a:ext cx="3385024"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题目要求</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9" name="内容占位符 2"/>
          <p:cNvSpPr txBox="1"/>
          <p:nvPr/>
        </p:nvSpPr>
        <p:spPr>
          <a:xfrm>
            <a:off x="672167" y="2348361"/>
            <a:ext cx="3390469" cy="132011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spcBef>
                <a:spcPts val="600"/>
              </a:spcBef>
              <a:buFont typeface="Arial" panose="020B0604020202020204" pitchFamily="34" charset="0"/>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第一行为两个整数</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1&lt;</a:t>
            </a:r>
            <a:r>
              <a:rPr lang="en-US" altLang="zh-CN" sz="1200" dirty="0" err="1">
                <a:latin typeface="Consolas" panose="020B0609020204030204" pitchFamily="49" charset="0"/>
                <a:ea typeface="微软雅黑" panose="020B0503020204020204" pitchFamily="34" charset="-122"/>
                <a:cs typeface="Consolas" panose="020B0609020204030204" pitchFamily="49" charset="0"/>
              </a:rPr>
              <a:t>n,m</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100</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），表示矩阵有</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行、</a:t>
            </a:r>
            <a:r>
              <a:rPr lang="en-US" altLang="zh-CN" sz="1200" dirty="0">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列；</a:t>
            </a:r>
            <a:endParaRPr lang="en-US" altLang="zh-CN" sz="12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600"/>
              </a:spcBef>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接下来为</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行、每行</a:t>
            </a:r>
            <a:r>
              <a:rPr lang="en-US" altLang="zh-CN" sz="1200" dirty="0">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个整数（</a:t>
            </a:r>
            <a:r>
              <a:rPr lang="en-US" altLang="zh-CN" sz="1200" dirty="0">
                <a:latin typeface="Consolas" panose="020B0609020204030204" pitchFamily="49" charset="0"/>
                <a:ea typeface="微软雅黑" panose="020B0503020204020204" pitchFamily="34" charset="-122"/>
                <a:cs typeface="Consolas" panose="020B0609020204030204" pitchFamily="49" charset="0"/>
              </a:rPr>
              <a:t>0</a:t>
            </a:r>
            <a:r>
              <a:rPr lang="zh-CN" altLang="en-US" sz="1200" dirty="0">
                <a:latin typeface="Consolas" panose="020B0609020204030204" pitchFamily="49" charset="0"/>
                <a:ea typeface="微软雅黑" panose="020B0503020204020204" pitchFamily="34" charset="-122"/>
                <a:cs typeface="Consolas" panose="020B0609020204030204" pitchFamily="49" charset="0"/>
              </a:rPr>
              <a:t>≤每个整数≤</a:t>
            </a:r>
            <a:r>
              <a:rPr lang="en-US" altLang="zh-CN" sz="1200" dirty="0">
                <a:latin typeface="Consolas" panose="020B0609020204030204" pitchFamily="49" charset="0"/>
                <a:ea typeface="微软雅黑" panose="020B0503020204020204" pitchFamily="34" charset="-122"/>
                <a:cs typeface="Consolas" panose="020B0609020204030204" pitchFamily="49" charset="0"/>
              </a:rPr>
              <a:t>1000</a:t>
            </a:r>
            <a:r>
              <a:rPr lang="zh-CN" altLang="en-US" sz="1200" dirty="0">
                <a:latin typeface="Consolas" panose="020B0609020204030204" pitchFamily="49" charset="0"/>
                <a:ea typeface="微软雅黑" panose="020B0503020204020204" pitchFamily="34" charset="-122"/>
                <a:cs typeface="Consolas" panose="020B0609020204030204" pitchFamily="49" charset="0"/>
              </a:rPr>
              <a:t>）为矩阵的所有数字；</a:t>
            </a:r>
            <a:endParaRPr lang="en-US" altLang="zh-CN" sz="12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600"/>
              </a:spcBef>
              <a:buFont typeface="Arial" panose="020B0604020202020204" pitchFamily="34" charset="0"/>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接下来一行为两个整数</a:t>
            </a:r>
            <a:r>
              <a:rPr lang="en-US" altLang="zh-CN" sz="1200" dirty="0">
                <a:latin typeface="Consolas" panose="020B0609020204030204" pitchFamily="49" charset="0"/>
                <a:ea typeface="微软雅黑" panose="020B0503020204020204" pitchFamily="34" charset="-122"/>
                <a:cs typeface="Consolas" panose="020B0609020204030204" pitchFamily="49" charset="0"/>
              </a:rPr>
              <a:t>p</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q</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1</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p</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q</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），表示要交换的两列的列号。</a:t>
            </a:r>
            <a:endParaRPr lang="en-US" altLang="zh-CN" sz="1200" dirty="0">
              <a:latin typeface="Consolas" panose="020B0609020204030204" pitchFamily="49" charset="0"/>
              <a:ea typeface="微软雅黑" panose="020B0503020204020204" pitchFamily="34" charset="-122"/>
              <a:cs typeface="Consolas" panose="020B0609020204030204" pitchFamily="49" charset="0"/>
            </a:endParaRPr>
          </a:p>
        </p:txBody>
      </p:sp>
      <p:sp>
        <p:nvSpPr>
          <p:cNvPr id="10" name="矩形 9"/>
          <p:cNvSpPr/>
          <p:nvPr/>
        </p:nvSpPr>
        <p:spPr>
          <a:xfrm>
            <a:off x="675389" y="2012690"/>
            <a:ext cx="3387746"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输入</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1" name="内容占位符 2"/>
          <p:cNvSpPr txBox="1"/>
          <p:nvPr/>
        </p:nvSpPr>
        <p:spPr>
          <a:xfrm>
            <a:off x="678609" y="4005585"/>
            <a:ext cx="3390469" cy="453880"/>
          </a:xfrm>
          <a:prstGeom prst="rect">
            <a:avLst/>
          </a:prstGeom>
        </p:spPr>
        <p:txBody>
          <a:bodyPr vert="horz" lIns="91440" tIns="45720" rIns="91440" bIns="45720" rtlCol="0">
            <a:noAutofit/>
          </a:bodyPr>
          <a:lstStyle>
            <a:lvl1pPr indent="0" defTabSz="914400">
              <a:lnSpc>
                <a:spcPct val="100000"/>
              </a:lnSpc>
              <a:spcBef>
                <a:spcPts val="0"/>
              </a:spcBef>
              <a:buSzPct val="125000"/>
              <a:buFont typeface="Arial" panose="020B0604020202020204" pitchFamily="34" charset="0"/>
              <a:buNone/>
              <a:defRPr sz="1200">
                <a:solidFill>
                  <a:schemeClr val="bg1"/>
                </a:solidFill>
                <a:latin typeface="微软雅黑" panose="020B0503020204020204" pitchFamily="34" charset="-122"/>
                <a:ea typeface="微软雅黑" panose="020B0503020204020204" pitchFamily="34" charset="-122"/>
                <a:cs typeface="Consolas" panose="020B0609020204030204" pitchFamily="49" charset="0"/>
              </a:defRPr>
            </a:lvl1pPr>
            <a:lvl2pPr marL="685800" indent="-228600" defTabSz="914400">
              <a:lnSpc>
                <a:spcPct val="120000"/>
              </a:lnSpc>
              <a:spcBef>
                <a:spcPts val="500"/>
              </a:spcBef>
              <a:buSzPct val="125000"/>
              <a:buFont typeface="Arial" panose="020B0604020202020204" pitchFamily="34" charset="0"/>
              <a:buChar char="•"/>
              <a:defRPr sz="2000">
                <a:solidFill>
                  <a:schemeClr val="bg1"/>
                </a:solidFill>
              </a:defRPr>
            </a:lvl2pPr>
            <a:lvl3pPr marL="1143000" indent="-228600" defTabSz="914400">
              <a:lnSpc>
                <a:spcPct val="120000"/>
              </a:lnSpc>
              <a:spcBef>
                <a:spcPts val="500"/>
              </a:spcBef>
              <a:buSzPct val="125000"/>
              <a:buFont typeface="Arial" panose="020B0604020202020204" pitchFamily="34" charset="0"/>
              <a:buChar char="•"/>
              <a:defRPr>
                <a:solidFill>
                  <a:schemeClr val="bg1"/>
                </a:solidFill>
              </a:defRPr>
            </a:lvl3pPr>
            <a:lvl4pPr marL="1600200" indent="-228600" defTabSz="914400">
              <a:lnSpc>
                <a:spcPct val="120000"/>
              </a:lnSpc>
              <a:spcBef>
                <a:spcPts val="500"/>
              </a:spcBef>
              <a:buSzPct val="125000"/>
              <a:buFont typeface="Arial" panose="020B0604020202020204" pitchFamily="34" charset="0"/>
              <a:buChar char="•"/>
              <a:defRPr sz="1600">
                <a:solidFill>
                  <a:schemeClr val="bg1"/>
                </a:solidFill>
              </a:defRPr>
            </a:lvl4pPr>
            <a:lvl5pPr marL="2057400" indent="-228600" defTabSz="914400">
              <a:lnSpc>
                <a:spcPct val="120000"/>
              </a:lnSpc>
              <a:spcBef>
                <a:spcPts val="500"/>
              </a:spcBef>
              <a:buSzPct val="125000"/>
              <a:buFont typeface="Arial" panose="020B0604020202020204" pitchFamily="34" charset="0"/>
              <a:buChar char="•"/>
              <a:defRPr sz="1600">
                <a:solidFill>
                  <a:schemeClr val="bg1"/>
                </a:solidFill>
              </a:defRPr>
            </a:lvl5pPr>
            <a:lvl6pPr marL="2514600" indent="-228600" defTabSz="914400">
              <a:lnSpc>
                <a:spcPct val="120000"/>
              </a:lnSpc>
              <a:spcBef>
                <a:spcPts val="500"/>
              </a:spcBef>
              <a:buSzPct val="125000"/>
              <a:buFont typeface="Arial" panose="020B0604020202020204" pitchFamily="34" charset="0"/>
              <a:buChar char="•"/>
              <a:defRPr sz="1400"/>
            </a:lvl6pPr>
            <a:lvl7pPr marL="2971800" indent="-228600" defTabSz="914400">
              <a:lnSpc>
                <a:spcPct val="120000"/>
              </a:lnSpc>
              <a:spcBef>
                <a:spcPts val="500"/>
              </a:spcBef>
              <a:buSzPct val="125000"/>
              <a:buFont typeface="Arial" panose="020B0604020202020204" pitchFamily="34" charset="0"/>
              <a:buChar char="•"/>
              <a:defRPr sz="1400"/>
            </a:lvl7pPr>
            <a:lvl8pPr marL="3429000" indent="-228600" defTabSz="914400">
              <a:lnSpc>
                <a:spcPct val="120000"/>
              </a:lnSpc>
              <a:spcBef>
                <a:spcPts val="500"/>
              </a:spcBef>
              <a:buSzPct val="125000"/>
              <a:buFont typeface="Arial" panose="020B0604020202020204" pitchFamily="34" charset="0"/>
              <a:buChar char="•"/>
              <a:defRPr sz="1400"/>
            </a:lvl8pPr>
            <a:lvl9pPr marL="3886200" indent="-228600" defTabSz="914400">
              <a:lnSpc>
                <a:spcPct val="120000"/>
              </a:lnSpc>
              <a:spcBef>
                <a:spcPts val="500"/>
              </a:spcBef>
              <a:buSzPct val="125000"/>
              <a:buFont typeface="Arial" panose="020B0604020202020204" pitchFamily="34" charset="0"/>
              <a:buChar char="•"/>
              <a:defRPr sz="1400"/>
            </a:lvl9pPr>
          </a:lstStyle>
          <a:p>
            <a:r>
              <a:rPr lang="zh-CN" altLang="en-US" dirty="0">
                <a:latin typeface="Consolas" panose="020B0609020204030204" pitchFamily="49" charset="0"/>
              </a:rPr>
              <a:t>交换两列后的矩阵。</a:t>
            </a:r>
            <a:r>
              <a:rPr lang="en-US" altLang="zh-CN" dirty="0">
                <a:latin typeface="Consolas" panose="020B0609020204030204" pitchFamily="49" charset="0"/>
              </a:rPr>
              <a:t>n</a:t>
            </a:r>
            <a:r>
              <a:rPr lang="zh-CN" altLang="en-US" dirty="0">
                <a:latin typeface="Consolas" panose="020B0609020204030204" pitchFamily="49" charset="0"/>
              </a:rPr>
              <a:t>行、</a:t>
            </a:r>
            <a:r>
              <a:rPr lang="en-US" altLang="zh-CN" dirty="0">
                <a:latin typeface="Consolas" panose="020B0609020204030204" pitchFamily="49" charset="0"/>
              </a:rPr>
              <a:t>m</a:t>
            </a:r>
            <a:r>
              <a:rPr lang="zh-CN" altLang="en-US" dirty="0">
                <a:latin typeface="Consolas" panose="020B0609020204030204" pitchFamily="49" charset="0"/>
              </a:rPr>
              <a:t>列，每两个数字之间有个空格，行尾无空格。</a:t>
            </a:r>
            <a:endParaRPr lang="en-US" altLang="zh-CN" dirty="0">
              <a:latin typeface="Consolas" panose="020B0609020204030204" pitchFamily="49" charset="0"/>
            </a:endParaRPr>
          </a:p>
        </p:txBody>
      </p:sp>
      <p:sp>
        <p:nvSpPr>
          <p:cNvPr id="12" name="矩形 11"/>
          <p:cNvSpPr/>
          <p:nvPr/>
        </p:nvSpPr>
        <p:spPr>
          <a:xfrm>
            <a:off x="678609" y="3668473"/>
            <a:ext cx="3390469"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输出</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3" name="内容占位符 2"/>
          <p:cNvSpPr txBox="1"/>
          <p:nvPr/>
        </p:nvSpPr>
        <p:spPr>
          <a:xfrm>
            <a:off x="672167" y="4544880"/>
            <a:ext cx="1260965" cy="1152277"/>
          </a:xfrm>
          <a:prstGeom prst="rect">
            <a:avLst/>
          </a:prstGeom>
        </p:spPr>
        <p:txBody>
          <a:bodyPr vert="horz" lIns="91440" tIns="45720" rIns="91440" bIns="45720" rtlCol="0">
            <a:noAutofit/>
          </a:bodyPr>
          <a:lstStyle>
            <a:lvl1pPr indent="0" defTabSz="914400">
              <a:lnSpc>
                <a:spcPct val="100000"/>
              </a:lnSpc>
              <a:spcBef>
                <a:spcPts val="0"/>
              </a:spcBef>
              <a:buSzPct val="125000"/>
              <a:buFont typeface="Arial" panose="020B0604020202020204" pitchFamily="34" charset="0"/>
              <a:buNone/>
              <a:defRPr sz="1200">
                <a:solidFill>
                  <a:schemeClr val="bg1"/>
                </a:solidFill>
                <a:latin typeface="微软雅黑" panose="020B0503020204020204" pitchFamily="34" charset="-122"/>
                <a:ea typeface="微软雅黑" panose="020B0503020204020204" pitchFamily="34" charset="-122"/>
                <a:cs typeface="Consolas" panose="020B0609020204030204" pitchFamily="49" charset="0"/>
              </a:defRPr>
            </a:lvl1pPr>
            <a:lvl2pPr marL="685800" indent="-228600" defTabSz="914400">
              <a:lnSpc>
                <a:spcPct val="120000"/>
              </a:lnSpc>
              <a:spcBef>
                <a:spcPts val="500"/>
              </a:spcBef>
              <a:buSzPct val="125000"/>
              <a:buFont typeface="Arial" panose="020B0604020202020204" pitchFamily="34" charset="0"/>
              <a:buChar char="•"/>
              <a:defRPr sz="2000">
                <a:solidFill>
                  <a:schemeClr val="bg1"/>
                </a:solidFill>
              </a:defRPr>
            </a:lvl2pPr>
            <a:lvl3pPr marL="1143000" indent="-228600" defTabSz="914400">
              <a:lnSpc>
                <a:spcPct val="120000"/>
              </a:lnSpc>
              <a:spcBef>
                <a:spcPts val="500"/>
              </a:spcBef>
              <a:buSzPct val="125000"/>
              <a:buFont typeface="Arial" panose="020B0604020202020204" pitchFamily="34" charset="0"/>
              <a:buChar char="•"/>
              <a:defRPr>
                <a:solidFill>
                  <a:schemeClr val="bg1"/>
                </a:solidFill>
              </a:defRPr>
            </a:lvl3pPr>
            <a:lvl4pPr marL="1600200" indent="-228600" defTabSz="914400">
              <a:lnSpc>
                <a:spcPct val="120000"/>
              </a:lnSpc>
              <a:spcBef>
                <a:spcPts val="500"/>
              </a:spcBef>
              <a:buSzPct val="125000"/>
              <a:buFont typeface="Arial" panose="020B0604020202020204" pitchFamily="34" charset="0"/>
              <a:buChar char="•"/>
              <a:defRPr sz="1600">
                <a:solidFill>
                  <a:schemeClr val="bg1"/>
                </a:solidFill>
              </a:defRPr>
            </a:lvl4pPr>
            <a:lvl5pPr marL="2057400" indent="-228600" defTabSz="914400">
              <a:lnSpc>
                <a:spcPct val="120000"/>
              </a:lnSpc>
              <a:spcBef>
                <a:spcPts val="500"/>
              </a:spcBef>
              <a:buSzPct val="125000"/>
              <a:buFont typeface="Arial" panose="020B0604020202020204" pitchFamily="34" charset="0"/>
              <a:buChar char="•"/>
              <a:defRPr sz="1600">
                <a:solidFill>
                  <a:schemeClr val="bg1"/>
                </a:solidFill>
              </a:defRPr>
            </a:lvl5pPr>
            <a:lvl6pPr marL="2514600" indent="-228600" defTabSz="914400">
              <a:lnSpc>
                <a:spcPct val="120000"/>
              </a:lnSpc>
              <a:spcBef>
                <a:spcPts val="500"/>
              </a:spcBef>
              <a:buSzPct val="125000"/>
              <a:buFont typeface="Arial" panose="020B0604020202020204" pitchFamily="34" charset="0"/>
              <a:buChar char="•"/>
              <a:defRPr sz="1400"/>
            </a:lvl6pPr>
            <a:lvl7pPr marL="2971800" indent="-228600" defTabSz="914400">
              <a:lnSpc>
                <a:spcPct val="120000"/>
              </a:lnSpc>
              <a:spcBef>
                <a:spcPts val="500"/>
              </a:spcBef>
              <a:buSzPct val="125000"/>
              <a:buFont typeface="Arial" panose="020B0604020202020204" pitchFamily="34" charset="0"/>
              <a:buChar char="•"/>
              <a:defRPr sz="1400"/>
            </a:lvl7pPr>
            <a:lvl8pPr marL="3429000" indent="-228600" defTabSz="914400">
              <a:lnSpc>
                <a:spcPct val="120000"/>
              </a:lnSpc>
              <a:spcBef>
                <a:spcPts val="500"/>
              </a:spcBef>
              <a:buSzPct val="125000"/>
              <a:buFont typeface="Arial" panose="020B0604020202020204" pitchFamily="34" charset="0"/>
              <a:buChar char="•"/>
              <a:defRPr sz="1400"/>
            </a:lvl8pPr>
            <a:lvl9pPr marL="3886200" indent="-228600" defTabSz="914400">
              <a:lnSpc>
                <a:spcPct val="120000"/>
              </a:lnSpc>
              <a:spcBef>
                <a:spcPts val="500"/>
              </a:spcBef>
              <a:buSzPct val="125000"/>
              <a:buFont typeface="Arial" panose="020B0604020202020204" pitchFamily="34" charset="0"/>
              <a:buChar char="•"/>
              <a:defRPr sz="1400"/>
            </a:lvl9pPr>
          </a:lstStyle>
          <a:p>
            <a:r>
              <a:rPr lang="zh-CN" altLang="en-US" dirty="0">
                <a:latin typeface="Consolas" panose="020B0609020204030204" pitchFamily="49" charset="0"/>
              </a:rPr>
              <a:t>样例输入：</a:t>
            </a:r>
            <a:endParaRPr lang="en-US" altLang="zh-CN" dirty="0">
              <a:latin typeface="Consolas" panose="020B0609020204030204" pitchFamily="49" charset="0"/>
            </a:endParaRPr>
          </a:p>
          <a:p>
            <a:r>
              <a:rPr lang="en-US" altLang="zh-CN" dirty="0">
                <a:latin typeface="Consolas" panose="020B0609020204030204" pitchFamily="49" charset="0"/>
              </a:rPr>
              <a:t>3 5</a:t>
            </a:r>
          </a:p>
          <a:p>
            <a:r>
              <a:rPr lang="en-US" altLang="zh-CN" dirty="0">
                <a:latin typeface="Consolas" panose="020B0609020204030204" pitchFamily="49" charset="0"/>
              </a:rPr>
              <a:t>1 2 3 4 5</a:t>
            </a:r>
          </a:p>
          <a:p>
            <a:r>
              <a:rPr lang="en-US" altLang="zh-CN" dirty="0">
                <a:latin typeface="Consolas" panose="020B0609020204030204" pitchFamily="49" charset="0"/>
              </a:rPr>
              <a:t>2 3 4 5 6</a:t>
            </a:r>
          </a:p>
          <a:p>
            <a:r>
              <a:rPr lang="en-US" altLang="zh-CN" dirty="0">
                <a:latin typeface="Consolas" panose="020B0609020204030204" pitchFamily="49" charset="0"/>
              </a:rPr>
              <a:t>3 4 5 6 7</a:t>
            </a:r>
          </a:p>
          <a:p>
            <a:r>
              <a:rPr lang="en-US" altLang="zh-CN" dirty="0">
                <a:latin typeface="Consolas" panose="020B0609020204030204" pitchFamily="49" charset="0"/>
              </a:rPr>
              <a:t>2 4</a:t>
            </a:r>
          </a:p>
        </p:txBody>
      </p:sp>
      <p:sp>
        <p:nvSpPr>
          <p:cNvPr id="14" name="矩形 13"/>
          <p:cNvSpPr/>
          <p:nvPr/>
        </p:nvSpPr>
        <p:spPr>
          <a:xfrm>
            <a:off x="4343565" y="1678907"/>
            <a:ext cx="2815403" cy="1615827"/>
          </a:xfrm>
          <a:prstGeom prst="rect">
            <a:avLst/>
          </a:prstGeom>
        </p:spPr>
        <p:txBody>
          <a:bodyPr wrap="square">
            <a:spAutoFit/>
          </a:bodyPr>
          <a:lstStyle/>
          <a:p>
            <a:pPr>
              <a:spcBef>
                <a:spcPts val="600"/>
              </a:spcBef>
            </a:pPr>
            <a:r>
              <a:rPr lang="zh-CN" altLang="en-US" sz="1200" dirty="0">
                <a:solidFill>
                  <a:srgbClr val="008200"/>
                </a:solidFill>
                <a:latin typeface="Consolas" panose="020B0609020204030204" pitchFamily="49" charset="0"/>
                <a:ea typeface="微软雅黑" panose="020B0503020204020204" pitchFamily="34" charset="-122"/>
              </a:rPr>
              <a:t>小技巧</a:t>
            </a:r>
            <a:endParaRPr lang="en-US" altLang="zh-CN" sz="1200" dirty="0">
              <a:solidFill>
                <a:srgbClr val="008200"/>
              </a:solidFill>
              <a:latin typeface="Consolas" panose="020B0609020204030204" pitchFamily="49" charset="0"/>
              <a:ea typeface="微软雅黑" panose="020B0503020204020204" pitchFamily="34" charset="-122"/>
            </a:endParaRPr>
          </a:p>
          <a:p>
            <a:pPr>
              <a:spcBef>
                <a:spcPts val="600"/>
              </a:spcBef>
            </a:pPr>
            <a:r>
              <a:rPr lang="en-US" altLang="zh-CN" sz="1200" dirty="0">
                <a:solidFill>
                  <a:srgbClr val="008200"/>
                </a:solidFill>
                <a:latin typeface="Consolas" panose="020B0609020204030204" pitchFamily="49" charset="0"/>
                <a:ea typeface="微软雅黑" panose="020B0503020204020204" pitchFamily="34" charset="-122"/>
              </a:rPr>
              <a:t>p</a:t>
            </a:r>
            <a:r>
              <a:rPr lang="zh-CN" altLang="en-US" sz="1200" dirty="0">
                <a:solidFill>
                  <a:srgbClr val="008200"/>
                </a:solidFill>
                <a:latin typeface="Consolas" panose="020B0609020204030204" pitchFamily="49" charset="0"/>
                <a:ea typeface="微软雅黑" panose="020B0503020204020204" pitchFamily="34" charset="-122"/>
              </a:rPr>
              <a:t>和</a:t>
            </a:r>
            <a:r>
              <a:rPr lang="en-US" altLang="zh-CN" sz="1200" dirty="0">
                <a:solidFill>
                  <a:srgbClr val="008200"/>
                </a:solidFill>
                <a:latin typeface="Consolas" panose="020B0609020204030204" pitchFamily="49" charset="0"/>
                <a:ea typeface="微软雅黑" panose="020B0503020204020204" pitchFamily="34" charset="-122"/>
              </a:rPr>
              <a:t>q</a:t>
            </a:r>
            <a:r>
              <a:rPr lang="zh-CN" altLang="en-US" sz="1200" dirty="0">
                <a:solidFill>
                  <a:srgbClr val="008200"/>
                </a:solidFill>
                <a:latin typeface="Consolas" panose="020B0609020204030204" pitchFamily="49" charset="0"/>
                <a:ea typeface="微软雅黑" panose="020B0503020204020204" pitchFamily="34" charset="-122"/>
              </a:rPr>
              <a:t>是“列号”的含义，从样例数据就能看出，列号是从</a:t>
            </a:r>
            <a:r>
              <a:rPr lang="en-US" altLang="zh-CN" sz="1200" dirty="0">
                <a:solidFill>
                  <a:srgbClr val="008200"/>
                </a:solidFill>
                <a:latin typeface="Consolas" panose="020B0609020204030204" pitchFamily="49" charset="0"/>
                <a:ea typeface="微软雅黑" panose="020B0503020204020204" pitchFamily="34" charset="-122"/>
              </a:rPr>
              <a:t>1</a:t>
            </a:r>
            <a:r>
              <a:rPr lang="zh-CN" altLang="en-US" sz="1200" dirty="0">
                <a:solidFill>
                  <a:srgbClr val="008200"/>
                </a:solidFill>
                <a:latin typeface="Consolas" panose="020B0609020204030204" pitchFamily="49" charset="0"/>
                <a:ea typeface="微软雅黑" panose="020B0503020204020204" pitchFamily="34" charset="-122"/>
              </a:rPr>
              <a:t>开始的。</a:t>
            </a:r>
            <a:endParaRPr lang="en-US" altLang="zh-CN" sz="1200" dirty="0">
              <a:solidFill>
                <a:srgbClr val="008200"/>
              </a:solidFill>
              <a:latin typeface="Consolas" panose="020B0609020204030204" pitchFamily="49" charset="0"/>
              <a:ea typeface="微软雅黑" panose="020B0503020204020204" pitchFamily="34" charset="-122"/>
            </a:endParaRPr>
          </a:p>
          <a:p>
            <a:pPr>
              <a:spcBef>
                <a:spcPts val="600"/>
              </a:spcBef>
            </a:pPr>
            <a:r>
              <a:rPr lang="zh-CN" altLang="en-US" sz="1200" dirty="0">
                <a:solidFill>
                  <a:srgbClr val="008200"/>
                </a:solidFill>
                <a:latin typeface="Consolas" panose="020B0609020204030204" pitchFamily="49" charset="0"/>
                <a:ea typeface="微软雅黑" panose="020B0503020204020204" pitchFamily="34" charset="-122"/>
              </a:rPr>
              <a:t>如果从下标</a:t>
            </a:r>
            <a:r>
              <a:rPr lang="en-US" altLang="zh-CN" sz="1200" dirty="0">
                <a:solidFill>
                  <a:srgbClr val="008200"/>
                </a:solidFill>
                <a:latin typeface="Consolas" panose="020B0609020204030204" pitchFamily="49" charset="0"/>
                <a:ea typeface="微软雅黑" panose="020B0503020204020204" pitchFamily="34" charset="-122"/>
              </a:rPr>
              <a:t>0</a:t>
            </a:r>
            <a:r>
              <a:rPr lang="zh-CN" altLang="en-US" sz="1200" dirty="0">
                <a:solidFill>
                  <a:srgbClr val="008200"/>
                </a:solidFill>
                <a:latin typeface="Consolas" panose="020B0609020204030204" pitchFamily="49" charset="0"/>
                <a:ea typeface="微软雅黑" panose="020B0503020204020204" pitchFamily="34" charset="-122"/>
              </a:rPr>
              <a:t>开始存放数据的话，第</a:t>
            </a:r>
            <a:r>
              <a:rPr lang="en-US" altLang="zh-CN" sz="1200" dirty="0">
                <a:solidFill>
                  <a:srgbClr val="008200"/>
                </a:solidFill>
                <a:latin typeface="Consolas" panose="020B0609020204030204" pitchFamily="49" charset="0"/>
                <a:ea typeface="微软雅黑" panose="020B0503020204020204" pitchFamily="34" charset="-122"/>
              </a:rPr>
              <a:t>p</a:t>
            </a:r>
            <a:r>
              <a:rPr lang="zh-CN" altLang="en-US" sz="1200" dirty="0">
                <a:solidFill>
                  <a:srgbClr val="008200"/>
                </a:solidFill>
                <a:latin typeface="Consolas" panose="020B0609020204030204" pitchFamily="49" charset="0"/>
                <a:ea typeface="微软雅黑" panose="020B0503020204020204" pitchFamily="34" charset="-122"/>
              </a:rPr>
              <a:t>列的下标为</a:t>
            </a:r>
            <a:r>
              <a:rPr lang="en-US" altLang="zh-CN" sz="1200" dirty="0">
                <a:solidFill>
                  <a:srgbClr val="008200"/>
                </a:solidFill>
                <a:latin typeface="Consolas" panose="020B0609020204030204" pitchFamily="49" charset="0"/>
                <a:ea typeface="微软雅黑" panose="020B0503020204020204" pitchFamily="34" charset="-122"/>
              </a:rPr>
              <a:t>p-1</a:t>
            </a:r>
            <a:r>
              <a:rPr lang="zh-CN" altLang="en-US" sz="1200" dirty="0">
                <a:solidFill>
                  <a:srgbClr val="008200"/>
                </a:solidFill>
                <a:latin typeface="Consolas" panose="020B0609020204030204" pitchFamily="49" charset="0"/>
                <a:ea typeface="微软雅黑" panose="020B0503020204020204" pitchFamily="34" charset="-122"/>
              </a:rPr>
              <a:t>，容易搞错。</a:t>
            </a:r>
            <a:endParaRPr lang="en-US" altLang="zh-CN" sz="1200" dirty="0">
              <a:solidFill>
                <a:srgbClr val="008200"/>
              </a:solidFill>
              <a:latin typeface="Consolas" panose="020B0609020204030204" pitchFamily="49" charset="0"/>
              <a:ea typeface="微软雅黑" panose="020B0503020204020204" pitchFamily="34" charset="-122"/>
            </a:endParaRPr>
          </a:p>
          <a:p>
            <a:pPr>
              <a:spcBef>
                <a:spcPts val="600"/>
              </a:spcBef>
            </a:pPr>
            <a:r>
              <a:rPr lang="zh-CN" altLang="en-US" sz="1200" dirty="0">
                <a:solidFill>
                  <a:srgbClr val="008200"/>
                </a:solidFill>
                <a:latin typeface="Consolas" panose="020B0609020204030204" pitchFamily="49" charset="0"/>
                <a:ea typeface="微软雅黑" panose="020B0503020204020204" pitchFamily="34" charset="-122"/>
              </a:rPr>
              <a:t>不妨从下标</a:t>
            </a:r>
            <a:r>
              <a:rPr lang="en-US" altLang="zh-CN" sz="1200" dirty="0">
                <a:solidFill>
                  <a:srgbClr val="008200"/>
                </a:solidFill>
                <a:latin typeface="Consolas" panose="020B0609020204030204" pitchFamily="49" charset="0"/>
                <a:ea typeface="微软雅黑" panose="020B0503020204020204" pitchFamily="34" charset="-122"/>
              </a:rPr>
              <a:t>1</a:t>
            </a:r>
            <a:r>
              <a:rPr lang="zh-CN" altLang="en-US" sz="1200" dirty="0">
                <a:solidFill>
                  <a:srgbClr val="008200"/>
                </a:solidFill>
                <a:latin typeface="Consolas" panose="020B0609020204030204" pitchFamily="49" charset="0"/>
                <a:ea typeface="微软雅黑" panose="020B0503020204020204" pitchFamily="34" charset="-122"/>
              </a:rPr>
              <a:t>开始保存数据，行号与下标就统一起来了，可以避免错误。</a:t>
            </a:r>
          </a:p>
        </p:txBody>
      </p:sp>
      <p:sp>
        <p:nvSpPr>
          <p:cNvPr id="2" name="矩形 1"/>
          <p:cNvSpPr/>
          <p:nvPr/>
        </p:nvSpPr>
        <p:spPr>
          <a:xfrm>
            <a:off x="1933132" y="4544880"/>
            <a:ext cx="1107677" cy="954107"/>
          </a:xfrm>
          <a:prstGeom prst="rect">
            <a:avLst/>
          </a:prstGeom>
        </p:spPr>
        <p:txBody>
          <a:bodyPr vert="horz" lIns="91440" tIns="45720" rIns="91440" bIns="45720" rtlCol="0">
            <a:noAutofit/>
          </a:bodyPr>
          <a:lstStyle/>
          <a:p>
            <a:pPr defTabSz="914400">
              <a:buSzPct val="125000"/>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样例输出：</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defTabSz="914400">
              <a:buSzPct val="125000"/>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1 4 3 2 5</a:t>
            </a:r>
          </a:p>
          <a:p>
            <a:pPr defTabSz="914400">
              <a:buSzPct val="125000"/>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2 5 4 3 6</a:t>
            </a:r>
          </a:p>
          <a:p>
            <a:pPr defTabSz="914400">
              <a:buSzPct val="125000"/>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3 6 5 4 7</a:t>
            </a:r>
          </a:p>
        </p:txBody>
      </p:sp>
      <p:graphicFrame>
        <p:nvGraphicFramePr>
          <p:cNvPr id="15" name="表格 14"/>
          <p:cNvGraphicFramePr>
            <a:graphicFrameLocks noGrp="1"/>
          </p:cNvGraphicFramePr>
          <p:nvPr>
            <p:extLst>
              <p:ext uri="{D42A27DB-BD31-4B8C-83A1-F6EECF244321}">
                <p14:modId xmlns:p14="http://schemas.microsoft.com/office/powerpoint/2010/main" val="2549260311"/>
              </p:ext>
            </p:extLst>
          </p:nvPr>
        </p:nvGraphicFramePr>
        <p:xfrm>
          <a:off x="4170116" y="3429000"/>
          <a:ext cx="3162300" cy="1343025"/>
        </p:xfrm>
        <a:graphic>
          <a:graphicData uri="http://schemas.openxmlformats.org/drawingml/2006/table">
            <a:tbl>
              <a:tblPr/>
              <a:tblGrid>
                <a:gridCol w="317500">
                  <a:extLst>
                    <a:ext uri="{9D8B030D-6E8A-4147-A177-3AD203B41FA5}">
                      <a16:colId xmlns:a16="http://schemas.microsoft.com/office/drawing/2014/main" val="20000"/>
                    </a:ext>
                  </a:extLst>
                </a:gridCol>
                <a:gridCol w="355600">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55600">
                  <a:extLst>
                    <a:ext uri="{9D8B030D-6E8A-4147-A177-3AD203B41FA5}">
                      <a16:colId xmlns:a16="http://schemas.microsoft.com/office/drawing/2014/main" val="20003"/>
                    </a:ext>
                  </a:extLst>
                </a:gridCol>
                <a:gridCol w="355600">
                  <a:extLst>
                    <a:ext uri="{9D8B030D-6E8A-4147-A177-3AD203B41FA5}">
                      <a16:colId xmlns:a16="http://schemas.microsoft.com/office/drawing/2014/main" val="20004"/>
                    </a:ext>
                  </a:extLst>
                </a:gridCol>
                <a:gridCol w="355600">
                  <a:extLst>
                    <a:ext uri="{9D8B030D-6E8A-4147-A177-3AD203B41FA5}">
                      <a16:colId xmlns:a16="http://schemas.microsoft.com/office/drawing/2014/main" val="20005"/>
                    </a:ext>
                  </a:extLst>
                </a:gridCol>
                <a:gridCol w="355600">
                  <a:extLst>
                    <a:ext uri="{9D8B030D-6E8A-4147-A177-3AD203B41FA5}">
                      <a16:colId xmlns:a16="http://schemas.microsoft.com/office/drawing/2014/main" val="20006"/>
                    </a:ext>
                  </a:extLst>
                </a:gridCol>
                <a:gridCol w="355600">
                  <a:extLst>
                    <a:ext uri="{9D8B030D-6E8A-4147-A177-3AD203B41FA5}">
                      <a16:colId xmlns:a16="http://schemas.microsoft.com/office/drawing/2014/main" val="20007"/>
                    </a:ext>
                  </a:extLst>
                </a:gridCol>
                <a:gridCol w="355600">
                  <a:extLst>
                    <a:ext uri="{9D8B030D-6E8A-4147-A177-3AD203B41FA5}">
                      <a16:colId xmlns:a16="http://schemas.microsoft.com/office/drawing/2014/main" val="20008"/>
                    </a:ext>
                  </a:extLst>
                </a:gridCol>
              </a:tblGrid>
              <a:tr h="200025">
                <a:tc>
                  <a:txBody>
                    <a:bodyPr/>
                    <a:lstStyle/>
                    <a:p>
                      <a:pPr algn="ctr" fontAlgn="ctr"/>
                      <a:endParaRPr lang="zh-CN" altLang="en-US" sz="1100" b="0" i="0" u="none" strike="noStrike">
                        <a:solidFill>
                          <a:srgbClr val="000000"/>
                        </a:solidFill>
                        <a:effectLst/>
                        <a:latin typeface="Consolas" panose="020B0609020204030204" pitchFamily="49" charset="0"/>
                        <a:ea typeface="等线" panose="02010600030101010101" pitchFamily="2" charset="-122"/>
                      </a:endParaRPr>
                    </a:p>
                  </a:txBody>
                  <a:tcPr marL="9525" marR="9525" marT="9525" marB="0" anchor="ctr">
                    <a:lnL>
                      <a:noFill/>
                    </a:lnL>
                    <a:lnR>
                      <a:noFill/>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1</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2</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3</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4</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5</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6</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7</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0500">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1</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0500">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2</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90500">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3</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90500">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4</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90500">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5</a:t>
                      </a: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Consolas" panose="020B0609020204030204" pitchFamily="49" charset="0"/>
                          <a:ea typeface="等线" panose="02010600030101010101" pitchFamily="2" charset="-122"/>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6" name="内容占位符 2"/>
          <p:cNvSpPr txBox="1"/>
          <p:nvPr/>
        </p:nvSpPr>
        <p:spPr>
          <a:xfrm>
            <a:off x="3989242" y="4906291"/>
            <a:ext cx="3798570" cy="855980"/>
          </a:xfrm>
          <a:prstGeom prst="rect">
            <a:avLst/>
          </a:prstGeom>
        </p:spPr>
        <p:txBody>
          <a:bodyPr vert="horz" lIns="91440" tIns="45720" rIns="91440" bIns="45720" rtlCol="0">
            <a:noAutofit/>
          </a:bodyPr>
          <a:lstStyle>
            <a:lvl1pPr indent="0" defTabSz="914400">
              <a:lnSpc>
                <a:spcPct val="100000"/>
              </a:lnSpc>
              <a:spcBef>
                <a:spcPts val="0"/>
              </a:spcBef>
              <a:buSzPct val="125000"/>
              <a:buFont typeface="Arial" panose="020B0604020202020204" pitchFamily="34" charset="0"/>
              <a:buNone/>
              <a:defRPr sz="1200">
                <a:solidFill>
                  <a:schemeClr val="bg1"/>
                </a:solidFill>
                <a:latin typeface="微软雅黑" panose="020B0503020204020204" pitchFamily="34" charset="-122"/>
                <a:ea typeface="微软雅黑" panose="020B0503020204020204" pitchFamily="34" charset="-122"/>
                <a:cs typeface="Consolas" panose="020B0609020204030204" pitchFamily="49" charset="0"/>
              </a:defRPr>
            </a:lvl1pPr>
            <a:lvl2pPr marL="685800" indent="-228600" defTabSz="914400">
              <a:lnSpc>
                <a:spcPct val="120000"/>
              </a:lnSpc>
              <a:spcBef>
                <a:spcPts val="500"/>
              </a:spcBef>
              <a:buSzPct val="125000"/>
              <a:buFont typeface="Arial" panose="020B0604020202020204" pitchFamily="34" charset="0"/>
              <a:buChar char="•"/>
              <a:defRPr sz="2000">
                <a:solidFill>
                  <a:schemeClr val="bg1"/>
                </a:solidFill>
              </a:defRPr>
            </a:lvl2pPr>
            <a:lvl3pPr marL="1143000" indent="-228600" defTabSz="914400">
              <a:lnSpc>
                <a:spcPct val="120000"/>
              </a:lnSpc>
              <a:spcBef>
                <a:spcPts val="500"/>
              </a:spcBef>
              <a:buSzPct val="125000"/>
              <a:buFont typeface="Arial" panose="020B0604020202020204" pitchFamily="34" charset="0"/>
              <a:buChar char="•"/>
              <a:defRPr>
                <a:solidFill>
                  <a:schemeClr val="bg1"/>
                </a:solidFill>
              </a:defRPr>
            </a:lvl3pPr>
            <a:lvl4pPr marL="1600200" indent="-228600" defTabSz="914400">
              <a:lnSpc>
                <a:spcPct val="120000"/>
              </a:lnSpc>
              <a:spcBef>
                <a:spcPts val="500"/>
              </a:spcBef>
              <a:buSzPct val="125000"/>
              <a:buFont typeface="Arial" panose="020B0604020202020204" pitchFamily="34" charset="0"/>
              <a:buChar char="•"/>
              <a:defRPr sz="1600">
                <a:solidFill>
                  <a:schemeClr val="bg1"/>
                </a:solidFill>
              </a:defRPr>
            </a:lvl4pPr>
            <a:lvl5pPr marL="2057400" indent="-228600" defTabSz="914400">
              <a:lnSpc>
                <a:spcPct val="120000"/>
              </a:lnSpc>
              <a:spcBef>
                <a:spcPts val="500"/>
              </a:spcBef>
              <a:buSzPct val="125000"/>
              <a:buFont typeface="Arial" panose="020B0604020202020204" pitchFamily="34" charset="0"/>
              <a:buChar char="•"/>
              <a:defRPr sz="1600">
                <a:solidFill>
                  <a:schemeClr val="bg1"/>
                </a:solidFill>
              </a:defRPr>
            </a:lvl5pPr>
            <a:lvl6pPr marL="2514600" indent="-228600" defTabSz="914400">
              <a:lnSpc>
                <a:spcPct val="120000"/>
              </a:lnSpc>
              <a:spcBef>
                <a:spcPts val="500"/>
              </a:spcBef>
              <a:buSzPct val="125000"/>
              <a:buFont typeface="Arial" panose="020B0604020202020204" pitchFamily="34" charset="0"/>
              <a:buChar char="•"/>
              <a:defRPr sz="1400"/>
            </a:lvl6pPr>
            <a:lvl7pPr marL="2971800" indent="-228600" defTabSz="914400">
              <a:lnSpc>
                <a:spcPct val="120000"/>
              </a:lnSpc>
              <a:spcBef>
                <a:spcPts val="500"/>
              </a:spcBef>
              <a:buSzPct val="125000"/>
              <a:buFont typeface="Arial" panose="020B0604020202020204" pitchFamily="34" charset="0"/>
              <a:buChar char="•"/>
              <a:defRPr sz="1400"/>
            </a:lvl7pPr>
            <a:lvl8pPr marL="3429000" indent="-228600" defTabSz="914400">
              <a:lnSpc>
                <a:spcPct val="120000"/>
              </a:lnSpc>
              <a:spcBef>
                <a:spcPts val="500"/>
              </a:spcBef>
              <a:buSzPct val="125000"/>
              <a:buFont typeface="Arial" panose="020B0604020202020204" pitchFamily="34" charset="0"/>
              <a:buChar char="•"/>
              <a:defRPr sz="1400"/>
            </a:lvl8pPr>
            <a:lvl9pPr marL="3886200" indent="-228600" defTabSz="914400">
              <a:lnSpc>
                <a:spcPct val="120000"/>
              </a:lnSpc>
              <a:spcBef>
                <a:spcPts val="500"/>
              </a:spcBef>
              <a:buSzPct val="125000"/>
              <a:buFont typeface="Arial" panose="020B0604020202020204" pitchFamily="34" charset="0"/>
              <a:buChar char="•"/>
              <a:defRPr sz="1400"/>
            </a:lvl9pPr>
          </a:lstStyle>
          <a:p>
            <a:pPr>
              <a:spcBef>
                <a:spcPts val="600"/>
              </a:spcBef>
            </a:pPr>
            <a:r>
              <a:rPr lang="en-US" altLang="zh-CN" dirty="0">
                <a:latin typeface="Consolas" panose="020B0609020204030204" pitchFamily="49" charset="0"/>
              </a:rPr>
              <a:t>swap(a[1][2],a[1][4]); </a:t>
            </a:r>
            <a:r>
              <a:rPr lang="zh-CN" altLang="en-US" dirty="0">
                <a:solidFill>
                  <a:srgbClr val="008200"/>
                </a:solidFill>
                <a:latin typeface="Consolas" panose="020B0609020204030204" pitchFamily="49" charset="0"/>
                <a:cs typeface="+mn-cs"/>
              </a:rPr>
              <a:t>// </a:t>
            </a:r>
            <a:r>
              <a:rPr lang="zh-CN" altLang="en-US" dirty="0">
                <a:solidFill>
                  <a:srgbClr val="008200"/>
                </a:solidFill>
                <a:latin typeface="Consolas" panose="020B0609020204030204" pitchFamily="49" charset="0"/>
                <a:cs typeface="+mn-cs"/>
                <a:sym typeface="+mn-ea"/>
              </a:rPr>
              <a:t>交换第1行的2和4列</a:t>
            </a:r>
            <a:endParaRPr lang="en-US" altLang="zh-CN" dirty="0">
              <a:solidFill>
                <a:srgbClr val="008200"/>
              </a:solidFill>
              <a:latin typeface="Consolas" panose="020B0609020204030204" pitchFamily="49" charset="0"/>
              <a:cs typeface="+mn-cs"/>
            </a:endParaRPr>
          </a:p>
          <a:p>
            <a:pPr>
              <a:spcBef>
                <a:spcPts val="600"/>
              </a:spcBef>
            </a:pPr>
            <a:r>
              <a:rPr lang="en-US" altLang="zh-CN" dirty="0">
                <a:latin typeface="Consolas" panose="020B0609020204030204" pitchFamily="49" charset="0"/>
              </a:rPr>
              <a:t>swap(a[2][2],a[2][4]);</a:t>
            </a:r>
            <a:r>
              <a:rPr lang="en-US" altLang="zh-CN" dirty="0">
                <a:latin typeface="Consolas" panose="020B0609020204030204" pitchFamily="49" charset="0"/>
                <a:sym typeface="+mn-ea"/>
              </a:rPr>
              <a:t> </a:t>
            </a:r>
            <a:r>
              <a:rPr lang="zh-CN" altLang="en-US" dirty="0">
                <a:solidFill>
                  <a:srgbClr val="008200"/>
                </a:solidFill>
                <a:latin typeface="Consolas" panose="020B0609020204030204" pitchFamily="49" charset="0"/>
                <a:cs typeface="+mn-cs"/>
                <a:sym typeface="+mn-ea"/>
              </a:rPr>
              <a:t>// 交换第2行的2和4列</a:t>
            </a:r>
            <a:endParaRPr lang="en-US" altLang="zh-CN" dirty="0">
              <a:solidFill>
                <a:srgbClr val="008200"/>
              </a:solidFill>
              <a:latin typeface="Consolas" panose="020B0609020204030204" pitchFamily="49" charset="0"/>
              <a:cs typeface="+mn-cs"/>
            </a:endParaRPr>
          </a:p>
          <a:p>
            <a:pPr>
              <a:spcBef>
                <a:spcPts val="600"/>
              </a:spcBef>
            </a:pPr>
            <a:r>
              <a:rPr lang="en-US" altLang="zh-CN" dirty="0">
                <a:latin typeface="Consolas" panose="020B0609020204030204" pitchFamily="49" charset="0"/>
              </a:rPr>
              <a:t>swap(a[3][2],a[3][4]);</a:t>
            </a:r>
            <a:r>
              <a:rPr lang="en-US" altLang="zh-CN" dirty="0">
                <a:latin typeface="Consolas" panose="020B0609020204030204" pitchFamily="49" charset="0"/>
                <a:sym typeface="+mn-ea"/>
              </a:rPr>
              <a:t> </a:t>
            </a:r>
            <a:r>
              <a:rPr lang="zh-CN" altLang="en-US" dirty="0">
                <a:solidFill>
                  <a:srgbClr val="008200"/>
                </a:solidFill>
                <a:latin typeface="Consolas" panose="020B0609020204030204" pitchFamily="49" charset="0"/>
                <a:cs typeface="+mn-cs"/>
                <a:sym typeface="+mn-ea"/>
              </a:rPr>
              <a:t>// 交换第3行的2和4列</a:t>
            </a:r>
            <a:endParaRPr lang="en-US" altLang="zh-CN" dirty="0">
              <a:solidFill>
                <a:srgbClr val="008200"/>
              </a:solidFill>
              <a:latin typeface="Consolas" panose="020B0609020204030204" pitchFamily="49" charset="0"/>
              <a:cs typeface="+mn-cs"/>
            </a:endParaRPr>
          </a:p>
        </p:txBody>
      </p:sp>
      <p:sp>
        <p:nvSpPr>
          <p:cNvPr id="3" name="文本框 2">
            <a:extLst>
              <a:ext uri="{FF2B5EF4-FFF2-40B4-BE49-F238E27FC236}">
                <a16:creationId xmlns:a16="http://schemas.microsoft.com/office/drawing/2014/main" id="{955F9B30-8504-A242-ECF3-B4F56C6478E4}"/>
              </a:ext>
            </a:extLst>
          </p:cNvPr>
          <p:cNvSpPr txBox="1"/>
          <p:nvPr/>
        </p:nvSpPr>
        <p:spPr>
          <a:xfrm>
            <a:off x="8367322" y="1343236"/>
            <a:ext cx="3390469" cy="4832092"/>
          </a:xfrm>
          <a:prstGeom prst="rect">
            <a:avLst/>
          </a:prstGeom>
          <a:noFill/>
        </p:spPr>
        <p:txBody>
          <a:bodyPr wrap="square">
            <a:spAutoFit/>
          </a:bodyPr>
          <a:lstStyle/>
          <a:p>
            <a:pPr lvl="0" eaLnBrk="0" fontAlgn="base" hangingPunct="0">
              <a:spcBef>
                <a:spcPct val="0"/>
              </a:spcBef>
              <a:spcAft>
                <a:spcPct val="0"/>
              </a:spcAft>
            </a:pPr>
            <a:r>
              <a:rPr lang="zh-CN" altLang="zh-CN" sz="1400" dirty="0">
                <a:solidFill>
                  <a:srgbClr val="808080"/>
                </a:solidFill>
                <a:latin typeface="Consolas" panose="020B0609020204030204" pitchFamily="49" charset="0"/>
                <a:cs typeface="Consolas" panose="020B0609020204030204" pitchFamily="49" charset="0"/>
              </a:rPr>
              <a:t>#include&lt;bits/stdc++.h&gt;</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b="1" dirty="0">
                <a:solidFill>
                  <a:srgbClr val="006699"/>
                </a:solidFill>
                <a:latin typeface="Consolas" panose="020B0609020204030204" pitchFamily="49" charset="0"/>
                <a:cs typeface="Consolas" panose="020B0609020204030204" pitchFamily="49" charset="0"/>
              </a:rPr>
              <a:t>using</a:t>
            </a:r>
            <a:r>
              <a:rPr lang="zh-CN" altLang="zh-CN" sz="1400" dirty="0">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namespace</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std;</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b="1" dirty="0">
                <a:solidFill>
                  <a:srgbClr val="808080"/>
                </a:solidFill>
                <a:latin typeface="Consolas" panose="020B0609020204030204" pitchFamily="49" charset="0"/>
                <a:cs typeface="Consolas" panose="020B0609020204030204" pitchFamily="49" charset="0"/>
              </a:rPr>
              <a:t>int</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n</a:t>
            </a:r>
            <a:r>
              <a:rPr lang="en-US" altLang="zh-CN" sz="1400" dirty="0">
                <a:solidFill>
                  <a:srgbClr val="000000"/>
                </a:solidFill>
                <a:latin typeface="Consolas" panose="020B0609020204030204" pitchFamily="49" charset="0"/>
                <a:cs typeface="Consolas" panose="020B0609020204030204" pitchFamily="49" charset="0"/>
              </a:rPr>
              <a:t>,m</a:t>
            </a:r>
            <a:r>
              <a:rPr lang="zh-CN" altLang="zh-CN" sz="1400" dirty="0">
                <a:solidFill>
                  <a:srgbClr val="000000"/>
                </a:solidFill>
                <a:latin typeface="Consolas" panose="020B0609020204030204" pitchFamily="49" charset="0"/>
                <a:cs typeface="Consolas" panose="020B0609020204030204" pitchFamily="49" charset="0"/>
              </a:rPr>
              <a:t>,a[</a:t>
            </a:r>
            <a:r>
              <a:rPr lang="en-US" altLang="zh-CN" sz="1400" dirty="0">
                <a:solidFill>
                  <a:srgbClr val="000000"/>
                </a:solidFill>
                <a:latin typeface="Consolas" panose="020B0609020204030204" pitchFamily="49" charset="0"/>
                <a:cs typeface="Consolas" panose="020B0609020204030204" pitchFamily="49" charset="0"/>
              </a:rPr>
              <a:t>110</a:t>
            </a:r>
            <a:r>
              <a:rPr lang="zh-CN" altLang="zh-CN" sz="1400" dirty="0">
                <a:solidFill>
                  <a:srgbClr val="000000"/>
                </a:solidFill>
                <a:latin typeface="Consolas" panose="020B0609020204030204" pitchFamily="49" charset="0"/>
                <a:cs typeface="Consolas" panose="020B0609020204030204" pitchFamily="49" charset="0"/>
              </a:rPr>
              <a:t>][</a:t>
            </a:r>
            <a:r>
              <a:rPr lang="en-US" altLang="zh-CN" sz="1400" dirty="0">
                <a:solidFill>
                  <a:srgbClr val="000000"/>
                </a:solidFill>
                <a:latin typeface="Consolas" panose="020B0609020204030204" pitchFamily="49" charset="0"/>
                <a:cs typeface="Consolas" panose="020B0609020204030204" pitchFamily="49" charset="0"/>
              </a:rPr>
              <a:t>110</a:t>
            </a:r>
            <a:r>
              <a:rPr lang="zh-CN" altLang="zh-CN" sz="1400" dirty="0">
                <a:solidFill>
                  <a:srgbClr val="000000"/>
                </a:solidFill>
                <a:latin typeface="Consolas" panose="020B0609020204030204" pitchFamily="49" charset="0"/>
                <a:cs typeface="Consolas" panose="020B0609020204030204" pitchFamily="49" charset="0"/>
              </a:rPr>
              <a:t>]</a:t>
            </a:r>
            <a:r>
              <a:rPr lang="en-US" altLang="zh-CN" sz="1400" dirty="0">
                <a:solidFill>
                  <a:srgbClr val="000000"/>
                </a:solidFill>
                <a:latin typeface="Consolas" panose="020B0609020204030204" pitchFamily="49" charset="0"/>
                <a:cs typeface="Consolas" panose="020B0609020204030204" pitchFamily="49" charset="0"/>
              </a:rPr>
              <a:t>,</a:t>
            </a:r>
            <a:r>
              <a:rPr lang="en-US" altLang="zh-CN" sz="1400" dirty="0" err="1">
                <a:solidFill>
                  <a:srgbClr val="000000"/>
                </a:solidFill>
                <a:latin typeface="Consolas" panose="020B0609020204030204" pitchFamily="49" charset="0"/>
                <a:cs typeface="Consolas" panose="020B0609020204030204" pitchFamily="49" charset="0"/>
              </a:rPr>
              <a:t>p,q</a:t>
            </a:r>
            <a:r>
              <a:rPr lang="zh-CN" altLang="zh-CN" sz="1400" dirty="0">
                <a:solidFill>
                  <a:srgbClr val="000000"/>
                </a:solidFill>
                <a:latin typeface="Consolas" panose="020B0609020204030204" pitchFamily="49" charset="0"/>
                <a:cs typeface="Consolas" panose="020B0609020204030204" pitchFamily="49" charset="0"/>
              </a:rPr>
              <a:t>,i,j;</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b="1" dirty="0">
                <a:solidFill>
                  <a:srgbClr val="808080"/>
                </a:solidFill>
                <a:latin typeface="Consolas" panose="020B0609020204030204" pitchFamily="49" charset="0"/>
                <a:cs typeface="Consolas" panose="020B0609020204030204" pitchFamily="49" charset="0"/>
              </a:rPr>
              <a:t>int</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main(){</a:t>
            </a:r>
          </a:p>
          <a:p>
            <a:pPr lvl="0" fontAlgn="base">
              <a:spcBef>
                <a:spcPct val="0"/>
              </a:spcBef>
              <a:spcAft>
                <a:spcPct val="0"/>
              </a:spcAft>
            </a:pPr>
            <a:r>
              <a:rPr lang="zh-CN" altLang="zh-CN" sz="1400" dirty="0">
                <a:solidFill>
                  <a:srgbClr val="000000"/>
                </a:solidFill>
                <a:latin typeface="Consolas" panose="020B0609020204030204" pitchFamily="49" charset="0"/>
                <a:cs typeface="Consolas" panose="020B0609020204030204" pitchFamily="49" charset="0"/>
                <a:sym typeface="+mn-ea"/>
              </a:rPr>
              <a:t> </a:t>
            </a:r>
            <a:r>
              <a:rPr lang="en-US" altLang="zh-CN" sz="1400" dirty="0">
                <a:solidFill>
                  <a:srgbClr val="000000"/>
                </a:solidFill>
                <a:latin typeface="Consolas" panose="020B0609020204030204" pitchFamily="49" charset="0"/>
                <a:cs typeface="Consolas" panose="020B0609020204030204" pitchFamily="49" charset="0"/>
                <a:sym typeface="+mn-ea"/>
              </a:rPr>
              <a:t>   </a:t>
            </a:r>
            <a:r>
              <a:rPr lang="en-US" altLang="zh-CN" sz="1400" dirty="0">
                <a:solidFill>
                  <a:srgbClr val="008200"/>
                </a:solidFill>
                <a:latin typeface="Consolas" panose="020B0609020204030204" pitchFamily="49" charset="0"/>
                <a:ea typeface="微软雅黑" panose="020B0503020204020204" pitchFamily="34" charset="-122"/>
                <a:sym typeface="+mn-ea"/>
              </a:rPr>
              <a:t>// </a:t>
            </a:r>
            <a:r>
              <a:rPr lang="zh-CN" altLang="en-US" sz="1400" dirty="0">
                <a:solidFill>
                  <a:srgbClr val="008200"/>
                </a:solidFill>
                <a:latin typeface="Consolas" panose="020B0609020204030204" pitchFamily="49" charset="0"/>
                <a:ea typeface="微软雅黑" panose="020B0503020204020204" pitchFamily="34" charset="-122"/>
                <a:sym typeface="+mn-ea"/>
              </a:rPr>
              <a:t>输入</a:t>
            </a:r>
            <a:endParaRPr lang="zh-CN" altLang="zh-CN" sz="1400" dirty="0">
              <a:latin typeface="Consolas" panose="020B0609020204030204" pitchFamily="49" charset="0"/>
              <a:cs typeface="Consolas" panose="020B0609020204030204" pitchFamily="49" charset="0"/>
            </a:endParaRPr>
          </a:p>
          <a:p>
            <a:pPr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cin&gt;&gt;</a:t>
            </a:r>
            <a:r>
              <a:rPr lang="en-US" altLang="zh-CN" sz="1400" dirty="0">
                <a:solidFill>
                  <a:srgbClr val="000000"/>
                </a:solidFill>
                <a:latin typeface="Consolas" panose="020B0609020204030204" pitchFamily="49" charset="0"/>
                <a:cs typeface="Consolas" panose="020B0609020204030204" pitchFamily="49" charset="0"/>
              </a:rPr>
              <a:t>n</a:t>
            </a:r>
            <a:r>
              <a:rPr lang="zh-CN" altLang="zh-CN" sz="1400" dirty="0">
                <a:solidFill>
                  <a:srgbClr val="000000"/>
                </a:solidFill>
                <a:latin typeface="Consolas" panose="020B0609020204030204" pitchFamily="49" charset="0"/>
                <a:cs typeface="Consolas" panose="020B0609020204030204" pitchFamily="49" charset="0"/>
              </a:rPr>
              <a:t>&gt;&gt;</a:t>
            </a:r>
            <a:r>
              <a:rPr lang="en-US" altLang="zh-CN" sz="1400" dirty="0">
                <a:solidFill>
                  <a:srgbClr val="000000"/>
                </a:solidFill>
                <a:latin typeface="Consolas" panose="020B0609020204030204" pitchFamily="49" charset="0"/>
                <a:cs typeface="Consolas" panose="020B0609020204030204" pitchFamily="49" charset="0"/>
              </a:rPr>
              <a:t>m</a:t>
            </a:r>
            <a:r>
              <a:rPr lang="zh-CN" altLang="zh-CN" sz="1400" dirty="0">
                <a:solidFill>
                  <a:srgbClr val="000000"/>
                </a:solidFill>
                <a:latin typeface="Consolas" panose="020B0609020204030204" pitchFamily="49" charset="0"/>
                <a:cs typeface="Consolas" panose="020B0609020204030204" pitchFamily="49" charset="0"/>
              </a:rPr>
              <a:t>;</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for</a:t>
            </a:r>
            <a:r>
              <a:rPr lang="zh-CN" altLang="zh-CN" sz="1400" dirty="0">
                <a:solidFill>
                  <a:srgbClr val="000000"/>
                </a:solidFill>
                <a:latin typeface="Consolas" panose="020B0609020204030204" pitchFamily="49" charset="0"/>
                <a:cs typeface="Consolas" panose="020B0609020204030204" pitchFamily="49" charset="0"/>
              </a:rPr>
              <a:t>(i=1;i&lt;=</a:t>
            </a:r>
            <a:r>
              <a:rPr lang="en-US" altLang="zh-CN" sz="1400" dirty="0">
                <a:solidFill>
                  <a:srgbClr val="000000"/>
                </a:solidFill>
                <a:latin typeface="Consolas" panose="020B0609020204030204" pitchFamily="49" charset="0"/>
                <a:cs typeface="Consolas" panose="020B0609020204030204" pitchFamily="49" charset="0"/>
              </a:rPr>
              <a:t>n</a:t>
            </a:r>
            <a:r>
              <a:rPr lang="zh-CN" altLang="zh-CN" sz="1400" dirty="0">
                <a:solidFill>
                  <a:srgbClr val="000000"/>
                </a:solidFill>
                <a:latin typeface="Consolas" panose="020B0609020204030204" pitchFamily="49" charset="0"/>
                <a:cs typeface="Consolas" panose="020B0609020204030204" pitchFamily="49" charset="0"/>
              </a:rPr>
              <a:t>;++i)</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for</a:t>
            </a:r>
            <a:r>
              <a:rPr lang="zh-CN" altLang="zh-CN" sz="1400" dirty="0">
                <a:solidFill>
                  <a:srgbClr val="000000"/>
                </a:solidFill>
                <a:latin typeface="Consolas" panose="020B0609020204030204" pitchFamily="49" charset="0"/>
                <a:cs typeface="Consolas" panose="020B0609020204030204" pitchFamily="49" charset="0"/>
              </a:rPr>
              <a:t>(j=1;j&lt;=</a:t>
            </a:r>
            <a:r>
              <a:rPr lang="en-US" altLang="zh-CN" sz="1400" dirty="0">
                <a:solidFill>
                  <a:srgbClr val="000000"/>
                </a:solidFill>
                <a:latin typeface="Consolas" panose="020B0609020204030204" pitchFamily="49" charset="0"/>
                <a:cs typeface="Consolas" panose="020B0609020204030204" pitchFamily="49" charset="0"/>
              </a:rPr>
              <a:t>m</a:t>
            </a:r>
            <a:r>
              <a:rPr lang="zh-CN" altLang="zh-CN" sz="1400" dirty="0">
                <a:solidFill>
                  <a:srgbClr val="000000"/>
                </a:solidFill>
                <a:latin typeface="Consolas" panose="020B0609020204030204" pitchFamily="49" charset="0"/>
                <a:cs typeface="Consolas" panose="020B0609020204030204" pitchFamily="49" charset="0"/>
              </a:rPr>
              <a:t>;++j)</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cin&gt;&gt;a[i][j];</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cin&gt;&gt;</a:t>
            </a:r>
            <a:r>
              <a:rPr lang="en-US" altLang="zh-CN" sz="1400" dirty="0">
                <a:solidFill>
                  <a:srgbClr val="000000"/>
                </a:solidFill>
                <a:latin typeface="Consolas" panose="020B0609020204030204" pitchFamily="49" charset="0"/>
                <a:cs typeface="Consolas" panose="020B0609020204030204" pitchFamily="49" charset="0"/>
              </a:rPr>
              <a:t>p</a:t>
            </a:r>
            <a:r>
              <a:rPr lang="zh-CN" altLang="zh-CN" sz="1400" dirty="0">
                <a:solidFill>
                  <a:srgbClr val="000000"/>
                </a:solidFill>
                <a:latin typeface="Consolas" panose="020B0609020204030204" pitchFamily="49" charset="0"/>
                <a:cs typeface="Consolas" panose="020B0609020204030204" pitchFamily="49" charset="0"/>
              </a:rPr>
              <a:t>&gt;&gt;</a:t>
            </a:r>
            <a:r>
              <a:rPr lang="en-US" altLang="zh-CN" sz="1400" dirty="0">
                <a:solidFill>
                  <a:srgbClr val="000000"/>
                </a:solidFill>
                <a:latin typeface="Consolas" panose="020B0609020204030204" pitchFamily="49" charset="0"/>
                <a:cs typeface="Consolas" panose="020B0609020204030204" pitchFamily="49" charset="0"/>
              </a:rPr>
              <a:t>q</a:t>
            </a:r>
            <a:r>
              <a:rPr lang="zh-CN" altLang="zh-CN" sz="1400" dirty="0">
                <a:solidFill>
                  <a:srgbClr val="000000"/>
                </a:solidFill>
                <a:latin typeface="Consolas" panose="020B0609020204030204" pitchFamily="49" charset="0"/>
                <a:cs typeface="Consolas" panose="020B0609020204030204" pitchFamily="49" charset="0"/>
              </a:rPr>
              <a:t>;</a:t>
            </a:r>
          </a:p>
          <a:p>
            <a:pPr lvl="0" fontAlgn="base">
              <a:spcBef>
                <a:spcPct val="0"/>
              </a:spcBef>
              <a:spcAft>
                <a:spcPct val="0"/>
              </a:spcAft>
            </a:pPr>
            <a:r>
              <a:rPr lang="zh-CN" altLang="zh-CN" sz="1400" dirty="0">
                <a:solidFill>
                  <a:srgbClr val="000000"/>
                </a:solidFill>
                <a:latin typeface="Consolas" panose="020B0609020204030204" pitchFamily="49" charset="0"/>
                <a:cs typeface="Consolas" panose="020B0609020204030204" pitchFamily="49" charset="0"/>
                <a:sym typeface="+mn-ea"/>
              </a:rPr>
              <a:t> </a:t>
            </a:r>
            <a:r>
              <a:rPr lang="en-US" altLang="zh-CN" sz="1400" dirty="0">
                <a:solidFill>
                  <a:srgbClr val="000000"/>
                </a:solidFill>
                <a:latin typeface="Consolas" panose="020B0609020204030204" pitchFamily="49" charset="0"/>
                <a:cs typeface="Consolas" panose="020B0609020204030204" pitchFamily="49" charset="0"/>
                <a:sym typeface="+mn-ea"/>
              </a:rPr>
              <a:t>   </a:t>
            </a:r>
            <a:r>
              <a:rPr lang="en-US" altLang="zh-CN" sz="1400" dirty="0">
                <a:solidFill>
                  <a:srgbClr val="008200"/>
                </a:solidFill>
                <a:latin typeface="Consolas" panose="020B0609020204030204" pitchFamily="49" charset="0"/>
                <a:ea typeface="微软雅黑" panose="020B0503020204020204" pitchFamily="34" charset="-122"/>
                <a:sym typeface="+mn-ea"/>
              </a:rPr>
              <a:t>// </a:t>
            </a:r>
            <a:r>
              <a:rPr lang="zh-CN" altLang="en-US" sz="1400" dirty="0">
                <a:solidFill>
                  <a:srgbClr val="008200"/>
                </a:solidFill>
                <a:latin typeface="Consolas" panose="020B0609020204030204" pitchFamily="49" charset="0"/>
                <a:ea typeface="微软雅黑" panose="020B0503020204020204" pitchFamily="34" charset="-122"/>
                <a:sym typeface="+mn-ea"/>
              </a:rPr>
              <a:t>交换每一行的第</a:t>
            </a:r>
            <a:r>
              <a:rPr lang="en-US" altLang="zh-CN" sz="1400" dirty="0">
                <a:solidFill>
                  <a:srgbClr val="008200"/>
                </a:solidFill>
                <a:latin typeface="Consolas" panose="020B0609020204030204" pitchFamily="49" charset="0"/>
                <a:ea typeface="微软雅黑" panose="020B0503020204020204" pitchFamily="34" charset="-122"/>
                <a:sym typeface="+mn-ea"/>
              </a:rPr>
              <a:t>p</a:t>
            </a:r>
            <a:r>
              <a:rPr lang="zh-CN" altLang="en-US" sz="1400" dirty="0">
                <a:solidFill>
                  <a:srgbClr val="008200"/>
                </a:solidFill>
                <a:latin typeface="Consolas" panose="020B0609020204030204" pitchFamily="49" charset="0"/>
                <a:ea typeface="微软雅黑" panose="020B0503020204020204" pitchFamily="34" charset="-122"/>
                <a:sym typeface="+mn-ea"/>
              </a:rPr>
              <a:t>列和第</a:t>
            </a:r>
            <a:r>
              <a:rPr lang="en-US" altLang="zh-CN" sz="1400" dirty="0">
                <a:solidFill>
                  <a:srgbClr val="008200"/>
                </a:solidFill>
                <a:latin typeface="Consolas" panose="020B0609020204030204" pitchFamily="49" charset="0"/>
                <a:ea typeface="微软雅黑" panose="020B0503020204020204" pitchFamily="34" charset="-122"/>
                <a:sym typeface="+mn-ea"/>
              </a:rPr>
              <a:t>q</a:t>
            </a:r>
            <a:r>
              <a:rPr lang="zh-CN" altLang="en-US" sz="1400" dirty="0">
                <a:solidFill>
                  <a:srgbClr val="008200"/>
                </a:solidFill>
                <a:latin typeface="Consolas" panose="020B0609020204030204" pitchFamily="49" charset="0"/>
                <a:ea typeface="微软雅黑" panose="020B0503020204020204" pitchFamily="34" charset="-122"/>
                <a:sym typeface="+mn-ea"/>
              </a:rPr>
              <a:t>列</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for</a:t>
            </a:r>
            <a:r>
              <a:rPr lang="zh-CN" altLang="zh-CN" sz="1400" dirty="0">
                <a:solidFill>
                  <a:srgbClr val="000000"/>
                </a:solidFill>
                <a:latin typeface="Consolas" panose="020B0609020204030204" pitchFamily="49" charset="0"/>
                <a:cs typeface="Consolas" panose="020B0609020204030204" pitchFamily="49" charset="0"/>
              </a:rPr>
              <a:t>(i=1;i&lt;=</a:t>
            </a:r>
            <a:r>
              <a:rPr lang="en-US" altLang="zh-CN" sz="1400" dirty="0">
                <a:solidFill>
                  <a:srgbClr val="000000"/>
                </a:solidFill>
                <a:latin typeface="Consolas" panose="020B0609020204030204" pitchFamily="49" charset="0"/>
                <a:cs typeface="Consolas" panose="020B0609020204030204" pitchFamily="49" charset="0"/>
              </a:rPr>
              <a:t>n</a:t>
            </a:r>
            <a:r>
              <a:rPr lang="zh-CN" altLang="zh-CN" sz="1400" dirty="0">
                <a:solidFill>
                  <a:srgbClr val="000000"/>
                </a:solidFill>
                <a:latin typeface="Consolas" panose="020B0609020204030204" pitchFamily="49" charset="0"/>
                <a:cs typeface="Consolas" panose="020B0609020204030204" pitchFamily="49" charset="0"/>
              </a:rPr>
              <a:t>;++i)</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swap(a[</a:t>
            </a:r>
            <a:r>
              <a:rPr lang="en-US" altLang="zh-CN" sz="1400" dirty="0">
                <a:solidFill>
                  <a:srgbClr val="000000"/>
                </a:solidFill>
                <a:latin typeface="Consolas" panose="020B0609020204030204" pitchFamily="49" charset="0"/>
                <a:cs typeface="Consolas" panose="020B0609020204030204" pitchFamily="49" charset="0"/>
              </a:rPr>
              <a:t>i</a:t>
            </a:r>
            <a:r>
              <a:rPr lang="zh-CN" altLang="zh-CN" sz="1400" dirty="0">
                <a:solidFill>
                  <a:srgbClr val="000000"/>
                </a:solidFill>
                <a:latin typeface="Consolas" panose="020B0609020204030204" pitchFamily="49" charset="0"/>
                <a:cs typeface="Consolas" panose="020B0609020204030204" pitchFamily="49" charset="0"/>
              </a:rPr>
              <a:t>][</a:t>
            </a:r>
            <a:r>
              <a:rPr lang="en-US" altLang="zh-CN" sz="1400" dirty="0">
                <a:solidFill>
                  <a:srgbClr val="000000"/>
                </a:solidFill>
                <a:latin typeface="Consolas" panose="020B0609020204030204" pitchFamily="49" charset="0"/>
                <a:cs typeface="Consolas" panose="020B0609020204030204" pitchFamily="49" charset="0"/>
              </a:rPr>
              <a:t>p</a:t>
            </a:r>
            <a:r>
              <a:rPr lang="zh-CN" altLang="zh-CN" sz="1400" dirty="0">
                <a:solidFill>
                  <a:srgbClr val="000000"/>
                </a:solidFill>
                <a:latin typeface="Consolas" panose="020B0609020204030204" pitchFamily="49" charset="0"/>
                <a:cs typeface="Consolas" panose="020B0609020204030204" pitchFamily="49" charset="0"/>
              </a:rPr>
              <a:t>],a[</a:t>
            </a:r>
            <a:r>
              <a:rPr lang="en-US" altLang="zh-CN" sz="1400" dirty="0">
                <a:solidFill>
                  <a:srgbClr val="000000"/>
                </a:solidFill>
                <a:latin typeface="Consolas" panose="020B0609020204030204" pitchFamily="49" charset="0"/>
                <a:cs typeface="Consolas" panose="020B0609020204030204" pitchFamily="49" charset="0"/>
              </a:rPr>
              <a:t>i</a:t>
            </a:r>
            <a:r>
              <a:rPr lang="zh-CN" altLang="zh-CN" sz="1400" dirty="0">
                <a:solidFill>
                  <a:srgbClr val="000000"/>
                </a:solidFill>
                <a:latin typeface="Consolas" panose="020B0609020204030204" pitchFamily="49" charset="0"/>
                <a:cs typeface="Consolas" panose="020B0609020204030204" pitchFamily="49" charset="0"/>
              </a:rPr>
              <a:t>][</a:t>
            </a:r>
            <a:r>
              <a:rPr lang="en-US" altLang="zh-CN" sz="1400" dirty="0">
                <a:solidFill>
                  <a:srgbClr val="000000"/>
                </a:solidFill>
                <a:latin typeface="Consolas" panose="020B0609020204030204" pitchFamily="49" charset="0"/>
                <a:cs typeface="Consolas" panose="020B0609020204030204" pitchFamily="49" charset="0"/>
              </a:rPr>
              <a:t>q</a:t>
            </a:r>
            <a:r>
              <a:rPr lang="zh-CN" altLang="zh-CN" sz="1400" dirty="0">
                <a:solidFill>
                  <a:srgbClr val="000000"/>
                </a:solidFill>
                <a:latin typeface="Consolas" panose="020B0609020204030204" pitchFamily="49" charset="0"/>
                <a:cs typeface="Consolas" panose="020B0609020204030204" pitchFamily="49" charset="0"/>
              </a:rPr>
              <a:t>]);</a:t>
            </a:r>
          </a:p>
          <a:p>
            <a:pPr lvl="0" fontAlgn="base">
              <a:spcBef>
                <a:spcPct val="0"/>
              </a:spcBef>
              <a:spcAft>
                <a:spcPct val="0"/>
              </a:spcAft>
            </a:pPr>
            <a:r>
              <a:rPr lang="zh-CN" altLang="zh-CN" sz="1400" dirty="0">
                <a:solidFill>
                  <a:srgbClr val="000000"/>
                </a:solidFill>
                <a:latin typeface="Consolas" panose="020B0609020204030204" pitchFamily="49" charset="0"/>
                <a:cs typeface="Consolas" panose="020B0609020204030204" pitchFamily="49" charset="0"/>
                <a:sym typeface="+mn-ea"/>
              </a:rPr>
              <a:t> </a:t>
            </a:r>
            <a:r>
              <a:rPr lang="en-US" altLang="zh-CN" sz="1400" dirty="0">
                <a:solidFill>
                  <a:srgbClr val="000000"/>
                </a:solidFill>
                <a:latin typeface="Consolas" panose="020B0609020204030204" pitchFamily="49" charset="0"/>
                <a:cs typeface="Consolas" panose="020B0609020204030204" pitchFamily="49" charset="0"/>
                <a:sym typeface="+mn-ea"/>
              </a:rPr>
              <a:t>   </a:t>
            </a:r>
            <a:r>
              <a:rPr lang="en-US" altLang="zh-CN" sz="1400" dirty="0">
                <a:solidFill>
                  <a:srgbClr val="008200"/>
                </a:solidFill>
                <a:latin typeface="Consolas" panose="020B0609020204030204" pitchFamily="49" charset="0"/>
                <a:ea typeface="微软雅黑" panose="020B0503020204020204" pitchFamily="34" charset="-122"/>
                <a:sym typeface="+mn-ea"/>
              </a:rPr>
              <a:t>// </a:t>
            </a:r>
            <a:r>
              <a:rPr lang="zh-CN" altLang="en-US" sz="1400" dirty="0">
                <a:solidFill>
                  <a:srgbClr val="008200"/>
                </a:solidFill>
                <a:latin typeface="Consolas" panose="020B0609020204030204" pitchFamily="49" charset="0"/>
                <a:ea typeface="微软雅黑" panose="020B0503020204020204" pitchFamily="34" charset="-122"/>
                <a:sym typeface="+mn-ea"/>
              </a:rPr>
              <a:t>输出</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for</a:t>
            </a:r>
            <a:r>
              <a:rPr lang="zh-CN" altLang="zh-CN" sz="1400" dirty="0">
                <a:solidFill>
                  <a:srgbClr val="000000"/>
                </a:solidFill>
                <a:latin typeface="Consolas" panose="020B0609020204030204" pitchFamily="49" charset="0"/>
                <a:cs typeface="Consolas" panose="020B0609020204030204" pitchFamily="49" charset="0"/>
              </a:rPr>
              <a:t>(i=1;i&lt;=</a:t>
            </a:r>
            <a:r>
              <a:rPr lang="en-US" altLang="zh-CN" sz="1400" dirty="0">
                <a:solidFill>
                  <a:srgbClr val="000000"/>
                </a:solidFill>
                <a:latin typeface="Consolas" panose="020B0609020204030204" pitchFamily="49" charset="0"/>
                <a:cs typeface="Consolas" panose="020B0609020204030204" pitchFamily="49" charset="0"/>
              </a:rPr>
              <a:t>n</a:t>
            </a:r>
            <a:r>
              <a:rPr lang="zh-CN" altLang="zh-CN" sz="1400" dirty="0">
                <a:solidFill>
                  <a:srgbClr val="000000"/>
                </a:solidFill>
                <a:latin typeface="Consolas" panose="020B0609020204030204" pitchFamily="49" charset="0"/>
                <a:cs typeface="Consolas" panose="020B0609020204030204" pitchFamily="49" charset="0"/>
              </a:rPr>
              <a:t>;++i){</a:t>
            </a:r>
            <a:endParaRPr lang="en-US" altLang="zh-CN" sz="1400" dirty="0">
              <a:solidFill>
                <a:srgbClr val="000000"/>
              </a:solidFill>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en-US" altLang="zh-CN" sz="1400" dirty="0">
                <a:solidFill>
                  <a:srgbClr val="000000"/>
                </a:solidFill>
                <a:latin typeface="Consolas" panose="020B0609020204030204" pitchFamily="49" charset="0"/>
                <a:cs typeface="Consolas" panose="020B0609020204030204" pitchFamily="49" charset="0"/>
              </a:rPr>
              <a:t>        cout&lt;&lt;a[i][1];</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for</a:t>
            </a:r>
            <a:r>
              <a:rPr lang="zh-CN" altLang="zh-CN" sz="1400" dirty="0">
                <a:solidFill>
                  <a:srgbClr val="000000"/>
                </a:solidFill>
                <a:latin typeface="Consolas" panose="020B0609020204030204" pitchFamily="49" charset="0"/>
                <a:cs typeface="Consolas" panose="020B0609020204030204" pitchFamily="49" charset="0"/>
              </a:rPr>
              <a:t>(j=</a:t>
            </a:r>
            <a:r>
              <a:rPr lang="en-US" altLang="zh-CN" sz="1400" dirty="0">
                <a:solidFill>
                  <a:srgbClr val="000000"/>
                </a:solidFill>
                <a:latin typeface="Consolas" panose="020B0609020204030204" pitchFamily="49" charset="0"/>
                <a:cs typeface="Consolas" panose="020B0609020204030204" pitchFamily="49" charset="0"/>
              </a:rPr>
              <a:t>2</a:t>
            </a:r>
            <a:r>
              <a:rPr lang="zh-CN" altLang="zh-CN" sz="1400" dirty="0">
                <a:solidFill>
                  <a:srgbClr val="000000"/>
                </a:solidFill>
                <a:latin typeface="Consolas" panose="020B0609020204030204" pitchFamily="49" charset="0"/>
                <a:cs typeface="Consolas" panose="020B0609020204030204" pitchFamily="49" charset="0"/>
              </a:rPr>
              <a:t>;j&lt;</a:t>
            </a:r>
            <a:r>
              <a:rPr lang="en-US" altLang="zh-CN" sz="1400" dirty="0">
                <a:solidFill>
                  <a:srgbClr val="000000"/>
                </a:solidFill>
                <a:latin typeface="Consolas" panose="020B0609020204030204" pitchFamily="49" charset="0"/>
                <a:cs typeface="Consolas" panose="020B0609020204030204" pitchFamily="49" charset="0"/>
              </a:rPr>
              <a:t>=m</a:t>
            </a:r>
            <a:r>
              <a:rPr lang="zh-CN" altLang="zh-CN" sz="1400" dirty="0">
                <a:solidFill>
                  <a:srgbClr val="000000"/>
                </a:solidFill>
                <a:latin typeface="Consolas" panose="020B0609020204030204" pitchFamily="49" charset="0"/>
                <a:cs typeface="Consolas" panose="020B0609020204030204" pitchFamily="49" charset="0"/>
              </a:rPr>
              <a:t>;++j)</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cout</a:t>
            </a:r>
            <a:r>
              <a:rPr lang="en-US" altLang="zh-CN" sz="1400" dirty="0">
                <a:solidFill>
                  <a:srgbClr val="000000"/>
                </a:solidFill>
                <a:latin typeface="Consolas" panose="020B0609020204030204" pitchFamily="49" charset="0"/>
                <a:cs typeface="Consolas" panose="020B0609020204030204" pitchFamily="49" charset="0"/>
              </a:rPr>
              <a:t>&lt;&lt;" "</a:t>
            </a:r>
            <a:r>
              <a:rPr lang="zh-CN" altLang="zh-CN" sz="1400" dirty="0">
                <a:solidFill>
                  <a:srgbClr val="000000"/>
                </a:solidFill>
                <a:latin typeface="Consolas" panose="020B0609020204030204" pitchFamily="49" charset="0"/>
                <a:cs typeface="Consolas" panose="020B0609020204030204" pitchFamily="49" charset="0"/>
              </a:rPr>
              <a:t>&lt;&lt;a[i][j];</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cout&lt;&lt;endl;</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return</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0;</a:t>
            </a:r>
            <a:endParaRPr lang="zh-CN" altLang="zh-CN" sz="14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400" dirty="0">
                <a:solidFill>
                  <a:srgbClr val="000000"/>
                </a:solidFill>
                <a:latin typeface="Consolas" panose="020B0609020204030204" pitchFamily="49" charset="0"/>
                <a:cs typeface="Consolas" panose="020B0609020204030204" pitchFamily="49" charset="0"/>
              </a:rPr>
              <a:t>}</a:t>
            </a:r>
            <a:endParaRPr lang="zh-CN" altLang="zh-CN" sz="1400" dirty="0">
              <a:latin typeface="Consolas" panose="020B0609020204030204" pitchFamily="49" charset="0"/>
              <a:cs typeface="Consolas" panose="020B0609020204030204" pitchFamily="49" charset="0"/>
            </a:endParaRPr>
          </a:p>
        </p:txBody>
      </p:sp>
      <p:sp>
        <p:nvSpPr>
          <p:cNvPr id="4" name="文本框 3">
            <a:extLst>
              <a:ext uri="{FF2B5EF4-FFF2-40B4-BE49-F238E27FC236}">
                <a16:creationId xmlns:a16="http://schemas.microsoft.com/office/drawing/2014/main" id="{0A0D23FF-5907-B040-2AEB-07BD8D9FC616}"/>
              </a:ext>
            </a:extLst>
          </p:cNvPr>
          <p:cNvSpPr txBox="1"/>
          <p:nvPr/>
        </p:nvSpPr>
        <p:spPr>
          <a:xfrm>
            <a:off x="7895028" y="1343236"/>
            <a:ext cx="472295" cy="4832092"/>
          </a:xfrm>
          <a:prstGeom prst="rect">
            <a:avLst/>
          </a:prstGeom>
          <a:noFill/>
        </p:spPr>
        <p:txBody>
          <a:bodyPr wrap="square">
            <a:spAutoFit/>
          </a:bodyPr>
          <a:lstStyle/>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 1</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 2</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 3</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 4</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 5</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 6</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 7</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 8</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 9</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10</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11</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12</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13</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14</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15</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16</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17</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18</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19</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20</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21</a:t>
            </a:r>
          </a:p>
          <a:p>
            <a:pPr marL="0" indent="0" algn="r" eaLnBrk="0" fontAlgn="base" hangingPunct="0">
              <a:lnSpc>
                <a:spcPct val="100000"/>
              </a:lnSpc>
              <a:spcBef>
                <a:spcPct val="0"/>
              </a:spcBef>
              <a:spcAft>
                <a:spcPct val="0"/>
              </a:spcAft>
              <a:buSzTx/>
              <a:buFont typeface="+mj-lt"/>
              <a:buNone/>
              <a:defRPr/>
            </a:pPr>
            <a:r>
              <a:rPr lang="en-US" altLang="zh-CN" sz="1400" dirty="0">
                <a:solidFill>
                  <a:srgbClr val="808080"/>
                </a:solidFill>
                <a:latin typeface="Consolas" panose="020B0609020204030204" pitchFamily="49" charset="0"/>
                <a:cs typeface="Consolas" panose="020B0609020204030204" pitchFamily="49" charset="0"/>
              </a:rPr>
              <a:t>22</a:t>
            </a:r>
          </a:p>
        </p:txBody>
      </p:sp>
      <p:sp>
        <p:nvSpPr>
          <p:cNvPr id="19" name="文本框 18">
            <a:extLst>
              <a:ext uri="{FF2B5EF4-FFF2-40B4-BE49-F238E27FC236}">
                <a16:creationId xmlns:a16="http://schemas.microsoft.com/office/drawing/2014/main" id="{08EBC2A0-80E3-E095-FB8F-FE072A8A6C58}"/>
              </a:ext>
            </a:extLst>
          </p:cNvPr>
          <p:cNvSpPr txBox="1"/>
          <p:nvPr/>
        </p:nvSpPr>
        <p:spPr>
          <a:xfrm>
            <a:off x="3989242" y="6036828"/>
            <a:ext cx="3740656" cy="276999"/>
          </a:xfrm>
          <a:prstGeom prst="rect">
            <a:avLst/>
          </a:prstGeom>
          <a:noFill/>
        </p:spPr>
        <p:txBody>
          <a:bodyPr wrap="square">
            <a:spAutoFit/>
          </a:bodyPr>
          <a:lstStyle/>
          <a:p>
            <a:pPr eaLnBrk="0" fontAlgn="base" hangingPunct="0">
              <a:spcBef>
                <a:spcPct val="0"/>
              </a:spcBef>
              <a:spcAft>
                <a:spcPct val="0"/>
              </a:spcAft>
              <a:defRPr/>
            </a:pPr>
            <a:r>
              <a:rPr lang="en-US" altLang="zh-CN" sz="1200" dirty="0">
                <a:solidFill>
                  <a:srgbClr val="000000"/>
                </a:solidFill>
                <a:latin typeface="Consolas" panose="020B0609020204030204" pitchFamily="49" charset="0"/>
                <a:ea typeface="微软雅黑" panose="020B0503020204020204" pitchFamily="34" charset="-122"/>
                <a:cs typeface="Consolas" panose="020B0609020204030204" pitchFamily="49" charset="0"/>
              </a:rPr>
              <a:t>swap(a[i][p],a[i][q]); </a:t>
            </a:r>
            <a:r>
              <a:rPr lang="en-US" altLang="zh-CN" sz="1200" dirty="0">
                <a:solidFill>
                  <a:srgbClr val="008200"/>
                </a:solidFill>
                <a:latin typeface="Consolas" panose="020B0609020204030204" pitchFamily="49" charset="0"/>
                <a:ea typeface="微软雅黑" panose="020B0503020204020204" pitchFamily="34" charset="-122"/>
              </a:rPr>
              <a:t>// </a:t>
            </a:r>
            <a:r>
              <a:rPr lang="zh-CN" altLang="en-US" sz="1200" dirty="0">
                <a:solidFill>
                  <a:srgbClr val="008200"/>
                </a:solidFill>
                <a:latin typeface="Consolas" panose="020B0609020204030204" pitchFamily="49" charset="0"/>
                <a:ea typeface="微软雅黑" panose="020B0503020204020204" pitchFamily="34" charset="-122"/>
              </a:rPr>
              <a:t>交换第</a:t>
            </a:r>
            <a:r>
              <a:rPr lang="en-US" altLang="zh-CN" sz="1200" dirty="0">
                <a:solidFill>
                  <a:srgbClr val="008200"/>
                </a:solidFill>
                <a:latin typeface="Consolas" panose="020B0609020204030204" pitchFamily="49" charset="0"/>
                <a:ea typeface="微软雅黑" panose="020B0503020204020204" pitchFamily="34" charset="-122"/>
              </a:rPr>
              <a:t>i</a:t>
            </a:r>
            <a:r>
              <a:rPr lang="zh-CN" altLang="en-US" sz="1200" dirty="0">
                <a:solidFill>
                  <a:srgbClr val="008200"/>
                </a:solidFill>
                <a:latin typeface="Consolas" panose="020B0609020204030204" pitchFamily="49" charset="0"/>
                <a:ea typeface="微软雅黑" panose="020B0503020204020204" pitchFamily="34" charset="-122"/>
              </a:rPr>
              <a:t>行的</a:t>
            </a:r>
            <a:r>
              <a:rPr lang="en-US" altLang="zh-CN" sz="1200" dirty="0">
                <a:solidFill>
                  <a:srgbClr val="008200"/>
                </a:solidFill>
                <a:latin typeface="Consolas" panose="020B0609020204030204" pitchFamily="49" charset="0"/>
                <a:ea typeface="微软雅黑" panose="020B0503020204020204" pitchFamily="34" charset="-122"/>
              </a:rPr>
              <a:t>p</a:t>
            </a:r>
            <a:r>
              <a:rPr lang="zh-CN" altLang="en-US" sz="1200" dirty="0">
                <a:solidFill>
                  <a:srgbClr val="008200"/>
                </a:solidFill>
                <a:latin typeface="Consolas" panose="020B0609020204030204" pitchFamily="49" charset="0"/>
                <a:ea typeface="微软雅黑" panose="020B0503020204020204" pitchFamily="34" charset="-122"/>
              </a:rPr>
              <a:t>和</a:t>
            </a:r>
            <a:r>
              <a:rPr lang="en-US" altLang="zh-CN" sz="1200" dirty="0">
                <a:solidFill>
                  <a:srgbClr val="008200"/>
                </a:solidFill>
                <a:latin typeface="Consolas" panose="020B0609020204030204" pitchFamily="49" charset="0"/>
                <a:ea typeface="微软雅黑" panose="020B0503020204020204" pitchFamily="34" charset="-122"/>
              </a:rPr>
              <a:t>q</a:t>
            </a:r>
            <a:r>
              <a:rPr lang="zh-CN" altLang="en-US" sz="1200" dirty="0">
                <a:solidFill>
                  <a:srgbClr val="008200"/>
                </a:solidFill>
                <a:latin typeface="Consolas" panose="020B0609020204030204" pitchFamily="49" charset="0"/>
                <a:ea typeface="微软雅黑" panose="020B0503020204020204" pitchFamily="34" charset="-122"/>
              </a:rPr>
              <a:t>列</a:t>
            </a:r>
            <a:endParaRPr lang="en-US" altLang="zh-CN" sz="1200" dirty="0">
              <a:solidFill>
                <a:srgbClr val="008200"/>
              </a:solidFill>
              <a:latin typeface="Consolas" panose="020B0609020204030204" pitchFamily="49" charset="0"/>
              <a:ea typeface="微软雅黑" panose="020B0503020204020204" pitchFamily="34" charset="-122"/>
            </a:endParaRPr>
          </a:p>
        </p:txBody>
      </p:sp>
      <p:sp>
        <p:nvSpPr>
          <p:cNvPr id="22" name="箭头: 右 21">
            <a:extLst>
              <a:ext uri="{FF2B5EF4-FFF2-40B4-BE49-F238E27FC236}">
                <a16:creationId xmlns:a16="http://schemas.microsoft.com/office/drawing/2014/main" id="{BDAC8CD1-708E-12E0-BA83-2698A6D2F246}"/>
              </a:ext>
            </a:extLst>
          </p:cNvPr>
          <p:cNvSpPr/>
          <p:nvPr/>
        </p:nvSpPr>
        <p:spPr>
          <a:xfrm rot="5400000">
            <a:off x="5657187" y="5660389"/>
            <a:ext cx="188158" cy="472296"/>
          </a:xfrm>
          <a:prstGeom prst="rightArrow">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3" grpId="0"/>
      <p:bldP spid="4" grpId="0"/>
      <p:bldP spid="19" grpId="0"/>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文本框 23"/>
          <p:cNvSpPr txBox="1"/>
          <p:nvPr/>
        </p:nvSpPr>
        <p:spPr>
          <a:xfrm>
            <a:off x="678609" y="301567"/>
            <a:ext cx="10634659" cy="707886"/>
          </a:xfrm>
          <a:prstGeom prst="rect">
            <a:avLst/>
          </a:prstGeom>
          <a:noFill/>
        </p:spPr>
        <p:txBody>
          <a:bodyPr wrap="square" rtlCol="0">
            <a:spAutoFit/>
          </a:bodyPr>
          <a:lstStyle/>
          <a:p>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例题</a:t>
            </a:r>
            <a:r>
              <a:rPr lang="en-US" altLang="zh-CN"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图像相似度</a:t>
            </a:r>
          </a:p>
        </p:txBody>
      </p:sp>
      <p:sp>
        <p:nvSpPr>
          <p:cNvPr id="8" name="内容占位符 2"/>
          <p:cNvSpPr>
            <a:spLocks noGrp="1"/>
          </p:cNvSpPr>
          <p:nvPr>
            <p:ph idx="1"/>
          </p:nvPr>
        </p:nvSpPr>
        <p:spPr>
          <a:xfrm>
            <a:off x="304205" y="1685045"/>
            <a:ext cx="3624719" cy="978567"/>
          </a:xfrm>
        </p:spPr>
        <p:txBody>
          <a:bodyPr vert="horz" lIns="91440" tIns="45720" rIns="91440" bIns="45720" rtlCol="0">
            <a:noAutofit/>
          </a:bodyPr>
          <a:lstStyle/>
          <a:p>
            <a:pPr marL="0" indent="0">
              <a:lnSpc>
                <a:spcPct val="100000"/>
              </a:lnSpc>
              <a:spcBef>
                <a:spcPts val="0"/>
              </a:spcBef>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给出两幅相同大小的黑白图像（用</a:t>
            </a:r>
            <a:r>
              <a:rPr lang="en-US" altLang="zh-CN" sz="1200" dirty="0">
                <a:latin typeface="Consolas" panose="020B0609020204030204" pitchFamily="49" charset="0"/>
                <a:ea typeface="微软雅黑" panose="020B0503020204020204" pitchFamily="34" charset="-122"/>
                <a:cs typeface="Consolas" panose="020B0609020204030204" pitchFamily="49" charset="0"/>
              </a:rPr>
              <a:t>0-1</a:t>
            </a:r>
            <a:r>
              <a:rPr lang="zh-CN" altLang="en-US" sz="1200" dirty="0">
                <a:latin typeface="Consolas" panose="020B0609020204030204" pitchFamily="49" charset="0"/>
                <a:ea typeface="微软雅黑" panose="020B0503020204020204" pitchFamily="34" charset="-122"/>
                <a:cs typeface="Consolas" panose="020B0609020204030204" pitchFamily="49" charset="0"/>
              </a:rPr>
              <a:t>矩阵）表示，求它们的相似度。</a:t>
            </a:r>
          </a:p>
          <a:p>
            <a:pPr marL="0" indent="0">
              <a:lnSpc>
                <a:spcPct val="100000"/>
              </a:lnSpc>
              <a:spcBef>
                <a:spcPts val="0"/>
              </a:spcBef>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说明：若两幅图像在相同位置上的像素点颜色相同，则称它们在该位置具有相同的像素点。两幅图像的相似度定义为相同像素点数占总像素点数的百分比。</a:t>
            </a:r>
            <a:endParaRPr lang="en-US" altLang="zh-CN" sz="1200" dirty="0">
              <a:latin typeface="Consolas" panose="020B0609020204030204" pitchFamily="49" charset="0"/>
              <a:ea typeface="微软雅黑" panose="020B0503020204020204" pitchFamily="34" charset="-122"/>
              <a:cs typeface="Consolas" panose="020B0609020204030204" pitchFamily="49" charset="0"/>
            </a:endParaRPr>
          </a:p>
        </p:txBody>
      </p:sp>
      <p:sp>
        <p:nvSpPr>
          <p:cNvPr id="9" name="矩形 8"/>
          <p:cNvSpPr/>
          <p:nvPr/>
        </p:nvSpPr>
        <p:spPr>
          <a:xfrm>
            <a:off x="307428" y="1349373"/>
            <a:ext cx="3618274"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题目要求</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0" name="内容占位符 2"/>
          <p:cNvSpPr txBox="1"/>
          <p:nvPr/>
        </p:nvSpPr>
        <p:spPr>
          <a:xfrm>
            <a:off x="304206" y="2999282"/>
            <a:ext cx="3621496" cy="118811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spcBef>
                <a:spcPts val="0"/>
              </a:spcBef>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第一行包含两个整数</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和</a:t>
            </a:r>
            <a:r>
              <a:rPr lang="en-US" altLang="zh-CN" sz="1200" dirty="0">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1</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100</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），表示图像的行数和列数。</a:t>
            </a:r>
          </a:p>
          <a:p>
            <a:pPr marL="0" indent="0">
              <a:lnSpc>
                <a:spcPct val="100000"/>
              </a:lnSpc>
              <a:spcBef>
                <a:spcPts val="0"/>
              </a:spcBef>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之后</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行，每行</a:t>
            </a:r>
            <a:r>
              <a:rPr lang="en-US" altLang="zh-CN" sz="1200" dirty="0">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个整数</a:t>
            </a:r>
            <a:r>
              <a:rPr lang="en-US" altLang="zh-CN" sz="1200" dirty="0">
                <a:latin typeface="Consolas" panose="020B0609020204030204" pitchFamily="49" charset="0"/>
                <a:ea typeface="微软雅黑" panose="020B0503020204020204" pitchFamily="34" charset="-122"/>
                <a:cs typeface="Consolas" panose="020B0609020204030204" pitchFamily="49" charset="0"/>
              </a:rPr>
              <a:t>0</a:t>
            </a:r>
            <a:r>
              <a:rPr lang="zh-CN" altLang="en-US" sz="1200" dirty="0">
                <a:latin typeface="Consolas" panose="020B0609020204030204" pitchFamily="49" charset="0"/>
                <a:ea typeface="微软雅黑" panose="020B0503020204020204" pitchFamily="34" charset="-122"/>
                <a:cs typeface="Consolas" panose="020B0609020204030204" pitchFamily="49" charset="0"/>
              </a:rPr>
              <a:t>或</a:t>
            </a:r>
            <a:r>
              <a:rPr lang="en-US" altLang="zh-CN" sz="1200" dirty="0">
                <a:latin typeface="Consolas" panose="020B0609020204030204" pitchFamily="49" charset="0"/>
                <a:ea typeface="微软雅黑" panose="020B0503020204020204" pitchFamily="34" charset="-122"/>
                <a:cs typeface="Consolas" panose="020B0609020204030204" pitchFamily="49" charset="0"/>
              </a:rPr>
              <a:t>1</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，表示第一幅黑白图像上各像素点的颜色。</a:t>
            </a:r>
          </a:p>
          <a:p>
            <a:pPr marL="0" indent="0">
              <a:lnSpc>
                <a:spcPct val="100000"/>
              </a:lnSpc>
              <a:spcBef>
                <a:spcPts val="0"/>
              </a:spcBef>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之后</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行，每行</a:t>
            </a:r>
            <a:r>
              <a:rPr lang="en-US" altLang="zh-CN" sz="1200" dirty="0">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个整数</a:t>
            </a:r>
            <a:r>
              <a:rPr lang="en-US" altLang="zh-CN" sz="1200" dirty="0">
                <a:latin typeface="Consolas" panose="020B0609020204030204" pitchFamily="49" charset="0"/>
                <a:ea typeface="微软雅黑" panose="020B0503020204020204" pitchFamily="34" charset="-122"/>
                <a:cs typeface="Consolas" panose="020B0609020204030204" pitchFamily="49" charset="0"/>
              </a:rPr>
              <a:t>0</a:t>
            </a:r>
            <a:r>
              <a:rPr lang="zh-CN" altLang="en-US" sz="1200" dirty="0">
                <a:latin typeface="Consolas" panose="020B0609020204030204" pitchFamily="49" charset="0"/>
                <a:ea typeface="微软雅黑" panose="020B0503020204020204" pitchFamily="34" charset="-122"/>
                <a:cs typeface="Consolas" panose="020B0609020204030204" pitchFamily="49" charset="0"/>
              </a:rPr>
              <a:t>或</a:t>
            </a:r>
            <a:r>
              <a:rPr lang="en-US" altLang="zh-CN" sz="1200" dirty="0">
                <a:latin typeface="Consolas" panose="020B0609020204030204" pitchFamily="49" charset="0"/>
                <a:ea typeface="微软雅黑" panose="020B0503020204020204" pitchFamily="34" charset="-122"/>
                <a:cs typeface="Consolas" panose="020B0609020204030204" pitchFamily="49" charset="0"/>
              </a:rPr>
              <a:t>1</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，表示第二幅黑白图像上各像素点的颜色。</a:t>
            </a:r>
            <a:endParaRPr lang="en-US" altLang="zh-CN" sz="1200" dirty="0">
              <a:latin typeface="Consolas" panose="020B0609020204030204" pitchFamily="49" charset="0"/>
              <a:ea typeface="微软雅黑" panose="020B0503020204020204" pitchFamily="34" charset="-122"/>
              <a:cs typeface="Consolas" panose="020B0609020204030204" pitchFamily="49" charset="0"/>
            </a:endParaRPr>
          </a:p>
        </p:txBody>
      </p:sp>
      <p:sp>
        <p:nvSpPr>
          <p:cNvPr id="11" name="矩形 10"/>
          <p:cNvSpPr/>
          <p:nvPr/>
        </p:nvSpPr>
        <p:spPr>
          <a:xfrm>
            <a:off x="307428" y="2663612"/>
            <a:ext cx="3618274"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输入</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2" name="内容占位符 2"/>
          <p:cNvSpPr txBox="1"/>
          <p:nvPr/>
        </p:nvSpPr>
        <p:spPr>
          <a:xfrm>
            <a:off x="307428" y="4524513"/>
            <a:ext cx="3618274" cy="453880"/>
          </a:xfrm>
          <a:prstGeom prst="rect">
            <a:avLst/>
          </a:prstGeom>
        </p:spPr>
        <p:txBody>
          <a:bodyPr vert="horz" lIns="91440" tIns="45720" rIns="91440" bIns="45720" rtlCol="0">
            <a:noAutofit/>
          </a:bodyPr>
          <a:lstStyle>
            <a:lvl1pPr indent="0" defTabSz="914400">
              <a:lnSpc>
                <a:spcPct val="100000"/>
              </a:lnSpc>
              <a:spcBef>
                <a:spcPts val="0"/>
              </a:spcBef>
              <a:buSzPct val="125000"/>
              <a:buFont typeface="Arial" panose="020B0604020202020204" pitchFamily="34" charset="0"/>
              <a:buNone/>
              <a:defRPr sz="1200">
                <a:solidFill>
                  <a:schemeClr val="bg1"/>
                </a:solidFill>
                <a:latin typeface="微软雅黑" panose="020B0503020204020204" pitchFamily="34" charset="-122"/>
                <a:ea typeface="微软雅黑" panose="020B0503020204020204" pitchFamily="34" charset="-122"/>
                <a:cs typeface="Consolas" panose="020B0609020204030204" pitchFamily="49" charset="0"/>
              </a:defRPr>
            </a:lvl1pPr>
            <a:lvl2pPr marL="685800" indent="-228600" defTabSz="914400">
              <a:lnSpc>
                <a:spcPct val="120000"/>
              </a:lnSpc>
              <a:spcBef>
                <a:spcPts val="500"/>
              </a:spcBef>
              <a:buSzPct val="125000"/>
              <a:buFont typeface="Arial" panose="020B0604020202020204" pitchFamily="34" charset="0"/>
              <a:buChar char="•"/>
              <a:defRPr sz="2000">
                <a:solidFill>
                  <a:schemeClr val="bg1"/>
                </a:solidFill>
              </a:defRPr>
            </a:lvl2pPr>
            <a:lvl3pPr marL="1143000" indent="-228600" defTabSz="914400">
              <a:lnSpc>
                <a:spcPct val="120000"/>
              </a:lnSpc>
              <a:spcBef>
                <a:spcPts val="500"/>
              </a:spcBef>
              <a:buSzPct val="125000"/>
              <a:buFont typeface="Arial" panose="020B0604020202020204" pitchFamily="34" charset="0"/>
              <a:buChar char="•"/>
              <a:defRPr>
                <a:solidFill>
                  <a:schemeClr val="bg1"/>
                </a:solidFill>
              </a:defRPr>
            </a:lvl3pPr>
            <a:lvl4pPr marL="1600200" indent="-228600" defTabSz="914400">
              <a:lnSpc>
                <a:spcPct val="120000"/>
              </a:lnSpc>
              <a:spcBef>
                <a:spcPts val="500"/>
              </a:spcBef>
              <a:buSzPct val="125000"/>
              <a:buFont typeface="Arial" panose="020B0604020202020204" pitchFamily="34" charset="0"/>
              <a:buChar char="•"/>
              <a:defRPr sz="1600">
                <a:solidFill>
                  <a:schemeClr val="bg1"/>
                </a:solidFill>
              </a:defRPr>
            </a:lvl4pPr>
            <a:lvl5pPr marL="2057400" indent="-228600" defTabSz="914400">
              <a:lnSpc>
                <a:spcPct val="120000"/>
              </a:lnSpc>
              <a:spcBef>
                <a:spcPts val="500"/>
              </a:spcBef>
              <a:buSzPct val="125000"/>
              <a:buFont typeface="Arial" panose="020B0604020202020204" pitchFamily="34" charset="0"/>
              <a:buChar char="•"/>
              <a:defRPr sz="1600">
                <a:solidFill>
                  <a:schemeClr val="bg1"/>
                </a:solidFill>
              </a:defRPr>
            </a:lvl5pPr>
            <a:lvl6pPr marL="2514600" indent="-228600" defTabSz="914400">
              <a:lnSpc>
                <a:spcPct val="120000"/>
              </a:lnSpc>
              <a:spcBef>
                <a:spcPts val="500"/>
              </a:spcBef>
              <a:buSzPct val="125000"/>
              <a:buFont typeface="Arial" panose="020B0604020202020204" pitchFamily="34" charset="0"/>
              <a:buChar char="•"/>
              <a:defRPr sz="1400"/>
            </a:lvl6pPr>
            <a:lvl7pPr marL="2971800" indent="-228600" defTabSz="914400">
              <a:lnSpc>
                <a:spcPct val="120000"/>
              </a:lnSpc>
              <a:spcBef>
                <a:spcPts val="500"/>
              </a:spcBef>
              <a:buSzPct val="125000"/>
              <a:buFont typeface="Arial" panose="020B0604020202020204" pitchFamily="34" charset="0"/>
              <a:buChar char="•"/>
              <a:defRPr sz="1400"/>
            </a:lvl7pPr>
            <a:lvl8pPr marL="3429000" indent="-228600" defTabSz="914400">
              <a:lnSpc>
                <a:spcPct val="120000"/>
              </a:lnSpc>
              <a:spcBef>
                <a:spcPts val="500"/>
              </a:spcBef>
              <a:buSzPct val="125000"/>
              <a:buFont typeface="Arial" panose="020B0604020202020204" pitchFamily="34" charset="0"/>
              <a:buChar char="•"/>
              <a:defRPr sz="1400"/>
            </a:lvl8pPr>
            <a:lvl9pPr marL="3886200" indent="-228600" defTabSz="914400">
              <a:lnSpc>
                <a:spcPct val="120000"/>
              </a:lnSpc>
              <a:spcBef>
                <a:spcPts val="500"/>
              </a:spcBef>
              <a:buSzPct val="125000"/>
              <a:buFont typeface="Arial" panose="020B0604020202020204" pitchFamily="34" charset="0"/>
              <a:buChar char="•"/>
              <a:defRPr sz="1400"/>
            </a:lvl9pPr>
          </a:lstStyle>
          <a:p>
            <a:r>
              <a:rPr lang="zh-CN" altLang="en-US" dirty="0">
                <a:latin typeface="Consolas" panose="020B0609020204030204" pitchFamily="49" charset="0"/>
              </a:rPr>
              <a:t>一个实数，表示相似度（以百分比的形式给出），精确到小数点后两位。</a:t>
            </a:r>
            <a:endParaRPr lang="en-US" altLang="zh-CN" dirty="0">
              <a:latin typeface="Consolas" panose="020B0609020204030204" pitchFamily="49" charset="0"/>
            </a:endParaRPr>
          </a:p>
        </p:txBody>
      </p:sp>
      <p:sp>
        <p:nvSpPr>
          <p:cNvPr id="13" name="矩形 12"/>
          <p:cNvSpPr/>
          <p:nvPr/>
        </p:nvSpPr>
        <p:spPr>
          <a:xfrm>
            <a:off x="307429" y="4187401"/>
            <a:ext cx="3618274"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输出</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4" name="内容占位符 2"/>
          <p:cNvSpPr txBox="1"/>
          <p:nvPr/>
        </p:nvSpPr>
        <p:spPr>
          <a:xfrm>
            <a:off x="304205" y="5037470"/>
            <a:ext cx="1160854" cy="1570731"/>
          </a:xfrm>
          <a:prstGeom prst="rect">
            <a:avLst/>
          </a:prstGeom>
        </p:spPr>
        <p:txBody>
          <a:bodyPr vert="horz" lIns="91440" tIns="45720" rIns="91440" bIns="45720" rtlCol="0">
            <a:noAutofit/>
          </a:bodyPr>
          <a:lstStyle>
            <a:lvl1pPr indent="0" defTabSz="914400">
              <a:lnSpc>
                <a:spcPct val="100000"/>
              </a:lnSpc>
              <a:spcBef>
                <a:spcPts val="0"/>
              </a:spcBef>
              <a:buSzPct val="125000"/>
              <a:buFont typeface="Arial" panose="020B0604020202020204" pitchFamily="34" charset="0"/>
              <a:buNone/>
              <a:defRPr sz="1200">
                <a:solidFill>
                  <a:schemeClr val="bg1"/>
                </a:solidFill>
                <a:latin typeface="微软雅黑" panose="020B0503020204020204" pitchFamily="34" charset="-122"/>
                <a:ea typeface="微软雅黑" panose="020B0503020204020204" pitchFamily="34" charset="-122"/>
                <a:cs typeface="Consolas" panose="020B0609020204030204" pitchFamily="49" charset="0"/>
              </a:defRPr>
            </a:lvl1pPr>
            <a:lvl2pPr marL="685800" indent="-228600" defTabSz="914400">
              <a:lnSpc>
                <a:spcPct val="120000"/>
              </a:lnSpc>
              <a:spcBef>
                <a:spcPts val="500"/>
              </a:spcBef>
              <a:buSzPct val="125000"/>
              <a:buFont typeface="Arial" panose="020B0604020202020204" pitchFamily="34" charset="0"/>
              <a:buChar char="•"/>
              <a:defRPr sz="2000">
                <a:solidFill>
                  <a:schemeClr val="bg1"/>
                </a:solidFill>
              </a:defRPr>
            </a:lvl2pPr>
            <a:lvl3pPr marL="1143000" indent="-228600" defTabSz="914400">
              <a:lnSpc>
                <a:spcPct val="120000"/>
              </a:lnSpc>
              <a:spcBef>
                <a:spcPts val="500"/>
              </a:spcBef>
              <a:buSzPct val="125000"/>
              <a:buFont typeface="Arial" panose="020B0604020202020204" pitchFamily="34" charset="0"/>
              <a:buChar char="•"/>
              <a:defRPr>
                <a:solidFill>
                  <a:schemeClr val="bg1"/>
                </a:solidFill>
              </a:defRPr>
            </a:lvl3pPr>
            <a:lvl4pPr marL="1600200" indent="-228600" defTabSz="914400">
              <a:lnSpc>
                <a:spcPct val="120000"/>
              </a:lnSpc>
              <a:spcBef>
                <a:spcPts val="500"/>
              </a:spcBef>
              <a:buSzPct val="125000"/>
              <a:buFont typeface="Arial" panose="020B0604020202020204" pitchFamily="34" charset="0"/>
              <a:buChar char="•"/>
              <a:defRPr sz="1600">
                <a:solidFill>
                  <a:schemeClr val="bg1"/>
                </a:solidFill>
              </a:defRPr>
            </a:lvl4pPr>
            <a:lvl5pPr marL="2057400" indent="-228600" defTabSz="914400">
              <a:lnSpc>
                <a:spcPct val="120000"/>
              </a:lnSpc>
              <a:spcBef>
                <a:spcPts val="500"/>
              </a:spcBef>
              <a:buSzPct val="125000"/>
              <a:buFont typeface="Arial" panose="020B0604020202020204" pitchFamily="34" charset="0"/>
              <a:buChar char="•"/>
              <a:defRPr sz="1600">
                <a:solidFill>
                  <a:schemeClr val="bg1"/>
                </a:solidFill>
              </a:defRPr>
            </a:lvl5pPr>
            <a:lvl6pPr marL="2514600" indent="-228600" defTabSz="914400">
              <a:lnSpc>
                <a:spcPct val="120000"/>
              </a:lnSpc>
              <a:spcBef>
                <a:spcPts val="500"/>
              </a:spcBef>
              <a:buSzPct val="125000"/>
              <a:buFont typeface="Arial" panose="020B0604020202020204" pitchFamily="34" charset="0"/>
              <a:buChar char="•"/>
              <a:defRPr sz="1400"/>
            </a:lvl6pPr>
            <a:lvl7pPr marL="2971800" indent="-228600" defTabSz="914400">
              <a:lnSpc>
                <a:spcPct val="120000"/>
              </a:lnSpc>
              <a:spcBef>
                <a:spcPts val="500"/>
              </a:spcBef>
              <a:buSzPct val="125000"/>
              <a:buFont typeface="Arial" panose="020B0604020202020204" pitchFamily="34" charset="0"/>
              <a:buChar char="•"/>
              <a:defRPr sz="1400"/>
            </a:lvl7pPr>
            <a:lvl8pPr marL="3429000" indent="-228600" defTabSz="914400">
              <a:lnSpc>
                <a:spcPct val="120000"/>
              </a:lnSpc>
              <a:spcBef>
                <a:spcPts val="500"/>
              </a:spcBef>
              <a:buSzPct val="125000"/>
              <a:buFont typeface="Arial" panose="020B0604020202020204" pitchFamily="34" charset="0"/>
              <a:buChar char="•"/>
              <a:defRPr sz="1400"/>
            </a:lvl8pPr>
            <a:lvl9pPr marL="3886200" indent="-228600" defTabSz="914400">
              <a:lnSpc>
                <a:spcPct val="120000"/>
              </a:lnSpc>
              <a:spcBef>
                <a:spcPts val="500"/>
              </a:spcBef>
              <a:buSzPct val="125000"/>
              <a:buFont typeface="Arial" panose="020B0604020202020204" pitchFamily="34" charset="0"/>
              <a:buChar char="•"/>
              <a:defRPr sz="1400"/>
            </a:lvl9pPr>
          </a:lstStyle>
          <a:p>
            <a:r>
              <a:rPr lang="zh-CN" altLang="en-US" dirty="0">
                <a:latin typeface="Consolas" panose="020B0609020204030204" pitchFamily="49" charset="0"/>
              </a:rPr>
              <a:t>样例输入：</a:t>
            </a:r>
            <a:endParaRPr lang="en-US" altLang="zh-CN" dirty="0">
              <a:latin typeface="Consolas" panose="020B0609020204030204" pitchFamily="49" charset="0"/>
            </a:endParaRPr>
          </a:p>
          <a:p>
            <a:r>
              <a:rPr lang="en-US" altLang="zh-CN" dirty="0">
                <a:latin typeface="Consolas" panose="020B0609020204030204" pitchFamily="49" charset="0"/>
              </a:rPr>
              <a:t>3 3</a:t>
            </a:r>
          </a:p>
          <a:p>
            <a:r>
              <a:rPr lang="en-US" altLang="zh-CN" dirty="0">
                <a:latin typeface="Consolas" panose="020B0609020204030204" pitchFamily="49" charset="0"/>
              </a:rPr>
              <a:t>1 0 1</a:t>
            </a:r>
          </a:p>
          <a:p>
            <a:r>
              <a:rPr lang="en-US" altLang="zh-CN" dirty="0">
                <a:latin typeface="Consolas" panose="020B0609020204030204" pitchFamily="49" charset="0"/>
              </a:rPr>
              <a:t>0 0 1</a:t>
            </a:r>
          </a:p>
          <a:p>
            <a:r>
              <a:rPr lang="en-US" altLang="zh-CN" dirty="0">
                <a:latin typeface="Consolas" panose="020B0609020204030204" pitchFamily="49" charset="0"/>
              </a:rPr>
              <a:t>1 1 0</a:t>
            </a:r>
          </a:p>
          <a:p>
            <a:r>
              <a:rPr lang="en-US" altLang="zh-CN" dirty="0">
                <a:latin typeface="Consolas" panose="020B0609020204030204" pitchFamily="49" charset="0"/>
              </a:rPr>
              <a:t>1 1 0</a:t>
            </a:r>
          </a:p>
          <a:p>
            <a:r>
              <a:rPr lang="en-US" altLang="zh-CN" dirty="0">
                <a:latin typeface="Consolas" panose="020B0609020204030204" pitchFamily="49" charset="0"/>
              </a:rPr>
              <a:t>0 0 1</a:t>
            </a:r>
          </a:p>
          <a:p>
            <a:r>
              <a:rPr lang="en-US" altLang="zh-CN" dirty="0">
                <a:latin typeface="Consolas" panose="020B0609020204030204" pitchFamily="49" charset="0"/>
              </a:rPr>
              <a:t>0 0 1</a:t>
            </a:r>
          </a:p>
          <a:p>
            <a:endParaRPr lang="en-US" altLang="zh-CN" dirty="0">
              <a:latin typeface="Consolas" panose="020B0609020204030204" pitchFamily="49" charset="0"/>
            </a:endParaRPr>
          </a:p>
        </p:txBody>
      </p:sp>
      <p:sp>
        <p:nvSpPr>
          <p:cNvPr id="15" name="矩形 14"/>
          <p:cNvSpPr/>
          <p:nvPr/>
        </p:nvSpPr>
        <p:spPr>
          <a:xfrm>
            <a:off x="1465059" y="5037470"/>
            <a:ext cx="1160854" cy="461665"/>
          </a:xfrm>
          <a:prstGeom prst="rect">
            <a:avLst/>
          </a:prstGeom>
        </p:spPr>
        <p:txBody>
          <a:bodyPr vert="horz" lIns="91440" tIns="45720" rIns="91440" bIns="45720" rtlCol="0">
            <a:noAutofit/>
          </a:bodyPr>
          <a:lstStyle/>
          <a:p>
            <a:pPr defTabSz="914400">
              <a:buSzPct val="125000"/>
            </a:pPr>
            <a:r>
              <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样例输出：</a:t>
            </a:r>
            <a:endPar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a:p>
            <a:pPr defTabSz="914400">
              <a:buSzPct val="125000"/>
            </a:pPr>
            <a:r>
              <a:rPr lang="en-US" altLang="zh-CN" sz="1200" dirty="0">
                <a:solidFill>
                  <a:schemeClr val="bg1"/>
                </a:solidFill>
                <a:latin typeface="Consolas" panose="020B0609020204030204" pitchFamily="49" charset="0"/>
                <a:ea typeface="微软雅黑" panose="020B0503020204020204" pitchFamily="34" charset="-122"/>
                <a:cs typeface="Consolas" panose="020B0609020204030204" pitchFamily="49" charset="0"/>
              </a:rPr>
              <a:t>44.44</a:t>
            </a:r>
            <a:endParaRPr lang="zh-CN" altLang="en-US" sz="1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2" name="文本框 1">
            <a:extLst>
              <a:ext uri="{FF2B5EF4-FFF2-40B4-BE49-F238E27FC236}">
                <a16:creationId xmlns:a16="http://schemas.microsoft.com/office/drawing/2014/main" id="{713D397E-A10D-C5DD-E90E-7BF13A5262E5}"/>
              </a:ext>
            </a:extLst>
          </p:cNvPr>
          <p:cNvSpPr txBox="1"/>
          <p:nvPr/>
        </p:nvSpPr>
        <p:spPr>
          <a:xfrm>
            <a:off x="4495740" y="1685045"/>
            <a:ext cx="3396009" cy="4154984"/>
          </a:xfrm>
          <a:prstGeom prst="rect">
            <a:avLst/>
          </a:prstGeom>
          <a:noFill/>
        </p:spPr>
        <p:txBody>
          <a:bodyPr wrap="square">
            <a:spAutoFit/>
          </a:bodyPr>
          <a:lstStyle/>
          <a:p>
            <a:pPr lvl="0" eaLnBrk="0" fontAlgn="base" hangingPunct="0">
              <a:spcBef>
                <a:spcPct val="0"/>
              </a:spcBef>
              <a:spcAft>
                <a:spcPct val="0"/>
              </a:spcAft>
            </a:pPr>
            <a:r>
              <a:rPr lang="zh-CN" altLang="zh-CN" sz="1200" dirty="0">
                <a:solidFill>
                  <a:srgbClr val="808080"/>
                </a:solidFill>
                <a:latin typeface="Consolas" panose="020B0609020204030204" pitchFamily="49" charset="0"/>
                <a:cs typeface="Consolas" panose="020B0609020204030204" pitchFamily="49" charset="0"/>
              </a:rPr>
              <a:t>#include &lt;bits/stdc++.h&gt;</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b="1" dirty="0">
                <a:solidFill>
                  <a:srgbClr val="006699"/>
                </a:solidFill>
                <a:latin typeface="Consolas" panose="020B0609020204030204" pitchFamily="49" charset="0"/>
                <a:cs typeface="Consolas" panose="020B0609020204030204" pitchFamily="49" charset="0"/>
              </a:rPr>
              <a:t>using</a:t>
            </a:r>
            <a:r>
              <a:rPr lang="zh-CN" altLang="zh-CN" sz="1200" dirty="0">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namespace</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std;</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b="1" dirty="0">
                <a:solidFill>
                  <a:srgbClr val="808080"/>
                </a:solidFill>
                <a:latin typeface="Consolas" panose="020B0609020204030204" pitchFamily="49" charset="0"/>
                <a:cs typeface="Consolas" panose="020B0609020204030204" pitchFamily="49" charset="0"/>
              </a:rPr>
              <a:t>int</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a[1</a:t>
            </a:r>
            <a:r>
              <a:rPr lang="en-US" altLang="zh-CN" sz="1200" dirty="0">
                <a:solidFill>
                  <a:srgbClr val="000000"/>
                </a:solidFill>
                <a:latin typeface="Consolas" panose="020B0609020204030204" pitchFamily="49" charset="0"/>
                <a:cs typeface="Consolas" panose="020B0609020204030204" pitchFamily="49" charset="0"/>
              </a:rPr>
              <a:t>10</a:t>
            </a:r>
            <a:r>
              <a:rPr lang="zh-CN" altLang="zh-CN" sz="1200" dirty="0">
                <a:solidFill>
                  <a:srgbClr val="000000"/>
                </a:solidFill>
                <a:latin typeface="Consolas" panose="020B0609020204030204" pitchFamily="49" charset="0"/>
                <a:cs typeface="Consolas" panose="020B0609020204030204" pitchFamily="49" charset="0"/>
              </a:rPr>
              <a:t>][1</a:t>
            </a:r>
            <a:r>
              <a:rPr lang="en-US" altLang="zh-CN" sz="1200" dirty="0">
                <a:solidFill>
                  <a:srgbClr val="000000"/>
                </a:solidFill>
                <a:latin typeface="Consolas" panose="020B0609020204030204" pitchFamily="49" charset="0"/>
                <a:cs typeface="Consolas" panose="020B0609020204030204" pitchFamily="49" charset="0"/>
              </a:rPr>
              <a:t>10</a:t>
            </a:r>
            <a:r>
              <a:rPr lang="zh-CN" altLang="zh-CN" sz="1200" dirty="0">
                <a:solidFill>
                  <a:srgbClr val="000000"/>
                </a:solidFill>
                <a:latin typeface="Consolas" panose="020B0609020204030204" pitchFamily="49" charset="0"/>
                <a:cs typeface="Consolas" panose="020B0609020204030204" pitchFamily="49" charset="0"/>
              </a:rPr>
              <a:t>]</a:t>
            </a:r>
            <a:r>
              <a:rPr lang="en-US" altLang="zh-CN" sz="1200" dirty="0">
                <a:solidFill>
                  <a:srgbClr val="000000"/>
                </a:solidFill>
                <a:latin typeface="Consolas" panose="020B0609020204030204" pitchFamily="49" charset="0"/>
                <a:cs typeface="Consolas" panose="020B0609020204030204" pitchFamily="49" charset="0"/>
              </a:rPr>
              <a:t>,b[110][110],</a:t>
            </a:r>
            <a:r>
              <a:rPr lang="zh-CN" altLang="zh-CN" sz="1200" dirty="0">
                <a:solidFill>
                  <a:srgbClr val="000000"/>
                </a:solidFill>
                <a:latin typeface="Consolas" panose="020B0609020204030204" pitchFamily="49" charset="0"/>
                <a:cs typeface="Consolas" panose="020B0609020204030204" pitchFamily="49" charset="0"/>
              </a:rPr>
              <a:t>n,</a:t>
            </a:r>
            <a:r>
              <a:rPr lang="en-US" altLang="zh-CN" sz="1200" dirty="0">
                <a:solidFill>
                  <a:srgbClr val="000000"/>
                </a:solidFill>
                <a:latin typeface="Consolas" panose="020B0609020204030204" pitchFamily="49" charset="0"/>
                <a:cs typeface="Consolas" panose="020B0609020204030204" pitchFamily="49" charset="0"/>
              </a:rPr>
              <a:t>m,</a:t>
            </a:r>
            <a:r>
              <a:rPr lang="zh-CN" altLang="zh-CN" sz="1200" dirty="0">
                <a:solidFill>
                  <a:srgbClr val="000000"/>
                </a:solidFill>
                <a:latin typeface="Consolas" panose="020B0609020204030204" pitchFamily="49" charset="0"/>
                <a:cs typeface="Consolas" panose="020B0609020204030204" pitchFamily="49" charset="0"/>
              </a:rPr>
              <a:t>i,j,s;</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b="1" dirty="0">
                <a:solidFill>
                  <a:srgbClr val="808080"/>
                </a:solidFill>
                <a:latin typeface="Consolas" panose="020B0609020204030204" pitchFamily="49" charset="0"/>
                <a:cs typeface="Consolas" panose="020B0609020204030204" pitchFamily="49" charset="0"/>
              </a:rPr>
              <a:t>int</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main(){</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cin&gt;&gt;n</a:t>
            </a:r>
            <a:r>
              <a:rPr lang="en-US" altLang="zh-CN" sz="1200" dirty="0">
                <a:solidFill>
                  <a:srgbClr val="000000"/>
                </a:solidFill>
                <a:latin typeface="Consolas" panose="020B0609020204030204" pitchFamily="49" charset="0"/>
                <a:cs typeface="Consolas" panose="020B0609020204030204" pitchFamily="49" charset="0"/>
              </a:rPr>
              <a:t>&gt;&gt;m</a:t>
            </a:r>
            <a:r>
              <a:rPr lang="zh-CN" altLang="zh-CN" sz="1200" dirty="0">
                <a:solidFill>
                  <a:srgbClr val="000000"/>
                </a:solidFill>
                <a:latin typeface="Consolas" panose="020B0609020204030204" pitchFamily="49" charset="0"/>
                <a:cs typeface="Consolas" panose="020B0609020204030204" pitchFamily="49" charset="0"/>
              </a:rPr>
              <a:t>;</a:t>
            </a:r>
          </a:p>
          <a:p>
            <a:pPr lvl="0" eaLnBrk="0" fontAlgn="base" hangingPunct="0">
              <a:spcBef>
                <a:spcPct val="0"/>
              </a:spcBef>
              <a:spcAft>
                <a:spcPct val="0"/>
              </a:spcAft>
            </a:pPr>
            <a:r>
              <a:rPr lang="zh-CN" altLang="zh-CN" sz="1200" dirty="0">
                <a:solidFill>
                  <a:srgbClr val="000000"/>
                </a:solidFill>
                <a:latin typeface="Consolas" panose="020B0609020204030204" pitchFamily="49" charset="0"/>
                <a:cs typeface="Consolas" panose="020B0609020204030204" pitchFamily="49" charset="0"/>
              </a:rPr>
              <a:t> </a:t>
            </a:r>
            <a:r>
              <a:rPr lang="en-US" altLang="zh-CN" sz="1200" dirty="0">
                <a:solidFill>
                  <a:srgbClr val="000000"/>
                </a:solidFill>
                <a:latin typeface="Consolas" panose="020B0609020204030204" pitchFamily="49" charset="0"/>
                <a:cs typeface="Consolas" panose="020B0609020204030204" pitchFamily="49" charset="0"/>
              </a:rPr>
              <a:t>   </a:t>
            </a:r>
            <a:r>
              <a:rPr lang="en-US" altLang="zh-CN" sz="1200" dirty="0">
                <a:solidFill>
                  <a:srgbClr val="008200"/>
                </a:solidFill>
                <a:latin typeface="Consolas" panose="020B0609020204030204" pitchFamily="49" charset="0"/>
                <a:ea typeface="微软雅黑" panose="020B0503020204020204" pitchFamily="34" charset="-122"/>
                <a:sym typeface="+mn-ea"/>
              </a:rPr>
              <a:t>// </a:t>
            </a:r>
            <a:r>
              <a:rPr lang="zh-CN" altLang="en-US" sz="1200" dirty="0">
                <a:solidFill>
                  <a:srgbClr val="008200"/>
                </a:solidFill>
                <a:latin typeface="Consolas" panose="020B0609020204030204" pitchFamily="49" charset="0"/>
                <a:ea typeface="微软雅黑" panose="020B0503020204020204" pitchFamily="34" charset="-122"/>
                <a:sym typeface="+mn-ea"/>
              </a:rPr>
              <a:t>读入第一幅图像</a:t>
            </a:r>
            <a:endParaRPr lang="zh-CN" altLang="zh-CN" sz="1200" dirty="0">
              <a:solidFill>
                <a:srgbClr val="008200"/>
              </a:solidFill>
              <a:latin typeface="Consolas" panose="020B0609020204030204" pitchFamily="49" charset="0"/>
              <a:ea typeface="微软雅黑" panose="020B0503020204020204" pitchFamily="34" charset="-122"/>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(i=0;i&lt;</a:t>
            </a:r>
            <a:r>
              <a:rPr lang="en-US" altLang="zh-CN" sz="1200" dirty="0">
                <a:solidFill>
                  <a:srgbClr val="000000"/>
                </a:solidFill>
                <a:latin typeface="Consolas" panose="020B0609020204030204" pitchFamily="49" charset="0"/>
                <a:cs typeface="Consolas" panose="020B0609020204030204" pitchFamily="49" charset="0"/>
              </a:rPr>
              <a:t>n</a:t>
            </a:r>
            <a:r>
              <a:rPr lang="zh-CN" altLang="zh-CN" sz="1200" dirty="0">
                <a:solidFill>
                  <a:srgbClr val="000000"/>
                </a:solidFill>
                <a:latin typeface="Consolas" panose="020B0609020204030204" pitchFamily="49" charset="0"/>
                <a:cs typeface="Consolas" panose="020B0609020204030204" pitchFamily="49" charset="0"/>
              </a:rPr>
              <a:t>;++i)</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(j=0;j&lt;</a:t>
            </a:r>
            <a:r>
              <a:rPr lang="en-US" altLang="zh-CN" sz="1200" dirty="0">
                <a:solidFill>
                  <a:srgbClr val="000000"/>
                </a:solidFill>
                <a:latin typeface="Consolas" panose="020B0609020204030204" pitchFamily="49" charset="0"/>
                <a:cs typeface="Consolas" panose="020B0609020204030204" pitchFamily="49" charset="0"/>
              </a:rPr>
              <a:t>m</a:t>
            </a:r>
            <a:r>
              <a:rPr lang="zh-CN" altLang="zh-CN" sz="1200" dirty="0">
                <a:solidFill>
                  <a:srgbClr val="000000"/>
                </a:solidFill>
                <a:latin typeface="Consolas" panose="020B0609020204030204" pitchFamily="49" charset="0"/>
                <a:cs typeface="Consolas" panose="020B0609020204030204" pitchFamily="49" charset="0"/>
              </a:rPr>
              <a:t>;++j)</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cin&gt;&gt;a[i][j];</a:t>
            </a:r>
          </a:p>
          <a:p>
            <a:pPr lvl="0" eaLnBrk="0" fontAlgn="base" hangingPunct="0">
              <a:spcBef>
                <a:spcPct val="0"/>
              </a:spcBef>
              <a:spcAft>
                <a:spcPct val="0"/>
              </a:spcAft>
            </a:pPr>
            <a:r>
              <a:rPr lang="zh-CN" altLang="zh-CN" sz="1200" dirty="0">
                <a:solidFill>
                  <a:srgbClr val="000000"/>
                </a:solidFill>
                <a:latin typeface="Consolas" panose="020B0609020204030204" pitchFamily="49" charset="0"/>
                <a:cs typeface="Consolas" panose="020B0609020204030204" pitchFamily="49" charset="0"/>
                <a:sym typeface="+mn-ea"/>
              </a:rPr>
              <a:t> </a:t>
            </a:r>
            <a:r>
              <a:rPr lang="en-US" altLang="zh-CN" sz="1200" dirty="0">
                <a:solidFill>
                  <a:srgbClr val="000000"/>
                </a:solidFill>
                <a:latin typeface="Consolas" panose="020B0609020204030204" pitchFamily="49" charset="0"/>
                <a:cs typeface="Consolas" panose="020B0609020204030204" pitchFamily="49" charset="0"/>
                <a:sym typeface="+mn-ea"/>
              </a:rPr>
              <a:t>   </a:t>
            </a:r>
            <a:r>
              <a:rPr lang="en-US" altLang="zh-CN" sz="1200" dirty="0">
                <a:solidFill>
                  <a:srgbClr val="008200"/>
                </a:solidFill>
                <a:latin typeface="Consolas" panose="020B0609020204030204" pitchFamily="49" charset="0"/>
                <a:ea typeface="微软雅黑" panose="020B0503020204020204" pitchFamily="34" charset="-122"/>
                <a:sym typeface="+mn-ea"/>
              </a:rPr>
              <a:t>// </a:t>
            </a:r>
            <a:r>
              <a:rPr lang="zh-CN" altLang="en-US" sz="1200" dirty="0">
                <a:solidFill>
                  <a:srgbClr val="008200"/>
                </a:solidFill>
                <a:latin typeface="Consolas" panose="020B0609020204030204" pitchFamily="49" charset="0"/>
                <a:ea typeface="微软雅黑" panose="020B0503020204020204" pitchFamily="34" charset="-122"/>
                <a:sym typeface="+mn-ea"/>
              </a:rPr>
              <a:t>读入第二幅图像</a:t>
            </a:r>
            <a:endParaRPr lang="zh-CN" altLang="zh-CN" sz="1200" dirty="0">
              <a:solidFill>
                <a:srgbClr val="008200"/>
              </a:solidFill>
              <a:latin typeface="Consolas" panose="020B0609020204030204" pitchFamily="49" charset="0"/>
              <a:ea typeface="微软雅黑" panose="020B0503020204020204" pitchFamily="34" charset="-122"/>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(i=0;i&lt;</a:t>
            </a:r>
            <a:r>
              <a:rPr lang="en-US" altLang="zh-CN" sz="1200" dirty="0">
                <a:solidFill>
                  <a:srgbClr val="000000"/>
                </a:solidFill>
                <a:latin typeface="Consolas" panose="020B0609020204030204" pitchFamily="49" charset="0"/>
                <a:cs typeface="Consolas" panose="020B0609020204030204" pitchFamily="49" charset="0"/>
              </a:rPr>
              <a:t>n</a:t>
            </a:r>
            <a:r>
              <a:rPr lang="zh-CN" altLang="zh-CN" sz="1200" dirty="0">
                <a:solidFill>
                  <a:srgbClr val="000000"/>
                </a:solidFill>
                <a:latin typeface="Consolas" panose="020B0609020204030204" pitchFamily="49" charset="0"/>
                <a:cs typeface="Consolas" panose="020B0609020204030204" pitchFamily="49" charset="0"/>
              </a:rPr>
              <a:t>;++i)</a:t>
            </a:r>
            <a:endParaRPr lang="zh-CN" altLang="zh-CN" sz="1200" dirty="0">
              <a:solidFill>
                <a:prstClr val="white"/>
              </a:solidFill>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(j=0;j&lt;</a:t>
            </a:r>
            <a:r>
              <a:rPr lang="en-US" altLang="zh-CN" sz="1200" dirty="0">
                <a:solidFill>
                  <a:srgbClr val="000000"/>
                </a:solidFill>
                <a:latin typeface="Consolas" panose="020B0609020204030204" pitchFamily="49" charset="0"/>
                <a:cs typeface="Consolas" panose="020B0609020204030204" pitchFamily="49" charset="0"/>
              </a:rPr>
              <a:t>m</a:t>
            </a:r>
            <a:r>
              <a:rPr lang="zh-CN" altLang="zh-CN" sz="1200" dirty="0">
                <a:solidFill>
                  <a:srgbClr val="000000"/>
                </a:solidFill>
                <a:latin typeface="Consolas" panose="020B0609020204030204" pitchFamily="49" charset="0"/>
                <a:cs typeface="Consolas" panose="020B0609020204030204" pitchFamily="49" charset="0"/>
              </a:rPr>
              <a:t>;++j)</a:t>
            </a:r>
            <a:endParaRPr lang="zh-CN" altLang="zh-CN" sz="1200" dirty="0">
              <a:solidFill>
                <a:prstClr val="white"/>
              </a:solidFill>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cin&gt;&gt;</a:t>
            </a:r>
            <a:r>
              <a:rPr lang="en-US" altLang="zh-CN" sz="1200" dirty="0">
                <a:solidFill>
                  <a:srgbClr val="000000"/>
                </a:solidFill>
                <a:latin typeface="Consolas" panose="020B0609020204030204" pitchFamily="49" charset="0"/>
                <a:cs typeface="Consolas" panose="020B0609020204030204" pitchFamily="49" charset="0"/>
              </a:rPr>
              <a:t>b</a:t>
            </a:r>
            <a:r>
              <a:rPr lang="zh-CN" altLang="zh-CN" sz="1200" dirty="0">
                <a:solidFill>
                  <a:srgbClr val="000000"/>
                </a:solidFill>
                <a:latin typeface="Consolas" panose="020B0609020204030204" pitchFamily="49" charset="0"/>
                <a:cs typeface="Consolas" panose="020B0609020204030204" pitchFamily="49" charset="0"/>
              </a:rPr>
              <a:t>[i][j];</a:t>
            </a:r>
          </a:p>
          <a:p>
            <a:pPr lvl="0" eaLnBrk="0" fontAlgn="base" hangingPunct="0">
              <a:spcBef>
                <a:spcPct val="0"/>
              </a:spcBef>
              <a:spcAft>
                <a:spcPct val="0"/>
              </a:spcAft>
            </a:pPr>
            <a:r>
              <a:rPr lang="zh-CN" altLang="zh-CN" sz="1200" dirty="0">
                <a:solidFill>
                  <a:srgbClr val="000000"/>
                </a:solidFill>
                <a:latin typeface="Consolas" panose="020B0609020204030204" pitchFamily="49" charset="0"/>
                <a:cs typeface="Consolas" panose="020B0609020204030204" pitchFamily="49" charset="0"/>
                <a:sym typeface="+mn-ea"/>
              </a:rPr>
              <a:t> </a:t>
            </a:r>
            <a:r>
              <a:rPr lang="en-US" altLang="zh-CN" sz="1200" dirty="0">
                <a:solidFill>
                  <a:srgbClr val="000000"/>
                </a:solidFill>
                <a:latin typeface="Consolas" panose="020B0609020204030204" pitchFamily="49" charset="0"/>
                <a:cs typeface="Consolas" panose="020B0609020204030204" pitchFamily="49" charset="0"/>
                <a:sym typeface="+mn-ea"/>
              </a:rPr>
              <a:t>   </a:t>
            </a:r>
            <a:r>
              <a:rPr lang="en-US" altLang="zh-CN" sz="1200" dirty="0">
                <a:solidFill>
                  <a:srgbClr val="008200"/>
                </a:solidFill>
                <a:latin typeface="Consolas" panose="020B0609020204030204" pitchFamily="49" charset="0"/>
                <a:ea typeface="微软雅黑" panose="020B0503020204020204" pitchFamily="34" charset="-122"/>
                <a:sym typeface="+mn-ea"/>
              </a:rPr>
              <a:t>// </a:t>
            </a:r>
            <a:r>
              <a:rPr lang="zh-CN" altLang="en-US" sz="1200" dirty="0">
                <a:solidFill>
                  <a:srgbClr val="008200"/>
                </a:solidFill>
                <a:latin typeface="Consolas" panose="020B0609020204030204" pitchFamily="49" charset="0"/>
                <a:ea typeface="微软雅黑" panose="020B0503020204020204" pitchFamily="34" charset="-122"/>
                <a:sym typeface="+mn-ea"/>
              </a:rPr>
              <a:t>判断相似度</a:t>
            </a:r>
            <a:endParaRPr lang="zh-CN" altLang="zh-CN" sz="1200" dirty="0">
              <a:solidFill>
                <a:srgbClr val="008200"/>
              </a:solidFill>
              <a:latin typeface="Consolas" panose="020B0609020204030204" pitchFamily="49" charset="0"/>
              <a:ea typeface="微软雅黑" panose="020B0503020204020204" pitchFamily="34" charset="-122"/>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(i=0;i&lt;</a:t>
            </a:r>
            <a:r>
              <a:rPr lang="en-US" altLang="zh-CN" sz="1200" dirty="0">
                <a:solidFill>
                  <a:srgbClr val="000000"/>
                </a:solidFill>
                <a:latin typeface="Consolas" panose="020B0609020204030204" pitchFamily="49" charset="0"/>
                <a:cs typeface="Consolas" panose="020B0609020204030204" pitchFamily="49" charset="0"/>
              </a:rPr>
              <a:t>n</a:t>
            </a:r>
            <a:r>
              <a:rPr lang="zh-CN" altLang="zh-CN" sz="1200" dirty="0">
                <a:solidFill>
                  <a:srgbClr val="000000"/>
                </a:solidFill>
                <a:latin typeface="Consolas" panose="020B0609020204030204" pitchFamily="49" charset="0"/>
                <a:cs typeface="Consolas" panose="020B0609020204030204" pitchFamily="49" charset="0"/>
              </a:rPr>
              <a:t>;++i)</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(j=0;j&lt;</a:t>
            </a:r>
            <a:r>
              <a:rPr lang="en-US" altLang="zh-CN" sz="1200" dirty="0">
                <a:solidFill>
                  <a:srgbClr val="000000"/>
                </a:solidFill>
                <a:latin typeface="Consolas" panose="020B0609020204030204" pitchFamily="49" charset="0"/>
                <a:cs typeface="Consolas" panose="020B0609020204030204" pitchFamily="49" charset="0"/>
              </a:rPr>
              <a:t>m</a:t>
            </a:r>
            <a:r>
              <a:rPr lang="zh-CN" altLang="zh-CN" sz="1200" dirty="0">
                <a:solidFill>
                  <a:srgbClr val="000000"/>
                </a:solidFill>
                <a:latin typeface="Consolas" panose="020B0609020204030204" pitchFamily="49" charset="0"/>
                <a:cs typeface="Consolas" panose="020B0609020204030204" pitchFamily="49" charset="0"/>
              </a:rPr>
              <a:t>;++j)</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if</a:t>
            </a:r>
            <a:r>
              <a:rPr lang="zh-CN" altLang="zh-CN" sz="1200" dirty="0">
                <a:solidFill>
                  <a:srgbClr val="000000"/>
                </a:solidFill>
                <a:latin typeface="Consolas" panose="020B0609020204030204" pitchFamily="49" charset="0"/>
                <a:cs typeface="Consolas" panose="020B0609020204030204" pitchFamily="49" charset="0"/>
              </a:rPr>
              <a:t>(a[i][j]==</a:t>
            </a:r>
            <a:r>
              <a:rPr lang="en-US" altLang="zh-CN" sz="1200" dirty="0">
                <a:solidFill>
                  <a:srgbClr val="000000"/>
                </a:solidFill>
                <a:latin typeface="Consolas" panose="020B0609020204030204" pitchFamily="49" charset="0"/>
                <a:cs typeface="Consolas" panose="020B0609020204030204" pitchFamily="49" charset="0"/>
              </a:rPr>
              <a:t>b[i][j]</a:t>
            </a: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++s;</a:t>
            </a:r>
            <a:endParaRPr lang="en-US" altLang="zh-CN" sz="1200" dirty="0">
              <a:solidFill>
                <a:srgbClr val="000000"/>
              </a:solidFill>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en-US" altLang="zh-CN" sz="1200" dirty="0">
                <a:solidFill>
                  <a:srgbClr val="000000"/>
                </a:solidFill>
                <a:latin typeface="Consolas" panose="020B0609020204030204" pitchFamily="49" charset="0"/>
                <a:cs typeface="Consolas" panose="020B0609020204030204" pitchFamily="49" charset="0"/>
              </a:rPr>
              <a:t>    </a:t>
            </a:r>
            <a:r>
              <a:rPr lang="en-US" altLang="zh-CN" sz="1200" b="1" dirty="0">
                <a:solidFill>
                  <a:srgbClr val="808080"/>
                </a:solidFill>
                <a:latin typeface="Consolas" panose="020B0609020204030204" pitchFamily="49" charset="0"/>
                <a:cs typeface="Consolas" panose="020B0609020204030204" pitchFamily="49" charset="0"/>
              </a:rPr>
              <a:t>double</a:t>
            </a:r>
            <a:r>
              <a:rPr lang="en-US" altLang="zh-CN" sz="1200" dirty="0">
                <a:solidFill>
                  <a:srgbClr val="000000"/>
                </a:solidFill>
                <a:latin typeface="Consolas" panose="020B0609020204030204" pitchFamily="49" charset="0"/>
                <a:cs typeface="Consolas" panose="020B0609020204030204" pitchFamily="49" charset="0"/>
              </a:rPr>
              <a:t> ans=</a:t>
            </a:r>
            <a:r>
              <a:rPr lang="zh-CN" altLang="zh-CN" sz="1200" dirty="0">
                <a:solidFill>
                  <a:srgbClr val="000000"/>
                </a:solidFill>
                <a:latin typeface="Consolas" panose="020B0609020204030204" pitchFamily="49" charset="0"/>
                <a:cs typeface="Consolas" panose="020B0609020204030204" pitchFamily="49" charset="0"/>
              </a:rPr>
              <a:t>100.0*s</a:t>
            </a:r>
            <a:r>
              <a:rPr lang="en-US" altLang="zh-CN" sz="1200" dirty="0">
                <a:solidFill>
                  <a:srgbClr val="000000"/>
                </a:solidFill>
                <a:latin typeface="Consolas" panose="020B0609020204030204" pitchFamily="49" charset="0"/>
                <a:cs typeface="Consolas" panose="020B0609020204030204" pitchFamily="49" charset="0"/>
              </a:rPr>
              <a:t>/n</a:t>
            </a:r>
            <a:r>
              <a:rPr lang="zh-CN" altLang="zh-CN" sz="1200" dirty="0">
                <a:solidFill>
                  <a:srgbClr val="000000"/>
                </a:solidFill>
                <a:latin typeface="Consolas" panose="020B0609020204030204" pitchFamily="49" charset="0"/>
                <a:cs typeface="Consolas" panose="020B0609020204030204" pitchFamily="49" charset="0"/>
              </a:rPr>
              <a:t>/m</a:t>
            </a:r>
            <a:r>
              <a:rPr lang="en-US"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cout&lt;&lt;fixed&lt;&lt;setprecision(2)&lt;&lt;</a:t>
            </a:r>
            <a:r>
              <a:rPr lang="en-US" altLang="zh-CN" sz="1200" dirty="0">
                <a:solidFill>
                  <a:srgbClr val="000000"/>
                </a:solidFill>
                <a:latin typeface="Consolas" panose="020B0609020204030204" pitchFamily="49" charset="0"/>
                <a:cs typeface="Consolas" panose="020B0609020204030204" pitchFamily="49" charset="0"/>
              </a:rPr>
              <a:t>ans</a:t>
            </a: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return</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0;</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p:txBody>
      </p:sp>
      <p:sp>
        <p:nvSpPr>
          <p:cNvPr id="3" name="文本框 2">
            <a:extLst>
              <a:ext uri="{FF2B5EF4-FFF2-40B4-BE49-F238E27FC236}">
                <a16:creationId xmlns:a16="http://schemas.microsoft.com/office/drawing/2014/main" id="{E22B41C1-F5AE-5EDB-3888-47320C909B6F}"/>
              </a:ext>
            </a:extLst>
          </p:cNvPr>
          <p:cNvSpPr txBox="1"/>
          <p:nvPr/>
        </p:nvSpPr>
        <p:spPr>
          <a:xfrm>
            <a:off x="4023446" y="1685045"/>
            <a:ext cx="472295" cy="4154984"/>
          </a:xfrm>
          <a:prstGeom prst="rect">
            <a:avLst/>
          </a:prstGeom>
          <a:noFill/>
        </p:spPr>
        <p:txBody>
          <a:bodyPr wrap="square">
            <a:spAutoFit/>
          </a:bodyPr>
          <a:lstStyle/>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1</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2</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3</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4</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5</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6</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7</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8</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9</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10</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11</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12</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13</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14</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15</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16</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17</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18</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19</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20</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21</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22</a:t>
            </a:r>
          </a:p>
        </p:txBody>
      </p:sp>
      <p:sp>
        <p:nvSpPr>
          <p:cNvPr id="4" name="文本框 3">
            <a:extLst>
              <a:ext uri="{FF2B5EF4-FFF2-40B4-BE49-F238E27FC236}">
                <a16:creationId xmlns:a16="http://schemas.microsoft.com/office/drawing/2014/main" id="{81F63906-E047-103A-49C8-320EB3618A9B}"/>
              </a:ext>
            </a:extLst>
          </p:cNvPr>
          <p:cNvSpPr txBox="1"/>
          <p:nvPr/>
        </p:nvSpPr>
        <p:spPr>
          <a:xfrm>
            <a:off x="8461789" y="1685045"/>
            <a:ext cx="3396009" cy="3785652"/>
          </a:xfrm>
          <a:prstGeom prst="rect">
            <a:avLst/>
          </a:prstGeom>
          <a:noFill/>
        </p:spPr>
        <p:txBody>
          <a:bodyPr wrap="square">
            <a:spAutoFit/>
          </a:bodyPr>
          <a:lstStyle/>
          <a:p>
            <a:pPr lvl="0" eaLnBrk="0" fontAlgn="base" hangingPunct="0">
              <a:spcBef>
                <a:spcPct val="0"/>
              </a:spcBef>
              <a:spcAft>
                <a:spcPct val="0"/>
              </a:spcAft>
            </a:pPr>
            <a:r>
              <a:rPr lang="zh-CN" altLang="zh-CN" sz="1200" dirty="0">
                <a:solidFill>
                  <a:srgbClr val="808080"/>
                </a:solidFill>
                <a:latin typeface="Consolas" panose="020B0609020204030204" pitchFamily="49" charset="0"/>
                <a:cs typeface="Consolas" panose="020B0609020204030204" pitchFamily="49" charset="0"/>
              </a:rPr>
              <a:t>#include &lt;bits/stdc++.h&gt;</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b="1" dirty="0">
                <a:solidFill>
                  <a:srgbClr val="006699"/>
                </a:solidFill>
                <a:latin typeface="Consolas" panose="020B0609020204030204" pitchFamily="49" charset="0"/>
                <a:cs typeface="Consolas" panose="020B0609020204030204" pitchFamily="49" charset="0"/>
              </a:rPr>
              <a:t>using</a:t>
            </a:r>
            <a:r>
              <a:rPr lang="zh-CN" altLang="zh-CN" sz="1200" dirty="0">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namespace</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std;</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b="1" dirty="0">
                <a:solidFill>
                  <a:srgbClr val="808080"/>
                </a:solidFill>
                <a:latin typeface="Consolas" panose="020B0609020204030204" pitchFamily="49" charset="0"/>
                <a:cs typeface="Consolas" panose="020B0609020204030204" pitchFamily="49" charset="0"/>
              </a:rPr>
              <a:t>int</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a[1</a:t>
            </a:r>
            <a:r>
              <a:rPr lang="en-US" altLang="zh-CN" sz="1200" dirty="0">
                <a:solidFill>
                  <a:srgbClr val="000000"/>
                </a:solidFill>
                <a:latin typeface="Consolas" panose="020B0609020204030204" pitchFamily="49" charset="0"/>
                <a:cs typeface="Consolas" panose="020B0609020204030204" pitchFamily="49" charset="0"/>
              </a:rPr>
              <a:t>10</a:t>
            </a:r>
            <a:r>
              <a:rPr lang="zh-CN" altLang="zh-CN" sz="1200" dirty="0">
                <a:solidFill>
                  <a:srgbClr val="000000"/>
                </a:solidFill>
                <a:latin typeface="Consolas" panose="020B0609020204030204" pitchFamily="49" charset="0"/>
                <a:cs typeface="Consolas" panose="020B0609020204030204" pitchFamily="49" charset="0"/>
              </a:rPr>
              <a:t>][1</a:t>
            </a:r>
            <a:r>
              <a:rPr lang="en-US" altLang="zh-CN" sz="1200" dirty="0">
                <a:solidFill>
                  <a:srgbClr val="000000"/>
                </a:solidFill>
                <a:latin typeface="Consolas" panose="020B0609020204030204" pitchFamily="49" charset="0"/>
                <a:cs typeface="Consolas" panose="020B0609020204030204" pitchFamily="49" charset="0"/>
              </a:rPr>
              <a:t>10</a:t>
            </a:r>
            <a:r>
              <a:rPr lang="zh-CN" altLang="zh-CN" sz="1200" dirty="0">
                <a:solidFill>
                  <a:srgbClr val="000000"/>
                </a:solidFill>
                <a:latin typeface="Consolas" panose="020B0609020204030204" pitchFamily="49" charset="0"/>
                <a:cs typeface="Consolas" panose="020B0609020204030204" pitchFamily="49" charset="0"/>
              </a:rPr>
              <a:t>]</a:t>
            </a:r>
            <a:r>
              <a:rPr lang="en-US" altLang="zh-CN" sz="1200" dirty="0">
                <a:solidFill>
                  <a:srgbClr val="000000"/>
                </a:solidFill>
                <a:latin typeface="Consolas" panose="020B0609020204030204" pitchFamily="49" charset="0"/>
                <a:cs typeface="Consolas" panose="020B0609020204030204" pitchFamily="49" charset="0"/>
              </a:rPr>
              <a:t>,b</a:t>
            </a:r>
            <a:r>
              <a:rPr lang="zh-CN" altLang="zh-CN" sz="1200" dirty="0">
                <a:solidFill>
                  <a:srgbClr val="000000"/>
                </a:solidFill>
                <a:latin typeface="Consolas" panose="020B0609020204030204" pitchFamily="49" charset="0"/>
                <a:cs typeface="Consolas" panose="020B0609020204030204" pitchFamily="49" charset="0"/>
              </a:rPr>
              <a:t>,n,</a:t>
            </a:r>
            <a:r>
              <a:rPr lang="en-US" altLang="zh-CN" sz="1200" dirty="0">
                <a:solidFill>
                  <a:srgbClr val="000000"/>
                </a:solidFill>
                <a:latin typeface="Consolas" panose="020B0609020204030204" pitchFamily="49" charset="0"/>
                <a:cs typeface="Consolas" panose="020B0609020204030204" pitchFamily="49" charset="0"/>
              </a:rPr>
              <a:t>m</a:t>
            </a:r>
            <a:r>
              <a:rPr lang="zh-CN" altLang="zh-CN" sz="1200" dirty="0">
                <a:solidFill>
                  <a:srgbClr val="000000"/>
                </a:solidFill>
                <a:latin typeface="Consolas" panose="020B0609020204030204" pitchFamily="49" charset="0"/>
                <a:cs typeface="Consolas" panose="020B0609020204030204" pitchFamily="49" charset="0"/>
              </a:rPr>
              <a:t>,i,j,s;</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b="1" dirty="0">
                <a:solidFill>
                  <a:srgbClr val="808080"/>
                </a:solidFill>
                <a:latin typeface="Consolas" panose="020B0609020204030204" pitchFamily="49" charset="0"/>
                <a:cs typeface="Consolas" panose="020B0609020204030204" pitchFamily="49" charset="0"/>
              </a:rPr>
              <a:t>int</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main(){</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cin&gt;&gt;n</a:t>
            </a:r>
            <a:r>
              <a:rPr lang="en-US" altLang="zh-CN" sz="1200" dirty="0">
                <a:solidFill>
                  <a:srgbClr val="000000"/>
                </a:solidFill>
                <a:latin typeface="Consolas" panose="020B0609020204030204" pitchFamily="49" charset="0"/>
                <a:cs typeface="Consolas" panose="020B0609020204030204" pitchFamily="49" charset="0"/>
              </a:rPr>
              <a:t>&gt;&gt;m</a:t>
            </a:r>
            <a:r>
              <a:rPr lang="zh-CN" altLang="zh-CN" sz="1200" dirty="0">
                <a:solidFill>
                  <a:srgbClr val="000000"/>
                </a:solidFill>
                <a:latin typeface="Consolas" panose="020B0609020204030204" pitchFamily="49" charset="0"/>
                <a:cs typeface="Consolas" panose="020B0609020204030204" pitchFamily="49" charset="0"/>
              </a:rPr>
              <a:t>;</a:t>
            </a:r>
          </a:p>
          <a:p>
            <a:pPr lvl="0" fontAlgn="base">
              <a:spcBef>
                <a:spcPct val="0"/>
              </a:spcBef>
              <a:spcAft>
                <a:spcPct val="0"/>
              </a:spcAft>
            </a:pPr>
            <a:r>
              <a:rPr lang="zh-CN" altLang="zh-CN" sz="1200" dirty="0">
                <a:solidFill>
                  <a:srgbClr val="000000"/>
                </a:solidFill>
                <a:latin typeface="Consolas" panose="020B0609020204030204" pitchFamily="49" charset="0"/>
                <a:cs typeface="Consolas" panose="020B0609020204030204" pitchFamily="49" charset="0"/>
                <a:sym typeface="+mn-ea"/>
              </a:rPr>
              <a:t> </a:t>
            </a:r>
            <a:r>
              <a:rPr lang="en-US" altLang="zh-CN" sz="1200" dirty="0">
                <a:solidFill>
                  <a:srgbClr val="000000"/>
                </a:solidFill>
                <a:latin typeface="Consolas" panose="020B0609020204030204" pitchFamily="49" charset="0"/>
                <a:cs typeface="Consolas" panose="020B0609020204030204" pitchFamily="49" charset="0"/>
                <a:sym typeface="+mn-ea"/>
              </a:rPr>
              <a:t>   </a:t>
            </a:r>
            <a:r>
              <a:rPr lang="en-US" altLang="zh-CN" sz="1200" dirty="0">
                <a:solidFill>
                  <a:srgbClr val="008200"/>
                </a:solidFill>
                <a:latin typeface="Consolas" panose="020B0609020204030204" pitchFamily="49" charset="0"/>
                <a:ea typeface="微软雅黑" panose="020B0503020204020204" pitchFamily="34" charset="-122"/>
                <a:sym typeface="+mn-ea"/>
              </a:rPr>
              <a:t>// </a:t>
            </a:r>
            <a:r>
              <a:rPr lang="zh-CN" altLang="en-US" sz="1200" dirty="0">
                <a:solidFill>
                  <a:srgbClr val="008200"/>
                </a:solidFill>
                <a:latin typeface="Consolas" panose="020B0609020204030204" pitchFamily="49" charset="0"/>
                <a:ea typeface="微软雅黑" panose="020B0503020204020204" pitchFamily="34" charset="-122"/>
                <a:sym typeface="+mn-ea"/>
              </a:rPr>
              <a:t>读入第一幅图像</a:t>
            </a:r>
            <a:endParaRPr lang="zh-CN" altLang="zh-CN" sz="1200" dirty="0">
              <a:solidFill>
                <a:srgbClr val="008200"/>
              </a:solidFill>
              <a:latin typeface="Consolas" panose="020B0609020204030204" pitchFamily="49" charset="0"/>
              <a:ea typeface="微软雅黑" panose="020B0503020204020204" pitchFamily="34" charset="-122"/>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(i=0;i&lt;</a:t>
            </a:r>
            <a:r>
              <a:rPr lang="en-US" altLang="zh-CN" sz="1200" dirty="0">
                <a:solidFill>
                  <a:srgbClr val="000000"/>
                </a:solidFill>
                <a:latin typeface="Consolas" panose="020B0609020204030204" pitchFamily="49" charset="0"/>
                <a:cs typeface="Consolas" panose="020B0609020204030204" pitchFamily="49" charset="0"/>
              </a:rPr>
              <a:t>n</a:t>
            </a:r>
            <a:r>
              <a:rPr lang="zh-CN" altLang="zh-CN" sz="1200" dirty="0">
                <a:solidFill>
                  <a:srgbClr val="000000"/>
                </a:solidFill>
                <a:latin typeface="Consolas" panose="020B0609020204030204" pitchFamily="49" charset="0"/>
                <a:cs typeface="Consolas" panose="020B0609020204030204" pitchFamily="49" charset="0"/>
              </a:rPr>
              <a:t>;++i)</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(j=0;j&lt;</a:t>
            </a:r>
            <a:r>
              <a:rPr lang="en-US" altLang="zh-CN" sz="1200" dirty="0">
                <a:solidFill>
                  <a:srgbClr val="000000"/>
                </a:solidFill>
                <a:latin typeface="Consolas" panose="020B0609020204030204" pitchFamily="49" charset="0"/>
                <a:cs typeface="Consolas" panose="020B0609020204030204" pitchFamily="49" charset="0"/>
              </a:rPr>
              <a:t>m</a:t>
            </a:r>
            <a:r>
              <a:rPr lang="zh-CN" altLang="zh-CN" sz="1200" dirty="0">
                <a:solidFill>
                  <a:srgbClr val="000000"/>
                </a:solidFill>
                <a:latin typeface="Consolas" panose="020B0609020204030204" pitchFamily="49" charset="0"/>
                <a:cs typeface="Consolas" panose="020B0609020204030204" pitchFamily="49" charset="0"/>
              </a:rPr>
              <a:t>;++j)</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cin&gt;&gt;a[i][j];</a:t>
            </a:r>
          </a:p>
          <a:p>
            <a:pPr lvl="0" eaLnBrk="0" fontAlgn="base" hangingPunct="0">
              <a:spcBef>
                <a:spcPct val="0"/>
              </a:spcBef>
              <a:spcAft>
                <a:spcPct val="0"/>
              </a:spcAft>
            </a:pPr>
            <a:r>
              <a:rPr lang="zh-CN" altLang="zh-CN" sz="1200" dirty="0">
                <a:solidFill>
                  <a:srgbClr val="000000"/>
                </a:solidFill>
                <a:latin typeface="Consolas" panose="020B0609020204030204" pitchFamily="49" charset="0"/>
                <a:cs typeface="Consolas" panose="020B0609020204030204" pitchFamily="49" charset="0"/>
                <a:sym typeface="+mn-ea"/>
              </a:rPr>
              <a:t> </a:t>
            </a:r>
            <a:r>
              <a:rPr lang="en-US" altLang="zh-CN" sz="1200" dirty="0">
                <a:solidFill>
                  <a:srgbClr val="000000"/>
                </a:solidFill>
                <a:latin typeface="Consolas" panose="020B0609020204030204" pitchFamily="49" charset="0"/>
                <a:cs typeface="Consolas" panose="020B0609020204030204" pitchFamily="49" charset="0"/>
                <a:sym typeface="+mn-ea"/>
              </a:rPr>
              <a:t>   </a:t>
            </a:r>
            <a:r>
              <a:rPr lang="en-US" altLang="zh-CN" sz="1200" dirty="0">
                <a:solidFill>
                  <a:srgbClr val="008200"/>
                </a:solidFill>
                <a:latin typeface="Consolas" panose="020B0609020204030204" pitchFamily="49" charset="0"/>
                <a:ea typeface="微软雅黑" panose="020B0503020204020204" pitchFamily="34" charset="-122"/>
                <a:sym typeface="+mn-ea"/>
              </a:rPr>
              <a:t>// </a:t>
            </a:r>
            <a:r>
              <a:rPr lang="zh-CN" altLang="en-US" sz="1200" dirty="0">
                <a:solidFill>
                  <a:srgbClr val="008200"/>
                </a:solidFill>
                <a:latin typeface="Consolas" panose="020B0609020204030204" pitchFamily="49" charset="0"/>
                <a:ea typeface="微软雅黑" panose="020B0503020204020204" pitchFamily="34" charset="-122"/>
                <a:sym typeface="+mn-ea"/>
              </a:rPr>
              <a:t>读入第二幅图像，同时判断相似度</a:t>
            </a:r>
            <a:endParaRPr lang="zh-CN" altLang="zh-CN" sz="1200" dirty="0">
              <a:solidFill>
                <a:srgbClr val="008200"/>
              </a:solidFill>
              <a:latin typeface="Consolas" panose="020B0609020204030204" pitchFamily="49" charset="0"/>
              <a:ea typeface="微软雅黑" panose="020B0503020204020204" pitchFamily="34" charset="-122"/>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(i=0;i&lt;</a:t>
            </a:r>
            <a:r>
              <a:rPr lang="en-US" altLang="zh-CN" sz="1200" dirty="0">
                <a:solidFill>
                  <a:srgbClr val="000000"/>
                </a:solidFill>
                <a:latin typeface="Consolas" panose="020B0609020204030204" pitchFamily="49" charset="0"/>
                <a:cs typeface="Consolas" panose="020B0609020204030204" pitchFamily="49" charset="0"/>
              </a:rPr>
              <a:t>n</a:t>
            </a:r>
            <a:r>
              <a:rPr lang="zh-CN" altLang="zh-CN" sz="1200" dirty="0">
                <a:solidFill>
                  <a:srgbClr val="000000"/>
                </a:solidFill>
                <a:latin typeface="Consolas" panose="020B0609020204030204" pitchFamily="49" charset="0"/>
                <a:cs typeface="Consolas" panose="020B0609020204030204" pitchFamily="49" charset="0"/>
              </a:rPr>
              <a:t>;++i)</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(j=0;j&lt;</a:t>
            </a:r>
            <a:r>
              <a:rPr lang="en-US" altLang="zh-CN" sz="1200" dirty="0">
                <a:solidFill>
                  <a:srgbClr val="000000"/>
                </a:solidFill>
                <a:latin typeface="Consolas" panose="020B0609020204030204" pitchFamily="49" charset="0"/>
                <a:cs typeface="Consolas" panose="020B0609020204030204" pitchFamily="49" charset="0"/>
              </a:rPr>
              <a:t>m</a:t>
            </a:r>
            <a:r>
              <a:rPr lang="zh-CN" altLang="zh-CN" sz="1200" dirty="0">
                <a:solidFill>
                  <a:srgbClr val="000000"/>
                </a:solidFill>
                <a:latin typeface="Consolas" panose="020B0609020204030204" pitchFamily="49" charset="0"/>
                <a:cs typeface="Consolas" panose="020B0609020204030204" pitchFamily="49" charset="0"/>
              </a:rPr>
              <a:t>;++j){</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cin&gt;&gt;</a:t>
            </a:r>
            <a:r>
              <a:rPr lang="en-US" altLang="zh-CN" sz="1200" dirty="0">
                <a:solidFill>
                  <a:srgbClr val="000000"/>
                </a:solidFill>
                <a:latin typeface="Consolas" panose="020B0609020204030204" pitchFamily="49" charset="0"/>
                <a:cs typeface="Consolas" panose="020B0609020204030204" pitchFamily="49" charset="0"/>
              </a:rPr>
              <a:t>b</a:t>
            </a: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if</a:t>
            </a:r>
            <a:r>
              <a:rPr lang="zh-CN" altLang="zh-CN" sz="1200" dirty="0">
                <a:solidFill>
                  <a:srgbClr val="000000"/>
                </a:solidFill>
                <a:latin typeface="Consolas" panose="020B0609020204030204" pitchFamily="49" charset="0"/>
                <a:cs typeface="Consolas" panose="020B0609020204030204" pitchFamily="49" charset="0"/>
              </a:rPr>
              <a:t>(a[i][j]==</a:t>
            </a:r>
            <a:r>
              <a:rPr lang="en-US" altLang="zh-CN" sz="1200" dirty="0">
                <a:solidFill>
                  <a:srgbClr val="000000"/>
                </a:solidFill>
                <a:latin typeface="Consolas" panose="020B0609020204030204" pitchFamily="49" charset="0"/>
                <a:cs typeface="Consolas" panose="020B0609020204030204" pitchFamily="49" charset="0"/>
              </a:rPr>
              <a:t>b</a:t>
            </a: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++s;</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a:t>
            </a:r>
            <a:endParaRPr lang="en-US" altLang="zh-CN" sz="1200" dirty="0">
              <a:solidFill>
                <a:srgbClr val="000000"/>
              </a:solidFill>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en-US" altLang="zh-CN" sz="1200" dirty="0">
                <a:solidFill>
                  <a:srgbClr val="000000"/>
                </a:solidFill>
                <a:latin typeface="Consolas" panose="020B0609020204030204" pitchFamily="49" charset="0"/>
                <a:cs typeface="Consolas" panose="020B0609020204030204" pitchFamily="49" charset="0"/>
              </a:rPr>
              <a:t>    </a:t>
            </a:r>
            <a:r>
              <a:rPr lang="en-US" altLang="zh-CN" sz="1200" b="1" dirty="0">
                <a:solidFill>
                  <a:srgbClr val="808080"/>
                </a:solidFill>
                <a:latin typeface="Consolas" panose="020B0609020204030204" pitchFamily="49" charset="0"/>
                <a:cs typeface="Consolas" panose="020B0609020204030204" pitchFamily="49" charset="0"/>
              </a:rPr>
              <a:t>double</a:t>
            </a:r>
            <a:r>
              <a:rPr lang="en-US" altLang="zh-CN" sz="1200" dirty="0">
                <a:solidFill>
                  <a:srgbClr val="000000"/>
                </a:solidFill>
                <a:latin typeface="Consolas" panose="020B0609020204030204" pitchFamily="49" charset="0"/>
                <a:cs typeface="Consolas" panose="020B0609020204030204" pitchFamily="49" charset="0"/>
              </a:rPr>
              <a:t> ans=</a:t>
            </a:r>
            <a:r>
              <a:rPr lang="zh-CN" altLang="zh-CN" sz="1200" dirty="0">
                <a:solidFill>
                  <a:srgbClr val="000000"/>
                </a:solidFill>
                <a:latin typeface="Consolas" panose="020B0609020204030204" pitchFamily="49" charset="0"/>
                <a:cs typeface="Consolas" panose="020B0609020204030204" pitchFamily="49" charset="0"/>
              </a:rPr>
              <a:t>100.0*s</a:t>
            </a:r>
            <a:r>
              <a:rPr lang="en-US" altLang="zh-CN" sz="1200" dirty="0">
                <a:solidFill>
                  <a:srgbClr val="000000"/>
                </a:solidFill>
                <a:latin typeface="Consolas" panose="020B0609020204030204" pitchFamily="49" charset="0"/>
                <a:cs typeface="Consolas" panose="020B0609020204030204" pitchFamily="49" charset="0"/>
              </a:rPr>
              <a:t>/n</a:t>
            </a:r>
            <a:r>
              <a:rPr lang="zh-CN" altLang="zh-CN" sz="1200" dirty="0">
                <a:solidFill>
                  <a:srgbClr val="000000"/>
                </a:solidFill>
                <a:latin typeface="Consolas" panose="020B0609020204030204" pitchFamily="49" charset="0"/>
                <a:cs typeface="Consolas" panose="020B0609020204030204" pitchFamily="49" charset="0"/>
              </a:rPr>
              <a:t>/m</a:t>
            </a:r>
            <a:r>
              <a:rPr lang="en-US"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cout&lt;&lt;fixed&lt;&lt;setprecision(2)&lt;&lt;</a:t>
            </a:r>
            <a:r>
              <a:rPr lang="en-US" altLang="zh-CN" sz="1200" dirty="0">
                <a:solidFill>
                  <a:srgbClr val="000000"/>
                </a:solidFill>
                <a:latin typeface="Consolas" panose="020B0609020204030204" pitchFamily="49" charset="0"/>
                <a:cs typeface="Consolas" panose="020B0609020204030204" pitchFamily="49" charset="0"/>
              </a:rPr>
              <a:t>ans</a:t>
            </a: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return</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0;</a:t>
            </a:r>
            <a:endParaRPr lang="zh-CN" altLang="zh-CN" sz="1200" dirty="0">
              <a:latin typeface="Consolas" panose="020B0609020204030204" pitchFamily="49" charset="0"/>
              <a:cs typeface="Consolas" panose="020B0609020204030204" pitchFamily="49" charset="0"/>
            </a:endParaRPr>
          </a:p>
          <a:p>
            <a:pPr lvl="0" eaLnBrk="0" fontAlgn="base" hangingPunct="0">
              <a:spcBef>
                <a:spcPct val="0"/>
              </a:spcBef>
              <a:spcAft>
                <a:spcPct val="0"/>
              </a:spcAft>
            </a:pP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p:txBody>
      </p:sp>
      <p:sp>
        <p:nvSpPr>
          <p:cNvPr id="16" name="文本框 15">
            <a:extLst>
              <a:ext uri="{FF2B5EF4-FFF2-40B4-BE49-F238E27FC236}">
                <a16:creationId xmlns:a16="http://schemas.microsoft.com/office/drawing/2014/main" id="{89C22A9A-20CF-DB4A-5E67-B12F95066087}"/>
              </a:ext>
            </a:extLst>
          </p:cNvPr>
          <p:cNvSpPr txBox="1"/>
          <p:nvPr/>
        </p:nvSpPr>
        <p:spPr>
          <a:xfrm>
            <a:off x="7989495" y="1685045"/>
            <a:ext cx="472295" cy="3785652"/>
          </a:xfrm>
          <a:prstGeom prst="rect">
            <a:avLst/>
          </a:prstGeom>
          <a:noFill/>
        </p:spPr>
        <p:txBody>
          <a:bodyPr wrap="square">
            <a:spAutoFit/>
          </a:bodyPr>
          <a:lstStyle/>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1</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2</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3</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4</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5</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6</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7</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8</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 9</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10</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11</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12</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13</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14</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15</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16</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17</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18</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19</a:t>
            </a:r>
          </a:p>
          <a:p>
            <a:pPr marL="0" indent="0" algn="r" eaLnBrk="0" fontAlgn="base" hangingPunct="0">
              <a:lnSpc>
                <a:spcPct val="100000"/>
              </a:lnSpc>
              <a:spcBef>
                <a:spcPct val="0"/>
              </a:spcBef>
              <a:spcAft>
                <a:spcPct val="0"/>
              </a:spcAft>
              <a:buSzTx/>
              <a:buFont typeface="+mj-lt"/>
              <a:buNone/>
              <a:defRPr/>
            </a:pPr>
            <a:r>
              <a:rPr lang="en-US" altLang="zh-CN" sz="1200" dirty="0">
                <a:solidFill>
                  <a:srgbClr val="808080"/>
                </a:solidFill>
                <a:latin typeface="Consolas" panose="020B0609020204030204" pitchFamily="49" charset="0"/>
                <a:cs typeface="Consolas" panose="020B0609020204030204" pitchFamily="49" charset="0"/>
              </a:rPr>
              <a:t>20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谢谢大家</a:t>
            </a:r>
          </a:p>
        </p:txBody>
      </p:sp>
      <p:sp>
        <p:nvSpPr>
          <p:cNvPr id="4" name="文本框 3"/>
          <p:cNvSpPr txBox="1"/>
          <p:nvPr/>
        </p:nvSpPr>
        <p:spPr>
          <a:xfrm>
            <a:off x="9212580" y="6206490"/>
            <a:ext cx="2492990" cy="369332"/>
          </a:xfrm>
          <a:prstGeom prst="rect">
            <a:avLst/>
          </a:prstGeom>
          <a:noFill/>
        </p:spPr>
        <p:txBody>
          <a:bodyPr wrap="none" rtlCol="0">
            <a:spAutoFit/>
          </a:bodyPr>
          <a:lstStyle/>
          <a:p>
            <a:r>
              <a:rPr lang="zh-CN" altLang="en-US" dirty="0">
                <a:latin typeface="华文楷体" panose="02010600040101010101" pitchFamily="2" charset="-122"/>
                <a:ea typeface="华文楷体" panose="02010600040101010101" pitchFamily="2" charset="-122"/>
              </a:rPr>
              <a:t>高老师算法竞赛训练营</a:t>
            </a:r>
          </a:p>
        </p:txBody>
      </p:sp>
      <p:pic>
        <p:nvPicPr>
          <p:cNvPr id="5" name="图片 4"/>
          <p:cNvPicPr>
            <a:picLocks noChangeAspect="1"/>
          </p:cNvPicPr>
          <p:nvPr/>
        </p:nvPicPr>
        <p:blipFill>
          <a:blip r:embed="rId2"/>
          <a:stretch>
            <a:fillRect/>
          </a:stretch>
        </p:blipFill>
        <p:spPr>
          <a:xfrm>
            <a:off x="10812780" y="5361173"/>
            <a:ext cx="760094" cy="765941"/>
          </a:xfrm>
          <a:prstGeom prst="rect">
            <a:avLst/>
          </a:prstGeom>
          <a:effectLst>
            <a:outerShdw blurRad="50800" dist="38100" dir="2700000" algn="tl" rotWithShape="0">
              <a:prstClr val="black">
                <a:alpha val="40000"/>
              </a:prstClr>
            </a:outerShdw>
          </a:effectLst>
        </p:spPr>
      </p:pic>
      <p:sp>
        <p:nvSpPr>
          <p:cNvPr id="6" name="副标题 5"/>
          <p:cNvSpPr>
            <a:spLocks noGrp="1"/>
          </p:cNvSpPr>
          <p:nvPr>
            <p:ph type="subTitle" idx="1"/>
          </p:nvPr>
        </p:nvSpPr>
        <p:spPr/>
        <p:txBody>
          <a:bodyPr/>
          <a:lstStyle/>
          <a:p>
            <a:endParaRPr lang="zh-CN" altLang="en-US"/>
          </a:p>
        </p:txBody>
      </p:sp>
      <p:sp>
        <p:nvSpPr>
          <p:cNvPr id="7" name="文本框 6"/>
          <p:cNvSpPr txBox="1"/>
          <p:nvPr/>
        </p:nvSpPr>
        <p:spPr>
          <a:xfrm>
            <a:off x="2564130" y="6206490"/>
            <a:ext cx="3877985" cy="338554"/>
          </a:xfrm>
          <a:prstGeom prst="rect">
            <a:avLst/>
          </a:prstGeom>
          <a:noFill/>
        </p:spPr>
        <p:txBody>
          <a:bodyPr wrap="none" rtlCol="0">
            <a:spAutoFit/>
          </a:bodyPr>
          <a:lstStyle/>
          <a:p>
            <a:r>
              <a:rPr lang="zh-CN" altLang="en-US" sz="1600" dirty="0">
                <a:latin typeface="+mj-ea"/>
                <a:ea typeface="+mj-ea"/>
              </a:rPr>
              <a:t>注意：请大家关闭自己的麦克风和摄像头</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内容占位符 2"/>
          <p:cNvSpPr txBox="1"/>
          <p:nvPr/>
        </p:nvSpPr>
        <p:spPr>
          <a:xfrm>
            <a:off x="4665255" y="1283998"/>
            <a:ext cx="3226642" cy="44024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eaLnBrk="0" fontAlgn="base" hangingPunct="0">
              <a:lnSpc>
                <a:spcPct val="100000"/>
              </a:lnSpc>
              <a:spcBef>
                <a:spcPct val="0"/>
              </a:spcBef>
              <a:spcAft>
                <a:spcPct val="0"/>
              </a:spcAft>
              <a:buNone/>
            </a:pPr>
            <a:r>
              <a:rPr lang="zh-CN" altLang="zh-CN" sz="1200" dirty="0">
                <a:solidFill>
                  <a:srgbClr val="808080"/>
                </a:solidFill>
                <a:latin typeface="Consolas" panose="020B0609020204030204" pitchFamily="49" charset="0"/>
                <a:cs typeface="Consolas" panose="020B0609020204030204" pitchFamily="49" charset="0"/>
              </a:rPr>
              <a:t>#include &lt;bits/stdc++.h&gt;</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b="1" dirty="0">
                <a:solidFill>
                  <a:srgbClr val="006699"/>
                </a:solidFill>
                <a:latin typeface="Consolas" panose="020B0609020204030204" pitchFamily="49" charset="0"/>
                <a:cs typeface="Consolas" panose="020B0609020204030204" pitchFamily="49" charset="0"/>
              </a:rPr>
              <a:t>using</a:t>
            </a:r>
            <a:r>
              <a:rPr lang="zh-CN" altLang="zh-CN" sz="1200" dirty="0">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namespace</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std;</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b="1" dirty="0">
                <a:solidFill>
                  <a:srgbClr val="808080"/>
                </a:solidFill>
                <a:latin typeface="Consolas" panose="020B0609020204030204" pitchFamily="49" charset="0"/>
                <a:cs typeface="Consolas" panose="020B0609020204030204" pitchFamily="49" charset="0"/>
              </a:rPr>
              <a:t>int</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a[10</a:t>
            </a:r>
            <a:r>
              <a:rPr lang="en-US" altLang="zh-CN" sz="1200" dirty="0">
                <a:solidFill>
                  <a:srgbClr val="000000"/>
                </a:solidFill>
                <a:latin typeface="Consolas" panose="020B0609020204030204" pitchFamily="49" charset="0"/>
                <a:cs typeface="Consolas" panose="020B0609020204030204" pitchFamily="49" charset="0"/>
              </a:rPr>
              <a:t>5</a:t>
            </a:r>
            <a:r>
              <a:rPr lang="zh-CN" altLang="zh-CN" sz="1200" dirty="0">
                <a:solidFill>
                  <a:srgbClr val="000000"/>
                </a:solidFill>
                <a:latin typeface="Consolas" panose="020B0609020204030204" pitchFamily="49" charset="0"/>
                <a:cs typeface="Consolas" panose="020B0609020204030204" pitchFamily="49" charset="0"/>
              </a:rPr>
              <a:t>][10</a:t>
            </a:r>
            <a:r>
              <a:rPr lang="en-US" altLang="zh-CN" sz="1200" dirty="0">
                <a:solidFill>
                  <a:srgbClr val="000000"/>
                </a:solidFill>
                <a:latin typeface="Consolas" panose="020B0609020204030204" pitchFamily="49" charset="0"/>
                <a:cs typeface="Consolas" panose="020B0609020204030204" pitchFamily="49" charset="0"/>
              </a:rPr>
              <a:t>5</a:t>
            </a:r>
            <a:r>
              <a:rPr lang="zh-CN" altLang="zh-CN" sz="1200" dirty="0">
                <a:solidFill>
                  <a:srgbClr val="000000"/>
                </a:solidFill>
                <a:latin typeface="Consolas" panose="020B0609020204030204" pitchFamily="49" charset="0"/>
                <a:cs typeface="Consolas" panose="020B0609020204030204" pitchFamily="49" charset="0"/>
              </a:rPr>
              <a:t>],</a:t>
            </a:r>
            <a:r>
              <a:rPr lang="en-US" altLang="zh-CN" sz="1200" dirty="0">
                <a:solidFill>
                  <a:srgbClr val="000000"/>
                </a:solidFill>
                <a:latin typeface="Consolas" panose="020B0609020204030204" pitchFamily="49" charset="0"/>
                <a:cs typeface="Consolas" panose="020B0609020204030204" pitchFamily="49" charset="0"/>
              </a:rPr>
              <a:t>b</a:t>
            </a:r>
            <a:r>
              <a:rPr lang="zh-CN" altLang="zh-CN" sz="1200" dirty="0">
                <a:solidFill>
                  <a:srgbClr val="000000"/>
                </a:solidFill>
                <a:latin typeface="Consolas" panose="020B0609020204030204" pitchFamily="49" charset="0"/>
                <a:cs typeface="Consolas" panose="020B0609020204030204" pitchFamily="49" charset="0"/>
              </a:rPr>
              <a:t>[10</a:t>
            </a:r>
            <a:r>
              <a:rPr lang="en-US" altLang="zh-CN" sz="1200" dirty="0">
                <a:solidFill>
                  <a:srgbClr val="000000"/>
                </a:solidFill>
                <a:latin typeface="Consolas" panose="020B0609020204030204" pitchFamily="49" charset="0"/>
                <a:cs typeface="Consolas" panose="020B0609020204030204" pitchFamily="49" charset="0"/>
              </a:rPr>
              <a:t>5</a:t>
            </a:r>
            <a:r>
              <a:rPr lang="zh-CN" altLang="zh-CN" sz="1200" dirty="0">
                <a:solidFill>
                  <a:srgbClr val="000000"/>
                </a:solidFill>
                <a:latin typeface="Consolas" panose="020B0609020204030204" pitchFamily="49" charset="0"/>
                <a:cs typeface="Consolas" panose="020B0609020204030204" pitchFamily="49" charset="0"/>
              </a:rPr>
              <a:t>][10</a:t>
            </a:r>
            <a:r>
              <a:rPr lang="en-US" altLang="zh-CN" sz="1200" dirty="0">
                <a:solidFill>
                  <a:srgbClr val="000000"/>
                </a:solidFill>
                <a:latin typeface="Consolas" panose="020B0609020204030204" pitchFamily="49" charset="0"/>
                <a:cs typeface="Consolas" panose="020B0609020204030204" pitchFamily="49" charset="0"/>
              </a:rPr>
              <a:t>5</a:t>
            </a:r>
            <a:r>
              <a:rPr lang="zh-CN" altLang="zh-CN" sz="1200" dirty="0">
                <a:solidFill>
                  <a:srgbClr val="000000"/>
                </a:solidFill>
                <a:latin typeface="Consolas" panose="020B0609020204030204" pitchFamily="49" charset="0"/>
                <a:cs typeface="Consolas" panose="020B0609020204030204" pitchFamily="49" charset="0"/>
              </a:rPr>
              <a:t>]</a:t>
            </a:r>
            <a:endParaRPr lang="en-US" altLang="zh-CN" sz="1200" dirty="0">
              <a:solidFill>
                <a:srgbClr val="000000"/>
              </a:solidFill>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b="1" dirty="0">
                <a:solidFill>
                  <a:srgbClr val="808080"/>
                </a:solidFill>
                <a:latin typeface="Consolas" panose="020B0609020204030204" pitchFamily="49" charset="0"/>
                <a:cs typeface="Consolas" panose="020B0609020204030204" pitchFamily="49" charset="0"/>
              </a:rPr>
              <a:t>int </a:t>
            </a:r>
            <a:r>
              <a:rPr lang="en-US" altLang="zh-CN" sz="1200" dirty="0">
                <a:solidFill>
                  <a:srgbClr val="000000"/>
                </a:solidFill>
                <a:latin typeface="Consolas" panose="020B0609020204030204" pitchFamily="49" charset="0"/>
                <a:cs typeface="Consolas" panose="020B0609020204030204" pitchFamily="49" charset="0"/>
              </a:rPr>
              <a:t>c</a:t>
            </a:r>
            <a:r>
              <a:rPr lang="zh-CN" altLang="zh-CN" sz="1200" dirty="0">
                <a:solidFill>
                  <a:srgbClr val="000000"/>
                </a:solidFill>
                <a:latin typeface="Consolas" panose="020B0609020204030204" pitchFamily="49" charset="0"/>
                <a:cs typeface="Consolas" panose="020B0609020204030204" pitchFamily="49" charset="0"/>
              </a:rPr>
              <a:t>[10</a:t>
            </a:r>
            <a:r>
              <a:rPr lang="en-US" altLang="zh-CN" sz="1200" dirty="0">
                <a:solidFill>
                  <a:srgbClr val="000000"/>
                </a:solidFill>
                <a:latin typeface="Consolas" panose="020B0609020204030204" pitchFamily="49" charset="0"/>
                <a:cs typeface="Consolas" panose="020B0609020204030204" pitchFamily="49" charset="0"/>
              </a:rPr>
              <a:t>5</a:t>
            </a:r>
            <a:r>
              <a:rPr lang="zh-CN" altLang="zh-CN" sz="1200" dirty="0">
                <a:solidFill>
                  <a:srgbClr val="000000"/>
                </a:solidFill>
                <a:latin typeface="Consolas" panose="020B0609020204030204" pitchFamily="49" charset="0"/>
                <a:cs typeface="Consolas" panose="020B0609020204030204" pitchFamily="49" charset="0"/>
              </a:rPr>
              <a:t>][10</a:t>
            </a:r>
            <a:r>
              <a:rPr lang="en-US" altLang="zh-CN" sz="1200" dirty="0">
                <a:solidFill>
                  <a:srgbClr val="000000"/>
                </a:solidFill>
                <a:latin typeface="Consolas" panose="020B0609020204030204" pitchFamily="49" charset="0"/>
                <a:cs typeface="Consolas" panose="020B0609020204030204" pitchFamily="49" charset="0"/>
              </a:rPr>
              <a:t>5</a:t>
            </a:r>
            <a:r>
              <a:rPr lang="zh-CN" altLang="zh-CN" sz="1200" dirty="0">
                <a:solidFill>
                  <a:srgbClr val="000000"/>
                </a:solidFill>
                <a:latin typeface="Consolas" panose="020B0609020204030204" pitchFamily="49" charset="0"/>
                <a:cs typeface="Consolas" panose="020B0609020204030204" pitchFamily="49" charset="0"/>
              </a:rPr>
              <a:t>],m,n,i,j;</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b="1" dirty="0">
                <a:solidFill>
                  <a:srgbClr val="808080"/>
                </a:solidFill>
                <a:latin typeface="Consolas" panose="020B0609020204030204" pitchFamily="49" charset="0"/>
                <a:cs typeface="Consolas" panose="020B0609020204030204" pitchFamily="49" charset="0"/>
              </a:rPr>
              <a:t>int</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main(){</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cin&gt;&gt;m&gt;&gt;n;</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(i=0;i&lt;m;i++)</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(j=0;j&lt;n;j++)</a:t>
            </a:r>
            <a:endParaRPr lang="zh-CN" altLang="zh-CN" sz="1200" dirty="0">
              <a:latin typeface="Consolas" panose="020B0609020204030204" pitchFamily="49" charset="0"/>
              <a:cs typeface="Consolas" panose="020B0609020204030204" pitchFamily="49" charset="0"/>
            </a:endParaRPr>
          </a:p>
          <a:p>
            <a:pPr marL="0" lvl="0" indent="0" defTabSz="45720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cin&gt;&gt;a[i][j];</a:t>
            </a:r>
            <a:endParaRPr lang="zh-CN" altLang="zh-CN" sz="1200" dirty="0">
              <a:solidFill>
                <a:prstClr val="white"/>
              </a:solidFill>
              <a:latin typeface="Consolas" panose="020B0609020204030204" pitchFamily="49" charset="0"/>
              <a:cs typeface="Consolas" panose="020B0609020204030204" pitchFamily="49" charset="0"/>
            </a:endParaRPr>
          </a:p>
          <a:p>
            <a:pPr marL="0" lvl="0" indent="0" defTabSz="45720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(i=0;i&lt;m;i++)</a:t>
            </a:r>
            <a:endParaRPr lang="zh-CN" altLang="zh-CN" sz="1200" dirty="0">
              <a:solidFill>
                <a:prstClr val="white"/>
              </a:solidFill>
              <a:latin typeface="Consolas" panose="020B0609020204030204" pitchFamily="49" charset="0"/>
              <a:cs typeface="Consolas" panose="020B0609020204030204" pitchFamily="49" charset="0"/>
            </a:endParaRPr>
          </a:p>
          <a:p>
            <a:pPr marL="0" lvl="0" indent="0" defTabSz="45720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(j=0;j&lt;n;j++)</a:t>
            </a:r>
            <a:endParaRPr lang="zh-CN" altLang="zh-CN" sz="1200" dirty="0">
              <a:solidFill>
                <a:prstClr val="white"/>
              </a:solidFill>
              <a:latin typeface="Consolas" panose="020B0609020204030204" pitchFamily="49" charset="0"/>
              <a:cs typeface="Consolas" panose="020B0609020204030204" pitchFamily="49" charset="0"/>
            </a:endParaRPr>
          </a:p>
          <a:p>
            <a:pPr marL="0" lvl="0" indent="0" defTabSz="45720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cin&gt;&gt;</a:t>
            </a:r>
            <a:r>
              <a:rPr lang="en-US" altLang="zh-CN" sz="1200" dirty="0">
                <a:solidFill>
                  <a:srgbClr val="000000"/>
                </a:solidFill>
                <a:latin typeface="Consolas" panose="020B0609020204030204" pitchFamily="49" charset="0"/>
                <a:cs typeface="Consolas" panose="020B0609020204030204" pitchFamily="49" charset="0"/>
              </a:rPr>
              <a:t>b</a:t>
            </a:r>
            <a:r>
              <a:rPr lang="zh-CN" altLang="zh-CN" sz="1200" dirty="0">
                <a:solidFill>
                  <a:srgbClr val="000000"/>
                </a:solidFill>
                <a:latin typeface="Consolas" panose="020B0609020204030204" pitchFamily="49" charset="0"/>
                <a:cs typeface="Consolas" panose="020B0609020204030204" pitchFamily="49" charset="0"/>
              </a:rPr>
              <a:t>[i][j];</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(i=0;i&lt;m;i++)</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(j=0;j&lt;n;j++)</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en-US" altLang="zh-CN" sz="1200" dirty="0">
                <a:solidFill>
                  <a:srgbClr val="000000"/>
                </a:solidFill>
                <a:latin typeface="Consolas" panose="020B0609020204030204" pitchFamily="49" charset="0"/>
                <a:cs typeface="Consolas" panose="020B0609020204030204" pitchFamily="49" charset="0"/>
              </a:rPr>
              <a:t>c</a:t>
            </a:r>
            <a:r>
              <a:rPr lang="zh-CN" altLang="zh-CN" sz="1200" dirty="0">
                <a:solidFill>
                  <a:srgbClr val="000000"/>
                </a:solidFill>
                <a:latin typeface="Consolas" panose="020B0609020204030204" pitchFamily="49" charset="0"/>
                <a:cs typeface="Consolas" panose="020B0609020204030204" pitchFamily="49" charset="0"/>
              </a:rPr>
              <a:t>[i][j]=</a:t>
            </a:r>
            <a:r>
              <a:rPr lang="en-US" altLang="zh-CN" sz="1200" dirty="0">
                <a:solidFill>
                  <a:srgbClr val="000000"/>
                </a:solidFill>
                <a:latin typeface="Consolas" panose="020B0609020204030204" pitchFamily="49" charset="0"/>
                <a:cs typeface="Consolas" panose="020B0609020204030204" pitchFamily="49" charset="0"/>
              </a:rPr>
              <a:t>a[</a:t>
            </a:r>
            <a:r>
              <a:rPr lang="en-US" altLang="zh-CN" sz="1200" dirty="0" err="1">
                <a:solidFill>
                  <a:srgbClr val="000000"/>
                </a:solidFill>
                <a:latin typeface="Consolas" panose="020B0609020204030204" pitchFamily="49" charset="0"/>
                <a:cs typeface="Consolas" panose="020B0609020204030204" pitchFamily="49" charset="0"/>
              </a:rPr>
              <a:t>i</a:t>
            </a:r>
            <a:r>
              <a:rPr lang="en-US" altLang="zh-CN" sz="1200" dirty="0">
                <a:solidFill>
                  <a:srgbClr val="000000"/>
                </a:solidFill>
                <a:latin typeface="Consolas" panose="020B0609020204030204" pitchFamily="49" charset="0"/>
                <a:cs typeface="Consolas" panose="020B0609020204030204" pitchFamily="49" charset="0"/>
              </a:rPr>
              <a:t>][j]+b[</a:t>
            </a:r>
            <a:r>
              <a:rPr lang="en-US" altLang="zh-CN" sz="1200" dirty="0" err="1">
                <a:solidFill>
                  <a:srgbClr val="000000"/>
                </a:solidFill>
                <a:latin typeface="Consolas" panose="020B0609020204030204" pitchFamily="49" charset="0"/>
                <a:cs typeface="Consolas" panose="020B0609020204030204" pitchFamily="49" charset="0"/>
              </a:rPr>
              <a:t>i</a:t>
            </a:r>
            <a:r>
              <a:rPr lang="en-US" altLang="zh-CN" sz="1200" dirty="0">
                <a:solidFill>
                  <a:srgbClr val="000000"/>
                </a:solidFill>
                <a:latin typeface="Consolas" panose="020B0609020204030204" pitchFamily="49" charset="0"/>
                <a:cs typeface="Consolas" panose="020B0609020204030204" pitchFamily="49" charset="0"/>
              </a:rPr>
              <a:t>][j]</a:t>
            </a: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(i=0;i&lt;m;i++){</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cout&lt;&lt;</a:t>
            </a:r>
            <a:r>
              <a:rPr lang="en-US" altLang="zh-CN" sz="1200" dirty="0">
                <a:solidFill>
                  <a:srgbClr val="000000"/>
                </a:solidFill>
                <a:latin typeface="Consolas" panose="020B0609020204030204" pitchFamily="49" charset="0"/>
                <a:cs typeface="Consolas" panose="020B0609020204030204" pitchFamily="49" charset="0"/>
              </a:rPr>
              <a:t>c</a:t>
            </a:r>
            <a:r>
              <a:rPr lang="zh-CN" altLang="zh-CN" sz="1200" dirty="0">
                <a:solidFill>
                  <a:srgbClr val="000000"/>
                </a:solidFill>
                <a:latin typeface="Consolas" panose="020B0609020204030204" pitchFamily="49" charset="0"/>
                <a:cs typeface="Consolas" panose="020B0609020204030204" pitchFamily="49" charset="0"/>
              </a:rPr>
              <a:t>[i][0];</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(j=1;j&lt;n;j++)</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cout&lt;&lt;</a:t>
            </a:r>
            <a:r>
              <a:rPr lang="zh-CN" altLang="zh-CN" sz="1200" dirty="0">
                <a:solidFill>
                  <a:srgbClr val="0000FF"/>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&lt;&lt;</a:t>
            </a:r>
            <a:r>
              <a:rPr lang="en-US" altLang="zh-CN" sz="1200" dirty="0">
                <a:solidFill>
                  <a:srgbClr val="000000"/>
                </a:solidFill>
                <a:latin typeface="Consolas" panose="020B0609020204030204" pitchFamily="49" charset="0"/>
                <a:cs typeface="Consolas" panose="020B0609020204030204" pitchFamily="49" charset="0"/>
              </a:rPr>
              <a:t>c</a:t>
            </a:r>
            <a:r>
              <a:rPr lang="zh-CN" altLang="zh-CN" sz="1200" dirty="0">
                <a:solidFill>
                  <a:srgbClr val="000000"/>
                </a:solidFill>
                <a:latin typeface="Consolas" panose="020B0609020204030204" pitchFamily="49" charset="0"/>
                <a:cs typeface="Consolas" panose="020B0609020204030204" pitchFamily="49" charset="0"/>
              </a:rPr>
              <a:t>[i][j];</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cout&lt;&lt;endl;</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return</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0;</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p:txBody>
      </p:sp>
      <p:sp>
        <p:nvSpPr>
          <p:cNvPr id="6" name="内容占位符 2"/>
          <p:cNvSpPr txBox="1"/>
          <p:nvPr/>
        </p:nvSpPr>
        <p:spPr>
          <a:xfrm>
            <a:off x="8257047" y="1282121"/>
            <a:ext cx="2866233" cy="40690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eaLnBrk="0" fontAlgn="base" hangingPunct="0">
              <a:lnSpc>
                <a:spcPct val="100000"/>
              </a:lnSpc>
              <a:spcBef>
                <a:spcPct val="0"/>
              </a:spcBef>
              <a:spcAft>
                <a:spcPct val="0"/>
              </a:spcAft>
              <a:buNone/>
            </a:pPr>
            <a:r>
              <a:rPr lang="zh-CN" altLang="zh-CN" sz="1200" dirty="0">
                <a:solidFill>
                  <a:srgbClr val="808080"/>
                </a:solidFill>
                <a:latin typeface="Consolas" panose="020B0609020204030204" pitchFamily="49" charset="0"/>
                <a:cs typeface="Consolas" panose="020B0609020204030204" pitchFamily="49" charset="0"/>
              </a:rPr>
              <a:t>#include &lt;bits/stdc++.h&gt;</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b="1" dirty="0">
                <a:solidFill>
                  <a:srgbClr val="006699"/>
                </a:solidFill>
                <a:latin typeface="Consolas" panose="020B0609020204030204" pitchFamily="49" charset="0"/>
                <a:cs typeface="Consolas" panose="020B0609020204030204" pitchFamily="49" charset="0"/>
              </a:rPr>
              <a:t>using</a:t>
            </a:r>
            <a:r>
              <a:rPr lang="zh-CN" altLang="zh-CN" sz="1200" dirty="0">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namespace</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std;</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b="1" dirty="0">
                <a:solidFill>
                  <a:srgbClr val="808080"/>
                </a:solidFill>
                <a:latin typeface="Consolas" panose="020B0609020204030204" pitchFamily="49" charset="0"/>
                <a:cs typeface="Consolas" panose="020B0609020204030204" pitchFamily="49" charset="0"/>
              </a:rPr>
              <a:t>int</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a[10</a:t>
            </a:r>
            <a:r>
              <a:rPr lang="en-US" altLang="zh-CN" sz="1200" dirty="0">
                <a:solidFill>
                  <a:srgbClr val="000000"/>
                </a:solidFill>
                <a:latin typeface="Consolas" panose="020B0609020204030204" pitchFamily="49" charset="0"/>
                <a:cs typeface="Consolas" panose="020B0609020204030204" pitchFamily="49" charset="0"/>
              </a:rPr>
              <a:t>5</a:t>
            </a:r>
            <a:r>
              <a:rPr lang="zh-CN" altLang="zh-CN" sz="1200" dirty="0">
                <a:solidFill>
                  <a:srgbClr val="000000"/>
                </a:solidFill>
                <a:latin typeface="Consolas" panose="020B0609020204030204" pitchFamily="49" charset="0"/>
                <a:cs typeface="Consolas" panose="020B0609020204030204" pitchFamily="49" charset="0"/>
              </a:rPr>
              <a:t>][10</a:t>
            </a:r>
            <a:r>
              <a:rPr lang="en-US" altLang="zh-CN" sz="1200" dirty="0">
                <a:solidFill>
                  <a:srgbClr val="000000"/>
                </a:solidFill>
                <a:latin typeface="Consolas" panose="020B0609020204030204" pitchFamily="49" charset="0"/>
                <a:cs typeface="Consolas" panose="020B0609020204030204" pitchFamily="49" charset="0"/>
              </a:rPr>
              <a:t>5</a:t>
            </a:r>
            <a:r>
              <a:rPr lang="zh-CN" altLang="zh-CN" sz="1200" dirty="0">
                <a:solidFill>
                  <a:srgbClr val="000000"/>
                </a:solidFill>
                <a:latin typeface="Consolas" panose="020B0609020204030204" pitchFamily="49" charset="0"/>
                <a:cs typeface="Consolas" panose="020B0609020204030204" pitchFamily="49" charset="0"/>
              </a:rPr>
              <a:t>],m,n,i,j,p;</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b="1" dirty="0">
                <a:solidFill>
                  <a:srgbClr val="808080"/>
                </a:solidFill>
                <a:latin typeface="Consolas" panose="020B0609020204030204" pitchFamily="49" charset="0"/>
                <a:cs typeface="Consolas" panose="020B0609020204030204" pitchFamily="49" charset="0"/>
              </a:rPr>
              <a:t>int</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main(){</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cin&gt;&gt;m&gt;&gt;n;</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(i=0;i&lt;m;i++)</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(j=0;j&lt;n;j++)</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cin&gt;&gt;a[i][j];</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(i=0;i&lt;m;i++)</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(j=0;j&lt;n;j++){</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cin&gt;&gt;p;</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a[i][j]+=p;</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(i=0;i&lt;m;i++){</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cout&lt;&lt;a[i][0];</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for</a:t>
            </a:r>
            <a:r>
              <a:rPr lang="zh-CN" altLang="zh-CN" sz="1200" dirty="0">
                <a:solidFill>
                  <a:srgbClr val="000000"/>
                </a:solidFill>
                <a:latin typeface="Consolas" panose="020B0609020204030204" pitchFamily="49" charset="0"/>
                <a:cs typeface="Consolas" panose="020B0609020204030204" pitchFamily="49" charset="0"/>
              </a:rPr>
              <a:t>(j=1;j&lt;n;j++)</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cout&lt;&lt;</a:t>
            </a:r>
            <a:r>
              <a:rPr lang="zh-CN" altLang="zh-CN" sz="1200" dirty="0">
                <a:solidFill>
                  <a:srgbClr val="0000FF"/>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&lt;&lt;a[i][j];</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cout&lt;&lt;endl;</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C7254E"/>
                </a:solidFill>
                <a:latin typeface="Consolas" panose="020B0609020204030204" pitchFamily="49" charset="0"/>
                <a:cs typeface="Consolas" panose="020B0609020204030204" pitchFamily="49" charset="0"/>
              </a:rPr>
              <a:t>    </a:t>
            </a:r>
            <a:r>
              <a:rPr lang="zh-CN" altLang="zh-CN" sz="1200" b="1" dirty="0">
                <a:solidFill>
                  <a:srgbClr val="006699"/>
                </a:solidFill>
                <a:latin typeface="Consolas" panose="020B0609020204030204" pitchFamily="49" charset="0"/>
                <a:cs typeface="Consolas" panose="020B0609020204030204" pitchFamily="49" charset="0"/>
              </a:rPr>
              <a:t>return</a:t>
            </a:r>
            <a:r>
              <a:rPr lang="zh-CN" altLang="zh-CN" sz="1200" dirty="0">
                <a:latin typeface="Consolas" panose="020B0609020204030204" pitchFamily="49" charset="0"/>
                <a:cs typeface="Consolas" panose="020B0609020204030204" pitchFamily="49" charset="0"/>
              </a:rPr>
              <a:t> </a:t>
            </a:r>
            <a:r>
              <a:rPr lang="zh-CN" altLang="zh-CN" sz="1200" dirty="0">
                <a:solidFill>
                  <a:srgbClr val="000000"/>
                </a:solidFill>
                <a:latin typeface="Consolas" panose="020B0609020204030204" pitchFamily="49" charset="0"/>
                <a:cs typeface="Consolas" panose="020B0609020204030204" pitchFamily="49" charset="0"/>
              </a:rPr>
              <a:t>0;</a:t>
            </a:r>
            <a:endParaRPr lang="zh-CN" altLang="zh-CN" sz="12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200" dirty="0">
                <a:solidFill>
                  <a:srgbClr val="000000"/>
                </a:solidFill>
                <a:latin typeface="Consolas" panose="020B0609020204030204" pitchFamily="49" charset="0"/>
                <a:cs typeface="Consolas" panose="020B0609020204030204" pitchFamily="49" charset="0"/>
              </a:rPr>
              <a:t>}</a:t>
            </a:r>
            <a:endParaRPr lang="zh-CN" altLang="zh-CN" sz="1200" dirty="0">
              <a:latin typeface="Consolas" panose="020B0609020204030204" pitchFamily="49" charset="0"/>
              <a:cs typeface="Consolas" panose="020B0609020204030204" pitchFamily="49" charset="0"/>
            </a:endParaRPr>
          </a:p>
        </p:txBody>
      </p:sp>
      <p:sp>
        <p:nvSpPr>
          <p:cNvPr id="3" name="Rectangle 2"/>
          <p:cNvSpPr>
            <a:spLocks noChangeArrowheads="1"/>
          </p:cNvSpPr>
          <p:nvPr/>
        </p:nvSpPr>
        <p:spPr bwMode="auto">
          <a:xfrm>
            <a:off x="0" y="9010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 name="文本框 23"/>
          <p:cNvSpPr txBox="1"/>
          <p:nvPr/>
        </p:nvSpPr>
        <p:spPr>
          <a:xfrm>
            <a:off x="678609" y="301567"/>
            <a:ext cx="10634659" cy="707886"/>
          </a:xfrm>
          <a:prstGeom prst="rect">
            <a:avLst/>
          </a:prstGeom>
          <a:noFill/>
        </p:spPr>
        <p:txBody>
          <a:bodyPr wrap="square" rtlCol="0">
            <a:spAutoFit/>
          </a:bodyPr>
          <a:lstStyle/>
          <a:p>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例题</a:t>
            </a:r>
            <a:r>
              <a:rPr lang="en-US" altLang="zh-CN"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矩阵加法</a:t>
            </a:r>
          </a:p>
        </p:txBody>
      </p:sp>
      <p:sp>
        <p:nvSpPr>
          <p:cNvPr id="9" name="内容占位符 2"/>
          <p:cNvSpPr>
            <a:spLocks noGrp="1"/>
          </p:cNvSpPr>
          <p:nvPr>
            <p:ph idx="1"/>
          </p:nvPr>
        </p:nvSpPr>
        <p:spPr>
          <a:xfrm>
            <a:off x="675386" y="1619670"/>
            <a:ext cx="3624719" cy="852951"/>
          </a:xfrm>
        </p:spPr>
        <p:txBody>
          <a:bodyPr vert="horz" lIns="91440" tIns="45720" rIns="91440" bIns="45720" rtlCol="0">
            <a:noAutofit/>
          </a:bodyPr>
          <a:lstStyle/>
          <a:p>
            <a:pPr marL="0" indent="0">
              <a:lnSpc>
                <a:spcPct val="100000"/>
              </a:lnSpc>
              <a:spcBef>
                <a:spcPts val="0"/>
              </a:spcBef>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矩阵的加法是这样计算的：对于两个行数与列数相同的矩阵才能相加，同一行和同一列的每个数字分别相加得到的新矩阵为两个矩阵相加之和。</a:t>
            </a:r>
            <a:endParaRPr lang="en-US" altLang="zh-CN" sz="1200" dirty="0">
              <a:latin typeface="Consolas" panose="020B0609020204030204" pitchFamily="49" charset="0"/>
              <a:ea typeface="微软雅黑" panose="020B0503020204020204" pitchFamily="34" charset="-122"/>
              <a:cs typeface="Consolas" panose="020B0609020204030204" pitchFamily="49" charset="0"/>
            </a:endParaRPr>
          </a:p>
          <a:p>
            <a:pPr marL="0" indent="0">
              <a:lnSpc>
                <a:spcPct val="100000"/>
              </a:lnSpc>
              <a:spcBef>
                <a:spcPts val="0"/>
              </a:spcBef>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输入两个</a:t>
            </a:r>
            <a:r>
              <a:rPr lang="en-US" altLang="zh-CN" sz="1200" dirty="0">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行</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列的矩阵</a:t>
            </a:r>
            <a:r>
              <a:rPr lang="en-US" altLang="zh-CN" sz="1200" dirty="0">
                <a:latin typeface="Consolas" panose="020B0609020204030204" pitchFamily="49" charset="0"/>
                <a:ea typeface="微软雅黑" panose="020B0503020204020204" pitchFamily="34" charset="-122"/>
                <a:cs typeface="Consolas" panose="020B0609020204030204" pitchFamily="49" charset="0"/>
              </a:rPr>
              <a:t>A</a:t>
            </a:r>
            <a:r>
              <a:rPr lang="zh-CN" altLang="en-US" sz="1200" dirty="0">
                <a:latin typeface="Consolas" panose="020B0609020204030204" pitchFamily="49" charset="0"/>
                <a:ea typeface="微软雅黑" panose="020B0503020204020204" pitchFamily="34" charset="-122"/>
                <a:cs typeface="Consolas" panose="020B0609020204030204" pitchFamily="49" charset="0"/>
              </a:rPr>
              <a:t>和</a:t>
            </a:r>
            <a:r>
              <a:rPr lang="en-US" altLang="zh-CN" sz="1200" dirty="0">
                <a:latin typeface="Consolas" panose="020B0609020204030204" pitchFamily="49" charset="0"/>
                <a:ea typeface="微软雅黑" panose="020B0503020204020204" pitchFamily="34" charset="-122"/>
                <a:cs typeface="Consolas" panose="020B0609020204030204" pitchFamily="49" charset="0"/>
              </a:rPr>
              <a:t>B</a:t>
            </a:r>
            <a:r>
              <a:rPr lang="zh-CN" altLang="en-US" sz="1200" dirty="0">
                <a:latin typeface="Consolas" panose="020B0609020204030204" pitchFamily="49" charset="0"/>
                <a:ea typeface="微软雅黑" panose="020B0503020204020204" pitchFamily="34" charset="-122"/>
                <a:cs typeface="Consolas" panose="020B0609020204030204" pitchFamily="49" charset="0"/>
              </a:rPr>
              <a:t>，输出它们的和</a:t>
            </a:r>
            <a:r>
              <a:rPr lang="en-US" altLang="zh-CN" sz="1200" dirty="0">
                <a:latin typeface="Consolas" panose="020B0609020204030204" pitchFamily="49" charset="0"/>
                <a:ea typeface="微软雅黑" panose="020B0503020204020204" pitchFamily="34" charset="-122"/>
                <a:cs typeface="Consolas" panose="020B0609020204030204" pitchFamily="49" charset="0"/>
              </a:rPr>
              <a:t>A+B</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endParaRPr lang="en-US" altLang="zh-CN" sz="1200" dirty="0">
              <a:latin typeface="Consolas" panose="020B0609020204030204" pitchFamily="49" charset="0"/>
              <a:ea typeface="微软雅黑" panose="020B0503020204020204" pitchFamily="34" charset="-122"/>
              <a:cs typeface="Consolas" panose="020B0609020204030204" pitchFamily="49" charset="0"/>
            </a:endParaRPr>
          </a:p>
        </p:txBody>
      </p:sp>
      <p:sp>
        <p:nvSpPr>
          <p:cNvPr id="10" name="矩形 9"/>
          <p:cNvSpPr/>
          <p:nvPr/>
        </p:nvSpPr>
        <p:spPr>
          <a:xfrm>
            <a:off x="678609" y="1283998"/>
            <a:ext cx="3618274"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题目要求</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1" name="内容占位符 2"/>
          <p:cNvSpPr txBox="1"/>
          <p:nvPr/>
        </p:nvSpPr>
        <p:spPr>
          <a:xfrm>
            <a:off x="675387" y="2867368"/>
            <a:ext cx="3621496" cy="852951"/>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00000"/>
              </a:lnSpc>
              <a:spcBef>
                <a:spcPts val="0"/>
              </a:spcBef>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第一行包含两个整数</a:t>
            </a:r>
            <a:r>
              <a:rPr lang="en-US" altLang="zh-CN" sz="1200" dirty="0">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和</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1</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a:t>
            </a:r>
            <a:r>
              <a:rPr lang="en-US" altLang="zh-CN" sz="1200" dirty="0">
                <a:latin typeface="Consolas" panose="020B0609020204030204" pitchFamily="49" charset="0"/>
                <a:ea typeface="微软雅黑" panose="020B0503020204020204" pitchFamily="34" charset="-122"/>
                <a:cs typeface="Consolas" panose="020B0609020204030204" pitchFamily="49" charset="0"/>
              </a:rPr>
              <a:t>100</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），表示矩阵的行数和列数。</a:t>
            </a:r>
          </a:p>
          <a:p>
            <a:pPr marL="0" indent="0">
              <a:lnSpc>
                <a:spcPct val="100000"/>
              </a:lnSpc>
              <a:spcBef>
                <a:spcPts val="0"/>
              </a:spcBef>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接下来</a:t>
            </a:r>
            <a:r>
              <a:rPr lang="en-US" altLang="zh-CN" sz="1200" dirty="0">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行，每行</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个整数，表示矩阵</a:t>
            </a:r>
            <a:r>
              <a:rPr lang="en-US" altLang="zh-CN" sz="1200" dirty="0">
                <a:latin typeface="Consolas" panose="020B0609020204030204" pitchFamily="49" charset="0"/>
                <a:ea typeface="微软雅黑" panose="020B0503020204020204" pitchFamily="34" charset="-122"/>
                <a:cs typeface="Consolas" panose="020B0609020204030204" pitchFamily="49" charset="0"/>
              </a:rPr>
              <a:t>A</a:t>
            </a:r>
            <a:r>
              <a:rPr lang="zh-CN" altLang="en-US" sz="1200" dirty="0">
                <a:latin typeface="Consolas" panose="020B0609020204030204" pitchFamily="49" charset="0"/>
                <a:ea typeface="微软雅黑" panose="020B0503020204020204" pitchFamily="34" charset="-122"/>
                <a:cs typeface="Consolas" panose="020B0609020204030204" pitchFamily="49" charset="0"/>
              </a:rPr>
              <a:t>的元素。</a:t>
            </a:r>
          </a:p>
          <a:p>
            <a:pPr marL="0" indent="0">
              <a:lnSpc>
                <a:spcPct val="100000"/>
              </a:lnSpc>
              <a:spcBef>
                <a:spcPts val="0"/>
              </a:spcBef>
              <a:buNone/>
            </a:pPr>
            <a:r>
              <a:rPr lang="zh-CN" altLang="en-US" sz="1200" dirty="0">
                <a:latin typeface="Consolas" panose="020B0609020204030204" pitchFamily="49" charset="0"/>
                <a:ea typeface="微软雅黑" panose="020B0503020204020204" pitchFamily="34" charset="-122"/>
                <a:cs typeface="Consolas" panose="020B0609020204030204" pitchFamily="49" charset="0"/>
              </a:rPr>
              <a:t>接下来</a:t>
            </a:r>
            <a:r>
              <a:rPr lang="en-US" altLang="zh-CN" sz="1200" dirty="0">
                <a:latin typeface="Consolas" panose="020B0609020204030204" pitchFamily="49" charset="0"/>
                <a:ea typeface="微软雅黑" panose="020B0503020204020204" pitchFamily="34" charset="-122"/>
                <a:cs typeface="Consolas" panose="020B0609020204030204" pitchFamily="49" charset="0"/>
              </a:rPr>
              <a:t>m</a:t>
            </a:r>
            <a:r>
              <a:rPr lang="zh-CN" altLang="en-US" sz="1200" dirty="0">
                <a:latin typeface="Consolas" panose="020B0609020204030204" pitchFamily="49" charset="0"/>
                <a:ea typeface="微软雅黑" panose="020B0503020204020204" pitchFamily="34" charset="-122"/>
                <a:cs typeface="Consolas" panose="020B0609020204030204" pitchFamily="49" charset="0"/>
              </a:rPr>
              <a:t>行，每行</a:t>
            </a:r>
            <a:r>
              <a:rPr lang="en-US" altLang="zh-CN" sz="1200" dirty="0">
                <a:latin typeface="Consolas" panose="020B0609020204030204" pitchFamily="49" charset="0"/>
                <a:ea typeface="微软雅黑" panose="020B0503020204020204" pitchFamily="34" charset="-122"/>
                <a:cs typeface="Consolas" panose="020B0609020204030204" pitchFamily="49" charset="0"/>
              </a:rPr>
              <a:t>n</a:t>
            </a:r>
            <a:r>
              <a:rPr lang="zh-CN" altLang="en-US" sz="1200" dirty="0">
                <a:latin typeface="Consolas" panose="020B0609020204030204" pitchFamily="49" charset="0"/>
                <a:ea typeface="微软雅黑" panose="020B0503020204020204" pitchFamily="34" charset="-122"/>
                <a:cs typeface="Consolas" panose="020B0609020204030204" pitchFamily="49" charset="0"/>
              </a:rPr>
              <a:t>个整数，表示矩阵</a:t>
            </a:r>
            <a:r>
              <a:rPr lang="en-US" altLang="zh-CN" sz="1200" dirty="0">
                <a:latin typeface="Consolas" panose="020B0609020204030204" pitchFamily="49" charset="0"/>
                <a:ea typeface="微软雅黑" panose="020B0503020204020204" pitchFamily="34" charset="-122"/>
                <a:cs typeface="Consolas" panose="020B0609020204030204" pitchFamily="49" charset="0"/>
              </a:rPr>
              <a:t>B</a:t>
            </a:r>
            <a:r>
              <a:rPr lang="zh-CN" altLang="en-US" sz="1200" dirty="0">
                <a:latin typeface="Consolas" panose="020B0609020204030204" pitchFamily="49" charset="0"/>
                <a:ea typeface="微软雅黑" panose="020B0503020204020204" pitchFamily="34" charset="-122"/>
                <a:cs typeface="Consolas" panose="020B0609020204030204" pitchFamily="49" charset="0"/>
              </a:rPr>
              <a:t>的元素。</a:t>
            </a:r>
            <a:endParaRPr lang="en-US" altLang="zh-CN" sz="1200" dirty="0">
              <a:latin typeface="Consolas" panose="020B0609020204030204" pitchFamily="49" charset="0"/>
              <a:ea typeface="微软雅黑" panose="020B0503020204020204" pitchFamily="34" charset="-122"/>
              <a:cs typeface="Consolas" panose="020B0609020204030204" pitchFamily="49" charset="0"/>
            </a:endParaRPr>
          </a:p>
        </p:txBody>
      </p:sp>
      <p:sp>
        <p:nvSpPr>
          <p:cNvPr id="12" name="矩形 11"/>
          <p:cNvSpPr/>
          <p:nvPr/>
        </p:nvSpPr>
        <p:spPr>
          <a:xfrm>
            <a:off x="678609" y="2531698"/>
            <a:ext cx="3618274"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输入</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3" name="内容占位符 2"/>
          <p:cNvSpPr txBox="1"/>
          <p:nvPr/>
        </p:nvSpPr>
        <p:spPr>
          <a:xfrm>
            <a:off x="678608" y="4118546"/>
            <a:ext cx="3618274" cy="453880"/>
          </a:xfrm>
          <a:prstGeom prst="rect">
            <a:avLst/>
          </a:prstGeom>
        </p:spPr>
        <p:txBody>
          <a:bodyPr vert="horz" lIns="91440" tIns="45720" rIns="91440" bIns="45720" rtlCol="0">
            <a:noAutofit/>
          </a:bodyPr>
          <a:lstStyle>
            <a:lvl1pPr indent="0" defTabSz="914400">
              <a:lnSpc>
                <a:spcPct val="100000"/>
              </a:lnSpc>
              <a:spcBef>
                <a:spcPts val="0"/>
              </a:spcBef>
              <a:buSzPct val="125000"/>
              <a:buFont typeface="Arial" panose="020B0604020202020204" pitchFamily="34" charset="0"/>
              <a:buNone/>
              <a:defRPr sz="1200">
                <a:solidFill>
                  <a:schemeClr val="bg1"/>
                </a:solidFill>
                <a:latin typeface="微软雅黑" panose="020B0503020204020204" pitchFamily="34" charset="-122"/>
                <a:ea typeface="微软雅黑" panose="020B0503020204020204" pitchFamily="34" charset="-122"/>
                <a:cs typeface="Consolas" panose="020B0609020204030204" pitchFamily="49" charset="0"/>
              </a:defRPr>
            </a:lvl1pPr>
            <a:lvl2pPr marL="685800" indent="-228600" defTabSz="914400">
              <a:lnSpc>
                <a:spcPct val="120000"/>
              </a:lnSpc>
              <a:spcBef>
                <a:spcPts val="500"/>
              </a:spcBef>
              <a:buSzPct val="125000"/>
              <a:buFont typeface="Arial" panose="020B0604020202020204" pitchFamily="34" charset="0"/>
              <a:buChar char="•"/>
              <a:defRPr sz="2000">
                <a:solidFill>
                  <a:schemeClr val="bg1"/>
                </a:solidFill>
              </a:defRPr>
            </a:lvl2pPr>
            <a:lvl3pPr marL="1143000" indent="-228600" defTabSz="914400">
              <a:lnSpc>
                <a:spcPct val="120000"/>
              </a:lnSpc>
              <a:spcBef>
                <a:spcPts val="500"/>
              </a:spcBef>
              <a:buSzPct val="125000"/>
              <a:buFont typeface="Arial" panose="020B0604020202020204" pitchFamily="34" charset="0"/>
              <a:buChar char="•"/>
              <a:defRPr>
                <a:solidFill>
                  <a:schemeClr val="bg1"/>
                </a:solidFill>
              </a:defRPr>
            </a:lvl3pPr>
            <a:lvl4pPr marL="1600200" indent="-228600" defTabSz="914400">
              <a:lnSpc>
                <a:spcPct val="120000"/>
              </a:lnSpc>
              <a:spcBef>
                <a:spcPts val="500"/>
              </a:spcBef>
              <a:buSzPct val="125000"/>
              <a:buFont typeface="Arial" panose="020B0604020202020204" pitchFamily="34" charset="0"/>
              <a:buChar char="•"/>
              <a:defRPr sz="1600">
                <a:solidFill>
                  <a:schemeClr val="bg1"/>
                </a:solidFill>
              </a:defRPr>
            </a:lvl4pPr>
            <a:lvl5pPr marL="2057400" indent="-228600" defTabSz="914400">
              <a:lnSpc>
                <a:spcPct val="120000"/>
              </a:lnSpc>
              <a:spcBef>
                <a:spcPts val="500"/>
              </a:spcBef>
              <a:buSzPct val="125000"/>
              <a:buFont typeface="Arial" panose="020B0604020202020204" pitchFamily="34" charset="0"/>
              <a:buChar char="•"/>
              <a:defRPr sz="1600">
                <a:solidFill>
                  <a:schemeClr val="bg1"/>
                </a:solidFill>
              </a:defRPr>
            </a:lvl5pPr>
            <a:lvl6pPr marL="2514600" indent="-228600" defTabSz="914400">
              <a:lnSpc>
                <a:spcPct val="120000"/>
              </a:lnSpc>
              <a:spcBef>
                <a:spcPts val="500"/>
              </a:spcBef>
              <a:buSzPct val="125000"/>
              <a:buFont typeface="Arial" panose="020B0604020202020204" pitchFamily="34" charset="0"/>
              <a:buChar char="•"/>
              <a:defRPr sz="1400"/>
            </a:lvl6pPr>
            <a:lvl7pPr marL="2971800" indent="-228600" defTabSz="914400">
              <a:lnSpc>
                <a:spcPct val="120000"/>
              </a:lnSpc>
              <a:spcBef>
                <a:spcPts val="500"/>
              </a:spcBef>
              <a:buSzPct val="125000"/>
              <a:buFont typeface="Arial" panose="020B0604020202020204" pitchFamily="34" charset="0"/>
              <a:buChar char="•"/>
              <a:defRPr sz="1400"/>
            </a:lvl7pPr>
            <a:lvl8pPr marL="3429000" indent="-228600" defTabSz="914400">
              <a:lnSpc>
                <a:spcPct val="120000"/>
              </a:lnSpc>
              <a:spcBef>
                <a:spcPts val="500"/>
              </a:spcBef>
              <a:buSzPct val="125000"/>
              <a:buFont typeface="Arial" panose="020B0604020202020204" pitchFamily="34" charset="0"/>
              <a:buChar char="•"/>
              <a:defRPr sz="1400"/>
            </a:lvl8pPr>
            <a:lvl9pPr marL="3886200" indent="-228600" defTabSz="914400">
              <a:lnSpc>
                <a:spcPct val="120000"/>
              </a:lnSpc>
              <a:spcBef>
                <a:spcPts val="500"/>
              </a:spcBef>
              <a:buSzPct val="125000"/>
              <a:buFont typeface="Arial" panose="020B0604020202020204" pitchFamily="34" charset="0"/>
              <a:buChar char="•"/>
              <a:defRPr sz="1400"/>
            </a:lvl9pPr>
          </a:lstStyle>
          <a:p>
            <a:r>
              <a:rPr lang="en-US" altLang="zh-CN" dirty="0">
                <a:latin typeface="Consolas" panose="020B0609020204030204" pitchFamily="49" charset="0"/>
              </a:rPr>
              <a:t>m</a:t>
            </a:r>
            <a:r>
              <a:rPr lang="zh-CN" altLang="en-US" dirty="0">
                <a:latin typeface="Consolas" panose="020B0609020204030204" pitchFamily="49" charset="0"/>
              </a:rPr>
              <a:t>行，每行</a:t>
            </a:r>
            <a:r>
              <a:rPr lang="en-US" altLang="zh-CN" dirty="0">
                <a:latin typeface="Consolas" panose="020B0609020204030204" pitchFamily="49" charset="0"/>
              </a:rPr>
              <a:t>n</a:t>
            </a:r>
            <a:r>
              <a:rPr lang="zh-CN" altLang="en-US" dirty="0">
                <a:latin typeface="Consolas" panose="020B0609020204030204" pitchFamily="49" charset="0"/>
              </a:rPr>
              <a:t>个整数，表示矩阵加法的结果。相邻两个整数之间用单个空格隔开，行尾没有空格。</a:t>
            </a:r>
            <a:endParaRPr lang="en-US" altLang="zh-CN" dirty="0">
              <a:latin typeface="Consolas" panose="020B0609020204030204" pitchFamily="49" charset="0"/>
            </a:endParaRPr>
          </a:p>
        </p:txBody>
      </p:sp>
      <p:sp>
        <p:nvSpPr>
          <p:cNvPr id="14" name="矩形 13"/>
          <p:cNvSpPr/>
          <p:nvPr/>
        </p:nvSpPr>
        <p:spPr>
          <a:xfrm>
            <a:off x="678609" y="3781434"/>
            <a:ext cx="3618274" cy="338554"/>
          </a:xfrm>
          <a:prstGeom prst="rect">
            <a:avLst/>
          </a:prstGeom>
        </p:spPr>
        <p:txBody>
          <a:bodyPr wrap="square">
            <a:spAutoFit/>
          </a:bodyPr>
          <a:lstStyle/>
          <a:p>
            <a:r>
              <a:rPr lang="zh-CN" altLang="en-US"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rPr>
              <a:t>输出</a:t>
            </a:r>
            <a:endParaRPr lang="en-US" altLang="zh-CN" sz="1600" b="1"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5" name="内容占位符 2"/>
          <p:cNvSpPr txBox="1"/>
          <p:nvPr/>
        </p:nvSpPr>
        <p:spPr>
          <a:xfrm>
            <a:off x="675386" y="4670160"/>
            <a:ext cx="1160854" cy="1570731"/>
          </a:xfrm>
          <a:prstGeom prst="rect">
            <a:avLst/>
          </a:prstGeom>
        </p:spPr>
        <p:txBody>
          <a:bodyPr vert="horz" lIns="91440" tIns="45720" rIns="91440" bIns="45720" rtlCol="0">
            <a:noAutofit/>
          </a:bodyPr>
          <a:lstStyle>
            <a:lvl1pPr indent="0" defTabSz="914400">
              <a:lnSpc>
                <a:spcPct val="100000"/>
              </a:lnSpc>
              <a:spcBef>
                <a:spcPts val="0"/>
              </a:spcBef>
              <a:buSzPct val="125000"/>
              <a:buFont typeface="Arial" panose="020B0604020202020204" pitchFamily="34" charset="0"/>
              <a:buNone/>
              <a:defRPr sz="1200">
                <a:solidFill>
                  <a:schemeClr val="bg1"/>
                </a:solidFill>
                <a:latin typeface="微软雅黑" panose="020B0503020204020204" pitchFamily="34" charset="-122"/>
                <a:ea typeface="微软雅黑" panose="020B0503020204020204" pitchFamily="34" charset="-122"/>
                <a:cs typeface="Consolas" panose="020B0609020204030204" pitchFamily="49" charset="0"/>
              </a:defRPr>
            </a:lvl1pPr>
            <a:lvl2pPr marL="685800" indent="-228600" defTabSz="914400">
              <a:lnSpc>
                <a:spcPct val="120000"/>
              </a:lnSpc>
              <a:spcBef>
                <a:spcPts val="500"/>
              </a:spcBef>
              <a:buSzPct val="125000"/>
              <a:buFont typeface="Arial" panose="020B0604020202020204" pitchFamily="34" charset="0"/>
              <a:buChar char="•"/>
              <a:defRPr sz="2000">
                <a:solidFill>
                  <a:schemeClr val="bg1"/>
                </a:solidFill>
              </a:defRPr>
            </a:lvl2pPr>
            <a:lvl3pPr marL="1143000" indent="-228600" defTabSz="914400">
              <a:lnSpc>
                <a:spcPct val="120000"/>
              </a:lnSpc>
              <a:spcBef>
                <a:spcPts val="500"/>
              </a:spcBef>
              <a:buSzPct val="125000"/>
              <a:buFont typeface="Arial" panose="020B0604020202020204" pitchFamily="34" charset="0"/>
              <a:buChar char="•"/>
              <a:defRPr>
                <a:solidFill>
                  <a:schemeClr val="bg1"/>
                </a:solidFill>
              </a:defRPr>
            </a:lvl3pPr>
            <a:lvl4pPr marL="1600200" indent="-228600" defTabSz="914400">
              <a:lnSpc>
                <a:spcPct val="120000"/>
              </a:lnSpc>
              <a:spcBef>
                <a:spcPts val="500"/>
              </a:spcBef>
              <a:buSzPct val="125000"/>
              <a:buFont typeface="Arial" panose="020B0604020202020204" pitchFamily="34" charset="0"/>
              <a:buChar char="•"/>
              <a:defRPr sz="1600">
                <a:solidFill>
                  <a:schemeClr val="bg1"/>
                </a:solidFill>
              </a:defRPr>
            </a:lvl4pPr>
            <a:lvl5pPr marL="2057400" indent="-228600" defTabSz="914400">
              <a:lnSpc>
                <a:spcPct val="120000"/>
              </a:lnSpc>
              <a:spcBef>
                <a:spcPts val="500"/>
              </a:spcBef>
              <a:buSzPct val="125000"/>
              <a:buFont typeface="Arial" panose="020B0604020202020204" pitchFamily="34" charset="0"/>
              <a:buChar char="•"/>
              <a:defRPr sz="1600">
                <a:solidFill>
                  <a:schemeClr val="bg1"/>
                </a:solidFill>
              </a:defRPr>
            </a:lvl5pPr>
            <a:lvl6pPr marL="2514600" indent="-228600" defTabSz="914400">
              <a:lnSpc>
                <a:spcPct val="120000"/>
              </a:lnSpc>
              <a:spcBef>
                <a:spcPts val="500"/>
              </a:spcBef>
              <a:buSzPct val="125000"/>
              <a:buFont typeface="Arial" panose="020B0604020202020204" pitchFamily="34" charset="0"/>
              <a:buChar char="•"/>
              <a:defRPr sz="1400"/>
            </a:lvl6pPr>
            <a:lvl7pPr marL="2971800" indent="-228600" defTabSz="914400">
              <a:lnSpc>
                <a:spcPct val="120000"/>
              </a:lnSpc>
              <a:spcBef>
                <a:spcPts val="500"/>
              </a:spcBef>
              <a:buSzPct val="125000"/>
              <a:buFont typeface="Arial" panose="020B0604020202020204" pitchFamily="34" charset="0"/>
              <a:buChar char="•"/>
              <a:defRPr sz="1400"/>
            </a:lvl7pPr>
            <a:lvl8pPr marL="3429000" indent="-228600" defTabSz="914400">
              <a:lnSpc>
                <a:spcPct val="120000"/>
              </a:lnSpc>
              <a:spcBef>
                <a:spcPts val="500"/>
              </a:spcBef>
              <a:buSzPct val="125000"/>
              <a:buFont typeface="Arial" panose="020B0604020202020204" pitchFamily="34" charset="0"/>
              <a:buChar char="•"/>
              <a:defRPr sz="1400"/>
            </a:lvl8pPr>
            <a:lvl9pPr marL="3886200" indent="-228600" defTabSz="914400">
              <a:lnSpc>
                <a:spcPct val="120000"/>
              </a:lnSpc>
              <a:spcBef>
                <a:spcPts val="500"/>
              </a:spcBef>
              <a:buSzPct val="125000"/>
              <a:buFont typeface="Arial" panose="020B0604020202020204" pitchFamily="34" charset="0"/>
              <a:buChar char="•"/>
              <a:defRPr sz="1400"/>
            </a:lvl9pPr>
          </a:lstStyle>
          <a:p>
            <a:r>
              <a:rPr lang="zh-CN" altLang="en-US" dirty="0">
                <a:latin typeface="Consolas" panose="020B0609020204030204" pitchFamily="49" charset="0"/>
              </a:rPr>
              <a:t>样例输入：</a:t>
            </a:r>
            <a:endParaRPr lang="en-US" altLang="zh-CN" dirty="0">
              <a:latin typeface="Consolas" panose="020B0609020204030204" pitchFamily="49" charset="0"/>
            </a:endParaRPr>
          </a:p>
          <a:p>
            <a:r>
              <a:rPr lang="en-US" altLang="zh-CN" dirty="0">
                <a:latin typeface="Consolas" panose="020B0609020204030204" pitchFamily="49" charset="0"/>
              </a:rPr>
              <a:t>3 3</a:t>
            </a:r>
          </a:p>
          <a:p>
            <a:r>
              <a:rPr lang="en-US" altLang="zh-CN" dirty="0">
                <a:latin typeface="Consolas" panose="020B0609020204030204" pitchFamily="49" charset="0"/>
              </a:rPr>
              <a:t>1 2 3</a:t>
            </a:r>
          </a:p>
          <a:p>
            <a:r>
              <a:rPr lang="en-US" altLang="zh-CN" dirty="0">
                <a:latin typeface="Consolas" panose="020B0609020204030204" pitchFamily="49" charset="0"/>
              </a:rPr>
              <a:t>1 2 3</a:t>
            </a:r>
          </a:p>
          <a:p>
            <a:r>
              <a:rPr lang="en-US" altLang="zh-CN" dirty="0">
                <a:latin typeface="Consolas" panose="020B0609020204030204" pitchFamily="49" charset="0"/>
              </a:rPr>
              <a:t>1 2 3</a:t>
            </a:r>
          </a:p>
          <a:p>
            <a:r>
              <a:rPr lang="en-US" altLang="zh-CN" dirty="0">
                <a:latin typeface="Consolas" panose="020B0609020204030204" pitchFamily="49" charset="0"/>
              </a:rPr>
              <a:t>1 2 3</a:t>
            </a:r>
          </a:p>
          <a:p>
            <a:r>
              <a:rPr lang="en-US" altLang="zh-CN" dirty="0">
                <a:latin typeface="Consolas" panose="020B0609020204030204" pitchFamily="49" charset="0"/>
              </a:rPr>
              <a:t>4 5 6</a:t>
            </a:r>
          </a:p>
          <a:p>
            <a:r>
              <a:rPr lang="en-US" altLang="zh-CN" dirty="0">
                <a:latin typeface="Consolas" panose="020B0609020204030204" pitchFamily="49" charset="0"/>
              </a:rPr>
              <a:t>7 8 9</a:t>
            </a:r>
          </a:p>
        </p:txBody>
      </p:sp>
      <p:sp>
        <p:nvSpPr>
          <p:cNvPr id="16" name="矩形 15"/>
          <p:cNvSpPr/>
          <p:nvPr/>
        </p:nvSpPr>
        <p:spPr>
          <a:xfrm>
            <a:off x="1905708" y="4670160"/>
            <a:ext cx="1160854" cy="830997"/>
          </a:xfrm>
          <a:prstGeom prst="rect">
            <a:avLst/>
          </a:prstGeom>
        </p:spPr>
        <p:txBody>
          <a:bodyPr wrap="square">
            <a:spAutoFit/>
          </a:bodyPr>
          <a:lstStyle/>
          <a:p>
            <a:r>
              <a:rPr lang="zh-CN" altLang="en-US" sz="1200" dirty="0">
                <a:solidFill>
                  <a:schemeClr val="bg1"/>
                </a:solidFill>
                <a:latin typeface="Consolas" panose="020B0609020204030204" pitchFamily="49" charset="0"/>
              </a:rPr>
              <a:t>样例输出：</a:t>
            </a:r>
            <a:endParaRPr lang="en-US" altLang="zh-CN" sz="1200" dirty="0">
              <a:solidFill>
                <a:schemeClr val="bg1"/>
              </a:solidFill>
              <a:latin typeface="Consolas" panose="020B0609020204030204" pitchFamily="49" charset="0"/>
            </a:endParaRPr>
          </a:p>
          <a:p>
            <a:r>
              <a:rPr lang="en-US" altLang="zh-CN" sz="1200" dirty="0">
                <a:solidFill>
                  <a:schemeClr val="bg1"/>
                </a:solidFill>
                <a:latin typeface="Consolas" panose="020B0609020204030204" pitchFamily="49" charset="0"/>
              </a:rPr>
              <a:t>2 4 6</a:t>
            </a:r>
          </a:p>
          <a:p>
            <a:r>
              <a:rPr lang="en-US" altLang="zh-CN" sz="1200" dirty="0">
                <a:solidFill>
                  <a:schemeClr val="bg1"/>
                </a:solidFill>
                <a:latin typeface="Consolas" panose="020B0609020204030204" pitchFamily="49" charset="0"/>
              </a:rPr>
              <a:t>5 7 9</a:t>
            </a:r>
          </a:p>
          <a:p>
            <a:r>
              <a:rPr lang="en-US" altLang="zh-CN" sz="1200" dirty="0">
                <a:solidFill>
                  <a:schemeClr val="bg1"/>
                </a:solidFill>
                <a:latin typeface="Consolas" panose="020B0609020204030204" pitchFamily="49" charset="0"/>
              </a:rPr>
              <a:t>8 10 12</a:t>
            </a:r>
            <a:endParaRPr lang="zh-CN" altLang="en-US" sz="1200" dirty="0">
              <a:solidFill>
                <a:schemeClr val="bg1"/>
              </a:solidFill>
            </a:endParaRPr>
          </a:p>
        </p:txBody>
      </p:sp>
      <p:sp>
        <p:nvSpPr>
          <p:cNvPr id="17" name="矩形 16"/>
          <p:cNvSpPr/>
          <p:nvPr/>
        </p:nvSpPr>
        <p:spPr>
          <a:xfrm>
            <a:off x="6754409" y="2590369"/>
            <a:ext cx="1250631" cy="276999"/>
          </a:xfrm>
          <a:prstGeom prst="rect">
            <a:avLst/>
          </a:prstGeom>
        </p:spPr>
        <p:txBody>
          <a:bodyPr wrap="square">
            <a:spAutoFit/>
          </a:bodyPr>
          <a:lstStyle/>
          <a:p>
            <a:r>
              <a:rPr lang="zh-CN" altLang="en-US" sz="1200" dirty="0">
                <a:solidFill>
                  <a:srgbClr val="008200"/>
                </a:solidFill>
                <a:latin typeface="Consolas" panose="020B0609020204030204" pitchFamily="49" charset="0"/>
                <a:ea typeface="微软雅黑" panose="020B0503020204020204" pitchFamily="34" charset="-122"/>
              </a:rPr>
              <a:t>读入矩阵</a:t>
            </a:r>
            <a:r>
              <a:rPr lang="en-US" altLang="zh-CN" sz="1200" dirty="0">
                <a:solidFill>
                  <a:srgbClr val="008200"/>
                </a:solidFill>
                <a:latin typeface="Consolas" panose="020B0609020204030204" pitchFamily="49" charset="0"/>
                <a:ea typeface="微软雅黑" panose="020B0503020204020204" pitchFamily="34" charset="-122"/>
              </a:rPr>
              <a:t>A</a:t>
            </a:r>
            <a:endParaRPr lang="zh-CN" altLang="en-US" sz="1200" dirty="0">
              <a:solidFill>
                <a:srgbClr val="008200"/>
              </a:solidFill>
              <a:latin typeface="Consolas" panose="020B0609020204030204" pitchFamily="49" charset="0"/>
              <a:ea typeface="微软雅黑" panose="020B0503020204020204" pitchFamily="34" charset="-122"/>
            </a:endParaRPr>
          </a:p>
        </p:txBody>
      </p:sp>
      <p:sp>
        <p:nvSpPr>
          <p:cNvPr id="18" name="矩形 17"/>
          <p:cNvSpPr/>
          <p:nvPr/>
        </p:nvSpPr>
        <p:spPr>
          <a:xfrm>
            <a:off x="6754408" y="3174926"/>
            <a:ext cx="1250631" cy="276999"/>
          </a:xfrm>
          <a:prstGeom prst="rect">
            <a:avLst/>
          </a:prstGeom>
        </p:spPr>
        <p:txBody>
          <a:bodyPr wrap="square">
            <a:spAutoFit/>
          </a:bodyPr>
          <a:lstStyle/>
          <a:p>
            <a:r>
              <a:rPr lang="zh-CN" altLang="en-US" sz="1200" dirty="0">
                <a:solidFill>
                  <a:srgbClr val="008200"/>
                </a:solidFill>
                <a:latin typeface="Consolas" panose="020B0609020204030204" pitchFamily="49" charset="0"/>
                <a:ea typeface="微软雅黑" panose="020B0503020204020204" pitchFamily="34" charset="-122"/>
              </a:rPr>
              <a:t>读入矩阵</a:t>
            </a:r>
            <a:r>
              <a:rPr lang="en-US" altLang="zh-CN" sz="1200" dirty="0">
                <a:solidFill>
                  <a:srgbClr val="008200"/>
                </a:solidFill>
                <a:latin typeface="Consolas" panose="020B0609020204030204" pitchFamily="49" charset="0"/>
                <a:ea typeface="微软雅黑" panose="020B0503020204020204" pitchFamily="34" charset="-122"/>
              </a:rPr>
              <a:t>B</a:t>
            </a:r>
            <a:endParaRPr lang="zh-CN" altLang="en-US" sz="1200" dirty="0">
              <a:solidFill>
                <a:srgbClr val="008200"/>
              </a:solidFill>
              <a:latin typeface="Consolas" panose="020B0609020204030204" pitchFamily="49" charset="0"/>
              <a:ea typeface="微软雅黑" panose="020B0503020204020204" pitchFamily="34" charset="-122"/>
            </a:endParaRPr>
          </a:p>
        </p:txBody>
      </p:sp>
      <p:sp>
        <p:nvSpPr>
          <p:cNvPr id="19" name="矩形 18"/>
          <p:cNvSpPr/>
          <p:nvPr/>
        </p:nvSpPr>
        <p:spPr>
          <a:xfrm>
            <a:off x="6754407" y="3619673"/>
            <a:ext cx="1250631" cy="276999"/>
          </a:xfrm>
          <a:prstGeom prst="rect">
            <a:avLst/>
          </a:prstGeom>
        </p:spPr>
        <p:txBody>
          <a:bodyPr wrap="square">
            <a:spAutoFit/>
          </a:bodyPr>
          <a:lstStyle/>
          <a:p>
            <a:r>
              <a:rPr lang="zh-CN" altLang="en-US" sz="1200" dirty="0">
                <a:solidFill>
                  <a:srgbClr val="008200"/>
                </a:solidFill>
                <a:latin typeface="Consolas" panose="020B0609020204030204" pitchFamily="49" charset="0"/>
                <a:ea typeface="微软雅黑" panose="020B0503020204020204" pitchFamily="34" charset="-122"/>
              </a:rPr>
              <a:t>做加法</a:t>
            </a:r>
          </a:p>
        </p:txBody>
      </p:sp>
      <p:sp>
        <p:nvSpPr>
          <p:cNvPr id="20" name="矩形 19"/>
          <p:cNvSpPr/>
          <p:nvPr/>
        </p:nvSpPr>
        <p:spPr>
          <a:xfrm>
            <a:off x="10431059" y="2451869"/>
            <a:ext cx="1250631" cy="276999"/>
          </a:xfrm>
          <a:prstGeom prst="rect">
            <a:avLst/>
          </a:prstGeom>
        </p:spPr>
        <p:txBody>
          <a:bodyPr wrap="square">
            <a:spAutoFit/>
          </a:bodyPr>
          <a:lstStyle/>
          <a:p>
            <a:r>
              <a:rPr lang="zh-CN" altLang="en-US" sz="1200" dirty="0">
                <a:solidFill>
                  <a:srgbClr val="008200"/>
                </a:solidFill>
                <a:latin typeface="Consolas" panose="020B0609020204030204" pitchFamily="49" charset="0"/>
                <a:ea typeface="微软雅黑" panose="020B0503020204020204" pitchFamily="34" charset="-122"/>
              </a:rPr>
              <a:t>读入矩阵</a:t>
            </a:r>
            <a:r>
              <a:rPr lang="en-US" altLang="zh-CN" sz="1200" dirty="0">
                <a:solidFill>
                  <a:srgbClr val="008200"/>
                </a:solidFill>
                <a:latin typeface="Consolas" panose="020B0609020204030204" pitchFamily="49" charset="0"/>
                <a:ea typeface="微软雅黑" panose="020B0503020204020204" pitchFamily="34" charset="-122"/>
              </a:rPr>
              <a:t>A</a:t>
            </a:r>
            <a:endParaRPr lang="zh-CN" altLang="en-US" sz="1200" dirty="0">
              <a:solidFill>
                <a:srgbClr val="008200"/>
              </a:solidFill>
              <a:latin typeface="Consolas" panose="020B0609020204030204" pitchFamily="49" charset="0"/>
              <a:ea typeface="微软雅黑" panose="020B0503020204020204" pitchFamily="34" charset="-122"/>
            </a:endParaRPr>
          </a:p>
        </p:txBody>
      </p:sp>
      <p:sp>
        <p:nvSpPr>
          <p:cNvPr id="21" name="矩形 20"/>
          <p:cNvSpPr/>
          <p:nvPr/>
        </p:nvSpPr>
        <p:spPr>
          <a:xfrm>
            <a:off x="10431058" y="3036426"/>
            <a:ext cx="1250631" cy="461665"/>
          </a:xfrm>
          <a:prstGeom prst="rect">
            <a:avLst/>
          </a:prstGeom>
        </p:spPr>
        <p:txBody>
          <a:bodyPr wrap="square">
            <a:spAutoFit/>
          </a:bodyPr>
          <a:lstStyle/>
          <a:p>
            <a:r>
              <a:rPr lang="zh-CN" altLang="en-US" sz="1200" dirty="0">
                <a:solidFill>
                  <a:srgbClr val="008200"/>
                </a:solidFill>
                <a:latin typeface="Consolas" panose="020B0609020204030204" pitchFamily="49" charset="0"/>
                <a:ea typeface="微软雅黑" panose="020B0503020204020204" pitchFamily="34" charset="-122"/>
              </a:rPr>
              <a:t>读入矩阵</a:t>
            </a:r>
            <a:r>
              <a:rPr lang="en-US" altLang="zh-CN" sz="1200" dirty="0">
                <a:solidFill>
                  <a:srgbClr val="008200"/>
                </a:solidFill>
                <a:latin typeface="Consolas" panose="020B0609020204030204" pitchFamily="49" charset="0"/>
                <a:ea typeface="微软雅黑" panose="020B0503020204020204" pitchFamily="34" charset="-122"/>
              </a:rPr>
              <a:t>B</a:t>
            </a:r>
            <a:r>
              <a:rPr lang="zh-CN" altLang="en-US" sz="1200" dirty="0">
                <a:solidFill>
                  <a:srgbClr val="008200"/>
                </a:solidFill>
                <a:latin typeface="Consolas" panose="020B0609020204030204" pitchFamily="49" charset="0"/>
                <a:ea typeface="微软雅黑" panose="020B0503020204020204" pitchFamily="34" charset="-122"/>
              </a:rPr>
              <a:t>的同时做加法</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内容占位符 2"/>
          <p:cNvSpPr txBox="1"/>
          <p:nvPr/>
        </p:nvSpPr>
        <p:spPr>
          <a:xfrm>
            <a:off x="6095999" y="1362397"/>
            <a:ext cx="5417391" cy="5214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eaLnBrk="0" fontAlgn="base" hangingPunct="0">
              <a:lnSpc>
                <a:spcPct val="100000"/>
              </a:lnSpc>
              <a:spcBef>
                <a:spcPct val="0"/>
              </a:spcBef>
              <a:spcAft>
                <a:spcPct val="0"/>
              </a:spcAft>
              <a:buNone/>
            </a:pPr>
            <a:r>
              <a:rPr lang="zh-CN" altLang="zh-CN" sz="1400" dirty="0">
                <a:solidFill>
                  <a:srgbClr val="808080"/>
                </a:solidFill>
                <a:latin typeface="Consolas" panose="020B0609020204030204" pitchFamily="49" charset="0"/>
                <a:cs typeface="Consolas" panose="020B0609020204030204" pitchFamily="49" charset="0"/>
              </a:rPr>
              <a:t>#include &lt;bits/stdc++.h&gt;</a:t>
            </a:r>
            <a:endParaRPr lang="zh-CN" altLang="zh-CN" sz="14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400" b="1" dirty="0">
                <a:solidFill>
                  <a:srgbClr val="006699"/>
                </a:solidFill>
                <a:latin typeface="Consolas" panose="020B0609020204030204" pitchFamily="49" charset="0"/>
                <a:cs typeface="Consolas" panose="020B0609020204030204" pitchFamily="49" charset="0"/>
              </a:rPr>
              <a:t>using</a:t>
            </a:r>
            <a:r>
              <a:rPr lang="zh-CN" altLang="zh-CN" sz="1400" dirty="0">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namespace</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std;</a:t>
            </a:r>
            <a:endParaRPr lang="zh-CN" altLang="zh-CN" sz="14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400" b="1" dirty="0">
                <a:solidFill>
                  <a:srgbClr val="808080"/>
                </a:solidFill>
                <a:latin typeface="Consolas" panose="020B0609020204030204" pitchFamily="49" charset="0"/>
                <a:cs typeface="Consolas" panose="020B0609020204030204" pitchFamily="49" charset="0"/>
              </a:rPr>
              <a:t>int</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main(){</a:t>
            </a:r>
            <a:endParaRPr lang="zh-CN" altLang="zh-CN" sz="14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808080"/>
                </a:solidFill>
                <a:latin typeface="Consolas" panose="020B0609020204030204" pitchFamily="49" charset="0"/>
                <a:cs typeface="Consolas" panose="020B0609020204030204" pitchFamily="49" charset="0"/>
              </a:rPr>
              <a:t>long</a:t>
            </a:r>
            <a:r>
              <a:rPr lang="zh-CN" altLang="zh-CN" sz="1400" dirty="0">
                <a:latin typeface="Consolas" panose="020B0609020204030204" pitchFamily="49" charset="0"/>
                <a:cs typeface="Consolas" panose="020B0609020204030204" pitchFamily="49" charset="0"/>
              </a:rPr>
              <a:t> </a:t>
            </a:r>
            <a:r>
              <a:rPr lang="zh-CN" altLang="zh-CN" sz="1400" b="1" dirty="0">
                <a:solidFill>
                  <a:srgbClr val="808080"/>
                </a:solidFill>
                <a:latin typeface="Consolas" panose="020B0609020204030204" pitchFamily="49" charset="0"/>
                <a:cs typeface="Consolas" panose="020B0609020204030204" pitchFamily="49" charset="0"/>
              </a:rPr>
              <a:t>long</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n,a[21][21];</a:t>
            </a:r>
            <a:endParaRPr lang="zh-CN" altLang="zh-CN" sz="14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cin&gt;&gt;n;</a:t>
            </a:r>
            <a:endParaRPr lang="zh-CN" altLang="zh-CN" sz="14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for</a:t>
            </a:r>
            <a:r>
              <a:rPr lang="zh-CN" altLang="zh-CN" sz="1400" dirty="0">
                <a:solidFill>
                  <a:srgbClr val="000000"/>
                </a:solidFill>
                <a:latin typeface="Consolas" panose="020B0609020204030204" pitchFamily="49" charset="0"/>
                <a:cs typeface="Consolas" panose="020B0609020204030204" pitchFamily="49" charset="0"/>
              </a:rPr>
              <a:t>(</a:t>
            </a:r>
            <a:r>
              <a:rPr lang="zh-CN" altLang="zh-CN" sz="1400" b="1" dirty="0">
                <a:solidFill>
                  <a:srgbClr val="808080"/>
                </a:solidFill>
                <a:latin typeface="Consolas" panose="020B0609020204030204" pitchFamily="49" charset="0"/>
                <a:cs typeface="Consolas" panose="020B0609020204030204" pitchFamily="49" charset="0"/>
              </a:rPr>
              <a:t>int</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i=1;i&lt;=n;++i)</a:t>
            </a:r>
            <a:endParaRPr lang="zh-CN" altLang="zh-CN" sz="14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a[i][1]=a[1][i]=1;</a:t>
            </a:r>
            <a:endParaRPr lang="zh-CN" altLang="zh-CN" sz="14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for</a:t>
            </a:r>
            <a:r>
              <a:rPr lang="zh-CN" altLang="zh-CN" sz="1400" dirty="0">
                <a:solidFill>
                  <a:srgbClr val="000000"/>
                </a:solidFill>
                <a:latin typeface="Consolas" panose="020B0609020204030204" pitchFamily="49" charset="0"/>
                <a:cs typeface="Consolas" panose="020B0609020204030204" pitchFamily="49" charset="0"/>
              </a:rPr>
              <a:t>(</a:t>
            </a:r>
            <a:r>
              <a:rPr lang="zh-CN" altLang="zh-CN" sz="1400" b="1" dirty="0">
                <a:solidFill>
                  <a:srgbClr val="808080"/>
                </a:solidFill>
                <a:latin typeface="Consolas" panose="020B0609020204030204" pitchFamily="49" charset="0"/>
                <a:cs typeface="Consolas" panose="020B0609020204030204" pitchFamily="49" charset="0"/>
              </a:rPr>
              <a:t>int</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i=2;i&lt;=n;++i)</a:t>
            </a:r>
            <a:endParaRPr lang="zh-CN" altLang="zh-CN" sz="14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for</a:t>
            </a:r>
            <a:r>
              <a:rPr lang="zh-CN" altLang="zh-CN" sz="1400" dirty="0">
                <a:solidFill>
                  <a:srgbClr val="000000"/>
                </a:solidFill>
                <a:latin typeface="Consolas" panose="020B0609020204030204" pitchFamily="49" charset="0"/>
                <a:cs typeface="Consolas" panose="020B0609020204030204" pitchFamily="49" charset="0"/>
              </a:rPr>
              <a:t>(</a:t>
            </a:r>
            <a:r>
              <a:rPr lang="zh-CN" altLang="zh-CN" sz="1400" b="1" dirty="0">
                <a:solidFill>
                  <a:srgbClr val="808080"/>
                </a:solidFill>
                <a:latin typeface="Consolas" panose="020B0609020204030204" pitchFamily="49" charset="0"/>
                <a:cs typeface="Consolas" panose="020B0609020204030204" pitchFamily="49" charset="0"/>
              </a:rPr>
              <a:t>int</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j=2;j&lt;=n;++j)</a:t>
            </a:r>
            <a:endParaRPr lang="zh-CN" altLang="zh-CN" sz="14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a[i][j]=a[i-1][j]+a[i][j-1];</a:t>
            </a:r>
            <a:endParaRPr lang="zh-CN" altLang="zh-CN" sz="14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cout&lt;&lt;a[n][n];</a:t>
            </a:r>
            <a:endParaRPr lang="zh-CN" altLang="zh-CN" sz="14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return</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0;</a:t>
            </a:r>
            <a:endParaRPr lang="zh-CN" altLang="zh-CN" sz="1400" dirty="0">
              <a:latin typeface="Consolas" panose="020B0609020204030204" pitchFamily="49" charset="0"/>
              <a:cs typeface="Consolas" panose="020B0609020204030204" pitchFamily="49" charset="0"/>
            </a:endParaRPr>
          </a:p>
          <a:p>
            <a:pPr marL="0" lvl="0" indent="0" eaLnBrk="0" fontAlgn="base" hangingPunct="0">
              <a:lnSpc>
                <a:spcPct val="100000"/>
              </a:lnSpc>
              <a:spcBef>
                <a:spcPct val="0"/>
              </a:spcBef>
              <a:spcAft>
                <a:spcPct val="0"/>
              </a:spcAft>
              <a:buNone/>
            </a:pPr>
            <a:r>
              <a:rPr lang="zh-CN" altLang="zh-CN" sz="1400" dirty="0">
                <a:solidFill>
                  <a:srgbClr val="000000"/>
                </a:solidFill>
                <a:latin typeface="Consolas" panose="020B0609020204030204" pitchFamily="49" charset="0"/>
                <a:cs typeface="Consolas" panose="020B0609020204030204" pitchFamily="49" charset="0"/>
              </a:rPr>
              <a:t>}</a:t>
            </a:r>
            <a:endParaRPr lang="zh-CN" altLang="zh-CN" sz="1400" dirty="0">
              <a:latin typeface="Consolas" panose="020B0609020204030204" pitchFamily="49" charset="0"/>
              <a:cs typeface="Consolas" panose="020B0609020204030204" pitchFamily="49" charset="0"/>
            </a:endParaRPr>
          </a:p>
        </p:txBody>
      </p:sp>
      <p:sp>
        <p:nvSpPr>
          <p:cNvPr id="7" name="文本框 6"/>
          <p:cNvSpPr txBox="1"/>
          <p:nvPr/>
        </p:nvSpPr>
        <p:spPr>
          <a:xfrm>
            <a:off x="678608" y="1362397"/>
            <a:ext cx="5417391" cy="1451936"/>
          </a:xfrm>
          <a:prstGeom prst="rect">
            <a:avLst/>
          </a:prstGeom>
          <a:noFill/>
        </p:spPr>
        <p:txBody>
          <a:bodyPr wrap="square" rtlCol="0">
            <a:spAutoFit/>
          </a:bodyPr>
          <a:lstStyle/>
          <a:p>
            <a:pPr lvl="0" algn="just" defTabSz="914400">
              <a:lnSpc>
                <a:spcPct val="90000"/>
              </a:lnSpc>
              <a:spcBef>
                <a:spcPts val="1000"/>
              </a:spcBef>
            </a:pP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一个</a:t>
            </a:r>
            <a:r>
              <a:rPr lang="en-US" altLang="zh-CN" sz="1400" kern="100" dirty="0" err="1">
                <a:solidFill>
                  <a:prstClr val="black"/>
                </a:solidFill>
                <a:latin typeface="Consolas" panose="020B0609020204030204" pitchFamily="49" charset="0"/>
                <a:ea typeface="微软雅黑" panose="020B0503020204020204" pitchFamily="34" charset="-122"/>
                <a:cs typeface="Consolas" panose="020B0609020204030204" pitchFamily="49" charset="0"/>
              </a:rPr>
              <a:t>n×n</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的表格，是这样定义的：</a:t>
            </a:r>
          </a:p>
          <a:p>
            <a:pPr lvl="0" algn="just" defTabSz="914400">
              <a:lnSpc>
                <a:spcPct val="90000"/>
              </a:lnSpc>
              <a:spcBef>
                <a:spcPts val="1000"/>
              </a:spcBef>
            </a:pP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第</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1</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行和第</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1</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列的所有格子的值都是</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1</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，从第</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2</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行和第</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2</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列开始，每个格子的值都是它左边和上面的格子的值之和。</a:t>
            </a:r>
            <a:endPar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endParaRPr>
          </a:p>
          <a:p>
            <a:pPr lvl="0" algn="just" defTabSz="914400">
              <a:lnSpc>
                <a:spcPct val="90000"/>
              </a:lnSpc>
              <a:spcBef>
                <a:spcPts val="1000"/>
              </a:spcBef>
            </a:pP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n</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为</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5</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时，表格如下：</a:t>
            </a:r>
            <a:endPar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endParaRPr>
          </a:p>
          <a:p>
            <a:pPr lvl="0" algn="just" defTabSz="914400">
              <a:lnSpc>
                <a:spcPct val="90000"/>
              </a:lnSpc>
              <a:spcBef>
                <a:spcPts val="1000"/>
              </a:spcBef>
            </a:pP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求表格中最大的数字。</a:t>
            </a:r>
            <a:endPar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endParaRPr>
          </a:p>
        </p:txBody>
      </p:sp>
      <p:pic>
        <p:nvPicPr>
          <p:cNvPr id="1032" name="Picture 8" descr="http://www.xmoj.tech/upload/image/20190513/20190513203322_8926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1275" y="2131530"/>
            <a:ext cx="2343150" cy="2190750"/>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p:cNvSpPr txBox="1"/>
          <p:nvPr/>
        </p:nvSpPr>
        <p:spPr>
          <a:xfrm>
            <a:off x="678608" y="4839453"/>
            <a:ext cx="5417391" cy="1126719"/>
          </a:xfrm>
          <a:prstGeom prst="rect">
            <a:avLst/>
          </a:prstGeom>
          <a:noFill/>
        </p:spPr>
        <p:txBody>
          <a:bodyPr wrap="square" rtlCol="0">
            <a:spAutoFit/>
          </a:bodyPr>
          <a:lstStyle/>
          <a:p>
            <a:pPr marL="342900" indent="-342900" algn="just" defTabSz="914400">
              <a:lnSpc>
                <a:spcPct val="90000"/>
              </a:lnSpc>
              <a:spcBef>
                <a:spcPts val="1000"/>
              </a:spcBef>
              <a:buFont typeface="+mj-lt"/>
              <a:buAutoNum type="arabicPeriod"/>
            </a:pP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定义一个</a:t>
            </a:r>
            <a:r>
              <a:rPr lang="en-US" altLang="zh-CN" sz="1400" kern="100" dirty="0" err="1">
                <a:solidFill>
                  <a:prstClr val="black"/>
                </a:solidFill>
                <a:latin typeface="Consolas" panose="020B0609020204030204" pitchFamily="49" charset="0"/>
                <a:ea typeface="微软雅黑" panose="020B0503020204020204" pitchFamily="34" charset="-122"/>
                <a:cs typeface="Consolas" panose="020B0609020204030204" pitchFamily="49" charset="0"/>
              </a:rPr>
              <a:t>n×n</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的二维数组，第一行和第一列都初始化为</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1</a:t>
            </a:r>
          </a:p>
          <a:p>
            <a:pPr marL="342900" indent="-342900" algn="just" defTabSz="914400">
              <a:lnSpc>
                <a:spcPct val="90000"/>
              </a:lnSpc>
              <a:spcBef>
                <a:spcPts val="1000"/>
              </a:spcBef>
              <a:buFont typeface="+mj-lt"/>
              <a:buAutoNum type="arabicPeriod"/>
            </a:pP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二重循环，从第</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2</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行到第</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n</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行，每行的第</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2</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列到第</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n</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列，都等于其左边和上面的格子的值之和</a:t>
            </a:r>
            <a:endPar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endParaRPr>
          </a:p>
          <a:p>
            <a:pPr marL="342900" indent="-342900" algn="just" defTabSz="914400">
              <a:lnSpc>
                <a:spcPct val="90000"/>
              </a:lnSpc>
              <a:spcBef>
                <a:spcPts val="1000"/>
              </a:spcBef>
              <a:buFont typeface="+mj-lt"/>
              <a:buAutoNum type="arabicPeriod"/>
            </a:pP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第</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n</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行第</a:t>
            </a:r>
            <a:r>
              <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n</a:t>
            </a:r>
            <a:r>
              <a:rPr lang="zh-CN" altLang="en-US"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rPr>
              <a:t>列的值就是最大的数字</a:t>
            </a:r>
            <a:endParaRPr lang="en-US" altLang="zh-CN" sz="1400" kern="100" dirty="0">
              <a:solidFill>
                <a:prstClr val="black"/>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9" name="文本框 23"/>
          <p:cNvSpPr txBox="1"/>
          <p:nvPr/>
        </p:nvSpPr>
        <p:spPr>
          <a:xfrm>
            <a:off x="678609" y="301567"/>
            <a:ext cx="10634659" cy="707886"/>
          </a:xfrm>
          <a:prstGeom prst="rect">
            <a:avLst/>
          </a:prstGeom>
          <a:noFill/>
        </p:spPr>
        <p:txBody>
          <a:bodyPr wrap="square" rtlCol="0">
            <a:spAutoFit/>
          </a:bodyPr>
          <a:lstStyle/>
          <a:p>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例题</a:t>
            </a:r>
            <a:r>
              <a:rPr lang="en-US" altLang="zh-CN"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表格中最大的数字</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6095999" y="1362397"/>
            <a:ext cx="5417391" cy="5214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eaLnBrk="0" fontAlgn="base" hangingPunct="0">
              <a:lnSpc>
                <a:spcPct val="100000"/>
              </a:lnSpc>
              <a:spcBef>
                <a:spcPct val="0"/>
              </a:spcBef>
              <a:spcAft>
                <a:spcPct val="0"/>
              </a:spcAft>
              <a:buNone/>
            </a:pPr>
            <a:r>
              <a:rPr lang="zh-CN" altLang="zh-CN" sz="1400" dirty="0">
                <a:solidFill>
                  <a:srgbClr val="808080"/>
                </a:solidFill>
                <a:latin typeface="Consolas" panose="020B0609020204030204" pitchFamily="49" charset="0"/>
                <a:cs typeface="Consolas" panose="020B0609020204030204" pitchFamily="49" charset="0"/>
              </a:rPr>
              <a:t>#include &lt;bits/stdc++.h&gt;</a:t>
            </a:r>
            <a:endParaRPr lang="zh-CN" altLang="zh-CN" sz="1100" dirty="0"/>
          </a:p>
          <a:p>
            <a:pPr marL="0" lvl="0" indent="0" eaLnBrk="0" fontAlgn="base" hangingPunct="0">
              <a:lnSpc>
                <a:spcPct val="100000"/>
              </a:lnSpc>
              <a:spcBef>
                <a:spcPct val="0"/>
              </a:spcBef>
              <a:spcAft>
                <a:spcPct val="0"/>
              </a:spcAft>
              <a:buNone/>
            </a:pPr>
            <a:r>
              <a:rPr lang="zh-CN" altLang="zh-CN" sz="1400" b="1" dirty="0">
                <a:solidFill>
                  <a:srgbClr val="006699"/>
                </a:solidFill>
                <a:latin typeface="Consolas" panose="020B0609020204030204" pitchFamily="49" charset="0"/>
                <a:cs typeface="Consolas" panose="020B0609020204030204" pitchFamily="49" charset="0"/>
              </a:rPr>
              <a:t>using</a:t>
            </a:r>
            <a:r>
              <a:rPr lang="zh-CN" altLang="zh-CN" sz="1400" dirty="0">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namespace</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std;</a:t>
            </a:r>
            <a:endParaRPr lang="zh-CN" altLang="zh-CN" sz="1100" dirty="0"/>
          </a:p>
          <a:p>
            <a:pPr marL="0" lvl="0" indent="0" eaLnBrk="0" fontAlgn="base" hangingPunct="0">
              <a:lnSpc>
                <a:spcPct val="100000"/>
              </a:lnSpc>
              <a:spcBef>
                <a:spcPct val="0"/>
              </a:spcBef>
              <a:spcAft>
                <a:spcPct val="0"/>
              </a:spcAft>
              <a:buNone/>
            </a:pPr>
            <a:r>
              <a:rPr lang="zh-CN" altLang="zh-CN" sz="1400" b="1" dirty="0">
                <a:solidFill>
                  <a:srgbClr val="808080"/>
                </a:solidFill>
                <a:latin typeface="Consolas" panose="020B0609020204030204" pitchFamily="49" charset="0"/>
                <a:cs typeface="Consolas" panose="020B0609020204030204" pitchFamily="49" charset="0"/>
              </a:rPr>
              <a:t>int</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main(){</a:t>
            </a:r>
            <a:endParaRPr lang="zh-CN" altLang="zh-CN" sz="1100" dirty="0"/>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808080"/>
                </a:solidFill>
                <a:latin typeface="Consolas" panose="020B0609020204030204" pitchFamily="49" charset="0"/>
                <a:cs typeface="Consolas" panose="020B0609020204030204" pitchFamily="49" charset="0"/>
              </a:rPr>
              <a:t>long</a:t>
            </a:r>
            <a:r>
              <a:rPr lang="zh-CN" altLang="zh-CN" sz="1400" dirty="0">
                <a:latin typeface="Consolas" panose="020B0609020204030204" pitchFamily="49" charset="0"/>
                <a:cs typeface="Consolas" panose="020B0609020204030204" pitchFamily="49" charset="0"/>
              </a:rPr>
              <a:t> </a:t>
            </a:r>
            <a:r>
              <a:rPr lang="zh-CN" altLang="zh-CN" sz="1400" b="1" dirty="0">
                <a:solidFill>
                  <a:srgbClr val="808080"/>
                </a:solidFill>
                <a:latin typeface="Consolas" panose="020B0609020204030204" pitchFamily="49" charset="0"/>
                <a:cs typeface="Consolas" panose="020B0609020204030204" pitchFamily="49" charset="0"/>
              </a:rPr>
              <a:t>long</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n,a[21][21];</a:t>
            </a:r>
            <a:endParaRPr lang="zh-CN" altLang="zh-CN" sz="1100" dirty="0"/>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cin&gt;&gt;n;</a:t>
            </a:r>
            <a:endParaRPr lang="zh-CN" altLang="zh-CN" sz="1100" dirty="0"/>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for</a:t>
            </a:r>
            <a:r>
              <a:rPr lang="zh-CN" altLang="zh-CN" sz="1400" dirty="0">
                <a:solidFill>
                  <a:srgbClr val="000000"/>
                </a:solidFill>
                <a:latin typeface="Consolas" panose="020B0609020204030204" pitchFamily="49" charset="0"/>
                <a:cs typeface="Consolas" panose="020B0609020204030204" pitchFamily="49" charset="0"/>
              </a:rPr>
              <a:t>(</a:t>
            </a:r>
            <a:r>
              <a:rPr lang="zh-CN" altLang="zh-CN" sz="1400" b="1" dirty="0">
                <a:solidFill>
                  <a:srgbClr val="808080"/>
                </a:solidFill>
                <a:latin typeface="Consolas" panose="020B0609020204030204" pitchFamily="49" charset="0"/>
                <a:cs typeface="Consolas" panose="020B0609020204030204" pitchFamily="49" charset="0"/>
              </a:rPr>
              <a:t>int</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i=1;i&lt;=n;++i)</a:t>
            </a:r>
            <a:endParaRPr lang="zh-CN" altLang="zh-CN" sz="1100" dirty="0"/>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a[i][1]=a[1][i]=1;</a:t>
            </a:r>
            <a:endParaRPr lang="zh-CN" altLang="zh-CN" sz="1100" dirty="0"/>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for</a:t>
            </a:r>
            <a:r>
              <a:rPr lang="zh-CN" altLang="zh-CN" sz="1400" dirty="0">
                <a:solidFill>
                  <a:srgbClr val="000000"/>
                </a:solidFill>
                <a:latin typeface="Consolas" panose="020B0609020204030204" pitchFamily="49" charset="0"/>
                <a:cs typeface="Consolas" panose="020B0609020204030204" pitchFamily="49" charset="0"/>
              </a:rPr>
              <a:t>(</a:t>
            </a:r>
            <a:r>
              <a:rPr lang="zh-CN" altLang="zh-CN" sz="1400" b="1" dirty="0">
                <a:solidFill>
                  <a:srgbClr val="808080"/>
                </a:solidFill>
                <a:latin typeface="Consolas" panose="020B0609020204030204" pitchFamily="49" charset="0"/>
                <a:cs typeface="Consolas" panose="020B0609020204030204" pitchFamily="49" charset="0"/>
              </a:rPr>
              <a:t>int</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i=2;i&lt;=n;++i)</a:t>
            </a:r>
            <a:endParaRPr lang="zh-CN" altLang="zh-CN" sz="1100" dirty="0"/>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for</a:t>
            </a:r>
            <a:r>
              <a:rPr lang="zh-CN" altLang="zh-CN" sz="1400" dirty="0">
                <a:solidFill>
                  <a:srgbClr val="000000"/>
                </a:solidFill>
                <a:latin typeface="Consolas" panose="020B0609020204030204" pitchFamily="49" charset="0"/>
                <a:cs typeface="Consolas" panose="020B0609020204030204" pitchFamily="49" charset="0"/>
              </a:rPr>
              <a:t>(</a:t>
            </a:r>
            <a:r>
              <a:rPr lang="zh-CN" altLang="zh-CN" sz="1400" b="1" dirty="0">
                <a:solidFill>
                  <a:srgbClr val="808080"/>
                </a:solidFill>
                <a:latin typeface="Consolas" panose="020B0609020204030204" pitchFamily="49" charset="0"/>
                <a:cs typeface="Consolas" panose="020B0609020204030204" pitchFamily="49" charset="0"/>
              </a:rPr>
              <a:t>int</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j=2;j&lt;=n;++j)</a:t>
            </a:r>
            <a:endParaRPr lang="zh-CN" altLang="zh-CN" sz="1100" dirty="0"/>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a[i][j]=a[i-1][j]+a[i][j-1];</a:t>
            </a:r>
            <a:endParaRPr lang="zh-CN" altLang="zh-CN" sz="1100" dirty="0"/>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cout&lt;&lt;a[n][n];</a:t>
            </a:r>
            <a:endParaRPr lang="zh-CN" altLang="zh-CN" sz="1100" dirty="0"/>
          </a:p>
          <a:p>
            <a:pPr marL="0" lvl="0" indent="0" eaLnBrk="0" fontAlgn="base" hangingPunct="0">
              <a:lnSpc>
                <a:spcPct val="100000"/>
              </a:lnSpc>
              <a:spcBef>
                <a:spcPct val="0"/>
              </a:spcBef>
              <a:spcAft>
                <a:spcPct val="0"/>
              </a:spcAft>
              <a:buNone/>
            </a:pPr>
            <a:r>
              <a:rPr lang="zh-CN" altLang="zh-CN" sz="1400" dirty="0">
                <a:solidFill>
                  <a:srgbClr val="C7254E"/>
                </a:solidFill>
                <a:latin typeface="Consolas" panose="020B0609020204030204" pitchFamily="49" charset="0"/>
                <a:cs typeface="Consolas" panose="020B0609020204030204" pitchFamily="49" charset="0"/>
              </a:rPr>
              <a:t>    </a:t>
            </a:r>
            <a:r>
              <a:rPr lang="zh-CN" altLang="zh-CN" sz="1400" b="1" dirty="0">
                <a:solidFill>
                  <a:srgbClr val="006699"/>
                </a:solidFill>
                <a:latin typeface="Consolas" panose="020B0609020204030204" pitchFamily="49" charset="0"/>
                <a:cs typeface="Consolas" panose="020B0609020204030204" pitchFamily="49" charset="0"/>
              </a:rPr>
              <a:t>return</a:t>
            </a:r>
            <a:r>
              <a:rPr lang="zh-CN" altLang="zh-CN" sz="1400" dirty="0">
                <a:latin typeface="Consolas" panose="020B0609020204030204" pitchFamily="49" charset="0"/>
                <a:cs typeface="Consolas" panose="020B0609020204030204" pitchFamily="49" charset="0"/>
              </a:rPr>
              <a:t> </a:t>
            </a:r>
            <a:r>
              <a:rPr lang="zh-CN" altLang="zh-CN" sz="1400" dirty="0">
                <a:solidFill>
                  <a:srgbClr val="000000"/>
                </a:solidFill>
                <a:latin typeface="Consolas" panose="020B0609020204030204" pitchFamily="49" charset="0"/>
                <a:cs typeface="Consolas" panose="020B0609020204030204" pitchFamily="49" charset="0"/>
              </a:rPr>
              <a:t>0;</a:t>
            </a:r>
            <a:endParaRPr lang="zh-CN" altLang="zh-CN" sz="1100" dirty="0"/>
          </a:p>
          <a:p>
            <a:pPr marL="0" lvl="0" indent="0" eaLnBrk="0" fontAlgn="base" hangingPunct="0">
              <a:lnSpc>
                <a:spcPct val="100000"/>
              </a:lnSpc>
              <a:spcBef>
                <a:spcPct val="0"/>
              </a:spcBef>
              <a:spcAft>
                <a:spcPct val="0"/>
              </a:spcAft>
              <a:buNone/>
            </a:pPr>
            <a:r>
              <a:rPr lang="zh-CN" altLang="zh-CN" sz="1400" dirty="0">
                <a:solidFill>
                  <a:srgbClr val="000000"/>
                </a:solidFill>
                <a:latin typeface="Consolas" panose="020B0609020204030204" pitchFamily="49" charset="0"/>
                <a:cs typeface="Consolas" panose="020B0609020204030204" pitchFamily="49" charset="0"/>
              </a:rPr>
              <a:t>}</a:t>
            </a:r>
            <a:endParaRPr lang="zh-CN" altLang="zh-CN" sz="3200" dirty="0">
              <a:latin typeface="Arial" panose="020B0604020202020204" pitchFamily="34" charset="0"/>
            </a:endParaRPr>
          </a:p>
        </p:txBody>
      </p:sp>
      <p:sp>
        <p:nvSpPr>
          <p:cNvPr id="7" name="文本框 6"/>
          <p:cNvSpPr txBox="1"/>
          <p:nvPr/>
        </p:nvSpPr>
        <p:spPr>
          <a:xfrm>
            <a:off x="678608" y="1362397"/>
            <a:ext cx="5417391" cy="610680"/>
          </a:xfrm>
          <a:prstGeom prst="rect">
            <a:avLst/>
          </a:prstGeom>
          <a:noFill/>
        </p:spPr>
        <p:txBody>
          <a:bodyPr wrap="square" rtlCol="0">
            <a:spAutoFit/>
          </a:bodyPr>
          <a:lstStyle/>
          <a:p>
            <a:pPr lvl="0" algn="just" defTabSz="914400">
              <a:lnSpc>
                <a:spcPct val="90000"/>
              </a:lnSpc>
              <a:spcBef>
                <a:spcPts val="1000"/>
              </a:spcBef>
            </a:pPr>
            <a:r>
              <a:rPr lang="zh-CN" altLang="en-US" sz="1400" kern="100" dirty="0">
                <a:solidFill>
                  <a:prstClr val="black"/>
                </a:solidFill>
                <a:latin typeface="Courier New" panose="02070309020205020404" pitchFamily="49" charset="0"/>
                <a:cs typeface="Courier New" panose="02070309020205020404" pitchFamily="49" charset="0"/>
              </a:rPr>
              <a:t>输出尺寸为</a:t>
            </a:r>
            <a:r>
              <a:rPr lang="en-US" altLang="zh-CN" sz="1400" kern="100" dirty="0">
                <a:solidFill>
                  <a:prstClr val="black"/>
                </a:solidFill>
                <a:latin typeface="Courier New" panose="02070309020205020404" pitchFamily="49" charset="0"/>
                <a:cs typeface="Courier New" panose="02070309020205020404" pitchFamily="49" charset="0"/>
              </a:rPr>
              <a:t>n</a:t>
            </a:r>
            <a:r>
              <a:rPr lang="zh-CN" altLang="en-US" sz="1400" kern="100" dirty="0">
                <a:solidFill>
                  <a:prstClr val="black"/>
                </a:solidFill>
                <a:latin typeface="Courier New" panose="02070309020205020404" pitchFamily="49" charset="0"/>
                <a:cs typeface="Courier New" panose="02070309020205020404" pitchFamily="49" charset="0"/>
              </a:rPr>
              <a:t>的三角形。</a:t>
            </a:r>
          </a:p>
          <a:p>
            <a:pPr lvl="0" algn="just" defTabSz="914400">
              <a:lnSpc>
                <a:spcPct val="90000"/>
              </a:lnSpc>
              <a:spcBef>
                <a:spcPts val="1000"/>
              </a:spcBef>
            </a:pPr>
            <a:r>
              <a:rPr lang="en-US" altLang="zh-CN" sz="1400" kern="100" dirty="0">
                <a:solidFill>
                  <a:prstClr val="black"/>
                </a:solidFill>
                <a:latin typeface="Courier New" panose="02070309020205020404" pitchFamily="49" charset="0"/>
                <a:cs typeface="Courier New" panose="02070309020205020404" pitchFamily="49" charset="0"/>
              </a:rPr>
              <a:t>n</a:t>
            </a:r>
            <a:r>
              <a:rPr lang="zh-CN" altLang="en-US" sz="1400" kern="100" dirty="0">
                <a:solidFill>
                  <a:prstClr val="black"/>
                </a:solidFill>
                <a:latin typeface="Courier New" panose="02070309020205020404" pitchFamily="49" charset="0"/>
                <a:cs typeface="Courier New" panose="02070309020205020404" pitchFamily="49" charset="0"/>
              </a:rPr>
              <a:t>为</a:t>
            </a:r>
            <a:r>
              <a:rPr lang="en-US" altLang="zh-CN" sz="1400" kern="100" dirty="0">
                <a:solidFill>
                  <a:prstClr val="black"/>
                </a:solidFill>
                <a:latin typeface="Courier New" panose="02070309020205020404" pitchFamily="49" charset="0"/>
                <a:cs typeface="Courier New" panose="02070309020205020404" pitchFamily="49" charset="0"/>
              </a:rPr>
              <a:t>4</a:t>
            </a:r>
            <a:r>
              <a:rPr lang="zh-CN" altLang="en-US" sz="1400" kern="100" dirty="0">
                <a:solidFill>
                  <a:prstClr val="black"/>
                </a:solidFill>
                <a:latin typeface="Courier New" panose="02070309020205020404" pitchFamily="49" charset="0"/>
                <a:cs typeface="Courier New" panose="02070309020205020404" pitchFamily="49" charset="0"/>
              </a:rPr>
              <a:t>：   </a:t>
            </a:r>
            <a:r>
              <a:rPr lang="en-US" altLang="zh-CN" sz="1400" kern="100" dirty="0">
                <a:solidFill>
                  <a:prstClr val="black"/>
                </a:solidFill>
                <a:latin typeface="Courier New" panose="02070309020205020404" pitchFamily="49" charset="0"/>
                <a:cs typeface="Courier New" panose="02070309020205020404" pitchFamily="49" charset="0"/>
              </a:rPr>
              <a:t>n</a:t>
            </a:r>
            <a:r>
              <a:rPr lang="zh-CN" altLang="en-US" sz="1400" kern="100" dirty="0">
                <a:solidFill>
                  <a:prstClr val="black"/>
                </a:solidFill>
                <a:latin typeface="Courier New" panose="02070309020205020404" pitchFamily="49" charset="0"/>
                <a:cs typeface="Courier New" panose="02070309020205020404" pitchFamily="49" charset="0"/>
              </a:rPr>
              <a:t>为</a:t>
            </a:r>
            <a:r>
              <a:rPr lang="en-US" altLang="zh-CN" sz="1400" kern="100" dirty="0">
                <a:solidFill>
                  <a:prstClr val="black"/>
                </a:solidFill>
                <a:latin typeface="Courier New" panose="02070309020205020404" pitchFamily="49" charset="0"/>
                <a:cs typeface="Courier New" panose="02070309020205020404" pitchFamily="49" charset="0"/>
              </a:rPr>
              <a:t>8</a:t>
            </a:r>
            <a:r>
              <a:rPr lang="zh-CN" altLang="en-US" sz="1400" kern="100" dirty="0">
                <a:solidFill>
                  <a:prstClr val="black"/>
                </a:solidFill>
                <a:latin typeface="Courier New" panose="02070309020205020404" pitchFamily="49" charset="0"/>
                <a:cs typeface="Courier New" panose="02070309020205020404" pitchFamily="49" charset="0"/>
              </a:rPr>
              <a:t>：         </a:t>
            </a:r>
            <a:r>
              <a:rPr lang="en-US" altLang="zh-CN" sz="1400" kern="100" dirty="0">
                <a:solidFill>
                  <a:prstClr val="black"/>
                </a:solidFill>
                <a:latin typeface="Courier New" panose="02070309020205020404" pitchFamily="49" charset="0"/>
                <a:cs typeface="Courier New" panose="02070309020205020404" pitchFamily="49" charset="0"/>
              </a:rPr>
              <a:t>n</a:t>
            </a:r>
            <a:r>
              <a:rPr lang="zh-CN" altLang="en-US" sz="1400" kern="100" dirty="0">
                <a:solidFill>
                  <a:prstClr val="black"/>
                </a:solidFill>
                <a:latin typeface="Courier New" panose="02070309020205020404" pitchFamily="49" charset="0"/>
                <a:cs typeface="Courier New" panose="02070309020205020404" pitchFamily="49" charset="0"/>
              </a:rPr>
              <a:t>为</a:t>
            </a:r>
            <a:r>
              <a:rPr lang="en-US" altLang="zh-CN" sz="1400" kern="100" dirty="0">
                <a:solidFill>
                  <a:prstClr val="black"/>
                </a:solidFill>
                <a:latin typeface="Courier New" panose="02070309020205020404" pitchFamily="49" charset="0"/>
                <a:cs typeface="Courier New" panose="02070309020205020404" pitchFamily="49" charset="0"/>
              </a:rPr>
              <a:t>12</a:t>
            </a:r>
            <a:r>
              <a:rPr lang="zh-CN" altLang="en-US" sz="1400" kern="100" dirty="0">
                <a:solidFill>
                  <a:prstClr val="black"/>
                </a:solidFill>
                <a:latin typeface="Courier New" panose="02070309020205020404" pitchFamily="49" charset="0"/>
                <a:cs typeface="Courier New" panose="02070309020205020404" pitchFamily="49" charset="0"/>
              </a:rPr>
              <a:t>：</a:t>
            </a:r>
            <a:endParaRPr lang="en-US" altLang="zh-CN" sz="1400" kern="100" dirty="0">
              <a:solidFill>
                <a:prstClr val="black"/>
              </a:solidFill>
              <a:latin typeface="Courier New" panose="02070309020205020404" pitchFamily="49" charset="0"/>
              <a:cs typeface="Courier New" panose="02070309020205020404" pitchFamily="49" charset="0"/>
            </a:endParaRPr>
          </a:p>
        </p:txBody>
      </p:sp>
      <p:sp>
        <p:nvSpPr>
          <p:cNvPr id="12" name="文本框 11"/>
          <p:cNvSpPr txBox="1"/>
          <p:nvPr/>
        </p:nvSpPr>
        <p:spPr>
          <a:xfrm>
            <a:off x="678608" y="4839453"/>
            <a:ext cx="5417391" cy="1320618"/>
          </a:xfrm>
          <a:prstGeom prst="rect">
            <a:avLst/>
          </a:prstGeom>
          <a:noFill/>
        </p:spPr>
        <p:txBody>
          <a:bodyPr wrap="square" rtlCol="0">
            <a:spAutoFit/>
          </a:bodyPr>
          <a:lstStyle/>
          <a:p>
            <a:pPr marL="342900" indent="-342900" algn="just" defTabSz="914400">
              <a:lnSpc>
                <a:spcPct val="90000"/>
              </a:lnSpc>
              <a:spcBef>
                <a:spcPts val="1000"/>
              </a:spcBef>
              <a:buFont typeface="+mj-lt"/>
              <a:buAutoNum type="arabicPeriod"/>
            </a:pPr>
            <a:r>
              <a:rPr lang="zh-CN" altLang="en-US" sz="1400" kern="100" dirty="0">
                <a:solidFill>
                  <a:prstClr val="black"/>
                </a:solidFill>
                <a:latin typeface="Courier New" panose="02070309020205020404" pitchFamily="49" charset="0"/>
                <a:cs typeface="Courier New" panose="02070309020205020404" pitchFamily="49" charset="0"/>
              </a:rPr>
              <a:t>定义一个</a:t>
            </a:r>
            <a:r>
              <a:rPr lang="en-US" altLang="zh-CN" sz="1400" kern="100" dirty="0" err="1">
                <a:solidFill>
                  <a:prstClr val="black"/>
                </a:solidFill>
                <a:latin typeface="Courier New" panose="02070309020205020404" pitchFamily="49" charset="0"/>
                <a:cs typeface="Courier New" panose="02070309020205020404" pitchFamily="49" charset="0"/>
              </a:rPr>
              <a:t>n×n</a:t>
            </a:r>
            <a:r>
              <a:rPr lang="zh-CN" altLang="en-US" sz="1400" kern="100" dirty="0">
                <a:solidFill>
                  <a:prstClr val="black"/>
                </a:solidFill>
                <a:latin typeface="Courier New" panose="02070309020205020404" pitchFamily="49" charset="0"/>
                <a:cs typeface="Courier New" panose="02070309020205020404" pitchFamily="49" charset="0"/>
              </a:rPr>
              <a:t>的二维数组，都初始化为</a:t>
            </a:r>
            <a:r>
              <a:rPr lang="en-US" altLang="zh-CN" sz="1400" kern="100" dirty="0">
                <a:solidFill>
                  <a:prstClr val="black"/>
                </a:solidFill>
                <a:latin typeface="Courier New" panose="02070309020205020404" pitchFamily="49" charset="0"/>
                <a:cs typeface="Courier New" panose="02070309020205020404" pitchFamily="49" charset="0"/>
              </a:rPr>
              <a:t>0</a:t>
            </a:r>
          </a:p>
          <a:p>
            <a:pPr marL="342900" indent="-342900" algn="just" defTabSz="914400">
              <a:lnSpc>
                <a:spcPct val="90000"/>
              </a:lnSpc>
              <a:spcBef>
                <a:spcPts val="1000"/>
              </a:spcBef>
              <a:buFont typeface="+mj-lt"/>
              <a:buAutoNum type="arabicPeriod"/>
            </a:pPr>
            <a:r>
              <a:rPr lang="zh-CN" altLang="en-US" sz="1400" kern="100" dirty="0">
                <a:solidFill>
                  <a:prstClr val="black"/>
                </a:solidFill>
                <a:latin typeface="Courier New" panose="02070309020205020404" pitchFamily="49" charset="0"/>
                <a:cs typeface="Courier New" panose="02070309020205020404" pitchFamily="49" charset="0"/>
              </a:rPr>
              <a:t>二重循环，从第</a:t>
            </a:r>
            <a:r>
              <a:rPr lang="en-US" altLang="zh-CN" sz="1400" kern="100" dirty="0">
                <a:solidFill>
                  <a:prstClr val="black"/>
                </a:solidFill>
                <a:latin typeface="Courier New" panose="02070309020205020404" pitchFamily="49" charset="0"/>
                <a:cs typeface="Courier New" panose="02070309020205020404" pitchFamily="49" charset="0"/>
              </a:rPr>
              <a:t>1</a:t>
            </a:r>
            <a:r>
              <a:rPr lang="zh-CN" altLang="en-US" sz="1400" kern="100" dirty="0">
                <a:solidFill>
                  <a:prstClr val="black"/>
                </a:solidFill>
                <a:latin typeface="Courier New" panose="02070309020205020404" pitchFamily="49" charset="0"/>
                <a:cs typeface="Courier New" panose="02070309020205020404" pitchFamily="49" charset="0"/>
              </a:rPr>
              <a:t>行到第</a:t>
            </a:r>
            <a:r>
              <a:rPr lang="en-US" altLang="zh-CN" sz="1400" kern="100" dirty="0">
                <a:solidFill>
                  <a:prstClr val="black"/>
                </a:solidFill>
                <a:latin typeface="Courier New" panose="02070309020205020404" pitchFamily="49" charset="0"/>
                <a:cs typeface="Courier New" panose="02070309020205020404" pitchFamily="49" charset="0"/>
              </a:rPr>
              <a:t>n</a:t>
            </a:r>
            <a:r>
              <a:rPr lang="zh-CN" altLang="en-US" sz="1400" kern="100" dirty="0">
                <a:solidFill>
                  <a:prstClr val="black"/>
                </a:solidFill>
                <a:latin typeface="Courier New" panose="02070309020205020404" pitchFamily="49" charset="0"/>
                <a:cs typeface="Courier New" panose="02070309020205020404" pitchFamily="49" charset="0"/>
              </a:rPr>
              <a:t>行，每行的第</a:t>
            </a:r>
            <a:r>
              <a:rPr lang="en-US" altLang="zh-CN" sz="1400" kern="100" dirty="0">
                <a:solidFill>
                  <a:prstClr val="black"/>
                </a:solidFill>
                <a:latin typeface="Courier New" panose="02070309020205020404" pitchFamily="49" charset="0"/>
                <a:cs typeface="Courier New" panose="02070309020205020404" pitchFamily="49" charset="0"/>
              </a:rPr>
              <a:t>n-</a:t>
            </a:r>
            <a:r>
              <a:rPr lang="en-US" altLang="zh-CN" sz="1400" kern="100" dirty="0" err="1">
                <a:solidFill>
                  <a:prstClr val="black"/>
                </a:solidFill>
                <a:latin typeface="Courier New" panose="02070309020205020404" pitchFamily="49" charset="0"/>
                <a:cs typeface="Courier New" panose="02070309020205020404" pitchFamily="49" charset="0"/>
              </a:rPr>
              <a:t>i</a:t>
            </a:r>
            <a:r>
              <a:rPr lang="zh-CN" altLang="en-US" sz="1400" kern="100" dirty="0">
                <a:solidFill>
                  <a:prstClr val="black"/>
                </a:solidFill>
                <a:latin typeface="Courier New" panose="02070309020205020404" pitchFamily="49" charset="0"/>
                <a:cs typeface="Courier New" panose="02070309020205020404" pitchFamily="49" charset="0"/>
              </a:rPr>
              <a:t>列到第</a:t>
            </a:r>
            <a:r>
              <a:rPr lang="en-US" altLang="zh-CN" sz="1400" kern="100" dirty="0">
                <a:solidFill>
                  <a:prstClr val="black"/>
                </a:solidFill>
                <a:latin typeface="Courier New" panose="02070309020205020404" pitchFamily="49" charset="0"/>
                <a:cs typeface="Courier New" panose="02070309020205020404" pitchFamily="49" charset="0"/>
              </a:rPr>
              <a:t>n</a:t>
            </a:r>
            <a:r>
              <a:rPr lang="zh-CN" altLang="en-US" sz="1400" kern="100" dirty="0">
                <a:solidFill>
                  <a:prstClr val="black"/>
                </a:solidFill>
                <a:latin typeface="Courier New" panose="02070309020205020404" pitchFamily="49" charset="0"/>
                <a:cs typeface="Courier New" panose="02070309020205020404" pitchFamily="49" charset="0"/>
              </a:rPr>
              <a:t>列，其值为从</a:t>
            </a:r>
            <a:r>
              <a:rPr lang="en-US" altLang="zh-CN" sz="1400" kern="100" dirty="0">
                <a:solidFill>
                  <a:prstClr val="black"/>
                </a:solidFill>
                <a:latin typeface="Courier New" panose="02070309020205020404" pitchFamily="49" charset="0"/>
                <a:cs typeface="Courier New" panose="02070309020205020404" pitchFamily="49" charset="0"/>
              </a:rPr>
              <a:t>1</a:t>
            </a:r>
            <a:r>
              <a:rPr lang="zh-CN" altLang="en-US" sz="1400" kern="100" dirty="0">
                <a:solidFill>
                  <a:prstClr val="black"/>
                </a:solidFill>
                <a:latin typeface="Courier New" panose="02070309020205020404" pitchFamily="49" charset="0"/>
                <a:cs typeface="Courier New" panose="02070309020205020404" pitchFamily="49" charset="0"/>
              </a:rPr>
              <a:t>开始自增的数字</a:t>
            </a:r>
            <a:endParaRPr lang="en-US" altLang="zh-CN" sz="1400" kern="100" dirty="0">
              <a:solidFill>
                <a:prstClr val="black"/>
              </a:solidFill>
              <a:latin typeface="Courier New" panose="02070309020205020404" pitchFamily="49" charset="0"/>
              <a:cs typeface="Courier New" panose="02070309020205020404" pitchFamily="49" charset="0"/>
            </a:endParaRPr>
          </a:p>
          <a:p>
            <a:pPr marL="342900" indent="-342900" algn="just" defTabSz="914400">
              <a:lnSpc>
                <a:spcPct val="90000"/>
              </a:lnSpc>
              <a:spcBef>
                <a:spcPts val="1000"/>
              </a:spcBef>
              <a:buFont typeface="+mj-lt"/>
              <a:buAutoNum type="arabicPeriod"/>
            </a:pPr>
            <a:r>
              <a:rPr lang="zh-CN" altLang="en-US" sz="1400" kern="100" dirty="0">
                <a:solidFill>
                  <a:prstClr val="black"/>
                </a:solidFill>
                <a:latin typeface="Courier New" panose="02070309020205020404" pitchFamily="49" charset="0"/>
                <a:cs typeface="Courier New" panose="02070309020205020404" pitchFamily="49" charset="0"/>
              </a:rPr>
              <a:t>遍历二维数组，遇到</a:t>
            </a:r>
            <a:r>
              <a:rPr lang="en-US" altLang="zh-CN" sz="1400" kern="100" dirty="0">
                <a:solidFill>
                  <a:prstClr val="black"/>
                </a:solidFill>
                <a:latin typeface="Courier New" panose="02070309020205020404" pitchFamily="49" charset="0"/>
                <a:cs typeface="Courier New" panose="02070309020205020404" pitchFamily="49" charset="0"/>
              </a:rPr>
              <a:t>0</a:t>
            </a:r>
            <a:r>
              <a:rPr lang="zh-CN" altLang="en-US" sz="1400" kern="100" dirty="0">
                <a:solidFill>
                  <a:prstClr val="black"/>
                </a:solidFill>
                <a:latin typeface="Courier New" panose="02070309020205020404" pitchFamily="49" charset="0"/>
                <a:cs typeface="Courier New" panose="02070309020205020404" pitchFamily="49" charset="0"/>
              </a:rPr>
              <a:t>输出空格，遇到非零输出其值，每行输出一次</a:t>
            </a:r>
            <a:r>
              <a:rPr lang="en-US" altLang="zh-CN" sz="1400" kern="100" dirty="0" err="1">
                <a:solidFill>
                  <a:prstClr val="black"/>
                </a:solidFill>
                <a:latin typeface="Courier New" panose="02070309020205020404" pitchFamily="49" charset="0"/>
                <a:cs typeface="Courier New" panose="02070309020205020404" pitchFamily="49" charset="0"/>
              </a:rPr>
              <a:t>endl</a:t>
            </a:r>
            <a:endParaRPr lang="en-US" altLang="zh-CN" sz="1400" kern="100" dirty="0">
              <a:solidFill>
                <a:prstClr val="black"/>
              </a:solidFill>
              <a:latin typeface="Courier New" panose="02070309020205020404" pitchFamily="49" charset="0"/>
              <a:cs typeface="Courier New" panose="02070309020205020404" pitchFamily="49" charset="0"/>
            </a:endParaRPr>
          </a:p>
        </p:txBody>
      </p:sp>
      <p:pic>
        <p:nvPicPr>
          <p:cNvPr id="5" name="图片 4"/>
          <p:cNvPicPr>
            <a:picLocks noChangeAspect="1"/>
          </p:cNvPicPr>
          <p:nvPr/>
        </p:nvPicPr>
        <p:blipFill>
          <a:blip r:embed="rId2"/>
          <a:stretch>
            <a:fillRect/>
          </a:stretch>
        </p:blipFill>
        <p:spPr>
          <a:xfrm>
            <a:off x="738815" y="2062491"/>
            <a:ext cx="504895" cy="733527"/>
          </a:xfrm>
          <a:prstGeom prst="rect">
            <a:avLst/>
          </a:prstGeom>
        </p:spPr>
      </p:pic>
      <p:pic>
        <p:nvPicPr>
          <p:cNvPr id="8" name="图片 7"/>
          <p:cNvPicPr>
            <a:picLocks noChangeAspect="1"/>
          </p:cNvPicPr>
          <p:nvPr/>
        </p:nvPicPr>
        <p:blipFill>
          <a:blip r:embed="rId3"/>
          <a:stretch>
            <a:fillRect/>
          </a:stretch>
        </p:blipFill>
        <p:spPr>
          <a:xfrm>
            <a:off x="1675874" y="2062491"/>
            <a:ext cx="1000265" cy="1457528"/>
          </a:xfrm>
          <a:prstGeom prst="rect">
            <a:avLst/>
          </a:prstGeom>
        </p:spPr>
      </p:pic>
      <p:pic>
        <p:nvPicPr>
          <p:cNvPr id="10" name="图片 9"/>
          <p:cNvPicPr>
            <a:picLocks noChangeAspect="1"/>
          </p:cNvPicPr>
          <p:nvPr/>
        </p:nvPicPr>
        <p:blipFill>
          <a:blip r:embed="rId4"/>
          <a:stretch>
            <a:fillRect/>
          </a:stretch>
        </p:blipFill>
        <p:spPr>
          <a:xfrm>
            <a:off x="3108303" y="2062491"/>
            <a:ext cx="1495634" cy="2181529"/>
          </a:xfrm>
          <a:prstGeom prst="rect">
            <a:avLst/>
          </a:prstGeom>
        </p:spPr>
      </p:pic>
      <p:sp>
        <p:nvSpPr>
          <p:cNvPr id="11" name="文本框 23"/>
          <p:cNvSpPr txBox="1"/>
          <p:nvPr/>
        </p:nvSpPr>
        <p:spPr>
          <a:xfrm>
            <a:off x="678609" y="301567"/>
            <a:ext cx="10634659" cy="707886"/>
          </a:xfrm>
          <a:prstGeom prst="rect">
            <a:avLst/>
          </a:prstGeom>
          <a:noFill/>
        </p:spPr>
        <p:txBody>
          <a:bodyPr wrap="square" rtlCol="0">
            <a:spAutoFit/>
          </a:bodyPr>
          <a:lstStyle/>
          <a:p>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例题</a:t>
            </a:r>
            <a:r>
              <a:rPr lang="en-US" altLang="zh-CN"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a:t>
            </a:r>
            <a:r>
              <a:rPr lang="zh-CN" altLang="en-US" sz="4000" dirty="0">
                <a:solidFill>
                  <a:schemeClr val="bg1"/>
                </a:solidFill>
                <a:latin typeface="Consolas" panose="020B0609020204030204" pitchFamily="49" charset="0"/>
                <a:ea typeface="微软雅黑" panose="020B0503020204020204" pitchFamily="34" charset="-122"/>
                <a:cs typeface="Consolas" panose="020B0609020204030204" pitchFamily="49" charset="0"/>
              </a:rPr>
              <a:t>数字三角形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ec53b632-8e5d-4ce8-a463-c05f87a7f04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电路">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326</TotalTime>
  <Words>4591</Words>
  <Application>Microsoft Office PowerPoint</Application>
  <PresentationFormat>宽屏</PresentationFormat>
  <Paragraphs>798</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等线</vt:lpstr>
      <vt:lpstr>华文楷体</vt:lpstr>
      <vt:lpstr>微软雅黑</vt:lpstr>
      <vt:lpstr>Arial</vt:lpstr>
      <vt:lpstr>Consolas</vt:lpstr>
      <vt:lpstr>Courier New</vt:lpstr>
      <vt:lpstr>Tw Cen MT</vt:lpstr>
      <vt:lpstr>电路</vt:lpstr>
      <vt:lpstr>NOIP 语言基础（八）</vt:lpstr>
      <vt:lpstr>PowerPoint 演示文稿</vt:lpstr>
      <vt:lpstr>PowerPoint 演示文稿</vt:lpstr>
      <vt:lpstr>PowerPoint 演示文稿</vt:lpstr>
      <vt:lpstr>PowerPoint 演示文稿</vt:lpstr>
      <vt:lpstr>PowerPoint 演示文稿</vt:lpstr>
      <vt:lpstr>PowerPoint 演示文稿</vt:lpstr>
      <vt:lpstr>谢谢大家</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NOIP 入门习题精讲 - 09</dc:title>
  <dc:creator>Minren Guan</dc:creator>
  <cp:lastModifiedBy>woodsgreen@163.com</cp:lastModifiedBy>
  <cp:revision>402</cp:revision>
  <dcterms:created xsi:type="dcterms:W3CDTF">2018-08-09T00:16:00Z</dcterms:created>
  <dcterms:modified xsi:type="dcterms:W3CDTF">2026-03-21T15:15:08Z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9D7FA84B027243608CA1C46FFE8EF0A2</vt:lpwstr>
  </property>
  <property fmtid="{D5CDD505-2E9C-101B-9397-08002B2CF9AE}" pid="3" name="KSOProductBuildVer">
    <vt:lpwstr>2052-11.1.0.10700</vt:lpwstr>
  </property>
</Properties>
</file>