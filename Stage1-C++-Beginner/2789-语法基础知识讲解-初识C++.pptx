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349" r:id="rId3"/>
    <p:sldId id="347" r:id="rId4"/>
    <p:sldId id="361" r:id="rId5"/>
    <p:sldId id="362" r:id="rId6"/>
    <p:sldId id="332" r:id="rId7"/>
    <p:sldId id="343" r:id="rId8"/>
    <p:sldId id="353" r:id="rId9"/>
    <p:sldId id="354" r:id="rId10"/>
    <p:sldId id="357" r:id="rId11"/>
    <p:sldId id="345" r:id="rId12"/>
    <p:sldId id="346" r:id="rId13"/>
    <p:sldId id="348" r:id="rId14"/>
    <p:sldId id="358" r:id="rId15"/>
    <p:sldId id="359" r:id="rId16"/>
    <p:sldId id="360" r:id="rId17"/>
    <p:sldId id="26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2344" autoAdjust="0"/>
  </p:normalViewPr>
  <p:slideViewPr>
    <p:cSldViewPr snapToGrid="0">
      <p:cViewPr varScale="1">
        <p:scale>
          <a:sx n="102" d="100"/>
          <a:sy n="102" d="100"/>
        </p:scale>
        <p:origin x="106" y="2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7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AEF43D-0357-4278-88A3-68E399B55887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6E4075-04D0-4A01-9B80-B34031DE52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11B5F-5A72-4726-AC3F-C438D330BC78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F2C92-0232-4362-81DA-2203573C838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649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+mj-ea"/>
              </a:rPr>
              <a:t>注意：请大家关闭自己的麦克风和摄像头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latin typeface="+mj-ea"/>
              </a:rPr>
              <a:t>注意：请大家关闭自己的麦克风和摄像头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latin typeface="+mj-ea"/>
              </a:rPr>
              <a:t>注意：请大家关闭自己的麦克风和摄像头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latin typeface="+mj-ea"/>
              </a:rPr>
              <a:t>注意：请大家关闭自己的麦克风和摄像头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latin typeface="+mj-ea"/>
              </a:rPr>
              <a:t>注意：请大家关闭自己的麦克风和摄像头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latin typeface="+mj-ea"/>
              </a:rPr>
              <a:t>注意：请大家关闭自己的麦克风和摄像头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latin typeface="+mj-ea"/>
              </a:rPr>
              <a:t>注意：请大家关闭自己的麦克风和摄像头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/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NOIP </a:t>
            </a:r>
            <a:r>
              <a:rPr lang="zh-CN" altLang="en-US" dirty="0"/>
              <a:t>入门 </a:t>
            </a:r>
            <a:r>
              <a:rPr lang="en-US" altLang="zh-CN" dirty="0"/>
              <a:t>–</a:t>
            </a:r>
            <a:r>
              <a:rPr lang="zh-CN" altLang="en-US" dirty="0"/>
              <a:t>初识</a:t>
            </a:r>
            <a:r>
              <a:rPr lang="en-US" altLang="zh-CN" dirty="0"/>
              <a:t>C++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78609" y="1486111"/>
            <a:ext cx="7621936" cy="2050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机器语言、二进制、编程语言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编译执行、解释执行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集成开发环境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IDE</a:t>
            </a:r>
          </a:p>
          <a:p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源程序、源代码、代码、写代码、敲代码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78609" y="1311010"/>
            <a:ext cx="410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0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altLang="zh-CN" sz="2000" dirty="0">
                <a:solidFill>
                  <a:srgbClr val="008200"/>
                </a:solidFill>
                <a:latin typeface="Consolas" panose="020B0609020204030204" pitchFamily="49" charset="0"/>
              </a:rPr>
              <a:t> // </a:t>
            </a:r>
            <a:r>
              <a:rPr lang="zh-CN" altLang="en-US" sz="2000" dirty="0">
                <a:solidFill>
                  <a:srgbClr val="0082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lang="en-US" altLang="zh-CN" sz="2000" dirty="0">
                <a:solidFill>
                  <a:srgbClr val="008200"/>
                </a:solidFill>
                <a:latin typeface="Consolas" panose="020B0609020204030204" pitchFamily="49" charset="0"/>
              </a:rPr>
              <a:t>: Hello World</a:t>
            </a:r>
            <a:endParaRPr lang="en-US" altLang="zh-CN" sz="2000" dirty="0">
              <a:solidFill>
                <a:srgbClr val="8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0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 </a:t>
            </a:r>
            <a:r>
              <a:rPr lang="zh-CN" altLang="zh-CN" sz="20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2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0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altLang="zh-CN" sz="20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20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20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2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0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altLang="zh-CN" sz="20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20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2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0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US" altLang="zh-CN" sz="20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20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"Hello, World!"</a:t>
            </a:r>
            <a:r>
              <a:rPr lang="zh-CN" altLang="zh-C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2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0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en-US" altLang="zh-CN" sz="20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20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20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2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0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2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81824" y="1311010"/>
            <a:ext cx="5731444" cy="4576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#include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后面跟着的是头文件，行尾不需要分号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万能头文件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bits/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stdc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++.h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：只引用这个一个头文件即可，两头加上尖括号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using namespace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后面跟着的是命名空间，最后要加分号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main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函数（又叫主函数）是程序的主体部分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447675" lvl="1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函数内容包含在一对花括号之间</a:t>
            </a:r>
          </a:p>
          <a:p>
            <a:pPr marL="447675" lvl="1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main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函数内部，每句语句都要以分号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结尾</a:t>
            </a:r>
          </a:p>
          <a:p>
            <a:pPr marL="447675" lvl="1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最后一句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return 0;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用于向黑窗口输出内容，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英文双引号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引起来的内容会原封不动的输出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//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开头的行是注释，是写给人类看的，计算机会忽略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除了注释和双引号引起来的文本，程序里所有的标点都必须是英文的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程序结构</a:t>
            </a:r>
          </a:p>
        </p:txBody>
      </p:sp>
      <p:sp>
        <p:nvSpPr>
          <p:cNvPr id="8" name="矩形 7"/>
          <p:cNvSpPr/>
          <p:nvPr/>
        </p:nvSpPr>
        <p:spPr>
          <a:xfrm>
            <a:off x="678609" y="4014982"/>
            <a:ext cx="3961485" cy="18985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7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行是固定内容，每个程序都需要写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行是注释，可以不写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行是具体的程序内容，每个程序都不同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40442" y="1401414"/>
            <a:ext cx="2813559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在线练习系统：小明的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OJ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小明的</a:t>
            </a:r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OJ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05" y="2196548"/>
            <a:ext cx="7591425" cy="18573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8327" y="2196547"/>
            <a:ext cx="3513174" cy="18573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804" y="4319587"/>
            <a:ext cx="7591425" cy="187642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29804" y="2649685"/>
            <a:ext cx="1019563" cy="1325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①</a:t>
            </a:r>
            <a:endParaRPr lang="en-US" altLang="zh-CN" sz="60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488327" y="2606642"/>
            <a:ext cx="1019563" cy="1325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②</a:t>
            </a:r>
            <a:endParaRPr lang="en-US" altLang="zh-CN" sz="60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29804" y="4805319"/>
            <a:ext cx="1019563" cy="1325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④</a:t>
            </a:r>
            <a:endParaRPr lang="en-US" altLang="zh-CN" sz="60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338285" y="1275117"/>
            <a:ext cx="468294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http://xmoj.tech</a:t>
            </a:r>
            <a:endParaRPr lang="zh-CN" altLang="en-US" sz="40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488327" y="1477169"/>
            <a:ext cx="3513174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0" indent="0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用户名：姓名的完整拼音，全部小写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密码：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123456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321" y="4319587"/>
            <a:ext cx="3971925" cy="1609725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13" name="矩形 12"/>
          <p:cNvSpPr/>
          <p:nvPr/>
        </p:nvSpPr>
        <p:spPr>
          <a:xfrm>
            <a:off x="9322833" y="4603436"/>
            <a:ext cx="1019563" cy="1325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③</a:t>
            </a:r>
            <a:endParaRPr lang="en-US" altLang="zh-CN" sz="60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42" y="2343150"/>
            <a:ext cx="4143375" cy="108585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442" y="1261315"/>
            <a:ext cx="4105275" cy="8953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小明的</a:t>
            </a:r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OJ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977769" y="817017"/>
            <a:ext cx="1019563" cy="1325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①</a:t>
            </a:r>
            <a:endParaRPr lang="en-US" altLang="zh-CN" sz="60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683765" y="2097030"/>
            <a:ext cx="1019563" cy="1325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②</a:t>
            </a:r>
            <a:endParaRPr lang="en-US" altLang="zh-CN" sz="60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3490" y="1247800"/>
            <a:ext cx="6877050" cy="3362325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6483398" y="1603086"/>
            <a:ext cx="1019563" cy="1325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③</a:t>
            </a:r>
            <a:endParaRPr lang="en-US" altLang="zh-CN" sz="60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020" y="3814082"/>
            <a:ext cx="5524500" cy="295275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4545717" y="3964581"/>
            <a:ext cx="1019563" cy="1325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④</a:t>
            </a:r>
            <a:endParaRPr lang="en-US" altLang="zh-CN" sz="60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常见错误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8130" y="1486111"/>
            <a:ext cx="3771900" cy="47625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0030" y="1486111"/>
            <a:ext cx="3771900" cy="157162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630" y="1486111"/>
            <a:ext cx="4000500" cy="47625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8669" y="3059776"/>
            <a:ext cx="3762375" cy="15716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>
          <a:xfrm>
            <a:off x="544286" y="1360377"/>
            <a:ext cx="2155370" cy="306120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整数的计算：</a:t>
            </a:r>
            <a:endParaRPr lang="en-US" altLang="zh-CN" sz="18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+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（加）、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（减）、*（乘）、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/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（除）、</a:t>
            </a:r>
            <a:b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</a:b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%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（取余运算，又叫模运算）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除法得到的商是整数，没有小数部分（不是四舍五入，而是丢弃小数部分）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内容占位符 2"/>
          <p:cNvSpPr txBox="1"/>
          <p:nvPr/>
        </p:nvSpPr>
        <p:spPr>
          <a:xfrm>
            <a:off x="6095998" y="1360377"/>
            <a:ext cx="2231573" cy="30612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8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实数的计算：</a:t>
            </a:r>
            <a:endParaRPr lang="en-US" altLang="zh-CN" sz="18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+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（加）、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（减）、*（乘）、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/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（除）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没有取余运算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除法得到的商包括小数部分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838201" y="4774712"/>
            <a:ext cx="4288970" cy="1930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与数学运算符相比，乘法和除法的写法不同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乘号不可以省略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直接写表达式就能算出答案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表达式的计算顺序：从左向右依次计算，先乘、除、取余，再加减，有括号先算括号里的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运算符与表达式</a:t>
            </a:r>
          </a:p>
        </p:txBody>
      </p:sp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3069770" y="1893020"/>
          <a:ext cx="262345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7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8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程序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黑窗口输出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837"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cout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&lt;&lt;6+7;</a:t>
                      </a:r>
                      <a:endParaRPr lang="zh-CN" alt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13</a:t>
                      </a:r>
                      <a:endParaRPr lang="zh-CN" alt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837"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cout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&lt;&lt;15-3;</a:t>
                      </a:r>
                      <a:endParaRPr lang="zh-CN" alt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12</a:t>
                      </a:r>
                      <a:endParaRPr lang="zh-CN" alt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837"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cout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&lt;&lt;10/3;</a:t>
                      </a:r>
                      <a:endParaRPr lang="zh-CN" alt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lang="zh-CN" alt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837"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cout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&lt;&lt;11/3;</a:t>
                      </a:r>
                      <a:endParaRPr lang="zh-CN" alt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  <a:endParaRPr lang="zh-CN" alt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837"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cout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&lt;&lt;11%3;</a:t>
                      </a:r>
                      <a:endParaRPr lang="zh-CN" alt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  <a:endParaRPr lang="zh-CN" alt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" name="表格 2"/>
          <p:cNvGraphicFramePr>
            <a:graphicFrameLocks noGrp="1"/>
          </p:cNvGraphicFramePr>
          <p:nvPr/>
        </p:nvGraphicFramePr>
        <p:xfrm>
          <a:off x="8697685" y="1893020"/>
          <a:ext cx="3298372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5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2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8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表达式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黑窗口输出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837"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cout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&lt;&lt;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6.5+7.6;</a:t>
                      </a:r>
                      <a:endParaRPr lang="zh-CN" altLang="en-US" sz="14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14.1</a:t>
                      </a:r>
                      <a:endParaRPr lang="zh-CN" altLang="en-US" sz="14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837"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cout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&lt;&lt;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15.7-3.3*2.5;</a:t>
                      </a:r>
                      <a:endParaRPr lang="zh-CN" altLang="en-US" sz="14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7.45</a:t>
                      </a:r>
                      <a:endParaRPr lang="zh-CN" altLang="en-US" sz="14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837"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cout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&lt;&lt;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11.45/3.2;</a:t>
                      </a:r>
                      <a:endParaRPr lang="zh-CN" altLang="en-US" sz="14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3.578125</a:t>
                      </a:r>
                      <a:endParaRPr lang="zh-CN" altLang="en-US" sz="14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837"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cout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&lt;&lt;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11.45%3.2;</a:t>
                      </a:r>
                      <a:endParaRPr lang="zh-CN" altLang="en-US" sz="1400" dirty="0">
                        <a:latin typeface="Consolas" panose="020B0609020204030204" pitchFamily="49" charset="0"/>
                        <a:ea typeface="微软雅黑" panose="020B0503020204020204" pitchFamily="34" charset="-122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Consolas" panose="020B0609020204030204" pitchFamily="49" charset="0"/>
                        </a:rPr>
                        <a:t>错误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" name="表格 2"/>
          <p:cNvGraphicFramePr>
            <a:graphicFrameLocks noGrp="1"/>
          </p:cNvGraphicFramePr>
          <p:nvPr/>
        </p:nvGraphicFramePr>
        <p:xfrm>
          <a:off x="5489752" y="4772503"/>
          <a:ext cx="3298372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6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8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程序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黑窗口输出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837"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cout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&lt;&lt;6+7+8%3-8/3;</a:t>
                      </a:r>
                      <a:endParaRPr lang="zh-CN" alt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13</a:t>
                      </a:r>
                      <a:endParaRPr lang="zh-CN" alt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837"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cout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&lt;&lt;15-3*2;</a:t>
                      </a:r>
                      <a:endParaRPr lang="zh-CN" alt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9</a:t>
                      </a:r>
                      <a:endParaRPr lang="zh-CN" alt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837"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cout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&lt;&lt;(15-3)*2;</a:t>
                      </a:r>
                      <a:endParaRPr lang="zh-CN" alt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24</a:t>
                      </a:r>
                      <a:endParaRPr lang="zh-CN" alt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837"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cout</a:t>
                      </a:r>
                      <a:r>
                        <a:rPr lang="en-US" altLang="zh-C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&lt;&lt;(5-2)*(5+2)/4;</a:t>
                      </a:r>
                      <a:endParaRPr lang="zh-CN" alt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  <a:endParaRPr lang="zh-CN" altLang="en-US" sz="14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输出：</a:t>
            </a:r>
            <a:r>
              <a:rPr lang="en-US" altLang="zh-CN" sz="40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语句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166" y="1672841"/>
            <a:ext cx="1358211" cy="992539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4821424" y="1194817"/>
            <a:ext cx="1435537" cy="4212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黑窗口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</a:p>
        </p:txBody>
      </p:sp>
      <p:sp>
        <p:nvSpPr>
          <p:cNvPr id="13" name="矩形 12"/>
          <p:cNvSpPr/>
          <p:nvPr/>
        </p:nvSpPr>
        <p:spPr>
          <a:xfrm>
            <a:off x="4823746" y="3893322"/>
            <a:ext cx="1435537" cy="4212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黑窗口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7166" y="4374781"/>
            <a:ext cx="1519847" cy="50661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9316" y="1672841"/>
            <a:ext cx="628650" cy="1219200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10420197" y="1194817"/>
            <a:ext cx="1435537" cy="4212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黑窗口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A55B6B-CF28-040F-9300-0EB472B5D6C6}"/>
              </a:ext>
            </a:extLst>
          </p:cNvPr>
          <p:cNvSpPr txBox="1"/>
          <p:nvPr/>
        </p:nvSpPr>
        <p:spPr>
          <a:xfrm>
            <a:off x="7420994" y="1276842"/>
            <a:ext cx="3198853" cy="2554545"/>
          </a:xfrm>
          <a:prstGeom prst="rect">
            <a:avLst/>
          </a:prstGeom>
          <a:solidFill>
            <a:sysClr val="window" lastClr="FFFFFF">
              <a:alpha val="0"/>
            </a:sysClr>
          </a:solidFill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// </a:t>
            </a:r>
            <a:r>
              <a:rPr lang="zh-CN" altLang="en-US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例题</a:t>
            </a:r>
            <a:r>
              <a:rPr lang="en-US" altLang="zh-CN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: </a:t>
            </a:r>
            <a:r>
              <a:rPr lang="zh-CN" altLang="en-US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输出字符三角形</a:t>
            </a:r>
            <a:endParaRPr lang="en-US" altLang="zh-CN" sz="1600" kern="1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**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***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zh-CN" altLang="zh-CN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****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zh-CN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55D4688-74C9-3C0B-C35B-591741D9CB51}"/>
              </a:ext>
            </a:extLst>
          </p:cNvPr>
          <p:cNvSpPr txBox="1"/>
          <p:nvPr/>
        </p:nvSpPr>
        <p:spPr>
          <a:xfrm>
            <a:off x="6939907" y="1276842"/>
            <a:ext cx="472295" cy="2554545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1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3</a:t>
            </a:r>
            <a:endParaRPr lang="zh-CN" altLang="zh-CN" sz="1600" dirty="0">
              <a:solidFill>
                <a:prstClr val="white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4</a:t>
            </a:r>
            <a:endParaRPr lang="zh-CN" altLang="zh-CN" sz="1600" dirty="0">
              <a:solidFill>
                <a:prstClr val="white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5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6</a:t>
            </a:r>
            <a:endParaRPr lang="en-US" altLang="zh-CN" sz="16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7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8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9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C46384-C214-3C01-DDA1-C99204D0405C}"/>
              </a:ext>
            </a:extLst>
          </p:cNvPr>
          <p:cNvSpPr txBox="1"/>
          <p:nvPr/>
        </p:nvSpPr>
        <p:spPr>
          <a:xfrm>
            <a:off x="1010742" y="1276842"/>
            <a:ext cx="4693278" cy="2579168"/>
          </a:xfrm>
          <a:prstGeom prst="rect">
            <a:avLst/>
          </a:prstGeom>
          <a:solidFill>
            <a:sysClr val="window" lastClr="FFFFFF">
              <a:alpha val="0"/>
            </a:sysClr>
          </a:solidFill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// </a:t>
            </a:r>
            <a:r>
              <a:rPr lang="zh-CN" altLang="en-US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例题</a:t>
            </a:r>
            <a:r>
              <a:rPr lang="en-US" altLang="zh-CN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: </a:t>
            </a:r>
            <a:r>
              <a:rPr lang="zh-CN" altLang="en-US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计算梯形的面积</a:t>
            </a:r>
            <a:endParaRPr lang="en-US" altLang="zh-CN" sz="1600" kern="1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600" dirty="0">
              <a:solidFill>
                <a:prstClr val="white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600" dirty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600" dirty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600" dirty="0">
              <a:solidFill>
                <a:prstClr val="white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600" dirty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zh-CN" altLang="en-US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梯形顶边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&lt;&lt;3&lt;&lt;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zh-CN" altLang="en-US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梯形底边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&lt;&lt;5&lt;&lt;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zh-CN" altLang="en-US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梯形高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&lt;&lt;4&lt;&lt;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zh-CN" altLang="zh-CN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zh-CN" altLang="en-US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梯形面积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&lt;&lt;(3+5)*4/2&lt;&lt;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zh-CN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600" dirty="0">
                <a:solidFill>
                  <a:prstClr val="whit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600" dirty="0">
              <a:solidFill>
                <a:prstClr val="white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sz="1600" dirty="0">
              <a:solidFill>
                <a:prstClr val="white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EC67AFD-3EE9-4058-0D27-D2960B4E206F}"/>
              </a:ext>
            </a:extLst>
          </p:cNvPr>
          <p:cNvSpPr txBox="1"/>
          <p:nvPr/>
        </p:nvSpPr>
        <p:spPr>
          <a:xfrm>
            <a:off x="529655" y="1276842"/>
            <a:ext cx="472295" cy="2554545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1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3</a:t>
            </a:r>
            <a:endParaRPr lang="zh-CN" altLang="zh-CN" sz="1600" dirty="0">
              <a:solidFill>
                <a:prstClr val="white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4</a:t>
            </a:r>
            <a:endParaRPr lang="zh-CN" altLang="zh-CN" sz="1600" dirty="0">
              <a:solidFill>
                <a:prstClr val="white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5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6</a:t>
            </a:r>
            <a:endParaRPr lang="en-US" altLang="zh-CN" sz="16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7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8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9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230084C-4323-0784-F92B-65AE823B8C05}"/>
              </a:ext>
            </a:extLst>
          </p:cNvPr>
          <p:cNvSpPr txBox="1"/>
          <p:nvPr/>
        </p:nvSpPr>
        <p:spPr>
          <a:xfrm>
            <a:off x="1010742" y="4028277"/>
            <a:ext cx="8121692" cy="2062103"/>
          </a:xfrm>
          <a:prstGeom prst="rect">
            <a:avLst/>
          </a:prstGeom>
          <a:solidFill>
            <a:sysClr val="window" lastClr="FFFFFF">
              <a:alpha val="0"/>
            </a:sysClr>
          </a:solidFill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// </a:t>
            </a:r>
            <a:r>
              <a:rPr lang="zh-CN" altLang="en-US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例题</a:t>
            </a:r>
            <a:r>
              <a:rPr lang="en-US" altLang="zh-CN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: </a:t>
            </a:r>
            <a:r>
              <a:rPr lang="zh-CN" altLang="en-US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计算圆形的面积</a:t>
            </a:r>
            <a:endParaRPr lang="en-US" altLang="zh-CN" sz="1600" kern="1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zh-CN" altLang="en-US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圆半径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&lt;&lt;1.5&lt;&lt;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zh-CN" altLang="zh-CN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zh-CN" altLang="en-US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圆面积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&lt;&lt;fixed&lt;&lt;setprecision(4)&lt;&lt;1.5*1.5*3.1415927&lt;&lt;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zh-CN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C2BF2D6-EEF3-D633-137C-87837CAC6756}"/>
              </a:ext>
            </a:extLst>
          </p:cNvPr>
          <p:cNvSpPr txBox="1"/>
          <p:nvPr/>
        </p:nvSpPr>
        <p:spPr>
          <a:xfrm>
            <a:off x="529655" y="4028277"/>
            <a:ext cx="472295" cy="2062103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1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3</a:t>
            </a:r>
            <a:endParaRPr lang="zh-CN" altLang="zh-CN" sz="1600" dirty="0">
              <a:solidFill>
                <a:prstClr val="white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4</a:t>
            </a:r>
            <a:endParaRPr lang="zh-CN" altLang="zh-CN" sz="1600" dirty="0">
              <a:solidFill>
                <a:prstClr val="white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5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6</a:t>
            </a:r>
            <a:endParaRPr lang="en-US" altLang="zh-CN" sz="16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7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5" grpId="0"/>
      <p:bldP spid="3" grpId="0" animBg="1"/>
      <p:bldP spid="5" grpId="0" animBg="1"/>
      <p:bldP spid="16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输出：</a:t>
            </a:r>
            <a:r>
              <a:rPr lang="en-US" altLang="zh-CN" sz="40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语句</a:t>
            </a:r>
            <a:endParaRPr lang="zh-CN" altLang="en-US" sz="4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78609" y="1442078"/>
            <a:ext cx="7142429" cy="3556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zh-CN" altLang="en-US" sz="2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语句用于向黑窗口输出内容</a:t>
            </a:r>
            <a:endParaRPr lang="en-US" altLang="zh-CN" sz="2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73050" indent="-273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写在一行的开头，后面跟着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，再后面跟着要输出的内容</a:t>
            </a:r>
            <a:endParaRPr lang="en-US" altLang="zh-CN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73050" indent="-273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英文双引号引起来的内容会原封不动的输出到黑窗口</a:t>
            </a:r>
            <a:endParaRPr lang="en-US" altLang="zh-CN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73050" lvl="1" indent="-273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kern="100" dirty="0" err="1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endl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表示向黑窗口输出一个换行，计算机是不会自动换行的，必须在程序里写上输出</a:t>
            </a:r>
            <a:r>
              <a:rPr lang="en-US" altLang="zh-CN" kern="100" dirty="0" err="1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endl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来让它换行</a:t>
            </a:r>
            <a:endParaRPr lang="en-US" altLang="zh-CN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73050" lvl="1" indent="-273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有多个不同内容要输出，用多个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连接</a:t>
            </a:r>
            <a:endParaRPr lang="en-US" altLang="zh-CN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73050" lvl="1" indent="-273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保留几位小数（四舍五入）：</a:t>
            </a:r>
          </a:p>
          <a:p>
            <a:pPr marL="273050" lvl="1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&lt;&lt;fixed&lt;&lt;setprecision(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en-US" altLang="zh-CN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)</a:t>
            </a:r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&lt;&lt;3.1415926;</a:t>
            </a:r>
            <a:endParaRPr lang="zh-CN" altLang="en-US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输入：</a:t>
            </a:r>
            <a:r>
              <a:rPr lang="en-US" altLang="zh-CN" sz="40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语句</a:t>
            </a:r>
          </a:p>
        </p:txBody>
      </p:sp>
      <p:sp>
        <p:nvSpPr>
          <p:cNvPr id="10" name="矩形 9"/>
          <p:cNvSpPr/>
          <p:nvPr/>
        </p:nvSpPr>
        <p:spPr>
          <a:xfrm>
            <a:off x="4821424" y="1194817"/>
            <a:ext cx="1435537" cy="4212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黑窗口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</a:p>
        </p:txBody>
      </p:sp>
      <p:sp>
        <p:nvSpPr>
          <p:cNvPr id="15" name="矩形 14"/>
          <p:cNvSpPr/>
          <p:nvPr/>
        </p:nvSpPr>
        <p:spPr>
          <a:xfrm>
            <a:off x="10420197" y="1194817"/>
            <a:ext cx="1435537" cy="4212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黑窗口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382" y="1698111"/>
            <a:ext cx="1225386" cy="114836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4485" y="1698111"/>
            <a:ext cx="575047" cy="135305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382C9D5-E92D-0F5B-7B70-F5526D9709AB}"/>
              </a:ext>
            </a:extLst>
          </p:cNvPr>
          <p:cNvSpPr txBox="1"/>
          <p:nvPr/>
        </p:nvSpPr>
        <p:spPr>
          <a:xfrm>
            <a:off x="1007497" y="1308832"/>
            <a:ext cx="4855868" cy="3046988"/>
          </a:xfrm>
          <a:prstGeom prst="rect">
            <a:avLst/>
          </a:prstGeom>
          <a:solidFill>
            <a:sysClr val="window" lastClr="FFFFFF">
              <a:alpha val="0"/>
            </a:sysClr>
          </a:solidFill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// </a:t>
            </a:r>
            <a:r>
              <a:rPr lang="zh-CN" altLang="en-US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例题</a:t>
            </a:r>
            <a:r>
              <a:rPr lang="en-US" altLang="zh-CN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: </a:t>
            </a:r>
            <a:r>
              <a:rPr lang="zh-CN" altLang="en-US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计算梯形的面积</a:t>
            </a:r>
            <a:endParaRPr lang="en-US" altLang="zh-CN" sz="1600" kern="1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</a:t>
            </a:r>
            <a:r>
              <a:rPr lang="en-US" altLang="zh-CN" sz="160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altLang="zh-CN" sz="16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altLang="zh-CN" sz="160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in&gt;&gt;a&gt;&gt;b&gt;&gt;c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zh-CN" altLang="en-US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梯形顶边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&lt;&lt;a&lt;&lt;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zh-CN" altLang="en-US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梯形底边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&lt;&lt;b&lt;&lt;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zh-CN" altLang="en-US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梯形高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&lt;&lt;c&lt;&lt;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zh-CN" altLang="zh-CN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zh-CN" altLang="en-US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梯形面积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&lt;&lt;(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a+b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)*c/2&lt;&lt;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zh-CN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F0FE690-912A-ABFA-E784-49723CA3644C}"/>
              </a:ext>
            </a:extLst>
          </p:cNvPr>
          <p:cNvSpPr txBox="1"/>
          <p:nvPr/>
        </p:nvSpPr>
        <p:spPr>
          <a:xfrm>
            <a:off x="526410" y="1308832"/>
            <a:ext cx="472295" cy="3046988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1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3</a:t>
            </a:r>
            <a:endParaRPr lang="zh-CN" altLang="zh-CN" sz="1600" dirty="0">
              <a:solidFill>
                <a:prstClr val="white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4</a:t>
            </a:r>
            <a:endParaRPr lang="zh-CN" altLang="zh-CN" sz="1600" dirty="0">
              <a:solidFill>
                <a:prstClr val="white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5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6</a:t>
            </a:r>
            <a:endParaRPr lang="en-US" altLang="zh-CN" sz="16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7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8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9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11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195CD05-C482-6A2C-4235-92607263E08A}"/>
              </a:ext>
            </a:extLst>
          </p:cNvPr>
          <p:cNvSpPr txBox="1"/>
          <p:nvPr/>
        </p:nvSpPr>
        <p:spPr>
          <a:xfrm>
            <a:off x="7462312" y="1308832"/>
            <a:ext cx="3627220" cy="3046988"/>
          </a:xfrm>
          <a:prstGeom prst="rect">
            <a:avLst/>
          </a:prstGeom>
          <a:solidFill>
            <a:sysClr val="window" lastClr="FFFFFF">
              <a:alpha val="0"/>
            </a:sysClr>
          </a:solidFill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// </a:t>
            </a:r>
            <a:r>
              <a:rPr lang="zh-CN" altLang="en-US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例题</a:t>
            </a:r>
            <a:r>
              <a:rPr lang="en-US" altLang="zh-CN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: </a:t>
            </a:r>
            <a:r>
              <a:rPr lang="zh-CN" altLang="en-US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输出字符三角形</a:t>
            </a:r>
            <a:endParaRPr lang="en-US" altLang="zh-CN" sz="1600" kern="1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char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cin&gt;&gt;c;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c&lt;&lt;c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c&lt;&lt;c&lt;&lt;c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endParaRPr lang="zh-CN" altLang="zh-CN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c&lt;&lt;c&lt;&lt;c&lt;&lt;c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zh-CN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3125A6C-871F-F1A4-A35F-84EE1203DE89}"/>
              </a:ext>
            </a:extLst>
          </p:cNvPr>
          <p:cNvSpPr txBox="1"/>
          <p:nvPr/>
        </p:nvSpPr>
        <p:spPr>
          <a:xfrm>
            <a:off x="6981225" y="1308832"/>
            <a:ext cx="472295" cy="3046988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1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3</a:t>
            </a:r>
            <a:endParaRPr lang="zh-CN" altLang="zh-CN" sz="1600" dirty="0">
              <a:solidFill>
                <a:prstClr val="white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4</a:t>
            </a:r>
            <a:endParaRPr lang="zh-CN" altLang="zh-CN" sz="1600" dirty="0">
              <a:solidFill>
                <a:prstClr val="white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5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6</a:t>
            </a:r>
            <a:endParaRPr lang="en-US" altLang="zh-CN" sz="16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7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8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9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11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2" grpId="0" animBg="1"/>
      <p:bldP spid="6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524932" y="1228202"/>
            <a:ext cx="415856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174625" indent="-174625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变量相当于一个放数据的房间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一个房间放一个数据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必须要先定义后才能使用（没登记过的房间不能入住）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定义变量时必须指定数据类型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需要指定房型，决定了房间里能放多大的数据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变量名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通过房间号来称呼具体的一间房间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由字母、数字、下划线组成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不能由数字开头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区分大小写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不能是关键字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可一次性定义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多个变量，逗号分隔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赋值语句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等号左侧是变量名，右侧是表达式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先计算右侧的表达式，结果数字，然后将数字放入左侧变量代表的房间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可以连续赋值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表达式中的变量名，代表该变量的值</a:t>
            </a: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7675" lvl="1" indent="-17462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带有变量名的表达式：读取变量当前的值并进行计算</a:t>
            </a: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52E8F80-D7B2-CD63-EB5B-25DD8F7A2432}"/>
              </a:ext>
            </a:extLst>
          </p:cNvPr>
          <p:cNvSpPr txBox="1"/>
          <p:nvPr/>
        </p:nvSpPr>
        <p:spPr>
          <a:xfrm>
            <a:off x="956223" y="1230881"/>
            <a:ext cx="5412353" cy="2554545"/>
          </a:xfrm>
          <a:prstGeom prst="rect">
            <a:avLst/>
          </a:prstGeom>
          <a:solidFill>
            <a:sysClr val="window" lastClr="FFFFFF">
              <a:alpha val="0"/>
            </a:sysClr>
          </a:solidFill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// </a:t>
            </a:r>
            <a:r>
              <a:rPr lang="zh-CN" altLang="en-US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例题</a:t>
            </a:r>
            <a:r>
              <a:rPr lang="en-US" altLang="zh-CN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: </a:t>
            </a:r>
            <a:r>
              <a:rPr lang="zh-CN" altLang="en-US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定义变量与赋值</a:t>
            </a:r>
            <a:endParaRPr lang="en-US" altLang="zh-CN" sz="1600" kern="1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a=1,b,c,d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r>
              <a:rPr lang="en-US" altLang="zh-CN" sz="1600" dirty="0">
                <a:solidFill>
                  <a:srgbClr val="0082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// a</a:t>
            </a:r>
            <a:r>
              <a:rPr lang="zh-CN" altLang="en-US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在定义时即赋值</a:t>
            </a:r>
            <a:endParaRPr lang="en-US" altLang="zh-CN" sz="1600" kern="1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b=2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c=d=3;        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// </a:t>
            </a:r>
            <a:r>
              <a:rPr lang="zh-CN" altLang="en-US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连续赋值</a:t>
            </a:r>
            <a:endParaRPr lang="en-US" altLang="zh-CN" sz="1600" kern="1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a+b+c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*d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r>
              <a:rPr lang="en-US" altLang="zh-CN" sz="1600" dirty="0">
                <a:solidFill>
                  <a:srgbClr val="0082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// </a:t>
            </a:r>
            <a:r>
              <a:rPr lang="zh-CN" altLang="en-US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读取</a:t>
            </a:r>
            <a:r>
              <a:rPr lang="en-US" altLang="zh-CN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a</a:t>
            </a:r>
            <a:r>
              <a:rPr lang="zh-CN" altLang="en-US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、</a:t>
            </a:r>
            <a:r>
              <a:rPr lang="en-US" altLang="zh-CN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b</a:t>
            </a:r>
            <a:r>
              <a:rPr lang="zh-CN" altLang="en-US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、</a:t>
            </a:r>
            <a:r>
              <a:rPr lang="en-US" altLang="zh-CN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c</a:t>
            </a:r>
            <a:r>
              <a:rPr lang="zh-CN" altLang="en-US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当前的值进行计算</a:t>
            </a:r>
            <a:endParaRPr lang="en-US" altLang="zh-CN" sz="1600" kern="1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A7D8DC0-9D2E-6CB2-F8B6-DBA7DB90E6FF}"/>
              </a:ext>
            </a:extLst>
          </p:cNvPr>
          <p:cNvSpPr txBox="1"/>
          <p:nvPr/>
        </p:nvSpPr>
        <p:spPr>
          <a:xfrm>
            <a:off x="475137" y="1230881"/>
            <a:ext cx="472295" cy="2554545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1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3</a:t>
            </a:r>
            <a:endParaRPr lang="zh-CN" altLang="zh-CN" sz="1600" dirty="0">
              <a:solidFill>
                <a:prstClr val="white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4</a:t>
            </a:r>
            <a:endParaRPr lang="zh-CN" altLang="zh-CN" sz="1600" dirty="0">
              <a:solidFill>
                <a:prstClr val="white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5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6</a:t>
            </a:r>
            <a:endParaRPr lang="en-US" altLang="zh-CN" sz="16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7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8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9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BAC2995-7F9A-5D40-70FE-4144EC3DD258}"/>
              </a:ext>
            </a:extLst>
          </p:cNvPr>
          <p:cNvSpPr txBox="1"/>
          <p:nvPr/>
        </p:nvSpPr>
        <p:spPr>
          <a:xfrm>
            <a:off x="956224" y="3931758"/>
            <a:ext cx="4501088" cy="2308324"/>
          </a:xfrm>
          <a:prstGeom prst="rect">
            <a:avLst/>
          </a:prstGeom>
          <a:solidFill>
            <a:sysClr val="window" lastClr="FFFFFF">
              <a:alpha val="0"/>
            </a:sysClr>
          </a:solidFill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// </a:t>
            </a:r>
            <a:r>
              <a:rPr lang="zh-CN" altLang="en-US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例题</a:t>
            </a:r>
            <a:r>
              <a:rPr lang="en-US" altLang="zh-CN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: </a:t>
            </a:r>
            <a:r>
              <a:rPr lang="zh-CN" altLang="en-US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定义变量与赋值</a:t>
            </a:r>
            <a:endParaRPr lang="en-US" altLang="zh-CN" sz="1600" kern="1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zh-C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a='*',b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b='&amp;'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&lt;a&lt;&lt;b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r>
              <a:rPr lang="en-US" altLang="zh-CN" sz="1600" dirty="0">
                <a:solidFill>
                  <a:srgbClr val="0082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// </a:t>
            </a:r>
            <a:r>
              <a:rPr lang="zh-CN" altLang="en-US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读取</a:t>
            </a:r>
            <a:r>
              <a:rPr lang="en-US" altLang="zh-CN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a</a:t>
            </a:r>
            <a:r>
              <a:rPr lang="zh-CN" altLang="en-US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、</a:t>
            </a:r>
            <a:r>
              <a:rPr lang="en-US" altLang="zh-CN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b</a:t>
            </a:r>
            <a:r>
              <a:rPr lang="zh-CN" altLang="en-US" sz="1600" kern="100" dirty="0">
                <a:solidFill>
                  <a:srgbClr val="0082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当前的值输出</a:t>
            </a:r>
            <a:endParaRPr lang="en-US" altLang="zh-CN" sz="1600" kern="100" dirty="0">
              <a:solidFill>
                <a:srgbClr val="008200"/>
              </a:solidFill>
              <a:latin typeface="Consolas" panose="020B06090202040302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F8FF032-F8F7-EC7B-7194-BDD234C72BF0}"/>
              </a:ext>
            </a:extLst>
          </p:cNvPr>
          <p:cNvSpPr txBox="1"/>
          <p:nvPr/>
        </p:nvSpPr>
        <p:spPr>
          <a:xfrm>
            <a:off x="475137" y="3931758"/>
            <a:ext cx="472295" cy="2308324"/>
          </a:xfrm>
          <a:prstGeom prst="rect">
            <a:avLst/>
          </a:prstGeom>
          <a:solidFill>
            <a:srgbClr val="FFFFFF">
              <a:alpha val="50000"/>
            </a:srgbClr>
          </a:solidFill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1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3</a:t>
            </a:r>
            <a:endParaRPr lang="zh-CN" altLang="zh-CN" sz="1600" dirty="0">
              <a:solidFill>
                <a:prstClr val="white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4</a:t>
            </a:r>
            <a:endParaRPr lang="zh-CN" altLang="zh-CN" sz="1600" dirty="0">
              <a:solidFill>
                <a:prstClr val="white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5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6</a:t>
            </a:r>
            <a:endParaRPr lang="en-US" altLang="zh-CN" sz="16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7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8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78609" y="1486111"/>
            <a:ext cx="7621936" cy="425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 algn="just" defTabSz="914400">
              <a:lnSpc>
                <a:spcPct val="150000"/>
              </a:lnSpc>
              <a:buFont typeface="+mj-lt"/>
              <a:buAutoNum type="arabicPeriod"/>
              <a:defRPr sz="1400" kern="1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pPr marL="273050" indent="-2730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</a:p>
          <a:p>
            <a:pPr marL="535305" lvl="1" indent="-2622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整数类型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5305" lvl="1" indent="-2622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占用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byte</a:t>
            </a:r>
          </a:p>
          <a:p>
            <a:pPr marL="535305" lvl="1" indent="-2622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数据范围：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-2</a:t>
            </a:r>
            <a:r>
              <a:rPr lang="en-US" altLang="zh-CN" sz="16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31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~2</a:t>
            </a:r>
            <a:r>
              <a:rPr lang="en-US" altLang="zh-CN" sz="16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31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-1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，约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-21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亿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~21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亿，约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-2×10</a:t>
            </a:r>
            <a:r>
              <a:rPr lang="en-US" altLang="zh-CN" sz="16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~2×10</a:t>
            </a:r>
            <a:r>
              <a:rPr lang="en-US" altLang="zh-CN" sz="16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后面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个零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73050" indent="-2730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char</a:t>
            </a:r>
          </a:p>
          <a:p>
            <a:pPr marL="535305" lvl="1" indent="-2622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字符类型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5305" lvl="1" indent="-2622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占用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byte</a:t>
            </a:r>
          </a:p>
          <a:p>
            <a:pPr marL="535305" lvl="1" indent="-2622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数据范围：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-128~127</a:t>
            </a:r>
          </a:p>
          <a:p>
            <a:pPr marL="535305" lvl="1" indent="-2622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英文单引号引起来的一个字符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535305" lvl="1" indent="-26225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ASCII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表中的每个字符都有一个数字来代表，此为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ASCII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码（内码）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数据类型：</a:t>
            </a:r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char</a:t>
            </a:r>
            <a:endParaRPr lang="zh-CN" altLang="en-US" sz="4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文字&#10;&#10;自动生成的说明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681" y="1232491"/>
            <a:ext cx="7909849" cy="5398610"/>
          </a:xfrm>
          <a:prstGeom prst="rect">
            <a:avLst/>
          </a:prstGeom>
        </p:spPr>
      </p:pic>
      <p:sp>
        <p:nvSpPr>
          <p:cNvPr id="6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ASCII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码表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输入：</a:t>
            </a:r>
            <a:r>
              <a:rPr lang="en-US" altLang="zh-CN" sz="40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语句</a:t>
            </a:r>
            <a:endParaRPr lang="zh-CN" altLang="en-US" sz="4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78609" y="1225765"/>
            <a:ext cx="5145248" cy="3052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语句用于从黑窗口读取数据，并赋值给变量</a:t>
            </a:r>
            <a:endParaRPr lang="en-US" altLang="zh-CN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73050" indent="-273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写在一行的开头，后面跟着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，再后面跟着要赋值的变量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73050" indent="-273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如果要读取多个数据，用多个</a:t>
            </a:r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连接不同的变量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73050" lvl="1" indent="-273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在黑窗口里输入空格或换行来分隔多个数据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73050" lvl="1" indent="-273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后面的变量个数比在黑窗口里输入的数据个数少，</a:t>
            </a:r>
            <a:r>
              <a:rPr lang="en-US" altLang="zh-CN" sz="16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zh-CN" altLang="en-US" sz="16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后面有几个变量就读取前几个数据，后面的数据会被忽略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9775" y="4278524"/>
            <a:ext cx="3400425" cy="22383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6543" y="1310368"/>
            <a:ext cx="4276725" cy="34099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常见错误</a:t>
            </a:r>
          </a:p>
        </p:txBody>
      </p:sp>
      <p:sp>
        <p:nvSpPr>
          <p:cNvPr id="11" name="内容占位符 2"/>
          <p:cNvSpPr txBox="1"/>
          <p:nvPr/>
        </p:nvSpPr>
        <p:spPr>
          <a:xfrm>
            <a:off x="532695" y="4654563"/>
            <a:ext cx="3478090" cy="27990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09" y="1333500"/>
            <a:ext cx="7810500" cy="4191000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9093266" y="2096623"/>
            <a:ext cx="2220002" cy="878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正确写法：</a:t>
            </a:r>
            <a:endParaRPr lang="en-US" altLang="zh-CN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&gt;&gt;a&gt;&gt;b&gt;&gt;c;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常见错误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38" y="1286256"/>
            <a:ext cx="4229100" cy="21050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38" y="3622246"/>
            <a:ext cx="4038600" cy="20955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5848" y="1286256"/>
            <a:ext cx="5476875" cy="28670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5848" y="4389008"/>
            <a:ext cx="3514725" cy="20859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929</TotalTime>
  <Words>1662</Words>
  <Application>Microsoft Office PowerPoint</Application>
  <PresentationFormat>宽屏</PresentationFormat>
  <Paragraphs>299</Paragraphs>
  <Slides>17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等线</vt:lpstr>
      <vt:lpstr>黑体</vt:lpstr>
      <vt:lpstr>华文楷体</vt:lpstr>
      <vt:lpstr>微软雅黑</vt:lpstr>
      <vt:lpstr>Arial</vt:lpstr>
      <vt:lpstr>Consolas</vt:lpstr>
      <vt:lpstr>Tw Cen MT</vt:lpstr>
      <vt:lpstr>电路</vt:lpstr>
      <vt:lpstr>NOIP 入门 –初识C++</vt:lpstr>
      <vt:lpstr>PowerPoint 演示文稿</vt:lpstr>
      <vt:lpstr>PowerPoint 演示文稿</vt:lpstr>
      <vt:lpstr>PowerPoint 演示文稿</vt:lpstr>
      <vt:lpstr>PowerPoint 演示文稿</vt:lpstr>
      <vt:lpstr>常见错误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常见错误</vt:lpstr>
      <vt:lpstr>谢谢大家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Gao Kai</dc:creator>
  <cp:lastModifiedBy>woodsgreen@163.com</cp:lastModifiedBy>
  <cp:revision>408</cp:revision>
  <dcterms:created xsi:type="dcterms:W3CDTF">2018-08-09T00:16:00Z</dcterms:created>
  <dcterms:modified xsi:type="dcterms:W3CDTF">2026-03-14T08:29:43Z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D1F5DB4B0FD34000B15BD761914F0D09</vt:lpwstr>
  </property>
  <property fmtid="{D5CDD505-2E9C-101B-9397-08002B2CF9AE}" pid="3" name="KSOProductBuildVer">
    <vt:lpwstr>2052-11.1.0.10578</vt:lpwstr>
  </property>
</Properties>
</file>