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362" r:id="rId3"/>
    <p:sldId id="341" r:id="rId4"/>
    <p:sldId id="367" r:id="rId5"/>
    <p:sldId id="363" r:id="rId6"/>
    <p:sldId id="346" r:id="rId7"/>
    <p:sldId id="356" r:id="rId8"/>
    <p:sldId id="345" r:id="rId9"/>
    <p:sldId id="366" r:id="rId10"/>
    <p:sldId id="261" r:id="rId11"/>
    <p:sldId id="3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7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0" autoAdjust="0"/>
    <p:restoredTop sz="82344" autoAdjust="0"/>
  </p:normalViewPr>
  <p:slideViewPr>
    <p:cSldViewPr snapToGrid="0">
      <p:cViewPr varScale="1">
        <p:scale>
          <a:sx n="122" d="100"/>
          <a:sy n="122" d="100"/>
        </p:scale>
        <p:origin x="100" y="148"/>
      </p:cViewPr>
      <p:guideLst>
        <p:guide orient="horz" pos="216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11B5F-5A72-4726-AC3F-C438D330BC78}" type="datetimeFigureOut">
              <a:rPr lang="zh-CN" altLang="en-US" smtClean="0"/>
              <a:t>2024/2/4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F2C92-0232-4362-81DA-2203573C838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2/4/2024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0" name="文本框 49"/>
          <p:cNvSpPr txBox="1"/>
          <p:nvPr userDrawn="1"/>
        </p:nvSpPr>
        <p:spPr>
          <a:xfrm>
            <a:off x="9913276" y="6228521"/>
            <a:ext cx="198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1" name="图片 50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1168414" y="5648975"/>
            <a:ext cx="547200" cy="5514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NOIP </a:t>
            </a:r>
            <a:r>
              <a:rPr lang="zh-CN" altLang="en-US" dirty="0">
                <a:latin typeface="+mj-ea"/>
              </a:rPr>
              <a:t>入门 </a:t>
            </a:r>
            <a:r>
              <a:rPr lang="en-US" altLang="zh-CN" dirty="0">
                <a:latin typeface="+mj-ea"/>
              </a:rPr>
              <a:t>——</a:t>
            </a:r>
            <a:r>
              <a:rPr lang="zh-CN" altLang="en-US" dirty="0">
                <a:latin typeface="+mj-ea"/>
              </a:rPr>
              <a:t> 一维数组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反向输出一组数字</a:t>
            </a:r>
          </a:p>
        </p:txBody>
      </p:sp>
      <p:sp>
        <p:nvSpPr>
          <p:cNvPr id="5" name="矩形 4"/>
          <p:cNvSpPr/>
          <p:nvPr/>
        </p:nvSpPr>
        <p:spPr>
          <a:xfrm>
            <a:off x="678609" y="1486111"/>
            <a:ext cx="4312491" cy="2277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题目要求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第一行输入一个整数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），第二行输入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个整数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-US" altLang="zh-CN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-US" altLang="zh-CN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……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-US" altLang="zh-CN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-US" altLang="zh-CN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10000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），请按与输入时相反的顺序输出这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个整数，数字之间有一个空格。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样例输入：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5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2 1 5 3 4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样例输出：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4 3 5 1 2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78609" y="3860819"/>
            <a:ext cx="431249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分析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将数字全部输入完成后再按相反顺序输出，就要求把这些数字全都记住，这就需要定义数组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F9EE74E0-8D06-93AD-D4AB-D39B99D8C438}"/>
              </a:ext>
            </a:extLst>
          </p:cNvPr>
          <p:cNvSpPr txBox="1"/>
          <p:nvPr/>
        </p:nvSpPr>
        <p:spPr>
          <a:xfrm>
            <a:off x="6577776" y="1486110"/>
            <a:ext cx="4117127" cy="29344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buSzTx/>
              <a:buNone/>
            </a:pPr>
            <a:r>
              <a:rPr lang="zh-C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16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buSzTx/>
              <a:buNone/>
            </a:pP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6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buSzTx/>
              <a:buNone/>
            </a:pPr>
            <a:r>
              <a:rPr lang="zh-C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6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b="1" dirty="0" err="1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a[110],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n,i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&gt;&gt;n;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=0;i&lt;n;++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&gt;&gt;a[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=n-1;i&gt;=0;--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&lt;&lt;a[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]&lt;&lt;" ";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FFFAB2-F997-2F1C-CB9A-8D7D909F1670}"/>
              </a:ext>
            </a:extLst>
          </p:cNvPr>
          <p:cNvSpPr txBox="1"/>
          <p:nvPr/>
        </p:nvSpPr>
        <p:spPr>
          <a:xfrm>
            <a:off x="6096000" y="1486110"/>
            <a:ext cx="481776" cy="29344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1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2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3</a:t>
            </a:r>
            <a:endParaRPr lang="zh-CN" altLang="zh-CN" sz="1600" dirty="0">
              <a:solidFill>
                <a:srgbClr val="80808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4</a:t>
            </a:r>
            <a:endParaRPr lang="zh-CN" altLang="zh-CN" sz="1600" dirty="0">
              <a:solidFill>
                <a:srgbClr val="80808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5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6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7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8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9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10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11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5388" y="1678907"/>
            <a:ext cx="3906138" cy="2261904"/>
          </a:xfrm>
        </p:spPr>
        <p:txBody>
          <a:bodyPr>
            <a:noAutofit/>
          </a:bodyPr>
          <a:lstStyle/>
          <a:p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类型名 数组名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[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元素个数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]</a:t>
            </a:r>
          </a:p>
          <a:p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元素个数必须是常量或常量表达式</a:t>
            </a:r>
            <a:endParaRPr lang="en-US" altLang="zh-CN" sz="14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数组定义就是向计算机申请了若干（即元素个数）个连续的内存空间</a:t>
            </a:r>
            <a:endParaRPr lang="en-US" altLang="zh-CN" sz="14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数组的名称用于指代所有这些内存空间，下标是它们的编号，第一个下标为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，第二个下标为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，以此类推</a:t>
            </a:r>
            <a:endParaRPr lang="en-US" altLang="zh-CN" sz="14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内容占位符 4"/>
          <p:cNvSpPr txBox="1"/>
          <p:nvPr/>
        </p:nvSpPr>
        <p:spPr>
          <a:xfrm>
            <a:off x="675387" y="4279365"/>
            <a:ext cx="2858387" cy="12971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数组名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[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下标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]</a:t>
            </a:r>
          </a:p>
          <a:p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下标可以是常量、变量、表达式，从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开始，不能越界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语法：定义与引用</a:t>
            </a:r>
          </a:p>
        </p:txBody>
      </p:sp>
      <p:sp>
        <p:nvSpPr>
          <p:cNvPr id="2" name="矩形 1"/>
          <p:cNvSpPr/>
          <p:nvPr/>
        </p:nvSpPr>
        <p:spPr>
          <a:xfrm>
            <a:off x="9149394" y="1623890"/>
            <a:ext cx="12954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n;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&gt;&gt;n;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a[n];</a:t>
            </a:r>
          </a:p>
        </p:txBody>
      </p:sp>
      <p:sp>
        <p:nvSpPr>
          <p:cNvPr id="4" name="矩形 3"/>
          <p:cNvSpPr/>
          <p:nvPr/>
        </p:nvSpPr>
        <p:spPr>
          <a:xfrm>
            <a:off x="9149393" y="1340746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错误写法</a:t>
            </a:r>
            <a:endParaRPr lang="zh-CN" altLang="en-US" sz="14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314950" y="1651013"/>
            <a:ext cx="150495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n,a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[110];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&gt;&gt;n;</a:t>
            </a:r>
          </a:p>
        </p:txBody>
      </p:sp>
      <p:sp>
        <p:nvSpPr>
          <p:cNvPr id="11" name="矩形 10"/>
          <p:cNvSpPr/>
          <p:nvPr/>
        </p:nvSpPr>
        <p:spPr>
          <a:xfrm>
            <a:off x="6941659" y="1651013"/>
            <a:ext cx="208597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const int 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MAXN=110;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n,a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[MAXN];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&gt;&gt;n;</a:t>
            </a:r>
          </a:p>
        </p:txBody>
      </p:sp>
      <p:sp>
        <p:nvSpPr>
          <p:cNvPr id="12" name="矩形 11"/>
          <p:cNvSpPr/>
          <p:nvPr/>
        </p:nvSpPr>
        <p:spPr>
          <a:xfrm>
            <a:off x="5314950" y="1343236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正确写法</a:t>
            </a:r>
            <a:endParaRPr lang="zh-CN" altLang="en-US" sz="14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941659" y="1339727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正确写法</a:t>
            </a:r>
            <a:endParaRPr lang="zh-CN" altLang="en-US" sz="14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78609" y="1343236"/>
            <a:ext cx="328122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定义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75388" y="3940811"/>
            <a:ext cx="328122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引用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562473" y="2538306"/>
            <a:ext cx="42369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例如：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 a[100]; 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就是申请了连续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类型（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4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字节）的内存空间，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代表这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个连续的内存空间，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a[0]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代表其中的第一个，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a[1]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代表第二个，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a[99]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代表最后一个</a:t>
            </a:r>
            <a:endParaRPr lang="en-US" altLang="zh-CN" sz="12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462063" y="3725585"/>
            <a:ext cx="4758262" cy="2031325"/>
          </a:xfrm>
          <a:prstGeom prst="rect">
            <a:avLst/>
          </a:prstGeom>
          <a:solidFill>
            <a:srgbClr val="FFFFFF">
              <a:alpha val="69804"/>
            </a:srgbClr>
          </a:solidFill>
        </p:spPr>
        <p:txBody>
          <a:bodyPr wrap="square">
            <a:spAutoFit/>
          </a:bodyPr>
          <a:lstStyle/>
          <a:p>
            <a:pPr marL="180975" indent="-180975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定义数组的大小要按题目要求的数据范围的最大值来，不能用变量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作为数组的大小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80975" indent="-180975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一般会把数组的大小定的比题目要求的最大范围再大一点点，比如大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</a:p>
          <a:p>
            <a:pPr marL="180975" indent="-180975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假如数组大小为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，但只输入了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个数字，所以循环体的执行次数是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而不是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</a:t>
            </a:r>
          </a:p>
          <a:p>
            <a:pPr marL="180975" indent="-180975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输入的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个数字保存在数组的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到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n-1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下标中，后续只使用数组的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到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n-1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下标的部分。下标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到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99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都未初始化，不能碰</a:t>
            </a:r>
            <a:endParaRPr lang="zh-CN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462063" y="3429000"/>
            <a:ext cx="328122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注意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0125076" y="3707845"/>
            <a:ext cx="15811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例如，题目要求“第一行输入一个整数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）”，这样就可以定义一个大小为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110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的数组：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-US" altLang="zh-CN" sz="1200" b="1" dirty="0">
                <a:solidFill>
                  <a:srgbClr val="006699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int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n,a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[110];</a:t>
            </a:r>
          </a:p>
        </p:txBody>
      </p:sp>
      <p:sp>
        <p:nvSpPr>
          <p:cNvPr id="18" name="矩形 17"/>
          <p:cNvSpPr/>
          <p:nvPr/>
        </p:nvSpPr>
        <p:spPr>
          <a:xfrm>
            <a:off x="3800474" y="4657634"/>
            <a:ext cx="178541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例如，循环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次将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个数字读入到从下标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到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n-1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的数组元素中：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-US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=0;i&lt;n;++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&gt;&gt;a[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</p:txBody>
      </p:sp>
      <p:sp>
        <p:nvSpPr>
          <p:cNvPr id="19" name="矩形 18"/>
          <p:cNvSpPr/>
          <p:nvPr/>
        </p:nvSpPr>
        <p:spPr>
          <a:xfrm>
            <a:off x="5624750" y="5756910"/>
            <a:ext cx="46622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例如，循环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次从下标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n-1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到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依次读取数组元素并输出：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-US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=n-1;i&gt;=0;--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&lt;&lt;a[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]&lt;&lt;" ";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8B52CF4-2F1E-4716-B31F-174245FE2053}"/>
              </a:ext>
            </a:extLst>
          </p:cNvPr>
          <p:cNvSpPr txBox="1"/>
          <p:nvPr/>
        </p:nvSpPr>
        <p:spPr>
          <a:xfrm>
            <a:off x="7984647" y="3015023"/>
            <a:ext cx="18679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a[100]</a:t>
            </a:r>
            <a:r>
              <a:rPr lang="zh-CN" altLang="en-US" sz="18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就越界了</a:t>
            </a:r>
            <a:endParaRPr lang="zh-CN" altLang="en-US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10" grpId="0"/>
      <p:bldP spid="11" grpId="0"/>
      <p:bldP spid="12" grpId="0"/>
      <p:bldP spid="13" grpId="0"/>
      <p:bldP spid="14" grpId="0"/>
      <p:bldP spid="15" grpId="0"/>
      <p:bldP spid="5" grpId="0"/>
      <p:bldP spid="16" grpId="0"/>
      <p:bldP spid="17" grpId="0"/>
      <p:bldP spid="18" grpId="0"/>
      <p:bldP spid="19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/>
          <p:cNvSpPr txBox="1"/>
          <p:nvPr/>
        </p:nvSpPr>
        <p:spPr>
          <a:xfrm>
            <a:off x="6577776" y="1486110"/>
            <a:ext cx="4117127" cy="29344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buSzTx/>
              <a:buNone/>
            </a:pPr>
            <a:r>
              <a:rPr lang="zh-C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16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buSzTx/>
              <a:buNone/>
            </a:pP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6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buSzTx/>
              <a:buNone/>
            </a:pPr>
            <a:r>
              <a:rPr lang="zh-C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6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b="1" dirty="0" err="1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a[110],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n,i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&gt;&gt;n;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=0;i&lt;n;++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&gt;&gt;a[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=n-1;i&gt;=0;--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&lt;&lt;a[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]&lt;&lt;" ";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反向输出一组数字</a:t>
            </a:r>
          </a:p>
        </p:txBody>
      </p:sp>
      <p:sp>
        <p:nvSpPr>
          <p:cNvPr id="5" name="矩形 4"/>
          <p:cNvSpPr/>
          <p:nvPr/>
        </p:nvSpPr>
        <p:spPr>
          <a:xfrm>
            <a:off x="678609" y="1486111"/>
            <a:ext cx="4312491" cy="2277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题目要求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第一行输入一个整数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），第二行输入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个整数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-US" altLang="zh-CN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-US" altLang="zh-CN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……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-US" altLang="zh-CN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-US" altLang="zh-CN" sz="1400" baseline="-25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10000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），请按与输入时相反的顺序输出这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个整数，数字之间有一个空格。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样例输入：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5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2 1 5 3 4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样例输出：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4 3 5 1 2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78609" y="3860819"/>
            <a:ext cx="431249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分析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将数字全部输入完成后再按相反顺序输出，就要求把这些数字全都记住，这就需要定义数组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43D4D6D-6F5B-0D2A-42B7-D6545FE77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420529"/>
            <a:ext cx="5416589" cy="136481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3DBA02E-0D3D-1627-1535-CDCBFD791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3940" y="5967047"/>
            <a:ext cx="4408649" cy="433754"/>
          </a:xfrm>
          <a:prstGeom prst="rect">
            <a:avLst/>
          </a:prstGeom>
        </p:spPr>
      </p:pic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223ABB4D-F65C-14C5-CB5D-80303D84D72F}"/>
              </a:ext>
            </a:extLst>
          </p:cNvPr>
          <p:cNvSpPr txBox="1"/>
          <p:nvPr/>
        </p:nvSpPr>
        <p:spPr>
          <a:xfrm>
            <a:off x="6096000" y="1486110"/>
            <a:ext cx="481776" cy="29344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1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2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3</a:t>
            </a:r>
            <a:endParaRPr lang="zh-CN" altLang="zh-CN" sz="1600" dirty="0">
              <a:solidFill>
                <a:srgbClr val="80808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4</a:t>
            </a:r>
            <a:endParaRPr lang="zh-CN" altLang="zh-CN" sz="1600" dirty="0">
              <a:solidFill>
                <a:srgbClr val="808080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5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6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7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8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9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10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  <a:defRPr/>
            </a:pPr>
            <a:r>
              <a:rPr lang="en-US" altLang="zh-CN" sz="1600" dirty="0">
                <a:solidFill>
                  <a:srgbClr val="80808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11</a:t>
            </a:r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282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/>
          <p:cNvSpPr txBox="1"/>
          <p:nvPr/>
        </p:nvSpPr>
        <p:spPr>
          <a:xfrm>
            <a:off x="2731135" y="1824355"/>
            <a:ext cx="2886075" cy="3232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700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700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2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700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</a:t>
            </a:r>
            <a:r>
              <a:rPr lang="en-US" altLang="zh-CN" sz="12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n,k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700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cin&gt;&gt;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</a:t>
            </a:r>
            <a:r>
              <a:rPr lang="zh-CN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for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(</a:t>
            </a:r>
            <a:r>
              <a:rPr lang="zh-CN" altLang="zh-CN" sz="12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int</a:t>
            </a:r>
            <a:r>
              <a:rPr lang="zh-CN" altLang="zh-CN" sz="1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i=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0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;i&lt;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n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++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i){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cin&gt;&gt;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k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  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x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=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y=z=1;</a:t>
            </a:r>
            <a:endParaRPr lang="zh-CN" altLang="zh-CN" sz="1200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</a:t>
            </a:r>
            <a:r>
              <a:rPr lang="zh-CN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CN" altLang="zh-CN" sz="12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=3;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&lt;=k;++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){</a:t>
            </a:r>
            <a:endParaRPr lang="zh-CN" altLang="zh-CN" sz="700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       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700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        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700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        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700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&lt;&lt;endl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}</a:t>
            </a:r>
            <a:endParaRPr lang="zh-CN" altLang="zh-CN" sz="700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2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</a:t>
            </a:r>
            <a:r>
              <a:rPr lang="zh-CN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zh-CN" sz="1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700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矩形 4"/>
          <p:cNvSpPr/>
          <p:nvPr/>
        </p:nvSpPr>
        <p:spPr>
          <a:xfrm>
            <a:off x="5617318" y="1824665"/>
            <a:ext cx="2886075" cy="2676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using</a:t>
            </a:r>
            <a:r>
              <a:rPr lang="zh-CN" altLang="zh-CN" sz="12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</a:t>
            </a:r>
            <a:r>
              <a:rPr lang="zh-CN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namespace</a:t>
            </a:r>
            <a:r>
              <a:rPr lang="zh-C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std;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int</a:t>
            </a:r>
            <a:r>
              <a:rPr lang="zh-CN" altLang="zh-CN" sz="12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</a:t>
            </a:r>
            <a:r>
              <a:rPr lang="zh-C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a[50],n,k;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int</a:t>
            </a:r>
            <a:r>
              <a:rPr lang="zh-CN" altLang="zh-CN" sz="12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</a:t>
            </a:r>
            <a:r>
              <a:rPr lang="zh-C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a[1]=a[2]=1;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cin&gt;&gt;n;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zh-CN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for</a:t>
            </a:r>
            <a:r>
              <a:rPr lang="zh-C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CN" altLang="zh-CN" sz="12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int</a:t>
            </a:r>
            <a:r>
              <a:rPr lang="zh-CN" altLang="zh-CN" sz="12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</a:t>
            </a:r>
            <a:r>
              <a:rPr lang="zh-C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i=0;i&lt;n;++i){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cin&gt;&gt;k;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zh-CN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for</a:t>
            </a:r>
            <a:r>
              <a:rPr lang="zh-C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CN" altLang="zh-CN" sz="12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int</a:t>
            </a:r>
            <a:r>
              <a:rPr lang="zh-CN" altLang="zh-CN" sz="12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</a:t>
            </a:r>
            <a:r>
              <a:rPr lang="zh-C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=3;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</a:t>
            </a:r>
            <a:r>
              <a:rPr lang="zh-C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&lt;=k;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</a:t>
            </a:r>
            <a:r>
              <a:rPr lang="zh-C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a[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</a:t>
            </a:r>
            <a:r>
              <a:rPr lang="zh-C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]=a[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</a:t>
            </a:r>
            <a:r>
              <a:rPr lang="zh-C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-1]+a[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</a:t>
            </a:r>
            <a:r>
              <a:rPr lang="zh-C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-2];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cout&lt;&lt;a[k]&lt;&lt;endl;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zh-CN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return</a:t>
            </a:r>
            <a:r>
              <a:rPr lang="zh-CN" altLang="zh-CN" sz="12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</a:t>
            </a:r>
            <a:r>
              <a:rPr lang="zh-C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斐波那契数列</a:t>
            </a:r>
          </a:p>
        </p:txBody>
      </p:sp>
      <p:sp>
        <p:nvSpPr>
          <p:cNvPr id="8" name="矩形 7"/>
          <p:cNvSpPr/>
          <p:nvPr/>
        </p:nvSpPr>
        <p:spPr>
          <a:xfrm>
            <a:off x="2731243" y="1486111"/>
            <a:ext cx="28860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用循环实现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617318" y="1486111"/>
            <a:ext cx="28860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用数组实现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58775" y="1824355"/>
            <a:ext cx="2123440" cy="4338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约定斐波那契数列的前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5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个数分别为：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5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。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输入一个整数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和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个整数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k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1≤n≤40,1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k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40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），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对每一个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k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，输出斐波那契数列的第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k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个数，一行一个。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样例输入：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样例输出：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样例输入：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5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6 7 2 8 40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样例输出：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8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13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21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102334155</a:t>
            </a:r>
          </a:p>
        </p:txBody>
      </p:sp>
      <p:sp>
        <p:nvSpPr>
          <p:cNvPr id="12" name="矩形 11"/>
          <p:cNvSpPr/>
          <p:nvPr/>
        </p:nvSpPr>
        <p:spPr>
          <a:xfrm>
            <a:off x="8503393" y="1824665"/>
            <a:ext cx="2886075" cy="2676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12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2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a[5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,n,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k;</a:t>
            </a:r>
            <a:endParaRPr lang="zh-CN" altLang="zh-CN" sz="12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2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a[1]=a[2]=1;</a:t>
            </a:r>
            <a:endParaRPr lang="zh-CN" altLang="zh-CN" sz="12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</a:t>
            </a:r>
            <a:r>
              <a:rPr lang="zh-CN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CN" altLang="zh-CN" sz="12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i=3;i&lt;=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40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;i++)</a:t>
            </a:r>
            <a:endParaRPr lang="zh-CN" altLang="zh-CN" sz="12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   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a[i]=a[i-1]+a[i-2];</a:t>
            </a:r>
            <a:endParaRPr lang="zh-CN" altLang="zh-CN" sz="12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cin&gt;&gt;n;</a:t>
            </a:r>
            <a:endParaRPr lang="zh-CN" altLang="zh-CN" sz="12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</a:t>
            </a:r>
            <a:r>
              <a:rPr lang="zh-CN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for</a:t>
            </a:r>
            <a:r>
              <a:rPr lang="zh-C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(</a:t>
            </a:r>
            <a:r>
              <a:rPr lang="zh-CN" altLang="zh-CN" sz="12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int</a:t>
            </a:r>
            <a:r>
              <a:rPr lang="zh-CN" altLang="zh-CN" sz="1200" dirty="0"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</a:t>
            </a:r>
            <a:r>
              <a:rPr lang="zh-C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i=0;i&lt;n;++i){</a:t>
            </a:r>
            <a:endParaRPr lang="zh-CN" altLang="zh-CN" sz="12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    cin&gt;&gt;k;</a:t>
            </a:r>
            <a:endParaRPr lang="zh-CN" altLang="zh-CN" sz="12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    cout&lt;&lt;a[k]&lt;&lt;endl;</a:t>
            </a:r>
            <a:endParaRPr lang="zh-CN" altLang="zh-CN" sz="12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}</a:t>
            </a:r>
            <a:endParaRPr lang="zh-CN" altLang="zh-CN" sz="12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  <a:sym typeface="+mn-ea"/>
              </a:rPr>
              <a:t>    </a:t>
            </a:r>
            <a:r>
              <a:rPr lang="zh-CN" altLang="zh-CN" sz="12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2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3" name="矩形 12"/>
          <p:cNvSpPr/>
          <p:nvPr/>
        </p:nvSpPr>
        <p:spPr>
          <a:xfrm>
            <a:off x="8503393" y="1486111"/>
            <a:ext cx="28860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预处理（打表）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58570" y="1486111"/>
            <a:ext cx="181694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题目要求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  <p:bldP spid="8" grpId="0"/>
      <p:bldP spid="9" grpId="0"/>
      <p:bldP spid="12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5757" y="2505221"/>
            <a:ext cx="2371162" cy="657754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912" y="2502579"/>
            <a:ext cx="2380687" cy="66039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6225" y="2524874"/>
            <a:ext cx="2371162" cy="65775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语法：初始化</a:t>
            </a:r>
          </a:p>
        </p:txBody>
      </p:sp>
      <p:sp>
        <p:nvSpPr>
          <p:cNvPr id="7" name="矩形 6"/>
          <p:cNvSpPr/>
          <p:nvPr/>
        </p:nvSpPr>
        <p:spPr>
          <a:xfrm>
            <a:off x="286132" y="1527570"/>
            <a:ext cx="378595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初始化</a:t>
            </a:r>
            <a:endParaRPr lang="en-US" altLang="zh-CN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076700" y="1865296"/>
            <a:ext cx="1476686" cy="8689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main(){</a:t>
            </a:r>
          </a:p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a[5];</a:t>
            </a:r>
          </a:p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9" name="矩形 8"/>
          <p:cNvSpPr/>
          <p:nvPr/>
        </p:nvSpPr>
        <p:spPr>
          <a:xfrm>
            <a:off x="4086225" y="3552608"/>
            <a:ext cx="2768707" cy="11695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main(){</a:t>
            </a:r>
          </a:p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a[5];</a:t>
            </a:r>
          </a:p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memset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(a,0,sizeof(a));</a:t>
            </a:r>
          </a:p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0" name="矩形 9"/>
          <p:cNvSpPr/>
          <p:nvPr/>
        </p:nvSpPr>
        <p:spPr>
          <a:xfrm>
            <a:off x="276225" y="1866124"/>
            <a:ext cx="3785960" cy="1690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indent="-177800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如果不做初始化，每个元素的值都随机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indent="-177800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用花括号初始化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55600" lvl="1" indent="-177800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只能用于定义数组时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55600" lvl="1" indent="-177800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用于初始化的元素可以等于或少于数组元素个数，但不能多于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55600" lvl="1" indent="-177800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当元素个数少于数组元素个数时，按顺序从前往后分别赋值，数组剩余元素全部被初始化为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11" name="矩形 10"/>
          <p:cNvSpPr/>
          <p:nvPr/>
        </p:nvSpPr>
        <p:spPr>
          <a:xfrm>
            <a:off x="300266" y="3551649"/>
            <a:ext cx="3785959" cy="1242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indent="-177800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用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memset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函数初始化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55600" lvl="1" indent="-177800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用于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程序中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55600" lvl="1" indent="-177800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第一个参数为数组名称，第三个参数为固定写法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55600" lvl="1" indent="-177800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初始化是以字节为单位进行的，所以第二个参数不能是任意的数，一般是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或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-1</a:t>
            </a:r>
          </a:p>
        </p:txBody>
      </p:sp>
      <p:sp>
        <p:nvSpPr>
          <p:cNvPr id="12" name="矩形 11"/>
          <p:cNvSpPr/>
          <p:nvPr/>
        </p:nvSpPr>
        <p:spPr>
          <a:xfrm>
            <a:off x="6466912" y="1865296"/>
            <a:ext cx="2669320" cy="8689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main(){</a:t>
            </a:r>
          </a:p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a[5]={1,2,3,4,5};</a:t>
            </a:r>
          </a:p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6" name="矩形 15"/>
          <p:cNvSpPr/>
          <p:nvPr/>
        </p:nvSpPr>
        <p:spPr>
          <a:xfrm>
            <a:off x="9136232" y="1860970"/>
            <a:ext cx="2073003" cy="8689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main(){</a:t>
            </a:r>
          </a:p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a[5]={1,2};</a:t>
            </a:r>
          </a:p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9" name="矩形 18"/>
          <p:cNvSpPr/>
          <p:nvPr/>
        </p:nvSpPr>
        <p:spPr>
          <a:xfrm>
            <a:off x="300266" y="4793977"/>
            <a:ext cx="3785959" cy="10945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indent="-177800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全局变量的初始化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55600" lvl="1" indent="-177800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在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main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函数内定义的变量，属于局部变量</a:t>
            </a:r>
          </a:p>
          <a:p>
            <a:pPr marL="355600" lvl="1" indent="-177800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定义在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main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函数之外的变量，叫做全局变量</a:t>
            </a:r>
          </a:p>
          <a:p>
            <a:pPr marL="355600" lvl="1" indent="-177800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全局变量默认全部初始化为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20" name="矩形 19"/>
          <p:cNvSpPr/>
          <p:nvPr/>
        </p:nvSpPr>
        <p:spPr>
          <a:xfrm>
            <a:off x="4086225" y="5134514"/>
            <a:ext cx="1277914" cy="8689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a[5];</a:t>
            </a:r>
            <a:endParaRPr lang="en-US" altLang="zh-CN" sz="1400" b="1" dirty="0">
              <a:solidFill>
                <a:srgbClr val="808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main(){</a:t>
            </a:r>
          </a:p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1" name="矩形 20"/>
          <p:cNvSpPr/>
          <p:nvPr/>
        </p:nvSpPr>
        <p:spPr>
          <a:xfrm>
            <a:off x="5470578" y="3551649"/>
            <a:ext cx="9016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全部初始化为</a:t>
            </a:r>
            <a:r>
              <a:rPr lang="en-US" altLang="zh-CN" sz="1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endParaRPr lang="zh-CN" altLang="en-US" sz="14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7210425" y="3562445"/>
            <a:ext cx="2768707" cy="21205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main(){</a:t>
            </a:r>
          </a:p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a[5];</a:t>
            </a:r>
          </a:p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memset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(a,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,sizeof(a));</a:t>
            </a:r>
          </a:p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-US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=0;i&lt;5;++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&lt;&lt;a[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]&lt;&lt;</a:t>
            </a:r>
            <a:r>
              <a:rPr lang="en-US" altLang="zh-CN" sz="1400" dirty="0" err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0;</a:t>
            </a:r>
          </a:p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3" name="矩形 22"/>
          <p:cNvSpPr/>
          <p:nvPr/>
        </p:nvSpPr>
        <p:spPr>
          <a:xfrm>
            <a:off x="8594778" y="3551649"/>
            <a:ext cx="12240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并不能全部初始化为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endParaRPr lang="zh-CN" altLang="en-US" sz="14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9132" y="4074869"/>
            <a:ext cx="681587" cy="916231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5271806" y="5137416"/>
            <a:ext cx="127791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全局变量：全部初始化为</a:t>
            </a:r>
            <a:r>
              <a:rPr lang="en-US" altLang="zh-CN" sz="1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endParaRPr lang="zh-CN" altLang="en-US" sz="14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2" grpId="0"/>
      <p:bldP spid="16" grpId="0"/>
      <p:bldP spid="20" grpId="0"/>
      <p:bldP spid="21" grpId="0"/>
      <p:bldP spid="22" grpId="0"/>
      <p:bldP spid="23" grpId="0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一年中的第几天</a:t>
            </a:r>
          </a:p>
        </p:txBody>
      </p:sp>
      <p:sp>
        <p:nvSpPr>
          <p:cNvPr id="9" name="矩形 8"/>
          <p:cNvSpPr/>
          <p:nvPr/>
        </p:nvSpPr>
        <p:spPr>
          <a:xfrm>
            <a:off x="440865" y="1504399"/>
            <a:ext cx="2665644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题目要求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输入三个整数 </a:t>
            </a:r>
            <a:r>
              <a:rPr lang="en-US" altLang="zh-CN" sz="14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y,m,d</a:t>
            </a:r>
            <a:r>
              <a:rPr lang="zh-CN" altLang="en-US" sz="1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，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分别代表年、月、日，输出这天是这一年的第几天。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输入示例：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2018 3 1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输出示例：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60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输入示例：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2000 12 31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输出示例：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366</a:t>
            </a:r>
            <a:endParaRPr lang="zh-CN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40865" y="3502864"/>
            <a:ext cx="2665645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分析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lvl="0" indent="-177800" defTabSz="9144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每个月的天数都不一样，已经过去的每个月要加上的天数也不一样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lvl="0" indent="-177800" defTabSz="9144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一旦明确了要加上某个月份的天数，这个天数是固定的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lvl="0" indent="-177800" defTabSz="9144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自然而然的思路：依次判断月份大于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、大于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、大于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，如果大于，就加上对应月份的天数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7800" lvl="0" indent="-177800" defTabSz="9144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最后，如果大于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月，再判断是否为闰年，是闰年还要再多加一天</a:t>
            </a:r>
            <a:endParaRPr lang="zh-CN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内容占位符 2"/>
          <p:cNvSpPr txBox="1"/>
          <p:nvPr/>
        </p:nvSpPr>
        <p:spPr>
          <a:xfrm>
            <a:off x="6411633" y="2126190"/>
            <a:ext cx="5542623" cy="33125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</a:pPr>
            <a:r>
              <a:rPr lang="zh-C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</a:pP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a[13]={0,31,28,31,30,31,30,31,31,30,31,30,31};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y,m,d,ans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altLang="zh-CN" sz="1400" b="1" dirty="0">
              <a:solidFill>
                <a:srgbClr val="808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&gt;&gt;y&gt;&gt;m&gt;&gt;d;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=1;i&lt;12;++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if(m&gt;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+=a[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+=d;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(y%4==0&amp;&amp;y%100||y%400==0)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(m&gt;2)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2" name="矩形 11"/>
          <p:cNvSpPr/>
          <p:nvPr/>
        </p:nvSpPr>
        <p:spPr>
          <a:xfrm>
            <a:off x="6411632" y="1504399"/>
            <a:ext cx="37839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重复了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次“判断月份并加上特定的天数”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重复的工作都可以用循环来解决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13" name="内容占位符 2"/>
          <p:cNvSpPr txBox="1"/>
          <p:nvPr/>
        </p:nvSpPr>
        <p:spPr>
          <a:xfrm>
            <a:off x="3106509" y="1504399"/>
            <a:ext cx="3305123" cy="48611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y,m,d,ans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&gt;&gt;y&gt;&gt;m&gt;&gt;d;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(m&gt;1)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+=31;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(m&gt;2)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+=28;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(m&gt;3)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+=31;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(m&gt;4)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+=30;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(m&gt;5)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+=31;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(m&gt;6)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+=30;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(m&gt;7)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+=31;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(m&gt;8)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+=31;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(m&gt;9)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+=30;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(m&gt;10)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+=31;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(m&gt;11)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+=30;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+=d;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(y%4==0&amp;&amp;y%100||y%400==0)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(m&gt;2)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++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0;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B41A1983-380E-4677-82A2-5783291369F2}"/>
              </a:ext>
            </a:extLst>
          </p:cNvPr>
          <p:cNvSpPr txBox="1"/>
          <p:nvPr/>
        </p:nvSpPr>
        <p:spPr>
          <a:xfrm>
            <a:off x="6411632" y="2126190"/>
            <a:ext cx="5542623" cy="35020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</a:pPr>
            <a:r>
              <a:rPr lang="zh-C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</a:pP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a[13]={0,31,28,31,30,31,30,31,31,30,31,30,31};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y,m,d,ans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altLang="zh-CN" sz="1400" b="1" dirty="0">
              <a:solidFill>
                <a:srgbClr val="808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None/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&gt;&gt;y&gt;&gt;m&gt;&gt;d;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=1;i&lt;m;++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+=a[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+=d;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(y%4==0&amp;&amp;y%100||y%400==0)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(m&gt;2)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4" name="矩形 13"/>
          <p:cNvSpPr/>
          <p:nvPr/>
        </p:nvSpPr>
        <p:spPr>
          <a:xfrm>
            <a:off x="8189509" y="2796585"/>
            <a:ext cx="303961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小技巧：从下标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开始存，月份数就是下标</a:t>
            </a:r>
            <a:endParaRPr lang="zh-CN" altLang="en-US" sz="1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6" grpId="0" animBg="1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8612" y="1486111"/>
            <a:ext cx="2798014" cy="3114464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a[10],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=1;i&lt;=15;++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a[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]=0;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&lt;&lt;a[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]&lt;&lt;" ";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数组越界</a:t>
            </a:r>
          </a:p>
        </p:txBody>
      </p:sp>
      <p:sp>
        <p:nvSpPr>
          <p:cNvPr id="4" name="矩形 3"/>
          <p:cNvSpPr/>
          <p:nvPr/>
        </p:nvSpPr>
        <p:spPr>
          <a:xfrm>
            <a:off x="1098086" y="4800234"/>
            <a:ext cx="156966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请自己动手试验一下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20534" y="1487089"/>
            <a:ext cx="2766963" cy="2987700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n,a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[10];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cin&gt;&gt;n;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(n){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++a[n%10];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n/=10;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i=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;i&lt;10;++i)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cout&lt;&lt;a[i]&lt;&lt;</a:t>
            </a:r>
            <a:r>
              <a:rPr lang="zh-C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zh-CN" sz="1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统计数字出现次数</a:t>
            </a:r>
          </a:p>
        </p:txBody>
      </p:sp>
      <p:sp>
        <p:nvSpPr>
          <p:cNvPr id="6" name="矩形 5"/>
          <p:cNvSpPr/>
          <p:nvPr/>
        </p:nvSpPr>
        <p:spPr>
          <a:xfrm>
            <a:off x="678608" y="1486111"/>
            <a:ext cx="504591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题目要求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输入一个整数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≤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  <a:r>
              <a:rPr lang="en-US" altLang="zh-CN" sz="1400" baseline="30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），请分别统计这个整数的各个数位上，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……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分别出现了几次，按顺序输出，两个数字之间有个空格。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样例输入：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11357029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样例输出：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1 2 1 1 0 1 0 1 0 1</a:t>
            </a:r>
          </a:p>
        </p:txBody>
      </p:sp>
      <p:sp>
        <p:nvSpPr>
          <p:cNvPr id="8" name="矩形 7"/>
          <p:cNvSpPr/>
          <p:nvPr/>
        </p:nvSpPr>
        <p:spPr>
          <a:xfrm>
            <a:off x="678609" y="3143355"/>
            <a:ext cx="5045916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分析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80975" indent="-180975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自然而然的思路：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1950" lvl="1" indent="-180975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为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到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各定义一个变量来记录其出现的次数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1950" lvl="1" indent="-180975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分拆数位，对每个数位，增加数字对应的变量的计数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1950" lvl="1" indent="-180975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循环输出这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个变量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80975" indent="-180975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重复的操作都可以转换为用循环处理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1950" lvl="1" indent="-180975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定义一个长度为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的数组，下标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到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分别记录数字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到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出现的次数</a:t>
            </a:r>
            <a:endParaRPr lang="en-US" altLang="zh-CN" sz="12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1950" lvl="1" indent="-180975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分拆数位，对每个数位，以该数字为下标，令数组元素自增</a:t>
            </a:r>
            <a:endParaRPr lang="en-US" altLang="zh-CN" sz="12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1950" lvl="1" indent="-180975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循环依次输出数组下标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到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9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的每个元素的值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80975" indent="-180975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注意对数组初始化：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1950" lvl="1" indent="-180975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用花括号或</a:t>
            </a:r>
            <a:r>
              <a:rPr lang="en-US" altLang="zh-CN" sz="12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memset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初始化</a:t>
            </a:r>
            <a:endParaRPr lang="en-US" altLang="zh-CN" sz="12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361950" lvl="1" indent="-180975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定义为全局变量</a:t>
            </a:r>
          </a:p>
        </p:txBody>
      </p:sp>
      <p:sp>
        <p:nvSpPr>
          <p:cNvPr id="2" name="矩形 1"/>
          <p:cNvSpPr/>
          <p:nvPr/>
        </p:nvSpPr>
        <p:spPr>
          <a:xfrm>
            <a:off x="678607" y="5605568"/>
            <a:ext cx="5045915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输出小技巧：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409575" lvl="1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ea"/>
              <a:buAutoNum type="circleNumDbPlain"/>
            </a:pP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先输出第一个数字，再在循环里输出空格</a:t>
            </a:r>
            <a:r>
              <a:rPr lang="en-US" altLang="zh-CN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+</a:t>
            </a: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数字（空格在前），可避免在最后一个数字后面输出空格</a:t>
            </a:r>
            <a:endParaRPr lang="en-US" altLang="zh-CN" sz="12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409575" lvl="1" indent="-228600" defTabSz="914400" eaLnBrk="0" fontAlgn="base" hangingPunct="0">
              <a:spcBef>
                <a:spcPct val="0"/>
              </a:spcBef>
              <a:spcAft>
                <a:spcPct val="0"/>
              </a:spcAft>
              <a:buFont typeface="+mj-ea"/>
              <a:buAutoNum type="circleNumDbPlain"/>
            </a:pPr>
            <a:r>
              <a:rPr lang="zh-CN" altLang="en-US" sz="12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还是输出数字后再输出一个空格，但是在输出空格之前判断是否为最后一个数字，如果是最后一个数字则不输出空格</a:t>
            </a:r>
          </a:p>
        </p:txBody>
      </p:sp>
      <p:sp>
        <p:nvSpPr>
          <p:cNvPr id="4" name="矩形 3"/>
          <p:cNvSpPr/>
          <p:nvPr/>
        </p:nvSpPr>
        <p:spPr>
          <a:xfrm>
            <a:off x="9483506" y="4540345"/>
            <a:ext cx="238528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i=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;i&lt;10;++i)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cout&lt;&lt;a[i];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&lt;9)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477392" y="3380325"/>
            <a:ext cx="232149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cout&lt;&lt;a[0];</a:t>
            </a:r>
            <a:br>
              <a:rPr lang="en-US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i=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;i&lt;10;++i)</a:t>
            </a:r>
            <a:endParaRPr lang="zh-CN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cout&lt;&lt;</a:t>
            </a:r>
            <a:r>
              <a:rPr lang="zh-C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&lt;&lt;a[i];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535812" y="3452319"/>
            <a:ext cx="2387259" cy="46579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右 10"/>
          <p:cNvSpPr/>
          <p:nvPr/>
        </p:nvSpPr>
        <p:spPr>
          <a:xfrm>
            <a:off x="9045809" y="3577820"/>
            <a:ext cx="373271" cy="2147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右 11"/>
          <p:cNvSpPr/>
          <p:nvPr/>
        </p:nvSpPr>
        <p:spPr>
          <a:xfrm rot="3120811">
            <a:off x="8966789" y="4167747"/>
            <a:ext cx="560832" cy="2147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8777691" y="2652617"/>
            <a:ext cx="145349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x=n%10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+1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箭头: 左右 14"/>
          <p:cNvSpPr/>
          <p:nvPr/>
        </p:nvSpPr>
        <p:spPr>
          <a:xfrm>
            <a:off x="8241874" y="2835254"/>
            <a:ext cx="477505" cy="21600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241874" y="2674121"/>
            <a:ext cx="5565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等价于</a:t>
            </a:r>
          </a:p>
        </p:txBody>
      </p:sp>
      <p:cxnSp>
        <p:nvCxnSpPr>
          <p:cNvPr id="18" name="直接连接符 17"/>
          <p:cNvCxnSpPr/>
          <p:nvPr/>
        </p:nvCxnSpPr>
        <p:spPr>
          <a:xfrm>
            <a:off x="7050156" y="3051254"/>
            <a:ext cx="1060174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9045809" y="3414259"/>
            <a:ext cx="3218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9206371" y="4043218"/>
            <a:ext cx="3218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2" grpId="0"/>
      <p:bldP spid="4" grpId="0"/>
      <p:bldP spid="10" grpId="0"/>
      <p:bldP spid="5" grpId="0" animBg="1"/>
      <p:bldP spid="11" grpId="0" animBg="1"/>
      <p:bldP spid="12" grpId="0" animBg="1"/>
      <p:bldP spid="14" grpId="0"/>
      <p:bldP spid="15" grpId="0" animBg="1"/>
      <p:bldP spid="16" grpId="0"/>
      <p:bldP spid="19" grpId="0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谢谢大家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 txBox="1"/>
          <p:nvPr/>
        </p:nvSpPr>
        <p:spPr>
          <a:xfrm>
            <a:off x="678609" y="1486110"/>
            <a:ext cx="4681331" cy="50314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为啥下标从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开始？</a:t>
            </a:r>
            <a:endParaRPr lang="en-US" altLang="zh-CN" sz="14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传说中的“历史原因”</a:t>
            </a:r>
            <a:endParaRPr lang="en-US" altLang="zh-CN" sz="14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最早时，使用计算机是很多人分享的，每个人的时间有限，所以编译效率越高越好。下标从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开始有利于加快编译速度。</a:t>
            </a:r>
            <a:endParaRPr lang="en-US" altLang="zh-CN" sz="14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写法更优雅。例如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Python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，从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开始的写法是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a[0:n]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，从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开始的写法是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a[1:n+1]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，你觉得哪种更优雅？</a:t>
            </a:r>
            <a:endParaRPr lang="en-US" altLang="zh-CN" sz="14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指针的考虑。数组名称其实就是内存区域的起始地址，数组中每个元素的起始地址都是从最开始的地址往后移动得到的，那么第一个地址就是移动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次，当然就是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a[0]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了。</a:t>
            </a:r>
            <a:endParaRPr lang="en-US" altLang="zh-CN" sz="14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5" name="内容占位符 2"/>
          <p:cNvSpPr txBox="1"/>
          <p:nvPr/>
        </p:nvSpPr>
        <p:spPr>
          <a:xfrm>
            <a:off x="6196517" y="1486111"/>
            <a:ext cx="4681332" cy="1478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为啥要用方括号</a:t>
            </a:r>
            <a:r>
              <a:rPr lang="en-US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[]</a:t>
            </a:r>
          </a:p>
          <a:p>
            <a:pPr marL="0" indent="0">
              <a:buNone/>
            </a:pPr>
            <a:r>
              <a:rPr lang="zh-C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据C语言作者的说法</a:t>
            </a:r>
            <a:r>
              <a:rPr lang="zh-CN" altLang="en-US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：</a:t>
            </a:r>
            <a:r>
              <a:rPr lang="zh-CN" altLang="zh-CN" sz="14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方括号是现代键盘上唯一较为容易输入的成对符号（不用shift）不信你对着键盘找找？</a:t>
            </a:r>
            <a:endParaRPr lang="zh-CN" altLang="en-US" sz="14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-138499"/>
            <a:ext cx="25705" cy="27699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696" tIns="0" rIns="12696" bIns="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小八卦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2821</Words>
  <Application>Microsoft Office PowerPoint</Application>
  <PresentationFormat>宽屏</PresentationFormat>
  <Paragraphs>352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等线</vt:lpstr>
      <vt:lpstr>华文楷体</vt:lpstr>
      <vt:lpstr>微软雅黑</vt:lpstr>
      <vt:lpstr>Arial</vt:lpstr>
      <vt:lpstr>Consolas</vt:lpstr>
      <vt:lpstr>Tw Cen MT</vt:lpstr>
      <vt:lpstr>电路</vt:lpstr>
      <vt:lpstr>NOIP 入门 —— 一维数组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谢谢大家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Gao Kai</dc:creator>
  <cp:lastModifiedBy>青 林</cp:lastModifiedBy>
  <cp:revision>333</cp:revision>
  <dcterms:created xsi:type="dcterms:W3CDTF">2018-08-09T00:16:00Z</dcterms:created>
  <dcterms:modified xsi:type="dcterms:W3CDTF">2024-02-04T08:03:42Z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3E68CF907BFC4A2F9DE9A225B4A0960D</vt:lpwstr>
  </property>
  <property fmtid="{D5CDD505-2E9C-101B-9397-08002B2CF9AE}" pid="3" name="KSOProductBuildVer">
    <vt:lpwstr>2052-11.1.0.10700</vt:lpwstr>
  </property>
</Properties>
</file>