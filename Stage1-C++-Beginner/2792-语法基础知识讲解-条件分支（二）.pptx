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48" r:id="rId3"/>
    <p:sldId id="357" r:id="rId4"/>
    <p:sldId id="356" r:id="rId5"/>
    <p:sldId id="347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8" r:id="rId14"/>
    <p:sldId id="332" r:id="rId15"/>
    <p:sldId id="26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01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0" y="1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10057394" y="6282804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1387929" y="5731394"/>
            <a:ext cx="547200" cy="5514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cap="none" dirty="0">
                <a:latin typeface="+mj-ea"/>
              </a:rPr>
              <a:t>NOIP </a:t>
            </a:r>
            <a:r>
              <a:rPr lang="zh-CN" altLang="en-US" cap="none" dirty="0">
                <a:latin typeface="+mj-ea"/>
              </a:rPr>
              <a:t>入门 </a:t>
            </a:r>
            <a:r>
              <a:rPr lang="en-US" altLang="zh-CN" cap="none" dirty="0">
                <a:latin typeface="+mj-ea"/>
              </a:rPr>
              <a:t>—</a:t>
            </a:r>
            <a:r>
              <a:rPr lang="zh-CN" altLang="en-US" cap="none" dirty="0">
                <a:latin typeface="+mj-ea"/>
              </a:rPr>
              <a:t> 条件分支（二）</a:t>
            </a:r>
            <a:endParaRPr lang="zh-CN" altLang="en-US" dirty="0">
              <a:latin typeface="+mj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5986558" y="4074547"/>
            <a:ext cx="4360464" cy="204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year;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&gt;&gt;year;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(year%400==0||year%4==0&amp;&amp;year%100!=0)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C469962-3CB4-4743-BA06-3519AB9B248D}"/>
              </a:ext>
            </a:extLst>
          </p:cNvPr>
          <p:cNvSpPr txBox="1"/>
          <p:nvPr/>
        </p:nvSpPr>
        <p:spPr>
          <a:xfrm>
            <a:off x="874551" y="1460212"/>
            <a:ext cx="3468849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输入一个整数，表示年份，判断是否为闰年。</a:t>
            </a:r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just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如果是闰年，输出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yes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，否则输出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no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。</a:t>
            </a:r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判断闰年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9B607C4-4116-46D7-9176-62E25939B049}"/>
              </a:ext>
            </a:extLst>
          </p:cNvPr>
          <p:cNvSpPr txBox="1"/>
          <p:nvPr/>
        </p:nvSpPr>
        <p:spPr>
          <a:xfrm>
            <a:off x="5995938" y="1168915"/>
            <a:ext cx="5085378" cy="199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year;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&gt;&gt;year;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</a:t>
            </a: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能被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400</a:t>
            </a: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整除 或者 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</a:t>
            </a: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能被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整除且不能被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整除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7EA2588-4C09-4B05-AF07-B91B514DDC3A}"/>
              </a:ext>
            </a:extLst>
          </p:cNvPr>
          <p:cNvSpPr/>
          <p:nvPr/>
        </p:nvSpPr>
        <p:spPr>
          <a:xfrm>
            <a:off x="874551" y="3692387"/>
            <a:ext cx="3468849" cy="1293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分析：能被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400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整除，或者能被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4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整除但不能被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100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整除，是闰年；其余情况，不是闰年。</a:t>
            </a:r>
          </a:p>
        </p:txBody>
      </p:sp>
      <p:sp>
        <p:nvSpPr>
          <p:cNvPr id="48" name="箭头: 右 47">
            <a:extLst>
              <a:ext uri="{FF2B5EF4-FFF2-40B4-BE49-F238E27FC236}">
                <a16:creationId xmlns:a16="http://schemas.microsoft.com/office/drawing/2014/main" id="{2413A88F-535E-438F-9D90-285D84B7BC69}"/>
              </a:ext>
            </a:extLst>
          </p:cNvPr>
          <p:cNvSpPr/>
          <p:nvPr/>
        </p:nvSpPr>
        <p:spPr>
          <a:xfrm rot="5400000">
            <a:off x="6651171" y="3266138"/>
            <a:ext cx="459921" cy="7078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9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0" grpId="0"/>
      <p:bldP spid="47" grpId="0"/>
      <p:bldP spid="4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1A6C02E7-0526-4CD9-8F18-19FF4C575BB8}"/>
              </a:ext>
            </a:extLst>
          </p:cNvPr>
          <p:cNvSpPr txBox="1"/>
          <p:nvPr/>
        </p:nvSpPr>
        <p:spPr>
          <a:xfrm>
            <a:off x="5208817" y="1693554"/>
            <a:ext cx="2754285" cy="3935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year;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&gt;&gt;year;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</a:t>
            </a: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能被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400</a:t>
            </a: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整除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</a:t>
            </a: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能被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整除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</a:t>
            </a: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能被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zh-C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整除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判断闰年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D0BC248-EB23-4576-8CDF-1B9B3ABD7210}"/>
              </a:ext>
            </a:extLst>
          </p:cNvPr>
          <p:cNvSpPr txBox="1"/>
          <p:nvPr/>
        </p:nvSpPr>
        <p:spPr>
          <a:xfrm>
            <a:off x="8659202" y="1693554"/>
            <a:ext cx="2754285" cy="3935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year;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&gt;&gt;year;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(year%400==0)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(year%4==0)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(year%100==0)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773FB677-692E-4AE3-A90D-CD7327D57CDB}"/>
              </a:ext>
            </a:extLst>
          </p:cNvPr>
          <p:cNvSpPr/>
          <p:nvPr/>
        </p:nvSpPr>
        <p:spPr>
          <a:xfrm>
            <a:off x="4630806" y="3307457"/>
            <a:ext cx="459921" cy="7078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CBF7FDE9-798C-4526-9D6A-8A416F4942F5}"/>
              </a:ext>
            </a:extLst>
          </p:cNvPr>
          <p:cNvSpPr/>
          <p:nvPr/>
        </p:nvSpPr>
        <p:spPr>
          <a:xfrm>
            <a:off x="8081191" y="3307457"/>
            <a:ext cx="459921" cy="7078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C474C50-6243-44B7-87C3-47C2B234B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66" y="1570662"/>
            <a:ext cx="4286250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2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2" grpId="0"/>
      <p:bldP spid="13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4842232" y="1416995"/>
            <a:ext cx="4059568" cy="204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year;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&gt;&gt;year;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(year%400==0||year%4==0&amp;&amp;year%100!=0)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A6C02E7-0526-4CD9-8F18-19FF4C575BB8}"/>
              </a:ext>
            </a:extLst>
          </p:cNvPr>
          <p:cNvSpPr txBox="1"/>
          <p:nvPr/>
        </p:nvSpPr>
        <p:spPr>
          <a:xfrm>
            <a:off x="8906053" y="1416995"/>
            <a:ext cx="2618793" cy="3935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year;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&gt;&gt;year;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(year%400==0)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(year%4==0)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(year%100==0)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F6812A5-0886-4007-B93C-739BE4361036}"/>
              </a:ext>
            </a:extLst>
          </p:cNvPr>
          <p:cNvSpPr txBox="1"/>
          <p:nvPr/>
        </p:nvSpPr>
        <p:spPr>
          <a:xfrm>
            <a:off x="578547" y="1512112"/>
            <a:ext cx="3201517" cy="1293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测试数据设计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algn="just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数一数，共有几个逻辑分支？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algn="just" defTabSz="914400">
              <a:lnSpc>
                <a:spcPct val="1500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为每个分支准备一份测试数据</a:t>
            </a:r>
            <a:endParaRPr lang="zh-CN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B538860-7FBA-4FD7-A6A4-38E5322AF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660110"/>
              </p:ext>
            </p:extLst>
          </p:nvPr>
        </p:nvGraphicFramePr>
        <p:xfrm>
          <a:off x="678610" y="3867404"/>
          <a:ext cx="6603933" cy="2042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9645">
                  <a:extLst>
                    <a:ext uri="{9D8B030D-6E8A-4147-A177-3AD203B41FA5}">
                      <a16:colId xmlns:a16="http://schemas.microsoft.com/office/drawing/2014/main" val="430141839"/>
                    </a:ext>
                  </a:extLst>
                </a:gridCol>
                <a:gridCol w="824680">
                  <a:extLst>
                    <a:ext uri="{9D8B030D-6E8A-4147-A177-3AD203B41FA5}">
                      <a16:colId xmlns:a16="http://schemas.microsoft.com/office/drawing/2014/main" val="1371525058"/>
                    </a:ext>
                  </a:extLst>
                </a:gridCol>
                <a:gridCol w="1159608">
                  <a:extLst>
                    <a:ext uri="{9D8B030D-6E8A-4147-A177-3AD203B41FA5}">
                      <a16:colId xmlns:a16="http://schemas.microsoft.com/office/drawing/2014/main" val="1752951368"/>
                    </a:ext>
                  </a:extLst>
                </a:gridCol>
              </a:tblGrid>
              <a:tr h="408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分支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期望输出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956737"/>
                  </a:ext>
                </a:extLst>
              </a:tr>
              <a:tr h="408573">
                <a:tc>
                  <a:txBody>
                    <a:bodyPr/>
                    <a:lstStyle/>
                    <a:p>
                      <a:r>
                        <a:rPr lang="en-US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year%400==0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2000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yes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663508"/>
                  </a:ext>
                </a:extLst>
              </a:tr>
              <a:tr h="408573">
                <a:tc>
                  <a:txBody>
                    <a:bodyPr/>
                    <a:lstStyle/>
                    <a:p>
                      <a:r>
                        <a:rPr lang="en-US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year%400!=0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且</a:t>
                      </a:r>
                      <a:r>
                        <a:rPr lang="en-US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year%4==0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且</a:t>
                      </a:r>
                      <a:r>
                        <a:rPr lang="en-US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year%100==0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1900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40143"/>
                  </a:ext>
                </a:extLst>
              </a:tr>
              <a:tr h="408573">
                <a:tc>
                  <a:txBody>
                    <a:bodyPr/>
                    <a:lstStyle/>
                    <a:p>
                      <a:r>
                        <a:rPr lang="en-US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year%400!=0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且</a:t>
                      </a:r>
                      <a:r>
                        <a:rPr lang="en-US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year%4==0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且</a:t>
                      </a:r>
                      <a:r>
                        <a:rPr lang="en-US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year%100!=0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1904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yes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222555"/>
                  </a:ext>
                </a:extLst>
              </a:tr>
              <a:tr h="408573">
                <a:tc>
                  <a:txBody>
                    <a:bodyPr/>
                    <a:lstStyle/>
                    <a:p>
                      <a:r>
                        <a:rPr lang="en-US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year%400!=0</a:t>
                      </a:r>
                      <a:r>
                        <a:rPr lang="zh-C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且</a:t>
                      </a:r>
                      <a:r>
                        <a:rPr lang="en-US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year%4!=0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2002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523361"/>
                  </a:ext>
                </a:extLst>
              </a:tr>
            </a:tbl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判断闰年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50E608-762A-4FED-8017-F6B67B1E9242}"/>
              </a:ext>
            </a:extLst>
          </p:cNvPr>
          <p:cNvSpPr/>
          <p:nvPr/>
        </p:nvSpPr>
        <p:spPr>
          <a:xfrm>
            <a:off x="3558117" y="2006785"/>
            <a:ext cx="1003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762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35E75EB-5EFD-4019-99E1-301B16240FF7}"/>
              </a:ext>
            </a:extLst>
          </p:cNvPr>
          <p:cNvSpPr txBox="1"/>
          <p:nvPr/>
        </p:nvSpPr>
        <p:spPr>
          <a:xfrm>
            <a:off x="6096000" y="1486111"/>
            <a:ext cx="5586248" cy="3793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嵌套条件语句的结构：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</a:t>
            </a:r>
            <a:r>
              <a:rPr lang="zh-C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的分支中还有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</a:t>
            </a:r>
            <a:endParaRPr lang="zh-CN" altLang="zh-CN" b="1" dirty="0">
              <a:solidFill>
                <a:srgbClr val="006699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被嵌套的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</a:t>
            </a:r>
            <a:r>
              <a:rPr lang="zh-C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的语法要求完全相同</a:t>
            </a: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允许嵌套的层数无限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总是与最近的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匹配</a:t>
            </a:r>
            <a:endParaRPr lang="zh-CN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要想改变配对关系，可以加花括号</a:t>
            </a:r>
            <a:endParaRPr lang="en-US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花括号括起来的部分是一个整体，花括号里的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</a:t>
            </a: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不能和花括号之外的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</a:t>
            </a: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配对</a:t>
            </a:r>
            <a:endParaRPr lang="en-US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通常为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</a:t>
            </a: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之后的语句加上缩进，让程序更容易看懂</a:t>
            </a:r>
            <a:endParaRPr lang="en-US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6C3BA869-D015-42B2-9825-661D1347762F}"/>
              </a:ext>
            </a:extLst>
          </p:cNvPr>
          <p:cNvSpPr txBox="1">
            <a:spLocks/>
          </p:cNvSpPr>
          <p:nvPr/>
        </p:nvSpPr>
        <p:spPr>
          <a:xfrm>
            <a:off x="678610" y="1486111"/>
            <a:ext cx="20244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表达式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语句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8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表达式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语句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8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语句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3;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895057EE-DBCA-4631-993C-B96C69CD4017}"/>
              </a:ext>
            </a:extLst>
          </p:cNvPr>
          <p:cNvSpPr txBox="1">
            <a:spLocks/>
          </p:cNvSpPr>
          <p:nvPr/>
        </p:nvSpPr>
        <p:spPr>
          <a:xfrm>
            <a:off x="3231124" y="1486111"/>
            <a:ext cx="20244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表达式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语句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语句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  <a:r>
              <a:rPr lang="en-US" altLang="zh-CN" sz="18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8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表达式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语句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8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语句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语句</a:t>
            </a: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AC2677-94D5-4E16-B18E-013534F0E14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语法说明</a:t>
            </a:r>
          </a:p>
        </p:txBody>
      </p:sp>
    </p:spTree>
    <p:extLst>
      <p:ext uri="{BB962C8B-B14F-4D97-AF65-F5344CB8AC3E}">
        <p14:creationId xmlns:p14="http://schemas.microsoft.com/office/powerpoint/2010/main" val="163879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1269159" y="1255292"/>
            <a:ext cx="4579192" cy="2316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&gt;&gt;a;</a:t>
            </a:r>
            <a:endParaRPr lang="en-US" altLang="zh-CN" sz="1400" b="1" dirty="0">
              <a:solidFill>
                <a:srgbClr val="006699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(a%3==0)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(a%5==0)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是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的倍数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是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的倍数但不是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的倍数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4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DDCD9B-6717-4189-9FDE-594D47BEA958}"/>
              </a:ext>
            </a:extLst>
          </p:cNvPr>
          <p:cNvSpPr txBox="1"/>
          <p:nvPr/>
        </p:nvSpPr>
        <p:spPr>
          <a:xfrm>
            <a:off x="1269158" y="3796974"/>
            <a:ext cx="4579192" cy="2639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&gt;&gt;a;</a:t>
            </a:r>
            <a:endParaRPr lang="en-US" altLang="zh-CN" sz="1400" b="1" dirty="0">
              <a:solidFill>
                <a:srgbClr val="006699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(a%3==0){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(a%5==0)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是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的倍数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不是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的倍数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4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762FCF-F59C-4AB0-9879-D1231D07CDE5}"/>
              </a:ext>
            </a:extLst>
          </p:cNvPr>
          <p:cNvSpPr txBox="1"/>
          <p:nvPr/>
        </p:nvSpPr>
        <p:spPr>
          <a:xfrm>
            <a:off x="6096000" y="1486111"/>
            <a:ext cx="5586248" cy="3793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嵌套条件语句的结构：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</a:t>
            </a:r>
            <a:r>
              <a:rPr lang="zh-C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的分支中还有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</a:t>
            </a:r>
            <a:endParaRPr lang="zh-CN" altLang="zh-CN" b="1" dirty="0">
              <a:solidFill>
                <a:srgbClr val="006699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被嵌套的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</a:t>
            </a:r>
            <a:r>
              <a:rPr lang="zh-C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的语法要求完全相同</a:t>
            </a: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允许嵌套的层数无限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总是与最近的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匹配</a:t>
            </a:r>
            <a:endParaRPr lang="zh-CN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要想改变配对关系，可以加花括号</a:t>
            </a:r>
            <a:endParaRPr lang="en-US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花括号括起来的部分是一个整体，花括号里的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</a:t>
            </a: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不能和花括号之外的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</a:t>
            </a: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配对</a:t>
            </a:r>
            <a:endParaRPr lang="en-US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通常为</a:t>
            </a:r>
            <a:r>
              <a:rPr lang="en-US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</a:t>
            </a:r>
            <a:r>
              <a:rPr lang="zh-C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之后的语句加上缩进，让程序更容易看懂</a:t>
            </a:r>
            <a:endParaRPr lang="en-US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1851B3A-9873-4B4B-8A46-97D948ECBC0E}"/>
              </a:ext>
            </a:extLst>
          </p:cNvPr>
          <p:cNvCxnSpPr>
            <a:cxnSpLocks/>
          </p:cNvCxnSpPr>
          <p:nvPr/>
        </p:nvCxnSpPr>
        <p:spPr>
          <a:xfrm flipV="1">
            <a:off x="1416173" y="2494626"/>
            <a:ext cx="310719" cy="2392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8930B09-D9AA-4645-A477-5D8ED15E0B36}"/>
              </a:ext>
            </a:extLst>
          </p:cNvPr>
          <p:cNvSpPr txBox="1"/>
          <p:nvPr/>
        </p:nvSpPr>
        <p:spPr>
          <a:xfrm>
            <a:off x="990045" y="2636666"/>
            <a:ext cx="532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配对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AFEB4E0-ECCE-4DF5-90CB-68BA3EF4838E}"/>
              </a:ext>
            </a:extLst>
          </p:cNvPr>
          <p:cNvCxnSpPr>
            <a:cxnSpLocks/>
          </p:cNvCxnSpPr>
          <p:nvPr/>
        </p:nvCxnSpPr>
        <p:spPr>
          <a:xfrm>
            <a:off x="1416173" y="2820436"/>
            <a:ext cx="310719" cy="2128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046B5816-AE24-46C6-A058-11899CEBCC6C}"/>
              </a:ext>
            </a:extLst>
          </p:cNvPr>
          <p:cNvSpPr/>
          <p:nvPr/>
        </p:nvSpPr>
        <p:spPr>
          <a:xfrm>
            <a:off x="2277307" y="4512261"/>
            <a:ext cx="213064" cy="31959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1A081F-0742-4D60-8B06-16D537E7170E}"/>
              </a:ext>
            </a:extLst>
          </p:cNvPr>
          <p:cNvSpPr/>
          <p:nvPr/>
        </p:nvSpPr>
        <p:spPr>
          <a:xfrm>
            <a:off x="1300763" y="5463653"/>
            <a:ext cx="213064" cy="31959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1F8276-42E0-4056-8167-3EF240728FF0}"/>
              </a:ext>
            </a:extLst>
          </p:cNvPr>
          <p:cNvSpPr txBox="1"/>
          <p:nvPr/>
        </p:nvSpPr>
        <p:spPr>
          <a:xfrm>
            <a:off x="2781988" y="4697804"/>
            <a:ext cx="857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花括号改变了配对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EC39922-D470-47DD-B67E-9BD72A80C38C}"/>
              </a:ext>
            </a:extLst>
          </p:cNvPr>
          <p:cNvCxnSpPr>
            <a:cxnSpLocks/>
          </p:cNvCxnSpPr>
          <p:nvPr/>
        </p:nvCxnSpPr>
        <p:spPr>
          <a:xfrm flipH="1" flipV="1">
            <a:off x="2519363" y="4697804"/>
            <a:ext cx="330993" cy="1340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FAE8413-2E56-41DB-95D8-7589F750CB7B}"/>
              </a:ext>
            </a:extLst>
          </p:cNvPr>
          <p:cNvCxnSpPr>
            <a:cxnSpLocks/>
          </p:cNvCxnSpPr>
          <p:nvPr/>
        </p:nvCxnSpPr>
        <p:spPr>
          <a:xfrm flipH="1">
            <a:off x="1545434" y="5029200"/>
            <a:ext cx="1304922" cy="4782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B4F69CE-1887-4DB8-B5B8-D7FC111A8A30}"/>
              </a:ext>
            </a:extLst>
          </p:cNvPr>
          <p:cNvSpPr txBox="1"/>
          <p:nvPr/>
        </p:nvSpPr>
        <p:spPr>
          <a:xfrm>
            <a:off x="616602" y="5174489"/>
            <a:ext cx="532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配对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3C94F15-5A63-42CD-A738-0BF84B67BDC4}"/>
              </a:ext>
            </a:extLst>
          </p:cNvPr>
          <p:cNvCxnSpPr>
            <a:cxnSpLocks/>
          </p:cNvCxnSpPr>
          <p:nvPr/>
        </p:nvCxnSpPr>
        <p:spPr>
          <a:xfrm flipV="1">
            <a:off x="1026318" y="4748213"/>
            <a:ext cx="335757" cy="5262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A351E072-F6C6-4D9D-9D8B-B74F1793BF22}"/>
              </a:ext>
            </a:extLst>
          </p:cNvPr>
          <p:cNvCxnSpPr>
            <a:cxnSpLocks/>
          </p:cNvCxnSpPr>
          <p:nvPr/>
        </p:nvCxnSpPr>
        <p:spPr>
          <a:xfrm>
            <a:off x="1026318" y="5364956"/>
            <a:ext cx="335757" cy="5572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CE1BD395-7464-4F4E-8FD7-46ED064BCA5B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-if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与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配对</a:t>
            </a:r>
          </a:p>
        </p:txBody>
      </p:sp>
    </p:spTree>
    <p:extLst>
      <p:ext uri="{BB962C8B-B14F-4D97-AF65-F5344CB8AC3E}">
        <p14:creationId xmlns:p14="http://schemas.microsoft.com/office/powerpoint/2010/main" val="254054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5" grpId="0" animBg="1"/>
      <p:bldP spid="16" grpId="0" animBg="1"/>
      <p:bldP spid="1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2956851" y="1671502"/>
            <a:ext cx="2532679" cy="1447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a,b,c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&gt;&gt;a&gt;&gt;b&gt;&gt;c;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(a&gt;b&amp;&amp;a&gt;c)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(b&gt;a&amp;&amp;b&gt;c)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(c&gt;a&amp;&amp;c&gt;b)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&lt;&lt;c;</a:t>
            </a:r>
            <a:endParaRPr lang="zh-CN" altLang="en-US" sz="12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DDCD9B-6717-4189-9FDE-594D47BEA958}"/>
              </a:ext>
            </a:extLst>
          </p:cNvPr>
          <p:cNvSpPr txBox="1"/>
          <p:nvPr/>
        </p:nvSpPr>
        <p:spPr>
          <a:xfrm>
            <a:off x="2956851" y="3595804"/>
            <a:ext cx="2553664" cy="2001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</a:rPr>
              <a:t>改法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</a:rPr>
              <a:t>B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</a:rPr>
              <a:t>每个分支都考虑相等的情况</a:t>
            </a:r>
            <a:endParaRPr lang="en-US" altLang="zh-CN" sz="1200" dirty="0">
              <a:solidFill>
                <a:srgbClr val="0082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a,b,c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&gt;&gt;a&gt;&gt;b&gt;&gt;c;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(a&gt;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b&amp;&amp;a&gt;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c)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(b&gt;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a&amp;&amp;b&gt;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c)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(c&gt;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a&amp;&amp;c&gt;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b)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&lt;&lt;c;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762FCF-F59C-4AB0-9879-D1231D07CDE5}"/>
              </a:ext>
            </a:extLst>
          </p:cNvPr>
          <p:cNvSpPr txBox="1"/>
          <p:nvPr/>
        </p:nvSpPr>
        <p:spPr>
          <a:xfrm>
            <a:off x="5778624" y="1340471"/>
            <a:ext cx="120817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错哪儿了？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DEEA64-85F0-475B-AF82-77BDEEA42804}"/>
              </a:ext>
            </a:extLst>
          </p:cNvPr>
          <p:cNvSpPr txBox="1"/>
          <p:nvPr/>
        </p:nvSpPr>
        <p:spPr>
          <a:xfrm>
            <a:off x="5778165" y="3595805"/>
            <a:ext cx="2553664" cy="2001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</a:rPr>
              <a:t>改法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</a:rPr>
              <a:t>C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</a:rPr>
              <a:t>综合以上两种改法</a:t>
            </a:r>
            <a:endParaRPr lang="en-US" altLang="zh-CN" sz="1200" dirty="0">
              <a:solidFill>
                <a:srgbClr val="0082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a,b,c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&gt;&gt;a&gt;&gt;b&gt;&gt;c;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(a&gt;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b&amp;&amp;a&gt;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c)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(b&gt;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a&amp;&amp;b&gt;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c)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200" b="1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-US" altLang="zh-CN" sz="12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&lt;&lt;c;</a:t>
            </a:r>
            <a:endParaRPr lang="zh-CN" altLang="en-US" sz="1200" dirty="0">
              <a:solidFill>
                <a:srgbClr val="00B05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F009F5-DDDF-4F3E-9C3D-19B0839BB766}"/>
              </a:ext>
            </a:extLst>
          </p:cNvPr>
          <p:cNvSpPr txBox="1"/>
          <p:nvPr/>
        </p:nvSpPr>
        <p:spPr>
          <a:xfrm>
            <a:off x="201528" y="3598036"/>
            <a:ext cx="2553664" cy="2001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</a:rPr>
              <a:t>改法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</a:rPr>
              <a:t>A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</a:rPr>
              <a:t>最后一个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</a:rPr>
              <a:t>else-if</a:t>
            </a:r>
            <a:r>
              <a:rPr lang="zh-CN" altLang="en-US" sz="1200" dirty="0">
                <a:solidFill>
                  <a:srgbClr val="008200"/>
                </a:solidFill>
                <a:latin typeface="Consolas" panose="020B0609020204030204" pitchFamily="49" charset="0"/>
              </a:rPr>
              <a:t>改成</a:t>
            </a:r>
            <a:r>
              <a:rPr lang="en-US" altLang="zh-CN" sz="1200" dirty="0">
                <a:solidFill>
                  <a:srgbClr val="008200"/>
                </a:solidFill>
                <a:latin typeface="Consolas" panose="020B0609020204030204" pitchFamily="49" charset="0"/>
              </a:rPr>
              <a:t>else</a:t>
            </a:r>
            <a:endParaRPr lang="en-US" altLang="zh-CN" sz="1400" dirty="0">
              <a:solidFill>
                <a:srgbClr val="0082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a,b,c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&gt;&gt;a&gt;&gt;b&gt;&gt;c;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(a&gt;b&amp;&amp;a&gt;c)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(b&gt;a&amp;&amp;b&gt;c)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&lt;&lt;c;</a:t>
            </a:r>
            <a:endParaRPr lang="en-US" altLang="zh-CN" sz="14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70A928-30E2-472E-8D40-11005315FF69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输出三个数中最大的那个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8C088F-D247-4961-B039-7EEB00CE0FB2}"/>
              </a:ext>
            </a:extLst>
          </p:cNvPr>
          <p:cNvSpPr/>
          <p:nvPr/>
        </p:nvSpPr>
        <p:spPr>
          <a:xfrm>
            <a:off x="5778624" y="1720640"/>
            <a:ext cx="2185214" cy="5529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三个逻辑分支加起来不是全部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遗漏了两两相等的情况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456BB75-3A2C-47B2-BE7D-83E98A79D323}"/>
              </a:ext>
            </a:extLst>
          </p:cNvPr>
          <p:cNvSpPr/>
          <p:nvPr/>
        </p:nvSpPr>
        <p:spPr>
          <a:xfrm>
            <a:off x="201527" y="5628478"/>
            <a:ext cx="1994457" cy="4623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错误数据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2 2 1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7A7E70-3E12-4BF8-9EAD-4E241F8342EB}"/>
              </a:ext>
            </a:extLst>
          </p:cNvPr>
          <p:cNvSpPr/>
          <p:nvPr/>
        </p:nvSpPr>
        <p:spPr>
          <a:xfrm>
            <a:off x="2956850" y="5628478"/>
            <a:ext cx="646331" cy="4623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dirty="0">
                <a:solidFill>
                  <a:srgbClr val="00CC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正确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21C3C4D-CCF1-4517-8012-B7E5CCFEB566}"/>
              </a:ext>
            </a:extLst>
          </p:cNvPr>
          <p:cNvSpPr/>
          <p:nvPr/>
        </p:nvSpPr>
        <p:spPr>
          <a:xfrm>
            <a:off x="5778164" y="5628478"/>
            <a:ext cx="646331" cy="4623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dirty="0">
                <a:solidFill>
                  <a:srgbClr val="00CC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正确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8AB53D-9661-4594-8F1D-BAD39821A3BB}"/>
              </a:ext>
            </a:extLst>
          </p:cNvPr>
          <p:cNvSpPr txBox="1"/>
          <p:nvPr/>
        </p:nvSpPr>
        <p:spPr>
          <a:xfrm>
            <a:off x="201527" y="2056012"/>
            <a:ext cx="2553665" cy="1167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分别拿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、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、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与另外两个数相比：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just" defTabSz="914400">
              <a:lnSpc>
                <a:spcPct val="150000"/>
              </a:lnSpc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如果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比另外两个数都大，输出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；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just" defTabSz="914400">
              <a:lnSpc>
                <a:spcPct val="150000"/>
              </a:lnSpc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如果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比另外两个数都大，输出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；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just" defTabSz="914400">
              <a:lnSpc>
                <a:spcPct val="150000"/>
              </a:lnSpc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如果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比另外两个数都大，输出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。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FCE9B9-13F1-42E2-9E72-958170BDB44C}"/>
              </a:ext>
            </a:extLst>
          </p:cNvPr>
          <p:cNvSpPr txBox="1"/>
          <p:nvPr/>
        </p:nvSpPr>
        <p:spPr>
          <a:xfrm>
            <a:off x="204637" y="1346811"/>
            <a:ext cx="2532679" cy="663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 algn="just" defTabSz="914400">
              <a:lnSpc>
                <a:spcPct val="90000"/>
              </a:lnSpc>
              <a:spcBef>
                <a:spcPts val="1000"/>
              </a:spcBef>
              <a:defRPr sz="16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zh-CN" altLang="en-US" dirty="0"/>
              <a:t>输入三个整数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</a:p>
          <a:p>
            <a:r>
              <a:rPr lang="zh-CN" altLang="en-US" dirty="0"/>
              <a:t>输出其中最大的那个数字</a:t>
            </a:r>
            <a:endParaRPr lang="en-US" altLang="zh-CN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7F0D443-9DDD-4354-9C92-49DB9D45013F}"/>
              </a:ext>
            </a:extLst>
          </p:cNvPr>
          <p:cNvSpPr txBox="1"/>
          <p:nvPr/>
        </p:nvSpPr>
        <p:spPr>
          <a:xfrm>
            <a:off x="201528" y="5243403"/>
            <a:ext cx="2553664" cy="339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 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&lt;&lt;c;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E593448-E436-42DF-8AEE-B77BD78661D2}"/>
              </a:ext>
            </a:extLst>
          </p:cNvPr>
          <p:cNvSpPr txBox="1"/>
          <p:nvPr/>
        </p:nvSpPr>
        <p:spPr>
          <a:xfrm>
            <a:off x="2956850" y="1347125"/>
            <a:ext cx="937767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 algn="just" defTabSz="914400">
              <a:lnSpc>
                <a:spcPct val="90000"/>
              </a:lnSpc>
              <a:spcBef>
                <a:spcPts val="1000"/>
              </a:spcBef>
              <a:defRPr sz="16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en-US" altLang="zh-CN" dirty="0">
                <a:solidFill>
                  <a:srgbClr val="FF0000"/>
                </a:solidFill>
              </a:rPr>
              <a:t>// </a:t>
            </a:r>
            <a:r>
              <a:rPr lang="zh-CN" altLang="en-US" dirty="0">
                <a:solidFill>
                  <a:srgbClr val="FF0000"/>
                </a:solidFill>
              </a:rPr>
              <a:t>错例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BAA7C6E-E688-455E-ACAC-C99F30E4BBF0}"/>
              </a:ext>
            </a:extLst>
          </p:cNvPr>
          <p:cNvSpPr/>
          <p:nvPr/>
        </p:nvSpPr>
        <p:spPr>
          <a:xfrm>
            <a:off x="4165024" y="1673315"/>
            <a:ext cx="1413490" cy="552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200" kern="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输入：</a:t>
            </a:r>
            <a:r>
              <a:rPr lang="en-US" altLang="zh-CN" sz="1200" kern="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1 2 2</a:t>
            </a:r>
          </a:p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200" kern="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看看会输出什么？</a:t>
            </a:r>
            <a:endParaRPr lang="en-US" altLang="zh-CN" sz="1200" kern="1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558CC1B-65FA-4BCF-B44C-3A2A2E0AC1B8}"/>
              </a:ext>
            </a:extLst>
          </p:cNvPr>
          <p:cNvSpPr txBox="1"/>
          <p:nvPr/>
        </p:nvSpPr>
        <p:spPr>
          <a:xfrm>
            <a:off x="8436797" y="1340471"/>
            <a:ext cx="120817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测试数据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1496203-5057-4652-8D82-F92EB5797D81}"/>
              </a:ext>
            </a:extLst>
          </p:cNvPr>
          <p:cNvSpPr txBox="1"/>
          <p:nvPr/>
        </p:nvSpPr>
        <p:spPr>
          <a:xfrm>
            <a:off x="8436797" y="1666018"/>
            <a:ext cx="2166635" cy="552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数一数，共有几个逻辑分支？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为每个分支准备一份测试数据</a:t>
            </a:r>
            <a:endParaRPr lang="zh-CN" altLang="en-US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9069B6C-DD45-481B-9BBA-E041AAAC0699}"/>
              </a:ext>
            </a:extLst>
          </p:cNvPr>
          <p:cNvSpPr/>
          <p:nvPr/>
        </p:nvSpPr>
        <p:spPr>
          <a:xfrm>
            <a:off x="10609428" y="1648918"/>
            <a:ext cx="7312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（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7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个）</a:t>
            </a:r>
          </a:p>
        </p:txBody>
      </p:sp>
      <p:graphicFrame>
        <p:nvGraphicFramePr>
          <p:cNvPr id="25" name="表格 3">
            <a:extLst>
              <a:ext uri="{FF2B5EF4-FFF2-40B4-BE49-F238E27FC236}">
                <a16:creationId xmlns:a16="http://schemas.microsoft.com/office/drawing/2014/main" id="{8A6C83F9-F3D5-4A02-AEB0-357F61A65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249200"/>
              </p:ext>
            </p:extLst>
          </p:nvPr>
        </p:nvGraphicFramePr>
        <p:xfrm>
          <a:off x="8533488" y="2364969"/>
          <a:ext cx="3238981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253">
                  <a:extLst>
                    <a:ext uri="{9D8B030D-6E8A-4147-A177-3AD203B41FA5}">
                      <a16:colId xmlns:a16="http://schemas.microsoft.com/office/drawing/2014/main" val="1957004744"/>
                    </a:ext>
                  </a:extLst>
                </a:gridCol>
                <a:gridCol w="797477">
                  <a:extLst>
                    <a:ext uri="{9D8B030D-6E8A-4147-A177-3AD203B41FA5}">
                      <a16:colId xmlns:a16="http://schemas.microsoft.com/office/drawing/2014/main" val="2302151582"/>
                    </a:ext>
                  </a:extLst>
                </a:gridCol>
                <a:gridCol w="1832251">
                  <a:extLst>
                    <a:ext uri="{9D8B030D-6E8A-4147-A177-3AD203B41FA5}">
                      <a16:colId xmlns:a16="http://schemas.microsoft.com/office/drawing/2014/main" val="44680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预期输出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目的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352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10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35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99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034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519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324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417881"/>
                  </a:ext>
                </a:extLst>
              </a:tr>
            </a:tbl>
          </a:graphicData>
        </a:graphic>
      </p:graphicFrame>
      <p:graphicFrame>
        <p:nvGraphicFramePr>
          <p:cNvPr id="29" name="表格 3">
            <a:extLst>
              <a:ext uri="{FF2B5EF4-FFF2-40B4-BE49-F238E27FC236}">
                <a16:creationId xmlns:a16="http://schemas.microsoft.com/office/drawing/2014/main" id="{A95AA777-D4C6-437C-BBA7-BA4DC2CF3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901334"/>
              </p:ext>
            </p:extLst>
          </p:nvPr>
        </p:nvGraphicFramePr>
        <p:xfrm>
          <a:off x="8532576" y="2364969"/>
          <a:ext cx="3238981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424">
                  <a:extLst>
                    <a:ext uri="{9D8B030D-6E8A-4147-A177-3AD203B41FA5}">
                      <a16:colId xmlns:a16="http://schemas.microsoft.com/office/drawing/2014/main" val="1957004744"/>
                    </a:ext>
                  </a:extLst>
                </a:gridCol>
                <a:gridCol w="796807">
                  <a:extLst>
                    <a:ext uri="{9D8B030D-6E8A-4147-A177-3AD203B41FA5}">
                      <a16:colId xmlns:a16="http://schemas.microsoft.com/office/drawing/2014/main" val="2302151582"/>
                    </a:ext>
                  </a:extLst>
                </a:gridCol>
                <a:gridCol w="1830750">
                  <a:extLst>
                    <a:ext uri="{9D8B030D-6E8A-4147-A177-3AD203B41FA5}">
                      <a16:colId xmlns:a16="http://schemas.microsoft.com/office/drawing/2014/main" val="44680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预期输出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目的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352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3 2 1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各不相同且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最大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10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2 3 1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各不相同且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最大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35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2 1 3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各不相同且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最大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99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3 3 2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有两个数相同且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最大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034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2 3 3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有两个数相同且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最大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043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3 2 3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有两个数相同且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最大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241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3 3 3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三个数都相同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104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65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/>
      <p:bldP spid="5" grpId="0"/>
      <p:bldP spid="6" grpId="0"/>
      <p:bldP spid="7" grpId="0"/>
      <p:bldP spid="12" grpId="0"/>
      <p:bldP spid="16" grpId="0"/>
      <p:bldP spid="17" grpId="0"/>
      <p:bldP spid="18" grpId="0"/>
      <p:bldP spid="13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678608" y="2681422"/>
            <a:ext cx="2062434" cy="199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a,b,c,maxn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&gt;&gt;a&gt;&gt;b&gt;&gt;c;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maxn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=a;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(b&gt;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maxn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maxn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=b;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(c&gt;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maxn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maxn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=c;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maxn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4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8413A5-F60C-4FEC-9A6B-1402A06E450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输出三个数中最大的那个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3F1AC2-A06B-47C1-B683-3B3DA3BF2FA9}"/>
              </a:ext>
            </a:extLst>
          </p:cNvPr>
          <p:cNvSpPr txBox="1"/>
          <p:nvPr/>
        </p:nvSpPr>
        <p:spPr>
          <a:xfrm>
            <a:off x="2746230" y="2681404"/>
            <a:ext cx="2062434" cy="1673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a,b,c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&gt;&gt;a&gt;&gt;b&gt;&gt;c;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(b&gt;a) a=b;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(c&gt;a) a=c;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&lt;&lt;a;</a:t>
            </a:r>
            <a:endParaRPr lang="zh-CN" altLang="en-US" sz="14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338D40-F832-4471-A1A1-0F359FB6F50C}"/>
              </a:ext>
            </a:extLst>
          </p:cNvPr>
          <p:cNvSpPr txBox="1"/>
          <p:nvPr/>
        </p:nvSpPr>
        <p:spPr>
          <a:xfrm>
            <a:off x="678609" y="1400091"/>
            <a:ext cx="3928615" cy="890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可以通过改变变量的值来求解：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just" defTabSz="914400">
              <a:lnSpc>
                <a:spcPct val="150000"/>
              </a:lnSpc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定义一个变量</a:t>
            </a:r>
            <a:r>
              <a:rPr lang="en-US" altLang="zh-CN" sz="1200" kern="1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maxn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为三个数中最大的那个，然后输出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maxn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。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B894EC-1823-4CF3-8DEA-FEA464447023}"/>
              </a:ext>
            </a:extLst>
          </p:cNvPr>
          <p:cNvSpPr txBox="1"/>
          <p:nvPr/>
        </p:nvSpPr>
        <p:spPr>
          <a:xfrm>
            <a:off x="5842880" y="1400091"/>
            <a:ext cx="120817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优点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D77C2A-788A-4436-B2B4-F98C2C1B3DB4}"/>
              </a:ext>
            </a:extLst>
          </p:cNvPr>
          <p:cNvSpPr/>
          <p:nvPr/>
        </p:nvSpPr>
        <p:spPr>
          <a:xfrm>
            <a:off x="5842879" y="1787634"/>
            <a:ext cx="5369763" cy="552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减少分支嵌套，逻辑简单清晰</a:t>
            </a:r>
          </a:p>
          <a:p>
            <a:pPr marL="228600" lvl="0" indent="-2286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利用题目“不要求区分是哪个变量最大，而只要输出最大的值”的特点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F3F1EB-5FD4-452B-90BE-7DC24CBBA3AD}"/>
              </a:ext>
            </a:extLst>
          </p:cNvPr>
          <p:cNvSpPr txBox="1"/>
          <p:nvPr/>
        </p:nvSpPr>
        <p:spPr>
          <a:xfrm>
            <a:off x="5842879" y="2496669"/>
            <a:ext cx="120817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测试数据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0B40165-3ED8-46A4-B419-A37780BAC9D5}"/>
              </a:ext>
            </a:extLst>
          </p:cNvPr>
          <p:cNvSpPr txBox="1"/>
          <p:nvPr/>
        </p:nvSpPr>
        <p:spPr>
          <a:xfrm>
            <a:off x="5842879" y="2822216"/>
            <a:ext cx="2166635" cy="552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数一数，共有几个逻辑分支？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为每个分支准备一份测试数据</a:t>
            </a:r>
            <a:endParaRPr lang="zh-CN" altLang="en-US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57B736-0408-4EA1-87E3-8201179FCF05}"/>
              </a:ext>
            </a:extLst>
          </p:cNvPr>
          <p:cNvSpPr/>
          <p:nvPr/>
        </p:nvSpPr>
        <p:spPr>
          <a:xfrm>
            <a:off x="8015510" y="2805116"/>
            <a:ext cx="7312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（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7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个）</a:t>
            </a:r>
          </a:p>
        </p:txBody>
      </p:sp>
      <p:graphicFrame>
        <p:nvGraphicFramePr>
          <p:cNvPr id="16" name="表格 3">
            <a:extLst>
              <a:ext uri="{FF2B5EF4-FFF2-40B4-BE49-F238E27FC236}">
                <a16:creationId xmlns:a16="http://schemas.microsoft.com/office/drawing/2014/main" id="{646E5EDC-6DF7-4B26-8EE7-6FA656096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163781"/>
              </p:ext>
            </p:extLst>
          </p:nvPr>
        </p:nvGraphicFramePr>
        <p:xfrm>
          <a:off x="5933575" y="3454833"/>
          <a:ext cx="3238981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253">
                  <a:extLst>
                    <a:ext uri="{9D8B030D-6E8A-4147-A177-3AD203B41FA5}">
                      <a16:colId xmlns:a16="http://schemas.microsoft.com/office/drawing/2014/main" val="1957004744"/>
                    </a:ext>
                  </a:extLst>
                </a:gridCol>
                <a:gridCol w="797477">
                  <a:extLst>
                    <a:ext uri="{9D8B030D-6E8A-4147-A177-3AD203B41FA5}">
                      <a16:colId xmlns:a16="http://schemas.microsoft.com/office/drawing/2014/main" val="2302151582"/>
                    </a:ext>
                  </a:extLst>
                </a:gridCol>
                <a:gridCol w="1832251">
                  <a:extLst>
                    <a:ext uri="{9D8B030D-6E8A-4147-A177-3AD203B41FA5}">
                      <a16:colId xmlns:a16="http://schemas.microsoft.com/office/drawing/2014/main" val="44680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预期输出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目的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352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10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35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99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034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519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324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417881"/>
                  </a:ext>
                </a:extLst>
              </a:tr>
            </a:tbl>
          </a:graphicData>
        </a:graphic>
      </p:graphicFrame>
      <p:graphicFrame>
        <p:nvGraphicFramePr>
          <p:cNvPr id="17" name="表格 3">
            <a:extLst>
              <a:ext uri="{FF2B5EF4-FFF2-40B4-BE49-F238E27FC236}">
                <a16:creationId xmlns:a16="http://schemas.microsoft.com/office/drawing/2014/main" id="{BB5AF028-C5E5-4D10-A4C2-18007EA17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549926"/>
              </p:ext>
            </p:extLst>
          </p:nvPr>
        </p:nvGraphicFramePr>
        <p:xfrm>
          <a:off x="5932663" y="3454833"/>
          <a:ext cx="3238981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424">
                  <a:extLst>
                    <a:ext uri="{9D8B030D-6E8A-4147-A177-3AD203B41FA5}">
                      <a16:colId xmlns:a16="http://schemas.microsoft.com/office/drawing/2014/main" val="1957004744"/>
                    </a:ext>
                  </a:extLst>
                </a:gridCol>
                <a:gridCol w="796807">
                  <a:extLst>
                    <a:ext uri="{9D8B030D-6E8A-4147-A177-3AD203B41FA5}">
                      <a16:colId xmlns:a16="http://schemas.microsoft.com/office/drawing/2014/main" val="2302151582"/>
                    </a:ext>
                  </a:extLst>
                </a:gridCol>
                <a:gridCol w="1830750">
                  <a:extLst>
                    <a:ext uri="{9D8B030D-6E8A-4147-A177-3AD203B41FA5}">
                      <a16:colId xmlns:a16="http://schemas.microsoft.com/office/drawing/2014/main" val="44680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预期输出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目的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352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3 2 1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各不相同且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最大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10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2 3 1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各不相同且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最大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35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2 1 3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各不相同且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最大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99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3 3 2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有两个数相同且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最大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034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2 3 3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有两个数相同且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最大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043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3 2 3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有两个数相同且</a:t>
                      </a:r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最大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241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3 3 3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三个数都相同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104176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3EA71A14-633A-4D93-9054-FD976C1583F5}"/>
              </a:ext>
            </a:extLst>
          </p:cNvPr>
          <p:cNvSpPr txBox="1"/>
          <p:nvPr/>
        </p:nvSpPr>
        <p:spPr>
          <a:xfrm>
            <a:off x="678609" y="2290784"/>
            <a:ext cx="3928615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也可以将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变为三个数中最大的那个，然后输出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。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75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7256195" y="1472667"/>
            <a:ext cx="393693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defTabSz="914400"/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&gt;&gt;a&gt;&gt;b&gt;&gt;c;</a:t>
            </a:r>
          </a:p>
          <a:p>
            <a:pPr defTabSz="914400"/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(a&gt;b)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(b&gt;c)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&lt;&lt;b&lt;&lt;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&lt;&lt;c;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(a&gt;c)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&lt;&lt;c&lt;&lt;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&lt;&lt;b;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/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&lt;&lt;c&lt;&lt;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&lt;&lt;b;</a:t>
            </a:r>
          </a:p>
          <a:p>
            <a:pPr defTabSz="914400"/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(b&gt;c)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(a&gt;c)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&lt;&lt;b&lt;&lt;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&lt;&lt;c;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/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&lt;&lt;b&lt;&lt;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&lt;&lt;c&lt;&lt;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&lt;&lt;a;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/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&lt;&lt;c&lt;&lt;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&lt;&lt;b&lt;&lt;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&lt;&lt;a;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AEBD838-4BEE-4DB9-AD80-97C80FAD6C14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三个数从大到小输出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83F9DB-42A3-46ED-A4A8-B6DA41976A4C}"/>
              </a:ext>
            </a:extLst>
          </p:cNvPr>
          <p:cNvSpPr/>
          <p:nvPr/>
        </p:nvSpPr>
        <p:spPr>
          <a:xfrm>
            <a:off x="2634853" y="5756917"/>
            <a:ext cx="9049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个）</a:t>
            </a:r>
            <a:endParaRPr lang="zh-CN" altLang="en-US" sz="12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D69A63-152F-4019-8DB6-3E2A85231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18" y="2146012"/>
            <a:ext cx="6437614" cy="302622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34C3890-FBC9-4DC7-9887-F3F9BAD30EDE}"/>
              </a:ext>
            </a:extLst>
          </p:cNvPr>
          <p:cNvSpPr txBox="1"/>
          <p:nvPr/>
        </p:nvSpPr>
        <p:spPr>
          <a:xfrm>
            <a:off x="378278" y="1681763"/>
            <a:ext cx="5494735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将三个数分别两两比较，按照比较结果从大到小依次输出。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3DBBC80-632A-489C-9B6B-F8E72843C64D}"/>
              </a:ext>
            </a:extLst>
          </p:cNvPr>
          <p:cNvSpPr txBox="1"/>
          <p:nvPr/>
        </p:nvSpPr>
        <p:spPr>
          <a:xfrm>
            <a:off x="378278" y="1263572"/>
            <a:ext cx="549473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输入三个整数</a:t>
            </a:r>
            <a:r>
              <a:rPr lang="en-US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</a:t>
            </a:r>
            <a:r>
              <a:rPr lang="zh-C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、</a:t>
            </a:r>
            <a:r>
              <a:rPr lang="en-US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</a:t>
            </a:r>
            <a:r>
              <a:rPr lang="zh-C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、</a:t>
            </a:r>
            <a:r>
              <a:rPr lang="en-US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</a:t>
            </a:r>
            <a:r>
              <a:rPr lang="zh-C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，从大到小依次输出这三个数字。</a:t>
            </a:r>
            <a:endParaRPr lang="en-US" altLang="zh-CN" sz="16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F56781-CD53-4EE3-A6B7-7D7ACC305B49}"/>
              </a:ext>
            </a:extLst>
          </p:cNvPr>
          <p:cNvSpPr txBox="1"/>
          <p:nvPr/>
        </p:nvSpPr>
        <p:spPr>
          <a:xfrm>
            <a:off x="468218" y="5442985"/>
            <a:ext cx="120817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测试数据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27C311-56E2-4FFD-93B2-25B965D618F3}"/>
              </a:ext>
            </a:extLst>
          </p:cNvPr>
          <p:cNvSpPr txBox="1"/>
          <p:nvPr/>
        </p:nvSpPr>
        <p:spPr>
          <a:xfrm>
            <a:off x="468218" y="5768532"/>
            <a:ext cx="2166635" cy="552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数一数，共有几个逻辑分支？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为每个分支准备一份测试数据</a:t>
            </a:r>
            <a:endParaRPr lang="zh-CN" altLang="en-US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293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/>
      <p:bldP spid="7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678609" y="2283838"/>
            <a:ext cx="267684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a,b,c,temp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defTabSz="914400"/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&gt;&gt;a&gt;&gt;b&gt;&gt;c;</a:t>
            </a:r>
          </a:p>
          <a:p>
            <a:pPr defTabSz="914400"/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(a&lt;b){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temp=a;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a=b;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b=temp;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defTabSz="914400"/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(a&lt;c){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temp=a;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a=c;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c=temp;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defTabSz="914400"/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(b&lt;c){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temp=b;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b=c;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c=temp;</a:t>
            </a:r>
          </a:p>
          <a:p>
            <a:pPr defTabSz="914400"/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defTabSz="914400"/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&lt;&lt;b&lt;&lt;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&lt;&lt;c;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577FD6-BC9E-4D01-8F9A-A65A15262712}"/>
              </a:ext>
            </a:extLst>
          </p:cNvPr>
          <p:cNvSpPr txBox="1"/>
          <p:nvPr/>
        </p:nvSpPr>
        <p:spPr>
          <a:xfrm>
            <a:off x="3689482" y="2283838"/>
            <a:ext cx="2676841" cy="2966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&gt;&gt;a&gt;&gt;b&gt;&gt;c;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(a&lt;b)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swap(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(a&lt;c)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swap(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a,c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(b&lt;c)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swap(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b,c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&lt;&lt;b&lt;&lt;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&lt;&lt;c;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102DA5-8D97-40E3-9E1C-F49BABC8FF0B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三个数从大到小输出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111927-CC87-40B7-AD2C-3E7B22D5EB47}"/>
              </a:ext>
            </a:extLst>
          </p:cNvPr>
          <p:cNvSpPr txBox="1"/>
          <p:nvPr/>
        </p:nvSpPr>
        <p:spPr>
          <a:xfrm>
            <a:off x="678609" y="1400091"/>
            <a:ext cx="6021747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可以通过改变变量的值来求解：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just" defTabSz="914400">
              <a:lnSpc>
                <a:spcPct val="150000"/>
              </a:lnSpc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将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变为三个数中最大的那个，将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变为三个数中最小的那个，然后依次输出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、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、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。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C3F236-DCF8-4A6A-8997-9F8002CA4EDC}"/>
              </a:ext>
            </a:extLst>
          </p:cNvPr>
          <p:cNvSpPr txBox="1"/>
          <p:nvPr/>
        </p:nvSpPr>
        <p:spPr>
          <a:xfrm>
            <a:off x="7034388" y="1409095"/>
            <a:ext cx="120817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优点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F6D115-E7D3-4797-A3D8-E324BCD39EC3}"/>
              </a:ext>
            </a:extLst>
          </p:cNvPr>
          <p:cNvSpPr/>
          <p:nvPr/>
        </p:nvSpPr>
        <p:spPr>
          <a:xfrm>
            <a:off x="7034388" y="1799733"/>
            <a:ext cx="3924673" cy="552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减少分支嵌套，逻辑简单清晰</a:t>
            </a:r>
          </a:p>
          <a:p>
            <a:pPr marL="228600" lvl="0" indent="-2286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明确最终变量值大小顺序，利用变量可赋值的原理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15F193F-F727-4686-AC5B-64D055579D9A}"/>
              </a:ext>
            </a:extLst>
          </p:cNvPr>
          <p:cNvSpPr txBox="1"/>
          <p:nvPr/>
        </p:nvSpPr>
        <p:spPr>
          <a:xfrm>
            <a:off x="7034388" y="2508768"/>
            <a:ext cx="120817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测试数据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D58A82-CD15-4E46-A82D-D8955A9ED390}"/>
              </a:ext>
            </a:extLst>
          </p:cNvPr>
          <p:cNvSpPr txBox="1"/>
          <p:nvPr/>
        </p:nvSpPr>
        <p:spPr>
          <a:xfrm>
            <a:off x="7034388" y="2834315"/>
            <a:ext cx="2166635" cy="552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数一数，共有几个逻辑分支？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为每个分支准备一份测试数据</a:t>
            </a:r>
            <a:endParaRPr lang="zh-CN" altLang="en-US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5ED684-1E22-4B02-BBDB-BDC405B5509F}"/>
              </a:ext>
            </a:extLst>
          </p:cNvPr>
          <p:cNvSpPr/>
          <p:nvPr/>
        </p:nvSpPr>
        <p:spPr>
          <a:xfrm>
            <a:off x="9207019" y="2817215"/>
            <a:ext cx="7312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（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6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个）</a:t>
            </a:r>
          </a:p>
        </p:txBody>
      </p:sp>
    </p:spTree>
    <p:extLst>
      <p:ext uri="{BB962C8B-B14F-4D97-AF65-F5344CB8AC3E}">
        <p14:creationId xmlns:p14="http://schemas.microsoft.com/office/powerpoint/2010/main" val="150035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/>
      <p:bldP spid="10" grpId="0"/>
      <p:bldP spid="11" grpId="0"/>
      <p:bldP spid="12" grpId="0"/>
      <p:bldP spid="13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5FDDAFC8-0CAA-452E-A2F2-19BB8BC3142F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所有分支合并起来不是全部</a:t>
            </a:r>
            <a:endParaRPr lang="zh-CN" altLang="en-US" sz="4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2412CC9-1235-477A-B7A8-539082DC456A}"/>
              </a:ext>
            </a:extLst>
          </p:cNvPr>
          <p:cNvSpPr txBox="1"/>
          <p:nvPr/>
        </p:nvSpPr>
        <p:spPr>
          <a:xfrm>
            <a:off x="3743325" y="1409844"/>
            <a:ext cx="3593638" cy="2963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嵌套的</a:t>
            </a: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if-else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里有独立的</a:t>
            </a: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if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，缺</a:t>
            </a: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else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a;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&gt;&gt;a;</a:t>
            </a:r>
            <a:endParaRPr lang="en-US" altLang="zh-CN" sz="1400" b="1" dirty="0">
              <a:solidFill>
                <a:srgbClr val="006699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(a%3==0){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(a%5==0)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是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的倍数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不是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的倍数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4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E8D196-394C-4D79-A50A-B72AEC3F8856}"/>
              </a:ext>
            </a:extLst>
          </p:cNvPr>
          <p:cNvSpPr txBox="1"/>
          <p:nvPr/>
        </p:nvSpPr>
        <p:spPr>
          <a:xfrm>
            <a:off x="361951" y="1432300"/>
            <a:ext cx="3057526" cy="2966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一组</a:t>
            </a: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if-else-if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缺最后的</a:t>
            </a: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else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a,b,c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&gt;&gt;a&gt;&gt;b&gt;&gt;c;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(a&gt;b&amp;&amp;a&gt;c)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(b&gt;a&amp;&amp;b&gt;c)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&lt;&lt;b;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(c&gt;a&amp;&amp;c&gt;b)</a:t>
            </a:r>
          </a:p>
          <a:p>
            <a:pPr defTabSz="914400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&lt;&lt;c;</a:t>
            </a:r>
            <a:endParaRPr lang="zh-CN" altLang="en-US" sz="14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08E6170-B73C-4058-AD1D-04A12A9F3292}"/>
              </a:ext>
            </a:extLst>
          </p:cNvPr>
          <p:cNvSpPr txBox="1"/>
          <p:nvPr/>
        </p:nvSpPr>
        <p:spPr>
          <a:xfrm>
            <a:off x="7898936" y="1432300"/>
            <a:ext cx="3593638" cy="2965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多个独立的</a:t>
            </a: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if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无</a:t>
            </a: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else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a;</a:t>
            </a:r>
            <a:endParaRPr lang="zh-CN" altLang="zh-CN" sz="11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cin&gt;&gt;a;</a:t>
            </a:r>
            <a:endParaRPr lang="zh-CN" altLang="zh-CN" sz="11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(a%4==0&amp;&amp;a%400==0)</a:t>
            </a:r>
            <a:endParaRPr lang="zh-CN" altLang="zh-CN" sz="11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&lt;&lt;endl;</a:t>
            </a:r>
            <a:endParaRPr lang="zh-CN" altLang="zh-CN" sz="11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(a%4!=0)</a:t>
            </a:r>
            <a:endParaRPr lang="zh-CN" altLang="zh-CN" sz="11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&lt;&lt;endl; </a:t>
            </a:r>
            <a:endParaRPr lang="zh-CN" altLang="zh-CN" sz="11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(a%100==0&amp;&amp;a%400!=0) </a:t>
            </a:r>
            <a:endParaRPr lang="zh-CN" altLang="zh-CN" sz="11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&lt;&lt;endl;</a:t>
            </a:r>
            <a:endParaRPr lang="zh-CN" altLang="zh-CN" sz="3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62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A3075C6-7BC9-49DE-A8E0-FDD37C9A0550}"/>
              </a:ext>
            </a:extLst>
          </p:cNvPr>
          <p:cNvSpPr/>
          <p:nvPr/>
        </p:nvSpPr>
        <p:spPr>
          <a:xfrm>
            <a:off x="7718247" y="1263572"/>
            <a:ext cx="298477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cin&gt;&gt;a;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(a%3==0&amp;&amp;a%5==0&amp;&amp;a%7==0){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"3 5 7"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(a%3==0&amp;&amp;a%5==0)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"3 5"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(a%3==0&amp;&amp;a%7==0)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"3 7"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(a%5==0&amp;&amp;a%7==0)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"5 7"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(a%3==0)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"3"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(a%5==0)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"5"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(a%7==0)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"7"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en-US" altLang="zh-CN" sz="1400" b="1" dirty="0">
              <a:solidFill>
                <a:srgbClr val="006699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A11799-BFA4-476E-AB01-02830AA10BB4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常见错误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1D5103-D675-45F4-BBD9-D7FB55BCCA61}"/>
              </a:ext>
            </a:extLst>
          </p:cNvPr>
          <p:cNvSpPr/>
          <p:nvPr/>
        </p:nvSpPr>
        <p:spPr>
          <a:xfrm>
            <a:off x="6593666" y="3194536"/>
            <a:ext cx="98379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将最后的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else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误以为之前所有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共同的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else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8647E60D-832A-4E1F-A64F-A799985CAC51}"/>
              </a:ext>
            </a:extLst>
          </p:cNvPr>
          <p:cNvSpPr/>
          <p:nvPr/>
        </p:nvSpPr>
        <p:spPr>
          <a:xfrm>
            <a:off x="7559707" y="3697668"/>
            <a:ext cx="504826" cy="1388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左大括号 5">
            <a:extLst>
              <a:ext uri="{FF2B5EF4-FFF2-40B4-BE49-F238E27FC236}">
                <a16:creationId xmlns:a16="http://schemas.microsoft.com/office/drawing/2014/main" id="{EE134216-D1CB-4401-B428-F37D7CA751CB}"/>
              </a:ext>
            </a:extLst>
          </p:cNvPr>
          <p:cNvSpPr/>
          <p:nvPr/>
        </p:nvSpPr>
        <p:spPr>
          <a:xfrm>
            <a:off x="7937158" y="2451558"/>
            <a:ext cx="260546" cy="11185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4AAA6B9C-90B0-462D-8F43-BAD223B1961C}"/>
              </a:ext>
            </a:extLst>
          </p:cNvPr>
          <p:cNvSpPr/>
          <p:nvPr/>
        </p:nvSpPr>
        <p:spPr>
          <a:xfrm rot="18268760">
            <a:off x="7458240" y="3277925"/>
            <a:ext cx="535695" cy="1442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968ECC-5985-44C2-B349-38A324CE82D2}"/>
              </a:ext>
            </a:extLst>
          </p:cNvPr>
          <p:cNvSpPr/>
          <p:nvPr/>
        </p:nvSpPr>
        <p:spPr>
          <a:xfrm>
            <a:off x="6990184" y="4682010"/>
            <a:ext cx="98379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将最后的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else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误以为之前所有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共同的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else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110C3E90-227C-488E-8284-66C1F719BA61}"/>
              </a:ext>
            </a:extLst>
          </p:cNvPr>
          <p:cNvSpPr/>
          <p:nvPr/>
        </p:nvSpPr>
        <p:spPr>
          <a:xfrm>
            <a:off x="7956225" y="5185142"/>
            <a:ext cx="504826" cy="1388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3E6A6A76-9748-4685-80D1-1E9AEAFF269C}"/>
              </a:ext>
            </a:extLst>
          </p:cNvPr>
          <p:cNvSpPr/>
          <p:nvPr/>
        </p:nvSpPr>
        <p:spPr>
          <a:xfrm>
            <a:off x="8333676" y="3939032"/>
            <a:ext cx="260546" cy="11185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C74729A3-CBF8-4799-B10A-7F066CB5BF8F}"/>
              </a:ext>
            </a:extLst>
          </p:cNvPr>
          <p:cNvSpPr/>
          <p:nvPr/>
        </p:nvSpPr>
        <p:spPr>
          <a:xfrm rot="18268760">
            <a:off x="7854758" y="4765399"/>
            <a:ext cx="535695" cy="1442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567AC1-0B2C-451E-90C5-D2A4C3CE8193}"/>
              </a:ext>
            </a:extLst>
          </p:cNvPr>
          <p:cNvSpPr txBox="1"/>
          <p:nvPr/>
        </p:nvSpPr>
        <p:spPr>
          <a:xfrm>
            <a:off x="378277" y="4335528"/>
            <a:ext cx="5494735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按照能不能被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3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整除、能不能被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5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整除、能不能被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7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整除进行组合，一共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8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种情况，分别输出不同内容。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51BB390-677A-4E17-A572-CF9C11838757}"/>
              </a:ext>
            </a:extLst>
          </p:cNvPr>
          <p:cNvSpPr txBox="1"/>
          <p:nvPr/>
        </p:nvSpPr>
        <p:spPr>
          <a:xfrm>
            <a:off x="378278" y="1263572"/>
            <a:ext cx="5717722" cy="2634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zh-C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给定一个整数，判断它能否被</a:t>
            </a:r>
            <a:r>
              <a:rPr lang="en-US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3</a:t>
            </a:r>
            <a:r>
              <a:rPr lang="zh-C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，</a:t>
            </a:r>
            <a:r>
              <a:rPr lang="en-US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5</a:t>
            </a:r>
            <a:r>
              <a:rPr lang="zh-C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，</a:t>
            </a:r>
            <a:r>
              <a:rPr lang="en-US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7</a:t>
            </a:r>
            <a:r>
              <a:rPr lang="zh-C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整除，输出以下信息：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1</a:t>
            </a:r>
            <a:r>
              <a:rPr lang="zh-C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、能同时被</a:t>
            </a:r>
            <a:r>
              <a:rPr lang="en-US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3</a:t>
            </a:r>
            <a:r>
              <a:rPr lang="zh-C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，</a:t>
            </a:r>
            <a:r>
              <a:rPr lang="en-US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5</a:t>
            </a:r>
            <a:r>
              <a:rPr lang="zh-C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，</a:t>
            </a:r>
            <a:r>
              <a:rPr lang="en-US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7</a:t>
            </a:r>
            <a:r>
              <a:rPr lang="zh-C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整除（直接输出</a:t>
            </a:r>
            <a:r>
              <a:rPr lang="en-US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3 5 7</a:t>
            </a:r>
            <a:r>
              <a:rPr lang="zh-C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，每个数中间一个空格）；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2</a:t>
            </a:r>
            <a:r>
              <a:rPr lang="zh-C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、只能被其中两个数整除（输出两个数，小的在前，大的在后。例如：</a:t>
            </a:r>
            <a:r>
              <a:rPr lang="en-US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3 5</a:t>
            </a:r>
            <a:r>
              <a:rPr lang="zh-C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或者 </a:t>
            </a:r>
            <a:r>
              <a:rPr lang="en-US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3 7</a:t>
            </a:r>
            <a:r>
              <a:rPr lang="zh-C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或者</a:t>
            </a:r>
            <a:r>
              <a:rPr lang="en-US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5 7</a:t>
            </a:r>
            <a:r>
              <a:rPr lang="zh-C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，中间用空格分隔）；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3</a:t>
            </a:r>
            <a:r>
              <a:rPr lang="zh-C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、只能被其中一个数整除（输出这个除数）；</a:t>
            </a:r>
          </a:p>
          <a:p>
            <a:pPr algn="just" defTabSz="914400">
              <a:lnSpc>
                <a:spcPct val="150000"/>
              </a:lnSpc>
            </a:pPr>
            <a:r>
              <a:rPr lang="en-US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4</a:t>
            </a:r>
            <a:r>
              <a:rPr lang="zh-C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、不能被任何数整除，输出小写字符</a:t>
            </a:r>
            <a:r>
              <a:rPr lang="en-US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</a:t>
            </a:r>
            <a:r>
              <a:rPr lang="zh-C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。</a:t>
            </a:r>
            <a:endParaRPr lang="en-US" altLang="zh-CN" sz="16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38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4" grpId="0" animBg="1"/>
      <p:bldP spid="6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8A11799-BFA4-476E-AB01-02830AA10BB4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常见错误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D95A97-2CB2-42E6-9529-4AE7D629CC69}"/>
              </a:ext>
            </a:extLst>
          </p:cNvPr>
          <p:cNvSpPr/>
          <p:nvPr/>
        </p:nvSpPr>
        <p:spPr>
          <a:xfrm>
            <a:off x="5579708" y="1722105"/>
            <a:ext cx="6029325" cy="2643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x;</a:t>
            </a:r>
            <a:endParaRPr lang="zh-CN" altLang="zh-CN" sz="14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cin&gt;&gt;x;</a:t>
            </a:r>
            <a:endParaRPr lang="zh-CN" altLang="zh-CN" sz="14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(0&lt;=x&amp;&amp;x&lt;=5)</a:t>
            </a:r>
            <a:endParaRPr lang="zh-CN" altLang="zh-CN" sz="14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</a:t>
            </a:r>
            <a:r>
              <a:rPr lang="en-US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cout&lt;&lt;fixed&lt;&lt;setprecision(3)&lt;&lt;-x+2.5;</a:t>
            </a:r>
            <a:endParaRPr lang="zh-CN" altLang="zh-CN" sz="14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(5&lt;=x&amp;&amp;x&lt;=10)</a:t>
            </a:r>
            <a:endParaRPr lang="zh-CN" altLang="zh-CN" sz="14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cout&lt;&lt;fixed&lt;&lt;setprecision(3)&lt;&lt;2-1.5*(x-3)*(x-3);</a:t>
            </a:r>
            <a:endParaRPr lang="zh-CN" altLang="zh-CN" sz="14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(10&lt;=x&amp;&amp;x&lt;=20)</a:t>
            </a:r>
            <a:endParaRPr lang="zh-CN" altLang="zh-CN" sz="14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cout&lt;&lt;fixed&lt;&lt;setprecision(3)&lt;&lt;x/2-1.5;</a:t>
            </a:r>
            <a:endParaRPr lang="zh-CN" altLang="zh-CN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F318801-2199-49BA-BCB7-D2EEE3DCFEAC}"/>
                  </a:ext>
                </a:extLst>
              </p:cNvPr>
              <p:cNvSpPr txBox="1"/>
              <p:nvPr/>
            </p:nvSpPr>
            <p:spPr>
              <a:xfrm>
                <a:off x="678609" y="1705140"/>
                <a:ext cx="4364082" cy="2822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defTabSz="914400">
                  <a:lnSpc>
                    <a:spcPct val="150000"/>
                  </a:lnSpc>
                </a:pPr>
                <a:r>
                  <a:rPr lang="zh-C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编写程序，计算下列分段函数 </a:t>
                </a:r>
                <a:r>
                  <a:rPr lang="en-US" altLang="zh-CN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y=f(x) </a:t>
                </a:r>
                <a:r>
                  <a:rPr lang="zh-C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的值：</a:t>
                </a:r>
              </a:p>
              <a:p>
                <a:pPr algn="just" defTabSz="914400">
                  <a:lnSpc>
                    <a:spcPct val="150000"/>
                  </a:lnSpc>
                </a:pPr>
                <a:r>
                  <a:rPr lang="zh-C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当 </a:t>
                </a:r>
                <a:r>
                  <a:rPr lang="en-US" altLang="zh-CN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0≤x&lt;5 </a:t>
                </a:r>
                <a:r>
                  <a:rPr lang="zh-C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时，</a:t>
                </a:r>
                <a:r>
                  <a:rPr lang="en-US" altLang="zh-CN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y=-x+2.5</a:t>
                </a:r>
              </a:p>
              <a:p>
                <a:pPr algn="just" defTabSz="914400">
                  <a:lnSpc>
                    <a:spcPct val="150000"/>
                  </a:lnSpc>
                </a:pPr>
                <a:r>
                  <a:rPr lang="zh-C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当 </a:t>
                </a:r>
                <a:r>
                  <a:rPr lang="en-US" altLang="zh-CN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5≤x&lt;10 </a:t>
                </a:r>
                <a:r>
                  <a:rPr lang="zh-C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时，</a:t>
                </a:r>
                <a:r>
                  <a:rPr lang="en-US" altLang="zh-CN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y=2-1.5(x-3)</a:t>
                </a:r>
                <a:r>
                  <a:rPr lang="en-US" altLang="zh-CN" sz="1600" kern="100" baseline="300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2</a:t>
                </a:r>
                <a:endParaRPr lang="en-US" altLang="zh-CN" sz="1600" kern="100" dirty="0">
                  <a:solidFill>
                    <a:prstClr val="black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  <a:p>
                <a:pPr algn="just" defTabSz="914400">
                  <a:lnSpc>
                    <a:spcPct val="150000"/>
                  </a:lnSpc>
                </a:pPr>
                <a:r>
                  <a:rPr lang="zh-C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当 </a:t>
                </a:r>
                <a:r>
                  <a:rPr lang="en-US" altLang="zh-CN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10≤x&lt;20 </a:t>
                </a:r>
                <a:r>
                  <a:rPr lang="zh-C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时，</a:t>
                </a:r>
                <a:r>
                  <a:rPr lang="en-US" altLang="zh-CN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kern="1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rPr>
                        </m:ctrlPr>
                      </m:fPr>
                      <m:num>
                        <m:r>
                          <a:rPr lang="en-US" altLang="zh-CN" sz="1600" b="0" i="1" kern="1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1600" b="0" i="1" kern="1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-1.5</a:t>
                </a:r>
              </a:p>
              <a:p>
                <a:pPr algn="just" defTabSz="914400">
                  <a:lnSpc>
                    <a:spcPct val="150000"/>
                  </a:lnSpc>
                </a:pPr>
                <a:endParaRPr lang="en-US" altLang="zh-CN" sz="1600" kern="100" dirty="0">
                  <a:solidFill>
                    <a:prstClr val="black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  <a:p>
                <a:pPr algn="just" defTabSz="914400">
                  <a:lnSpc>
                    <a:spcPct val="150000"/>
                  </a:lnSpc>
                </a:pPr>
                <a:r>
                  <a:rPr lang="zh-C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输入：</a:t>
                </a:r>
                <a:endParaRPr lang="en-US" altLang="zh-CN" sz="1600" kern="100" dirty="0">
                  <a:solidFill>
                    <a:prstClr val="black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  <a:p>
                <a:pPr algn="just" defTabSz="914400">
                  <a:lnSpc>
                    <a:spcPct val="150000"/>
                  </a:lnSpc>
                </a:pPr>
                <a:r>
                  <a:rPr lang="zh-C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一个浮点数 </a:t>
                </a:r>
                <a:r>
                  <a:rPr lang="en-US" altLang="zh-CN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x</a:t>
                </a:r>
                <a:r>
                  <a:rPr lang="zh-C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，</a:t>
                </a:r>
                <a:r>
                  <a:rPr lang="en-US" altLang="zh-CN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0&lt;=x&lt;20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F318801-2199-49BA-BCB7-D2EEE3DCF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09" y="1705140"/>
                <a:ext cx="4364082" cy="2822889"/>
              </a:xfrm>
              <a:prstGeom prst="rect">
                <a:avLst/>
              </a:prstGeom>
              <a:blipFill>
                <a:blip r:embed="rId2"/>
                <a:stretch>
                  <a:fillRect l="-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D3101E58-8183-474F-B2D0-6BD59E0BEF16}"/>
              </a:ext>
            </a:extLst>
          </p:cNvPr>
          <p:cNvSpPr/>
          <p:nvPr/>
        </p:nvSpPr>
        <p:spPr>
          <a:xfrm>
            <a:off x="3817398" y="3105835"/>
            <a:ext cx="162461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多个互相独立的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if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之间有重合的部分（重合的部分会执行不止一次）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例如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为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5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或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为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10</a:t>
            </a:r>
            <a:endParaRPr lang="zh-CN" altLang="en-US" sz="14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882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678609" y="1486111"/>
            <a:ext cx="7621936" cy="2539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defTabSz="914400">
              <a:lnSpc>
                <a:spcPct val="150000"/>
              </a:lnSpc>
              <a:buFont typeface="+mj-lt"/>
              <a:buAutoNum type="arabicPeriod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程序存在多个执行分支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indent="-342900" algn="just" defTabSz="914400">
              <a:lnSpc>
                <a:spcPct val="150000"/>
              </a:lnSpc>
              <a:buFont typeface="+mj-lt"/>
              <a:buAutoNum type="arabicPeriod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要为每个分支都准备测试数据，确保每个分支都执行过，并且是正确的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indent="-342900" algn="just" defTabSz="914400">
              <a:lnSpc>
                <a:spcPct val="150000"/>
              </a:lnSpc>
              <a:buFont typeface="+mj-lt"/>
              <a:buAutoNum type="arabicPeriod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要特别注意判断条件的边界情况，为边界情况准备测试数据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indent="-342900" algn="just" defTabSz="914400">
              <a:lnSpc>
                <a:spcPct val="150000"/>
              </a:lnSpc>
              <a:buFont typeface="+mj-lt"/>
              <a:buAutoNum type="arabicPeriod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修改了程序后，应当重新测试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indent="-342900" algn="just" defTabSz="914400">
              <a:lnSpc>
                <a:spcPct val="150000"/>
              </a:lnSpc>
              <a:buFont typeface="+mj-lt"/>
              <a:buAutoNum type="arabicPeriod"/>
            </a:pP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不能拿小明的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OJ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来验证程序是否通过，必须在</a:t>
            </a:r>
            <a:r>
              <a:rPr lang="en-US" altLang="zh-CN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DevC</a:t>
            </a: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++</a:t>
            </a:r>
            <a:r>
              <a:rPr lang="zh-C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中验证通过后才提交代码</a:t>
            </a:r>
            <a:endParaRPr lang="zh-CN" altLang="en-US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957E51-7EE1-420B-BA10-63BA05395635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对程序进行验证</a:t>
            </a:r>
          </a:p>
        </p:txBody>
      </p:sp>
    </p:spTree>
    <p:extLst>
      <p:ext uri="{BB962C8B-B14F-4D97-AF65-F5344CB8AC3E}">
        <p14:creationId xmlns:p14="http://schemas.microsoft.com/office/powerpoint/2010/main" val="292588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49360</TotalTime>
  <Words>2738</Words>
  <Application>Microsoft Office PowerPoint</Application>
  <PresentationFormat>宽屏</PresentationFormat>
  <Paragraphs>403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华文楷体</vt:lpstr>
      <vt:lpstr>宋体</vt:lpstr>
      <vt:lpstr>微软雅黑</vt:lpstr>
      <vt:lpstr>Arial</vt:lpstr>
      <vt:lpstr>Cambria Math</vt:lpstr>
      <vt:lpstr>Consolas</vt:lpstr>
      <vt:lpstr>Tw Cen MT</vt:lpstr>
      <vt:lpstr>电路</vt:lpstr>
      <vt:lpstr>NOIP 入门 — 条件分支（二）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青 林</cp:lastModifiedBy>
  <cp:revision>380</cp:revision>
  <dcterms:created xsi:type="dcterms:W3CDTF">2018-08-09T00:16:20Z</dcterms:created>
  <dcterms:modified xsi:type="dcterms:W3CDTF">2023-10-19T14:29:55Z</dcterms:modified>
</cp:coreProperties>
</file>