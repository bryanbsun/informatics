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352" r:id="rId3"/>
    <p:sldId id="356" r:id="rId4"/>
    <p:sldId id="357" r:id="rId5"/>
    <p:sldId id="358" r:id="rId6"/>
    <p:sldId id="347" r:id="rId7"/>
    <p:sldId id="351" r:id="rId8"/>
    <p:sldId id="350" r:id="rId9"/>
    <p:sldId id="360" r:id="rId10"/>
    <p:sldId id="359" r:id="rId11"/>
    <p:sldId id="349" r:id="rId12"/>
    <p:sldId id="353" r:id="rId13"/>
    <p:sldId id="354" r:id="rId14"/>
    <p:sldId id="355" r:id="rId15"/>
    <p:sldId id="26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psh" initials="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6652" autoAdjust="0"/>
  </p:normalViewPr>
  <p:slideViewPr>
    <p:cSldViewPr snapToGrid="0">
      <p:cViewPr varScale="1">
        <p:scale>
          <a:sx n="66" d="100"/>
          <a:sy n="66" d="100"/>
        </p:scale>
        <p:origin x="480" y="4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337FC-64E7-493F-B60E-1317A5B5CE32}" type="datetimeFigureOut">
              <a:rPr lang="zh-CN" altLang="en-US" smtClean="0"/>
              <a:t>2022/10/15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C3B60-DAAB-4FB6-98E9-3CB5B66944D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0F2C92-0232-4362-81DA-2203573C8389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 panose="020B0603020202020204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10/15/2022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/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NOIP </a:t>
            </a:r>
            <a:r>
              <a:rPr lang="zh-CN" altLang="en-US" dirty="0"/>
              <a:t>语言基础（十）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冒泡排序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 txBox="1"/>
          <p:nvPr/>
        </p:nvSpPr>
        <p:spPr>
          <a:xfrm>
            <a:off x="604717" y="1523999"/>
            <a:ext cx="5777609" cy="46313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给定一个数组（至少包含一个元素）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将该数组中的所有元素按照给定的规则（从小到大，或从大到小，或其他约定的规则）重新排列，叫做排序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对数组元素进行排序的算法，对于任意的数组，都能按此算法达到重新排列的目标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常见排序算法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535305" lvl="1" indent="-2667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基于比较与交换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720725" lvl="2" indent="-186055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按照规则，不断的对元素进行比较，按要求进行两两交换，交换若干次之后数组排序完成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720725" lvl="2" indent="-186055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冒泡排序、置换排序、选择排序、插入排序、希尔排序、堆排序、归并排序、快速排序等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535305" lvl="1" indent="-266700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其他思路</a:t>
            </a:r>
            <a:endParaRPr lang="en-US" altLang="zh-CN"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720725" lvl="2" indent="-186055">
              <a:lnSpc>
                <a:spcPct val="150000"/>
              </a:lnSpc>
            </a:pP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桶排序等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排序算法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20" y="1368469"/>
            <a:ext cx="4949323" cy="948952"/>
          </a:xfrm>
          <a:prstGeom prst="rect">
            <a:avLst/>
          </a:prstGeom>
        </p:spPr>
      </p:pic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09" y="1366981"/>
            <a:ext cx="5892800" cy="434027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72866" y="1209969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35259" y="1209969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197652" y="1212637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60045" y="1212637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122438" y="1207731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84831" y="1207731"/>
            <a:ext cx="30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46964" y="1209969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518881" y="1209969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90798" y="1212637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462715" y="1212637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934632" y="1207731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406549" y="1207731"/>
            <a:ext cx="2770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endParaRPr lang="zh-CN" altLang="en-US" sz="16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420" y="2317421"/>
            <a:ext cx="4949323" cy="79552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420" y="3112949"/>
            <a:ext cx="4949323" cy="78984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20" y="3902795"/>
            <a:ext cx="4949323" cy="80121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420" y="4692641"/>
            <a:ext cx="4949323" cy="800292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420" y="5478913"/>
            <a:ext cx="4949323" cy="698929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2093945" y="6298314"/>
            <a:ext cx="30444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第一趟排序完，将最大元素</a:t>
            </a:r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9</a:t>
            </a:r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沉到数组尾部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</a:t>
            </a:r>
          </a:p>
        </p:txBody>
      </p:sp>
      <p:sp>
        <p:nvSpPr>
          <p:cNvPr id="7" name="内容占位符 2"/>
          <p:cNvSpPr txBox="1"/>
          <p:nvPr/>
        </p:nvSpPr>
        <p:spPr>
          <a:xfrm>
            <a:off x="6871281" y="1403929"/>
            <a:ext cx="5163701" cy="20689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lnSpc>
                <a:spcPct val="100000"/>
              </a:lnSpc>
              <a:spcBef>
                <a:spcPts val="50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对包含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个元素的数组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轮：从第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个开始，依次比较相邻的两个，逆序则交换，直至第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个与第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轮：从第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个开始，依次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……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直至第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个与第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None/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……</a:t>
            </a:r>
          </a:p>
          <a:p>
            <a:pPr marL="0" indent="0" defTabSz="457200">
              <a:lnSpc>
                <a:spcPct val="100000"/>
              </a:lnSpc>
              <a:spcBef>
                <a:spcPts val="500"/>
              </a:spcBef>
              <a:buNone/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轮：比较第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个与第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个，即比较第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n-(n-1)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个与第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n-(n-1)+1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个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71281" y="4975354"/>
            <a:ext cx="51637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逆序：不一定是大的靠后，而是事先约定排序规则，违反规则称为逆序，需要进行交换</a:t>
            </a:r>
          </a:p>
        </p:txBody>
      </p:sp>
      <p:sp>
        <p:nvSpPr>
          <p:cNvPr id="4" name="矩形 3"/>
          <p:cNvSpPr/>
          <p:nvPr/>
        </p:nvSpPr>
        <p:spPr>
          <a:xfrm>
            <a:off x="6871280" y="3589326"/>
            <a:ext cx="5163701" cy="12695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每轮的比较次数分别为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n-2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……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</a:t>
            </a:r>
          </a:p>
          <a:p>
            <a:pPr>
              <a:spcBef>
                <a:spcPts val="5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比较次数合计：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n(n-1)/2</a:t>
            </a:r>
          </a:p>
          <a:p>
            <a:pPr>
              <a:spcBef>
                <a:spcPts val="5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交换次数合计：最好情况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0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次、最差情况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n(n-1)/2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次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  <a:p>
            <a:pPr>
              <a:spcBef>
                <a:spcPts val="500"/>
              </a:spcBef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时间复杂度：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O(n</a:t>
            </a:r>
            <a:r>
              <a:rPr lang="en-US" altLang="zh-CN" sz="1600" baseline="30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2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)</a:t>
            </a:r>
            <a:endParaRPr lang="zh-CN" altLang="en-US" sz="16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" y="1314450"/>
            <a:ext cx="68707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678609" y="1342199"/>
            <a:ext cx="3329973" cy="5214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a[100010]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,i,j;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pt-BR" altLang="zh-CN" sz="140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&gt;&gt;n;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for(i=0;i&lt;n;++i)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cin&gt;&gt;a[i];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cout&lt;&lt;a[0];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for(i=1;i&lt;n;++i)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cout&lt;&lt;" "&lt;&lt;a[i]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</a:t>
            </a:r>
          </a:p>
        </p:txBody>
      </p:sp>
      <p:sp>
        <p:nvSpPr>
          <p:cNvPr id="13" name="矩形 12"/>
          <p:cNvSpPr/>
          <p:nvPr/>
        </p:nvSpPr>
        <p:spPr>
          <a:xfrm>
            <a:off x="1181554" y="3169567"/>
            <a:ext cx="6078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4330952" y="1619198"/>
            <a:ext cx="2707158" cy="9207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for(j=0;j&lt;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n-1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;++j)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if(a[j]&lt;a[j+1])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swap(a[j],a[j+1]);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30950" y="1342199"/>
            <a:ext cx="27071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轮比较与交换：比较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</a:t>
            </a:r>
          </a:p>
        </p:txBody>
      </p:sp>
      <p:sp>
        <p:nvSpPr>
          <p:cNvPr id="16" name="内容占位符 2"/>
          <p:cNvSpPr txBox="1"/>
          <p:nvPr/>
        </p:nvSpPr>
        <p:spPr>
          <a:xfrm>
            <a:off x="4330949" y="2816907"/>
            <a:ext cx="2707158" cy="9207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for(j=0;j&lt;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n-2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;++j)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if(a[j]&lt;a[j+1])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swap(a[j],a[j+1]);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330947" y="2539908"/>
            <a:ext cx="27071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轮比较与交换：比较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n-2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</a:t>
            </a:r>
          </a:p>
        </p:txBody>
      </p:sp>
      <p:sp>
        <p:nvSpPr>
          <p:cNvPr id="18" name="矩形 17"/>
          <p:cNvSpPr/>
          <p:nvPr/>
        </p:nvSpPr>
        <p:spPr>
          <a:xfrm>
            <a:off x="5380595" y="3814561"/>
            <a:ext cx="4667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……</a:t>
            </a:r>
            <a:endParaRPr lang="zh-CN" alt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内容占位符 2"/>
          <p:cNvSpPr txBox="1"/>
          <p:nvPr/>
        </p:nvSpPr>
        <p:spPr>
          <a:xfrm>
            <a:off x="4330949" y="4624361"/>
            <a:ext cx="2707158" cy="9207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for(j=0;j&lt;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;++j)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if(a[j]&lt;a[j+1])</a:t>
            </a:r>
          </a:p>
          <a:p>
            <a:pPr marL="0" indent="0">
              <a:buNone/>
            </a:pP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swap(a[j],a[j+1]);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330947" y="4347362"/>
            <a:ext cx="270715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轮比较与交换：比较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678609" y="1961031"/>
            <a:ext cx="3477755" cy="4615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a[100010]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,i,j;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for(i=0;i&lt;n;++i)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cin&gt;&gt;a[i];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pt-BR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i=n-1;i&gt;=1;--i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for(j=0;j&lt;</a:t>
            </a:r>
            <a:r>
              <a:rPr lang="pt-BR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;++j)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if(a[j]&gt;a[j+1])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swap(a[j]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a[j+1]);</a:t>
            </a:r>
          </a:p>
          <a:p>
            <a:pPr marL="0" indent="0">
              <a:buNone/>
            </a:pP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cout&lt;&lt;a[0];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for(i=1;i&lt;n;++i)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cout&lt;&lt;" "&lt;&lt;a[i]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内容占位符 2"/>
          <p:cNvSpPr txBox="1"/>
          <p:nvPr/>
        </p:nvSpPr>
        <p:spPr>
          <a:xfrm>
            <a:off x="6096000" y="1961031"/>
            <a:ext cx="3477755" cy="46152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a[100010]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,n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,i,j;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for(i=0;i&lt;n;++i)</a:t>
            </a:r>
            <a:endParaRPr lang="pt-BR" altLang="zh-CN" sz="14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cin&gt;&gt;a[i];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</a:t>
            </a:r>
            <a:r>
              <a:rPr lang="pt-BR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i=0;i&lt;n;++i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for(j=0;j&lt;</a:t>
            </a:r>
            <a:r>
              <a:rPr lang="pt-BR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n-i-1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;++j)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if(a[j]&gt;a[j+1])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swap(a[j]</a:t>
            </a:r>
            <a:r>
              <a:rPr lang="en-US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a[j+1]);</a:t>
            </a:r>
          </a:p>
          <a:p>
            <a:pPr marL="0" indent="0">
              <a:buNone/>
            </a:pP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cout&lt;&lt;a[0];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for(i=1;i&lt;n;++i)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nn-NO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cout&lt;&lt;" "&lt;&lt;a[i]</a:t>
            </a: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</a:t>
            </a:r>
          </a:p>
        </p:txBody>
      </p:sp>
      <p:sp>
        <p:nvSpPr>
          <p:cNvPr id="7" name="矩形 6"/>
          <p:cNvSpPr/>
          <p:nvPr/>
        </p:nvSpPr>
        <p:spPr>
          <a:xfrm>
            <a:off x="3163503" y="3854905"/>
            <a:ext cx="2438488" cy="2797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为用于比较的前一个元素的下标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72875" y="3345045"/>
            <a:ext cx="15696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表示每一轮比较时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最后一个元素的下标</a:t>
            </a:r>
          </a:p>
        </p:txBody>
      </p:sp>
      <p:sp>
        <p:nvSpPr>
          <p:cNvPr id="11" name="矩形 10"/>
          <p:cNvSpPr/>
          <p:nvPr/>
        </p:nvSpPr>
        <p:spPr>
          <a:xfrm>
            <a:off x="8239020" y="3345045"/>
            <a:ext cx="165462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表示每一轮比较时最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后要忽略的元素个数</a:t>
            </a:r>
          </a:p>
        </p:txBody>
      </p:sp>
      <p:sp>
        <p:nvSpPr>
          <p:cNvPr id="12" name="矩形 11"/>
          <p:cNvSpPr/>
          <p:nvPr/>
        </p:nvSpPr>
        <p:spPr>
          <a:xfrm>
            <a:off x="8907200" y="3843654"/>
            <a:ext cx="29899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为用于比较的前一个元素的下标</a:t>
            </a:r>
            <a:endParaRPr lang="en-US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n-i-1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为该轮比较时最后一个元素的下标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78608" y="1413318"/>
            <a:ext cx="617477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共进行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轮，每轮的比较次数与轮数呈现递减与增长的规律，因此有如下两种写法：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5158244" y="1485167"/>
            <a:ext cx="4382919" cy="5214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n,k,i,j,id[110];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score[110];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cin&gt;&gt;n&gt;&gt;k;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(i=0;i&lt;n;++i)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cin&gt;&gt;id[i]&gt;&gt;score[i];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(i=n-1;i&gt;=1;--i)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(score[j]&lt;score[j+1]){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swap(id[j],id[j+1]);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swap(score[j],score[j+1]);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cout&lt;&lt;id[k-1]&lt;&lt;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&lt;&lt;score[k-1]&lt;&lt;endl;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45600" y="1486111"/>
            <a:ext cx="2267791" cy="105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lvl="0" indent="-18288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id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与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score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中的元素一一对应，相同下标的是同一组数据，</a:t>
            </a:r>
            <a:r>
              <a:rPr lang="zh-CN" altLang="en-US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排序时应一同交换</a:t>
            </a:r>
            <a:endParaRPr lang="en-US" altLang="zh-CN" sz="1200" kern="1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82880" lvl="0" indent="-18288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下标从</a:t>
            </a:r>
            <a:r>
              <a:rPr lang="en-US" altLang="zh-CN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开始，第</a:t>
            </a:r>
            <a:r>
              <a:rPr lang="en-US" altLang="zh-CN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名的下标是</a:t>
            </a:r>
            <a:r>
              <a:rPr lang="en-US" altLang="zh-CN" sz="1200" kern="1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k-1</a:t>
            </a: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谁考了第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75387" y="1678907"/>
            <a:ext cx="3887735" cy="50469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在一次考试中，每个学生的成绩都不相同，现知道了每个学生的学号和成绩，求考第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名学生的学号和成绩。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8609" y="1343236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2163" y="2180716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78610" y="3996861"/>
            <a:ext cx="3881288" cy="504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输出第</a:t>
            </a:r>
            <a:r>
              <a:rPr lang="en-US" altLang="zh-CN" dirty="0">
                <a:latin typeface="Consolas" panose="020B0609020204030204" pitchFamily="49" charset="0"/>
              </a:rPr>
              <a:t>k</a:t>
            </a:r>
            <a:r>
              <a:rPr lang="zh-CN" altLang="en-US" dirty="0">
                <a:latin typeface="Consolas" panose="020B0609020204030204" pitchFamily="49" charset="0"/>
              </a:rPr>
              <a:t>名学生的学号和成绩，中间用空格分隔。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8610" y="3651960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672163" y="2519271"/>
            <a:ext cx="3887735" cy="504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第一行有两个整数，分别是学生的人数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（</a:t>
            </a:r>
            <a:r>
              <a:rPr lang="en-US" altLang="zh-CN" dirty="0">
                <a:latin typeface="Consolas" panose="020B0609020204030204" pitchFamily="49" charset="0"/>
              </a:rPr>
              <a:t>1≤n≤100</a:t>
            </a:r>
            <a:r>
              <a:rPr lang="zh-CN" altLang="en-US" dirty="0">
                <a:latin typeface="Consolas" panose="020B0609020204030204" pitchFamily="49" charset="0"/>
              </a:rPr>
              <a:t>），和求第</a:t>
            </a:r>
            <a:r>
              <a:rPr lang="en-US" altLang="zh-CN" dirty="0">
                <a:latin typeface="Consolas" panose="020B0609020204030204" pitchFamily="49" charset="0"/>
              </a:rPr>
              <a:t>k</a:t>
            </a:r>
            <a:r>
              <a:rPr lang="zh-CN" altLang="en-US" dirty="0">
                <a:latin typeface="Consolas" panose="020B0609020204030204" pitchFamily="49" charset="0"/>
              </a:rPr>
              <a:t>名学生的</a:t>
            </a:r>
            <a:r>
              <a:rPr lang="en-US" altLang="zh-CN" dirty="0">
                <a:latin typeface="Consolas" panose="020B0609020204030204" pitchFamily="49" charset="0"/>
              </a:rPr>
              <a:t>k</a:t>
            </a:r>
            <a:r>
              <a:rPr lang="zh-CN" altLang="en-US" dirty="0">
                <a:latin typeface="Consolas" panose="020B0609020204030204" pitchFamily="49" charset="0"/>
              </a:rPr>
              <a:t>（</a:t>
            </a:r>
            <a:r>
              <a:rPr lang="en-US" altLang="zh-CN" dirty="0">
                <a:latin typeface="Consolas" panose="020B0609020204030204" pitchFamily="49" charset="0"/>
              </a:rPr>
              <a:t>1≤k≤n</a:t>
            </a:r>
            <a:r>
              <a:rPr lang="zh-CN" altLang="en-US" dirty="0">
                <a:latin typeface="Consolas" panose="020B0609020204030204" pitchFamily="49" charset="0"/>
              </a:rPr>
              <a:t>）。</a:t>
            </a:r>
          </a:p>
          <a:p>
            <a:endParaRPr lang="zh-CN" altLang="en-US" dirty="0">
              <a:latin typeface="Consolas" panose="020B0609020204030204" pitchFamily="49" charset="0"/>
            </a:endParaRPr>
          </a:p>
          <a:p>
            <a:r>
              <a:rPr lang="zh-CN" altLang="en-US" dirty="0">
                <a:latin typeface="Consolas" panose="020B0609020204030204" pitchFamily="49" charset="0"/>
              </a:rPr>
              <a:t>其后有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行数据，每行包括一个学号（整数）和一个成绩（浮点数），中间用一个空格分隔。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678609" y="4496152"/>
            <a:ext cx="1990700" cy="15536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5 3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90788001 67.8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90788002 90.3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90788003 61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90788004 68.4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90788005 73.9</a:t>
            </a:r>
            <a:r>
              <a:rPr lang="zh-CN" altLang="zh-CN" sz="105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zh-CN" altLang="zh-CN" sz="2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73986" y="4495552"/>
            <a:ext cx="1362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  <a:cs typeface="Consolas" panose="020B0609020204030204" pitchFamily="49" charset="0"/>
              </a:rPr>
              <a:t>90788004 68.4</a:t>
            </a:r>
            <a:r>
              <a:rPr lang="zh-CN" altLang="zh-CN" sz="105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zh-CN" altLang="zh-CN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奇数单增序列</a:t>
            </a:r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75387" y="1678907"/>
            <a:ext cx="3887735" cy="50469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给定一个长度为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（不大于</a:t>
            </a:r>
            <a:r>
              <a:rPr lang="en-US" altLang="zh-CN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500</a:t>
            </a:r>
            <a:r>
              <a:rPr lang="zh-CN" altLang="en-US" sz="12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）的正整数序列，请将其中的所有奇数取出，并按升序输出。</a:t>
            </a:r>
            <a:endParaRPr lang="en-US" altLang="zh-CN" sz="12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78609" y="1343236"/>
            <a:ext cx="33163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题目要求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72163" y="2180716"/>
            <a:ext cx="331634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内容占位符 2"/>
          <p:cNvSpPr txBox="1"/>
          <p:nvPr/>
        </p:nvSpPr>
        <p:spPr>
          <a:xfrm>
            <a:off x="672163" y="3363097"/>
            <a:ext cx="3881288" cy="504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增序输出的奇数序列，数据之间以逗号间隔。数据保证至少有一个奇数。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72163" y="3018196"/>
            <a:ext cx="33163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内容占位符 2"/>
          <p:cNvSpPr txBox="1"/>
          <p:nvPr/>
        </p:nvSpPr>
        <p:spPr>
          <a:xfrm>
            <a:off x="672163" y="2519271"/>
            <a:ext cx="3887735" cy="5046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共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行：第</a:t>
            </a:r>
            <a:r>
              <a:rPr lang="en-US" altLang="zh-CN" dirty="0">
                <a:latin typeface="Consolas" panose="020B0609020204030204" pitchFamily="49" charset="0"/>
              </a:rPr>
              <a:t>1</a:t>
            </a:r>
            <a:r>
              <a:rPr lang="zh-CN" altLang="en-US" dirty="0">
                <a:latin typeface="Consolas" panose="020B0609020204030204" pitchFamily="49" charset="0"/>
              </a:rPr>
              <a:t>行为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；第</a:t>
            </a:r>
            <a:r>
              <a:rPr lang="en-US" altLang="zh-CN" dirty="0">
                <a:latin typeface="Consolas" panose="020B0609020204030204" pitchFamily="49" charset="0"/>
              </a:rPr>
              <a:t>2</a:t>
            </a:r>
            <a:r>
              <a:rPr lang="zh-CN" altLang="en-US" dirty="0">
                <a:latin typeface="Consolas" panose="020B0609020204030204" pitchFamily="49" charset="0"/>
              </a:rPr>
              <a:t>行为</a:t>
            </a:r>
            <a:r>
              <a:rPr lang="en-US" altLang="zh-CN" dirty="0">
                <a:latin typeface="Consolas" panose="020B0609020204030204" pitchFamily="49" charset="0"/>
              </a:rPr>
              <a:t>N</a:t>
            </a:r>
            <a:r>
              <a:rPr lang="zh-CN" altLang="en-US" dirty="0">
                <a:latin typeface="Consolas" panose="020B0609020204030204" pitchFamily="49" charset="0"/>
              </a:rPr>
              <a:t>个正整数，其间用空格间隔。</a:t>
            </a:r>
            <a:endParaRPr lang="en-US" altLang="zh-CN" dirty="0">
              <a:latin typeface="Consolas" panose="020B0609020204030204" pitchFamily="49" charset="0"/>
            </a:endParaRPr>
          </a:p>
        </p:txBody>
      </p:sp>
      <p:sp>
        <p:nvSpPr>
          <p:cNvPr id="14" name="内容占位符 2"/>
          <p:cNvSpPr txBox="1"/>
          <p:nvPr/>
        </p:nvSpPr>
        <p:spPr>
          <a:xfrm>
            <a:off x="678609" y="4413026"/>
            <a:ext cx="1990700" cy="10575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 defTabSz="914400">
              <a:lnSpc>
                <a:spcPct val="100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defRPr>
            </a:lvl1pPr>
            <a:lvl2pPr marL="685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1143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3pPr>
            <a:lvl4pPr marL="1600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20574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  <a:lvl6pPr marL="25146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6pPr>
            <a:lvl7pPr marL="29718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7pPr>
            <a:lvl8pPr marL="34290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8pPr>
            <a:lvl9pPr marL="3886200" indent="-228600" defTabSz="914400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/>
            </a:lvl9pPr>
          </a:lstStyle>
          <a:p>
            <a:r>
              <a:rPr lang="zh-CN" altLang="en-US" dirty="0">
                <a:latin typeface="Consolas" panose="020B0609020204030204" pitchFamily="49" charset="0"/>
              </a:rPr>
              <a:t>样例输入：</a:t>
            </a:r>
            <a:endParaRPr lang="en-US" altLang="zh-CN" dirty="0"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10</a:t>
            </a:r>
            <a:endParaRPr lang="en-US" altLang="zh-CN" dirty="0">
              <a:solidFill>
                <a:srgbClr val="333333"/>
              </a:solidFill>
              <a:latin typeface="Consolas" panose="020B0609020204030204" pitchFamily="49" charset="0"/>
              <a:ea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SzTx/>
            </a:pPr>
            <a:r>
              <a:rPr lang="zh-CN" altLang="zh-CN" dirty="0">
                <a:solidFill>
                  <a:srgbClr val="333333"/>
                </a:solidFill>
                <a:latin typeface="Consolas" panose="020B0609020204030204" pitchFamily="49" charset="0"/>
                <a:ea typeface="Courier New" panose="02070309020205020404" pitchFamily="49" charset="0"/>
              </a:rPr>
              <a:t>1 3 2 6 5 4 9 8 7 10</a:t>
            </a:r>
            <a:r>
              <a:rPr lang="zh-CN" altLang="zh-CN" sz="105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endParaRPr lang="zh-CN" altLang="zh-CN" sz="28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70524" y="4413026"/>
            <a:ext cx="9541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样例输出：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1,3,5,7,9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58050"/>
            <a:ext cx="65" cy="341099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6348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内容占位符 2"/>
          <p:cNvSpPr txBox="1"/>
          <p:nvPr/>
        </p:nvSpPr>
        <p:spPr>
          <a:xfrm>
            <a:off x="8044733" y="1342199"/>
            <a:ext cx="3616311" cy="5214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n,a[510],i,j;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more;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(i=n-1;i&gt;0;--i)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(a[j]&gt;a[j+1])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swap(a[j],a[j+1]);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(i=0;i&lt;n;++i)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(a[i]%2)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cout&lt;&lt;a[i]&lt;&lt;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4979084" y="1794051"/>
            <a:ext cx="2253674" cy="719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奇数和偶数放在一起排序，小的在前、大的在后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0" indent="-17653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遇到奇数才输出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4979084" y="1342199"/>
            <a:ext cx="181032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思路一</a:t>
            </a:r>
          </a:p>
        </p:txBody>
      </p:sp>
      <p:sp>
        <p:nvSpPr>
          <p:cNvPr id="24" name="矩形 23"/>
          <p:cNvSpPr/>
          <p:nvPr/>
        </p:nvSpPr>
        <p:spPr>
          <a:xfrm>
            <a:off x="4979084" y="2564964"/>
            <a:ext cx="2640016" cy="966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indent="-17653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输出的技巧：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用一个变量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more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来区分第一个数字和其他数字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more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的含义是“是否曾经输出过数字？是则为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true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，否则为</a:t>
            </a:r>
            <a:r>
              <a:rPr lang="en-US" altLang="zh-CN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”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5" name="内容占位符 2"/>
          <p:cNvSpPr txBox="1"/>
          <p:nvPr/>
        </p:nvSpPr>
        <p:spPr>
          <a:xfrm>
            <a:off x="8045168" y="1342199"/>
            <a:ext cx="3616311" cy="521423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n,a[510],i,j;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more;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(i=n-1;i&gt;0;--i)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(a[j]&gt;a[j+1])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swap(a[j],a[j+1]);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(i=0;i&lt;n;++i)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(a[i]%2){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(more)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more=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奇数单增序列</a:t>
            </a:r>
          </a:p>
        </p:txBody>
      </p:sp>
      <p:sp>
        <p:nvSpPr>
          <p:cNvPr id="8" name="内容占位符 2"/>
          <p:cNvSpPr txBox="1"/>
          <p:nvPr/>
        </p:nvSpPr>
        <p:spPr>
          <a:xfrm>
            <a:off x="7554887" y="1316799"/>
            <a:ext cx="4710545" cy="5214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n,a[510],i,j;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more;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cin&gt;&gt;a[i];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(i=n-1;i&gt;0;--i)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(a[j]%2==0&amp;&amp;a[j+1]%2)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(a[j]%2&amp;&amp;a[j+1]%2&amp;&amp;a[j]&gt;a[j+1])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f=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swap(a[j],a[j+1]);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cout&lt;&lt;a[0];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(i=1;i&lt;n;++i)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(a[i]%2)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8392" y="1791125"/>
            <a:ext cx="1699491" cy="1716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输入时只保留奇数。这样奇数的个数不是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了，需要另外定义个变量</a:t>
            </a:r>
            <a:r>
              <a:rPr lang="en-US" altLang="zh-CN" sz="12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cnt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来记录奇数的个数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0" indent="-17653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排序时，只对奇数排序就行，所以双重循环里用到的变量是</a:t>
            </a:r>
            <a:r>
              <a:rPr lang="en-US" altLang="zh-CN" sz="1200" kern="100" dirty="0" err="1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cnt</a:t>
            </a: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，而不是</a:t>
            </a:r>
            <a:r>
              <a:rPr lang="en-US" altLang="zh-CN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98392" y="1340662"/>
            <a:ext cx="181032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思路二</a:t>
            </a:r>
          </a:p>
        </p:txBody>
      </p:sp>
      <p:sp>
        <p:nvSpPr>
          <p:cNvPr id="14" name="内容占位符 2"/>
          <p:cNvSpPr txBox="1"/>
          <p:nvPr/>
        </p:nvSpPr>
        <p:spPr>
          <a:xfrm>
            <a:off x="2027112" y="1342199"/>
            <a:ext cx="3616311" cy="5214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n,a[510],cnt,i,j,t;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(i=0;i&lt;n;++i){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(t%2){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a[cnt]=t;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++cnt;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(i=cnt-1;i&gt;0;--i)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(a[j]&gt;a[j+1])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swap(a[j],a[j+1]);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cout&lt;&lt;a[0];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;i&lt;cnt;++i)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cout&lt;&lt;a[i]&lt;&lt;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8392" y="3507492"/>
            <a:ext cx="1699491" cy="17358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6530" lvl="0" indent="-176530" algn="just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输出的技巧：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题目保证至少会有一个奇数，所以数组的第一个数字一定是奇数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把第一个数字先输出来，不带逗号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后面的每个数字都是先输出逗号再输出数字</a:t>
            </a:r>
            <a:endParaRPr lang="en-US" altLang="zh-CN" sz="10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6" name="内容占位符 2"/>
          <p:cNvSpPr txBox="1"/>
          <p:nvPr/>
        </p:nvSpPr>
        <p:spPr>
          <a:xfrm>
            <a:off x="2028899" y="1344507"/>
            <a:ext cx="3616311" cy="5214234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n,a[510],cnt,i,j,t;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(i=0;i&lt;n;++i){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(t%2){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a[cnt]=t;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++cnt;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(i=cnt-1;i&gt;0;--i)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(a[j]&gt;a[j+1])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swap(a[j],a[j+1]);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cout&lt;&lt;a[0];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(i=1;i&lt;cnt;++i)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</a:t>
            </a:r>
            <a:r>
              <a:rPr lang="zh-CN" altLang="zh-CN" sz="14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","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&lt;&lt;a[i];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4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1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3200" dirty="0">
              <a:latin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144656" y="1791125"/>
            <a:ext cx="220748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530" lvl="0" indent="-176530" algn="just" defTabSz="914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奇数和偶数放在一起排序：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如果前一个是偶数、后一个是奇数，则交换</a:t>
            </a:r>
            <a:endParaRPr lang="en-US" altLang="zh-CN" sz="10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如果前一个和后一个都是奇数，则大的放到后面</a:t>
            </a:r>
            <a:endParaRPr lang="en-US" altLang="zh-CN" sz="10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462280" lvl="1" indent="-285750" algn="just" defTabSz="9144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zh-CN" altLang="en-US" sz="1000" kern="1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如果前一个和后一个都是偶数，什么都不用做</a:t>
            </a:r>
            <a:endParaRPr lang="en-US" altLang="zh-CN" sz="1200" kern="1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6530" lvl="0" indent="-176530" algn="just" defTabSz="9144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kern="100" dirty="0">
                <a:solidFill>
                  <a:prstClr val="black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遇到奇数才输出</a:t>
            </a:r>
            <a:endParaRPr lang="en-US" altLang="zh-CN" sz="1200" kern="100" dirty="0">
              <a:solidFill>
                <a:prstClr val="black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144656" y="1340662"/>
            <a:ext cx="181032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defRPr>
            </a:lvl1pPr>
          </a:lstStyle>
          <a:p>
            <a:r>
              <a:rPr lang="zh-CN" altLang="en-US" dirty="0"/>
              <a:t>思路三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3" grpId="0"/>
      <p:bldP spid="14" grpId="0"/>
      <p:bldP spid="15" grpId="0"/>
      <p:bldP spid="16" grpId="0" animBg="1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5"/>
          <p:cNvSpPr>
            <a:spLocks noGrp="1"/>
          </p:cNvSpPr>
          <p:nvPr>
            <p:ph idx="1"/>
          </p:nvPr>
        </p:nvSpPr>
        <p:spPr>
          <a:xfrm>
            <a:off x="678612" y="1486111"/>
            <a:ext cx="10368800" cy="51044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题目描述</a:t>
            </a: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某小学最近得到了一笔赞助，打算拿出其中一部分为学习成绩优秀的前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名学生发奖学金。期末，每个学生都有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门课的成绩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语文、数学、英语。先按总分从高到低排序，如果两个同学总分相同，再按语文成绩从高到低排序，如果两个同学总分和语文成绩都相同，那么规定学号小的同学排在前面，这样，每个学生的排序是唯一确定的。</a:t>
            </a: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任务：先根据输入的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门课的成绩计算总分，然后按上述规则排序，最后按排名顺序输出前五名名学生的学号和总分。注意，在前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名同学中，每个人的奖学金都不相同，因此，你必须严格按上述规则排序。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输入</a:t>
            </a:r>
            <a:endParaRPr lang="zh-CN" altLang="en-US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包含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n+1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: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行为一个正整数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，表示该校参加评选的学生人数。</a:t>
            </a: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n+1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行，每行有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个用空格隔开的数字，每个数字都在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到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100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之间。第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行的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个数字依次表示学号为 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j-1 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的学生的语文、数学、英语的成绩。每个学生的学号按照输入顺序编号为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1~n (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恰好是输入数据的行号减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1)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  <a:endParaRPr lang="en-US" altLang="zh-CN" sz="1600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b="1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1600" b="1" dirty="0"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共有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行，每行是两个用空格隔开的正整数，依次表示前</a:t>
            </a:r>
            <a:r>
              <a:rPr lang="en-US" altLang="zh-CN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1600" dirty="0"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名学生的学号和总分。</a:t>
            </a:r>
          </a:p>
        </p:txBody>
      </p:sp>
      <p:sp>
        <p:nvSpPr>
          <p:cNvPr id="6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奖学金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43315" y="1316708"/>
            <a:ext cx="3975376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#include&lt;bits/stdc++.h&gt;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namespace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idx[3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],ch[3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],tot[3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ma,en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,temp,n,i,j;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main(){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cin&gt;&gt;n;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(i=0;i&lt;n;i++){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cin&gt;&gt;ch[i]&gt;&gt;ma&gt;&gt;en;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tot[i]=ch[i]+ma+en;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idx[i]=i+1;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4352133" y="1316708"/>
            <a:ext cx="472721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(i=n-1;i&gt;=1;--i){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(j=0;j&lt;i;++j){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8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(tot[j]!=tot[j+1])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=(tot[j]&lt;tot[j+1]);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(ch[j]!=ch[j+1]) 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=(ch[j]&lt;ch[j+1]);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=(idx[j]&gt;idx[j+1]);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swap(idx[j],idx[j+1]);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swap(ch[j],ch[j+1]);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swap(tot[j],tot[j+1]);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(i=0;i&lt;5;i++)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    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cout&lt;&lt;idx[i]&lt;&lt;</a:t>
            </a:r>
            <a:r>
              <a:rPr lang="zh-CN" altLang="zh-CN" sz="16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&lt;&lt;tot[i]&lt;&lt;endl;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C7254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    </a:t>
            </a:r>
            <a:r>
              <a:rPr lang="zh-CN" altLang="zh-CN" sz="1600" b="1" dirty="0">
                <a:solidFill>
                  <a:srgbClr val="0066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zh-C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  <a:endParaRPr lang="zh-CN" altLang="zh-CN" sz="16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zh-CN" sz="1600" dirty="0">
              <a:latin typeface="Arial" panose="020B0604020202020204" pitchFamily="34" charset="0"/>
            </a:endParaRPr>
          </a:p>
        </p:txBody>
      </p:sp>
      <p:sp>
        <p:nvSpPr>
          <p:cNvPr id="8" name="文本框 23"/>
          <p:cNvSpPr txBox="1"/>
          <p:nvPr/>
        </p:nvSpPr>
        <p:spPr>
          <a:xfrm>
            <a:off x="678609" y="301567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例题</a:t>
            </a:r>
            <a:r>
              <a:rPr lang="en-US" altLang="zh-CN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-</a:t>
            </a:r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奖学金</a:t>
            </a:r>
          </a:p>
        </p:txBody>
      </p:sp>
      <p:sp>
        <p:nvSpPr>
          <p:cNvPr id="2" name="矩形 1"/>
          <p:cNvSpPr/>
          <p:nvPr/>
        </p:nvSpPr>
        <p:spPr>
          <a:xfrm>
            <a:off x="3103358" y="1432688"/>
            <a:ext cx="1424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需要为学号、语文成绩、总分各定义一个数组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75470" y="1427544"/>
            <a:ext cx="25630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true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表示不符合排序要求（即为逆序）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,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 需要交换。注意每次进入循环时都要将其初始化为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false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4" name="矩形 3"/>
          <p:cNvSpPr/>
          <p:nvPr/>
        </p:nvSpPr>
        <p:spPr>
          <a:xfrm>
            <a:off x="4114226" y="3539298"/>
            <a:ext cx="17520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如果为逆序则执行交换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402933" y="3963282"/>
            <a:ext cx="18595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进行交换时，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个数组对应的元素应当一起交换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399805" y="2381130"/>
            <a:ext cx="22629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注意</a:t>
            </a:r>
          </a:p>
        </p:txBody>
      </p:sp>
      <p:sp>
        <p:nvSpPr>
          <p:cNvPr id="13" name="矩形 12"/>
          <p:cNvSpPr/>
          <p:nvPr/>
        </p:nvSpPr>
        <p:spPr>
          <a:xfrm>
            <a:off x="9399805" y="2889391"/>
            <a:ext cx="22629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“判断是否逆序”与“进行交换”要分开为两块独立的代码逻辑，不能混在一起。先用一个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bool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 panose="020B0609020204030204" pitchFamily="49" charset="0"/>
              </a:rPr>
              <a:t>类型的变量把所有判断逆序的情况都处理完，再根据该变量的取值在逆序的情况下执行交换。</a:t>
            </a:r>
          </a:p>
        </p:txBody>
      </p:sp>
      <p:sp>
        <p:nvSpPr>
          <p:cNvPr id="14" name="矩形 13"/>
          <p:cNvSpPr/>
          <p:nvPr/>
        </p:nvSpPr>
        <p:spPr>
          <a:xfrm>
            <a:off x="2627673" y="2150297"/>
            <a:ext cx="26555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数学和英语成绩不参与排序，算完总分就用不到了，所以没必要定义数组</a:t>
            </a:r>
            <a:endParaRPr lang="zh-CN" altLang="zh-CN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11" grpId="0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225" y="1252417"/>
            <a:ext cx="2647950" cy="5514975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78609" y="1342199"/>
            <a:ext cx="4401391" cy="521423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a[100010],n,i,j,p;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for(i=0;i&lt;n;++i)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cin&gt;&gt;a[i];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for(i=n-1;i&gt;=1;--i)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for(j=0;j&lt;i;++j){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if(a[j]&gt;a[j+1])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swap(a[j],a[j+1]);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for(p=0;p&lt;n;++p)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cout&lt;&lt;a[p]&lt;&lt;" ";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cout&lt;&lt;"i="&lt;&lt;i&lt;&lt;" j="&lt;&lt;j&lt;&lt;" "&lt;&lt;endl;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cout&lt;&lt;a[0];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for(i=1;i&lt;n;++i)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cout&lt;&lt;" "&lt;&lt;a[i];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buNone/>
            </a:pPr>
            <a:r>
              <a:rPr lang="pt-BR" altLang="zh-CN" sz="14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273858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冒泡排序的性能问题</a:t>
            </a:r>
          </a:p>
        </p:txBody>
      </p:sp>
      <p:sp>
        <p:nvSpPr>
          <p:cNvPr id="7" name="矩形 6"/>
          <p:cNvSpPr/>
          <p:nvPr/>
        </p:nvSpPr>
        <p:spPr>
          <a:xfrm>
            <a:off x="3842423" y="3426844"/>
            <a:ext cx="225357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每执行一次内层循环，都把数组当前的值和</a:t>
            </a:r>
            <a:r>
              <a:rPr lang="en-US" altLang="zh-CN" sz="1200" dirty="0" err="1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i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都打印出来</a:t>
            </a:r>
          </a:p>
        </p:txBody>
      </p:sp>
      <p:sp>
        <p:nvSpPr>
          <p:cNvPr id="11" name="矩形 10"/>
          <p:cNvSpPr/>
          <p:nvPr/>
        </p:nvSpPr>
        <p:spPr>
          <a:xfrm>
            <a:off x="9265660" y="1525651"/>
            <a:ext cx="2766435" cy="14449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外层循环每执行一次，内层循环执行的次数都减一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内层循环一共执行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n*(n-1)/2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无论数组是否已排好序，循环次数一次都不会减少</a:t>
            </a:r>
          </a:p>
        </p:txBody>
      </p:sp>
      <p:sp>
        <p:nvSpPr>
          <p:cNvPr id="2" name="矩形 1"/>
          <p:cNvSpPr/>
          <p:nvPr/>
        </p:nvSpPr>
        <p:spPr>
          <a:xfrm>
            <a:off x="1699491" y="3888509"/>
            <a:ext cx="3454400" cy="8497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442220" y="1904180"/>
            <a:ext cx="2766435" cy="1490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442217" y="3439383"/>
            <a:ext cx="2766435" cy="116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442217" y="4655408"/>
            <a:ext cx="2766435" cy="867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439982" y="5574138"/>
            <a:ext cx="2766435" cy="5608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439982" y="6179408"/>
            <a:ext cx="2766435" cy="2635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147" y="1236228"/>
            <a:ext cx="3543300" cy="4600575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159905" y="1315317"/>
            <a:ext cx="6591877" cy="5514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a[100010],n,i,j,p,flag;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for(i=0;i&lt;n;++i) cin&gt;&gt;a[i];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for(i=n-1;i&gt;=1;--i){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flag=0;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for(j=0;j&lt;i;++j){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if(a[j]&gt;a[j+1]){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swap(a[j],a[j+1]);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flag=1;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for(p=0;p&lt;n;++p) cout&lt;&lt;a[p]&lt;&lt;" ";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cout&lt;&lt;"i="&lt;&lt;i&lt;&lt;" j="&lt;&lt;j&lt;&lt;" flag="&lt;&lt;flag&lt;&lt;endl;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if(flag==0) break;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for(i=0;i&lt;n;++i) cout&lt;&lt;a[i]&lt;&lt;" ";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6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23"/>
          <p:cNvSpPr txBox="1"/>
          <p:nvPr/>
        </p:nvSpPr>
        <p:spPr>
          <a:xfrm>
            <a:off x="678609" y="273858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冒泡排序的优化</a:t>
            </a:r>
          </a:p>
        </p:txBody>
      </p:sp>
      <p:sp>
        <p:nvSpPr>
          <p:cNvPr id="7" name="矩形 6"/>
          <p:cNvSpPr/>
          <p:nvPr/>
        </p:nvSpPr>
        <p:spPr>
          <a:xfrm>
            <a:off x="2817187" y="3738571"/>
            <a:ext cx="225357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执行了交换，就设置标志位为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640291" y="1525651"/>
            <a:ext cx="1391804" cy="2829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外层循环的前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次执行都有交换发生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外层循环的第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次执行没发生交换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所以外层循环的第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次执行的最后，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break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结束了</a:t>
            </a:r>
          </a:p>
        </p:txBody>
      </p:sp>
      <p:sp>
        <p:nvSpPr>
          <p:cNvPr id="13" name="矩形 12"/>
          <p:cNvSpPr/>
          <p:nvPr/>
        </p:nvSpPr>
        <p:spPr>
          <a:xfrm>
            <a:off x="6811677" y="1904180"/>
            <a:ext cx="3603911" cy="1490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811674" y="3439383"/>
            <a:ext cx="3603911" cy="1168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811674" y="4655408"/>
            <a:ext cx="3603911" cy="8679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924147" y="2649556"/>
            <a:ext cx="26637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外层循环开始时，将标志位设为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108133" y="4920842"/>
            <a:ext cx="30987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如果一次外层循环结束，标志位还是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，表示此次循环没有做交换，这代表着数组已经排好序了，所以可以结束所有循环了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animBg="1"/>
      <p:bldP spid="14" grpId="0" animBg="1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 txBox="1"/>
          <p:nvPr/>
        </p:nvSpPr>
        <p:spPr>
          <a:xfrm>
            <a:off x="159905" y="1241429"/>
            <a:ext cx="7148657" cy="55149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&lt;bits/stdc++.h&gt;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namespace std;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a[100010],n,i,j,k,p,pos,flag;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main(){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cin&gt;&gt;n;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k=n-1;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for(i=0;i&lt;n;++i) cin&gt;&gt;a[i];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for(i=n-1;i&gt;=1;--i){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flag=0;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for(j=0;j&lt;k;++j){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if(a[j]&gt;a[j+1]){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swap(a[j],a[j+1]);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flag=1;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pos=j;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for(p=0;p&lt;n;++p) cout&lt;&lt;a[p]&lt;&lt;" ";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cout&lt;&lt;"i="&lt;&lt;i&lt;&lt;" j="&lt;&lt;j&lt;&lt;" k="&lt;&lt;k&lt;&lt;" flag="&lt;&lt;flag&lt;&lt;" pos="&lt;&lt;pos&lt;&lt;endl;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k=pos;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if(flag==0) break;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for(i=0;i&lt;n;++i) cout&lt;&lt;a[i]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&lt;&lt;" "</a:t>
            </a: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0;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pt-BR" altLang="zh-CN" sz="12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60000"/>
              </a:lnSpc>
              <a:buNone/>
            </a:pPr>
            <a:endParaRPr lang="pt-BR" altLang="zh-CN" sz="1200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349" y="1436523"/>
            <a:ext cx="3989340" cy="2029801"/>
          </a:xfrm>
          <a:prstGeom prst="rect">
            <a:avLst/>
          </a:prstGeom>
        </p:spPr>
      </p:pic>
      <p:sp>
        <p:nvSpPr>
          <p:cNvPr id="9" name="文本框 23"/>
          <p:cNvSpPr txBox="1"/>
          <p:nvPr/>
        </p:nvSpPr>
        <p:spPr>
          <a:xfrm>
            <a:off x="678609" y="273858"/>
            <a:ext cx="106346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冒泡排序的优化</a:t>
            </a:r>
          </a:p>
        </p:txBody>
      </p:sp>
      <p:sp>
        <p:nvSpPr>
          <p:cNvPr id="7" name="矩形 6"/>
          <p:cNvSpPr/>
          <p:nvPr/>
        </p:nvSpPr>
        <p:spPr>
          <a:xfrm>
            <a:off x="2190123" y="4022287"/>
            <a:ext cx="24136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执行了交换，就设置标志位为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</p:txBody>
      </p:sp>
      <p:sp>
        <p:nvSpPr>
          <p:cNvPr id="13" name="矩形 12"/>
          <p:cNvSpPr/>
          <p:nvPr/>
        </p:nvSpPr>
        <p:spPr>
          <a:xfrm>
            <a:off x="6096000" y="1684881"/>
            <a:ext cx="4112343" cy="1006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096001" y="2721027"/>
            <a:ext cx="4112342" cy="2281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517747" y="3082151"/>
            <a:ext cx="24922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外层循环开始时，将标志位设为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endParaRPr lang="zh-CN" altLang="en-US" sz="1200" dirty="0">
              <a:solidFill>
                <a:srgbClr val="FF000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436812" y="5691219"/>
            <a:ext cx="43338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如果一次外层循环结束，标志位还是</a:t>
            </a:r>
            <a:r>
              <a:rPr lang="en-US" altLang="zh-CN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1200" dirty="0">
                <a:solidFill>
                  <a:srgbClr val="FF000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，表示此次循环没有做交换，这代表着数组已经排好序了，所以可以结束所有循环了</a:t>
            </a:r>
          </a:p>
        </p:txBody>
      </p:sp>
      <p:sp>
        <p:nvSpPr>
          <p:cNvPr id="12" name="矩形 11"/>
          <p:cNvSpPr/>
          <p:nvPr/>
        </p:nvSpPr>
        <p:spPr>
          <a:xfrm>
            <a:off x="2335886" y="3325083"/>
            <a:ext cx="37017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内层循环比较到上一轮最后一次交换的位置（即</a:t>
            </a:r>
            <a:r>
              <a:rPr lang="en-US" altLang="zh-CN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）</a:t>
            </a:r>
          </a:p>
        </p:txBody>
      </p:sp>
      <p:sp>
        <p:nvSpPr>
          <p:cNvPr id="16" name="矩形 15"/>
          <p:cNvSpPr/>
          <p:nvPr/>
        </p:nvSpPr>
        <p:spPr>
          <a:xfrm>
            <a:off x="7373216" y="3887571"/>
            <a:ext cx="4742584" cy="17219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外层循环的第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次执行完成后，记录的最后一次交换的位置是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所以外层循环的第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次执行，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pos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，即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，内存循环的判断条件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j&lt;k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即为</a:t>
            </a:r>
            <a:r>
              <a:rPr lang="en-US" altLang="zh-CN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j&lt;1</a:t>
            </a: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，循环体只执行一次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1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外层循环记录的最后一次交换位置，意味着在该位置右侧的数据都已经是排好序的，所以再次执行内层循环时只要比较到记录的最后一次交换位置即可</a:t>
            </a:r>
            <a:endParaRPr lang="en-US" altLang="zh-CN" sz="1200" dirty="0">
              <a:solidFill>
                <a:schemeClr val="bg1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17686" y="5460850"/>
            <a:ext cx="24922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en-US" altLang="zh-CN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记住本轮最后一次交换的位置</a:t>
            </a:r>
          </a:p>
        </p:txBody>
      </p:sp>
      <p:sp>
        <p:nvSpPr>
          <p:cNvPr id="3" name="矩形 2"/>
          <p:cNvSpPr/>
          <p:nvPr/>
        </p:nvSpPr>
        <p:spPr>
          <a:xfrm>
            <a:off x="2100068" y="4265219"/>
            <a:ext cx="197842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用</a:t>
            </a:r>
            <a:r>
              <a:rPr lang="en-US" altLang="zh-CN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pos</a:t>
            </a:r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记住本次交换的位置</a:t>
            </a:r>
          </a:p>
        </p:txBody>
      </p:sp>
      <p:sp>
        <p:nvSpPr>
          <p:cNvPr id="17" name="矩形 16"/>
          <p:cNvSpPr/>
          <p:nvPr/>
        </p:nvSpPr>
        <p:spPr>
          <a:xfrm>
            <a:off x="1089746" y="2369151"/>
            <a:ext cx="381880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第一轮循环应比较到</a:t>
            </a:r>
            <a:r>
              <a:rPr lang="en-US" altLang="zh-CN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为止，所以</a:t>
            </a:r>
            <a:r>
              <a:rPr lang="en-US" altLang="zh-CN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k</a:t>
            </a:r>
            <a:r>
              <a:rPr lang="zh-CN" altLang="en-US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被初始化为</a:t>
            </a:r>
            <a:r>
              <a:rPr lang="en-US" altLang="zh-CN" sz="1200" dirty="0">
                <a:solidFill>
                  <a:srgbClr val="0070C0"/>
                </a:solidFill>
                <a:latin typeface="Consolas" panose="020B0609020204030204" pitchFamily="49" charset="0"/>
                <a:ea typeface="微软雅黑" panose="020B0503020204020204" pitchFamily="34" charset="-122"/>
                <a:cs typeface="Consolas" panose="020B0609020204030204" pitchFamily="49" charset="0"/>
              </a:rPr>
              <a:t>n-1</a:t>
            </a:r>
            <a:endParaRPr lang="zh-CN" altLang="en-US" sz="1200" dirty="0">
              <a:solidFill>
                <a:srgbClr val="0070C0"/>
              </a:solidFill>
              <a:latin typeface="Consolas" panose="020B0609020204030204" pitchFamily="49" charset="0"/>
              <a:ea typeface="微软雅黑" panose="020B0503020204020204" pitchFamily="34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</TotalTime>
  <Words>4113</Words>
  <Application>Microsoft Office PowerPoint</Application>
  <PresentationFormat>宽屏</PresentationFormat>
  <Paragraphs>413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等线</vt:lpstr>
      <vt:lpstr>华文楷体</vt:lpstr>
      <vt:lpstr>宋体</vt:lpstr>
      <vt:lpstr>微软雅黑</vt:lpstr>
      <vt:lpstr>Arial</vt:lpstr>
      <vt:lpstr>Consolas</vt:lpstr>
      <vt:lpstr>Tw Cen MT</vt:lpstr>
      <vt:lpstr>Wingdings</vt:lpstr>
      <vt:lpstr>电路</vt:lpstr>
      <vt:lpstr>NOIP 语言基础（十）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谢谢大家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Minren Guan</dc:creator>
  <cp:lastModifiedBy>woodsgreen@126.com</cp:lastModifiedBy>
  <cp:revision>404</cp:revision>
  <dcterms:created xsi:type="dcterms:W3CDTF">2018-08-09T00:16:00Z</dcterms:created>
  <dcterms:modified xsi:type="dcterms:W3CDTF">2022-10-15T07:32:25Z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FA6F91C86FB94FB6989EC538F1E956B0</vt:lpwstr>
  </property>
  <property fmtid="{D5CDD505-2E9C-101B-9397-08002B2CF9AE}" pid="3" name="KSOProductBuildVer">
    <vt:lpwstr>2052-11.1.0.10700</vt:lpwstr>
  </property>
</Properties>
</file>