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1" r:id="rId3"/>
    <p:sldId id="348" r:id="rId4"/>
    <p:sldId id="342" r:id="rId5"/>
    <p:sldId id="350" r:id="rId6"/>
    <p:sldId id="352" r:id="rId7"/>
    <p:sldId id="357" r:id="rId8"/>
    <p:sldId id="361" r:id="rId9"/>
    <p:sldId id="362" r:id="rId10"/>
    <p:sldId id="363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4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NOIP </a:t>
            </a:r>
            <a:r>
              <a:rPr lang="zh-CN" altLang="en-US" dirty="0"/>
              <a:t>语言基础（十二）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文件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371890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存储在外部介质上数据的集合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说人话：把数据通过字节序列保存在磁盘上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文件的分类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二进制文件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文本文件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二进制文件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优点：效率高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缺点：需要知道编码形式才能正确解码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文本文件：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优点：直接按照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码翻译成文字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缺点：效率不高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7F137E-29E8-EF4E-B734-7F2194BC3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276" y="2926830"/>
            <a:ext cx="4284133" cy="169765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D2572B-AD75-4860-89AD-27D193E42FA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什么是文件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C26A64-B8C3-4EFC-9CD7-58C7C9B5398D}"/>
              </a:ext>
            </a:extLst>
          </p:cNvPr>
          <p:cNvSpPr/>
          <p:nvPr/>
        </p:nvSpPr>
        <p:spPr>
          <a:xfrm>
            <a:off x="2951855" y="4172055"/>
            <a:ext cx="24768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直接用文本工具打开看到的是乱码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D45D1A-C10D-44EF-B3FF-5D6E46805401}"/>
              </a:ext>
            </a:extLst>
          </p:cNvPr>
          <p:cNvSpPr/>
          <p:nvPr/>
        </p:nvSpPr>
        <p:spPr>
          <a:xfrm>
            <a:off x="2951854" y="5216279"/>
            <a:ext cx="37189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可以直接用文本工具（记事本、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DevC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++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等）打开看</a:t>
            </a:r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它们在哪里？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程序：内存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文件：磁盘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操作流程（如图）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C++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程序和文件缓冲区交互方式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流式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I/O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方式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流式文件类型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stream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类的流文件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文件指针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FILE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571A0C-0097-9245-8D14-CDA367B59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590" y="1486109"/>
            <a:ext cx="4208343" cy="452031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7708649-DEC0-EF42-8A7C-7E9406DFF0D7}"/>
              </a:ext>
            </a:extLst>
          </p:cNvPr>
          <p:cNvSpPr/>
          <p:nvPr/>
        </p:nvSpPr>
        <p:spPr>
          <a:xfrm>
            <a:off x="5960533" y="5757333"/>
            <a:ext cx="609600" cy="389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5FCF6F-A941-4B44-B194-1E6B086551E6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程序和文件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D1ECFD-9032-458B-8BD2-DCB9D428D01A}"/>
              </a:ext>
            </a:extLst>
          </p:cNvPr>
          <p:cNvSpPr/>
          <p:nvPr/>
        </p:nvSpPr>
        <p:spPr>
          <a:xfrm>
            <a:off x="2087876" y="4109728"/>
            <a:ext cx="24768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信息学竞赛只需要关心流式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37DCD0-A54A-42A2-B30E-D8A89642C564}"/>
              </a:ext>
            </a:extLst>
          </p:cNvPr>
          <p:cNvSpPr/>
          <p:nvPr/>
        </p:nvSpPr>
        <p:spPr>
          <a:xfrm>
            <a:off x="3326311" y="5952066"/>
            <a:ext cx="24768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现阶段不需要关注</a:t>
            </a:r>
          </a:p>
        </p:txBody>
      </p:sp>
    </p:spTree>
    <p:extLst>
      <p:ext uri="{BB962C8B-B14F-4D97-AF65-F5344CB8AC3E}">
        <p14:creationId xmlns:p14="http://schemas.microsoft.com/office/powerpoint/2010/main" val="293910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4502988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头文件：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fstream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</a:t>
            </a:r>
          </a:p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类：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ifstream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/ 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ofstream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操作：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&lt;&lt;</a:t>
            </a:r>
          </a:p>
          <a:p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关闭语句：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fin.close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818D57-704A-0241-80FE-088934D28197}"/>
              </a:ext>
            </a:extLst>
          </p:cNvPr>
          <p:cNvSpPr txBox="1">
            <a:spLocks/>
          </p:cNvSpPr>
          <p:nvPr/>
        </p:nvSpPr>
        <p:spPr>
          <a:xfrm>
            <a:off x="5562600" y="1486109"/>
            <a:ext cx="5281612" cy="52827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#include &lt;bits/</a:t>
            </a: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</a:t>
            </a: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ifstream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fin("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ab.in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ofstream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fout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ab.out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fin&gt;&gt;a&gt;&gt;b;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fout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	return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9FE863-43B6-46F9-A6C5-F37F7D091190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stream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类的流文件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E9B2F5-5E83-4801-AC6B-47AF1488A3C7}"/>
              </a:ext>
            </a:extLst>
          </p:cNvPr>
          <p:cNvSpPr/>
          <p:nvPr/>
        </p:nvSpPr>
        <p:spPr>
          <a:xfrm>
            <a:off x="9698601" y="2598003"/>
            <a:ext cx="15266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fin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fout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都是习惯性的命名，事实上作为变量名想怎么命名都是可以的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6000D9-01A6-4B4C-B87F-EB85D1EC06B9}"/>
              </a:ext>
            </a:extLst>
          </p:cNvPr>
          <p:cNvSpPr/>
          <p:nvPr/>
        </p:nvSpPr>
        <p:spPr>
          <a:xfrm>
            <a:off x="8350675" y="4371219"/>
            <a:ext cx="15266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原先写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的地方都改为写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fin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fout</a:t>
            </a:r>
            <a:endParaRPr lang="zh-CN" altLang="en-US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36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1"/>
            <a:ext cx="2268774" cy="2523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（早期）有些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OI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题目由于不知道数据个数，需要判断是否文件结束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818D57-704A-0241-80FE-088934D28197}"/>
              </a:ext>
            </a:extLst>
          </p:cNvPr>
          <p:cNvSpPr txBox="1">
            <a:spLocks/>
          </p:cNvSpPr>
          <p:nvPr/>
        </p:nvSpPr>
        <p:spPr>
          <a:xfrm>
            <a:off x="3688041" y="1476796"/>
            <a:ext cx="2781300" cy="4986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#include &lt;bits/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ifstream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fin("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sum.in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ofstream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sum.out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x,sum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while(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fin&gt;&gt;x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sum+=x;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&lt;&lt;sum&lt;&lt;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5A9BD6-13F6-4E48-996E-23FEEBCBCDD1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如何判断输入数据结束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C76F8A-55A3-45B0-9CF4-82DC97808144}"/>
              </a:ext>
            </a:extLst>
          </p:cNvPr>
          <p:cNvSpPr/>
          <p:nvPr/>
        </p:nvSpPr>
        <p:spPr>
          <a:xfrm>
            <a:off x="5489972" y="2962970"/>
            <a:ext cx="14927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用操作符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的返回值判断，如果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返回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false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）表示读入结束。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推荐该写法，不容易错。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F0F380DD-D448-404F-A3E3-CE1D37FE23F6}"/>
              </a:ext>
            </a:extLst>
          </p:cNvPr>
          <p:cNvSpPr txBox="1">
            <a:spLocks/>
          </p:cNvSpPr>
          <p:nvPr/>
        </p:nvSpPr>
        <p:spPr>
          <a:xfrm>
            <a:off x="7577138" y="1476795"/>
            <a:ext cx="2781300" cy="4986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#include &lt;bits/</a:t>
            </a:r>
            <a:r>
              <a:rPr lang="en-US" altLang="zh-CN" dirty="0" err="1"/>
              <a:t>stdc</a:t>
            </a:r>
            <a:r>
              <a:rPr lang="en-US" altLang="zh-CN" dirty="0"/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dirty="0" err="1"/>
              <a:t>ifstream</a:t>
            </a:r>
            <a:r>
              <a:rPr lang="en-US" altLang="zh-CN" dirty="0"/>
              <a:t> fin("sum.in");</a:t>
            </a:r>
          </a:p>
          <a:p>
            <a:pPr>
              <a:lnSpc>
                <a:spcPct val="150000"/>
              </a:lnSpc>
            </a:pPr>
            <a:r>
              <a:rPr lang="en-US" altLang="zh-CN" dirty="0" err="1"/>
              <a:t>ofstream</a:t>
            </a:r>
            <a:r>
              <a:rPr lang="en-US" altLang="zh-CN" dirty="0"/>
              <a:t> </a:t>
            </a:r>
            <a:r>
              <a:rPr lang="en-US" altLang="zh-CN" dirty="0" err="1"/>
              <a:t>fout</a:t>
            </a:r>
            <a:r>
              <a:rPr lang="en-US" altLang="zh-CN" dirty="0"/>
              <a:t>("</a:t>
            </a:r>
            <a:r>
              <a:rPr lang="en-US" altLang="zh-CN" dirty="0" err="1"/>
              <a:t>sum.out</a:t>
            </a:r>
            <a:r>
              <a:rPr lang="en-US" altLang="zh-CN" dirty="0"/>
              <a:t>");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int </a:t>
            </a:r>
            <a:r>
              <a:rPr lang="en-US" altLang="zh-CN" dirty="0" err="1"/>
              <a:t>x,sum</a:t>
            </a:r>
            <a:r>
              <a:rPr lang="en-US" altLang="zh-CN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int main(){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while(</a:t>
            </a:r>
            <a:r>
              <a:rPr lang="en-US" altLang="zh-CN" b="1" dirty="0">
                <a:solidFill>
                  <a:srgbClr val="FF0000"/>
                </a:solidFill>
              </a:rPr>
              <a:t>!</a:t>
            </a:r>
            <a:r>
              <a:rPr lang="en-US" altLang="zh-CN" b="1" dirty="0" err="1">
                <a:solidFill>
                  <a:srgbClr val="FF0000"/>
                </a:solidFill>
              </a:rPr>
              <a:t>fin.eof</a:t>
            </a:r>
            <a:r>
              <a:rPr lang="en-US" altLang="zh-CN" b="1" dirty="0">
                <a:solidFill>
                  <a:srgbClr val="FF0000"/>
                </a:solidFill>
              </a:rPr>
              <a:t>()</a:t>
            </a:r>
            <a:r>
              <a:rPr lang="en-US" altLang="zh-CN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fin&gt;&gt;x, sum+=x;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</a:t>
            </a:r>
            <a:r>
              <a:rPr lang="en-US" altLang="zh-CN" dirty="0" err="1"/>
              <a:t>fout</a:t>
            </a:r>
            <a:r>
              <a:rPr lang="en-US" altLang="zh-CN" dirty="0"/>
              <a:t>&lt;&lt;sum&lt;&lt;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return 0;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9FA345-F5E4-4D8B-B32C-7822C2FE0C81}"/>
              </a:ext>
            </a:extLst>
          </p:cNvPr>
          <p:cNvSpPr/>
          <p:nvPr/>
        </p:nvSpPr>
        <p:spPr>
          <a:xfrm>
            <a:off x="9990699" y="3216324"/>
            <a:ext cx="14755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该写法若要正常工作，对文件的要求有些严格。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容易遇到问题，不推荐。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1BA237-D01A-4A66-A279-E97CB1109157}"/>
              </a:ext>
            </a:extLst>
          </p:cNvPr>
          <p:cNvSpPr/>
          <p:nvPr/>
        </p:nvSpPr>
        <p:spPr>
          <a:xfrm>
            <a:off x="7562065" y="2184873"/>
            <a:ext cx="2596672" cy="626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20A0B2-5E54-426E-BA5F-741AA25B6912}"/>
              </a:ext>
            </a:extLst>
          </p:cNvPr>
          <p:cNvSpPr/>
          <p:nvPr/>
        </p:nvSpPr>
        <p:spPr>
          <a:xfrm>
            <a:off x="10205890" y="2267158"/>
            <a:ext cx="13074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程序刚开始执行就打开了文件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35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9" grpId="0"/>
      <p:bldP spid="10" grpId="0"/>
      <p:bldP spid="11" grpId="0"/>
      <p:bldP spid="2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818D57-704A-0241-80FE-088934D28197}"/>
              </a:ext>
            </a:extLst>
          </p:cNvPr>
          <p:cNvSpPr txBox="1">
            <a:spLocks/>
          </p:cNvSpPr>
          <p:nvPr/>
        </p:nvSpPr>
        <p:spPr>
          <a:xfrm>
            <a:off x="5562600" y="1486109"/>
            <a:ext cx="5281612" cy="5536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#include &lt;bits/</a:t>
            </a:r>
            <a:r>
              <a:rPr lang="en-US" altLang="zh-CN" dirty="0" err="1"/>
              <a:t>stdc</a:t>
            </a:r>
            <a:r>
              <a:rPr lang="en-US" altLang="zh-CN" dirty="0"/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dirty="0" err="1"/>
              <a:t>ifstream</a:t>
            </a:r>
            <a:r>
              <a:rPr lang="en-US" altLang="zh-CN" dirty="0"/>
              <a:t> fin;</a:t>
            </a:r>
          </a:p>
          <a:p>
            <a:pPr>
              <a:lnSpc>
                <a:spcPct val="150000"/>
              </a:lnSpc>
            </a:pPr>
            <a:r>
              <a:rPr lang="en-US" altLang="zh-CN" dirty="0" err="1"/>
              <a:t>ofstream</a:t>
            </a:r>
            <a:r>
              <a:rPr lang="en-US" altLang="zh-CN" dirty="0"/>
              <a:t> </a:t>
            </a:r>
            <a:r>
              <a:rPr lang="en-US" altLang="zh-CN" dirty="0" err="1"/>
              <a:t>fout</a:t>
            </a:r>
            <a:r>
              <a:rPr lang="en-US" altLang="zh-CN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int </a:t>
            </a:r>
            <a:r>
              <a:rPr lang="en-US" altLang="zh-CN" dirty="0" err="1"/>
              <a:t>x,sum</a:t>
            </a:r>
            <a:r>
              <a:rPr lang="en-US" altLang="zh-CN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int main() {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</a:t>
            </a:r>
            <a:r>
              <a:rPr lang="en-US" altLang="zh-CN" dirty="0" err="1"/>
              <a:t>fin.open</a:t>
            </a:r>
            <a:r>
              <a:rPr lang="en-US" altLang="zh-CN" dirty="0"/>
              <a:t>("sum.in");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</a:t>
            </a:r>
            <a:r>
              <a:rPr lang="en-US" altLang="zh-CN" dirty="0" err="1"/>
              <a:t>fout.open</a:t>
            </a:r>
            <a:r>
              <a:rPr lang="en-US" altLang="zh-CN" dirty="0"/>
              <a:t>("</a:t>
            </a:r>
            <a:r>
              <a:rPr lang="en-US" altLang="zh-CN" dirty="0" err="1"/>
              <a:t>sum.out</a:t>
            </a:r>
            <a:r>
              <a:rPr lang="en-US" altLang="zh-CN" dirty="0"/>
              <a:t>");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while (fin&gt;&gt;x)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sum+=x;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</a:t>
            </a:r>
            <a:r>
              <a:rPr lang="en-US" altLang="zh-CN" dirty="0" err="1"/>
              <a:t>fout</a:t>
            </a:r>
            <a:r>
              <a:rPr lang="en-US" altLang="zh-CN" dirty="0"/>
              <a:t>&lt;&lt;sum&lt;&lt;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</a:t>
            </a:r>
            <a:r>
              <a:rPr lang="en-US" altLang="zh-CN" dirty="0" err="1"/>
              <a:t>fin.close</a:t>
            </a:r>
            <a:r>
              <a:rPr lang="en-US" altLang="zh-CN" dirty="0"/>
              <a:t>();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</a:t>
            </a:r>
            <a:r>
              <a:rPr lang="en-US" altLang="zh-CN" dirty="0" err="1"/>
              <a:t>fout.close</a:t>
            </a:r>
            <a:r>
              <a:rPr lang="en-US" altLang="zh-CN" dirty="0"/>
              <a:t>();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return 0;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916FA0-E7B0-4AC2-9584-EAB00885D1B6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打开和关闭文件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7A7BA5-DD68-453A-87DA-B554E57B6390}"/>
              </a:ext>
            </a:extLst>
          </p:cNvPr>
          <p:cNvSpPr/>
          <p:nvPr/>
        </p:nvSpPr>
        <p:spPr>
          <a:xfrm>
            <a:off x="5562600" y="2211506"/>
            <a:ext cx="1539536" cy="626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37A4E5-E4F4-4B66-9AFA-DDE359B2C7AA}"/>
              </a:ext>
            </a:extLst>
          </p:cNvPr>
          <p:cNvSpPr/>
          <p:nvPr/>
        </p:nvSpPr>
        <p:spPr>
          <a:xfrm>
            <a:off x="5910332" y="3482267"/>
            <a:ext cx="2292635" cy="626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7A2DE0-716A-489F-B4F8-0E4BDA36C824}"/>
              </a:ext>
            </a:extLst>
          </p:cNvPr>
          <p:cNvSpPr/>
          <p:nvPr/>
        </p:nvSpPr>
        <p:spPr>
          <a:xfrm>
            <a:off x="5910332" y="5085406"/>
            <a:ext cx="1546911" cy="626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CC0108-8476-4074-A068-E671A242BCC9}"/>
              </a:ext>
            </a:extLst>
          </p:cNvPr>
          <p:cNvSpPr/>
          <p:nvPr/>
        </p:nvSpPr>
        <p:spPr>
          <a:xfrm>
            <a:off x="7102135" y="2293791"/>
            <a:ext cx="175777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此时并未打开文件</a:t>
            </a:r>
            <a:endParaRPr lang="en-US" altLang="zh-CN" sz="1200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370EA7-1CCF-409E-A70C-E4408967BF20}"/>
              </a:ext>
            </a:extLst>
          </p:cNvPr>
          <p:cNvSpPr/>
          <p:nvPr/>
        </p:nvSpPr>
        <p:spPr>
          <a:xfrm>
            <a:off x="8202967" y="3656885"/>
            <a:ext cx="17577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需要打开文件时，调用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open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函数来打开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FAFDE7-4907-4007-A872-DE014AD7C72C}"/>
              </a:ext>
            </a:extLst>
          </p:cNvPr>
          <p:cNvSpPr/>
          <p:nvPr/>
        </p:nvSpPr>
        <p:spPr>
          <a:xfrm>
            <a:off x="7457243" y="5260024"/>
            <a:ext cx="21839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close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函数用于关闭文件。从信息学竞赛的角度讲，可以省略这两句话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410E82-4F63-43E6-B111-51EC3A1D7E54}"/>
              </a:ext>
            </a:extLst>
          </p:cNvPr>
          <p:cNvSpPr/>
          <p:nvPr/>
        </p:nvSpPr>
        <p:spPr>
          <a:xfrm>
            <a:off x="3142695" y="3462173"/>
            <a:ext cx="28652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被打开的文件必须和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.exe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cpp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文件在同一个文件夹下，否则会找不到。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41275F3-BFEF-4E7D-866D-994FA1BE6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4502988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一些特殊情况下，文件变量不能初始化，需要使用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open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close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函数打开、关闭文件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EDB99E-036B-43D2-9DF6-F68B3CDE944B}"/>
              </a:ext>
            </a:extLst>
          </p:cNvPr>
          <p:cNvSpPr/>
          <p:nvPr/>
        </p:nvSpPr>
        <p:spPr>
          <a:xfrm>
            <a:off x="3740493" y="3923838"/>
            <a:ext cx="20470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也可以用绝对路径：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fin.open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("C:/sum.in");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或者相对路径：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fin.open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("../sum.in");</a:t>
            </a:r>
          </a:p>
        </p:txBody>
      </p:sp>
    </p:spTree>
    <p:extLst>
      <p:ext uri="{BB962C8B-B14F-4D97-AF65-F5344CB8AC3E}">
        <p14:creationId xmlns:p14="http://schemas.microsoft.com/office/powerpoint/2010/main" val="38897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9" grpId="0" animBg="1"/>
      <p:bldP spid="10" grpId="0"/>
      <p:bldP spid="11" grpId="0"/>
      <p:bldP spid="12" grpId="0"/>
      <p:bldP spid="13" grpId="0"/>
      <p:bldP spid="15" grpId="0" uiExpand="1" build="p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034" y="1273684"/>
            <a:ext cx="3209807" cy="5282749"/>
          </a:xfrm>
        </p:spPr>
        <p:txBody>
          <a:bodyPr>
            <a:normAutofit/>
          </a:bodyPr>
          <a:lstStyle/>
          <a:p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标准输入、标准输出的概念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/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或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scanf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使用的输入设备是键盘（控制台），也称为标准输入：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stdin</a:t>
            </a:r>
          </a:p>
          <a:p>
            <a:pPr lvl="1"/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或 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使用的输出设备是显示器（控制台），也称为标准输出：</a:t>
            </a:r>
            <a:r>
              <a:rPr lang="en-US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stdout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C++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语言可以使用 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freopen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函数把 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stdin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和 </a:t>
            </a:r>
            <a:r>
              <a:rPr lang="en-US" altLang="zh-CN" sz="14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stdout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重新定向到相关的文件，使原来的标准输入、标准输出变成了文件输入、文件输出。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92465D-1F1A-4FD6-83A5-6DFC3A56F66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文件重定向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3F17249-D53C-47A8-B826-917DD9CC2DD4}"/>
              </a:ext>
            </a:extLst>
          </p:cNvPr>
          <p:cNvSpPr txBox="1">
            <a:spLocks/>
          </p:cNvSpPr>
          <p:nvPr/>
        </p:nvSpPr>
        <p:spPr>
          <a:xfrm>
            <a:off x="3920691" y="1273685"/>
            <a:ext cx="3502864" cy="380494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#include &lt;bits/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n,x,sum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freopen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ab.in","r",stdin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freopen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("ab.out","w",</a:t>
            </a:r>
            <a:r>
              <a:rPr lang="en-US" altLang="zh-CN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stdout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&gt;&gt;n;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for(int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=0;i&lt;n;++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&gt;&gt;x;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sum+=x;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&lt;&lt;sum&lt;&lt;</a:t>
            </a:r>
            <a:r>
              <a:rPr lang="en-US" altLang="zh-CN" sz="1400">
                <a:latin typeface="Consolas" panose="020B0609020204030204" pitchFamily="49" charset="0"/>
                <a:cs typeface="Consolas" panose="020B0609020204030204" pitchFamily="49" charset="0"/>
              </a:rPr>
              <a:t>endl;</a:t>
            </a: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C11EBB-30EF-4594-9387-559F4CC41681}"/>
              </a:ext>
            </a:extLst>
          </p:cNvPr>
          <p:cNvSpPr/>
          <p:nvPr/>
        </p:nvSpPr>
        <p:spPr>
          <a:xfrm>
            <a:off x="4280497" y="2290225"/>
            <a:ext cx="3143054" cy="533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4673F8-181F-4599-99CD-705D6EA9F9E6}"/>
              </a:ext>
            </a:extLst>
          </p:cNvPr>
          <p:cNvSpPr/>
          <p:nvPr/>
        </p:nvSpPr>
        <p:spPr>
          <a:xfrm>
            <a:off x="7423553" y="2191155"/>
            <a:ext cx="4254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标准输入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stdin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被重定向到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ab.in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这个文件，后续的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（或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scanf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）写法不用改，但运行时会变成从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ab.in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这个文件里读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4FE3F8-3E65-42EC-8F47-56FB5111DDC8}"/>
              </a:ext>
            </a:extLst>
          </p:cNvPr>
          <p:cNvSpPr/>
          <p:nvPr/>
        </p:nvSpPr>
        <p:spPr>
          <a:xfrm>
            <a:off x="7423551" y="2708591"/>
            <a:ext cx="44452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标准输出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stdout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被重定向到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ab.out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这个文件，后续的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（或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）写法不用改，但运行时会变成写入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ab.out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这个文件里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CBC588-591D-4D50-89B9-2BDAF880E306}"/>
              </a:ext>
            </a:extLst>
          </p:cNvPr>
          <p:cNvSpPr/>
          <p:nvPr/>
        </p:nvSpPr>
        <p:spPr>
          <a:xfrm>
            <a:off x="6051955" y="1557592"/>
            <a:ext cx="14289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应该把</a:t>
            </a:r>
            <a:r>
              <a:rPr lang="en-US" altLang="zh-CN" sz="12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freopen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写在程序的最前面，所有其他程序代码之前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51B55793-79B0-452A-BA9B-A5A8E23053FD}"/>
              </a:ext>
            </a:extLst>
          </p:cNvPr>
          <p:cNvSpPr txBox="1">
            <a:spLocks/>
          </p:cNvSpPr>
          <p:nvPr/>
        </p:nvSpPr>
        <p:spPr>
          <a:xfrm>
            <a:off x="6626968" y="3278501"/>
            <a:ext cx="46863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/>
              <a:t>#include &lt;bits/</a:t>
            </a:r>
            <a:r>
              <a:rPr lang="en-US" altLang="zh-CN" dirty="0" err="1"/>
              <a:t>stdc</a:t>
            </a:r>
            <a:r>
              <a:rPr lang="en-US" altLang="zh-CN" dirty="0"/>
              <a:t>++.h&gt;</a:t>
            </a:r>
          </a:p>
          <a:p>
            <a:r>
              <a:rPr lang="en-US" altLang="zh-CN" dirty="0"/>
              <a:t>using namespace std;</a:t>
            </a:r>
          </a:p>
          <a:p>
            <a:r>
              <a:rPr lang="en-US" altLang="zh-CN" dirty="0"/>
              <a:t>int </a:t>
            </a:r>
            <a:r>
              <a:rPr lang="en-US" altLang="zh-CN" dirty="0" err="1"/>
              <a:t>n,x,sum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int main() {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    </a:t>
            </a:r>
            <a:r>
              <a:rPr lang="en-US" altLang="zh-CN" b="1" dirty="0" err="1">
                <a:solidFill>
                  <a:srgbClr val="FF0000"/>
                </a:solidFill>
              </a:rPr>
              <a:t>freopen</a:t>
            </a:r>
            <a:r>
              <a:rPr lang="en-US" altLang="zh-CN" b="1" dirty="0">
                <a:solidFill>
                  <a:srgbClr val="FF0000"/>
                </a:solidFill>
              </a:rPr>
              <a:t>("</a:t>
            </a:r>
            <a:r>
              <a:rPr lang="en-US" altLang="zh-CN" b="1" dirty="0" err="1">
                <a:solidFill>
                  <a:srgbClr val="FF0000"/>
                </a:solidFill>
              </a:rPr>
              <a:t>ab.in","r",stdin</a:t>
            </a:r>
            <a:r>
              <a:rPr lang="en-US" altLang="zh-CN" b="1" dirty="0">
                <a:solidFill>
                  <a:srgbClr val="FF0000"/>
                </a:solidFill>
              </a:rPr>
              <a:t>);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    </a:t>
            </a:r>
            <a:r>
              <a:rPr lang="en-US" altLang="zh-CN" b="1" dirty="0" err="1">
                <a:solidFill>
                  <a:srgbClr val="FF0000"/>
                </a:solidFill>
              </a:rPr>
              <a:t>freopen</a:t>
            </a:r>
            <a:r>
              <a:rPr lang="en-US" altLang="zh-CN" b="1" dirty="0">
                <a:solidFill>
                  <a:srgbClr val="FF0000"/>
                </a:solidFill>
              </a:rPr>
              <a:t>("ab.out","w",</a:t>
            </a:r>
            <a:r>
              <a:rPr lang="en-US" altLang="zh-CN" b="1" dirty="0" err="1">
                <a:solidFill>
                  <a:srgbClr val="FF0000"/>
                </a:solidFill>
              </a:rPr>
              <a:t>stdout</a:t>
            </a:r>
            <a:r>
              <a:rPr lang="en-US" altLang="zh-CN" b="1" dirty="0">
                <a:solidFill>
                  <a:srgbClr val="FF0000"/>
                </a:solidFill>
              </a:rPr>
              <a:t>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d",&amp;n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for(int </a:t>
            </a:r>
            <a:r>
              <a:rPr lang="en-US" altLang="zh-CN" dirty="0" err="1"/>
              <a:t>i</a:t>
            </a:r>
            <a:r>
              <a:rPr lang="en-US" altLang="zh-CN" dirty="0"/>
              <a:t>=0;i&lt;n;++</a:t>
            </a:r>
            <a:r>
              <a:rPr lang="en-US" altLang="zh-CN" dirty="0" err="1"/>
              <a:t>i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d",&amp;x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    sum+=x;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("%d\</a:t>
            </a:r>
            <a:r>
              <a:rPr lang="en-US" altLang="zh-CN" dirty="0" err="1"/>
              <a:t>n",sum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876D6F-1C30-423C-90F6-C3EBC5C818D8}"/>
              </a:ext>
            </a:extLst>
          </p:cNvPr>
          <p:cNvSpPr/>
          <p:nvPr/>
        </p:nvSpPr>
        <p:spPr>
          <a:xfrm>
            <a:off x="6929432" y="4245470"/>
            <a:ext cx="2906546" cy="524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F4A0FE-3CBC-4738-9D9C-677A0DF5AC84}"/>
              </a:ext>
            </a:extLst>
          </p:cNvPr>
          <p:cNvSpPr/>
          <p:nvPr/>
        </p:nvSpPr>
        <p:spPr>
          <a:xfrm>
            <a:off x="9284444" y="3960149"/>
            <a:ext cx="22133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scanf+printf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的例子</a:t>
            </a:r>
            <a:endParaRPr lang="en-US" altLang="zh-CN" sz="14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64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 animBg="1"/>
      <p:bldP spid="8" grpId="0"/>
      <p:bldP spid="9" grpId="0"/>
      <p:bldP spid="10" grpId="0"/>
      <p:bldP spid="11" grpId="0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751388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输入数据很大时，如何提高数据文件的读取效率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ifstream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+ fin</a:t>
            </a:r>
          </a:p>
          <a:p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FILE* + 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fscanf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freopen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+ 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freopen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+ 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+ 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ios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::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sync_with_stdio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(false)</a:t>
            </a:r>
          </a:p>
          <a:p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freopen</a:t>
            </a:r>
            <a:r>
              <a:rPr lang="en-US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+ </a:t>
            </a:r>
            <a:r>
              <a:rPr lang="en-US" altLang="zh-CN" sz="18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scanf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快速读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23F86B-D800-45CC-A8F1-22C2B943DF76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速度大比拼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B076D9-F8A4-4BD0-A94A-3CFE7CF3AE8F}"/>
              </a:ext>
            </a:extLst>
          </p:cNvPr>
          <p:cNvSpPr/>
          <p:nvPr/>
        </p:nvSpPr>
        <p:spPr>
          <a:xfrm>
            <a:off x="2775355" y="2948599"/>
            <a:ext cx="37397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速度最慢，在要读取大量数据的场合不要用</a:t>
            </a:r>
            <a:endParaRPr lang="en-US" altLang="zh-CN" sz="1400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A6BD2E-44ED-4FFA-8021-56C25806D790}"/>
              </a:ext>
            </a:extLst>
          </p:cNvPr>
          <p:cNvSpPr/>
          <p:nvPr/>
        </p:nvSpPr>
        <p:spPr>
          <a:xfrm>
            <a:off x="2842030" y="2027030"/>
            <a:ext cx="144421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这两种方式写起来比较麻烦，所以不推荐用</a:t>
            </a:r>
            <a:endParaRPr lang="en-US" altLang="zh-CN" sz="1400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D194C9-F314-4885-BBA2-07A39836EA29}"/>
              </a:ext>
            </a:extLst>
          </p:cNvPr>
          <p:cNvSpPr/>
          <p:nvPr/>
        </p:nvSpPr>
        <p:spPr>
          <a:xfrm>
            <a:off x="6404380" y="3392530"/>
            <a:ext cx="18728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速度还不错，可以用</a:t>
            </a:r>
            <a:endParaRPr lang="en-US" altLang="zh-CN" sz="1400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8CDC36-5B82-4904-B859-A466BD10AF31}"/>
              </a:ext>
            </a:extLst>
          </p:cNvPr>
          <p:cNvSpPr/>
          <p:nvPr/>
        </p:nvSpPr>
        <p:spPr>
          <a:xfrm>
            <a:off x="2956330" y="3838757"/>
            <a:ext cx="18728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速度还不错，可以用</a:t>
            </a:r>
            <a:endParaRPr lang="en-US" altLang="zh-CN" sz="1400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46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6446" y="1805823"/>
            <a:ext cx="4255338" cy="4124115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template &lt;typename T&gt; void read(T &amp;a) {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a=0; int flag=1; char ch = getchar();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while (ch &lt;'0' || ch&gt;'9') {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if (ch == '-') flag = -1;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ch = getchar();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do {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*10 + ch - '0';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ch = getchar();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} while('0' &lt;= ch &amp;&amp; ch &lt;= '9');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a *= flag;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E8B2A7E-CFF0-40BB-BBEA-FBDE1D26BB0B}"/>
              </a:ext>
            </a:extLst>
          </p:cNvPr>
          <p:cNvSpPr txBox="1">
            <a:spLocks/>
          </p:cNvSpPr>
          <p:nvPr/>
        </p:nvSpPr>
        <p:spPr>
          <a:xfrm>
            <a:off x="7921114" y="1805824"/>
            <a:ext cx="3289191" cy="3152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 fontAlgn="base">
              <a:lnSpc>
                <a:spcPct val="10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sz="1200" dirty="0"/>
              <a:t>int main(){</a:t>
            </a:r>
          </a:p>
          <a:p>
            <a:r>
              <a:rPr lang="en-US" altLang="zh-CN" sz="1200" dirty="0"/>
              <a:t>    </a:t>
            </a:r>
            <a:r>
              <a:rPr lang="en-US" altLang="zh-CN" sz="1200" dirty="0" err="1"/>
              <a:t>freopen</a:t>
            </a:r>
            <a:r>
              <a:rPr lang="en-US" altLang="zh-CN" sz="1200" dirty="0"/>
              <a:t>("</a:t>
            </a:r>
            <a:r>
              <a:rPr lang="en-US" altLang="zh-CN" sz="1200" dirty="0" err="1"/>
              <a:t>read.in","r",stdin</a:t>
            </a:r>
            <a:r>
              <a:rPr lang="en-US" altLang="zh-CN" sz="1200" dirty="0"/>
              <a:t>);</a:t>
            </a:r>
          </a:p>
          <a:p>
            <a:r>
              <a:rPr lang="en-US" altLang="zh-CN" sz="1200" dirty="0"/>
              <a:t>    </a:t>
            </a:r>
            <a:r>
              <a:rPr lang="en-US" altLang="zh-CN" sz="1200" dirty="0" err="1"/>
              <a:t>freopen</a:t>
            </a:r>
            <a:r>
              <a:rPr lang="en-US" altLang="zh-CN" sz="1200" dirty="0"/>
              <a:t>("read.out","w",</a:t>
            </a:r>
            <a:r>
              <a:rPr lang="en-US" altLang="zh-CN" sz="1200" dirty="0" err="1"/>
              <a:t>stdout</a:t>
            </a:r>
            <a:r>
              <a:rPr lang="en-US" altLang="zh-CN" sz="1200" dirty="0"/>
              <a:t>);</a:t>
            </a:r>
          </a:p>
          <a:p>
            <a:r>
              <a:rPr lang="en-US" altLang="zh-CN" sz="1200" dirty="0"/>
              <a:t>    int </a:t>
            </a:r>
            <a:r>
              <a:rPr lang="en-US" altLang="zh-CN" sz="1200" dirty="0" err="1"/>
              <a:t>x,y</a:t>
            </a:r>
            <a:r>
              <a:rPr lang="en-US" altLang="zh-CN" sz="1200" dirty="0"/>
              <a:t>;</a:t>
            </a:r>
          </a:p>
          <a:p>
            <a:r>
              <a:rPr lang="en-US" altLang="zh-CN" sz="1200" dirty="0"/>
              <a:t>    long </a:t>
            </a:r>
            <a:r>
              <a:rPr lang="en-US" altLang="zh-CN" sz="1200" dirty="0" err="1"/>
              <a:t>long</a:t>
            </a:r>
            <a:r>
              <a:rPr lang="en-US" altLang="zh-CN" sz="1200" dirty="0"/>
              <a:t> z;</a:t>
            </a:r>
          </a:p>
          <a:p>
            <a:r>
              <a:rPr lang="en-US" altLang="zh-CN" sz="1200" dirty="0"/>
              <a:t>    read(x);</a:t>
            </a:r>
          </a:p>
          <a:p>
            <a:r>
              <a:rPr lang="en-US" altLang="zh-CN" sz="1200" dirty="0"/>
              <a:t>    read(y);</a:t>
            </a:r>
          </a:p>
          <a:p>
            <a:r>
              <a:rPr lang="en-US" altLang="zh-CN" sz="1200" dirty="0"/>
              <a:t>    read(z);</a:t>
            </a:r>
          </a:p>
          <a:p>
            <a:r>
              <a:rPr lang="en-US" altLang="zh-CN" sz="1200" dirty="0"/>
              <a:t>    </a:t>
            </a:r>
            <a:r>
              <a:rPr lang="en-US" altLang="zh-CN" sz="1200" dirty="0" err="1"/>
              <a:t>cout</a:t>
            </a:r>
            <a:r>
              <a:rPr lang="en-US" altLang="zh-CN" sz="1200" dirty="0"/>
              <a:t>&lt;&lt;</a:t>
            </a:r>
            <a:r>
              <a:rPr lang="en-US" altLang="zh-CN" sz="1200" dirty="0" err="1"/>
              <a:t>x+y+z</a:t>
            </a:r>
            <a:r>
              <a:rPr lang="en-US" altLang="zh-CN" sz="1200" dirty="0"/>
              <a:t>;</a:t>
            </a:r>
          </a:p>
          <a:p>
            <a:r>
              <a:rPr lang="en-US" altLang="zh-CN" sz="1200" dirty="0"/>
              <a:t>}</a:t>
            </a:r>
            <a:endParaRPr lang="en" altLang="zh-CN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87607E-B389-4402-A9D0-9623C5D29C4A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快速读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C5D6E6E-8D4A-4530-B628-CD15305998EB}"/>
              </a:ext>
            </a:extLst>
          </p:cNvPr>
          <p:cNvSpPr txBox="1">
            <a:spLocks/>
          </p:cNvSpPr>
          <p:nvPr/>
        </p:nvSpPr>
        <p:spPr>
          <a:xfrm>
            <a:off x="285749" y="1467270"/>
            <a:ext cx="2962152" cy="4219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 fontAlgn="base">
              <a:lnSpc>
                <a:spcPct val="10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800" b="1" dirty="0">
                <a:ea typeface="微软雅黑" panose="020B0503020204020204" pitchFamily="34" charset="-122"/>
              </a:rPr>
              <a:t>思路</a:t>
            </a:r>
            <a:endParaRPr lang="en-US" altLang="zh-CN" sz="1800" b="1" dirty="0">
              <a:ea typeface="微软雅黑" panose="020B0503020204020204" pitchFamily="34" charset="-122"/>
            </a:endParaRPr>
          </a:p>
          <a:p>
            <a:r>
              <a:rPr lang="zh-CN" altLang="en-US" dirty="0">
                <a:ea typeface="微软雅黑" panose="020B0503020204020204" pitchFamily="34" charset="-122"/>
              </a:rPr>
              <a:t>使用 </a:t>
            </a:r>
            <a:r>
              <a:rPr lang="en-US" altLang="zh-CN" dirty="0" err="1">
                <a:ea typeface="微软雅黑" panose="020B0503020204020204" pitchFamily="34" charset="-122"/>
              </a:rPr>
              <a:t>getchar</a:t>
            </a:r>
            <a:r>
              <a:rPr lang="en-US" altLang="zh-CN" dirty="0"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ea typeface="微软雅黑" panose="020B0503020204020204" pitchFamily="34" charset="-122"/>
              </a:rPr>
              <a:t> 一个一个字符读取，自行拼装为数字类型</a:t>
            </a:r>
            <a:endParaRPr lang="en-US" altLang="zh-CN" dirty="0">
              <a:ea typeface="微软雅黑" panose="020B0503020204020204" pitchFamily="34" charset="-122"/>
            </a:endParaRPr>
          </a:p>
          <a:p>
            <a:r>
              <a:rPr lang="zh-CN" altLang="en-US" sz="1800" b="1" dirty="0">
                <a:ea typeface="微软雅黑" panose="020B0503020204020204" pitchFamily="34" charset="-122"/>
              </a:rPr>
              <a:t>步骤</a:t>
            </a:r>
            <a:endParaRPr lang="en-US" altLang="zh-CN" dirty="0">
              <a:ea typeface="微软雅黑" panose="020B0503020204020204" pitchFamily="34" charset="-122"/>
            </a:endParaRPr>
          </a:p>
          <a:p>
            <a:r>
              <a:rPr lang="en-US" altLang="zh-CN" dirty="0">
                <a:ea typeface="微软雅黑" panose="020B0503020204020204" pitchFamily="34" charset="-122"/>
              </a:rPr>
              <a:t>1</a:t>
            </a:r>
            <a:r>
              <a:rPr lang="zh-CN" altLang="en-US" dirty="0">
                <a:ea typeface="微软雅黑" panose="020B0503020204020204" pitchFamily="34" charset="-122"/>
              </a:rPr>
              <a:t>、过滤非数字字符，直到第一个数字字符（处理负号）</a:t>
            </a:r>
            <a:endParaRPr lang="en-US" altLang="zh-CN" dirty="0">
              <a:ea typeface="微软雅黑" panose="020B0503020204020204" pitchFamily="34" charset="-122"/>
            </a:endParaRPr>
          </a:p>
          <a:p>
            <a:r>
              <a:rPr lang="en-US" altLang="zh-CN" dirty="0">
                <a:ea typeface="微软雅黑" panose="020B0503020204020204" pitchFamily="34" charset="-122"/>
              </a:rPr>
              <a:t>2</a:t>
            </a:r>
            <a:r>
              <a:rPr lang="zh-CN" altLang="en-US" dirty="0">
                <a:ea typeface="微软雅黑" panose="020B0503020204020204" pitchFamily="34" charset="-122"/>
              </a:rPr>
              <a:t>、读取数字字符，拼装结果，直到非数字字符</a:t>
            </a:r>
            <a:endParaRPr lang="en-US" altLang="zh-CN" dirty="0">
              <a:ea typeface="微软雅黑" panose="020B0503020204020204" pitchFamily="34" charset="-122"/>
            </a:endParaRPr>
          </a:p>
          <a:p>
            <a:r>
              <a:rPr lang="en-US" altLang="zh-CN" dirty="0">
                <a:ea typeface="微软雅黑" panose="020B0503020204020204" pitchFamily="34" charset="-122"/>
              </a:rPr>
              <a:t>3</a:t>
            </a:r>
            <a:r>
              <a:rPr lang="zh-CN" altLang="en-US" dirty="0">
                <a:ea typeface="微软雅黑" panose="020B0503020204020204" pitchFamily="34" charset="-122"/>
              </a:rPr>
              <a:t>、</a:t>
            </a:r>
            <a:r>
              <a:rPr lang="zh-CN" altLang="en" dirty="0">
                <a:ea typeface="微软雅黑" panose="020B0503020204020204" pitchFamily="34" charset="-122"/>
              </a:rPr>
              <a:t>返回结果</a:t>
            </a:r>
            <a:endParaRPr lang="en-US" altLang="zh-CN" dirty="0">
              <a:ea typeface="微软雅黑" panose="020B0503020204020204" pitchFamily="34" charset="-122"/>
            </a:endParaRPr>
          </a:p>
          <a:p>
            <a:r>
              <a:rPr lang="zh-CN" altLang="en-US" sz="1800" b="1" dirty="0">
                <a:ea typeface="微软雅黑" panose="020B0503020204020204" pitchFamily="34" charset="-122"/>
              </a:rPr>
              <a:t>例如</a:t>
            </a:r>
            <a:endParaRPr lang="en-US" altLang="zh-CN" dirty="0">
              <a:ea typeface="微软雅黑" panose="020B0503020204020204" pitchFamily="34" charset="-122"/>
            </a:endParaRPr>
          </a:p>
          <a:p>
            <a:r>
              <a:rPr lang="en-US" altLang="zh-CN" dirty="0">
                <a:ea typeface="微软雅黑" panose="020B0503020204020204" pitchFamily="34" charset="-122"/>
              </a:rPr>
              <a:t>123</a:t>
            </a:r>
            <a:r>
              <a:rPr lang="zh-CN" altLang="en-US" dirty="0">
                <a:ea typeface="微软雅黑" panose="020B0503020204020204" pitchFamily="34" charset="-122"/>
              </a:rPr>
              <a:t> </a:t>
            </a:r>
            <a:r>
              <a:rPr lang="en-US" altLang="zh-CN" dirty="0">
                <a:ea typeface="微软雅黑" panose="020B0503020204020204" pitchFamily="34" charset="-122"/>
              </a:rPr>
              <a:t>-456</a:t>
            </a:r>
            <a:r>
              <a:rPr lang="zh-CN" altLang="en-US" dirty="0">
                <a:ea typeface="微软雅黑" panose="020B0503020204020204" pitchFamily="34" charset="-122"/>
              </a:rPr>
              <a:t> </a:t>
            </a:r>
            <a:r>
              <a:rPr lang="en-US" altLang="zh-CN" dirty="0">
                <a:ea typeface="微软雅黑" panose="020B0503020204020204" pitchFamily="34" charset="-122"/>
              </a:rPr>
              <a:t>789</a:t>
            </a:r>
          </a:p>
          <a:p>
            <a:r>
              <a:rPr lang="en-US" altLang="zh-CN" dirty="0">
                <a:ea typeface="微软雅黑" panose="020B0503020204020204" pitchFamily="34" charset="-122"/>
              </a:rPr>
              <a:t>987,654,-123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449B15-716A-41EF-B49A-0B943A08688A}"/>
              </a:ext>
            </a:extLst>
          </p:cNvPr>
          <p:cNvSpPr/>
          <p:nvPr/>
        </p:nvSpPr>
        <p:spPr>
          <a:xfrm>
            <a:off x="3476446" y="1467269"/>
            <a:ext cx="22133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快速读函数</a:t>
            </a:r>
            <a:endParaRPr lang="en-US" altLang="zh-CN" sz="1600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07B1C1-B147-43E6-9DFB-3E995A59AE49}"/>
              </a:ext>
            </a:extLst>
          </p:cNvPr>
          <p:cNvSpPr/>
          <p:nvPr/>
        </p:nvSpPr>
        <p:spPr>
          <a:xfrm>
            <a:off x="7921115" y="1467269"/>
            <a:ext cx="22133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调用函数示例</a:t>
            </a:r>
            <a:endParaRPr lang="en-US" altLang="zh-CN" sz="1600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6E85B03-54F5-4001-A9E1-6FDC49E0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368" y="3695211"/>
            <a:ext cx="1198717" cy="81056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F1A36E9-DA64-46D9-9131-FD4928739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656" y="5111187"/>
            <a:ext cx="1198717" cy="79914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ECA6878-7FD0-4585-A025-CB37A56DD348}"/>
              </a:ext>
            </a:extLst>
          </p:cNvPr>
          <p:cNvSpPr/>
          <p:nvPr/>
        </p:nvSpPr>
        <p:spPr>
          <a:xfrm>
            <a:off x="9342293" y="1554233"/>
            <a:ext cx="128246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保存为</a:t>
            </a:r>
            <a:r>
              <a:rPr lang="en-US" altLang="zh-CN" sz="10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D:\test.cpp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930AF42-7A36-4B99-8FB0-542343A24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731" y="4529368"/>
            <a:ext cx="2483401" cy="53447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8D59B9D-6708-4221-A5DD-98A11E2F73DF}"/>
              </a:ext>
            </a:extLst>
          </p:cNvPr>
          <p:cNvSpPr/>
          <p:nvPr/>
        </p:nvSpPr>
        <p:spPr>
          <a:xfrm>
            <a:off x="9900379" y="3322719"/>
            <a:ext cx="2196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在</a:t>
            </a:r>
            <a:r>
              <a:rPr lang="en-US" altLang="zh-CN" sz="800" dirty="0" err="1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DevC</a:t>
            </a:r>
            <a:r>
              <a:rPr lang="en-US" altLang="zh-CN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++</a:t>
            </a:r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里通过“文件</a:t>
            </a:r>
            <a:r>
              <a:rPr lang="en-US" altLang="zh-CN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-&gt;</a:t>
            </a:r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新建</a:t>
            </a:r>
            <a:r>
              <a:rPr lang="en-US" altLang="zh-CN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-&gt;</a:t>
            </a:r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源代码”创建文件，写</a:t>
            </a:r>
            <a:r>
              <a:rPr lang="en-US" altLang="zh-CN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个数字，保存为</a:t>
            </a:r>
            <a:r>
              <a:rPr lang="en-US" altLang="zh-CN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D:\read.in</a:t>
            </a:r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800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E6833B-95CD-4CD1-B1B2-885CB81133F0}"/>
              </a:ext>
            </a:extLst>
          </p:cNvPr>
          <p:cNvSpPr/>
          <p:nvPr/>
        </p:nvSpPr>
        <p:spPr>
          <a:xfrm>
            <a:off x="8093034" y="5279926"/>
            <a:ext cx="10872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C++</a:t>
            </a:r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会自动创建</a:t>
            </a:r>
            <a:r>
              <a:rPr lang="en-US" altLang="zh-CN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D:\read.out</a:t>
            </a:r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，并将运行结果会输出到该文件，可以用</a:t>
            </a:r>
            <a:r>
              <a:rPr lang="en-US" altLang="zh-CN" sz="800" dirty="0" err="1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DevC</a:t>
            </a:r>
            <a:r>
              <a:rPr lang="en-US" altLang="zh-CN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++</a:t>
            </a:r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打开查看</a:t>
            </a:r>
            <a:endParaRPr lang="en-US" altLang="zh-CN" sz="800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62FEE9-E164-4774-9120-78CA2CDFAA62}"/>
              </a:ext>
            </a:extLst>
          </p:cNvPr>
          <p:cNvSpPr/>
          <p:nvPr/>
        </p:nvSpPr>
        <p:spPr>
          <a:xfrm>
            <a:off x="11242017" y="3698729"/>
            <a:ext cx="855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【</a:t>
            </a:r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注意</a:t>
            </a:r>
            <a:r>
              <a:rPr lang="en-US" altLang="zh-CN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】</a:t>
            </a:r>
          </a:p>
          <a:p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“保存类型”选“</a:t>
            </a:r>
            <a:r>
              <a:rPr lang="en-US" altLang="zh-CN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All files</a:t>
            </a:r>
            <a:r>
              <a:rPr lang="zh-CN" altLang="en-US" sz="8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”</a:t>
            </a:r>
            <a:endParaRPr lang="zh-CN" altLang="en-US" sz="8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B4C3C94-F3C7-4876-AEB5-D81A5ADF795C}"/>
              </a:ext>
            </a:extLst>
          </p:cNvPr>
          <p:cNvSpPr/>
          <p:nvPr/>
        </p:nvSpPr>
        <p:spPr>
          <a:xfrm>
            <a:off x="11074062" y="1877548"/>
            <a:ext cx="94919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要确保</a:t>
            </a:r>
            <a:r>
              <a:rPr lang="en-US" altLang="zh-CN" sz="10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lang="en-US" altLang="zh-CN" sz="1000" dirty="0" err="1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cpp</a:t>
            </a:r>
            <a:r>
              <a:rPr lang="zh-CN" altLang="en-US" sz="10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文件和</a:t>
            </a:r>
            <a:r>
              <a:rPr lang="en-US" altLang="zh-CN" sz="10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read.in</a:t>
            </a:r>
            <a:r>
              <a:rPr lang="zh-CN" altLang="en-US" sz="10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在同一个文件夹下，</a:t>
            </a:r>
            <a:r>
              <a:rPr lang="en-US" altLang="zh-CN" sz="10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D:\</a:t>
            </a:r>
            <a:r>
              <a:rPr lang="zh-CN" altLang="en-US" sz="10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只是示意</a:t>
            </a:r>
            <a:endParaRPr lang="en-US" altLang="zh-CN" sz="1000" dirty="0">
              <a:solidFill>
                <a:srgbClr val="0082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CBCF5DF-088B-4047-916B-CA0E86C5929B}"/>
              </a:ext>
            </a:extLst>
          </p:cNvPr>
          <p:cNvCxnSpPr>
            <a:cxnSpLocks/>
          </p:cNvCxnSpPr>
          <p:nvPr/>
        </p:nvCxnSpPr>
        <p:spPr>
          <a:xfrm flipH="1" flipV="1">
            <a:off x="10515596" y="1746537"/>
            <a:ext cx="558466" cy="30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AA9F176-2A13-4626-9543-73380D2BAC0C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1548658" y="2739322"/>
            <a:ext cx="0" cy="590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64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 build="p"/>
      <p:bldP spid="9" grpId="0"/>
      <p:bldP spid="10" grpId="0"/>
      <p:bldP spid="13" grpId="0"/>
      <p:bldP spid="15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9036888" cy="280966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template &lt;typename T&gt; void read(T &amp;a){</a:t>
            </a:r>
          </a:p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a=0; int f=1; char ch=getchar();</a:t>
            </a:r>
          </a:p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while (ch &lt;'0'||ch&gt;'9') { if(ch=='-') f=-1; ch=getchar(); }</a:t>
            </a:r>
          </a:p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do { 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*10+ch-'0'; ch=getchar(); } while('0'&lt;=ch&amp;&amp;ch&lt;='9');</a:t>
            </a:r>
          </a:p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    a *= f;</a:t>
            </a:r>
          </a:p>
          <a:p>
            <a:pPr marL="0" indent="0" fontAlgn="base">
              <a:buNone/>
            </a:pPr>
            <a:r>
              <a:rPr lang="en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0E7E59-03DB-49DC-8E37-5F868383B783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快速读</a:t>
            </a:r>
          </a:p>
        </p:txBody>
      </p:sp>
    </p:spTree>
    <p:extLst>
      <p:ext uri="{BB962C8B-B14F-4D97-AF65-F5344CB8AC3E}">
        <p14:creationId xmlns:p14="http://schemas.microsoft.com/office/powerpoint/2010/main" val="2397196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39102</TotalTime>
  <Words>1502</Words>
  <Application>Microsoft Office PowerPoint</Application>
  <PresentationFormat>宽屏</PresentationFormat>
  <Paragraphs>201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华文楷体</vt:lpstr>
      <vt:lpstr>宋体</vt:lpstr>
      <vt:lpstr>微软雅黑</vt:lpstr>
      <vt:lpstr>Arial</vt:lpstr>
      <vt:lpstr>Consolas</vt:lpstr>
      <vt:lpstr>Tw Cen MT</vt:lpstr>
      <vt:lpstr>电路</vt:lpstr>
      <vt:lpstr>NOIP 语言基础（十二）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woodsgreen@126.com</cp:lastModifiedBy>
  <cp:revision>190</cp:revision>
  <dcterms:created xsi:type="dcterms:W3CDTF">2018-08-09T00:16:20Z</dcterms:created>
  <dcterms:modified xsi:type="dcterms:W3CDTF">2022-11-18T13:09:58Z</dcterms:modified>
</cp:coreProperties>
</file>