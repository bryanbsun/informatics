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345" r:id="rId3"/>
    <p:sldId id="341" r:id="rId4"/>
    <p:sldId id="343" r:id="rId5"/>
    <p:sldId id="346" r:id="rId6"/>
    <p:sldId id="363" r:id="rId7"/>
    <p:sldId id="351" r:id="rId8"/>
    <p:sldId id="349" r:id="rId9"/>
    <p:sldId id="362" r:id="rId10"/>
    <p:sldId id="261" r:id="rId11"/>
    <p:sldId id="357" r:id="rId12"/>
    <p:sldId id="358" r:id="rId13"/>
    <p:sldId id="359" r:id="rId14"/>
    <p:sldId id="360" r:id="rId15"/>
    <p:sldId id="35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2344" autoAdjust="0"/>
  </p:normalViewPr>
  <p:slideViewPr>
    <p:cSldViewPr snapToGrid="0">
      <p:cViewPr varScale="1">
        <p:scale>
          <a:sx n="100" d="100"/>
          <a:sy n="100" d="100"/>
        </p:scale>
        <p:origin x="5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2024/8/9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NOIP </a:t>
            </a:r>
            <a:r>
              <a:rPr lang="zh-CN" altLang="en-US" dirty="0"/>
              <a:t>语言基础（十二）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结构体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0397" y="2255455"/>
            <a:ext cx="2091446" cy="137160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29969" y="2611618"/>
            <a:ext cx="1357009" cy="17412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窗口重叠</a:t>
            </a:r>
          </a:p>
        </p:txBody>
      </p:sp>
      <p:sp>
        <p:nvSpPr>
          <p:cNvPr id="17" name="矩形 16"/>
          <p:cNvSpPr/>
          <p:nvPr/>
        </p:nvSpPr>
        <p:spPr>
          <a:xfrm>
            <a:off x="660225" y="4907685"/>
            <a:ext cx="370873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两个窗口的四个顶点的坐标分别为：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(l1,t1),(r1,t1),(l1,b1),(r1,b1)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(l2,t2),(r2,t2),(l2,b2),(r2,b2)</a:t>
            </a: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求相交部分的面积</a:t>
            </a:r>
          </a:p>
        </p:txBody>
      </p:sp>
      <p:sp>
        <p:nvSpPr>
          <p:cNvPr id="2" name="矩形 1"/>
          <p:cNvSpPr/>
          <p:nvPr/>
        </p:nvSpPr>
        <p:spPr>
          <a:xfrm>
            <a:off x="416414" y="6100102"/>
            <a:ext cx="37625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l: left; r: right; t: top; b: bottom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8" name="内容占位符 2"/>
          <p:cNvSpPr txBox="1"/>
          <p:nvPr/>
        </p:nvSpPr>
        <p:spPr>
          <a:xfrm>
            <a:off x="5951079" y="1348343"/>
            <a:ext cx="5862537" cy="558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#include&lt;bits/</a:t>
            </a:r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stdc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++.h&gt;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int l1,l2,l3,r1,r2,r3,t1,t2,t3,b1,b2,b3,ans=0;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&gt;&gt;l1&gt;&gt;r1&gt;&gt;t1&gt;&gt;b1&gt;&gt;l2&gt;&gt;r2&gt;&gt;t2&gt;&gt;b2;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return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650700" y="1687042"/>
            <a:ext cx="4245150" cy="99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656031" y="1688041"/>
            <a:ext cx="0" cy="31044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1410397" y="1688041"/>
            <a:ext cx="0" cy="5674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3501834" y="1687042"/>
            <a:ext cx="0" cy="5674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2934899" y="1687042"/>
            <a:ext cx="0" cy="9203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4286978" y="1687042"/>
            <a:ext cx="0" cy="9203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660225" y="2612328"/>
            <a:ext cx="227362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658460" y="4352886"/>
            <a:ext cx="227362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656031" y="2254456"/>
            <a:ext cx="75436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656030" y="3626326"/>
            <a:ext cx="75436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1226176" y="139179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l1</a:t>
            </a:r>
            <a:endParaRPr lang="zh-CN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307234" y="1388623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zh-CN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737629" y="1389235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l2</a:t>
            </a:r>
            <a:endParaRPr lang="zh-CN" altLang="en-US" sz="1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95259" y="1388622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zh-CN" altLang="en-US" sz="1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98024" y="2102462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t1</a:t>
            </a:r>
            <a:endParaRPr lang="zh-CN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93159" y="246016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t2</a:t>
            </a:r>
            <a:endParaRPr lang="zh-CN" altLang="en-US" sz="1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93159" y="3479070"/>
            <a:ext cx="383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b1</a:t>
            </a:r>
            <a:endParaRPr lang="zh-CN" altLang="en-US" sz="14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85761" y="4199377"/>
            <a:ext cx="398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b2</a:t>
            </a:r>
            <a:endParaRPr lang="zh-CN" altLang="en-US" sz="1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55025" y="142123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768787" y="138862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78825" y="462143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51079" y="3199103"/>
            <a:ext cx="3356201" cy="320877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l3=max(l1,l2);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r3=min(r1,r2);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t3=max(t1,t2);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b3=min(b1,b2);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ans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=(r3-l3)*(b3-t3);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ans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return 0;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  <a:endParaRPr lang="zh-CN" altLang="en-US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951079" y="4627592"/>
            <a:ext cx="3356207" cy="1758277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 lnSpcReduction="10000"/>
          </a:bodyPr>
          <a:lstStyle/>
          <a:p>
            <a:pPr defTabSz="914400"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if(l3&lt;r3&amp;&amp;t3&lt;b3)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ans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=(r3-l3)*(b3-t3);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ans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return 0;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  <a:endParaRPr lang="zh-CN" altLang="en-US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700696" y="4530876"/>
            <a:ext cx="29391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要考虑窗口不重叠的情况：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只有重叠时才计算重叠部分的面积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9" grpId="0" animBg="1"/>
      <p:bldP spid="10" grpId="0" animBg="1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612" y="1203080"/>
            <a:ext cx="4012634" cy="21275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struct 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类型名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数据类型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成员名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数据类型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成员名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……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4" name="内容占位符 2"/>
          <p:cNvSpPr txBox="1"/>
          <p:nvPr/>
        </p:nvSpPr>
        <p:spPr>
          <a:xfrm>
            <a:off x="5196955" y="1201475"/>
            <a:ext cx="3776568" cy="1742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struct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tScore</a:t>
            </a:r>
            <a:r>
              <a:rPr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char name[25],no[25];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double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math,chinese,english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结构体：定义</a:t>
            </a:r>
          </a:p>
        </p:txBody>
      </p:sp>
      <p:sp>
        <p:nvSpPr>
          <p:cNvPr id="8" name="矩形 7"/>
          <p:cNvSpPr/>
          <p:nvPr/>
        </p:nvSpPr>
        <p:spPr>
          <a:xfrm>
            <a:off x="1103152" y="2944034"/>
            <a:ext cx="14414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注意最后的分号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678610" y="3960048"/>
            <a:ext cx="4012634" cy="2262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struct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tScore</a:t>
            </a:r>
            <a:r>
              <a:rPr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char name[25],no[25];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double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math,chinese,english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student1,student2,a[100]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0" name="矩形 9"/>
          <p:cNvSpPr/>
          <p:nvPr/>
        </p:nvSpPr>
        <p:spPr>
          <a:xfrm>
            <a:off x="683421" y="3594242"/>
            <a:ext cx="3262432" cy="36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定义结构体类型时可同时定义变量</a:t>
            </a:r>
          </a:p>
        </p:txBody>
      </p:sp>
      <p:sp>
        <p:nvSpPr>
          <p:cNvPr id="11" name="矩形 10"/>
          <p:cNvSpPr/>
          <p:nvPr/>
        </p:nvSpPr>
        <p:spPr>
          <a:xfrm>
            <a:off x="678609" y="5600146"/>
            <a:ext cx="40126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定义结构体的同时定义了三个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tScore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类型的变量</a:t>
            </a:r>
          </a:p>
        </p:txBody>
      </p:sp>
      <p:sp>
        <p:nvSpPr>
          <p:cNvPr id="12" name="矩形 11"/>
          <p:cNvSpPr/>
          <p:nvPr/>
        </p:nvSpPr>
        <p:spPr>
          <a:xfrm>
            <a:off x="8973523" y="1473617"/>
            <a:ext cx="263064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结构体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tScore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中有五个变量：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两个字符数组分别表示姓名和学号，三个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double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分别表示数学、语文、英语的成绩</a:t>
            </a:r>
          </a:p>
        </p:txBody>
      </p:sp>
      <p:sp>
        <p:nvSpPr>
          <p:cNvPr id="13" name="内容占位符 2"/>
          <p:cNvSpPr txBox="1"/>
          <p:nvPr/>
        </p:nvSpPr>
        <p:spPr>
          <a:xfrm>
            <a:off x="5196954" y="3960048"/>
            <a:ext cx="6116313" cy="2262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struct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tScore</a:t>
            </a:r>
            <a:r>
              <a:rPr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char name[25],no[25];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double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math,chinese,english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tSocre student1,student2,a[100];</a:t>
            </a:r>
          </a:p>
        </p:txBody>
      </p:sp>
      <p:sp>
        <p:nvSpPr>
          <p:cNvPr id="14" name="矩形 13"/>
          <p:cNvSpPr/>
          <p:nvPr/>
        </p:nvSpPr>
        <p:spPr>
          <a:xfrm>
            <a:off x="5201765" y="3594242"/>
            <a:ext cx="3495921" cy="3658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也可以先定义结构体类型后定义变量</a:t>
            </a:r>
          </a:p>
        </p:txBody>
      </p:sp>
      <p:sp>
        <p:nvSpPr>
          <p:cNvPr id="15" name="矩形 14"/>
          <p:cNvSpPr/>
          <p:nvPr/>
        </p:nvSpPr>
        <p:spPr>
          <a:xfrm>
            <a:off x="5702661" y="5338483"/>
            <a:ext cx="31149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直接把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tScore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当数据类型来使用即可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78612" y="1486111"/>
            <a:ext cx="5077611" cy="1431485"/>
          </a:xfrm>
        </p:spPr>
        <p:txBody>
          <a:bodyPr>
            <a:norm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初始化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557530" indent="-285750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类似于数组初始化的语法，用花括号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557530" indent="-285750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变量的顺序与定义顺序一致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557530" indent="-285750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如果数据数量少于变量，不足部分自动初始化为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0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结构体：使用</a:t>
            </a:r>
          </a:p>
        </p:txBody>
      </p:sp>
      <p:sp>
        <p:nvSpPr>
          <p:cNvPr id="5" name="矩形 4"/>
          <p:cNvSpPr/>
          <p:nvPr/>
        </p:nvSpPr>
        <p:spPr>
          <a:xfrm>
            <a:off x="5001790" y="1878908"/>
            <a:ext cx="48558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tScore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student1={"zhangsan","0012",95.5,93,98};</a:t>
            </a:r>
            <a:endParaRPr lang="zh-CN" altLang="en-US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84316" y="3363919"/>
            <a:ext cx="59490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&lt;&lt;student1.no&lt;&lt;" "&lt;&lt;student1.name</a:t>
            </a:r>
            <a:r>
              <a:rPr lang="en-US" altLang="zh-CN" sz="140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&lt;&lt;" "&lt;&lt;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student1.math;</a:t>
            </a:r>
            <a:endParaRPr lang="zh-CN" altLang="en-US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4316" y="4214418"/>
            <a:ext cx="2768707" cy="19967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 n;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tScore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a[100];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&gt;&gt;n;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for(int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=n-1;i&gt;=1;--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for(int j=0;j&lt;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;++j)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swap(a[j],a[j+1]);</a:t>
            </a:r>
            <a:endParaRPr lang="zh-CN" altLang="en-US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8609" y="3760154"/>
            <a:ext cx="3698448" cy="36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可以以结构体变量为一个整体来操作</a:t>
            </a:r>
          </a:p>
        </p:txBody>
      </p:sp>
      <p:sp>
        <p:nvSpPr>
          <p:cNvPr id="12" name="矩形 11"/>
          <p:cNvSpPr/>
          <p:nvPr/>
        </p:nvSpPr>
        <p:spPr>
          <a:xfrm>
            <a:off x="678609" y="2917596"/>
            <a:ext cx="3288080" cy="36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用点运算符访问结构体中的变量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233464" y="1193295"/>
            <a:ext cx="5862535" cy="558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#include&lt;bits/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stdc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++.h&gt;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struct win{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// l: left; r: right; t: top; b: bottom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l,r,t,b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win w1,w2,w3;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read(win&amp; w){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w.l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w.r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&gt;&gt;w.t&gt;&gt;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w.b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内容占位符 2"/>
          <p:cNvSpPr txBox="1"/>
          <p:nvPr/>
        </p:nvSpPr>
        <p:spPr>
          <a:xfrm>
            <a:off x="6095999" y="1185171"/>
            <a:ext cx="5862537" cy="558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=0;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read(w1);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read(w2);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w3.l=max(w1.l,w2.l);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w3.r=min(w1.r,w2.r);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w3.t=max(w1.t,w2.t);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w3.b=min(w1.b,w2.b);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if(w3.l&lt;w3.r&amp;&amp;w3.t&lt;w3.b)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=(w3.r-w3.l)*(w3.b-w3.t);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窗口重叠</a:t>
            </a:r>
          </a:p>
        </p:txBody>
      </p:sp>
      <p:sp>
        <p:nvSpPr>
          <p:cNvPr id="8" name="矩形 7"/>
          <p:cNvSpPr/>
          <p:nvPr/>
        </p:nvSpPr>
        <p:spPr>
          <a:xfrm>
            <a:off x="656837" y="3373085"/>
            <a:ext cx="55483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定义结构体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win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，包含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类型的变量，分别表示上下左右的坐标</a:t>
            </a:r>
          </a:p>
        </p:txBody>
      </p:sp>
      <p:sp>
        <p:nvSpPr>
          <p:cNvPr id="9" name="矩形 8"/>
          <p:cNvSpPr/>
          <p:nvPr/>
        </p:nvSpPr>
        <p:spPr>
          <a:xfrm>
            <a:off x="1876038" y="3667272"/>
            <a:ext cx="42199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定义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win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类型的变量，分别表示输入的两个窗口和重叠部分的矩形</a:t>
            </a:r>
          </a:p>
        </p:txBody>
      </p:sp>
      <p:sp>
        <p:nvSpPr>
          <p:cNvPr id="10" name="矩形 9"/>
          <p:cNvSpPr/>
          <p:nvPr/>
        </p:nvSpPr>
        <p:spPr>
          <a:xfrm>
            <a:off x="656837" y="4962448"/>
            <a:ext cx="42199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形式参数为传引用参数，所以用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读入变量后直接改变了实际参数的值</a:t>
            </a:r>
          </a:p>
        </p:txBody>
      </p:sp>
      <p:sp>
        <p:nvSpPr>
          <p:cNvPr id="11" name="矩形 10"/>
          <p:cNvSpPr/>
          <p:nvPr/>
        </p:nvSpPr>
        <p:spPr>
          <a:xfrm>
            <a:off x="8957777" y="2905780"/>
            <a:ext cx="22653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用点运算符访问结构体中的变量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049726" y="1597402"/>
            <a:ext cx="2412931" cy="28548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用多个数组来表示一组复杂的数据（例如根据多门学科的成绩），对其进行排序，当需要交换时，要将每个数组分别进行交换。利用结构体来表示这样的复杂数据，优势很明显。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1780" indent="0">
              <a:buNone/>
            </a:pP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成绩排名</a:t>
            </a:r>
          </a:p>
        </p:txBody>
      </p:sp>
      <p:sp>
        <p:nvSpPr>
          <p:cNvPr id="9" name="内容占位符 5"/>
          <p:cNvSpPr txBox="1"/>
          <p:nvPr/>
        </p:nvSpPr>
        <p:spPr>
          <a:xfrm>
            <a:off x="330270" y="1279283"/>
            <a:ext cx="10634658" cy="4401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个学生的总成绩，总成绩高者排在前，若总成绩相同，先输入者排在前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8183" y="1719455"/>
            <a:ext cx="4005015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200" b="1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,id[310]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,i,j;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(i=0;i&lt;n;i++)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[i];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id[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]=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=n-1;i&gt;=1;--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j=0;j&lt;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;++j){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f=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(s[j]!=s[j+1])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    f=(s[j]&lt;s[j+1]);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en-US" altLang="zh-CN" sz="12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    f=id[j]&gt;id[j+1];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(f){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    swap(s[j],s[j+1]);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    swap(id[j],id[j+1]);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}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}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0;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3017188" y="258564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多个数组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989355" y="1719455"/>
            <a:ext cx="400501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score{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tot,id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s[310];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i,j;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main(){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(i=0;i&lt;n;i++)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[i]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.tot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s[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].id=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=n-1;i&gt;=1;--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j=0;j&lt;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;++j){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f=false;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(s[j].tot!=s[j+1].tot)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    f=(s[j].tot&lt;s[j+1].tot);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    f=s[j].id&gt;s[j+1].id;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(f)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    swap(s[j],s[j+1]);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}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0;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4" name="矩形 13"/>
          <p:cNvSpPr/>
          <p:nvPr/>
        </p:nvSpPr>
        <p:spPr>
          <a:xfrm>
            <a:off x="7088446" y="2429456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结构体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6" grpId="1" build="p"/>
      <p:bldP spid="12" grpId="0"/>
      <p:bldP spid="12" grpId="1"/>
      <p:bldP spid="3" grpId="0"/>
      <p:bldP spid="3" grpId="1"/>
      <p:bldP spid="13" grpId="0"/>
      <p:bldP spid="13" grpId="1"/>
      <p:bldP spid="14" grpId="0"/>
      <p:bldP spid="1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5"/>
          <p:cNvSpPr>
            <a:spLocks noGrp="1"/>
          </p:cNvSpPr>
          <p:nvPr>
            <p:ph idx="1"/>
          </p:nvPr>
        </p:nvSpPr>
        <p:spPr>
          <a:xfrm>
            <a:off x="678612" y="1486111"/>
            <a:ext cx="10368800" cy="51044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题目描述</a:t>
            </a:r>
          </a:p>
          <a:p>
            <a:pPr marL="0" indent="0">
              <a:buNone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某小学最近得到了一笔赞助，打算拿出其中一部分为学习成绩优秀的前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名学生发奖学金。期末，每个学生都有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门课的成绩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语文、数学、英语。先按总分从高到低排序，如果两个同学总分相同，再按语文成绩从高到低排序，如果两个同学总分和语文成绩都相同，那么规定学号小的同学排在前面，这样，每个学生的排序是唯一确定的。</a:t>
            </a:r>
          </a:p>
          <a:p>
            <a:pPr marL="0" indent="0">
              <a:buNone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任务：先根据输入的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门课的成绩计算总分，然后按上述规则排序，最后按排名顺序输出前五名名学生的学号和总分。注意，在前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名同学中，每个人的奖学金都不相同，因此，你必须严格按上述规则排序。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1600" b="1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  <a:endParaRPr lang="zh-CN" altLang="en-US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包含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n+1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行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行为一个正整数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，表示该校参加评选的学生人数。</a:t>
            </a:r>
          </a:p>
          <a:p>
            <a:pPr marL="0" indent="0">
              <a:buNone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n+1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行，每行有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个用空格隔开的数字，每个数字都在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之间。第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j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行的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个数字依次表示学号为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j-1 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的学生的语文、数学、英语的成绩。每个学生的学号按照输入顺序编号为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1~n (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恰好是输入数据的行号减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1)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1600" b="1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1600" b="1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共有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行，每行是两个用空格隔开的正整数，依次表示前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名学生的学号和总分。</a:t>
            </a:r>
          </a:p>
        </p:txBody>
      </p:sp>
      <p:sp>
        <p:nvSpPr>
          <p:cNvPr id="6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奖学金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56161" y="2090172"/>
            <a:ext cx="6177295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idx[305],ch[305],ma[305],en[305],tot[305],temp,n,i,j;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(i=0;i&lt;n;i++){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cin&gt;&gt;ch[i]&gt;&gt;ma[i]&gt;&gt;en[i];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tot[i]=ch[i]+ma[i]+en[i];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idx[i]=i+1;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/>
          </a:p>
        </p:txBody>
      </p:sp>
      <p:sp>
        <p:nvSpPr>
          <p:cNvPr id="7" name="矩形 6"/>
          <p:cNvSpPr/>
          <p:nvPr/>
        </p:nvSpPr>
        <p:spPr>
          <a:xfrm>
            <a:off x="6095998" y="1218085"/>
            <a:ext cx="6096000" cy="550920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(i=n-1;i&gt;=1;--i){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(j=0;j&lt;i;++j){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large=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(tot[j]!=tot[j+1])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large=(tot[j]&lt;tot[j+1]);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(ch[j]!=ch[j+1]) 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large=(ch[j]&lt;ch[j+1]);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large=(idx[j]&gt;idx[j+1]);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(large){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swap(idx[j],idx[j+1]);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swap(ch[j],ch[j+1]);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swap(ma[j],ma[j+1]);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swap(en[j],en[j+1]);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swap(tot[j],tot[j+1]);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(i=0;i&lt;5;i++)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cout&lt;&lt;idx[i]&lt;&lt;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&lt;&lt;tot[i]&lt;&lt;endl;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Arial" panose="020B0604020202020204" pitchFamily="34" charset="0"/>
            </a:endParaRPr>
          </a:p>
        </p:txBody>
      </p:sp>
      <p:sp>
        <p:nvSpPr>
          <p:cNvPr id="9" name="内容占位符 5"/>
          <p:cNvSpPr>
            <a:spLocks noGrp="1"/>
          </p:cNvSpPr>
          <p:nvPr>
            <p:ph idx="1"/>
          </p:nvPr>
        </p:nvSpPr>
        <p:spPr>
          <a:xfrm>
            <a:off x="256162" y="1359601"/>
            <a:ext cx="5839838" cy="517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多个数组的写法</a:t>
            </a:r>
          </a:p>
        </p:txBody>
      </p:sp>
      <p:sp>
        <p:nvSpPr>
          <p:cNvPr id="8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奖学金</a:t>
            </a:r>
          </a:p>
        </p:txBody>
      </p:sp>
      <p:sp>
        <p:nvSpPr>
          <p:cNvPr id="3" name="矩形 2"/>
          <p:cNvSpPr/>
          <p:nvPr/>
        </p:nvSpPr>
        <p:spPr>
          <a:xfrm>
            <a:off x="9850612" y="1316708"/>
            <a:ext cx="18774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large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true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表示不符合排序要求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需要交换。注意每次进入循环时都要将其初始化为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false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620286" y="3457897"/>
            <a:ext cx="187743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如果需要交换，执行交换</a:t>
            </a:r>
            <a:endParaRPr lang="zh-CN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61414" y="2377126"/>
            <a:ext cx="3975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需要为序号、语文、数学、英语、总分各开个数组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排序时，如果要交换，这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个数组对应的元素全都要交换</a:t>
            </a:r>
            <a:endParaRPr lang="zh-CN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9" grpId="1" build="p"/>
      <p:bldP spid="3" grpId="0"/>
      <p:bldP spid="3" grpId="1"/>
      <p:bldP spid="4" grpId="0"/>
      <p:bldP spid="4" grpId="1"/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095998" y="1218085"/>
            <a:ext cx="6096000" cy="427809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(i=n-1;i&gt;=1;--i){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(j=0;j&lt;i;++j){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large=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[j]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.tot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!=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[j+1]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.tot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large=(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[j]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.tot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[j+1]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.tot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[j]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!=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[j+1]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large=(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[j]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[j+1]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large=(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[j]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[j+1]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(large)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swap(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[j],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[j+1]);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(i=0;i&lt;5;i++)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[i]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[i]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.tot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&lt;&lt;endl;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内容占位符 5"/>
          <p:cNvSpPr>
            <a:spLocks noGrp="1"/>
          </p:cNvSpPr>
          <p:nvPr>
            <p:ph idx="1"/>
          </p:nvPr>
        </p:nvSpPr>
        <p:spPr>
          <a:xfrm>
            <a:off x="256162" y="1359601"/>
            <a:ext cx="5839838" cy="517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结构体的写法</a:t>
            </a:r>
          </a:p>
        </p:txBody>
      </p:sp>
      <p:sp>
        <p:nvSpPr>
          <p:cNvPr id="8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奖学金</a:t>
            </a:r>
          </a:p>
        </p:txBody>
      </p:sp>
      <p:sp>
        <p:nvSpPr>
          <p:cNvPr id="3" name="矩形 2"/>
          <p:cNvSpPr/>
          <p:nvPr/>
        </p:nvSpPr>
        <p:spPr>
          <a:xfrm>
            <a:off x="9502269" y="1207850"/>
            <a:ext cx="17971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large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true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表示不符合排序要求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需要交换。注意每次进入循环时都要将其初始化为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false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499194" y="3464206"/>
            <a:ext cx="187743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如果需要交换，执行交换</a:t>
            </a:r>
            <a:endParaRPr lang="zh-CN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6162" y="2083715"/>
            <a:ext cx="558367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tScore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idx,ch,ma,en,tot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s[305];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n,i,j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(i=0;i&lt;n;i++){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&gt;&gt;s[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&gt;&gt;s[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].ma&gt;&gt;s[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s[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].tot=s[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ch+s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ma+s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s[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=i+1;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287486" y="2609761"/>
            <a:ext cx="20138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将序号、语文、数学、英语、总分合起来变成一个结构体，排序时，如果要交换，以结构体为单位做交换</a:t>
            </a:r>
            <a:endParaRPr lang="zh-CN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3" grpId="0"/>
      <p:bldP spid="3" grpId="1"/>
      <p:bldP spid="4" grpId="0"/>
      <p:bldP spid="4" grpId="1"/>
      <p:bldP spid="10" grpId="0"/>
      <p:bldP spid="10" grpId="1"/>
      <p:bldP spid="11" grpId="0"/>
      <p:bldP spid="1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分段计算运费</a:t>
            </a:r>
            <a:endParaRPr lang="en-US" altLang="zh-CN" sz="4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259089" y="1303212"/>
            <a:ext cx="71053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运输公司对所运货物实行分段计费。对于重量为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w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的货物，每千米每吨的基本运费为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p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元，折扣为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d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，运输里程为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千米，当里程处于不同里程阶段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时，折扣不同，如下表：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259089" y="2282481"/>
          <a:ext cx="2668095" cy="15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9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阶段里程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（千米）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折扣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90"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s&lt;250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不打折扣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90"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250≤s&lt;500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2%</a:t>
                      </a:r>
                      <a:r>
                        <a:rPr lang="zh-C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折扣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9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500≤s&lt;1000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r>
                        <a:rPr lang="zh-C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折扣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9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1000≤s&lt;2000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8%</a:t>
                      </a:r>
                      <a:r>
                        <a:rPr lang="zh-C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折扣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9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2000≤s&lt;3000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  <a:r>
                        <a:rPr lang="zh-C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折扣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3000≤s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折扣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59089" y="4052429"/>
            <a:ext cx="710534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三个正整数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，两两之间以一个空格分开，分别表示每千米每吨的基本运费（单位为元）、重量（单位为吨）、运输里程（单位为千米）。其中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p≤100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w≤100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m≤100,000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输出一行，包含一个整数，表示运费将小数部分四舍五入后得到的整数部分。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样例输入：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15 10 700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样例输出：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102750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样例输入：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17 9 100000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样例输出：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13041720</a:t>
            </a:r>
            <a:endParaRPr lang="zh-CN" altLang="en-US" sz="1400" dirty="0"/>
          </a:p>
        </p:txBody>
      </p:sp>
      <p:sp>
        <p:nvSpPr>
          <p:cNvPr id="5" name="矩形 4"/>
          <p:cNvSpPr/>
          <p:nvPr/>
        </p:nvSpPr>
        <p:spPr>
          <a:xfrm>
            <a:off x="5030212" y="2154600"/>
            <a:ext cx="433421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每阶段运费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的计算公式为：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f=p*w*s*(1-d)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分别为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700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时，运费计算过程：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f1=15*10*250*(1-0)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f2=15*10*(500-250)*(1-2%)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f3=15*10*(700-500)*(1-5%)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f=f1+f2+f3=102750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设计程序，根据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计算总运费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分段计算运费</a:t>
            </a:r>
            <a:endParaRPr lang="en-US" altLang="zh-CN" sz="4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内容占位符 2"/>
          <p:cNvSpPr txBox="1"/>
          <p:nvPr/>
        </p:nvSpPr>
        <p:spPr>
          <a:xfrm>
            <a:off x="2685449" y="1206515"/>
            <a:ext cx="3996935" cy="55415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p,w,m,s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=0,d,f,f1;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&gt;&gt;p&gt;&gt;w&gt;&gt;m;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f1=p*w;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&lt;&lt;fixed&lt;&lt;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setprecision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(0)&lt;&lt;f;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矩形 7"/>
          <p:cNvSpPr/>
          <p:nvPr/>
        </p:nvSpPr>
        <p:spPr>
          <a:xfrm>
            <a:off x="111701" y="1200024"/>
            <a:ext cx="236516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分析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每一段的折扣都不一样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一旦明确了要加上某个阶段的运费，这个阶段的运费计算方法是固定的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自然而然的思路：依次判断里程是否超过第一阶段、超过第二阶段、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、超过第六阶段，如果超过，就加上该阶段的运费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对于超过上一个阶段但又未超过当前阶段的情况，对超出部分单独计算运费并加上</a:t>
            </a:r>
            <a:endParaRPr lang="zh-CN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75992" y="54616"/>
            <a:ext cx="6096000" cy="6771084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(m&lt;250)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f=f1*m;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s+=f1*250;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d=1-0.02;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(m&lt;500)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f=s+f1*(m-250)*d;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s+=f1*(500-250)*d;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d=1-0.05;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(m&lt;1000)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f=s+f1*(m-500)*d;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s+=f1*(1000-500)*d;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d=1-0.08;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(m&lt;2000)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f=s+f1*(m-1000)*d;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s+=f1*(2000-1000)*d;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d=1-0.1;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(m&lt;3000)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f=s+f1*(m-2000)*d;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s+=f1*(3000-2000)*d;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d=1-0.15;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f=s+f1*(m-3000)*d;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15489" y="2717151"/>
            <a:ext cx="2207393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(m&lt;250)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f=f1*m;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s+=f1*250;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d=1-0.02;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(m&lt;500)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f=s+f1*(m-250)*d;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s+=f1*(500-250)*d;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d=1-0.05;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(m&lt;1000)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f=s+f1*(m-500)*d;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s+=f1*(1000-500)*d;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d=1-0.08;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(m&lt;2000)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f=s+f1*(m-1000)*d;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s+=f1*(2000-1000)*d;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d=1-0.1;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(m&lt;3000)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f=s+f1*(m-2000)*d;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altLang="zh-CN" sz="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s+=f1*(3000-2000)*d;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d=1-0.15;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f=s+f1*(m-3000)*d;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endParaRPr lang="zh-CN" altLang="en-US" sz="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分段计算运费</a:t>
            </a:r>
            <a:endParaRPr lang="en-US" altLang="zh-CN" sz="4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1036734" y="2121315"/>
            <a:ext cx="9296874" cy="397031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>
                <a:solidFill>
                  <a:srgbClr val="808080"/>
                </a:solidFill>
              </a:rPr>
              <a:t>#include &lt;bits/stdc++.h&gt;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zh-CN" altLang="zh-CN" b="1" dirty="0">
                <a:solidFill>
                  <a:srgbClr val="006699"/>
                </a:solidFill>
              </a:rPr>
              <a:t>using</a:t>
            </a:r>
            <a:r>
              <a:rPr lang="zh-CN" altLang="zh-CN" dirty="0">
                <a:solidFill>
                  <a:schemeClr val="tx1"/>
                </a:solidFill>
              </a:rPr>
              <a:t> </a:t>
            </a:r>
            <a:r>
              <a:rPr lang="zh-CN" altLang="zh-CN" b="1" dirty="0">
                <a:solidFill>
                  <a:srgbClr val="006699"/>
                </a:solidFill>
              </a:rPr>
              <a:t>namespace</a:t>
            </a:r>
            <a:r>
              <a:rPr lang="zh-CN" altLang="zh-CN" dirty="0">
                <a:solidFill>
                  <a:schemeClr val="tx1"/>
                </a:solidFill>
              </a:rPr>
              <a:t> </a:t>
            </a:r>
            <a:r>
              <a:rPr lang="zh-CN" altLang="zh-CN" dirty="0">
                <a:solidFill>
                  <a:srgbClr val="000000"/>
                </a:solidFill>
              </a:rPr>
              <a:t>std;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rgbClr val="808080"/>
                </a:solidFill>
              </a:rPr>
              <a:t>int</a:t>
            </a:r>
            <a:r>
              <a:rPr lang="en-US" altLang="zh-CN" dirty="0"/>
              <a:t> a[6]={  0,250, 500,1000,2000,  3000};</a:t>
            </a:r>
          </a:p>
          <a:p>
            <a:r>
              <a:rPr lang="en-US" altLang="zh-CN" b="1" dirty="0">
                <a:solidFill>
                  <a:srgbClr val="808080"/>
                </a:solidFill>
              </a:rPr>
              <a:t>int</a:t>
            </a:r>
            <a:r>
              <a:rPr lang="en-US" altLang="zh-CN" dirty="0"/>
              <a:t> b[6]={250,500,1000,2000,3000,100000};</a:t>
            </a:r>
          </a:p>
          <a:p>
            <a:r>
              <a:rPr lang="en-US" altLang="zh-CN" b="1" dirty="0">
                <a:solidFill>
                  <a:srgbClr val="808080"/>
                </a:solidFill>
              </a:rPr>
              <a:t>int</a:t>
            </a:r>
            <a:r>
              <a:rPr lang="en-US" altLang="zh-CN" dirty="0"/>
              <a:t> d[6]={100, 98,  95,  92,  90,    85};</a:t>
            </a:r>
          </a:p>
          <a:p>
            <a:r>
              <a:rPr lang="zh-CN" altLang="zh-CN" b="1" dirty="0">
                <a:solidFill>
                  <a:srgbClr val="808080"/>
                </a:solidFill>
              </a:rPr>
              <a:t>int</a:t>
            </a:r>
            <a:r>
              <a:rPr lang="zh-CN" altLang="zh-CN" dirty="0">
                <a:solidFill>
                  <a:schemeClr val="tx1"/>
                </a:solidFill>
              </a:rPr>
              <a:t> </a:t>
            </a:r>
            <a:r>
              <a:rPr lang="zh-CN" altLang="zh-CN" dirty="0">
                <a:solidFill>
                  <a:srgbClr val="000000"/>
                </a:solidFill>
              </a:rPr>
              <a:t>main(){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808080"/>
                </a:solidFill>
              </a:rPr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p,w,m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cin</a:t>
            </a:r>
            <a:r>
              <a:rPr lang="en-US" altLang="zh-CN" dirty="0"/>
              <a:t>&gt;&gt;p&gt;&gt;w&gt;&gt;m;</a:t>
            </a:r>
          </a:p>
          <a:p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808080"/>
                </a:solidFill>
              </a:rPr>
              <a:t>long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808080"/>
                </a:solidFill>
              </a:rPr>
              <a:t>long</a:t>
            </a:r>
            <a:r>
              <a:rPr lang="en-US" altLang="zh-CN" dirty="0"/>
              <a:t> f=0,f1=p*</a:t>
            </a:r>
            <a:r>
              <a:rPr lang="en-US" altLang="zh-CN" dirty="0" err="1"/>
              <a:t>w,s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006699"/>
                </a:solidFill>
              </a:rPr>
              <a:t>for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808080"/>
                </a:solidFill>
              </a:rPr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=0;i&lt;6;++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    </a:t>
            </a:r>
            <a:r>
              <a:rPr lang="en-US" altLang="zh-CN" b="1" dirty="0">
                <a:solidFill>
                  <a:srgbClr val="006699"/>
                </a:solidFill>
              </a:rPr>
              <a:t>if</a:t>
            </a:r>
            <a:r>
              <a:rPr lang="en-US" altLang="zh-CN" dirty="0"/>
              <a:t>(a[</a:t>
            </a:r>
            <a:r>
              <a:rPr lang="en-US" altLang="zh-CN" dirty="0" err="1"/>
              <a:t>i</a:t>
            </a:r>
            <a:r>
              <a:rPr lang="en-US" altLang="zh-CN" dirty="0"/>
              <a:t>]&lt;=m){</a:t>
            </a:r>
          </a:p>
          <a:p>
            <a:r>
              <a:rPr lang="en-US" altLang="zh-CN" dirty="0"/>
              <a:t>            s=f1*(min(</a:t>
            </a:r>
            <a:r>
              <a:rPr lang="en-US" altLang="zh-CN" dirty="0" err="1"/>
              <a:t>m,b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])-a[</a:t>
            </a:r>
            <a:r>
              <a:rPr lang="en-US" altLang="zh-CN" dirty="0" err="1"/>
              <a:t>i</a:t>
            </a:r>
            <a:r>
              <a:rPr lang="en-US" altLang="zh-CN" dirty="0"/>
              <a:t>])*d[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</a:p>
          <a:p>
            <a:endParaRPr lang="en-US" altLang="zh-CN" dirty="0"/>
          </a:p>
          <a:p>
            <a:r>
              <a:rPr lang="en-US" altLang="zh-CN" dirty="0"/>
              <a:t>            f+=s;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&lt;&lt;fixed&lt;&lt;</a:t>
            </a:r>
            <a:r>
              <a:rPr lang="en-US" altLang="zh-CN" dirty="0" err="1"/>
              <a:t>setprecision</a:t>
            </a:r>
            <a:r>
              <a:rPr lang="en-US" altLang="zh-CN" dirty="0"/>
              <a:t>(0)&lt;&lt;f/100.0;</a:t>
            </a:r>
          </a:p>
          <a:p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006699"/>
                </a:solidFill>
              </a:rPr>
              <a:t>return</a:t>
            </a:r>
            <a:r>
              <a:rPr lang="en-US" altLang="zh-CN" dirty="0"/>
              <a:t> 0;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12" name="矩形 11"/>
          <p:cNvSpPr/>
          <p:nvPr/>
        </p:nvSpPr>
        <p:spPr>
          <a:xfrm>
            <a:off x="1036734" y="1284829"/>
            <a:ext cx="37839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重复了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次“距离是否超过某个阶段的上限”，是又如何如何、不是又如何如何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重复的工作都可以用循环来解决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098088" y="4668305"/>
            <a:ext cx="850184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&lt;&lt;" "&lt;&lt;f1&lt;&lt;"*("&lt;&lt;min(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m,b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])&lt;&lt;"-"&lt;&lt;a[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]&lt;&lt;")*"&lt;&lt;d[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]&lt;&lt;"=&gt;"&lt;&lt;s&lt;&lt;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en-US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85171" y="4360528"/>
            <a:ext cx="20024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大法来调试程序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分段计算运费</a:t>
            </a:r>
            <a:endParaRPr lang="en-US" altLang="zh-CN" sz="4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1036734" y="1726469"/>
            <a:ext cx="10634659" cy="397031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>
                <a:solidFill>
                  <a:srgbClr val="808080"/>
                </a:solidFill>
              </a:rPr>
              <a:t>#include &lt;bits/stdc++.h&gt;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zh-CN" altLang="zh-CN" b="1" dirty="0">
                <a:solidFill>
                  <a:srgbClr val="006699"/>
                </a:solidFill>
              </a:rPr>
              <a:t>using</a:t>
            </a:r>
            <a:r>
              <a:rPr lang="zh-CN" altLang="zh-CN" dirty="0">
                <a:solidFill>
                  <a:schemeClr val="tx1"/>
                </a:solidFill>
              </a:rPr>
              <a:t> </a:t>
            </a:r>
            <a:r>
              <a:rPr lang="zh-CN" altLang="zh-CN" b="1" dirty="0">
                <a:solidFill>
                  <a:srgbClr val="006699"/>
                </a:solidFill>
              </a:rPr>
              <a:t>namespace</a:t>
            </a:r>
            <a:r>
              <a:rPr lang="zh-CN" altLang="zh-CN" dirty="0">
                <a:solidFill>
                  <a:schemeClr val="tx1"/>
                </a:solidFill>
              </a:rPr>
              <a:t> </a:t>
            </a:r>
            <a:r>
              <a:rPr lang="zh-CN" altLang="zh-CN" dirty="0">
                <a:solidFill>
                  <a:srgbClr val="000000"/>
                </a:solidFill>
              </a:rPr>
              <a:t>std;</a:t>
            </a:r>
            <a:endParaRPr lang="en-US" altLang="zh-CN" dirty="0">
              <a:solidFill>
                <a:srgbClr val="000000"/>
              </a:solidFill>
            </a:endParaRPr>
          </a:p>
          <a:p>
            <a:r>
              <a:rPr lang="en-US" altLang="zh-CN" b="1" dirty="0">
                <a:solidFill>
                  <a:srgbClr val="808080"/>
                </a:solidFill>
              </a:rPr>
              <a:t>struct</a:t>
            </a:r>
            <a:r>
              <a:rPr lang="en-US" altLang="zh-CN" dirty="0"/>
              <a:t> ss{</a:t>
            </a:r>
          </a:p>
          <a:p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808080"/>
                </a:solidFill>
              </a:rPr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a,b,d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 </a:t>
            </a:r>
            <a:r>
              <a:rPr lang="en-US" altLang="zh-CN" dirty="0" err="1"/>
              <a:t>ph</a:t>
            </a:r>
            <a:r>
              <a:rPr lang="en-US" altLang="zh-CN" dirty="0"/>
              <a:t>[6]={{0,250,100},{250,500,98},{500,1000,95},{1000,2000,92},{2000,3000,90},{3000,100000,85}};</a:t>
            </a:r>
          </a:p>
          <a:p>
            <a:r>
              <a:rPr lang="zh-CN" altLang="zh-CN" b="1" dirty="0">
                <a:solidFill>
                  <a:srgbClr val="808080"/>
                </a:solidFill>
              </a:rPr>
              <a:t>int</a:t>
            </a:r>
            <a:r>
              <a:rPr lang="zh-CN" altLang="zh-CN" dirty="0">
                <a:solidFill>
                  <a:schemeClr val="tx1"/>
                </a:solidFill>
              </a:rPr>
              <a:t> </a:t>
            </a:r>
            <a:r>
              <a:rPr lang="zh-CN" altLang="zh-CN" dirty="0">
                <a:solidFill>
                  <a:srgbClr val="000000"/>
                </a:solidFill>
              </a:rPr>
              <a:t>main(){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808080"/>
                </a:solidFill>
              </a:rPr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p,w,m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cin</a:t>
            </a:r>
            <a:r>
              <a:rPr lang="en-US" altLang="zh-CN" dirty="0"/>
              <a:t>&gt;&gt;p&gt;&gt;w&gt;&gt;m;</a:t>
            </a:r>
          </a:p>
          <a:p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808080"/>
                </a:solidFill>
              </a:rPr>
              <a:t>long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808080"/>
                </a:solidFill>
              </a:rPr>
              <a:t>long</a:t>
            </a:r>
            <a:r>
              <a:rPr lang="en-US" altLang="zh-CN" dirty="0"/>
              <a:t> f=0,f1=p*</a:t>
            </a:r>
            <a:r>
              <a:rPr lang="en-US" altLang="zh-CN" dirty="0" err="1"/>
              <a:t>w,s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006699"/>
                </a:solidFill>
              </a:rPr>
              <a:t>for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808080"/>
                </a:solidFill>
              </a:rPr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=0;i&lt;6;++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    </a:t>
            </a:r>
            <a:r>
              <a:rPr lang="en-US" altLang="zh-CN" b="1" dirty="0">
                <a:solidFill>
                  <a:srgbClr val="006699"/>
                </a:solidFill>
              </a:rPr>
              <a:t>if</a:t>
            </a:r>
            <a:r>
              <a:rPr lang="en-US" altLang="zh-CN" dirty="0"/>
              <a:t>(</a:t>
            </a:r>
            <a:r>
              <a:rPr lang="en-US" altLang="zh-CN" dirty="0" err="1"/>
              <a:t>ph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].a&lt;=m){</a:t>
            </a:r>
          </a:p>
          <a:p>
            <a:r>
              <a:rPr lang="en-US" altLang="zh-CN" dirty="0"/>
              <a:t>            s=f1*(min(</a:t>
            </a:r>
            <a:r>
              <a:rPr lang="en-US" altLang="zh-CN" dirty="0" err="1"/>
              <a:t>m,ph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].b)-</a:t>
            </a:r>
            <a:r>
              <a:rPr lang="en-US" altLang="zh-CN" dirty="0" err="1"/>
              <a:t>ph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].a)*</a:t>
            </a:r>
            <a:r>
              <a:rPr lang="en-US" altLang="zh-CN" dirty="0" err="1"/>
              <a:t>ph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].d;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 err="1"/>
              <a:t>i</a:t>
            </a:r>
            <a:r>
              <a:rPr lang="en-US" altLang="zh-CN" dirty="0"/>
              <a:t>&lt;&lt;" "&lt;&lt;f1&lt;&lt;"*("&lt;&lt;min(</a:t>
            </a:r>
            <a:r>
              <a:rPr lang="en-US" altLang="zh-CN" dirty="0" err="1"/>
              <a:t>m,ph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].b)&lt;&lt;"-"&lt;&lt;</a:t>
            </a:r>
            <a:r>
              <a:rPr lang="en-US" altLang="zh-CN" dirty="0" err="1"/>
              <a:t>ph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].a&lt;&lt;")*"&lt;&lt;</a:t>
            </a:r>
            <a:r>
              <a:rPr lang="en-US" altLang="zh-CN" dirty="0" err="1"/>
              <a:t>ph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].d&lt;&lt;"=&gt;"&lt;&lt;s&lt;&lt;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        f+=s;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&lt;&lt;fixed&lt;&lt;</a:t>
            </a:r>
            <a:r>
              <a:rPr lang="en-US" altLang="zh-CN" dirty="0" err="1"/>
              <a:t>setprecision</a:t>
            </a:r>
            <a:r>
              <a:rPr lang="en-US" altLang="zh-CN" dirty="0"/>
              <a:t>(0)&lt;&lt;f/100.0;</a:t>
            </a:r>
          </a:p>
          <a:p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006699"/>
                </a:solidFill>
              </a:rPr>
              <a:t>return</a:t>
            </a:r>
            <a:r>
              <a:rPr lang="en-US" altLang="zh-CN" dirty="0"/>
              <a:t> 0;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12" name="矩形 11"/>
          <p:cNvSpPr/>
          <p:nvPr/>
        </p:nvSpPr>
        <p:spPr>
          <a:xfrm>
            <a:off x="1036734" y="1339259"/>
            <a:ext cx="37839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可以用结构体代替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个数组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56162" y="2083715"/>
            <a:ext cx="558367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tScore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idx,ch,ma,en,tot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s[305];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n,i,j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tScore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s1,tScore s2){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(s1.tot!=s2.tot)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s1.tot&gt;s2.tot;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(s1.ch!=s2.ch)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s1.ch&gt;s2.ch;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s1.idx&lt;s2.idx;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52162" y="2083715"/>
            <a:ext cx="558367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(i=0;i&lt;n;i++){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&gt;&gt;s[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&gt;&gt;s[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].ma&gt;&gt;s[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s[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].tot=s[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ch+s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ma+s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s[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=i+1;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sort(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s,s+n,cmp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(i=0;i&lt;5;i++)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cout&lt;&lt;idx[i]&lt;&lt;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&lt;&lt;tot[i]&lt;&lt;endl;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内容占位符 5"/>
          <p:cNvSpPr>
            <a:spLocks noGrp="1"/>
          </p:cNvSpPr>
          <p:nvPr>
            <p:ph idx="1"/>
          </p:nvPr>
        </p:nvSpPr>
        <p:spPr>
          <a:xfrm>
            <a:off x="256162" y="1359601"/>
            <a:ext cx="5839838" cy="517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结构体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排序函数的写法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奖学金</a:t>
            </a:r>
          </a:p>
        </p:txBody>
      </p:sp>
      <p:sp>
        <p:nvSpPr>
          <p:cNvPr id="2" name="矩形 1"/>
          <p:cNvSpPr/>
          <p:nvPr/>
        </p:nvSpPr>
        <p:spPr>
          <a:xfrm>
            <a:off x="3287486" y="2609761"/>
            <a:ext cx="20138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将序号、语文、数学、英语、总分合起来变成一个结构体，排序时，如果要交换，以结构体为单位做交换</a:t>
            </a:r>
            <a:endParaRPr lang="zh-CN" altLang="zh-CN" sz="12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31080" y="3959420"/>
            <a:ext cx="18716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判断s1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排在</a:t>
            </a:r>
            <a:r>
              <a:rPr lang="zh-CN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s2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之前</a:t>
            </a:r>
            <a:r>
              <a:rPr lang="zh-CN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是否符合排序要求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zh-CN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符合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则</a:t>
            </a:r>
            <a:r>
              <a:rPr lang="zh-CN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返回true, 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否则</a:t>
            </a:r>
            <a:r>
              <a:rPr lang="zh-CN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返回false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725592" y="3846320"/>
            <a:ext cx="187164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调用排序函数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3897</Words>
  <Application>Microsoft Office PowerPoint</Application>
  <PresentationFormat>宽屏</PresentationFormat>
  <Paragraphs>451</Paragraphs>
  <Slides>15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等线</vt:lpstr>
      <vt:lpstr>华文楷体</vt:lpstr>
      <vt:lpstr>微软雅黑</vt:lpstr>
      <vt:lpstr>Arial</vt:lpstr>
      <vt:lpstr>Consolas</vt:lpstr>
      <vt:lpstr>Tw Cen MT</vt:lpstr>
      <vt:lpstr>电路</vt:lpstr>
      <vt:lpstr>NOIP 语言基础（十二）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谢谢大家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青 林</cp:lastModifiedBy>
  <cp:revision>343</cp:revision>
  <dcterms:created xsi:type="dcterms:W3CDTF">2018-08-09T00:16:00Z</dcterms:created>
  <dcterms:modified xsi:type="dcterms:W3CDTF">2024-08-09T04:26:44Z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9CCE0B31C1154CA7A4FB1F24B9171C33</vt:lpwstr>
  </property>
  <property fmtid="{D5CDD505-2E9C-101B-9397-08002B2CF9AE}" pid="3" name="KSOProductBuildVer">
    <vt:lpwstr>2052-11.1.0.11045</vt:lpwstr>
  </property>
</Properties>
</file>