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0"/>
  </p:notesMasterIdLst>
  <p:sldIdLst>
    <p:sldId id="256" r:id="rId2"/>
    <p:sldId id="345" r:id="rId3"/>
    <p:sldId id="341" r:id="rId4"/>
    <p:sldId id="365" r:id="rId5"/>
    <p:sldId id="343" r:id="rId6"/>
    <p:sldId id="346" r:id="rId7"/>
    <p:sldId id="363" r:id="rId8"/>
    <p:sldId id="261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6274" autoAdjust="0"/>
  </p:normalViewPr>
  <p:slideViewPr>
    <p:cSldViewPr snapToGrid="0">
      <p:cViewPr varScale="1">
        <p:scale>
          <a:sx n="124" d="100"/>
          <a:sy n="124" d="100"/>
        </p:scale>
        <p:origin x="78" y="6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11B5F-5A72-4726-AC3F-C438D330BC78}" type="datetimeFigureOut">
              <a:rPr lang="zh-CN" altLang="en-US" smtClean="0"/>
              <a:t>2021-11-27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0F2C92-0232-4362-81DA-2203573C83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48754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0F2C92-0232-4362-81DA-2203573C8389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21752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0F2C92-0232-4362-81DA-2203573C8389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87414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12192000" cy="6857999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11/27/2021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11/27/2021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11/27/2021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11/27/2021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11/27/2021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11/27/2021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11/27/2021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11/27/2021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11/27/2021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11/27/2021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11/27/2021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11/27/2021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11/27/2021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11/27/2021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图片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11/27/2021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11/27/2021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11/27/2021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图片 52">
            <a:extLst>
              <a:ext uri="{FF2B5EF4-FFF2-40B4-BE49-F238E27FC236}">
                <a16:creationId xmlns:a16="http://schemas.microsoft.com/office/drawing/2014/main" id="{130B2939-4C80-4B53-A9F0-B6A7EC450041}"/>
              </a:ext>
            </a:extLst>
          </p:cNvPr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8609" y="7541"/>
            <a:ext cx="10368800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8612" y="1486111"/>
            <a:ext cx="10368800" cy="51044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330C60AA-6FA4-4C93-AB01-EB959B7F178F}"/>
              </a:ext>
            </a:extLst>
          </p:cNvPr>
          <p:cNvSpPr txBox="1"/>
          <p:nvPr userDrawn="1"/>
        </p:nvSpPr>
        <p:spPr>
          <a:xfrm>
            <a:off x="9212580" y="6206490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高老师算法竞赛训练营</a:t>
            </a:r>
          </a:p>
        </p:txBody>
      </p:sp>
      <p:pic>
        <p:nvPicPr>
          <p:cNvPr id="51" name="图片 50">
            <a:extLst>
              <a:ext uri="{FF2B5EF4-FFF2-40B4-BE49-F238E27FC236}">
                <a16:creationId xmlns:a16="http://schemas.microsoft.com/office/drawing/2014/main" id="{D2271CAA-D55D-4D42-A776-E7EC3C72185F}"/>
              </a:ext>
            </a:extLst>
          </p:cNvPr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10812780" y="5361173"/>
            <a:ext cx="760094" cy="7659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jpg"/><Relationship Id="rId4" Type="http://schemas.openxmlformats.org/officeDocument/2006/relationships/image" Target="../media/image17.jp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NOIP </a:t>
            </a:r>
            <a:r>
              <a:rPr lang="zh-CN" altLang="en-US" dirty="0"/>
              <a:t>语言基础（十五）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程序中使用文件输入输出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9212580" y="6206490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高老师算法竞赛训练营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2780" y="5361173"/>
            <a:ext cx="760094" cy="7659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文本框 5"/>
          <p:cNvSpPr txBox="1"/>
          <p:nvPr/>
        </p:nvSpPr>
        <p:spPr>
          <a:xfrm>
            <a:off x="2564130" y="6206490"/>
            <a:ext cx="38779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latin typeface="+mj-ea"/>
                <a:ea typeface="+mj-ea"/>
              </a:rPr>
              <a:t>注意：请大家关闭自己的麦克风和摄像头</a:t>
            </a:r>
          </a:p>
        </p:txBody>
      </p:sp>
    </p:spTree>
    <p:extLst>
      <p:ext uri="{BB962C8B-B14F-4D97-AF65-F5344CB8AC3E}">
        <p14:creationId xmlns:p14="http://schemas.microsoft.com/office/powerpoint/2010/main" val="8062757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23">
            <a:extLst>
              <a:ext uri="{FF2B5EF4-FFF2-40B4-BE49-F238E27FC236}">
                <a16:creationId xmlns:a16="http://schemas.microsoft.com/office/drawing/2014/main" id="{0CD29F2F-A20B-48DA-9047-725D031DCF2B}"/>
              </a:ext>
            </a:extLst>
          </p:cNvPr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时钟旋转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D2C2D33-A702-41EE-8420-306D7294F9E6}"/>
              </a:ext>
            </a:extLst>
          </p:cNvPr>
          <p:cNvSpPr/>
          <p:nvPr/>
        </p:nvSpPr>
        <p:spPr>
          <a:xfrm>
            <a:off x="593967" y="1627695"/>
            <a:ext cx="469554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小明在观察时钟。第一次观察时是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点整，第二次观察时是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点整。请问时针从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点整走到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点整走过的角度是多少度？（假设从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到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小于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小时）</a:t>
            </a: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09CDF6D0-2E78-43CE-8D7C-486A8662C2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0946" y="1580212"/>
            <a:ext cx="1190625" cy="1190625"/>
          </a:xfrm>
          <a:prstGeom prst="rect">
            <a:avLst/>
          </a:prstGeom>
        </p:spPr>
      </p:pic>
      <p:pic>
        <p:nvPicPr>
          <p:cNvPr id="28" name="图片 27">
            <a:extLst>
              <a:ext uri="{FF2B5EF4-FFF2-40B4-BE49-F238E27FC236}">
                <a16:creationId xmlns:a16="http://schemas.microsoft.com/office/drawing/2014/main" id="{9F97C2F8-4E8F-4073-999C-472FAF6B20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581039"/>
            <a:ext cx="1190625" cy="1190625"/>
          </a:xfrm>
          <a:prstGeom prst="rect">
            <a:avLst/>
          </a:prstGeom>
        </p:spPr>
      </p:pic>
      <p:pic>
        <p:nvPicPr>
          <p:cNvPr id="31" name="图片 30">
            <a:extLst>
              <a:ext uri="{FF2B5EF4-FFF2-40B4-BE49-F238E27FC236}">
                <a16:creationId xmlns:a16="http://schemas.microsoft.com/office/drawing/2014/main" id="{4323DCDF-E83D-43CE-9D92-0442D1D4B1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33473" y="1580212"/>
            <a:ext cx="1190625" cy="1190625"/>
          </a:xfrm>
          <a:prstGeom prst="rect">
            <a:avLst/>
          </a:prstGeom>
        </p:spPr>
      </p:pic>
      <p:sp>
        <p:nvSpPr>
          <p:cNvPr id="48" name="矩形 47">
            <a:extLst>
              <a:ext uri="{FF2B5EF4-FFF2-40B4-BE49-F238E27FC236}">
                <a16:creationId xmlns:a16="http://schemas.microsoft.com/office/drawing/2014/main" id="{4BAFA436-5B17-427C-AF28-AA71D1B8095C}"/>
              </a:ext>
            </a:extLst>
          </p:cNvPr>
          <p:cNvSpPr/>
          <p:nvPr/>
        </p:nvSpPr>
        <p:spPr>
          <a:xfrm>
            <a:off x="612351" y="1292339"/>
            <a:ext cx="331633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题目要求</a:t>
            </a:r>
            <a:endParaRPr lang="en-US" altLang="zh-CN" sz="1600" b="1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19D0D824-B158-47E3-947F-05CC5A99804F}"/>
              </a:ext>
            </a:extLst>
          </p:cNvPr>
          <p:cNvSpPr/>
          <p:nvPr/>
        </p:nvSpPr>
        <p:spPr>
          <a:xfrm>
            <a:off x="593967" y="2577557"/>
            <a:ext cx="331634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输入</a:t>
            </a:r>
            <a:endParaRPr lang="en-US" altLang="zh-CN" sz="1600" b="1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50" name="内容占位符 2">
            <a:extLst>
              <a:ext uri="{FF2B5EF4-FFF2-40B4-BE49-F238E27FC236}">
                <a16:creationId xmlns:a16="http://schemas.microsoft.com/office/drawing/2014/main" id="{62F6AF08-0288-402F-A109-C66741EA149F}"/>
              </a:ext>
            </a:extLst>
          </p:cNvPr>
          <p:cNvSpPr txBox="1">
            <a:spLocks/>
          </p:cNvSpPr>
          <p:nvPr/>
        </p:nvSpPr>
        <p:spPr>
          <a:xfrm>
            <a:off x="600414" y="3712446"/>
            <a:ext cx="4689099" cy="3385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85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1143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1600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4pPr>
            <a:lvl5pPr marL="20574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5pPr>
            <a:lvl6pPr marL="25146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6pPr>
            <a:lvl7pPr marL="2971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7pPr>
            <a:lvl8pPr marL="3429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8pPr>
            <a:lvl9pPr marL="3886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9pPr>
          </a:lstStyle>
          <a:p>
            <a:r>
              <a:rPr lang="zh-CN" altLang="en-US" dirty="0"/>
              <a:t>一个整数，表示从</a:t>
            </a:r>
            <a:r>
              <a:rPr lang="en-US" altLang="zh-CN" dirty="0"/>
              <a:t>m</a:t>
            </a:r>
            <a:r>
              <a:rPr lang="zh-CN" altLang="en-US" dirty="0"/>
              <a:t>点整到</a:t>
            </a:r>
            <a:r>
              <a:rPr lang="en-US" altLang="zh-CN" dirty="0"/>
              <a:t>n</a:t>
            </a:r>
            <a:r>
              <a:rPr lang="zh-CN" altLang="en-US" dirty="0"/>
              <a:t>点整时针走过的度数。</a:t>
            </a:r>
            <a:endParaRPr lang="en-US" altLang="zh-CN" dirty="0"/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4770C5EC-8DC1-493D-ACD9-50283C2BBDDA}"/>
              </a:ext>
            </a:extLst>
          </p:cNvPr>
          <p:cNvSpPr/>
          <p:nvPr/>
        </p:nvSpPr>
        <p:spPr>
          <a:xfrm>
            <a:off x="600414" y="3367545"/>
            <a:ext cx="331633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输出</a:t>
            </a:r>
            <a:endParaRPr lang="en-US" altLang="zh-CN" sz="1600" b="1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52" name="内容占位符 2">
            <a:extLst>
              <a:ext uri="{FF2B5EF4-FFF2-40B4-BE49-F238E27FC236}">
                <a16:creationId xmlns:a16="http://schemas.microsoft.com/office/drawing/2014/main" id="{03E668C0-E6C9-45D6-8E0A-F82840F1B312}"/>
              </a:ext>
            </a:extLst>
          </p:cNvPr>
          <p:cNvSpPr txBox="1">
            <a:spLocks/>
          </p:cNvSpPr>
          <p:nvPr/>
        </p:nvSpPr>
        <p:spPr>
          <a:xfrm>
            <a:off x="593967" y="2916112"/>
            <a:ext cx="4695546" cy="3385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85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1143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1600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4pPr>
            <a:lvl5pPr marL="20574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5pPr>
            <a:lvl6pPr marL="25146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6pPr>
            <a:lvl7pPr marL="2971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7pPr>
            <a:lvl8pPr marL="3429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8pPr>
            <a:lvl9pPr marL="3886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9pPr>
          </a:lstStyle>
          <a:p>
            <a:r>
              <a:rPr lang="zh-CN" altLang="en-US" dirty="0"/>
              <a:t>两个整数</a:t>
            </a:r>
            <a:r>
              <a:rPr lang="en-US" altLang="zh-CN" dirty="0"/>
              <a:t>m</a:t>
            </a:r>
            <a:r>
              <a:rPr lang="zh-CN" altLang="en-US" dirty="0"/>
              <a:t>、</a:t>
            </a:r>
            <a:r>
              <a:rPr lang="en-US" altLang="zh-CN" dirty="0"/>
              <a:t>n</a:t>
            </a:r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≤</a:t>
            </a:r>
            <a:r>
              <a:rPr lang="en-US" altLang="zh-CN" dirty="0"/>
              <a:t>m</a:t>
            </a:r>
            <a:r>
              <a:rPr lang="zh-CN" altLang="en-US" dirty="0"/>
              <a:t>≤</a:t>
            </a:r>
            <a:r>
              <a:rPr lang="en-US" altLang="zh-CN" dirty="0"/>
              <a:t>12</a:t>
            </a:r>
            <a:r>
              <a:rPr lang="zh-CN" altLang="en-US" dirty="0"/>
              <a:t>，</a:t>
            </a:r>
            <a:r>
              <a:rPr lang="en-US" altLang="zh-CN" dirty="0"/>
              <a:t>1</a:t>
            </a:r>
            <a:r>
              <a:rPr lang="zh-CN" altLang="en-US" dirty="0"/>
              <a:t>≤</a:t>
            </a:r>
            <a:r>
              <a:rPr lang="en-US" altLang="zh-CN" dirty="0"/>
              <a:t>n</a:t>
            </a:r>
            <a:r>
              <a:rPr lang="zh-CN" altLang="en-US" dirty="0"/>
              <a:t>≤</a:t>
            </a:r>
            <a:r>
              <a:rPr lang="en-US" altLang="zh-CN" dirty="0"/>
              <a:t>12</a:t>
            </a:r>
            <a:r>
              <a:rPr lang="zh-CN" altLang="en-US" dirty="0"/>
              <a:t>）。</a:t>
            </a:r>
            <a:endParaRPr lang="en-US" altLang="zh-CN" dirty="0"/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BF4BF113-53E7-46E4-90DF-F242D374E3B4}"/>
              </a:ext>
            </a:extLst>
          </p:cNvPr>
          <p:cNvSpPr/>
          <p:nvPr/>
        </p:nvSpPr>
        <p:spPr>
          <a:xfrm>
            <a:off x="612351" y="4163879"/>
            <a:ext cx="236694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样例输入</a:t>
            </a:r>
            <a:r>
              <a:rPr lang="en-US" altLang="zh-CN" sz="1600" b="1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</a:t>
            </a:r>
          </a:p>
        </p:txBody>
      </p:sp>
      <p:sp>
        <p:nvSpPr>
          <p:cNvPr id="54" name="内容占位符 2">
            <a:extLst>
              <a:ext uri="{FF2B5EF4-FFF2-40B4-BE49-F238E27FC236}">
                <a16:creationId xmlns:a16="http://schemas.microsoft.com/office/drawing/2014/main" id="{E9B5A7C7-0E8D-46AB-A49D-E212912BA5F4}"/>
              </a:ext>
            </a:extLst>
          </p:cNvPr>
          <p:cNvSpPr txBox="1">
            <a:spLocks/>
          </p:cNvSpPr>
          <p:nvPr/>
        </p:nvSpPr>
        <p:spPr>
          <a:xfrm>
            <a:off x="612351" y="4502434"/>
            <a:ext cx="2366948" cy="3385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85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1143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1600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4pPr>
            <a:lvl5pPr marL="20574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5pPr>
            <a:lvl6pPr marL="25146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6pPr>
            <a:lvl7pPr marL="2971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7pPr>
            <a:lvl8pPr marL="3429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8pPr>
            <a:lvl9pPr marL="3886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9pPr>
          </a:lstStyle>
          <a:p>
            <a:r>
              <a:rPr lang="en-US" altLang="zh-CN" dirty="0"/>
              <a:t>7 11</a:t>
            </a: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4C2E0142-C3E7-43A1-B58D-E0D9B29ED97A}"/>
              </a:ext>
            </a:extLst>
          </p:cNvPr>
          <p:cNvSpPr/>
          <p:nvPr/>
        </p:nvSpPr>
        <p:spPr>
          <a:xfrm>
            <a:off x="2979299" y="4163879"/>
            <a:ext cx="236694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样例输出</a:t>
            </a:r>
            <a:r>
              <a:rPr lang="en-US" altLang="zh-CN" sz="1600" b="1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</a:t>
            </a:r>
          </a:p>
        </p:txBody>
      </p:sp>
      <p:sp>
        <p:nvSpPr>
          <p:cNvPr id="56" name="内容占位符 2">
            <a:extLst>
              <a:ext uri="{FF2B5EF4-FFF2-40B4-BE49-F238E27FC236}">
                <a16:creationId xmlns:a16="http://schemas.microsoft.com/office/drawing/2014/main" id="{D07F69F0-4040-4721-A077-D965C3A67B94}"/>
              </a:ext>
            </a:extLst>
          </p:cNvPr>
          <p:cNvSpPr txBox="1">
            <a:spLocks/>
          </p:cNvSpPr>
          <p:nvPr/>
        </p:nvSpPr>
        <p:spPr>
          <a:xfrm>
            <a:off x="2979299" y="4502434"/>
            <a:ext cx="2366948" cy="3385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85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1143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1600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4pPr>
            <a:lvl5pPr marL="20574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5pPr>
            <a:lvl6pPr marL="25146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6pPr>
            <a:lvl7pPr marL="2971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7pPr>
            <a:lvl8pPr marL="3429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8pPr>
            <a:lvl9pPr marL="3886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9pPr>
          </a:lstStyle>
          <a:p>
            <a:r>
              <a:rPr lang="en-US" altLang="zh-CN" dirty="0"/>
              <a:t>120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FD3F4A6B-CFBB-4D4D-95A5-A1D9F0EB1A89}"/>
              </a:ext>
            </a:extLst>
          </p:cNvPr>
          <p:cNvSpPr/>
          <p:nvPr/>
        </p:nvSpPr>
        <p:spPr>
          <a:xfrm>
            <a:off x="600414" y="4960939"/>
            <a:ext cx="236694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样例输入</a:t>
            </a:r>
            <a:r>
              <a:rPr lang="en-US" altLang="zh-CN" sz="1600" b="1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2</a:t>
            </a:r>
          </a:p>
        </p:txBody>
      </p:sp>
      <p:sp>
        <p:nvSpPr>
          <p:cNvPr id="58" name="内容占位符 2">
            <a:extLst>
              <a:ext uri="{FF2B5EF4-FFF2-40B4-BE49-F238E27FC236}">
                <a16:creationId xmlns:a16="http://schemas.microsoft.com/office/drawing/2014/main" id="{D6011DC0-AE92-4331-BF77-B6CDAB4230B4}"/>
              </a:ext>
            </a:extLst>
          </p:cNvPr>
          <p:cNvSpPr txBox="1">
            <a:spLocks/>
          </p:cNvSpPr>
          <p:nvPr/>
        </p:nvSpPr>
        <p:spPr>
          <a:xfrm>
            <a:off x="600414" y="5299494"/>
            <a:ext cx="2366948" cy="3385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85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1143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1600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4pPr>
            <a:lvl5pPr marL="20574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5pPr>
            <a:lvl6pPr marL="25146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6pPr>
            <a:lvl7pPr marL="2971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7pPr>
            <a:lvl8pPr marL="3429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8pPr>
            <a:lvl9pPr marL="3886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9pPr>
          </a:lstStyle>
          <a:p>
            <a:r>
              <a:rPr lang="en-US" altLang="zh-CN" dirty="0"/>
              <a:t>11 3</a:t>
            </a: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C2ACAE7A-BF42-473A-A71C-6E56B9397654}"/>
              </a:ext>
            </a:extLst>
          </p:cNvPr>
          <p:cNvSpPr/>
          <p:nvPr/>
        </p:nvSpPr>
        <p:spPr>
          <a:xfrm>
            <a:off x="2967362" y="4960939"/>
            <a:ext cx="236694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样例输出</a:t>
            </a:r>
            <a:r>
              <a:rPr lang="en-US" altLang="zh-CN" sz="1600" b="1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2</a:t>
            </a:r>
          </a:p>
        </p:txBody>
      </p:sp>
      <p:sp>
        <p:nvSpPr>
          <p:cNvPr id="60" name="内容占位符 2">
            <a:extLst>
              <a:ext uri="{FF2B5EF4-FFF2-40B4-BE49-F238E27FC236}">
                <a16:creationId xmlns:a16="http://schemas.microsoft.com/office/drawing/2014/main" id="{893029AE-24F1-464C-B1B6-FD750FFB3484}"/>
              </a:ext>
            </a:extLst>
          </p:cNvPr>
          <p:cNvSpPr txBox="1">
            <a:spLocks/>
          </p:cNvSpPr>
          <p:nvPr/>
        </p:nvSpPr>
        <p:spPr>
          <a:xfrm>
            <a:off x="2967362" y="5299494"/>
            <a:ext cx="2366948" cy="3385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85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1143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1600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4pPr>
            <a:lvl5pPr marL="20574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5pPr>
            <a:lvl6pPr marL="25146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6pPr>
            <a:lvl7pPr marL="2971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7pPr>
            <a:lvl8pPr marL="3429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8pPr>
            <a:lvl9pPr marL="3886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9pPr>
          </a:lstStyle>
          <a:p>
            <a:r>
              <a:rPr lang="en-US" altLang="zh-CN"/>
              <a:t>120</a:t>
            </a:r>
            <a:endParaRPr lang="en-US" altLang="zh-CN" dirty="0"/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10343497-699A-43DC-A483-600C9EB62AC1}"/>
              </a:ext>
            </a:extLst>
          </p:cNvPr>
          <p:cNvSpPr/>
          <p:nvPr/>
        </p:nvSpPr>
        <p:spPr>
          <a:xfrm>
            <a:off x="612351" y="5750927"/>
            <a:ext cx="236694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样例输入</a:t>
            </a:r>
            <a:r>
              <a:rPr lang="en-US" altLang="zh-CN" sz="1600" b="1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3</a:t>
            </a:r>
          </a:p>
        </p:txBody>
      </p:sp>
      <p:sp>
        <p:nvSpPr>
          <p:cNvPr id="62" name="内容占位符 2">
            <a:extLst>
              <a:ext uri="{FF2B5EF4-FFF2-40B4-BE49-F238E27FC236}">
                <a16:creationId xmlns:a16="http://schemas.microsoft.com/office/drawing/2014/main" id="{C250646D-5002-4C48-8111-AB107FEF2FD0}"/>
              </a:ext>
            </a:extLst>
          </p:cNvPr>
          <p:cNvSpPr txBox="1">
            <a:spLocks/>
          </p:cNvSpPr>
          <p:nvPr/>
        </p:nvSpPr>
        <p:spPr>
          <a:xfrm>
            <a:off x="612351" y="6089482"/>
            <a:ext cx="2366948" cy="3385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85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1143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1600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4pPr>
            <a:lvl5pPr marL="20574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5pPr>
            <a:lvl6pPr marL="25146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6pPr>
            <a:lvl7pPr marL="2971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7pPr>
            <a:lvl8pPr marL="3429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8pPr>
            <a:lvl9pPr marL="3886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9pPr>
          </a:lstStyle>
          <a:p>
            <a:r>
              <a:rPr lang="en-US" altLang="zh-CN" dirty="0"/>
              <a:t>1 12</a:t>
            </a: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66495D44-3978-496B-B01C-6A0B93354014}"/>
              </a:ext>
            </a:extLst>
          </p:cNvPr>
          <p:cNvSpPr/>
          <p:nvPr/>
        </p:nvSpPr>
        <p:spPr>
          <a:xfrm>
            <a:off x="2979299" y="5750927"/>
            <a:ext cx="236694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样例输出</a:t>
            </a:r>
            <a:r>
              <a:rPr lang="en-US" altLang="zh-CN" sz="1600" b="1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3</a:t>
            </a:r>
          </a:p>
        </p:txBody>
      </p:sp>
      <p:sp>
        <p:nvSpPr>
          <p:cNvPr id="64" name="内容占位符 2">
            <a:extLst>
              <a:ext uri="{FF2B5EF4-FFF2-40B4-BE49-F238E27FC236}">
                <a16:creationId xmlns:a16="http://schemas.microsoft.com/office/drawing/2014/main" id="{2FB86182-9A3E-4880-AB4E-D95E345E90BC}"/>
              </a:ext>
            </a:extLst>
          </p:cNvPr>
          <p:cNvSpPr txBox="1">
            <a:spLocks/>
          </p:cNvSpPr>
          <p:nvPr/>
        </p:nvSpPr>
        <p:spPr>
          <a:xfrm>
            <a:off x="2979299" y="6089482"/>
            <a:ext cx="2366948" cy="3385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85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1143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1600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4pPr>
            <a:lvl5pPr marL="20574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5pPr>
            <a:lvl6pPr marL="25146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6pPr>
            <a:lvl7pPr marL="2971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7pPr>
            <a:lvl8pPr marL="3429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8pPr>
            <a:lvl9pPr marL="3886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9pPr>
          </a:lstStyle>
          <a:p>
            <a:r>
              <a:rPr lang="en-US" altLang="zh-CN" dirty="0"/>
              <a:t>330</a:t>
            </a:r>
          </a:p>
        </p:txBody>
      </p:sp>
      <p:pic>
        <p:nvPicPr>
          <p:cNvPr id="35" name="图片 34">
            <a:extLst>
              <a:ext uri="{FF2B5EF4-FFF2-40B4-BE49-F238E27FC236}">
                <a16:creationId xmlns:a16="http://schemas.microsoft.com/office/drawing/2014/main" id="{09EB110D-DB73-433B-BF9F-5C051061C9E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3483518"/>
            <a:ext cx="3953427" cy="2257740"/>
          </a:xfrm>
          <a:prstGeom prst="rect">
            <a:avLst/>
          </a:prstGeom>
        </p:spPr>
      </p:pic>
      <p:sp>
        <p:nvSpPr>
          <p:cNvPr id="65" name="矩形 64">
            <a:extLst>
              <a:ext uri="{FF2B5EF4-FFF2-40B4-BE49-F238E27FC236}">
                <a16:creationId xmlns:a16="http://schemas.microsoft.com/office/drawing/2014/main" id="{47797D55-2C07-467D-BD2F-ABCE31E49CC8}"/>
              </a:ext>
            </a:extLst>
          </p:cNvPr>
          <p:cNvSpPr/>
          <p:nvPr/>
        </p:nvSpPr>
        <p:spPr>
          <a:xfrm>
            <a:off x="6096000" y="3138945"/>
            <a:ext cx="331633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程序如下：</a:t>
            </a:r>
            <a:endParaRPr lang="en-US" altLang="zh-CN" sz="1600" b="1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434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23">
            <a:extLst>
              <a:ext uri="{FF2B5EF4-FFF2-40B4-BE49-F238E27FC236}">
                <a16:creationId xmlns:a16="http://schemas.microsoft.com/office/drawing/2014/main" id="{FA8FE787-012B-4417-B8AD-ED30A41232D5}"/>
              </a:ext>
            </a:extLst>
          </p:cNvPr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文件输入输出的要求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CA55EED-7D95-4E10-9CAF-B682557C5183}"/>
              </a:ext>
            </a:extLst>
          </p:cNvPr>
          <p:cNvSpPr/>
          <p:nvPr/>
        </p:nvSpPr>
        <p:spPr>
          <a:xfrm>
            <a:off x="678609" y="1776328"/>
            <a:ext cx="4982270" cy="3658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lnSpc>
                <a:spcPct val="120000"/>
              </a:lnSpc>
              <a:spcBef>
                <a:spcPts val="1000"/>
              </a:spcBef>
              <a:buSzPct val="125000"/>
            </a:pP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通常，题目只要求使用标准输入与标准输出：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1B6273F-BAD0-4695-8115-2A625D625312}"/>
              </a:ext>
            </a:extLst>
          </p:cNvPr>
          <p:cNvSpPr/>
          <p:nvPr/>
        </p:nvSpPr>
        <p:spPr>
          <a:xfrm>
            <a:off x="6407208" y="1776328"/>
            <a:ext cx="3495921" cy="36580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defTabSz="914400">
              <a:lnSpc>
                <a:spcPct val="120000"/>
              </a:lnSpc>
              <a:spcBef>
                <a:spcPts val="1000"/>
              </a:spcBef>
              <a:buSzPct val="125000"/>
            </a:pP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但有时也会有特别的要求：</a:t>
            </a: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7F9BAB58-E8FC-482D-BE2E-A2B19FDD8E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609" y="2142134"/>
            <a:ext cx="4982270" cy="1790950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2F07E0F3-113E-4FE5-B94D-805667A4D8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7208" y="2142134"/>
            <a:ext cx="4906060" cy="2010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71421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23">
            <a:extLst>
              <a:ext uri="{FF2B5EF4-FFF2-40B4-BE49-F238E27FC236}">
                <a16:creationId xmlns:a16="http://schemas.microsoft.com/office/drawing/2014/main" id="{FA8FE787-012B-4417-B8AD-ED30A41232D5}"/>
              </a:ext>
            </a:extLst>
          </p:cNvPr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文件输入输出的要求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CA55EED-7D95-4E10-9CAF-B682557C5183}"/>
              </a:ext>
            </a:extLst>
          </p:cNvPr>
          <p:cNvSpPr/>
          <p:nvPr/>
        </p:nvSpPr>
        <p:spPr>
          <a:xfrm>
            <a:off x="678609" y="3238553"/>
            <a:ext cx="4982270" cy="3658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lnSpc>
                <a:spcPct val="120000"/>
              </a:lnSpc>
              <a:spcBef>
                <a:spcPts val="1000"/>
              </a:spcBef>
              <a:buSzPct val="125000"/>
            </a:pP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对应的程序：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1B6273F-BAD0-4695-8115-2A625D625312}"/>
              </a:ext>
            </a:extLst>
          </p:cNvPr>
          <p:cNvSpPr/>
          <p:nvPr/>
        </p:nvSpPr>
        <p:spPr>
          <a:xfrm>
            <a:off x="6296374" y="3238553"/>
            <a:ext cx="3495921" cy="36580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defTabSz="914400">
              <a:lnSpc>
                <a:spcPct val="120000"/>
              </a:lnSpc>
              <a:spcBef>
                <a:spcPts val="1000"/>
              </a:spcBef>
              <a:buSzPct val="125000"/>
            </a:pP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对应的程序（</a:t>
            </a:r>
            <a:r>
              <a:rPr lang="zh-CN" altLang="en-US" sz="16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多了</a:t>
            </a:r>
            <a:r>
              <a:rPr lang="en-US" altLang="zh-CN" sz="16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4</a:t>
            </a:r>
            <a:r>
              <a:rPr lang="zh-CN" altLang="en-US" sz="16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、</a:t>
            </a:r>
            <a:r>
              <a:rPr lang="en-US" altLang="zh-CN" sz="16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5</a:t>
            </a:r>
            <a:r>
              <a:rPr lang="zh-CN" altLang="en-US" sz="16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两行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）：</a:t>
            </a: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7F9BAB58-E8FC-482D-BE2E-A2B19FDD8E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609" y="1264700"/>
            <a:ext cx="4982270" cy="1790950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2F07E0F3-113E-4FE5-B94D-805667A4D8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6374" y="1262345"/>
            <a:ext cx="4906060" cy="2010056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9207668B-C655-4EBF-9DC1-0F518367ED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609" y="3787262"/>
            <a:ext cx="3953427" cy="225774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7A2B5E9A-1117-43D8-B28F-B84DE63660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6374" y="3765218"/>
            <a:ext cx="5382376" cy="2791215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361C1F0D-07EC-49E5-92E4-035521E2EC1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08410" y="5324156"/>
            <a:ext cx="993733" cy="93162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C72F7550-095E-4CFC-8058-836F2155977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52882" y="6253706"/>
            <a:ext cx="2173416" cy="317577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22F424CE-CF2B-41BA-BB73-4958B0120C0F}"/>
              </a:ext>
            </a:extLst>
          </p:cNvPr>
          <p:cNvSpPr/>
          <p:nvPr/>
        </p:nvSpPr>
        <p:spPr>
          <a:xfrm>
            <a:off x="7280566" y="4600575"/>
            <a:ext cx="4433888" cy="58817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65DDDE4-FF48-4209-AD91-741492E5472E}"/>
              </a:ext>
            </a:extLst>
          </p:cNvPr>
          <p:cNvSpPr/>
          <p:nvPr/>
        </p:nvSpPr>
        <p:spPr>
          <a:xfrm>
            <a:off x="10513373" y="2932141"/>
            <a:ext cx="1201081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40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提交试试</a:t>
            </a:r>
          </a:p>
        </p:txBody>
      </p:sp>
    </p:spTree>
    <p:extLst>
      <p:ext uri="{BB962C8B-B14F-4D97-AF65-F5344CB8AC3E}">
        <p14:creationId xmlns:p14="http://schemas.microsoft.com/office/powerpoint/2010/main" val="39804965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23">
            <a:extLst>
              <a:ext uri="{FF2B5EF4-FFF2-40B4-BE49-F238E27FC236}">
                <a16:creationId xmlns:a16="http://schemas.microsoft.com/office/drawing/2014/main" id="{8A710912-C2A3-4B5C-86F7-E6310BA3D22D}"/>
              </a:ext>
            </a:extLst>
          </p:cNvPr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文件输入输出的要求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6DB7B760-6762-4184-BDE9-B2DF038B74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1426" y="1345966"/>
            <a:ext cx="5382376" cy="2791215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BDE68D9D-B9FD-45F7-AF94-5EB33BD15421}"/>
              </a:ext>
            </a:extLst>
          </p:cNvPr>
          <p:cNvSpPr/>
          <p:nvPr/>
        </p:nvSpPr>
        <p:spPr>
          <a:xfrm>
            <a:off x="482693" y="3619726"/>
            <a:ext cx="5151489" cy="26372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写在</a:t>
            </a:r>
            <a:r>
              <a:rPr lang="en-US" altLang="zh-CN" sz="16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main</a:t>
            </a:r>
            <a:r>
              <a:rPr lang="zh-CN" altLang="en-US" sz="16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函数的最开头位置，所有其他代码之前。</a:t>
            </a:r>
            <a:endParaRPr lang="en-US" altLang="zh-CN" sz="1600" dirty="0">
              <a:solidFill>
                <a:srgbClr val="FF0000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两行都是</a:t>
            </a:r>
            <a:r>
              <a:rPr lang="en-US" altLang="zh-CN" sz="16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freopen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()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函数调用：</a:t>
            </a:r>
            <a:endParaRPr lang="en-US" altLang="zh-CN" sz="16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177800" lvl="0" indent="-1778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第一个参数，第一行写输入文件的文件名，第二行写输出文件的文件名（注意要加上双引号）</a:t>
            </a:r>
            <a:endParaRPr lang="en-US" altLang="zh-CN" sz="16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177800" lvl="0" indent="-1778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第二个参数，第一行写</a:t>
            </a: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"r"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，第二行写</a:t>
            </a: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"w"</a:t>
            </a:r>
          </a:p>
          <a:p>
            <a:pPr marL="177800" lvl="0" indent="-1778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第三个参数，第一行写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stdin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，第二行写</a:t>
            </a:r>
            <a:r>
              <a:rPr lang="en-US" altLang="zh-CN" sz="16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stdout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（注意没有引号）</a:t>
            </a:r>
            <a:endParaRPr lang="zh-CN" altLang="zh-CN" sz="16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84D1FC07-4347-4588-B206-04B4D3B540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1" y="1228219"/>
            <a:ext cx="4906060" cy="2010056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A00D5BCD-FF91-469D-8741-D8DD25979177}"/>
              </a:ext>
            </a:extLst>
          </p:cNvPr>
          <p:cNvSpPr/>
          <p:nvPr/>
        </p:nvSpPr>
        <p:spPr>
          <a:xfrm>
            <a:off x="9725890" y="2177831"/>
            <a:ext cx="1777911" cy="58817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C142411-8F11-4B2F-8A10-82A94C1B99F1}"/>
              </a:ext>
            </a:extLst>
          </p:cNvPr>
          <p:cNvSpPr/>
          <p:nvPr/>
        </p:nvSpPr>
        <p:spPr>
          <a:xfrm>
            <a:off x="11503801" y="2203589"/>
            <a:ext cx="62510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固定写法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19B7DB9-B8C9-460F-8B40-89D899A6D1A6}"/>
              </a:ext>
            </a:extLst>
          </p:cNvPr>
          <p:cNvSpPr/>
          <p:nvPr/>
        </p:nvSpPr>
        <p:spPr>
          <a:xfrm>
            <a:off x="9290615" y="1710122"/>
            <a:ext cx="185767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输</a:t>
            </a:r>
            <a:r>
              <a:rPr lang="zh-CN" altLang="en-US" sz="1400" b="1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入</a:t>
            </a:r>
            <a:r>
              <a:rPr lang="zh-CN" altLang="en-US" sz="14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文件是啥就写啥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7E32EB0-193E-4837-923F-2AEE79373B77}"/>
              </a:ext>
            </a:extLst>
          </p:cNvPr>
          <p:cNvSpPr/>
          <p:nvPr/>
        </p:nvSpPr>
        <p:spPr>
          <a:xfrm>
            <a:off x="8757169" y="2923651"/>
            <a:ext cx="185767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输</a:t>
            </a:r>
            <a:r>
              <a:rPr lang="zh-CN" altLang="en-US" sz="1400" b="1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出</a:t>
            </a:r>
            <a:r>
              <a:rPr lang="zh-CN" altLang="en-US" sz="14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文件是啥就写啥</a:t>
            </a:r>
          </a:p>
        </p:txBody>
      </p:sp>
      <p:sp>
        <p:nvSpPr>
          <p:cNvPr id="20" name="箭头: 右 19">
            <a:extLst>
              <a:ext uri="{FF2B5EF4-FFF2-40B4-BE49-F238E27FC236}">
                <a16:creationId xmlns:a16="http://schemas.microsoft.com/office/drawing/2014/main" id="{159FCE99-3EF6-420D-AF94-EF8522AC1FC9}"/>
              </a:ext>
            </a:extLst>
          </p:cNvPr>
          <p:cNvSpPr/>
          <p:nvPr/>
        </p:nvSpPr>
        <p:spPr>
          <a:xfrm rot="7618473">
            <a:off x="9192950" y="2031770"/>
            <a:ext cx="245301" cy="14874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箭头: 右 20">
            <a:extLst>
              <a:ext uri="{FF2B5EF4-FFF2-40B4-BE49-F238E27FC236}">
                <a16:creationId xmlns:a16="http://schemas.microsoft.com/office/drawing/2014/main" id="{ADA6B498-1C32-4F63-9204-BEBF29BEB24F}"/>
              </a:ext>
            </a:extLst>
          </p:cNvPr>
          <p:cNvSpPr/>
          <p:nvPr/>
        </p:nvSpPr>
        <p:spPr>
          <a:xfrm rot="16200000">
            <a:off x="8970665" y="2722638"/>
            <a:ext cx="222723" cy="17930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33082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23">
            <a:extLst>
              <a:ext uri="{FF2B5EF4-FFF2-40B4-BE49-F238E27FC236}">
                <a16:creationId xmlns:a16="http://schemas.microsoft.com/office/drawing/2014/main" id="{9C5F83EA-8915-4EA7-8F66-E1C3B4822F9D}"/>
              </a:ext>
            </a:extLst>
          </p:cNvPr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文件输入输出的要求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A115E93-9153-43C0-BFC3-8C83462DC911}"/>
              </a:ext>
            </a:extLst>
          </p:cNvPr>
          <p:cNvSpPr/>
          <p:nvPr/>
        </p:nvSpPr>
        <p:spPr>
          <a:xfrm>
            <a:off x="678609" y="1430707"/>
            <a:ext cx="5151489" cy="4212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在自己电脑上调试时可以先把这两行注释掉：</a:t>
            </a:r>
            <a:endParaRPr lang="zh-CN" altLang="zh-CN" sz="16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0672743-8F39-4EA2-B4DA-B2D6B4083D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609" y="2028629"/>
            <a:ext cx="5772956" cy="2800741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40A6957F-E27E-455C-8C72-D5E9B450ADF0}"/>
              </a:ext>
            </a:extLst>
          </p:cNvPr>
          <p:cNvSpPr/>
          <p:nvPr/>
        </p:nvSpPr>
        <p:spPr>
          <a:xfrm>
            <a:off x="6945482" y="2637564"/>
            <a:ext cx="4082736" cy="8778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提交程序时再把这两行恢复为正常代码</a:t>
            </a:r>
            <a:endParaRPr lang="en-US" altLang="zh-CN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lvl="0" algn="ctr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（</a:t>
            </a:r>
            <a:r>
              <a:rPr lang="zh-CN" altLang="en-US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切记，切记，不要忘记</a:t>
            </a:r>
            <a:r>
              <a:rPr lang="zh-CN" altLang="en-US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）</a:t>
            </a:r>
            <a:endParaRPr lang="zh-CN" altLang="zh-CN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94957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23">
            <a:extLst>
              <a:ext uri="{FF2B5EF4-FFF2-40B4-BE49-F238E27FC236}">
                <a16:creationId xmlns:a16="http://schemas.microsoft.com/office/drawing/2014/main" id="{9E09A475-9691-404A-ABCF-5EC2023B8497}"/>
              </a:ext>
            </a:extLst>
          </p:cNvPr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常见错误</a:t>
            </a:r>
          </a:p>
        </p:txBody>
      </p:sp>
      <p:sp>
        <p:nvSpPr>
          <p:cNvPr id="9" name="内容占位符 5">
            <a:extLst>
              <a:ext uri="{FF2B5EF4-FFF2-40B4-BE49-F238E27FC236}">
                <a16:creationId xmlns:a16="http://schemas.microsoft.com/office/drawing/2014/main" id="{90AA28CA-8776-4F28-9E74-437E53EDBC64}"/>
              </a:ext>
            </a:extLst>
          </p:cNvPr>
          <p:cNvSpPr txBox="1">
            <a:spLocks/>
          </p:cNvSpPr>
          <p:nvPr/>
        </p:nvSpPr>
        <p:spPr>
          <a:xfrm>
            <a:off x="330270" y="1279281"/>
            <a:ext cx="3856275" cy="311360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600" dirty="0" err="1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freopen</a:t>
            </a: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拼写错误</a:t>
            </a:r>
            <a:endParaRPr lang="en-US" altLang="zh-CN" sz="1600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漏写了双引号</a:t>
            </a:r>
            <a:endParaRPr lang="en-US" altLang="zh-CN" sz="1600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用了中文标点</a:t>
            </a:r>
            <a:endParaRPr lang="en-US" altLang="zh-CN" sz="1600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写错输入文件或输出文件</a:t>
            </a:r>
            <a:endParaRPr lang="en-US" altLang="zh-CN" sz="1600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r>
              <a:rPr lang="en-US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r</a:t>
            </a: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和</a:t>
            </a:r>
            <a:r>
              <a:rPr lang="en-US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w</a:t>
            </a: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搞混或搞反</a:t>
            </a:r>
            <a:endParaRPr lang="en-US" altLang="zh-CN" sz="1600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r>
              <a:rPr lang="en-US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stdin</a:t>
            </a: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和</a:t>
            </a:r>
            <a:r>
              <a:rPr lang="en-US" altLang="zh-CN" sz="1600" dirty="0" err="1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stdout</a:t>
            </a: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搞混或搞反</a:t>
            </a:r>
            <a:endParaRPr lang="en-US" altLang="zh-CN" sz="1600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…………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2CCF844E-CBEF-460B-97BF-6237FF31FF6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4807"/>
          <a:stretch/>
        </p:blipFill>
        <p:spPr>
          <a:xfrm>
            <a:off x="4381399" y="1279282"/>
            <a:ext cx="4084320" cy="1774800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0CC44C31-320E-45E6-AED8-0F0971137AA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" b="35319"/>
          <a:stretch/>
        </p:blipFill>
        <p:spPr>
          <a:xfrm>
            <a:off x="4381399" y="3323911"/>
            <a:ext cx="4183380" cy="197640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CB91AED0-4A03-4C1C-A18B-36EB0B1897E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35098"/>
          <a:stretch/>
        </p:blipFill>
        <p:spPr>
          <a:xfrm>
            <a:off x="8005456" y="1279283"/>
            <a:ext cx="3992880" cy="1998000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4307430A-A129-47B1-B2A9-03AD1024E313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43135"/>
          <a:stretch/>
        </p:blipFill>
        <p:spPr>
          <a:xfrm>
            <a:off x="8147903" y="3429000"/>
            <a:ext cx="3855720" cy="1659600"/>
          </a:xfrm>
          <a:prstGeom prst="rect">
            <a:avLst/>
          </a:prstGeom>
        </p:spPr>
      </p:pic>
      <p:sp>
        <p:nvSpPr>
          <p:cNvPr id="19" name="内容占位符 5">
            <a:extLst>
              <a:ext uri="{FF2B5EF4-FFF2-40B4-BE49-F238E27FC236}">
                <a16:creationId xmlns:a16="http://schemas.microsoft.com/office/drawing/2014/main" id="{7F6FB6BC-06D8-4521-8278-3FA636D0EFE8}"/>
              </a:ext>
            </a:extLst>
          </p:cNvPr>
          <p:cNvSpPr txBox="1">
            <a:spLocks/>
          </p:cNvSpPr>
          <p:nvPr/>
        </p:nvSpPr>
        <p:spPr>
          <a:xfrm>
            <a:off x="330270" y="4645299"/>
            <a:ext cx="3856275" cy="14450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16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解决办法：</a:t>
            </a:r>
            <a:endParaRPr lang="en-US" altLang="zh-CN" sz="1600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在自己电脑上写程序时，先加上这两行，编译一下，编译通过之后，为这两行加上注释。</a:t>
            </a:r>
            <a:r>
              <a:rPr lang="zh-CN" altLang="en-US" sz="16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提交代码之前，再将注释去掉。</a:t>
            </a:r>
            <a:endParaRPr lang="en-US" altLang="zh-CN" sz="1600" dirty="0">
              <a:solidFill>
                <a:srgbClr val="FF0000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19708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谢谢大家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9212580" y="6206490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高老师算法竞赛训练营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2780" y="5361173"/>
            <a:ext cx="760094" cy="7659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副标题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2564130" y="6206490"/>
            <a:ext cx="38779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latin typeface="+mj-ea"/>
                <a:ea typeface="+mj-ea"/>
              </a:rPr>
              <a:t>注意：请大家关闭自己的麦克风和摄像头</a:t>
            </a:r>
          </a:p>
        </p:txBody>
      </p:sp>
    </p:spTree>
    <p:extLst>
      <p:ext uri="{BB962C8B-B14F-4D97-AF65-F5344CB8AC3E}">
        <p14:creationId xmlns:p14="http://schemas.microsoft.com/office/powerpoint/2010/main" val="75035954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电路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40244</TotalTime>
  <Words>441</Words>
  <Application>Microsoft Office PowerPoint</Application>
  <PresentationFormat>宽屏</PresentationFormat>
  <Paragraphs>59</Paragraphs>
  <Slides>8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6" baseType="lpstr">
      <vt:lpstr>等线</vt:lpstr>
      <vt:lpstr>华文楷体</vt:lpstr>
      <vt:lpstr>宋体</vt:lpstr>
      <vt:lpstr>微软雅黑</vt:lpstr>
      <vt:lpstr>Arial</vt:lpstr>
      <vt:lpstr>Consolas</vt:lpstr>
      <vt:lpstr>Tw Cen MT</vt:lpstr>
      <vt:lpstr>电路</vt:lpstr>
      <vt:lpstr>NOIP 语言基础（十五）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谢谢大家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NOIP 入门习题精讲 - 09</dc:title>
  <dc:creator>Gao Kai</dc:creator>
  <cp:lastModifiedBy>MUJI</cp:lastModifiedBy>
  <cp:revision>368</cp:revision>
  <dcterms:created xsi:type="dcterms:W3CDTF">2018-08-09T00:16:20Z</dcterms:created>
  <dcterms:modified xsi:type="dcterms:W3CDTF">2021-11-26T16:15:15Z</dcterms:modified>
</cp:coreProperties>
</file>