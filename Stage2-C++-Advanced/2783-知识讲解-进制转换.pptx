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1" r:id="rId2"/>
    <p:sldId id="341" r:id="rId3"/>
    <p:sldId id="473" r:id="rId4"/>
    <p:sldId id="470" r:id="rId5"/>
    <p:sldId id="362" r:id="rId6"/>
    <p:sldId id="349" r:id="rId7"/>
    <p:sldId id="637" r:id="rId8"/>
    <p:sldId id="639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528"/>
      </p:cViewPr>
      <p:guideLst>
        <p:guide orient="horz" pos="2145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5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进制转换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计算机的数制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609" y="1489575"/>
            <a:ext cx="7983946" cy="4393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八进制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八个数码：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十六进制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十六个数码：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0~9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A~F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</a:t>
            </a:r>
            <a:endParaRPr lang="en-US" altLang="zh-CN" sz="1800" u="sng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又叫“位权”，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某一数位上的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所表示的数值的大小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例如：十进制数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123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，百位上的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，十位上的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，个位上的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二进制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609" y="1489575"/>
            <a:ext cx="5417391" cy="2085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整数部分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从低位往高位，权依次为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小数部分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从高位往低位，权依次为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  <a:p>
            <a:pPr marL="0" indent="0"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66C40C-CEA7-5C79-06A1-EDE6F0DB3318}"/>
              </a:ext>
            </a:extLst>
          </p:cNvPr>
          <p:cNvSpPr txBox="1"/>
          <p:nvPr/>
        </p:nvSpPr>
        <p:spPr>
          <a:xfrm>
            <a:off x="6095999" y="1489575"/>
            <a:ext cx="5358245" cy="1260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补充知识：指数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指数的基本意思是“许多个相同的数相乘”，例如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2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表示“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相乘”。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这里的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称为“底数”，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称为“指数”（又叫“次方”），计算结果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32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称为“幂”，读作“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次方为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/>
              <p:nvPr/>
            </p:nvSpPr>
            <p:spPr>
              <a:xfrm>
                <a:off x="6095999" y="4509866"/>
                <a:ext cx="4156364" cy="1501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 algn="just" defTabSz="914400">
                  <a:lnSpc>
                    <a:spcPct val="150000"/>
                  </a:lnSpc>
                  <a:buFont typeface="+mj-lt"/>
                  <a:buAutoNum type="arabicPeriod"/>
                  <a:defRPr sz="1400" kern="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defRPr>
                </a:lvl1pPr>
              </a:lstStyle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指数为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</a:p>
              <a:p>
                <a:pPr marL="266700" indent="0">
                  <a:buNone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特殊规定：所有数的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次方为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次方没有意义）；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指数为负数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66700" indent="0">
                  <a:lnSpc>
                    <a:spcPts val="2400"/>
                  </a:lnSpc>
                  <a:buNone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负数幂为对应的正数幂的倒数，例如 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r>
                  <a:rPr lang="en-US" altLang="zh-CN" sz="1200" baseline="30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-5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2</m:t>
                        </m:r>
                        <m:r>
                          <a:rPr lang="en-US" altLang="zh-CN" sz="1800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endParaRPr lang="en-US" altLang="zh-CN" sz="1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>
                  <a:buNone/>
                </a:pP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509866"/>
                <a:ext cx="4156364" cy="1501117"/>
              </a:xfrm>
              <a:prstGeom prst="rect">
                <a:avLst/>
              </a:prstGeom>
              <a:blipFill>
                <a:blip r:embed="rId2"/>
                <a:stretch>
                  <a:fillRect r="-3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93CED08F-3E6C-9F59-B469-99E73B6A0FC3}"/>
              </a:ext>
            </a:extLst>
          </p:cNvPr>
          <p:cNvGrpSpPr/>
          <p:nvPr/>
        </p:nvGrpSpPr>
        <p:grpSpPr>
          <a:xfrm>
            <a:off x="7692734" y="2861035"/>
            <a:ext cx="1499757" cy="1426057"/>
            <a:chOff x="7637316" y="2822408"/>
            <a:chExt cx="1499757" cy="142605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852D42-A6C7-428C-41E9-2978647FCAA0}"/>
                </a:ext>
              </a:extLst>
            </p:cNvPr>
            <p:cNvSpPr txBox="1"/>
            <p:nvPr/>
          </p:nvSpPr>
          <p:spPr>
            <a:xfrm>
              <a:off x="7765472" y="3138406"/>
              <a:ext cx="1371601" cy="662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en-US" altLang="zh-CN" sz="2800" baseline="30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5 </a:t>
              </a: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=32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8D26E8-1F0A-625C-EF2D-D7346504B3EA}"/>
                </a:ext>
              </a:extLst>
            </p:cNvPr>
            <p:cNvSpPr txBox="1"/>
            <p:nvPr/>
          </p:nvSpPr>
          <p:spPr>
            <a:xfrm>
              <a:off x="7637316" y="3911770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底数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C66267C-F37A-2182-F12B-DECD0B054488}"/>
                </a:ext>
              </a:extLst>
            </p:cNvPr>
            <p:cNvSpPr txBox="1"/>
            <p:nvPr/>
          </p:nvSpPr>
          <p:spPr>
            <a:xfrm>
              <a:off x="8440878" y="3911770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F231000-E8D7-B97D-4631-49AA4EB55074}"/>
                </a:ext>
              </a:extLst>
            </p:cNvPr>
            <p:cNvSpPr txBox="1"/>
            <p:nvPr/>
          </p:nvSpPr>
          <p:spPr>
            <a:xfrm>
              <a:off x="7782786" y="2822408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指数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0945996-0053-E12E-9DBF-9366943D3A04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8111832" y="3159103"/>
              <a:ext cx="0" cy="2076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3AC6564-2C8E-4C85-48ED-E78DDDA18B9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966362" y="3675640"/>
              <a:ext cx="0" cy="2361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1207AA-F5BC-D9AD-7555-F81D90832BDD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8769924" y="3669141"/>
              <a:ext cx="0" cy="2426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C400758-46B7-D19B-6EAA-BE798DF3521F}"/>
              </a:ext>
            </a:extLst>
          </p:cNvPr>
          <p:cNvGrpSpPr/>
          <p:nvPr/>
        </p:nvGrpSpPr>
        <p:grpSpPr>
          <a:xfrm>
            <a:off x="883094" y="3429000"/>
            <a:ext cx="1795084" cy="1454315"/>
            <a:chOff x="719516" y="3556456"/>
            <a:chExt cx="1795084" cy="145431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E68BCE-9467-00D5-61E3-889EA0960404}"/>
                </a:ext>
              </a:extLst>
            </p:cNvPr>
            <p:cNvSpPr txBox="1"/>
            <p:nvPr/>
          </p:nvSpPr>
          <p:spPr>
            <a:xfrm>
              <a:off x="778396" y="3929604"/>
              <a:ext cx="1736204" cy="66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2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</a:rPr>
                <a:t>110.101</a:t>
              </a:r>
              <a:endPara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77AF3C2-754B-C2F1-D536-41B76FC6ECE0}"/>
                </a:ext>
              </a:extLst>
            </p:cNvPr>
            <p:cNvSpPr txBox="1"/>
            <p:nvPr/>
          </p:nvSpPr>
          <p:spPr>
            <a:xfrm>
              <a:off x="719516" y="4588668"/>
              <a:ext cx="474516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r>
                <a:rPr lang="en-US" altLang="zh-CN" sz="1600" baseline="300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11B786A-339C-DE58-5963-4027EAA2E260}"/>
                </a:ext>
              </a:extLst>
            </p:cNvPr>
            <p:cNvSpPr txBox="1"/>
            <p:nvPr/>
          </p:nvSpPr>
          <p:spPr>
            <a:xfrm>
              <a:off x="1655530" y="4588668"/>
              <a:ext cx="559435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-2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B052635-FE32-1D0E-C9C7-A7FCA07FED4C}"/>
                </a:ext>
              </a:extLst>
            </p:cNvPr>
            <p:cNvSpPr txBox="1"/>
            <p:nvPr/>
          </p:nvSpPr>
          <p:spPr>
            <a:xfrm>
              <a:off x="910010" y="3556456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1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63F4492-FCD6-3DC3-C9FB-3100CD133AD8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31" y="3912201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50AD855F-8EE4-42CF-9646-640515655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711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6C1ED6B-4E45-7C29-5302-4AA0F609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5248" y="4488914"/>
              <a:ext cx="0" cy="24262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4C5E9D-78BD-7F4B-50EE-B653214217CD}"/>
                </a:ext>
              </a:extLst>
            </p:cNvPr>
            <p:cNvSpPr txBox="1"/>
            <p:nvPr/>
          </p:nvSpPr>
          <p:spPr>
            <a:xfrm>
              <a:off x="1121294" y="4588668"/>
              <a:ext cx="474516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r>
                <a:rPr lang="en-US" altLang="zh-CN" sz="1600" baseline="30000" dirty="0">
                  <a:latin typeface="Consolas" panose="020B0609020204030204" pitchFamily="49" charset="0"/>
                  <a:ea typeface="微软雅黑" panose="020B0503020204020204" charset="-122"/>
                </a:rPr>
                <a:t>0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64A0BA3-95FB-02FE-FB22-B29697F6B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489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83B255-08D1-BC0B-9147-492DD5C4E57D}"/>
                </a:ext>
              </a:extLst>
            </p:cNvPr>
            <p:cNvSpPr txBox="1"/>
            <p:nvPr/>
          </p:nvSpPr>
          <p:spPr>
            <a:xfrm>
              <a:off x="1503430" y="3565732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-1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E331036-6D15-FF21-A37B-B0BDC4E92F76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51" y="3921477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3379061-86EE-7C79-8B36-E764F7CC826F}"/>
                </a:ext>
              </a:extLst>
            </p:cNvPr>
            <p:cNvSpPr txBox="1"/>
            <p:nvPr/>
          </p:nvSpPr>
          <p:spPr>
            <a:xfrm>
              <a:off x="1889850" y="3565297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-3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A8B6BAB-1694-5878-334C-3AD58D57E80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71" y="3921042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97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二进制的转换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FC3CDF-5A66-A465-51F2-7C6BDFC359AD}"/>
              </a:ext>
            </a:extLst>
          </p:cNvPr>
          <p:cNvSpPr txBox="1"/>
          <p:nvPr/>
        </p:nvSpPr>
        <p:spPr>
          <a:xfrm>
            <a:off x="678608" y="1486111"/>
            <a:ext cx="9445601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>
              <a:buFont typeface="+mj-ea"/>
              <a:buAutoNum type="ea1JpnChsDb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二进制转十进制：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按权展开求和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363" lvl="1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1011.01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marL="1793875" lvl="1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8+2+1+0.25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75" lvl="1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+mj-ea"/>
              <a:buAutoNum type="ea1JpnChsDb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十进制转二进制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03C04F-28D7-07B6-9CB0-0C52A73CD802}"/>
              </a:ext>
            </a:extLst>
          </p:cNvPr>
          <p:cNvSpPr txBox="1"/>
          <p:nvPr/>
        </p:nvSpPr>
        <p:spPr>
          <a:xfrm>
            <a:off x="1018309" y="2833018"/>
            <a:ext cx="417021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整数部分：除以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取余，整逆序输出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1011001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E28504-EDD0-3464-BAF1-B01C8A176E3D}"/>
              </a:ext>
            </a:extLst>
          </p:cNvPr>
          <p:cNvSpPr txBox="1"/>
          <p:nvPr/>
        </p:nvSpPr>
        <p:spPr>
          <a:xfrm>
            <a:off x="5380626" y="2833018"/>
            <a:ext cx="417021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小数部分：乘以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取整，顺序输出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0.625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0.101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1314E31-CCD5-7351-13FC-48496D157AB2}"/>
              </a:ext>
            </a:extLst>
          </p:cNvPr>
          <p:cNvGrpSpPr/>
          <p:nvPr/>
        </p:nvGrpSpPr>
        <p:grpSpPr>
          <a:xfrm>
            <a:off x="1018309" y="3702708"/>
            <a:ext cx="2350208" cy="2626302"/>
            <a:chOff x="1179237" y="3479028"/>
            <a:chExt cx="2350208" cy="2626302"/>
          </a:xfrm>
        </p:grpSpPr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9E6A3D18-A8A3-D81D-0AEB-4614F57B3D71}"/>
                </a:ext>
              </a:extLst>
            </p:cNvPr>
            <p:cNvCxnSpPr>
              <a:cxnSpLocks/>
            </p:cNvCxnSpPr>
            <p:nvPr/>
          </p:nvCxnSpPr>
          <p:spPr>
            <a:xfrm>
              <a:off x="1562100" y="3540298"/>
              <a:ext cx="1122218" cy="290946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AF9C1A7A-1FD3-649C-C437-8E450747F6A9}"/>
                </a:ext>
              </a:extLst>
            </p:cNvPr>
            <p:cNvCxnSpPr>
              <a:cxnSpLocks/>
            </p:cNvCxnSpPr>
            <p:nvPr/>
          </p:nvCxnSpPr>
          <p:spPr>
            <a:xfrm>
              <a:off x="1714500" y="3845098"/>
              <a:ext cx="969818" cy="332509"/>
            </a:xfrm>
            <a:prstGeom prst="bentConnector3">
              <a:avLst>
                <a:gd name="adj1" fmla="val 714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连接符: 肘形 78">
              <a:extLst>
                <a:ext uri="{FF2B5EF4-FFF2-40B4-BE49-F238E27FC236}">
                  <a16:creationId xmlns:a16="http://schemas.microsoft.com/office/drawing/2014/main" id="{39AE4260-1381-3559-17CB-77D22BD6F38A}"/>
                </a:ext>
              </a:extLst>
            </p:cNvPr>
            <p:cNvCxnSpPr>
              <a:cxnSpLocks/>
            </p:cNvCxnSpPr>
            <p:nvPr/>
          </p:nvCxnSpPr>
          <p:spPr>
            <a:xfrm>
              <a:off x="1863437" y="4191461"/>
              <a:ext cx="820881" cy="304801"/>
            </a:xfrm>
            <a:prstGeom prst="bentConnector3">
              <a:avLst>
                <a:gd name="adj1" fmla="val -21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A16C760D-88BD-DD45-2FFA-8E23718A6B08}"/>
                </a:ext>
              </a:extLst>
            </p:cNvPr>
            <p:cNvCxnSpPr>
              <a:cxnSpLocks/>
            </p:cNvCxnSpPr>
            <p:nvPr/>
          </p:nvCxnSpPr>
          <p:spPr>
            <a:xfrm>
              <a:off x="2012374" y="4509904"/>
              <a:ext cx="671944" cy="304801"/>
            </a:xfrm>
            <a:prstGeom prst="bentConnector3">
              <a:avLst>
                <a:gd name="adj1" fmla="val 515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连接符: 肘形 80">
              <a:extLst>
                <a:ext uri="{FF2B5EF4-FFF2-40B4-BE49-F238E27FC236}">
                  <a16:creationId xmlns:a16="http://schemas.microsoft.com/office/drawing/2014/main" id="{E59D419B-8D41-AD7C-850C-5ABC0F5DE088}"/>
                </a:ext>
              </a:extLst>
            </p:cNvPr>
            <p:cNvCxnSpPr>
              <a:cxnSpLocks/>
            </p:cNvCxnSpPr>
            <p:nvPr/>
          </p:nvCxnSpPr>
          <p:spPr>
            <a:xfrm>
              <a:off x="2161311" y="4828347"/>
              <a:ext cx="523007" cy="312151"/>
            </a:xfrm>
            <a:prstGeom prst="bentConnector3">
              <a:avLst>
                <a:gd name="adj1" fmla="val 993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C465A006-AD4B-1C90-3F18-DC3F58763E28}"/>
                </a:ext>
              </a:extLst>
            </p:cNvPr>
            <p:cNvCxnSpPr>
              <a:cxnSpLocks/>
            </p:cNvCxnSpPr>
            <p:nvPr/>
          </p:nvCxnSpPr>
          <p:spPr>
            <a:xfrm>
              <a:off x="2310248" y="5140498"/>
              <a:ext cx="374070" cy="318655"/>
            </a:xfrm>
            <a:prstGeom prst="bentConnector3">
              <a:avLst>
                <a:gd name="adj1" fmla="val -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7F3A780B-7A09-BBAB-3DEA-F7FB0A321D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12424" y="5499409"/>
              <a:ext cx="318655" cy="225133"/>
            </a:xfrm>
            <a:prstGeom prst="bentConnector3">
              <a:avLst>
                <a:gd name="adj1" fmla="val 97826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4455350-A6C1-A345-BBBE-A69D4AC8FFAA}"/>
                </a:ext>
              </a:extLst>
            </p:cNvPr>
            <p:cNvSpPr txBox="1"/>
            <p:nvPr/>
          </p:nvSpPr>
          <p:spPr>
            <a:xfrm>
              <a:off x="2391507" y="347902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89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D51DDC2E-AF21-3854-787F-0D26AD72C794}"/>
                </a:ext>
              </a:extLst>
            </p:cNvPr>
            <p:cNvSpPr txBox="1"/>
            <p:nvPr/>
          </p:nvSpPr>
          <p:spPr>
            <a:xfrm>
              <a:off x="2391506" y="379117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44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0D119D1A-2D6A-1064-F03F-751300CE87F5}"/>
                </a:ext>
              </a:extLst>
            </p:cNvPr>
            <p:cNvSpPr txBox="1"/>
            <p:nvPr/>
          </p:nvSpPr>
          <p:spPr>
            <a:xfrm>
              <a:off x="2391506" y="4138786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7D91390A-2A59-0D6C-9E60-FB47308AE68E}"/>
                </a:ext>
              </a:extLst>
            </p:cNvPr>
            <p:cNvSpPr txBox="1"/>
            <p:nvPr/>
          </p:nvSpPr>
          <p:spPr>
            <a:xfrm>
              <a:off x="2391506" y="4471295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11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C6C9B8E-A584-B62A-A35D-CD2E0C7854C5}"/>
                </a:ext>
              </a:extLst>
            </p:cNvPr>
            <p:cNvSpPr txBox="1"/>
            <p:nvPr/>
          </p:nvSpPr>
          <p:spPr>
            <a:xfrm>
              <a:off x="2422814" y="475601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5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FBBDE7D-3C96-BEA2-446D-73D42BC2772E}"/>
                </a:ext>
              </a:extLst>
            </p:cNvPr>
            <p:cNvSpPr txBox="1"/>
            <p:nvPr/>
          </p:nvSpPr>
          <p:spPr>
            <a:xfrm>
              <a:off x="2422814" y="506816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3A2B642-68ED-75AE-1CA0-C99B7650877A}"/>
                </a:ext>
              </a:extLst>
            </p:cNvPr>
            <p:cNvSpPr txBox="1"/>
            <p:nvPr/>
          </p:nvSpPr>
          <p:spPr>
            <a:xfrm>
              <a:off x="2422814" y="5394229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D4F89991-03B6-598F-E316-4985577BF0A8}"/>
                </a:ext>
              </a:extLst>
            </p:cNvPr>
            <p:cNvSpPr txBox="1"/>
            <p:nvPr/>
          </p:nvSpPr>
          <p:spPr>
            <a:xfrm>
              <a:off x="2422814" y="5727919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6FA1948-5579-2C73-9AA6-D05BA1FA19A7}"/>
                </a:ext>
              </a:extLst>
            </p:cNvPr>
            <p:cNvSpPr txBox="1"/>
            <p:nvPr/>
          </p:nvSpPr>
          <p:spPr>
            <a:xfrm>
              <a:off x="1179237" y="347902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AC700208-3538-B04F-F26F-FFC004A34101}"/>
                </a:ext>
              </a:extLst>
            </p:cNvPr>
            <p:cNvSpPr txBox="1"/>
            <p:nvPr/>
          </p:nvSpPr>
          <p:spPr>
            <a:xfrm>
              <a:off x="1355081" y="3791177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C72AE4C-F6D5-E6A1-023D-215B7DF2CDBA}"/>
                </a:ext>
              </a:extLst>
            </p:cNvPr>
            <p:cNvSpPr txBox="1"/>
            <p:nvPr/>
          </p:nvSpPr>
          <p:spPr>
            <a:xfrm>
              <a:off x="1498689" y="4129366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CA6CC73-C761-E440-A99C-DE2ED8028816}"/>
                </a:ext>
              </a:extLst>
            </p:cNvPr>
            <p:cNvSpPr txBox="1"/>
            <p:nvPr/>
          </p:nvSpPr>
          <p:spPr>
            <a:xfrm>
              <a:off x="1655353" y="4471295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515731F-A9D1-9A70-9404-19B86F567BA2}"/>
                </a:ext>
              </a:extLst>
            </p:cNvPr>
            <p:cNvSpPr txBox="1"/>
            <p:nvPr/>
          </p:nvSpPr>
          <p:spPr>
            <a:xfrm>
              <a:off x="1798958" y="4754334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A6A7C05-A57B-5898-1DC8-E797B67E3ED0}"/>
                </a:ext>
              </a:extLst>
            </p:cNvPr>
            <p:cNvSpPr txBox="1"/>
            <p:nvPr/>
          </p:nvSpPr>
          <p:spPr>
            <a:xfrm>
              <a:off x="1942294" y="5077423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527E9D16-E22B-6A71-9734-C5D2D72ED989}"/>
                </a:ext>
              </a:extLst>
            </p:cNvPr>
            <p:cNvSpPr txBox="1"/>
            <p:nvPr/>
          </p:nvSpPr>
          <p:spPr>
            <a:xfrm>
              <a:off x="2083246" y="540051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74BE4E1-A553-6E66-7ED8-84842B0CB79B}"/>
                </a:ext>
              </a:extLst>
            </p:cNvPr>
            <p:cNvSpPr txBox="1"/>
            <p:nvPr/>
          </p:nvSpPr>
          <p:spPr>
            <a:xfrm>
              <a:off x="2755454" y="3802123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6E847F1-B5EF-D513-6849-127DF5237836}"/>
                </a:ext>
              </a:extLst>
            </p:cNvPr>
            <p:cNvSpPr txBox="1"/>
            <p:nvPr/>
          </p:nvSpPr>
          <p:spPr>
            <a:xfrm>
              <a:off x="2757984" y="4107319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8D00EA9-5A82-06C2-F26D-D672223BCDEF}"/>
                </a:ext>
              </a:extLst>
            </p:cNvPr>
            <p:cNvSpPr txBox="1"/>
            <p:nvPr/>
          </p:nvSpPr>
          <p:spPr>
            <a:xfrm>
              <a:off x="2757984" y="4450936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BD21FC7-9C24-2522-6BD1-744E23F75215}"/>
                </a:ext>
              </a:extLst>
            </p:cNvPr>
            <p:cNvSpPr txBox="1"/>
            <p:nvPr/>
          </p:nvSpPr>
          <p:spPr>
            <a:xfrm>
              <a:off x="2756528" y="4755938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CD47AE1-BC7E-202C-9429-40923F8FC561}"/>
                </a:ext>
              </a:extLst>
            </p:cNvPr>
            <p:cNvSpPr txBox="1"/>
            <p:nvPr/>
          </p:nvSpPr>
          <p:spPr>
            <a:xfrm>
              <a:off x="2756528" y="5081730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8D3C3EC3-81FE-72F1-50C2-6AD86F5AAF0B}"/>
                </a:ext>
              </a:extLst>
            </p:cNvPr>
            <p:cNvSpPr txBox="1"/>
            <p:nvPr/>
          </p:nvSpPr>
          <p:spPr>
            <a:xfrm>
              <a:off x="2756528" y="5386732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5742F96D-82BB-BB2C-7929-416F1D4CC18A}"/>
                </a:ext>
              </a:extLst>
            </p:cNvPr>
            <p:cNvSpPr txBox="1"/>
            <p:nvPr/>
          </p:nvSpPr>
          <p:spPr>
            <a:xfrm>
              <a:off x="2756528" y="5704875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6AE0631C-305A-FEBD-F5FF-AA14E3ED1E0E}"/>
                </a:ext>
              </a:extLst>
            </p:cNvPr>
            <p:cNvCxnSpPr/>
            <p:nvPr/>
          </p:nvCxnSpPr>
          <p:spPr>
            <a:xfrm flipV="1">
              <a:off x="3529445" y="3927764"/>
              <a:ext cx="0" cy="2092036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3B35435-F831-0EBC-7D32-84BBAB55158C}"/>
              </a:ext>
            </a:extLst>
          </p:cNvPr>
          <p:cNvSpPr txBox="1"/>
          <p:nvPr/>
        </p:nvSpPr>
        <p:spPr>
          <a:xfrm>
            <a:off x="5380626" y="3707420"/>
            <a:ext cx="4170218" cy="204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ts val="168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0.625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1.25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    0.25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0.5 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0.5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1.0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E744537B-A5A0-DEE6-CEAE-02337CA90B7F}"/>
              </a:ext>
            </a:extLst>
          </p:cNvPr>
          <p:cNvCxnSpPr>
            <a:cxnSpLocks/>
          </p:cNvCxnSpPr>
          <p:nvPr/>
        </p:nvCxnSpPr>
        <p:spPr>
          <a:xfrm flipV="1">
            <a:off x="8266098" y="4161705"/>
            <a:ext cx="0" cy="1562985"/>
          </a:xfrm>
          <a:prstGeom prst="straightConnector1">
            <a:avLst/>
          </a:prstGeom>
          <a:ln w="12700">
            <a:solidFill>
              <a:schemeClr val="bg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9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十进制转二进制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573400" cy="70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把一个十进制整数转换为二进制并输出。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1EDB3F-961A-C793-1EF4-4BD272B74F3E}"/>
              </a:ext>
            </a:extLst>
          </p:cNvPr>
          <p:cNvSpPr txBox="1"/>
          <p:nvPr/>
        </p:nvSpPr>
        <p:spPr>
          <a:xfrm>
            <a:off x="431989" y="2314525"/>
            <a:ext cx="2148600" cy="107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一个十进制表示的整数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＜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4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09CDDF-95F1-2F94-6D6B-5C11535356C6}"/>
              </a:ext>
            </a:extLst>
          </p:cNvPr>
          <p:cNvSpPr txBox="1"/>
          <p:nvPr/>
        </p:nvSpPr>
        <p:spPr>
          <a:xfrm>
            <a:off x="2673324" y="2314525"/>
            <a:ext cx="2004738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的二进制表示。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4D8F7FE-5AF4-A141-0CA2-9D79859DEFAB}"/>
              </a:ext>
            </a:extLst>
          </p:cNvPr>
          <p:cNvSpPr txBox="1"/>
          <p:nvPr/>
        </p:nvSpPr>
        <p:spPr>
          <a:xfrm>
            <a:off x="431013" y="363255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FB0BE8-F23A-A843-251A-C3544AE7EDD2}"/>
              </a:ext>
            </a:extLst>
          </p:cNvPr>
          <p:cNvSpPr/>
          <p:nvPr/>
        </p:nvSpPr>
        <p:spPr>
          <a:xfrm>
            <a:off x="2672348" y="363255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11001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27B22E-7B09-1350-6B28-E79F3A18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38" y="1806382"/>
            <a:ext cx="3263937" cy="316161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B86B455-05D5-CC86-1E7F-CA59E9AF56CD}"/>
              </a:ext>
            </a:extLst>
          </p:cNvPr>
          <p:cNvSpPr/>
          <p:nvPr/>
        </p:nvSpPr>
        <p:spPr>
          <a:xfrm>
            <a:off x="8274754" y="2883829"/>
            <a:ext cx="2498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转换过程是先得到低位后得到高位，所以存入数组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时是最低位存入下标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、次低位存入下标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、最高位存入下标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（最后一个下标）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720D0-48ED-8CC4-E37E-69CADC69D891}"/>
              </a:ext>
            </a:extLst>
          </p:cNvPr>
          <p:cNvSpPr/>
          <p:nvPr/>
        </p:nvSpPr>
        <p:spPr>
          <a:xfrm>
            <a:off x="9300903" y="4018247"/>
            <a:ext cx="2168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要从高位向低位输出，就要从下标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开始、向下标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循环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5873DF-A496-EF26-8F53-FE1F3185DFC2}"/>
              </a:ext>
            </a:extLst>
          </p:cNvPr>
          <p:cNvSpPr/>
          <p:nvPr/>
        </p:nvSpPr>
        <p:spPr>
          <a:xfrm>
            <a:off x="1339378" y="5438690"/>
            <a:ext cx="8339142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思考：如果数据范围由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0&lt;n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，程序需要修改吗？如何修改？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A989DC3-F732-FF80-A9D6-1382383414ED}"/>
              </a:ext>
            </a:extLst>
          </p:cNvPr>
          <p:cNvSpPr/>
          <p:nvPr/>
        </p:nvSpPr>
        <p:spPr>
          <a:xfrm>
            <a:off x="431012" y="1338720"/>
            <a:ext cx="4972683" cy="1026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把一个十进制正整数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转换为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k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进制并输出，超过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的数码按大写字母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分别代替。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十进制转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1E934C7-6C8E-905C-EC07-84A2FABADA11}"/>
              </a:ext>
            </a:extLst>
          </p:cNvPr>
          <p:cNvSpPr txBox="1"/>
          <p:nvPr/>
        </p:nvSpPr>
        <p:spPr>
          <a:xfrm>
            <a:off x="431012" y="467718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35 20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2B6CB3-CEAA-DC8D-54A0-8FEAB72F3805}"/>
              </a:ext>
            </a:extLst>
          </p:cNvPr>
          <p:cNvSpPr/>
          <p:nvPr/>
        </p:nvSpPr>
        <p:spPr>
          <a:xfrm>
            <a:off x="3521275" y="4677180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1F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2CC641-2028-5ECE-3626-27A0585AE6B5}"/>
              </a:ext>
            </a:extLst>
          </p:cNvPr>
          <p:cNvSpPr txBox="1"/>
          <p:nvPr/>
        </p:nvSpPr>
        <p:spPr>
          <a:xfrm>
            <a:off x="431013" y="2416756"/>
            <a:ext cx="2148599" cy="139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两个正整数，分别是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＜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4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）和待转换进制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9BE40-3657-248A-46E2-0765F7B7EC91}"/>
              </a:ext>
            </a:extLst>
          </p:cNvPr>
          <p:cNvSpPr txBox="1"/>
          <p:nvPr/>
        </p:nvSpPr>
        <p:spPr>
          <a:xfrm>
            <a:off x="3521275" y="2416756"/>
            <a:ext cx="2148599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进制表示。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7F4CA626-7016-E3E5-2A3B-19AB96523CDE}"/>
              </a:ext>
            </a:extLst>
          </p:cNvPr>
          <p:cNvSpPr txBox="1"/>
          <p:nvPr/>
        </p:nvSpPr>
        <p:spPr>
          <a:xfrm>
            <a:off x="431012" y="3920081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25 2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13718E-0A23-7292-0A34-B12FED83AF03}"/>
              </a:ext>
            </a:extLst>
          </p:cNvPr>
          <p:cNvSpPr/>
          <p:nvPr/>
        </p:nvSpPr>
        <p:spPr>
          <a:xfrm>
            <a:off x="3521275" y="3920081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11001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E5ED0A9-B298-1C6E-B01E-2B3C657F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13" y="1338720"/>
            <a:ext cx="3851545" cy="337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二进制转十进制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012" y="342900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10010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0912" y="3429000"/>
            <a:ext cx="143827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0911" y="2231841"/>
            <a:ext cx="1438276" cy="89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一个整数，为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的十进制表示。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013" y="2231841"/>
            <a:ext cx="2664356" cy="89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一行，一个仅包含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，至少有一位，长度不超过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7CAD6E-A3A9-C6D3-ADFD-707440EEEE5D}"/>
              </a:ext>
            </a:extLst>
          </p:cNvPr>
          <p:cNvSpPr/>
          <p:nvPr/>
        </p:nvSpPr>
        <p:spPr>
          <a:xfrm>
            <a:off x="431012" y="1338720"/>
            <a:ext cx="4678175" cy="70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把一个二进制正整数转为十进制并输出。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1AAD2D-F943-2756-C7FF-E28646E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931" y="1338720"/>
            <a:ext cx="2691986" cy="239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C6E2C5B-A1FA-C7A0-5966-7064DC656F49}"/>
              </a:ext>
            </a:extLst>
          </p:cNvPr>
          <p:cNvSpPr/>
          <p:nvPr/>
        </p:nvSpPr>
        <p:spPr>
          <a:xfrm>
            <a:off x="1305391" y="4815947"/>
            <a:ext cx="9381094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思考：如果数据范围由 长度不超过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改为 长度不超过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，程序需要修改吗？如何修改？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A989DC3-F732-FF80-A9D6-1382383414ED}"/>
              </a:ext>
            </a:extLst>
          </p:cNvPr>
          <p:cNvSpPr/>
          <p:nvPr/>
        </p:nvSpPr>
        <p:spPr>
          <a:xfrm>
            <a:off x="431012" y="1338720"/>
            <a:ext cx="4972683" cy="1026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进制正整数转化成十进制并输出，超过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的数码按大写字母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分别代替。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进制转十进制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1E934C7-6C8E-905C-EC07-84A2FABADA11}"/>
              </a:ext>
            </a:extLst>
          </p:cNvPr>
          <p:cNvSpPr txBox="1"/>
          <p:nvPr/>
        </p:nvSpPr>
        <p:spPr>
          <a:xfrm>
            <a:off x="431012" y="467718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16 10F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2B6CB3-CEAA-DC8D-54A0-8FEAB72F3805}"/>
              </a:ext>
            </a:extLst>
          </p:cNvPr>
          <p:cNvSpPr/>
          <p:nvPr/>
        </p:nvSpPr>
        <p:spPr>
          <a:xfrm>
            <a:off x="2946685" y="4677180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271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2CC641-2028-5ECE-3626-27A0585AE6B5}"/>
              </a:ext>
            </a:extLst>
          </p:cNvPr>
          <p:cNvSpPr txBox="1"/>
          <p:nvPr/>
        </p:nvSpPr>
        <p:spPr>
          <a:xfrm>
            <a:off x="431013" y="2416756"/>
            <a:ext cx="2271454" cy="139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第一行为一个正整数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），第二行为一个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进制表示的正整数。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9BE40-3657-248A-46E2-0765F7B7EC91}"/>
              </a:ext>
            </a:extLst>
          </p:cNvPr>
          <p:cNvSpPr txBox="1"/>
          <p:nvPr/>
        </p:nvSpPr>
        <p:spPr>
          <a:xfrm>
            <a:off x="2946685" y="2416756"/>
            <a:ext cx="2148599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进制表示。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7F4CA626-7016-E3E5-2A3B-19AB96523CDE}"/>
              </a:ext>
            </a:extLst>
          </p:cNvPr>
          <p:cNvSpPr txBox="1"/>
          <p:nvPr/>
        </p:nvSpPr>
        <p:spPr>
          <a:xfrm>
            <a:off x="431012" y="3920081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2 11001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13718E-0A23-7292-0A34-B12FED83AF03}"/>
              </a:ext>
            </a:extLst>
          </p:cNvPr>
          <p:cNvSpPr/>
          <p:nvPr/>
        </p:nvSpPr>
        <p:spPr>
          <a:xfrm>
            <a:off x="2946685" y="3920081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D3367F-CBC7-37F2-7C73-123BA6A3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13" y="1310322"/>
            <a:ext cx="3454237" cy="297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5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5610</TotalTime>
  <Words>850</Words>
  <Application>Microsoft Office PowerPoint</Application>
  <PresentationFormat>宽屏</PresentationFormat>
  <Paragraphs>139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华文楷体</vt:lpstr>
      <vt:lpstr>微软雅黑</vt:lpstr>
      <vt:lpstr>Arial</vt:lpstr>
      <vt:lpstr>Cambria Math</vt:lpstr>
      <vt:lpstr>Consolas</vt:lpstr>
      <vt:lpstr>Tw Cen MT</vt:lpstr>
      <vt:lpstr>电路</vt:lpstr>
      <vt:lpstr>进制转换</vt:lpstr>
      <vt:lpstr>计算机的数制</vt:lpstr>
      <vt:lpstr>二进制</vt:lpstr>
      <vt:lpstr>二进制的转换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382</cp:revision>
  <dcterms:created xsi:type="dcterms:W3CDTF">2018-08-09T00:16:00Z</dcterms:created>
  <dcterms:modified xsi:type="dcterms:W3CDTF">2024-08-10T05:29:02Z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3F4C9B3D74A7499CBC3E5D04972B6390</vt:lpwstr>
  </property>
  <property fmtid="{D5CDD505-2E9C-101B-9397-08002B2CF9AE}" pid="3" name="KSOProductBuildVer">
    <vt:lpwstr>2052-11.1.0.10938</vt:lpwstr>
  </property>
</Properties>
</file>