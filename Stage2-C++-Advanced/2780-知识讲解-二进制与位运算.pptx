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341" r:id="rId3"/>
    <p:sldId id="473" r:id="rId4"/>
    <p:sldId id="470" r:id="rId5"/>
    <p:sldId id="362" r:id="rId6"/>
    <p:sldId id="637" r:id="rId7"/>
    <p:sldId id="433" r:id="rId8"/>
    <p:sldId id="347" r:id="rId9"/>
    <p:sldId id="350" r:id="rId10"/>
    <p:sldId id="640" r:id="rId11"/>
    <p:sldId id="647" r:id="rId12"/>
    <p:sldId id="351" r:id="rId13"/>
    <p:sldId id="352" r:id="rId14"/>
    <p:sldId id="639" r:id="rId15"/>
    <p:sldId id="654" r:id="rId16"/>
    <p:sldId id="652" r:id="rId17"/>
    <p:sldId id="641" r:id="rId18"/>
    <p:sldId id="642" r:id="rId19"/>
    <p:sldId id="651" r:id="rId20"/>
    <p:sldId id="649" r:id="rId21"/>
    <p:sldId id="650" r:id="rId22"/>
    <p:sldId id="638" r:id="rId23"/>
    <p:sldId id="437" r:id="rId24"/>
    <p:sldId id="648" r:id="rId25"/>
    <p:sldId id="434" r:id="rId26"/>
    <p:sldId id="435" r:id="rId27"/>
    <p:sldId id="643" r:id="rId28"/>
    <p:sldId id="644" r:id="rId29"/>
    <p:sldId id="645" r:id="rId30"/>
    <p:sldId id="646" r:id="rId31"/>
    <p:sldId id="26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382" autoAdjust="0"/>
  </p:normalViewPr>
  <p:slideViewPr>
    <p:cSldViewPr snapToGrid="0">
      <p:cViewPr varScale="1">
        <p:scale>
          <a:sx n="122" d="100"/>
          <a:sy n="122" d="100"/>
        </p:scale>
        <p:origin x="100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35878-66A0-4244-95BC-EDB144338379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7CF2-2E72-4FB1-8C21-6F6F78E75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0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97CF2-2E72-4FB1-8C21-6F6F78E7573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80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9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7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语言基础（十三）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二进制与位运算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计算机的数制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609" y="1489575"/>
            <a:ext cx="7983946" cy="4393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八进制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八个数码：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十六进制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十六个数码：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0~9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A~F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，计数的基数为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</a:t>
            </a:r>
            <a:endParaRPr lang="en-US" altLang="zh-CN" sz="1800" u="sng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又叫“位权”，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某一数位上的</a:t>
            </a:r>
            <a:r>
              <a:rPr lang="en-US" altLang="zh-CN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u="sng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所表示的数值的大小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例如：十进制数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123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，百位上的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，十位上的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，个位上的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9EC699-2257-7DD5-727B-EC7B3387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051" y="1489572"/>
            <a:ext cx="1151358" cy="12289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B1C2CE2-8587-9238-370B-FFB7E8711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89572"/>
            <a:ext cx="3659659" cy="27285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二进制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608" y="2362575"/>
            <a:ext cx="5417391" cy="2541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权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整数部分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从低位往高位，权依次为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小数部分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从高位往低位，权依次为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-2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8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-3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  <a:p>
            <a:pPr marL="0" indent="0"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66C40C-CEA7-5C79-06A1-EDE6F0DB3318}"/>
              </a:ext>
            </a:extLst>
          </p:cNvPr>
          <p:cNvSpPr txBox="1"/>
          <p:nvPr/>
        </p:nvSpPr>
        <p:spPr>
          <a:xfrm>
            <a:off x="6095999" y="1489575"/>
            <a:ext cx="5679990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补充知识：指数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指数的基本意思是“许多个相同的数相乘”，例如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600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表示“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相乘”。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这里的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称为“底数”，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称为“指数”（又叫“次方”），计算结果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32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称为“幂”，读作“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次方为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/>
              <p:nvPr/>
            </p:nvSpPr>
            <p:spPr>
              <a:xfrm>
                <a:off x="6095999" y="4600817"/>
                <a:ext cx="5613545" cy="1833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 algn="just" defTabSz="914400">
                  <a:lnSpc>
                    <a:spcPct val="150000"/>
                  </a:lnSpc>
                  <a:buFont typeface="+mj-lt"/>
                  <a:buAutoNum type="arabicPeriod"/>
                  <a:defRPr sz="1400" kern="10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defRPr>
                </a:lvl1pPr>
              </a:lstStyle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指数为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</a:p>
              <a:p>
                <a:pPr marL="266700" indent="0">
                  <a:buNone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特殊规定：非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 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数的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 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次方为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 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 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次方没有意义）；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66700" indent="-266700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指数为负数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66700" indent="0">
                  <a:lnSpc>
                    <a:spcPts val="2400"/>
                  </a:lnSpc>
                  <a:buNone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负数幂为对应的正数幂的倒数，例如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r>
                  <a:rPr lang="en-US" altLang="zh-CN" sz="1600" baseline="30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-5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2</m:t>
                        </m:r>
                        <m:r>
                          <a:rPr lang="en-US" altLang="zh-CN" sz="2400" b="0" i="1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F49D7F8-DC14-C2DF-55D2-405CFBB7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600817"/>
                <a:ext cx="5613545" cy="1833964"/>
              </a:xfrm>
              <a:prstGeom prst="rect">
                <a:avLst/>
              </a:prstGeom>
              <a:blipFill>
                <a:blip r:embed="rId2"/>
                <a:stretch>
                  <a:fillRect l="-434" r="-4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93CED08F-3E6C-9F59-B469-99E73B6A0FC3}"/>
              </a:ext>
            </a:extLst>
          </p:cNvPr>
          <p:cNvGrpSpPr/>
          <p:nvPr/>
        </p:nvGrpSpPr>
        <p:grpSpPr>
          <a:xfrm>
            <a:off x="8186115" y="3478368"/>
            <a:ext cx="1499757" cy="1426057"/>
            <a:chOff x="7637316" y="2822408"/>
            <a:chExt cx="1499757" cy="142605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852D42-A6C7-428C-41E9-2978647FCAA0}"/>
                </a:ext>
              </a:extLst>
            </p:cNvPr>
            <p:cNvSpPr txBox="1"/>
            <p:nvPr/>
          </p:nvSpPr>
          <p:spPr>
            <a:xfrm>
              <a:off x="7765472" y="3138406"/>
              <a:ext cx="1371601" cy="662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en-US" altLang="zh-CN" sz="2800" baseline="30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5 </a:t>
              </a:r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=32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8D26E8-1F0A-625C-EF2D-D7346504B3EA}"/>
                </a:ext>
              </a:extLst>
            </p:cNvPr>
            <p:cNvSpPr txBox="1"/>
            <p:nvPr/>
          </p:nvSpPr>
          <p:spPr>
            <a:xfrm>
              <a:off x="7637316" y="3911770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底数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C66267C-F37A-2182-F12B-DECD0B054488}"/>
                </a:ext>
              </a:extLst>
            </p:cNvPr>
            <p:cNvSpPr txBox="1"/>
            <p:nvPr/>
          </p:nvSpPr>
          <p:spPr>
            <a:xfrm>
              <a:off x="8440878" y="3911770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F231000-E8D7-B97D-4631-49AA4EB55074}"/>
                </a:ext>
              </a:extLst>
            </p:cNvPr>
            <p:cNvSpPr txBox="1"/>
            <p:nvPr/>
          </p:nvSpPr>
          <p:spPr>
            <a:xfrm>
              <a:off x="7782786" y="2822408"/>
              <a:ext cx="658092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指数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0945996-0053-E12E-9DBF-9366943D3A04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8111832" y="3159103"/>
              <a:ext cx="0" cy="2076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3AC6564-2C8E-4C85-48ED-E78DDDA18B9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966362" y="3675640"/>
              <a:ext cx="0" cy="2361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01207AA-F5BC-D9AD-7555-F81D90832BDD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8769924" y="3669141"/>
              <a:ext cx="0" cy="2426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C400758-46B7-D19B-6EAA-BE798DF3521F}"/>
              </a:ext>
            </a:extLst>
          </p:cNvPr>
          <p:cNvGrpSpPr/>
          <p:nvPr/>
        </p:nvGrpSpPr>
        <p:grpSpPr>
          <a:xfrm>
            <a:off x="678608" y="4809944"/>
            <a:ext cx="1795084" cy="1454315"/>
            <a:chOff x="719516" y="3556456"/>
            <a:chExt cx="1795084" cy="145431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E68BCE-9467-00D5-61E3-889EA0960404}"/>
                </a:ext>
              </a:extLst>
            </p:cNvPr>
            <p:cNvSpPr txBox="1"/>
            <p:nvPr/>
          </p:nvSpPr>
          <p:spPr>
            <a:xfrm>
              <a:off x="778396" y="3929604"/>
              <a:ext cx="1736204" cy="66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2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</a:rPr>
                <a:t>110.101</a:t>
              </a:r>
              <a:endPara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77AF3C2-754B-C2F1-D536-41B76FC6ECE0}"/>
                </a:ext>
              </a:extLst>
            </p:cNvPr>
            <p:cNvSpPr txBox="1"/>
            <p:nvPr/>
          </p:nvSpPr>
          <p:spPr>
            <a:xfrm>
              <a:off x="719516" y="4588668"/>
              <a:ext cx="474516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r>
                <a:rPr lang="en-US" altLang="zh-CN" sz="1600" baseline="300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11B786A-339C-DE58-5963-4027EAA2E260}"/>
                </a:ext>
              </a:extLst>
            </p:cNvPr>
            <p:cNvSpPr txBox="1"/>
            <p:nvPr/>
          </p:nvSpPr>
          <p:spPr>
            <a:xfrm>
              <a:off x="1655530" y="4588668"/>
              <a:ext cx="559435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-2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B052635-FE32-1D0E-C9C7-A7FCA07FED4C}"/>
                </a:ext>
              </a:extLst>
            </p:cNvPr>
            <p:cNvSpPr txBox="1"/>
            <p:nvPr/>
          </p:nvSpPr>
          <p:spPr>
            <a:xfrm>
              <a:off x="910010" y="3556456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1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63F4492-FCD6-3DC3-C9FB-3100CD133AD8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31" y="3912201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50AD855F-8EE4-42CF-9646-640515655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711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6C1ED6B-4E45-7C29-5302-4AA0F609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5248" y="4488914"/>
              <a:ext cx="0" cy="24262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4C5E9D-78BD-7F4B-50EE-B653214217CD}"/>
                </a:ext>
              </a:extLst>
            </p:cNvPr>
            <p:cNvSpPr txBox="1"/>
            <p:nvPr/>
          </p:nvSpPr>
          <p:spPr>
            <a:xfrm>
              <a:off x="1121294" y="4588668"/>
              <a:ext cx="474516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lang="en-US" altLang="zh-CN" sz="1600" dirty="0">
                  <a:latin typeface="Consolas" panose="020B0609020204030204" pitchFamily="49" charset="0"/>
                  <a:ea typeface="微软雅黑" panose="020B0503020204020204" charset="-122"/>
                </a:rPr>
                <a:t>2</a:t>
              </a:r>
              <a:r>
                <a:rPr lang="en-US" altLang="zh-CN" sz="1600" baseline="30000" dirty="0">
                  <a:latin typeface="Consolas" panose="020B0609020204030204" pitchFamily="49" charset="0"/>
                  <a:ea typeface="微软雅黑" panose="020B0503020204020204" charset="-122"/>
                </a:rPr>
                <a:t>0</a:t>
              </a:r>
              <a:endPara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64A0BA3-95FB-02FE-FB22-B29697F6B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489" y="4485888"/>
              <a:ext cx="0" cy="23613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83B255-08D1-BC0B-9147-492DD5C4E57D}"/>
                </a:ext>
              </a:extLst>
            </p:cNvPr>
            <p:cNvSpPr txBox="1"/>
            <p:nvPr/>
          </p:nvSpPr>
          <p:spPr>
            <a:xfrm>
              <a:off x="1503430" y="3565732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-1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E331036-6D15-FF21-A37B-B0BDC4E92F76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51" y="3921477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3379061-86EE-7C79-8B36-E764F7CC826F}"/>
                </a:ext>
              </a:extLst>
            </p:cNvPr>
            <p:cNvSpPr txBox="1"/>
            <p:nvPr/>
          </p:nvSpPr>
          <p:spPr>
            <a:xfrm>
              <a:off x="1889850" y="3565297"/>
              <a:ext cx="474514" cy="42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en-US" altLang="zh-C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charset="-122"/>
                  <a:cs typeface="+mn-cs"/>
                </a:rPr>
                <a:t>-3</a:t>
              </a:r>
              <a:endParaRPr kumimoji="0" lang="zh-CN" altLang="en-US" sz="105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A8B6BAB-1694-5878-334C-3AD58D57E80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71" y="3921042"/>
              <a:ext cx="0" cy="20763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8344B32-4435-CBA8-3C60-BAE8B4149D23}"/>
              </a:ext>
            </a:extLst>
          </p:cNvPr>
          <p:cNvSpPr txBox="1"/>
          <p:nvPr/>
        </p:nvSpPr>
        <p:spPr>
          <a:xfrm>
            <a:off x="678608" y="1320898"/>
            <a:ext cx="6094970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二进制只有两种数字：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单个二进制数字，称为一个“位”，英文为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bit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678609" y="392883"/>
            <a:ext cx="10368800" cy="707886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4000" cap="none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二进制的转换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FC3CDF-5A66-A465-51F2-7C6BDFC359AD}"/>
              </a:ext>
            </a:extLst>
          </p:cNvPr>
          <p:cNvSpPr txBox="1"/>
          <p:nvPr/>
        </p:nvSpPr>
        <p:spPr>
          <a:xfrm>
            <a:off x="678608" y="1486111"/>
            <a:ext cx="9445601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>
              <a:buFont typeface="+mj-ea"/>
              <a:buAutoNum type="ea1JpnChsDb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二进制转十进制：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按权展开求和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363" lvl="1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1011.01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+1×2</a:t>
            </a:r>
            <a:r>
              <a:rPr lang="en-US" altLang="zh-CN" sz="1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marL="1793875" lvl="1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8+2+1+0.25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3875" lvl="1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+mj-ea"/>
              <a:buAutoNum type="ea1JpnChsDb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十进制转二进制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03C04F-28D7-07B6-9CB0-0C52A73CD802}"/>
              </a:ext>
            </a:extLst>
          </p:cNvPr>
          <p:cNvSpPr txBox="1"/>
          <p:nvPr/>
        </p:nvSpPr>
        <p:spPr>
          <a:xfrm>
            <a:off x="1018309" y="2833018"/>
            <a:ext cx="417021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整数部分：除以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取余，整逆序输出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1011001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E28504-EDD0-3464-BAF1-B01C8A176E3D}"/>
              </a:ext>
            </a:extLst>
          </p:cNvPr>
          <p:cNvSpPr txBox="1"/>
          <p:nvPr/>
        </p:nvSpPr>
        <p:spPr>
          <a:xfrm>
            <a:off x="5380626" y="2833018"/>
            <a:ext cx="4170218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小数部分：乘以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取整，顺序输出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0.625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0.101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1314E31-CCD5-7351-13FC-48496D157AB2}"/>
              </a:ext>
            </a:extLst>
          </p:cNvPr>
          <p:cNvGrpSpPr/>
          <p:nvPr/>
        </p:nvGrpSpPr>
        <p:grpSpPr>
          <a:xfrm>
            <a:off x="1018309" y="3702708"/>
            <a:ext cx="2350208" cy="2626302"/>
            <a:chOff x="1179237" y="3479028"/>
            <a:chExt cx="2350208" cy="2626302"/>
          </a:xfrm>
        </p:grpSpPr>
        <p:cxnSp>
          <p:nvCxnSpPr>
            <p:cNvPr id="77" name="连接符: 肘形 76">
              <a:extLst>
                <a:ext uri="{FF2B5EF4-FFF2-40B4-BE49-F238E27FC236}">
                  <a16:creationId xmlns:a16="http://schemas.microsoft.com/office/drawing/2014/main" id="{9E6A3D18-A8A3-D81D-0AEB-4614F57B3D71}"/>
                </a:ext>
              </a:extLst>
            </p:cNvPr>
            <p:cNvCxnSpPr>
              <a:cxnSpLocks/>
            </p:cNvCxnSpPr>
            <p:nvPr/>
          </p:nvCxnSpPr>
          <p:spPr>
            <a:xfrm>
              <a:off x="1562100" y="3540298"/>
              <a:ext cx="1122218" cy="290946"/>
            </a:xfrm>
            <a:prstGeom prst="bentConnector3">
              <a:avLst>
                <a:gd name="adj1" fmla="val 0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AF9C1A7A-1FD3-649C-C437-8E450747F6A9}"/>
                </a:ext>
              </a:extLst>
            </p:cNvPr>
            <p:cNvCxnSpPr>
              <a:cxnSpLocks/>
            </p:cNvCxnSpPr>
            <p:nvPr/>
          </p:nvCxnSpPr>
          <p:spPr>
            <a:xfrm>
              <a:off x="1714500" y="3845098"/>
              <a:ext cx="969818" cy="332509"/>
            </a:xfrm>
            <a:prstGeom prst="bentConnector3">
              <a:avLst>
                <a:gd name="adj1" fmla="val 714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连接符: 肘形 78">
              <a:extLst>
                <a:ext uri="{FF2B5EF4-FFF2-40B4-BE49-F238E27FC236}">
                  <a16:creationId xmlns:a16="http://schemas.microsoft.com/office/drawing/2014/main" id="{39AE4260-1381-3559-17CB-77D22BD6F38A}"/>
                </a:ext>
              </a:extLst>
            </p:cNvPr>
            <p:cNvCxnSpPr>
              <a:cxnSpLocks/>
            </p:cNvCxnSpPr>
            <p:nvPr/>
          </p:nvCxnSpPr>
          <p:spPr>
            <a:xfrm>
              <a:off x="1863437" y="4191461"/>
              <a:ext cx="820881" cy="304801"/>
            </a:xfrm>
            <a:prstGeom prst="bentConnector3">
              <a:avLst>
                <a:gd name="adj1" fmla="val -21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A16C760D-88BD-DD45-2FFA-8E23718A6B08}"/>
                </a:ext>
              </a:extLst>
            </p:cNvPr>
            <p:cNvCxnSpPr>
              <a:cxnSpLocks/>
            </p:cNvCxnSpPr>
            <p:nvPr/>
          </p:nvCxnSpPr>
          <p:spPr>
            <a:xfrm>
              <a:off x="2012374" y="4509904"/>
              <a:ext cx="671944" cy="304801"/>
            </a:xfrm>
            <a:prstGeom prst="bentConnector3">
              <a:avLst>
                <a:gd name="adj1" fmla="val 515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连接符: 肘形 80">
              <a:extLst>
                <a:ext uri="{FF2B5EF4-FFF2-40B4-BE49-F238E27FC236}">
                  <a16:creationId xmlns:a16="http://schemas.microsoft.com/office/drawing/2014/main" id="{E59D419B-8D41-AD7C-850C-5ABC0F5DE088}"/>
                </a:ext>
              </a:extLst>
            </p:cNvPr>
            <p:cNvCxnSpPr>
              <a:cxnSpLocks/>
            </p:cNvCxnSpPr>
            <p:nvPr/>
          </p:nvCxnSpPr>
          <p:spPr>
            <a:xfrm>
              <a:off x="2161311" y="4828347"/>
              <a:ext cx="523007" cy="312151"/>
            </a:xfrm>
            <a:prstGeom prst="bentConnector3">
              <a:avLst>
                <a:gd name="adj1" fmla="val 993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C465A006-AD4B-1C90-3F18-DC3F58763E28}"/>
                </a:ext>
              </a:extLst>
            </p:cNvPr>
            <p:cNvCxnSpPr>
              <a:cxnSpLocks/>
            </p:cNvCxnSpPr>
            <p:nvPr/>
          </p:nvCxnSpPr>
          <p:spPr>
            <a:xfrm>
              <a:off x="2310248" y="5140498"/>
              <a:ext cx="374070" cy="318655"/>
            </a:xfrm>
            <a:prstGeom prst="bentConnector3">
              <a:avLst>
                <a:gd name="adj1" fmla="val -1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7F3A780B-7A09-BBAB-3DEA-F7FB0A321D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12424" y="5499409"/>
              <a:ext cx="318655" cy="225133"/>
            </a:xfrm>
            <a:prstGeom prst="bentConnector3">
              <a:avLst>
                <a:gd name="adj1" fmla="val 97826"/>
              </a:avLst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4455350-A6C1-A345-BBBE-A69D4AC8FFAA}"/>
                </a:ext>
              </a:extLst>
            </p:cNvPr>
            <p:cNvSpPr txBox="1"/>
            <p:nvPr/>
          </p:nvSpPr>
          <p:spPr>
            <a:xfrm>
              <a:off x="2391507" y="347902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89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D51DDC2E-AF21-3854-787F-0D26AD72C794}"/>
                </a:ext>
              </a:extLst>
            </p:cNvPr>
            <p:cNvSpPr txBox="1"/>
            <p:nvPr/>
          </p:nvSpPr>
          <p:spPr>
            <a:xfrm>
              <a:off x="2391506" y="379117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44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0D119D1A-2D6A-1064-F03F-751300CE87F5}"/>
                </a:ext>
              </a:extLst>
            </p:cNvPr>
            <p:cNvSpPr txBox="1"/>
            <p:nvPr/>
          </p:nvSpPr>
          <p:spPr>
            <a:xfrm>
              <a:off x="2391506" y="4138786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7D91390A-2A59-0D6C-9E60-FB47308AE68E}"/>
                </a:ext>
              </a:extLst>
            </p:cNvPr>
            <p:cNvSpPr txBox="1"/>
            <p:nvPr/>
          </p:nvSpPr>
          <p:spPr>
            <a:xfrm>
              <a:off x="2391506" y="4471295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11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C6C9B8E-A584-B62A-A35D-CD2E0C7854C5}"/>
                </a:ext>
              </a:extLst>
            </p:cNvPr>
            <p:cNvSpPr txBox="1"/>
            <p:nvPr/>
          </p:nvSpPr>
          <p:spPr>
            <a:xfrm>
              <a:off x="2422814" y="475601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5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FBBDE7D-3C96-BEA2-446D-73D42BC2772E}"/>
                </a:ext>
              </a:extLst>
            </p:cNvPr>
            <p:cNvSpPr txBox="1"/>
            <p:nvPr/>
          </p:nvSpPr>
          <p:spPr>
            <a:xfrm>
              <a:off x="2422814" y="506816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3A2B642-68ED-75AE-1CA0-C99B7650877A}"/>
                </a:ext>
              </a:extLst>
            </p:cNvPr>
            <p:cNvSpPr txBox="1"/>
            <p:nvPr/>
          </p:nvSpPr>
          <p:spPr>
            <a:xfrm>
              <a:off x="2422814" y="5394229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D4F89991-03B6-598F-E316-4985577BF0A8}"/>
                </a:ext>
              </a:extLst>
            </p:cNvPr>
            <p:cNvSpPr txBox="1"/>
            <p:nvPr/>
          </p:nvSpPr>
          <p:spPr>
            <a:xfrm>
              <a:off x="2422814" y="5727919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6FA1948-5579-2C73-9AA6-D05BA1FA19A7}"/>
                </a:ext>
              </a:extLst>
            </p:cNvPr>
            <p:cNvSpPr txBox="1"/>
            <p:nvPr/>
          </p:nvSpPr>
          <p:spPr>
            <a:xfrm>
              <a:off x="1179237" y="3479028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AC700208-3538-B04F-F26F-FFC004A34101}"/>
                </a:ext>
              </a:extLst>
            </p:cNvPr>
            <p:cNvSpPr txBox="1"/>
            <p:nvPr/>
          </p:nvSpPr>
          <p:spPr>
            <a:xfrm>
              <a:off x="1355081" y="3791177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C72AE4C-F6D5-E6A1-023D-215B7DF2CDBA}"/>
                </a:ext>
              </a:extLst>
            </p:cNvPr>
            <p:cNvSpPr txBox="1"/>
            <p:nvPr/>
          </p:nvSpPr>
          <p:spPr>
            <a:xfrm>
              <a:off x="1498689" y="4129366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CA6CC73-C761-E440-A99C-DE2ED8028816}"/>
                </a:ext>
              </a:extLst>
            </p:cNvPr>
            <p:cNvSpPr txBox="1"/>
            <p:nvPr/>
          </p:nvSpPr>
          <p:spPr>
            <a:xfrm>
              <a:off x="1655353" y="4471295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515731F-A9D1-9A70-9404-19B86F567BA2}"/>
                </a:ext>
              </a:extLst>
            </p:cNvPr>
            <p:cNvSpPr txBox="1"/>
            <p:nvPr/>
          </p:nvSpPr>
          <p:spPr>
            <a:xfrm>
              <a:off x="1798958" y="4754334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A6A7C05-A57B-5898-1DC8-E797B67E3ED0}"/>
                </a:ext>
              </a:extLst>
            </p:cNvPr>
            <p:cNvSpPr txBox="1"/>
            <p:nvPr/>
          </p:nvSpPr>
          <p:spPr>
            <a:xfrm>
              <a:off x="1942294" y="5077423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527E9D16-E22B-6A71-9734-C5D2D72ED989}"/>
                </a:ext>
              </a:extLst>
            </p:cNvPr>
            <p:cNvSpPr txBox="1"/>
            <p:nvPr/>
          </p:nvSpPr>
          <p:spPr>
            <a:xfrm>
              <a:off x="2083246" y="5400511"/>
              <a:ext cx="414037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74BE4E1-A553-6E66-7ED8-84842B0CB79B}"/>
                </a:ext>
              </a:extLst>
            </p:cNvPr>
            <p:cNvSpPr txBox="1"/>
            <p:nvPr/>
          </p:nvSpPr>
          <p:spPr>
            <a:xfrm>
              <a:off x="2755454" y="3802123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6E847F1-B5EF-D513-6849-127DF5237836}"/>
                </a:ext>
              </a:extLst>
            </p:cNvPr>
            <p:cNvSpPr txBox="1"/>
            <p:nvPr/>
          </p:nvSpPr>
          <p:spPr>
            <a:xfrm>
              <a:off x="2757984" y="4107319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8D00EA9-5A82-06C2-F26D-D672223BCDEF}"/>
                </a:ext>
              </a:extLst>
            </p:cNvPr>
            <p:cNvSpPr txBox="1"/>
            <p:nvPr/>
          </p:nvSpPr>
          <p:spPr>
            <a:xfrm>
              <a:off x="2757984" y="4450936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BD21FC7-9C24-2522-6BD1-744E23F75215}"/>
                </a:ext>
              </a:extLst>
            </p:cNvPr>
            <p:cNvSpPr txBox="1"/>
            <p:nvPr/>
          </p:nvSpPr>
          <p:spPr>
            <a:xfrm>
              <a:off x="2756528" y="4755938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CD47AE1-BC7E-202C-9429-40923F8FC561}"/>
                </a:ext>
              </a:extLst>
            </p:cNvPr>
            <p:cNvSpPr txBox="1"/>
            <p:nvPr/>
          </p:nvSpPr>
          <p:spPr>
            <a:xfrm>
              <a:off x="2756528" y="5081730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8D3C3EC3-81FE-72F1-50C2-6AD86F5AAF0B}"/>
                </a:ext>
              </a:extLst>
            </p:cNvPr>
            <p:cNvSpPr txBox="1"/>
            <p:nvPr/>
          </p:nvSpPr>
          <p:spPr>
            <a:xfrm>
              <a:off x="2756528" y="5386732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0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5742F96D-82BB-BB2C-7929-416F1D4CC18A}"/>
                </a:ext>
              </a:extLst>
            </p:cNvPr>
            <p:cNvSpPr txBox="1"/>
            <p:nvPr/>
          </p:nvSpPr>
          <p:spPr>
            <a:xfrm>
              <a:off x="2756528" y="5704875"/>
              <a:ext cx="622923" cy="377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None/>
              </a:pPr>
              <a:r>
                <a:rPr lang="en-US" altLang="zh-CN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…… 1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6AE0631C-305A-FEBD-F5FF-AA14E3ED1E0E}"/>
                </a:ext>
              </a:extLst>
            </p:cNvPr>
            <p:cNvCxnSpPr/>
            <p:nvPr/>
          </p:nvCxnSpPr>
          <p:spPr>
            <a:xfrm flipV="1">
              <a:off x="3529445" y="3927764"/>
              <a:ext cx="0" cy="2092036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3B35435-F831-0EBC-7D32-84BBAB55158C}"/>
              </a:ext>
            </a:extLst>
          </p:cNvPr>
          <p:cNvSpPr txBox="1"/>
          <p:nvPr/>
        </p:nvSpPr>
        <p:spPr>
          <a:xfrm>
            <a:off x="5380626" y="3707420"/>
            <a:ext cx="4170218" cy="204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ts val="168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0.625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1.25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    0.25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0.5 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0.5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×     2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1.0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 …………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取整数：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E744537B-A5A0-DEE6-CEAE-02337CA90B7F}"/>
              </a:ext>
            </a:extLst>
          </p:cNvPr>
          <p:cNvCxnSpPr>
            <a:cxnSpLocks/>
          </p:cNvCxnSpPr>
          <p:nvPr/>
        </p:nvCxnSpPr>
        <p:spPr>
          <a:xfrm flipV="1">
            <a:off x="8266098" y="4161705"/>
            <a:ext cx="0" cy="1562985"/>
          </a:xfrm>
          <a:prstGeom prst="straightConnector1">
            <a:avLst/>
          </a:prstGeom>
          <a:ln w="12700">
            <a:solidFill>
              <a:schemeClr val="bg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9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十进制转二进制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573400" cy="70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把一个十进制整数转换为二进制并输出。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1EDB3F-961A-C793-1EF4-4BD272B74F3E}"/>
              </a:ext>
            </a:extLst>
          </p:cNvPr>
          <p:cNvSpPr txBox="1"/>
          <p:nvPr/>
        </p:nvSpPr>
        <p:spPr>
          <a:xfrm>
            <a:off x="431989" y="2314525"/>
            <a:ext cx="2148600" cy="107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一个十进制表示的整数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＜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4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09CDDF-95F1-2F94-6D6B-5C11535356C6}"/>
              </a:ext>
            </a:extLst>
          </p:cNvPr>
          <p:cNvSpPr txBox="1"/>
          <p:nvPr/>
        </p:nvSpPr>
        <p:spPr>
          <a:xfrm>
            <a:off x="2673324" y="2314525"/>
            <a:ext cx="2004738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的二进制表示。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4D8F7FE-5AF4-A141-0CA2-9D79859DEFAB}"/>
              </a:ext>
            </a:extLst>
          </p:cNvPr>
          <p:cNvSpPr txBox="1"/>
          <p:nvPr/>
        </p:nvSpPr>
        <p:spPr>
          <a:xfrm>
            <a:off x="431013" y="3632556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FB0BE8-F23A-A843-251A-C3544AE7EDD2}"/>
              </a:ext>
            </a:extLst>
          </p:cNvPr>
          <p:cNvSpPr/>
          <p:nvPr/>
        </p:nvSpPr>
        <p:spPr>
          <a:xfrm>
            <a:off x="2672348" y="3632556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11001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27B22E-7B09-1350-6B28-E79F3A18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38" y="1806382"/>
            <a:ext cx="3263937" cy="31616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791F14-2533-7077-9C1F-2DE86A0E8A7B}"/>
              </a:ext>
            </a:extLst>
          </p:cNvPr>
          <p:cNvSpPr/>
          <p:nvPr/>
        </p:nvSpPr>
        <p:spPr>
          <a:xfrm>
            <a:off x="8274754" y="2883829"/>
            <a:ext cx="2498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转换过程是先得到低位后得到高位，所以存入数组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时是最低位存入下标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、次低位存入下标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、最高位存入下标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（最后一个下标）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6D4E1C-0B7E-F672-85BC-389EFE56684B}"/>
              </a:ext>
            </a:extLst>
          </p:cNvPr>
          <p:cNvSpPr/>
          <p:nvPr/>
        </p:nvSpPr>
        <p:spPr>
          <a:xfrm>
            <a:off x="9300903" y="4018247"/>
            <a:ext cx="2168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要从高位向低位输出，就要从下标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开始、向下标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循环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01790F-28C1-F1C9-295D-83E990492334}"/>
              </a:ext>
            </a:extLst>
          </p:cNvPr>
          <p:cNvSpPr/>
          <p:nvPr/>
        </p:nvSpPr>
        <p:spPr>
          <a:xfrm>
            <a:off x="1339378" y="5438690"/>
            <a:ext cx="8339142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思考：如果数据范围由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0&lt;n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kern="100" baseline="30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，程序需要修改吗？如何修改？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二进制转十进制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012" y="342900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10010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0912" y="3429000"/>
            <a:ext cx="143827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0911" y="2231841"/>
            <a:ext cx="1438276" cy="89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一个整数，为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的十进制表示。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013" y="2231841"/>
            <a:ext cx="2670534" cy="89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一行，一个仅包含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，至少有一位，长度不超过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7CAD6E-A3A9-C6D3-ADFD-707440EEEE5D}"/>
              </a:ext>
            </a:extLst>
          </p:cNvPr>
          <p:cNvSpPr/>
          <p:nvPr/>
        </p:nvSpPr>
        <p:spPr>
          <a:xfrm>
            <a:off x="431012" y="1338720"/>
            <a:ext cx="4678175" cy="70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把一个二进制正整数转为十进制并输出。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1AAD2D-F943-2756-C7FF-E28646E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931" y="1338720"/>
            <a:ext cx="2691986" cy="239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6125BD-8C9D-CED9-11F7-261CF407FA62}"/>
              </a:ext>
            </a:extLst>
          </p:cNvPr>
          <p:cNvSpPr/>
          <p:nvPr/>
        </p:nvSpPr>
        <p:spPr>
          <a:xfrm>
            <a:off x="1305391" y="4815947"/>
            <a:ext cx="9381094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思考：如果数据范围由 长度不超过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改为 长度不超过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，程序需要修改吗？如何修改？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8" y="2424694"/>
            <a:ext cx="10979992" cy="3514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446088" indent="-446088">
              <a:buFont typeface="+mj-ea"/>
              <a:buAutoNum type="ea1JpnChsDbPeriod"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原码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446088"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以最高位代表符号的二进制形式。设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char x=102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，则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；设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x=-102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，则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buFont typeface="+mj-ea"/>
              <a:buAutoNum type="ea1JpnChsDbPeriod"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反码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正数的反码就是原码；负数的反码：在原码基础上，除符号位外，所有位取反；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设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char x=102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反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；设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char x=-102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反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=10011001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buFont typeface="+mj-ea"/>
              <a:buAutoNum type="ea1JpnChsDbPeriod"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补码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正数的补码就是反码；负数的补码：在反码基础上加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设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char x=102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反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设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char x=-102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=11100110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反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=10011001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=10011010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原码、反码、补码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4A47816-DDF5-5B0F-3576-B070A8FB833F}"/>
              </a:ext>
            </a:extLst>
          </p:cNvPr>
          <p:cNvSpPr txBox="1">
            <a:spLocks/>
          </p:cNvSpPr>
          <p:nvPr/>
        </p:nvSpPr>
        <p:spPr>
          <a:xfrm>
            <a:off x="7811467" y="1290802"/>
            <a:ext cx="3260345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在计算机的实际工作中，整数都是以补码形式保存的。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DC0DC-34BA-0D1F-5CBD-B78A78613949}"/>
              </a:ext>
            </a:extLst>
          </p:cNvPr>
          <p:cNvSpPr txBox="1"/>
          <p:nvPr/>
        </p:nvSpPr>
        <p:spPr>
          <a:xfrm>
            <a:off x="1132188" y="6211669"/>
            <a:ext cx="1674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设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x=-1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6A4EC-C0FF-1B04-A9DA-F39CF2D719A9}"/>
              </a:ext>
            </a:extLst>
          </p:cNvPr>
          <p:cNvSpPr txBox="1"/>
          <p:nvPr/>
        </p:nvSpPr>
        <p:spPr>
          <a:xfrm>
            <a:off x="2806528" y="5934670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8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原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=10000000 00000000 00000000 00000001</a:t>
            </a:r>
          </a:p>
          <a:p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8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反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11111110</a:t>
            </a:r>
          </a:p>
          <a:p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8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11111111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1BF968-4B44-5CCA-C040-997ED6C8B7C1}"/>
              </a:ext>
            </a:extLst>
          </p:cNvPr>
          <p:cNvSpPr/>
          <p:nvPr/>
        </p:nvSpPr>
        <p:spPr>
          <a:xfrm>
            <a:off x="678608" y="1286452"/>
            <a:ext cx="4890912" cy="1201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：字符类型，占用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个字节，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 整数类型，占用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个字节，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：长整数类型，占用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个字节，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64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1180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83A7236-FF3D-4F4B-B28E-DE1AF29A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537" y="2620065"/>
            <a:ext cx="1249982" cy="145779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1&amp;1 =&gt;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1&amp;0 =&gt; 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0&amp;1 =&gt; 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0&amp;0 =&gt; 0</a:t>
            </a:r>
            <a:endParaRPr lang="zh-CN" altLang="en-US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位运算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348457"/>
            <a:ext cx="6204105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两个二进制位之间，有三种特有的运算：与、或、异或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56FE38-6129-4248-8C74-2761FDE7D3CD}"/>
              </a:ext>
            </a:extLst>
          </p:cNvPr>
          <p:cNvSpPr/>
          <p:nvPr/>
        </p:nvSpPr>
        <p:spPr>
          <a:xfrm>
            <a:off x="687232" y="1860202"/>
            <a:ext cx="5046303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与：符号为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，两个二进制位都为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D5EA25A-E45E-47D0-A79D-46C65D5CD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884654"/>
              </p:ext>
            </p:extLst>
          </p:nvPr>
        </p:nvGraphicFramePr>
        <p:xfrm>
          <a:off x="761513" y="2742392"/>
          <a:ext cx="16654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E78A7AC-91A9-4E11-A318-CD67171D0ECB}"/>
              </a:ext>
            </a:extLst>
          </p:cNvPr>
          <p:cNvSpPr/>
          <p:nvPr/>
        </p:nvSpPr>
        <p:spPr>
          <a:xfrm>
            <a:off x="761513" y="4430049"/>
            <a:ext cx="4972021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或：符号为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，两个二进制位都为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E750D1-EBFE-494D-A574-7954B18DA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31103"/>
              </p:ext>
            </p:extLst>
          </p:nvPr>
        </p:nvGraphicFramePr>
        <p:xfrm>
          <a:off x="761513" y="5307918"/>
          <a:ext cx="166544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|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D3142C3-9399-42D3-A1C2-1993A2F3E303}"/>
              </a:ext>
            </a:extLst>
          </p:cNvPr>
          <p:cNvSpPr txBox="1">
            <a:spLocks/>
          </p:cNvSpPr>
          <p:nvPr/>
        </p:nvSpPr>
        <p:spPr>
          <a:xfrm>
            <a:off x="2716537" y="5050287"/>
            <a:ext cx="1249982" cy="15061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1|1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1|0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0|1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0|0 =&gt; 0</a:t>
            </a:r>
            <a:endParaRPr lang="zh-CN" altLang="en-US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60D5F11-5003-4A3F-922C-C41A69831906}"/>
              </a:ext>
            </a:extLst>
          </p:cNvPr>
          <p:cNvSpPr txBox="1">
            <a:spLocks/>
          </p:cNvSpPr>
          <p:nvPr/>
        </p:nvSpPr>
        <p:spPr>
          <a:xfrm>
            <a:off x="8432023" y="2620065"/>
            <a:ext cx="1249981" cy="1457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1^1 =&gt; 0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1^0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0^1 =&gt; 1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0^0 =&gt; 0</a:t>
            </a:r>
            <a:endParaRPr lang="zh-CN" altLang="en-US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93AC5B-67A0-4EA7-B5A7-1C15E57C6A2D}"/>
              </a:ext>
            </a:extLst>
          </p:cNvPr>
          <p:cNvSpPr/>
          <p:nvPr/>
        </p:nvSpPr>
        <p:spPr>
          <a:xfrm>
            <a:off x="6458467" y="1810828"/>
            <a:ext cx="4822906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异或：符号为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^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，两个二进制位不同则算出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，否则算出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A22B29D-F664-4859-BCCF-8D0DBD05A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587406"/>
              </p:ext>
            </p:extLst>
          </p:nvPr>
        </p:nvGraphicFramePr>
        <p:xfrm>
          <a:off x="6458467" y="2730167"/>
          <a:ext cx="16654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147">
                  <a:extLst>
                    <a:ext uri="{9D8B030D-6E8A-4147-A177-3AD203B41FA5}">
                      <a16:colId xmlns:a16="http://schemas.microsoft.com/office/drawing/2014/main" val="2071896091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3647475452"/>
                    </a:ext>
                  </a:extLst>
                </a:gridCol>
                <a:gridCol w="555147">
                  <a:extLst>
                    <a:ext uri="{9D8B030D-6E8A-4147-A177-3AD203B41FA5}">
                      <a16:colId xmlns:a16="http://schemas.microsoft.com/office/drawing/2014/main" val="2891604485"/>
                    </a:ext>
                  </a:extLst>
                </a:gridCol>
              </a:tblGrid>
              <a:tr h="2504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^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65340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3071"/>
                  </a:ext>
                </a:extLst>
              </a:tr>
              <a:tr h="2504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0995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5556E89-F32E-70EE-B511-AF3E9A8F66E6}"/>
              </a:ext>
            </a:extLst>
          </p:cNvPr>
          <p:cNvSpPr txBox="1"/>
          <p:nvPr/>
        </p:nvSpPr>
        <p:spPr>
          <a:xfrm>
            <a:off x="6458467" y="4430049"/>
            <a:ext cx="4972020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单个二进制位还可以进行取反运算，符号为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EBC290B-A045-504E-A44B-4F760D6BC669}"/>
              </a:ext>
            </a:extLst>
          </p:cNvPr>
          <p:cNvSpPr txBox="1">
            <a:spLocks/>
          </p:cNvSpPr>
          <p:nvPr/>
        </p:nvSpPr>
        <p:spPr>
          <a:xfrm>
            <a:off x="6458467" y="5050287"/>
            <a:ext cx="1249982" cy="687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~1 =&gt; 0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~0 =&gt; 1</a:t>
            </a:r>
            <a:endParaRPr lang="zh-CN" altLang="en-US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BFD758D-52CD-6ECB-63B5-584D1039C7E0}"/>
              </a:ext>
            </a:extLst>
          </p:cNvPr>
          <p:cNvSpPr/>
          <p:nvPr/>
        </p:nvSpPr>
        <p:spPr>
          <a:xfrm>
            <a:off x="5995938" y="3870452"/>
            <a:ext cx="5317330" cy="26372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9|26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第一步，分别转为对应的二进制数字（补码形式）</a:t>
            </a:r>
          </a:p>
          <a:p>
            <a:pPr marL="444500" lvl="1" indent="-1793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(9)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(1001)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4500" lvl="1" indent="-1793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(26)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(11010)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第二步，低位对齐，高位不足则补零，按位或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第三步，将结果二进制数字转回十进制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9|26 = (1001)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|(11010)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(11011)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=&gt; 27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33303D-7EF0-4878-A1FC-568030BB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270" y="4582443"/>
            <a:ext cx="1760089" cy="9008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位运算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67A81F-40C2-4A0B-BF85-4B253BDE1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600" y="4582443"/>
            <a:ext cx="1760089" cy="9008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233192"/>
            <a:ext cx="10634659" cy="26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当二进制位不止一位时，也可以进行与、或、异或、取反运算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两个十进制数字进行与、或、异或运算时，先分别转为对应的二进制数字（补码形式），进行按位运算后得到结果的二进制数字，再转回十进制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单个十进制数字进行取反运算时，先转为对应的二进制数字（补码形式），进行按位运算后得到结果的二进制数字，再转回十进制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原则：最低位对齐，位数如果不同则在高位补零，然后按位运算</a:t>
            </a:r>
            <a:endParaRPr lang="zh-CN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与、或、异或的运算只发生在对应位置的两个位之间，没有进位、借位操作，所以位与位之间互不影响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93E3D7-F078-0BDD-2AF7-3DC9615EA30E}"/>
              </a:ext>
            </a:extLst>
          </p:cNvPr>
          <p:cNvSpPr/>
          <p:nvPr/>
        </p:nvSpPr>
        <p:spPr>
          <a:xfrm>
            <a:off x="678608" y="3870452"/>
            <a:ext cx="5317330" cy="263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9&amp;26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第一步，分别转为对应的二进制数字（补码形式）</a:t>
            </a:r>
          </a:p>
          <a:p>
            <a:pPr marL="444500" lvl="1" indent="-1793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(9)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(1001)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4500" lvl="1" indent="-1793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(26)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(11010)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第二步，低位对齐，高位不足则补零，按位与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第三步，将结果二进制数字转回十进制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9&amp;26 = (1001)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&amp;(11010)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(1000)</a:t>
            </a:r>
            <a:r>
              <a:rPr lang="en-US" altLang="zh-CN" sz="16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=&gt; 8</a:t>
            </a:r>
          </a:p>
        </p:txBody>
      </p:sp>
    </p:spTree>
    <p:extLst>
      <p:ext uri="{BB962C8B-B14F-4D97-AF65-F5344CB8AC3E}">
        <p14:creationId xmlns:p14="http://schemas.microsoft.com/office/powerpoint/2010/main" val="363603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位运算谜题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7" y="1408319"/>
            <a:ext cx="4890912" cy="189752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有两个整数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满足如下条件：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a&amp;b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等于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a|b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等于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请问，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a^b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=______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F44AD3B-3361-42AD-A3D1-3BE08797A1CF}"/>
              </a:ext>
            </a:extLst>
          </p:cNvPr>
          <p:cNvSpPr txBox="1">
            <a:spLocks/>
          </p:cNvSpPr>
          <p:nvPr/>
        </p:nvSpPr>
        <p:spPr>
          <a:xfrm>
            <a:off x="675387" y="3552155"/>
            <a:ext cx="4613305" cy="1396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latin typeface="Consolas" panose="020B0609020204030204" pitchFamily="49" charset="0"/>
              </a:rPr>
              <a:t>【</a:t>
            </a:r>
            <a:r>
              <a:rPr lang="zh-CN" altLang="en-US" sz="1800" dirty="0">
                <a:latin typeface="Consolas" panose="020B0609020204030204" pitchFamily="49" charset="0"/>
              </a:rPr>
              <a:t>注意</a:t>
            </a:r>
            <a:r>
              <a:rPr lang="en-US" altLang="zh-CN" sz="1800" dirty="0">
                <a:latin typeface="Consolas" panose="020B0609020204030204" pitchFamily="49" charset="0"/>
              </a:rPr>
              <a:t>】</a:t>
            </a:r>
            <a:r>
              <a:rPr lang="zh-CN" altLang="en-US" sz="1800" dirty="0">
                <a:latin typeface="Consolas" panose="020B0609020204030204" pitchFamily="49" charset="0"/>
              </a:rPr>
              <a:t>要进行位运算，需要先将运算数转为二进制（补码形式），所以接下来讨论的 </a:t>
            </a:r>
            <a:r>
              <a:rPr lang="en-US" altLang="zh-CN" sz="1800" dirty="0">
                <a:latin typeface="Consolas" panose="020B0609020204030204" pitchFamily="49" charset="0"/>
              </a:rPr>
              <a:t>a</a:t>
            </a:r>
            <a:r>
              <a:rPr lang="zh-CN" altLang="en-US" sz="1800" dirty="0">
                <a:latin typeface="Consolas" panose="020B0609020204030204" pitchFamily="49" charset="0"/>
              </a:rPr>
              <a:t>、</a:t>
            </a:r>
            <a:r>
              <a:rPr lang="en-US" altLang="zh-CN" sz="1800" dirty="0">
                <a:latin typeface="Consolas" panose="020B0609020204030204" pitchFamily="49" charset="0"/>
              </a:rPr>
              <a:t>b </a:t>
            </a:r>
            <a:r>
              <a:rPr lang="zh-CN" altLang="en-US" sz="1800" dirty="0">
                <a:latin typeface="Consolas" panose="020B0609020204030204" pitchFamily="49" charset="0"/>
              </a:rPr>
              <a:t>都指的是二进制补码形式。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DF91B2-B80C-3CB6-F0B7-369C4B515EB3}"/>
              </a:ext>
            </a:extLst>
          </p:cNvPr>
          <p:cNvSpPr txBox="1"/>
          <p:nvPr/>
        </p:nvSpPr>
        <p:spPr>
          <a:xfrm>
            <a:off x="6095999" y="2357082"/>
            <a:ext cx="5618205" cy="2955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首先，通过 </a:t>
            </a:r>
            <a:r>
              <a:rPr lang="en-US" altLang="zh-CN" sz="18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a&amp;b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可知，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与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所有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的位置完全错开。（因为，只要有一个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的位置相同，其位与的结果一定是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，与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a&amp;b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矛盾）</a:t>
            </a: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其次，因为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中的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都是位置错开的，通过 </a:t>
            </a:r>
            <a:r>
              <a:rPr lang="en-US" altLang="zh-CN" sz="18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a|b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可知，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与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的个数之和只能是 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所以，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一个是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，另一个是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a^b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852BCC-B917-527D-5C86-4060F3216DE6}"/>
              </a:ext>
            </a:extLst>
          </p:cNvPr>
          <p:cNvSpPr txBox="1"/>
          <p:nvPr/>
        </p:nvSpPr>
        <p:spPr>
          <a:xfrm>
            <a:off x="6096000" y="1408319"/>
            <a:ext cx="56182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a: 00000000 00000000 00000000 00000000</a:t>
            </a:r>
          </a:p>
          <a:p>
            <a:pPr marL="0" lvl="1"/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b: 00000000 00000000 00000000 00000001</a:t>
            </a:r>
          </a:p>
        </p:txBody>
      </p:sp>
    </p:spTree>
    <p:extLst>
      <p:ext uri="{BB962C8B-B14F-4D97-AF65-F5344CB8AC3E}">
        <p14:creationId xmlns:p14="http://schemas.microsoft.com/office/powerpoint/2010/main" val="200994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位运算小技巧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9A12839-39B6-AA5B-DB80-831B0F9240FB}"/>
              </a:ext>
            </a:extLst>
          </p:cNvPr>
          <p:cNvSpPr txBox="1">
            <a:spLocks/>
          </p:cNvSpPr>
          <p:nvPr/>
        </p:nvSpPr>
        <p:spPr>
          <a:xfrm>
            <a:off x="675387" y="2557848"/>
            <a:ext cx="4890912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对下划线做位与操作实现小写转大写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'b'</a:t>
            </a:r>
            <a:r>
              <a:rPr lang="en-US" altLang="zh-CN" sz="1800" dirty="0">
                <a:latin typeface="Consolas" panose="020B0609020204030204" pitchFamily="49" charset="0"/>
              </a:rPr>
              <a:t>&amp;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'_'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'B'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'B'</a:t>
            </a:r>
            <a:r>
              <a:rPr lang="en-US" altLang="zh-CN" sz="1800" dirty="0">
                <a:latin typeface="Consolas" panose="020B0609020204030204" pitchFamily="49" charset="0"/>
              </a:rPr>
              <a:t>&amp;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'_'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'B'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DEAEE2C-5422-050F-D798-9C4F3F5B9FFA}"/>
              </a:ext>
            </a:extLst>
          </p:cNvPr>
          <p:cNvSpPr txBox="1">
            <a:spLocks/>
          </p:cNvSpPr>
          <p:nvPr/>
        </p:nvSpPr>
        <p:spPr>
          <a:xfrm>
            <a:off x="675387" y="3707377"/>
            <a:ext cx="4890912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对空格做异或操作实现大小写互转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'd'</a:t>
            </a:r>
            <a:r>
              <a:rPr lang="en-US" altLang="zh-CN" sz="1800" dirty="0">
                <a:latin typeface="Consolas" panose="020B0609020204030204" pitchFamily="49" charset="0"/>
              </a:rPr>
              <a:t>^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 '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'D'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'D'</a:t>
            </a:r>
            <a:r>
              <a:rPr lang="en-US" altLang="zh-CN" sz="1800" dirty="0">
                <a:latin typeface="Consolas" panose="020B0609020204030204" pitchFamily="49" charset="0"/>
              </a:rPr>
              <a:t>^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' '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'd'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9AB6FE5-364C-64D8-36B7-BDA9ACFEE561}"/>
              </a:ext>
            </a:extLst>
          </p:cNvPr>
          <p:cNvSpPr txBox="1">
            <a:spLocks/>
          </p:cNvSpPr>
          <p:nvPr/>
        </p:nvSpPr>
        <p:spPr>
          <a:xfrm>
            <a:off x="675387" y="4856906"/>
            <a:ext cx="2401445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自增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n=1;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n=-~n;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n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变成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7BFC0E8-4816-A499-ACBA-BB46A7E75529}"/>
              </a:ext>
            </a:extLst>
          </p:cNvPr>
          <p:cNvSpPr txBox="1">
            <a:spLocks/>
          </p:cNvSpPr>
          <p:nvPr/>
        </p:nvSpPr>
        <p:spPr>
          <a:xfrm>
            <a:off x="3076832" y="4856905"/>
            <a:ext cx="2401445" cy="1149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自减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n=2;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n=~-n;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n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变成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CEF83FF-CC47-A5AB-C9F7-4336747CC1B8}"/>
              </a:ext>
            </a:extLst>
          </p:cNvPr>
          <p:cNvSpPr txBox="1">
            <a:spLocks/>
          </p:cNvSpPr>
          <p:nvPr/>
        </p:nvSpPr>
        <p:spPr>
          <a:xfrm>
            <a:off x="6096000" y="1408319"/>
            <a:ext cx="4890912" cy="1680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交换两个变量的值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a=3,b=5;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a^=b;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b^=a;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a^=b; 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现在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了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0531329-2C89-01E9-394B-286C1B4AC116}"/>
              </a:ext>
            </a:extLst>
          </p:cNvPr>
          <p:cNvSpPr txBox="1">
            <a:spLocks/>
          </p:cNvSpPr>
          <p:nvPr/>
        </p:nvSpPr>
        <p:spPr>
          <a:xfrm>
            <a:off x="6096000" y="3089189"/>
            <a:ext cx="4890912" cy="1680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判断两个数是否异号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&gt;&gt;a&gt;&gt;b;</a:t>
            </a:r>
            <a:endParaRPr lang="en-US" altLang="zh-CN" sz="18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a^b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)&lt;0)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diff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51442106-8562-BC69-6946-956514EDC167}"/>
              </a:ext>
            </a:extLst>
          </p:cNvPr>
          <p:cNvSpPr txBox="1">
            <a:spLocks/>
          </p:cNvSpPr>
          <p:nvPr/>
        </p:nvSpPr>
        <p:spPr>
          <a:xfrm>
            <a:off x="6096000" y="4770059"/>
            <a:ext cx="1783722" cy="741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800" dirty="0">
                <a:latin typeface="Consolas" panose="020B0609020204030204" pitchFamily="49" charset="0"/>
              </a:rPr>
              <a:t>输入：</a:t>
            </a:r>
            <a:r>
              <a:rPr lang="en-US" altLang="zh-CN" sz="1800" dirty="0">
                <a:latin typeface="Consolas" panose="020B0609020204030204" pitchFamily="49" charset="0"/>
              </a:rPr>
              <a:t>-1 2</a:t>
            </a:r>
          </a:p>
          <a:p>
            <a:r>
              <a:rPr lang="zh-CN" altLang="en-US" sz="1800" dirty="0">
                <a:latin typeface="Consolas" panose="020B0609020204030204" pitchFamily="49" charset="0"/>
              </a:rPr>
              <a:t>输出：</a:t>
            </a:r>
            <a:r>
              <a:rPr lang="en-US" altLang="zh-CN" sz="1800" dirty="0">
                <a:latin typeface="Consolas" panose="020B0609020204030204" pitchFamily="49" charset="0"/>
              </a:rPr>
              <a:t>diff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A56D789-834A-FB94-ED0C-CD2461CC0B56}"/>
              </a:ext>
            </a:extLst>
          </p:cNvPr>
          <p:cNvSpPr txBox="1">
            <a:spLocks/>
          </p:cNvSpPr>
          <p:nvPr/>
        </p:nvSpPr>
        <p:spPr>
          <a:xfrm>
            <a:off x="8126627" y="4770059"/>
            <a:ext cx="1783722" cy="741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800" dirty="0">
                <a:latin typeface="Consolas" panose="020B0609020204030204" pitchFamily="49" charset="0"/>
              </a:rPr>
              <a:t>输入：</a:t>
            </a:r>
            <a:r>
              <a:rPr lang="en-US" altLang="zh-CN" sz="1800" dirty="0">
                <a:latin typeface="Consolas" panose="020B0609020204030204" pitchFamily="49" charset="0"/>
              </a:rPr>
              <a:t>3 2</a:t>
            </a:r>
          </a:p>
          <a:p>
            <a:r>
              <a:rPr lang="zh-CN" altLang="en-US" sz="1800" dirty="0">
                <a:latin typeface="Consolas" panose="020B0609020204030204" pitchFamily="49" charset="0"/>
              </a:rPr>
              <a:t>输出：</a:t>
            </a:r>
            <a:r>
              <a:rPr lang="en-US" altLang="zh-CN" sz="1800" dirty="0">
                <a:latin typeface="Consolas" panose="020B0609020204030204" pitchFamily="49" charset="0"/>
              </a:rPr>
              <a:t>same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537DB8-0FFC-F5C5-1205-35FBA180BC96}"/>
              </a:ext>
            </a:extLst>
          </p:cNvPr>
          <p:cNvSpPr/>
          <p:nvPr/>
        </p:nvSpPr>
        <p:spPr>
          <a:xfrm>
            <a:off x="675387" y="1408318"/>
            <a:ext cx="489091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对空格做位或操作实现大写转小写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|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' '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'a'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|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' '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'a'</a:t>
            </a:r>
            <a:endParaRPr lang="zh-CN" altLang="zh-CN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131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6D4BE2F-1F14-49D8-829C-DF22C03223A9}"/>
              </a:ext>
            </a:extLst>
          </p:cNvPr>
          <p:cNvSpPr txBox="1">
            <a:spLocks/>
          </p:cNvSpPr>
          <p:nvPr/>
        </p:nvSpPr>
        <p:spPr>
          <a:xfrm>
            <a:off x="4676531" y="1405497"/>
            <a:ext cx="3568505" cy="8309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ct val="125000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数据范围：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，这就可以有很多种做法。</a:t>
            </a:r>
            <a:b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因为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的数据范围为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，大约为</a:t>
            </a:r>
            <a:b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-2.1×10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~2.1×10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，所以只要处理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范围内的数字即可，最多不超过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次方。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宰相的新花招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7" y="1678906"/>
            <a:ext cx="3887735" cy="175009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还记得“宰相的麦子”吗？在 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8×8 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的棋盘里，第一个格子放一粒麦粒，第二个格子放两粒麦粒，以后每个格子放前一个格子麦粒数的 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倍。将 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64 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个格子放满麦粒，可是让国王花费了不小的代价呢！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现在，宰相又出新花招，他要检验一下格子里面放的麦粒数（整型范围内）是否正确。他的方式很特别：判断麦粒数是否是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的整数幂。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例如：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1024=2</a:t>
            </a:r>
            <a:r>
              <a:rPr lang="en-US" altLang="zh-CN" sz="1200" baseline="30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，他就认为 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1024 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是正确的麦粒数。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请编程解决老宰相的问题吧。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C9C459-5585-4CE2-8EC5-41D7EDBC073A}"/>
              </a:ext>
            </a:extLst>
          </p:cNvPr>
          <p:cNvSpPr/>
          <p:nvPr/>
        </p:nvSpPr>
        <p:spPr>
          <a:xfrm>
            <a:off x="678609" y="1343236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9BFDA-833D-4BA6-B1C7-E51AD842B1EC}"/>
              </a:ext>
            </a:extLst>
          </p:cNvPr>
          <p:cNvSpPr/>
          <p:nvPr/>
        </p:nvSpPr>
        <p:spPr>
          <a:xfrm>
            <a:off x="675387" y="3587876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976F0EA-8EEB-4327-AF56-DEE737A2926D}"/>
              </a:ext>
            </a:extLst>
          </p:cNvPr>
          <p:cNvSpPr txBox="1">
            <a:spLocks/>
          </p:cNvSpPr>
          <p:nvPr/>
        </p:nvSpPr>
        <p:spPr>
          <a:xfrm>
            <a:off x="675387" y="4724963"/>
            <a:ext cx="3887735" cy="295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如果 </a:t>
            </a:r>
            <a:r>
              <a:rPr lang="en-US" altLang="zh-CN" dirty="0">
                <a:latin typeface="Consolas" panose="020B0609020204030204" pitchFamily="49" charset="0"/>
              </a:rPr>
              <a:t>n </a:t>
            </a:r>
            <a:r>
              <a:rPr lang="zh-CN" altLang="en-US" dirty="0">
                <a:latin typeface="Consolas" panose="020B0609020204030204" pitchFamily="49" charset="0"/>
              </a:rPr>
              <a:t>是 </a:t>
            </a:r>
            <a:r>
              <a:rPr lang="en-US" altLang="zh-CN" dirty="0">
                <a:latin typeface="Consolas" panose="020B0609020204030204" pitchFamily="49" charset="0"/>
              </a:rPr>
              <a:t>2 </a:t>
            </a:r>
            <a:r>
              <a:rPr lang="zh-CN" altLang="en-US" dirty="0">
                <a:latin typeface="Consolas" panose="020B0609020204030204" pitchFamily="49" charset="0"/>
              </a:rPr>
              <a:t>的整数幂，输出</a:t>
            </a:r>
            <a:r>
              <a:rPr lang="en-US" altLang="zh-CN" dirty="0">
                <a:latin typeface="Consolas" panose="020B0609020204030204" pitchFamily="49" charset="0"/>
              </a:rPr>
              <a:t>Yes</a:t>
            </a:r>
            <a:r>
              <a:rPr lang="zh-CN" altLang="en-US" dirty="0">
                <a:latin typeface="Consolas" panose="020B0609020204030204" pitchFamily="49" charset="0"/>
              </a:rPr>
              <a:t>，否则输出</a:t>
            </a:r>
            <a:r>
              <a:rPr lang="en-US" altLang="zh-CN" dirty="0">
                <a:latin typeface="Consolas" panose="020B0609020204030204" pitchFamily="49" charset="0"/>
              </a:rPr>
              <a:t>No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A4DD0B-3718-4239-BCC5-8A5846B66C31}"/>
              </a:ext>
            </a:extLst>
          </p:cNvPr>
          <p:cNvSpPr/>
          <p:nvPr/>
        </p:nvSpPr>
        <p:spPr>
          <a:xfrm>
            <a:off x="675387" y="4380062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ABC4A0B-3FCF-4776-A8ED-18DA4476CBDA}"/>
              </a:ext>
            </a:extLst>
          </p:cNvPr>
          <p:cNvSpPr txBox="1">
            <a:spLocks/>
          </p:cNvSpPr>
          <p:nvPr/>
        </p:nvSpPr>
        <p:spPr>
          <a:xfrm>
            <a:off x="675388" y="3926431"/>
            <a:ext cx="3316338" cy="295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正整数 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（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≤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en-US" altLang="zh-CN" baseline="30000" dirty="0">
                <a:latin typeface="Consolas" panose="020B0609020204030204" pitchFamily="49" charset="0"/>
              </a:rPr>
              <a:t>9</a:t>
            </a:r>
            <a:r>
              <a:rPr lang="zh-CN" altLang="en-US" dirty="0">
                <a:latin typeface="Consolas" panose="020B0609020204030204" pitchFamily="49" charset="0"/>
              </a:rPr>
              <a:t>）。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437BDC6B-D94D-43BF-9AB7-E1B41EA68663}"/>
              </a:ext>
            </a:extLst>
          </p:cNvPr>
          <p:cNvSpPr txBox="1">
            <a:spLocks/>
          </p:cNvSpPr>
          <p:nvPr/>
        </p:nvSpPr>
        <p:spPr>
          <a:xfrm>
            <a:off x="678609" y="5179093"/>
            <a:ext cx="1109025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034EC7-7B9E-4E2E-B96F-50EA58B01D8D}"/>
              </a:ext>
            </a:extLst>
          </p:cNvPr>
          <p:cNvSpPr/>
          <p:nvPr/>
        </p:nvSpPr>
        <p:spPr>
          <a:xfrm>
            <a:off x="1915085" y="5179093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C290B339-AD78-4B04-BDD9-0280A11828B9}"/>
              </a:ext>
            </a:extLst>
          </p:cNvPr>
          <p:cNvSpPr txBox="1">
            <a:spLocks/>
          </p:cNvSpPr>
          <p:nvPr/>
        </p:nvSpPr>
        <p:spPr>
          <a:xfrm>
            <a:off x="675387" y="5640758"/>
            <a:ext cx="1109025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1024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752EF4-410D-4F7B-9990-66A3AE80D995}"/>
              </a:ext>
            </a:extLst>
          </p:cNvPr>
          <p:cNvSpPr/>
          <p:nvPr/>
        </p:nvSpPr>
        <p:spPr>
          <a:xfrm>
            <a:off x="1911863" y="5640758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74B33DE-9CE2-47F5-99E4-62278339E248}"/>
              </a:ext>
            </a:extLst>
          </p:cNvPr>
          <p:cNvSpPr txBox="1">
            <a:spLocks/>
          </p:cNvSpPr>
          <p:nvPr/>
        </p:nvSpPr>
        <p:spPr>
          <a:xfrm>
            <a:off x="675387" y="6102423"/>
            <a:ext cx="1109025" cy="46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1023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CE82B0-A9E8-446A-B52C-76C3D7E917EE}"/>
              </a:ext>
            </a:extLst>
          </p:cNvPr>
          <p:cNvSpPr/>
          <p:nvPr/>
        </p:nvSpPr>
        <p:spPr>
          <a:xfrm>
            <a:off x="1911863" y="6102423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B9CB1901-FA09-4E23-984F-B0868837B687}"/>
              </a:ext>
            </a:extLst>
          </p:cNvPr>
          <p:cNvSpPr txBox="1">
            <a:spLocks/>
          </p:cNvSpPr>
          <p:nvPr/>
        </p:nvSpPr>
        <p:spPr>
          <a:xfrm>
            <a:off x="8358447" y="1411882"/>
            <a:ext cx="3568505" cy="2514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i=0,j=1;i&lt;=3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;++i,j*=2)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(n==j){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13A5B94F-391C-486F-AF36-5743D034AB1A}"/>
              </a:ext>
            </a:extLst>
          </p:cNvPr>
          <p:cNvSpPr txBox="1">
            <a:spLocks/>
          </p:cNvSpPr>
          <p:nvPr/>
        </p:nvSpPr>
        <p:spPr>
          <a:xfrm>
            <a:off x="4676529" y="3971572"/>
            <a:ext cx="6980049" cy="28767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n,p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]={1,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512,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1024,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2048,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4096,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8192,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16384,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32768,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65536,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131072,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262144,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524288,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1048576,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2097152,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4194304,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8388608,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16777216,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33554432,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67108864,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134217728,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268435456,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536870912,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1073741824};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i=0;i&lt;=3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;++i)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(n==p[i]){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72A4A-FCE6-4F74-9ED7-72C9F9F9E50F}"/>
              </a:ext>
            </a:extLst>
          </p:cNvPr>
          <p:cNvSpPr/>
          <p:nvPr/>
        </p:nvSpPr>
        <p:spPr>
          <a:xfrm>
            <a:off x="4676530" y="2216443"/>
            <a:ext cx="3568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第一种思路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“试”。即：依次计算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，每算出一个都跟输入的数字比较，如果相同则输出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，否则计算下一个，直到超过输入的数字则输出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388382-FE97-4BE1-B126-5207636F467D}"/>
              </a:ext>
            </a:extLst>
          </p:cNvPr>
          <p:cNvSpPr/>
          <p:nvPr/>
        </p:nvSpPr>
        <p:spPr>
          <a:xfrm>
            <a:off x="4676529" y="3071436"/>
            <a:ext cx="3568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第二种思路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既然最多到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次方为止，不妨把这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个幂都预先算出来保存在数组里，然后遍历跟输入的数字进行比较。</a:t>
            </a:r>
            <a:b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这种方法称为预处理，又叫“打表”。</a:t>
            </a:r>
          </a:p>
        </p:txBody>
      </p:sp>
    </p:spTree>
    <p:extLst>
      <p:ext uri="{BB962C8B-B14F-4D97-AF65-F5344CB8AC3E}">
        <p14:creationId xmlns:p14="http://schemas.microsoft.com/office/powerpoint/2010/main" val="254400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4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>
            <a:extLst>
              <a:ext uri="{FF2B5EF4-FFF2-40B4-BE49-F238E27FC236}">
                <a16:creationId xmlns:a16="http://schemas.microsoft.com/office/drawing/2014/main" id="{40143BDF-161E-4898-99C7-43539A821AB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宰相的新花招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9C271F-FAD3-4B2D-8491-F24EA36D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88" y="1408318"/>
            <a:ext cx="4697096" cy="50485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的幂次转为二进制表示，就是一个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后面带着若干个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的几次幂就带几个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的幂次减去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得到的差转为二进制表示，就是全部是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的几次幂就是几个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如果让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的幂次和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的幂次减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进行位与，结果一定是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。即：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800" baseline="30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&amp;(2</a:t>
            </a:r>
            <a:r>
              <a:rPr lang="en-US" altLang="zh-CN" sz="1800" baseline="30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-1)==0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总是成立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很容易可以证明：如果任意一个不是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的幂次的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x&amp;(x-1)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总是不等于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ABC4A0B-3FCF-4776-A8ED-18DA4476CBDA}"/>
              </a:ext>
            </a:extLst>
          </p:cNvPr>
          <p:cNvSpPr txBox="1">
            <a:spLocks/>
          </p:cNvSpPr>
          <p:nvPr/>
        </p:nvSpPr>
        <p:spPr>
          <a:xfrm>
            <a:off x="5624385" y="1408317"/>
            <a:ext cx="3155091" cy="1800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所以我们得到了第三种思路：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让输入的数字与其减 </a:t>
            </a:r>
            <a:r>
              <a:rPr lang="en-US" altLang="zh-CN" sz="1800" dirty="0">
                <a:latin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</a:rPr>
              <a:t>的差进行位与，如果为 </a:t>
            </a:r>
            <a:r>
              <a:rPr lang="en-US" altLang="zh-CN" sz="1800" dirty="0">
                <a:latin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</a:rPr>
              <a:t>，则该数字是 </a:t>
            </a:r>
            <a:r>
              <a:rPr lang="en-US" altLang="zh-CN" sz="1800" dirty="0">
                <a:latin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</a:rPr>
              <a:t>的幂次，否则不是。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415F60-746B-49A6-84CB-9657ECA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86B9A-B0D7-4A48-B7AF-D31C6EA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B9CB1901-FA09-4E23-984F-B0868837B687}"/>
              </a:ext>
            </a:extLst>
          </p:cNvPr>
          <p:cNvSpPr txBox="1">
            <a:spLocks/>
          </p:cNvSpPr>
          <p:nvPr/>
        </p:nvSpPr>
        <p:spPr>
          <a:xfrm>
            <a:off x="8991007" y="1408318"/>
            <a:ext cx="3074351" cy="3231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(n&amp;(n-1))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6AB28DA-84A9-4466-8F02-AD4A98063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70" y="3254707"/>
            <a:ext cx="3074351" cy="789852"/>
          </a:xfrm>
          <a:prstGeom prst="rect">
            <a:avLst/>
          </a:prstGeom>
        </p:spPr>
      </p:pic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F44AD3B-3361-42AD-A3D1-3BE08797A1CF}"/>
              </a:ext>
            </a:extLst>
          </p:cNvPr>
          <p:cNvSpPr txBox="1">
            <a:spLocks/>
          </p:cNvSpPr>
          <p:nvPr/>
        </p:nvSpPr>
        <p:spPr>
          <a:xfrm>
            <a:off x="5664755" y="4090898"/>
            <a:ext cx="2817934" cy="412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sz="2000" dirty="0">
                <a:latin typeface="Consolas" panose="020B0609020204030204" pitchFamily="49" charset="0"/>
              </a:rPr>
              <a:t>1024&amp;(1024-1)==0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1AA5D0-26C0-912D-86BD-75BB809C1ADD}"/>
              </a:ext>
            </a:extLst>
          </p:cNvPr>
          <p:cNvSpPr txBox="1">
            <a:spLocks/>
          </p:cNvSpPr>
          <p:nvPr/>
        </p:nvSpPr>
        <p:spPr>
          <a:xfrm>
            <a:off x="5624385" y="4640141"/>
            <a:ext cx="5530467" cy="19769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位运算符的计算优先级很低，以下程序是错误的：</a:t>
            </a:r>
            <a:endParaRPr lang="en-US" altLang="zh-CN" sz="1600" dirty="0">
              <a:solidFill>
                <a:srgbClr val="C7254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(n&amp;(n-1)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Yes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</a:t>
            </a:r>
            <a:r>
              <a:rPr lang="zh-CN" altLang="zh-CN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应该是：</a:t>
            </a:r>
            <a:endParaRPr lang="en-US" altLang="zh-CN" sz="1600" dirty="0">
              <a:solidFill>
                <a:srgbClr val="C7254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n&amp;(n-1)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)==0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5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位移操作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8" y="1450601"/>
            <a:ext cx="7163642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左移（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）：从左到右，每个位都左移若干位；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6238DF-DB34-6D28-9A91-674CAC46C337}"/>
              </a:ext>
            </a:extLst>
          </p:cNvPr>
          <p:cNvSpPr/>
          <p:nvPr/>
        </p:nvSpPr>
        <p:spPr>
          <a:xfrm>
            <a:off x="8372319" y="1450601"/>
            <a:ext cx="32100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数学含义：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左移一位相当于乘以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16BFC9-CE3D-60DB-99D2-3AF4A3CE17ED}"/>
              </a:ext>
            </a:extLst>
          </p:cNvPr>
          <p:cNvSpPr txBox="1"/>
          <p:nvPr/>
        </p:nvSpPr>
        <p:spPr>
          <a:xfrm>
            <a:off x="678608" y="2141754"/>
            <a:ext cx="7163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x=75;</a:t>
            </a:r>
          </a:p>
          <a:p>
            <a:pPr marL="0" lvl="1"/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x&lt;&lt;2;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2984CF-9654-34EB-00D2-EF135C6E7CA4}"/>
              </a:ext>
            </a:extLst>
          </p:cNvPr>
          <p:cNvSpPr txBox="1"/>
          <p:nvPr/>
        </p:nvSpPr>
        <p:spPr>
          <a:xfrm>
            <a:off x="678608" y="2842972"/>
            <a:ext cx="7163642" cy="65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第一步，转为对应的二进制数字（补码形式）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(75)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06ADB3-09D7-6656-5FE7-66802CD3F54C}"/>
              </a:ext>
            </a:extLst>
          </p:cNvPr>
          <p:cNvSpPr txBox="1"/>
          <p:nvPr/>
        </p:nvSpPr>
        <p:spPr>
          <a:xfrm>
            <a:off x="678608" y="3498023"/>
            <a:ext cx="7163642" cy="1281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第二步，整体向左移动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位，低位（右侧）补零，高位（左侧）丢弃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739EC1-7FD5-8F75-688A-7AADA033D376}"/>
              </a:ext>
            </a:extLst>
          </p:cNvPr>
          <p:cNvSpPr txBox="1"/>
          <p:nvPr/>
        </p:nvSpPr>
        <p:spPr>
          <a:xfrm>
            <a:off x="678608" y="4779912"/>
            <a:ext cx="7163642" cy="65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第三步，将结果二进制数字转回十进制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00000000 00000000 00000001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00101100)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(300)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0E2F9F-5604-4054-71C4-ED39B5588989}"/>
              </a:ext>
            </a:extLst>
          </p:cNvPr>
          <p:cNvSpPr txBox="1"/>
          <p:nvPr/>
        </p:nvSpPr>
        <p:spPr>
          <a:xfrm>
            <a:off x="8372319" y="2435236"/>
            <a:ext cx="3417142" cy="129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复合赋值运算写法：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x=75;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x&lt;&lt;=2;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等价于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x=x&lt;&lt;2;</a:t>
            </a:r>
            <a:endParaRPr lang="zh-CN" altLang="en-US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596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9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5F52-6696-8005-54C9-027BE95C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D43D2B1-EB89-4C47-A87C-A42C370FC90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位移操作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5E8459-761D-0A88-8964-86587DD32AEE}"/>
              </a:ext>
            </a:extLst>
          </p:cNvPr>
          <p:cNvSpPr txBox="1"/>
          <p:nvPr/>
        </p:nvSpPr>
        <p:spPr>
          <a:xfrm>
            <a:off x="678608" y="1450601"/>
            <a:ext cx="7277942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右移（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）：从右到左，每个位都右移若干位；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962407-2854-8876-A4AE-CB04C60D7AFB}"/>
              </a:ext>
            </a:extLst>
          </p:cNvPr>
          <p:cNvSpPr/>
          <p:nvPr/>
        </p:nvSpPr>
        <p:spPr>
          <a:xfrm>
            <a:off x="8372319" y="1450601"/>
            <a:ext cx="32100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数学含义：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右移一位相当于除以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A71C8-98FD-0647-9D57-944808C2EF5E}"/>
              </a:ext>
            </a:extLst>
          </p:cNvPr>
          <p:cNvSpPr txBox="1"/>
          <p:nvPr/>
        </p:nvSpPr>
        <p:spPr>
          <a:xfrm>
            <a:off x="678608" y="2141754"/>
            <a:ext cx="7277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x=-2147483573;</a:t>
            </a:r>
          </a:p>
          <a:p>
            <a:pPr marL="0" lvl="1"/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x&gt;&gt;3;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E8AC48-603F-9233-1D41-75338C3FA1A0}"/>
              </a:ext>
            </a:extLst>
          </p:cNvPr>
          <p:cNvSpPr txBox="1"/>
          <p:nvPr/>
        </p:nvSpPr>
        <p:spPr>
          <a:xfrm>
            <a:off x="678608" y="2842972"/>
            <a:ext cx="7277942" cy="65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第一步，转为对应的二进制数字（补码形式）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(-2147483573)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10000000 00000000 00000000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751CEC-10F2-4607-BD26-EBEFF9DE7130}"/>
              </a:ext>
            </a:extLst>
          </p:cNvPr>
          <p:cNvSpPr txBox="1"/>
          <p:nvPr/>
        </p:nvSpPr>
        <p:spPr>
          <a:xfrm>
            <a:off x="678608" y="3498023"/>
            <a:ext cx="7277942" cy="184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第二步，整体向右移动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位，无符号数高位（左侧）补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，有符号数高位（左侧）补符号位，低位（右侧）丢弃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0000000 00000000 00000000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000000 00000000 00000000 0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100101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00000 00000000 00000000 00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10010</a:t>
            </a: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0000 00000000 00000000 000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1001</a:t>
            </a:r>
            <a:endParaRPr lang="en-US" altLang="zh-CN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4EA87E-DA7E-C48D-F3E8-7F561AAA89B4}"/>
              </a:ext>
            </a:extLst>
          </p:cNvPr>
          <p:cNvSpPr txBox="1"/>
          <p:nvPr/>
        </p:nvSpPr>
        <p:spPr>
          <a:xfrm>
            <a:off x="678608" y="5342631"/>
            <a:ext cx="7277942" cy="65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 indent="-177800" defTabSz="914400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第三步，将结果二进制数字转回十进制</a:t>
            </a:r>
            <a:endParaRPr lang="en-US" altLang="zh-CN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defTabSz="914400">
              <a:lnSpc>
                <a:spcPct val="90000"/>
              </a:lnSpc>
              <a:spcBef>
                <a:spcPts val="500"/>
              </a:spcBef>
              <a:buSzPct val="125000"/>
            </a:pP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1110000 00000000 00000000 000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(-268435447)</a:t>
            </a:r>
            <a:r>
              <a:rPr lang="en-US" altLang="zh-CN" baseline="-25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879131-2F63-581E-A731-AEC0F16867A2}"/>
              </a:ext>
            </a:extLst>
          </p:cNvPr>
          <p:cNvSpPr txBox="1"/>
          <p:nvPr/>
        </p:nvSpPr>
        <p:spPr>
          <a:xfrm>
            <a:off x="8372319" y="2435236"/>
            <a:ext cx="3417142" cy="129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复合赋值运算写法：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x=-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2147483573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x&gt;&gt;=3;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等价于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x=x&gt;&gt;3;</a:t>
            </a:r>
            <a:endParaRPr lang="zh-CN" altLang="en-US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90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9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E7B380-CC9E-579C-51FE-E888CC73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A8005E7-5DF8-08F4-851C-4D56B99B45FF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位移操作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25803C-B023-7EE9-2A7E-AB527E3DEC68}"/>
              </a:ext>
            </a:extLst>
          </p:cNvPr>
          <p:cNvSpPr txBox="1"/>
          <p:nvPr/>
        </p:nvSpPr>
        <p:spPr>
          <a:xfrm>
            <a:off x="678608" y="1450601"/>
            <a:ext cx="6902921" cy="877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左移（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）：从左到右，每个位都左移若干位；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右移（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）：从右到左，每个位都右移若干位；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65EB9660-8F3A-4972-09B5-B2E02489C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08" y="2524333"/>
            <a:ext cx="5098176" cy="327098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c=67;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c&lt;&lt;2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第一步，转为对应的二进制数字（补码形式）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(67)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(01001011)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第二步，整体向左移动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位，低位（右侧）补零，高位（左侧）丢弃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01001011 =&gt; 10010110 =&gt; 00101100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第三步，将结果二进制数字转回十进制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00101100)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(44)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00C13D09-D8EB-5D1B-413C-387C24C28084}"/>
              </a:ext>
            </a:extLst>
          </p:cNvPr>
          <p:cNvSpPr txBox="1">
            <a:spLocks/>
          </p:cNvSpPr>
          <p:nvPr/>
        </p:nvSpPr>
        <p:spPr>
          <a:xfrm>
            <a:off x="6096000" y="2524334"/>
            <a:ext cx="6139804" cy="27594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c=-27;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c&gt;&gt;3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第一步，转为对应的二进制数字（补码形式）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(-27)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(11100101)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第二步，整体向右移动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</a:t>
            </a:r>
            <a:r>
              <a:rPr lang="zh-CN" altLang="en-US" sz="1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无符号数高位（左侧）补</a:t>
            </a:r>
            <a:r>
              <a:rPr lang="en-US" altLang="zh-CN" sz="1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，有符号数高位（左侧）补符号位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，低位（右侧）丢弃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11100101 =&gt; 11110010 =&gt; 11111001 =&gt; 11111100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77800" indent="-177800">
              <a:lnSpc>
                <a:spcPct val="90000"/>
              </a:lnSpc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第三步，将结果二进制数字转回十进制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1" indent="0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11111100)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= (-4)</a:t>
            </a:r>
            <a:r>
              <a:rPr lang="en-US" altLang="zh-CN" sz="1800" baseline="-25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357CAD-F363-1866-B70A-AC28C6D51ED4}"/>
              </a:ext>
            </a:extLst>
          </p:cNvPr>
          <p:cNvSpPr/>
          <p:nvPr/>
        </p:nvSpPr>
        <p:spPr>
          <a:xfrm>
            <a:off x="678608" y="6187101"/>
            <a:ext cx="5993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数学含义：左移一位相当于乘以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，右移一位相当于除以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5473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位移操作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E1CB663-83FC-DCFD-FB23-5E3128D88161}"/>
              </a:ext>
            </a:extLst>
          </p:cNvPr>
          <p:cNvSpPr txBox="1">
            <a:spLocks/>
          </p:cNvSpPr>
          <p:nvPr/>
        </p:nvSpPr>
        <p:spPr>
          <a:xfrm>
            <a:off x="678609" y="2333639"/>
            <a:ext cx="5997683" cy="3058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n,p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]={1,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512,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1024,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2048,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4096,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8192,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16384,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32768,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65536,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131072,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262144,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524288,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1048576,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2097152,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4194304,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8388608,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16777216,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33554432,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67108864,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134217728,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268435456,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536870912,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1073741824};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i=0;i&lt;=3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;++i)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(n==p[i]){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C8802-552E-D683-5538-95BC4DCE27E9}"/>
              </a:ext>
            </a:extLst>
          </p:cNvPr>
          <p:cNvSpPr txBox="1">
            <a:spLocks/>
          </p:cNvSpPr>
          <p:nvPr/>
        </p:nvSpPr>
        <p:spPr>
          <a:xfrm>
            <a:off x="678609" y="1352445"/>
            <a:ext cx="5771618" cy="9811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在“宰相的花招”的预处理的程序中，可以利用位移操作方便地得到 </a:t>
            </a:r>
            <a:r>
              <a:rPr lang="en-US" altLang="zh-CN" sz="1800" dirty="0">
                <a:latin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</a:rPr>
              <a:t>的 </a:t>
            </a:r>
            <a:r>
              <a:rPr lang="en-US" altLang="zh-CN" sz="1800" dirty="0">
                <a:latin typeface="Consolas" panose="020B0609020204030204" pitchFamily="49" charset="0"/>
              </a:rPr>
              <a:t>0 </a:t>
            </a:r>
            <a:r>
              <a:rPr lang="zh-CN" altLang="en-US" sz="1800" dirty="0">
                <a:latin typeface="Consolas" panose="020B0609020204030204" pitchFamily="49" charset="0"/>
              </a:rPr>
              <a:t>次方到 </a:t>
            </a:r>
            <a:r>
              <a:rPr lang="en-US" altLang="zh-CN" sz="1800" dirty="0">
                <a:latin typeface="Consolas" panose="020B0609020204030204" pitchFamily="49" charset="0"/>
              </a:rPr>
              <a:t>30 </a:t>
            </a:r>
            <a:r>
              <a:rPr lang="zh-CN" altLang="en-US" sz="1800" dirty="0">
                <a:latin typeface="Consolas" panose="020B0609020204030204" pitchFamily="49" charset="0"/>
              </a:rPr>
              <a:t>次方的每个数字。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129BE5-3999-D627-9245-62346275545B}"/>
              </a:ext>
            </a:extLst>
          </p:cNvPr>
          <p:cNvSpPr txBox="1"/>
          <p:nvPr/>
        </p:nvSpPr>
        <p:spPr>
          <a:xfrm>
            <a:off x="7210033" y="1352445"/>
            <a:ext cx="4696217" cy="2862322"/>
          </a:xfrm>
          <a:prstGeom prst="rect">
            <a:avLst/>
          </a:prstGeom>
          <a:solidFill>
            <a:sysClr val="window" lastClr="FFFFFF">
              <a:alpha val="5000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"int 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n,p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[40]={1"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=1;i&lt;=30;++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左移</a:t>
            </a:r>
            <a:r>
              <a:rPr lang="en-US" altLang="zh-CN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位相当于乘以</a:t>
            </a:r>
            <a:r>
              <a:rPr lang="en-US" altLang="zh-CN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，即</a:t>
            </a:r>
            <a:r>
              <a:rPr lang="en-US" altLang="zh-CN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en-US" altLang="zh-CN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", 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&lt;&lt;(1&lt;&lt;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"};"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56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掩码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4C3C65-36CE-DB37-8883-C9F2823B9D0A}"/>
              </a:ext>
            </a:extLst>
          </p:cNvPr>
          <p:cNvSpPr/>
          <p:nvPr/>
        </p:nvSpPr>
        <p:spPr>
          <a:xfrm>
            <a:off x="556252" y="4109712"/>
            <a:ext cx="9122221" cy="2623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sz="2000" b="1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结论</a:t>
            </a:r>
            <a:endParaRPr lang="en-US" altLang="zh-CN" b="1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2" indent="-342900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如果想让一个数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的某些位变成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，其他位不变，应该构造一个数字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，使得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在希望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变成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的那些位是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，其他位是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，然后用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做位或运算；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2" indent="-342900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如果想让一个数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的某些位变成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，其他位不变，应该构造一个数字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，使得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在希望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变成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的那些位是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，其他位是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，然后用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做位与运算。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这样的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称为</a:t>
            </a:r>
            <a:r>
              <a:rPr lang="zh-CN" altLang="en-US" sz="2000" b="1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掩码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7E1243-3845-D833-81CA-A1BEAE871BB5}"/>
              </a:ext>
            </a:extLst>
          </p:cNvPr>
          <p:cNvSpPr txBox="1"/>
          <p:nvPr/>
        </p:nvSpPr>
        <p:spPr>
          <a:xfrm>
            <a:off x="4568889" y="1932354"/>
            <a:ext cx="4669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|  11111111 11111111 11111111 11111111‬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11111111 11111111 11111111 11111111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223EE3E-18AA-81A2-8A9C-4C2084490007}"/>
              </a:ext>
            </a:extLst>
          </p:cNvPr>
          <p:cNvSpPr txBox="1"/>
          <p:nvPr/>
        </p:nvSpPr>
        <p:spPr>
          <a:xfrm>
            <a:off x="4568889" y="1213007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|  00000000 00000000 00000000 00000000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BDA62E-30B9-E053-5247-58960B3CBC50}"/>
              </a:ext>
            </a:extLst>
          </p:cNvPr>
          <p:cNvSpPr txBox="1"/>
          <p:nvPr/>
        </p:nvSpPr>
        <p:spPr>
          <a:xfrm>
            <a:off x="4568888" y="3371048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11111111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DC7358-51CF-ED23-DE96-10D6AB990D1E}"/>
              </a:ext>
            </a:extLst>
          </p:cNvPr>
          <p:cNvSpPr txBox="1"/>
          <p:nvPr/>
        </p:nvSpPr>
        <p:spPr>
          <a:xfrm>
            <a:off x="4568888" y="2651701"/>
            <a:ext cx="466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00000000 01011100 00100010 01100100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00000000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00000000 00000000 00000000 00000000</a:t>
            </a:r>
            <a:endParaRPr lang="zh-CN" altLang="en-US" sz="1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47B3BB-91B3-CE0A-8AF9-E7247E344CBD}"/>
              </a:ext>
            </a:extLst>
          </p:cNvPr>
          <p:cNvSpPr/>
          <p:nvPr/>
        </p:nvSpPr>
        <p:spPr>
          <a:xfrm>
            <a:off x="556253" y="1318450"/>
            <a:ext cx="4243469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和任何数做位或，都得到那个数本身：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3FE160-5ADF-1E03-8B3F-82FE08027C57}"/>
              </a:ext>
            </a:extLst>
          </p:cNvPr>
          <p:cNvSpPr/>
          <p:nvPr/>
        </p:nvSpPr>
        <p:spPr>
          <a:xfrm>
            <a:off x="556252" y="2070501"/>
            <a:ext cx="3292889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和任何数做位或，都得到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2D7F5D-1986-2277-69CA-7B74A9E98AFB}"/>
              </a:ext>
            </a:extLst>
          </p:cNvPr>
          <p:cNvSpPr/>
          <p:nvPr/>
        </p:nvSpPr>
        <p:spPr>
          <a:xfrm>
            <a:off x="556252" y="2828479"/>
            <a:ext cx="3292889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和任何数做位与，都得到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D6297E-B4AC-BD6C-D0BF-7034F2D24B8E}"/>
              </a:ext>
            </a:extLst>
          </p:cNvPr>
          <p:cNvSpPr/>
          <p:nvPr/>
        </p:nvSpPr>
        <p:spPr>
          <a:xfrm>
            <a:off x="556252" y="3586457"/>
            <a:ext cx="4243469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和任何数做位与，都得到那个数本身：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89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allAtOnce"/>
      <p:bldP spid="24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B0FD-4BFB-7895-F465-98A5035D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4F7FA8A-86EC-B2AB-DBA5-F1322A939C8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掩码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CEF09A-E686-F15A-FB9D-05FC824078C3}"/>
              </a:ext>
            </a:extLst>
          </p:cNvPr>
          <p:cNvSpPr/>
          <p:nvPr/>
        </p:nvSpPr>
        <p:spPr>
          <a:xfrm>
            <a:off x="2872855" y="2119081"/>
            <a:ext cx="1718740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728909-489F-C47B-9A3E-02CED17BCC4E}"/>
              </a:ext>
            </a:extLst>
          </p:cNvPr>
          <p:cNvSpPr/>
          <p:nvPr/>
        </p:nvSpPr>
        <p:spPr>
          <a:xfrm>
            <a:off x="348895" y="2121501"/>
            <a:ext cx="1592103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EF46A5-29B7-BBBD-D4F5-43009B316023}"/>
              </a:ext>
            </a:extLst>
          </p:cNvPr>
          <p:cNvSpPr/>
          <p:nvPr/>
        </p:nvSpPr>
        <p:spPr>
          <a:xfrm>
            <a:off x="5821251" y="1236392"/>
            <a:ext cx="5724658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需要操作的是从右向左的第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位，针对这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个位构造掩码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，然后用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与掩码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进行位与运算。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38E928-92E0-6C66-E6EE-4DA0CF008F38}"/>
              </a:ext>
            </a:extLst>
          </p:cNvPr>
          <p:cNvSpPr/>
          <p:nvPr/>
        </p:nvSpPr>
        <p:spPr>
          <a:xfrm>
            <a:off x="348895" y="1241054"/>
            <a:ext cx="473284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给定一个正整数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，将其从右向左的第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位变成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，其他位不变。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291B0A-1F03-2BE6-59DF-1B60F9398A92}"/>
              </a:ext>
            </a:extLst>
          </p:cNvPr>
          <p:cNvSpPr/>
          <p:nvPr/>
        </p:nvSpPr>
        <p:spPr>
          <a:xfrm>
            <a:off x="348896" y="2577989"/>
            <a:ext cx="4732846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样例说明：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[85]</a:t>
            </a:r>
            <a:r>
              <a:rPr lang="zh-C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补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，将从右向左的第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位变成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后，得到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，即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125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25B176-21A3-68BA-6426-77B5C7CF9681}"/>
              </a:ext>
            </a:extLst>
          </p:cNvPr>
          <p:cNvSpPr/>
          <p:nvPr/>
        </p:nvSpPr>
        <p:spPr>
          <a:xfrm>
            <a:off x="348895" y="4031933"/>
            <a:ext cx="2047741" cy="2124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构造掩码的过程：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&lt;&lt;=4;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&lt;&lt;=2;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CADB21-59B1-D93C-B46B-D656C250F671}"/>
              </a:ext>
            </a:extLst>
          </p:cNvPr>
          <p:cNvSpPr txBox="1"/>
          <p:nvPr/>
        </p:nvSpPr>
        <p:spPr>
          <a:xfrm>
            <a:off x="5589996" y="2529759"/>
            <a:ext cx="6446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0101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|  00000000 00000000 00000000 00</a:t>
            </a:r>
            <a:r>
              <a:rPr lang="en-US" altLang="zh-CN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00‬ </a:t>
            </a:r>
            <a:r>
              <a:rPr lang="en-US" altLang="zh-CN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125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D41F8B-C6B5-A92C-6355-609EA8EB2133}"/>
              </a:ext>
            </a:extLst>
          </p:cNvPr>
          <p:cNvSpPr txBox="1"/>
          <p:nvPr/>
        </p:nvSpPr>
        <p:spPr>
          <a:xfrm>
            <a:off x="2538444" y="453700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1F193-465D-CDF5-A8A5-C2AEBBDFEDBB}"/>
              </a:ext>
            </a:extLst>
          </p:cNvPr>
          <p:cNvSpPr txBox="1"/>
          <p:nvPr/>
        </p:nvSpPr>
        <p:spPr>
          <a:xfrm>
            <a:off x="2538444" y="495474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04CC2F-BC35-F147-460F-0654F513D779}"/>
              </a:ext>
            </a:extLst>
          </p:cNvPr>
          <p:cNvSpPr txBox="1"/>
          <p:nvPr/>
        </p:nvSpPr>
        <p:spPr>
          <a:xfrm>
            <a:off x="2538444" y="536886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1E960F-0A0E-46C1-112C-7AF092D86975}"/>
              </a:ext>
            </a:extLst>
          </p:cNvPr>
          <p:cNvSpPr txBox="1"/>
          <p:nvPr/>
        </p:nvSpPr>
        <p:spPr>
          <a:xfrm>
            <a:off x="2538444" y="578298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74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7" grpId="0"/>
      <p:bldP spid="19" grpId="0"/>
      <p:bldP spid="20" grpId="0"/>
      <p:bldP spid="2" grpId="0"/>
      <p:bldP spid="3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39BA-34D3-5494-0B7C-ADF6D617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C0E1CDD-A4D4-FAFB-D16C-26844E2FF882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掩码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368D92-ED75-DA8C-A634-D871890584F4}"/>
              </a:ext>
            </a:extLst>
          </p:cNvPr>
          <p:cNvSpPr/>
          <p:nvPr/>
        </p:nvSpPr>
        <p:spPr>
          <a:xfrm>
            <a:off x="2872855" y="2119081"/>
            <a:ext cx="160813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E0DA50-6193-0473-B9AB-3F465C1FA9C6}"/>
              </a:ext>
            </a:extLst>
          </p:cNvPr>
          <p:cNvSpPr/>
          <p:nvPr/>
        </p:nvSpPr>
        <p:spPr>
          <a:xfrm>
            <a:off x="348895" y="2121501"/>
            <a:ext cx="1592103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6498A2-D6F6-4A11-DBBD-B5C88BF14F20}"/>
              </a:ext>
            </a:extLst>
          </p:cNvPr>
          <p:cNvSpPr/>
          <p:nvPr/>
        </p:nvSpPr>
        <p:spPr>
          <a:xfrm>
            <a:off x="5821251" y="1236392"/>
            <a:ext cx="5724658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需要操作的是从右向左的第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位，针对这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个位构造掩码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，然后用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与掩码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进行位与运算。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F619E0-2AAC-65F3-6BAB-9F7C054EDF69}"/>
              </a:ext>
            </a:extLst>
          </p:cNvPr>
          <p:cNvSpPr/>
          <p:nvPr/>
        </p:nvSpPr>
        <p:spPr>
          <a:xfrm>
            <a:off x="348895" y="1241054"/>
            <a:ext cx="473284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给定一个正整数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，将其从右向左的第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位变成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，其他位不变。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757A8B-01C4-8D48-6762-CF893CBA6E21}"/>
              </a:ext>
            </a:extLst>
          </p:cNvPr>
          <p:cNvSpPr/>
          <p:nvPr/>
        </p:nvSpPr>
        <p:spPr>
          <a:xfrm>
            <a:off x="348896" y="2577989"/>
            <a:ext cx="4732846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样例说明：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[85]</a:t>
            </a:r>
            <a:r>
              <a:rPr lang="zh-C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补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0101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，将从右向左的第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位变成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后，得到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，即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543D08-2978-C8DF-44C5-0956EA8DED28}"/>
              </a:ext>
            </a:extLst>
          </p:cNvPr>
          <p:cNvSpPr/>
          <p:nvPr/>
        </p:nvSpPr>
        <p:spPr>
          <a:xfrm>
            <a:off x="348895" y="4031933"/>
            <a:ext cx="2047741" cy="2539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构造掩码的过程：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&lt;&lt;=4;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&lt;&lt;=2;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=~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4465DB-2EF9-55B3-CC93-AB8D2C6AA7EB}"/>
              </a:ext>
            </a:extLst>
          </p:cNvPr>
          <p:cNvSpPr txBox="1"/>
          <p:nvPr/>
        </p:nvSpPr>
        <p:spPr>
          <a:xfrm>
            <a:off x="5596436" y="2542159"/>
            <a:ext cx="6446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0101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</a:t>
            </a:r>
            <a:r>
              <a:rPr lang="en-US" altLang="zh-CN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11‬ </a:t>
            </a:r>
            <a:r>
              <a:rPr lang="en-US" altLang="zh-CN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65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D3F076-9F46-5AF8-CB21-F7E6B95770BD}"/>
              </a:ext>
            </a:extLst>
          </p:cNvPr>
          <p:cNvSpPr txBox="1"/>
          <p:nvPr/>
        </p:nvSpPr>
        <p:spPr>
          <a:xfrm>
            <a:off x="2538444" y="453700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01D810-F8B3-9F63-F0C5-0A53E0985909}"/>
              </a:ext>
            </a:extLst>
          </p:cNvPr>
          <p:cNvSpPr txBox="1"/>
          <p:nvPr/>
        </p:nvSpPr>
        <p:spPr>
          <a:xfrm>
            <a:off x="2538444" y="495474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F3BBF9-265C-160B-6470-0A9CFC7AE9EB}"/>
              </a:ext>
            </a:extLst>
          </p:cNvPr>
          <p:cNvSpPr txBox="1"/>
          <p:nvPr/>
        </p:nvSpPr>
        <p:spPr>
          <a:xfrm>
            <a:off x="2538444" y="536886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7B1EC4-998C-B36C-C614-11CBAAA2EA9E}"/>
              </a:ext>
            </a:extLst>
          </p:cNvPr>
          <p:cNvSpPr txBox="1"/>
          <p:nvPr/>
        </p:nvSpPr>
        <p:spPr>
          <a:xfrm>
            <a:off x="2538444" y="578298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00000000 00000000 00000000 00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17D95C-1518-8789-B062-878DCFC5D4E9}"/>
              </a:ext>
            </a:extLst>
          </p:cNvPr>
          <p:cNvSpPr txBox="1"/>
          <p:nvPr/>
        </p:nvSpPr>
        <p:spPr>
          <a:xfrm>
            <a:off x="2538444" y="6197108"/>
            <a:ext cx="473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11111111 11111111 11111111 11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06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7" grpId="0"/>
      <p:bldP spid="19" grpId="0"/>
      <p:bldP spid="20" grpId="0"/>
      <p:bldP spid="2" grpId="0"/>
      <p:bldP spid="3" grpId="0"/>
      <p:bldP spid="5" grpId="0"/>
      <p:bldP spid="6" grpId="0"/>
      <p:bldP spid="8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89CB4D-E983-850C-3C28-D9FDEE15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755CF85-BBC5-165B-74DD-20844F30414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掩码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EEE46-F318-7E57-2513-273546A6FB33}"/>
              </a:ext>
            </a:extLst>
          </p:cNvPr>
          <p:cNvSpPr txBox="1"/>
          <p:nvPr/>
        </p:nvSpPr>
        <p:spPr>
          <a:xfrm>
            <a:off x="678608" y="1450601"/>
            <a:ext cx="9120300" cy="877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有时需要对一个数字的二进制形式的指定位进行操作。我们使用一串二进制数字来达到目标，这样的二进制数字通常称为掩码。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10CA0-20D9-E11C-D2F2-C66AEC6CC01B}"/>
              </a:ext>
            </a:extLst>
          </p:cNvPr>
          <p:cNvSpPr/>
          <p:nvPr/>
        </p:nvSpPr>
        <p:spPr>
          <a:xfrm>
            <a:off x="3202565" y="3204401"/>
            <a:ext cx="160813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41416C-EAF9-A0B2-8AC1-734C1D8DC219}"/>
              </a:ext>
            </a:extLst>
          </p:cNvPr>
          <p:cNvSpPr/>
          <p:nvPr/>
        </p:nvSpPr>
        <p:spPr>
          <a:xfrm>
            <a:off x="629181" y="5445962"/>
            <a:ext cx="7260608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思考：如果题目变成“给定一个正整数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，将其从右向左的第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位到第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位变为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”，程序应如何修改？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D1C974-2F7D-99A6-CE07-528FB68A14C8}"/>
              </a:ext>
            </a:extLst>
          </p:cNvPr>
          <p:cNvSpPr txBox="1"/>
          <p:nvPr/>
        </p:nvSpPr>
        <p:spPr>
          <a:xfrm>
            <a:off x="9065741" y="3204401"/>
            <a:ext cx="2802173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与掩码进行位与：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</a:p>
          <a:p>
            <a:pPr marL="0" lvl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</a:t>
            </a:r>
            <a:r>
              <a:rPr lang="en-US" altLang="zh-CN" u="sng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 </a:t>
            </a:r>
            <a:r>
              <a:rPr lang="en-US" altLang="zh-CN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en-US" altLang="zh-CN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endParaRPr lang="en-US" altLang="zh-CN" u="sng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 …… 65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523DE5-6559-252A-C76C-A86EE547DEE2}"/>
              </a:ext>
            </a:extLst>
          </p:cNvPr>
          <p:cNvSpPr/>
          <p:nvPr/>
        </p:nvSpPr>
        <p:spPr>
          <a:xfrm>
            <a:off x="678605" y="3206821"/>
            <a:ext cx="160813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6AD19-AC44-0F87-B4BA-CEE6EE383556}"/>
              </a:ext>
            </a:extLst>
          </p:cNvPr>
          <p:cNvSpPr/>
          <p:nvPr/>
        </p:nvSpPr>
        <p:spPr>
          <a:xfrm>
            <a:off x="5345296" y="2346804"/>
            <a:ext cx="5967972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需要操作的是从右向左的第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位，针对这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个位构造掩码：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11000011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，然后用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与掩码进行位与。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904607-EAEE-05D3-1A44-3474EC9790E2}"/>
              </a:ext>
            </a:extLst>
          </p:cNvPr>
          <p:cNvSpPr/>
          <p:nvPr/>
        </p:nvSpPr>
        <p:spPr>
          <a:xfrm>
            <a:off x="678606" y="2332414"/>
            <a:ext cx="446180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给定一个正整数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，将其从右向左的第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位清零。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3F62B0-FE9B-9E01-0CEE-FDFCEF729633}"/>
              </a:ext>
            </a:extLst>
          </p:cNvPr>
          <p:cNvSpPr/>
          <p:nvPr/>
        </p:nvSpPr>
        <p:spPr>
          <a:xfrm>
            <a:off x="678606" y="3663309"/>
            <a:ext cx="4461803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样例说明：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[93]</a:t>
            </a:r>
            <a:r>
              <a:rPr lang="zh-CN" altLang="en-US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补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0111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，将从右向左的第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到第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位清零后，得到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01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，即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65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563370-E97D-CE35-1551-3624EA0DFE50}"/>
              </a:ext>
            </a:extLst>
          </p:cNvPr>
          <p:cNvSpPr/>
          <p:nvPr/>
        </p:nvSpPr>
        <p:spPr>
          <a:xfrm>
            <a:off x="5345296" y="3204401"/>
            <a:ext cx="3720445" cy="2124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构造掩码的过程：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=(1&lt;&lt;4);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00010000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        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00001111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&lt;&lt;=2;       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00111100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=~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msk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     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11000011</a:t>
            </a:r>
          </a:p>
        </p:txBody>
      </p:sp>
    </p:spTree>
    <p:extLst>
      <p:ext uri="{BB962C8B-B14F-4D97-AF65-F5344CB8AC3E}">
        <p14:creationId xmlns:p14="http://schemas.microsoft.com/office/powerpoint/2010/main" val="27989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  <p:bldP spid="13" grpId="0"/>
      <p:bldP spid="17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178752"/>
            <a:ext cx="9231511" cy="544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函数用于将指定的数组全部初始化为指定的值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第二个参数表示“要初始化为多少”，只能是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，原因如下：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以字节为单位对数组进行初始化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如果参数为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的补码为全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；如果参数为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的补码为全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；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无论要初始化的数组由几个字节组成，均能正确初始化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如果参数为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，因为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类型占用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字节，所以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个字节会被初始化为：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8163" algn="just" defTabSz="914400">
              <a:lnSpc>
                <a:spcPct val="150000"/>
              </a:lnSpc>
            </a:pP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00000001 00000001 00000001 00000001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，即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16843009</a:t>
            </a:r>
          </a:p>
          <a:p>
            <a:pPr marL="538163" indent="-268288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特别地，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类型因为只由一个字节组成，所以使用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函数对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类型数组进行初始化时，第二个参数可以是任意数字</a:t>
            </a:r>
          </a:p>
          <a:p>
            <a:pPr marL="285750" indent="-2857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memset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的第三个参数，表示“需要对多少个字节进行初始化”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sizeof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(a)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函数的含义是“变量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包含了多少个字节”，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此处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包含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类型的变量，共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110×4=440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字节，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265113"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 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sizeof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(a)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的返回结果是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440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032FB-BD74-D4FF-11CF-256F93690CDA}"/>
              </a:ext>
            </a:extLst>
          </p:cNvPr>
          <p:cNvSpPr txBox="1"/>
          <p:nvPr/>
        </p:nvSpPr>
        <p:spPr>
          <a:xfrm>
            <a:off x="8264355" y="1228179"/>
            <a:ext cx="3291530" cy="106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algn="just" defTabSz="914400">
              <a:lnSpc>
                <a:spcPct val="120000"/>
              </a:lnSpc>
            </a:pP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将数组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全部初始化为 </a:t>
            </a:r>
            <a:r>
              <a:rPr lang="en-US" altLang="zh-CN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180975" algn="just" defTabSz="914400">
              <a:lnSpc>
                <a:spcPct val="120000"/>
              </a:lnSpc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a[110];</a:t>
            </a:r>
          </a:p>
          <a:p>
            <a:pPr marL="180975" algn="just" defTabSz="914400">
              <a:lnSpc>
                <a:spcPct val="120000"/>
              </a:lnSpc>
            </a:pP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(a,0,sizeof(a));</a:t>
            </a:r>
          </a:p>
        </p:txBody>
      </p:sp>
    </p:spTree>
    <p:extLst>
      <p:ext uri="{BB962C8B-B14F-4D97-AF65-F5344CB8AC3E}">
        <p14:creationId xmlns:p14="http://schemas.microsoft.com/office/powerpoint/2010/main" val="352439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获取最低位的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178035"/>
            <a:ext cx="10590756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01100100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[-x]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=‭11111111 11111111 11111111 10011100‬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00000000 00000000 00000000 01100100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10011100‬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00000100 …… 4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x=-6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11111010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[-x]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00000110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00000110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00000010 …… 2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x=256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00000001 00000000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[-x]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00000000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00000000 00000000 00000001 00000000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00000000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00000001 00000000 …… 256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19BC96-ADD0-EB4F-4586-0150F0578931}"/>
              </a:ext>
            </a:extLst>
          </p:cNvPr>
          <p:cNvSpPr txBox="1"/>
          <p:nvPr/>
        </p:nvSpPr>
        <p:spPr>
          <a:xfrm>
            <a:off x="1160382" y="1249894"/>
            <a:ext cx="2856607" cy="764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lowbit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x&amp;-x;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DD7838-79D5-07B4-C9B6-3D811411A19F}"/>
              </a:ext>
            </a:extLst>
          </p:cNvPr>
          <p:cNvSpPr txBox="1"/>
          <p:nvPr/>
        </p:nvSpPr>
        <p:spPr>
          <a:xfrm>
            <a:off x="678606" y="1249894"/>
            <a:ext cx="481776" cy="764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3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去掉最低位的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178035"/>
            <a:ext cx="105104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00000110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00000101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00000101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00000100 …… 4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x=-6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11111010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11111111 11111111 11111111 11111001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11111001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11111000 …… -8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x=256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00000001 00000000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00000000 00000000 00000000 11111111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00000000 00000000 00000001 00000000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11111111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00000000 …… 0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19BC96-ADD0-EB4F-4586-0150F0578931}"/>
              </a:ext>
            </a:extLst>
          </p:cNvPr>
          <p:cNvSpPr txBox="1"/>
          <p:nvPr/>
        </p:nvSpPr>
        <p:spPr>
          <a:xfrm>
            <a:off x="1160382" y="1249894"/>
            <a:ext cx="2856607" cy="764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x&amp;(x-1);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DD7838-79D5-07B4-C9B6-3D811411A19F}"/>
              </a:ext>
            </a:extLst>
          </p:cNvPr>
          <p:cNvSpPr txBox="1"/>
          <p:nvPr/>
        </p:nvSpPr>
        <p:spPr>
          <a:xfrm>
            <a:off x="678606" y="1249894"/>
            <a:ext cx="481776" cy="764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774DF-B621-A920-3E66-8182D40EAB33}"/>
              </a:ext>
            </a:extLst>
          </p:cNvPr>
          <p:cNvSpPr txBox="1">
            <a:spLocks/>
          </p:cNvSpPr>
          <p:nvPr/>
        </p:nvSpPr>
        <p:spPr>
          <a:xfrm>
            <a:off x="8368213" y="1151842"/>
            <a:ext cx="3302606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Brian Kernighan</a:t>
            </a:r>
            <a:r>
              <a:rPr lang="zh-CN" altLang="en-US" sz="2000" dirty="0">
                <a:latin typeface="Consolas" panose="020B0609020204030204" pitchFamily="49" charset="0"/>
              </a:rPr>
              <a:t>算法：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去掉补码形式中最低位的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08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的数量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618014"/>
            <a:ext cx="10479545" cy="285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00000110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00000101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00000101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00000100 …… 4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=00000000 00000000 00000000 00000011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00000000 00000000 00000000 00000100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00000000 00000000 00000000 00000011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00000000 00000000 00000000 00000000 …… 0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，循环结束，返回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029353-B59B-0E9E-0196-C94263BD6A18}"/>
              </a:ext>
            </a:extLst>
          </p:cNvPr>
          <p:cNvSpPr txBox="1"/>
          <p:nvPr/>
        </p:nvSpPr>
        <p:spPr>
          <a:xfrm>
            <a:off x="1160382" y="1311679"/>
            <a:ext cx="2856607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ret=0;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x;x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&amp;=x-1) ret++;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175F135-6076-2F5B-C01C-46BD43937EBC}"/>
              </a:ext>
            </a:extLst>
          </p:cNvPr>
          <p:cNvSpPr txBox="1"/>
          <p:nvPr/>
        </p:nvSpPr>
        <p:spPr>
          <a:xfrm>
            <a:off x="678606" y="1311678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360AE6A-40C4-5EC4-1DAE-945C8723B92C}"/>
              </a:ext>
            </a:extLst>
          </p:cNvPr>
          <p:cNvSpPr txBox="1"/>
          <p:nvPr/>
        </p:nvSpPr>
        <p:spPr>
          <a:xfrm>
            <a:off x="4980542" y="1311677"/>
            <a:ext cx="2856608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ret=0;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 ret++, x&amp;=x-1;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814A5B5-20EB-D68A-56F5-D01866744772}"/>
              </a:ext>
            </a:extLst>
          </p:cNvPr>
          <p:cNvSpPr txBox="1"/>
          <p:nvPr/>
        </p:nvSpPr>
        <p:spPr>
          <a:xfrm>
            <a:off x="4498765" y="1311676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的数量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0A673B-852B-2FF3-3C2D-092440AD722B}"/>
              </a:ext>
            </a:extLst>
          </p:cNvPr>
          <p:cNvSpPr txBox="1"/>
          <p:nvPr/>
        </p:nvSpPr>
        <p:spPr>
          <a:xfrm>
            <a:off x="678606" y="2618014"/>
            <a:ext cx="10510437" cy="393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lvl="1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x=-6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为例，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11111010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11111001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11111111 11111111 11111111 11111010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11111001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11111000 …… -8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-8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11110111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11111111 11111111 11111111 11111000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11110111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11110000 …… -16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-16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[x-1]</a:t>
            </a:r>
            <a:r>
              <a:rPr lang="zh-CN" altLang="en-US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=11111111 11111111 11111111 11101111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11111111 11111111 11111111 11110000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400" u="sng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&amp;  11111111 11111111 11111111 11101111 </a:t>
            </a:r>
            <a:r>
              <a:rPr lang="en-US" altLang="zh-CN" sz="1400" u="sng" dirty="0"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</a:p>
          <a:p>
            <a:pPr marL="0" lvl="1"/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11111111 11111111 11111111 11100000 …… -32</a:t>
            </a:r>
          </a:p>
          <a:p>
            <a:pPr marL="0" lvl="1"/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变为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-32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，每计算一次，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的数量就减少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个，直至全部消失。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0BF37D-4024-104D-D027-FB287CCA57E4}"/>
              </a:ext>
            </a:extLst>
          </p:cNvPr>
          <p:cNvSpPr txBox="1"/>
          <p:nvPr/>
        </p:nvSpPr>
        <p:spPr>
          <a:xfrm>
            <a:off x="1160382" y="1311679"/>
            <a:ext cx="2856607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ret=0;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x;x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&amp;=x-1) ret++;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93F84FF-C1E2-0462-FFF6-C44CA9ED6581}"/>
              </a:ext>
            </a:extLst>
          </p:cNvPr>
          <p:cNvSpPr txBox="1"/>
          <p:nvPr/>
        </p:nvSpPr>
        <p:spPr>
          <a:xfrm>
            <a:off x="678606" y="1311678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3ABFD9F-2C53-7FD8-0C23-5CDF39FF538F}"/>
              </a:ext>
            </a:extLst>
          </p:cNvPr>
          <p:cNvSpPr txBox="1"/>
          <p:nvPr/>
        </p:nvSpPr>
        <p:spPr>
          <a:xfrm>
            <a:off x="4980542" y="1311677"/>
            <a:ext cx="2856608" cy="1184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ret=0;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 ret++, x&amp;=x-1;</a:t>
            </a:r>
            <a:endParaRPr lang="pl-PL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EFC7FB8-096F-CBA9-F1E1-0170E640F4D7}"/>
              </a:ext>
            </a:extLst>
          </p:cNvPr>
          <p:cNvSpPr txBox="1"/>
          <p:nvPr/>
        </p:nvSpPr>
        <p:spPr>
          <a:xfrm>
            <a:off x="4498765" y="1311676"/>
            <a:ext cx="481776" cy="118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4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1ABE49F-CAF5-207D-7766-2A68AEACE63A}"/>
              </a:ext>
            </a:extLst>
          </p:cNvPr>
          <p:cNvSpPr txBox="1">
            <a:spLocks/>
          </p:cNvSpPr>
          <p:nvPr/>
        </p:nvSpPr>
        <p:spPr>
          <a:xfrm>
            <a:off x="8318923" y="1300637"/>
            <a:ext cx="3806401" cy="1026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Brian Kernighan</a:t>
            </a:r>
            <a:r>
              <a:rPr lang="zh-CN" altLang="en-US" sz="2000" dirty="0">
                <a:latin typeface="Consolas" panose="020B0609020204030204" pitchFamily="49" charset="0"/>
              </a:rPr>
              <a:t>算法的运用：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计算补码形式中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</a:rPr>
              <a:t>的数量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1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异或运算技巧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F3F2196-FA39-B91E-3104-4CEDA1959D59}"/>
              </a:ext>
            </a:extLst>
          </p:cNvPr>
          <p:cNvSpPr txBox="1">
            <a:spLocks/>
          </p:cNvSpPr>
          <p:nvPr/>
        </p:nvSpPr>
        <p:spPr>
          <a:xfrm>
            <a:off x="623004" y="1455497"/>
            <a:ext cx="4937538" cy="160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异或运算的特点：进行异或的两个二进制位相同则得到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，不同则得到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有时能让程序变得很简洁。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23004" y="3183239"/>
            <a:ext cx="5320597" cy="9317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给出一名学生的语文和数学成绩，判断他是否恰好有一门课不及格（成绩小于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分）。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29183" y="4114996"/>
            <a:ext cx="2775104" cy="1289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输入：两个在 </a:t>
            </a:r>
            <a:r>
              <a:rPr lang="en-US" altLang="zh-CN" sz="1800" dirty="0">
                <a:latin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</a:rPr>
              <a:t>到 </a:t>
            </a:r>
            <a:r>
              <a:rPr lang="en-US" altLang="zh-CN" sz="1800" dirty="0">
                <a:latin typeface="Consolas" panose="020B0609020204030204" pitchFamily="49" charset="0"/>
              </a:rPr>
              <a:t>100 </a:t>
            </a:r>
            <a:r>
              <a:rPr lang="zh-CN" altLang="en-US" sz="1800" dirty="0">
                <a:latin typeface="Consolas" panose="020B0609020204030204" pitchFamily="49" charset="0"/>
              </a:rPr>
              <a:t>之间的整数，分别是该生的语文成绩和数学成绩。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687956" y="4114996"/>
            <a:ext cx="225564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输出：若该生恰好有一门课不及格，输出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；否则输出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3A3FD84-F7AB-5B0B-4432-AABAB2E082F0}"/>
              </a:ext>
            </a:extLst>
          </p:cNvPr>
          <p:cNvSpPr txBox="1">
            <a:spLocks/>
          </p:cNvSpPr>
          <p:nvPr/>
        </p:nvSpPr>
        <p:spPr>
          <a:xfrm>
            <a:off x="6862120" y="3183239"/>
            <a:ext cx="3851189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80808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&lt;&lt;((a&lt;60)^(b&lt;60));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8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异或运算技巧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08C1-3A35-453D-9AB7-7349C410C3E8}"/>
              </a:ext>
            </a:extLst>
          </p:cNvPr>
          <p:cNvSpPr txBox="1"/>
          <p:nvPr/>
        </p:nvSpPr>
        <p:spPr>
          <a:xfrm>
            <a:off x="678609" y="1307652"/>
            <a:ext cx="4301354" cy="1708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异或运算有以下三个特性：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任何数与它自己异或的结果为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任何数与 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异或的结果为它自己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多个数异或，满足交换律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3146830"/>
            <a:ext cx="5320597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小明和佳佳玩扑克牌比大小的游戏，共有两种花色的扑克牌（点数从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，共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26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张牌）。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不开心的事发生了，玩了一轮后，发现扑克牌竟然少了一张。到底少的是几呢？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1" y="5609965"/>
            <a:ext cx="2775104" cy="1024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输入：一行，</a:t>
            </a:r>
            <a:r>
              <a:rPr lang="en-US" altLang="zh-CN" sz="1800" dirty="0">
                <a:latin typeface="Consolas" panose="020B0609020204030204" pitchFamily="49" charset="0"/>
              </a:rPr>
              <a:t>25 </a:t>
            </a:r>
            <a:r>
              <a:rPr lang="zh-CN" altLang="en-US" sz="1800" dirty="0">
                <a:latin typeface="Consolas" panose="020B0609020204030204" pitchFamily="49" charset="0"/>
              </a:rPr>
              <a:t>个整数，为剩下的 </a:t>
            </a:r>
            <a:r>
              <a:rPr lang="en-US" altLang="zh-CN" sz="1800" dirty="0">
                <a:latin typeface="Consolas" panose="020B0609020204030204" pitchFamily="49" charset="0"/>
              </a:rPr>
              <a:t>25 </a:t>
            </a:r>
            <a:r>
              <a:rPr lang="zh-CN" altLang="en-US" sz="1800" dirty="0">
                <a:latin typeface="Consolas" panose="020B0609020204030204" pitchFamily="49" charset="0"/>
              </a:rPr>
              <a:t>张牌。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745458" y="5609965"/>
            <a:ext cx="22556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输出：一个整数，为少的那张牌。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814752" y="1307652"/>
            <a:ext cx="4992130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将输入的 </a:t>
            </a:r>
            <a:r>
              <a:rPr lang="en-US" altLang="zh-CN" sz="1800" dirty="0">
                <a:latin typeface="Consolas" panose="020B0609020204030204" pitchFamily="49" charset="0"/>
              </a:rPr>
              <a:t>25 </a:t>
            </a:r>
            <a:r>
              <a:rPr lang="zh-CN" altLang="en-US" sz="1800" dirty="0">
                <a:latin typeface="Consolas" panose="020B0609020204030204" pitchFamily="49" charset="0"/>
              </a:rPr>
              <a:t>个数字全部异或。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假如没有丢失牌，因为每个数字都有两个，根据交换律，可以看做是：</a:t>
            </a:r>
            <a:r>
              <a:rPr lang="en-US" altLang="zh-CN" sz="1800" dirty="0">
                <a:latin typeface="Consolas" panose="020B0609020204030204" pitchFamily="49" charset="0"/>
              </a:rPr>
              <a:t>1^1^2^2^…^13^13</a:t>
            </a:r>
            <a:r>
              <a:rPr lang="zh-CN" altLang="en-US" sz="1800" dirty="0">
                <a:latin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因为“任何数与它自己异或的结果为</a:t>
            </a:r>
            <a:r>
              <a:rPr lang="en-US" altLang="zh-CN" sz="1800" dirty="0">
                <a:latin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</a:rPr>
              <a:t>”，</a:t>
            </a:r>
            <a:r>
              <a:rPr lang="en-US" altLang="zh-CN" sz="1800" dirty="0">
                <a:latin typeface="Consolas" panose="020B0609020204030204" pitchFamily="49" charset="0"/>
              </a:rPr>
              <a:t> 1^1^2^2^…^13^13=0^0^…^0=0</a:t>
            </a:r>
            <a:r>
              <a:rPr lang="zh-CN" altLang="en-US" sz="1800" dirty="0">
                <a:latin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但现在少了一张牌，假设少的那张牌是 </a:t>
            </a:r>
            <a:r>
              <a:rPr lang="en-US" altLang="zh-CN" sz="1800" dirty="0">
                <a:latin typeface="Consolas" panose="020B0609020204030204" pitchFamily="49" charset="0"/>
              </a:rPr>
              <a:t>x</a:t>
            </a:r>
            <a:r>
              <a:rPr lang="zh-CN" altLang="en-US" sz="1800" dirty="0">
                <a:latin typeface="Consolas" panose="020B0609020204030204" pitchFamily="49" charset="0"/>
              </a:rPr>
              <a:t>，</a:t>
            </a:r>
            <a:r>
              <a:rPr lang="en-US" altLang="zh-CN" sz="1800" dirty="0">
                <a:latin typeface="Consolas" panose="020B0609020204030204" pitchFamily="49" charset="0"/>
              </a:rPr>
              <a:t>25</a:t>
            </a:r>
            <a:r>
              <a:rPr lang="zh-CN" altLang="en-US" sz="1800" dirty="0">
                <a:latin typeface="Consolas" panose="020B0609020204030204" pitchFamily="49" charset="0"/>
              </a:rPr>
              <a:t>个数字异或起来的结果应该是：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Consolas" panose="020B0609020204030204" pitchFamily="49" charset="0"/>
              </a:rPr>
              <a:t>0^0^…^0^x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因为“</a:t>
            </a:r>
            <a:r>
              <a:rPr lang="zh-CN" altLang="en-US" sz="1800" kern="100" dirty="0">
                <a:solidFill>
                  <a:prstClr val="black"/>
                </a:solidFill>
                <a:latin typeface="Consolas" panose="020B0609020204030204" pitchFamily="49" charset="0"/>
              </a:rPr>
              <a:t>任何数与 </a:t>
            </a:r>
            <a:r>
              <a:rPr lang="en-US" altLang="zh-CN" sz="1800" kern="100" dirty="0">
                <a:solidFill>
                  <a:prstClr val="black"/>
                </a:solidFill>
                <a:latin typeface="Consolas" panose="020B0609020204030204" pitchFamily="49" charset="0"/>
              </a:rPr>
              <a:t>0 </a:t>
            </a:r>
            <a:r>
              <a:rPr lang="zh-CN" altLang="en-US" sz="1800" kern="100" dirty="0">
                <a:solidFill>
                  <a:prstClr val="black"/>
                </a:solidFill>
                <a:latin typeface="Consolas" panose="020B0609020204030204" pitchFamily="49" charset="0"/>
              </a:rPr>
              <a:t>异或的结果为它自己</a:t>
            </a:r>
            <a:r>
              <a:rPr lang="zh-CN" altLang="en-US" sz="1800" dirty="0">
                <a:latin typeface="Consolas" panose="020B0609020204030204" pitchFamily="49" charset="0"/>
              </a:rPr>
              <a:t>”，全部异或的结果就是 </a:t>
            </a:r>
            <a:r>
              <a:rPr lang="en-US" altLang="zh-CN" sz="1800" dirty="0">
                <a:latin typeface="Consolas" panose="020B0609020204030204" pitchFamily="49" charset="0"/>
              </a:rPr>
              <a:t>x</a:t>
            </a:r>
            <a:r>
              <a:rPr lang="zh-CN" altLang="en-US" sz="1800" dirty="0">
                <a:latin typeface="Consolas" panose="020B0609020204030204" pitchFamily="49" charset="0"/>
              </a:rPr>
              <a:t>，即答案。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失踪的扑克牌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1307652"/>
            <a:ext cx="5320597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小明和佳佳玩扑克牌比大小的游戏，共有三种花色的扑克牌（点数从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，共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39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张牌）。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不开心的事发生了，玩了一轮后，发现有一个点数的扑克牌竟然少了两张。到底少的是几呢？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1" y="3640475"/>
            <a:ext cx="2775104" cy="1024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输入：一行，</a:t>
            </a:r>
            <a:r>
              <a:rPr lang="en-US" altLang="zh-CN" sz="1800" dirty="0">
                <a:latin typeface="Consolas" panose="020B0609020204030204" pitchFamily="49" charset="0"/>
              </a:rPr>
              <a:t>37 </a:t>
            </a:r>
            <a:r>
              <a:rPr lang="zh-CN" altLang="en-US" sz="1800" dirty="0">
                <a:latin typeface="Consolas" panose="020B0609020204030204" pitchFamily="49" charset="0"/>
              </a:rPr>
              <a:t>个整数，为剩下的 </a:t>
            </a:r>
            <a:r>
              <a:rPr lang="en-US" altLang="zh-CN" sz="1800" dirty="0">
                <a:latin typeface="Consolas" panose="020B0609020204030204" pitchFamily="49" charset="0"/>
              </a:rPr>
              <a:t>37 </a:t>
            </a:r>
            <a:r>
              <a:rPr lang="zh-CN" altLang="en-US" sz="1800" dirty="0">
                <a:latin typeface="Consolas" panose="020B0609020204030204" pitchFamily="49" charset="0"/>
              </a:rPr>
              <a:t>张牌。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745458" y="3640475"/>
            <a:ext cx="22556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输出：一个整数，为少的那张牌。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814752" y="1307652"/>
            <a:ext cx="4992130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假设所有牌都没少，最终每个数位上 </a:t>
            </a:r>
            <a:r>
              <a:rPr lang="en-US" altLang="zh-CN" sz="1800" dirty="0">
                <a:latin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</a:rPr>
              <a:t>的个数都应该能被 </a:t>
            </a:r>
            <a:r>
              <a:rPr lang="en-US" altLang="zh-CN" sz="1800" dirty="0">
                <a:latin typeface="Consolas" panose="020B0609020204030204" pitchFamily="49" charset="0"/>
              </a:rPr>
              <a:t>3 </a:t>
            </a:r>
            <a:r>
              <a:rPr lang="zh-CN" altLang="en-US" sz="1800" dirty="0">
                <a:latin typeface="Consolas" panose="020B0609020204030204" pitchFamily="49" charset="0"/>
              </a:rPr>
              <a:t>整除。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现在只少了一张牌，且少了两张，所以不能被</a:t>
            </a:r>
            <a:r>
              <a:rPr lang="en-US" altLang="zh-CN" sz="1800" dirty="0">
                <a:latin typeface="Consolas" panose="020B0609020204030204" pitchFamily="49" charset="0"/>
              </a:rPr>
              <a:t> 3 </a:t>
            </a:r>
            <a:r>
              <a:rPr lang="zh-CN" altLang="en-US" sz="1800" dirty="0">
                <a:latin typeface="Consolas" panose="020B0609020204030204" pitchFamily="49" charset="0"/>
              </a:rPr>
              <a:t>整除的数位就表示这张牌在这个数位上是</a:t>
            </a:r>
            <a:r>
              <a:rPr lang="en-US" altLang="zh-CN" sz="1800" dirty="0">
                <a:latin typeface="Consolas" panose="020B0609020204030204" pitchFamily="49" charset="0"/>
              </a:rPr>
              <a:t> 1</a:t>
            </a:r>
            <a:r>
              <a:rPr lang="zh-CN" altLang="en-US" sz="1800" dirty="0">
                <a:latin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将 </a:t>
            </a:r>
            <a:r>
              <a:rPr lang="en-US" altLang="zh-CN" sz="1800" dirty="0">
                <a:latin typeface="Consolas" panose="020B0609020204030204" pitchFamily="49" charset="0"/>
              </a:rPr>
              <a:t>32 </a:t>
            </a:r>
            <a:r>
              <a:rPr lang="zh-CN" altLang="en-US" sz="1800" dirty="0">
                <a:latin typeface="Consolas" panose="020B0609020204030204" pitchFamily="49" charset="0"/>
              </a:rPr>
              <a:t>个计数器中能被 </a:t>
            </a:r>
            <a:r>
              <a:rPr lang="en-US" altLang="zh-CN" sz="1800" dirty="0">
                <a:latin typeface="Consolas" panose="020B0609020204030204" pitchFamily="49" charset="0"/>
              </a:rPr>
              <a:t>3 </a:t>
            </a:r>
            <a:r>
              <a:rPr lang="zh-CN" altLang="en-US" sz="1800" dirty="0">
                <a:latin typeface="Consolas" panose="020B0609020204030204" pitchFamily="49" charset="0"/>
              </a:rPr>
              <a:t>整除的都替换为 </a:t>
            </a:r>
            <a:r>
              <a:rPr lang="en-US" altLang="zh-CN" sz="1800" dirty="0">
                <a:latin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</a:rPr>
              <a:t>，不能被 </a:t>
            </a:r>
            <a:r>
              <a:rPr lang="en-US" altLang="zh-CN" sz="1800" dirty="0">
                <a:latin typeface="Consolas" panose="020B0609020204030204" pitchFamily="49" charset="0"/>
              </a:rPr>
              <a:t>3 </a:t>
            </a:r>
            <a:r>
              <a:rPr lang="zh-CN" altLang="en-US" sz="1800" dirty="0">
                <a:latin typeface="Consolas" panose="020B0609020204030204" pitchFamily="49" charset="0"/>
              </a:rPr>
              <a:t>整除的都替换为 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，再转为十进制，就是丢失的那张牌。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95ED5B5-8617-5F2C-4B46-64C430704C2B}"/>
              </a:ext>
            </a:extLst>
          </p:cNvPr>
          <p:cNvSpPr txBox="1">
            <a:spLocks/>
          </p:cNvSpPr>
          <p:nvPr/>
        </p:nvSpPr>
        <p:spPr>
          <a:xfrm>
            <a:off x="675341" y="4665053"/>
            <a:ext cx="5320597" cy="1939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所有的牌转为二进制以后，均有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个位。对所有数字的每个位的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的数量进行计数（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个位共有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32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个计数器，可以用数组来记录）。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1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944C953-7461-40FB-9AF0-ED00A6D439C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失踪的扑克牌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378CA-F71C-25CF-238A-CFB8899FD4AD}"/>
              </a:ext>
            </a:extLst>
          </p:cNvPr>
          <p:cNvSpPr txBox="1">
            <a:spLocks/>
          </p:cNvSpPr>
          <p:nvPr/>
        </p:nvSpPr>
        <p:spPr>
          <a:xfrm>
            <a:off x="675341" y="1307652"/>
            <a:ext cx="5320597" cy="2332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小明和佳佳玩扑克牌比大小的游戏，共有两种花色的扑克牌（点数从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，共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26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张牌）。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不开心的事发生了，玩了一轮后，发现有</a:t>
            </a:r>
            <a:r>
              <a:rPr lang="zh-CN" altLang="en-US" sz="180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两个点数的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扑克牌竟然各少了一张。到底少的是哪两张牌呢？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62A81F-5468-EE78-3BE8-0461F227D383}"/>
              </a:ext>
            </a:extLst>
          </p:cNvPr>
          <p:cNvSpPr txBox="1">
            <a:spLocks/>
          </p:cNvSpPr>
          <p:nvPr/>
        </p:nvSpPr>
        <p:spPr>
          <a:xfrm>
            <a:off x="675341" y="3640475"/>
            <a:ext cx="2775104" cy="1024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输入：一行，</a:t>
            </a:r>
            <a:r>
              <a:rPr lang="en-US" altLang="zh-CN" sz="1800" dirty="0">
                <a:latin typeface="Consolas" panose="020B0609020204030204" pitchFamily="49" charset="0"/>
              </a:rPr>
              <a:t>24 </a:t>
            </a:r>
            <a:r>
              <a:rPr lang="zh-CN" altLang="en-US" sz="1800" dirty="0">
                <a:latin typeface="Consolas" panose="020B0609020204030204" pitchFamily="49" charset="0"/>
              </a:rPr>
              <a:t>个整数，为剩下的 </a:t>
            </a:r>
            <a:r>
              <a:rPr lang="en-US" altLang="zh-CN" sz="1800" dirty="0">
                <a:latin typeface="Consolas" panose="020B0609020204030204" pitchFamily="49" charset="0"/>
              </a:rPr>
              <a:t>24 </a:t>
            </a:r>
            <a:r>
              <a:rPr lang="zh-CN" altLang="en-US" sz="1800" dirty="0">
                <a:latin typeface="Consolas" panose="020B0609020204030204" pitchFamily="49" charset="0"/>
              </a:rPr>
              <a:t>张牌。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8E3B4-CA7E-A20D-3A70-E74BCAB9D8DC}"/>
              </a:ext>
            </a:extLst>
          </p:cNvPr>
          <p:cNvSpPr/>
          <p:nvPr/>
        </p:nvSpPr>
        <p:spPr>
          <a:xfrm>
            <a:off x="3745458" y="3640475"/>
            <a:ext cx="22556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输出：空格分隔的两个整数，为少的牌。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32C080C-BCF4-2ACA-4439-29DC473A54D1}"/>
              </a:ext>
            </a:extLst>
          </p:cNvPr>
          <p:cNvSpPr txBox="1">
            <a:spLocks/>
          </p:cNvSpPr>
          <p:nvPr/>
        </p:nvSpPr>
        <p:spPr>
          <a:xfrm>
            <a:off x="6814752" y="1307652"/>
            <a:ext cx="5140410" cy="4302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很明显，</a:t>
            </a:r>
            <a:r>
              <a:rPr lang="en-US" altLang="zh-CN" sz="1800" dirty="0">
                <a:latin typeface="Consolas" panose="020B0609020204030204" pitchFamily="49" charset="0"/>
              </a:rPr>
              <a:t>p </a:t>
            </a:r>
            <a:r>
              <a:rPr lang="zh-CN" altLang="en-US" sz="1800" dirty="0">
                <a:latin typeface="Consolas" panose="020B0609020204030204" pitchFamily="49" charset="0"/>
              </a:rPr>
              <a:t>和 </a:t>
            </a:r>
            <a:r>
              <a:rPr lang="en-US" altLang="zh-CN" sz="1800" dirty="0">
                <a:latin typeface="Consolas" panose="020B0609020204030204" pitchFamily="49" charset="0"/>
              </a:rPr>
              <a:t>q </a:t>
            </a:r>
            <a:r>
              <a:rPr lang="zh-CN" altLang="en-US" sz="1800" dirty="0">
                <a:latin typeface="Consolas" panose="020B0609020204030204" pitchFamily="49" charset="0"/>
              </a:rPr>
              <a:t>一定有一些数位是不同的，即，存在某个数位，</a:t>
            </a:r>
            <a:r>
              <a:rPr lang="en-US" altLang="zh-CN" sz="1800" dirty="0">
                <a:latin typeface="Consolas" panose="020B0609020204030204" pitchFamily="49" charset="0"/>
              </a:rPr>
              <a:t>p </a:t>
            </a:r>
            <a:r>
              <a:rPr lang="zh-CN" altLang="en-US" sz="1800" dirty="0">
                <a:latin typeface="Consolas" panose="020B0609020204030204" pitchFamily="49" charset="0"/>
              </a:rPr>
              <a:t>在这一位上是 </a:t>
            </a:r>
            <a:r>
              <a:rPr lang="en-US" altLang="zh-CN" sz="1800" dirty="0">
                <a:latin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</a:rPr>
              <a:t>，</a:t>
            </a:r>
            <a:r>
              <a:rPr lang="en-US" altLang="zh-CN" sz="1800" dirty="0">
                <a:latin typeface="Consolas" panose="020B0609020204030204" pitchFamily="49" charset="0"/>
              </a:rPr>
              <a:t>q </a:t>
            </a:r>
            <a:r>
              <a:rPr lang="zh-CN" altLang="en-US" sz="1800" dirty="0">
                <a:latin typeface="Consolas" panose="020B0609020204030204" pitchFamily="49" charset="0"/>
              </a:rPr>
              <a:t>在这一位上是 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，所以 </a:t>
            </a:r>
            <a:r>
              <a:rPr lang="en-US" altLang="zh-CN" sz="1800" dirty="0">
                <a:latin typeface="Consolas" panose="020B0609020204030204" pitchFamily="49" charset="0"/>
              </a:rPr>
              <a:t>r </a:t>
            </a:r>
            <a:r>
              <a:rPr lang="zh-CN" altLang="en-US" sz="1800" dirty="0">
                <a:latin typeface="Consolas" panose="020B0609020204030204" pitchFamily="49" charset="0"/>
              </a:rPr>
              <a:t>在这一位上一定是 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将 </a:t>
            </a:r>
            <a:r>
              <a:rPr lang="en-US" altLang="zh-CN" sz="1800" dirty="0">
                <a:latin typeface="Consolas" panose="020B0609020204030204" pitchFamily="49" charset="0"/>
              </a:rPr>
              <a:t>r </a:t>
            </a:r>
            <a:r>
              <a:rPr lang="zh-CN" altLang="en-US" sz="1800" dirty="0">
                <a:latin typeface="Consolas" panose="020B0609020204030204" pitchFamily="49" charset="0"/>
              </a:rPr>
              <a:t>转为二进制，从中找到任意一个 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，创造掩码（例如第 </a:t>
            </a:r>
            <a:r>
              <a:rPr lang="en-US" altLang="zh-CN" sz="1800" dirty="0">
                <a:latin typeface="Consolas" panose="020B0609020204030204" pitchFamily="49" charset="0"/>
              </a:rPr>
              <a:t>2 </a:t>
            </a:r>
            <a:r>
              <a:rPr lang="zh-CN" altLang="en-US" sz="1800" dirty="0">
                <a:latin typeface="Consolas" panose="020B0609020204030204" pitchFamily="49" charset="0"/>
              </a:rPr>
              <a:t>位为 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，则掩码为 </a:t>
            </a:r>
            <a:r>
              <a:rPr lang="en-US" altLang="zh-CN" sz="1800" dirty="0">
                <a:latin typeface="Consolas" panose="020B0609020204030204" pitchFamily="49" charset="0"/>
              </a:rPr>
              <a:t>00000010</a:t>
            </a:r>
            <a:r>
              <a:rPr lang="zh-CN" altLang="en-US" sz="1800" dirty="0">
                <a:latin typeface="Consolas" panose="020B0609020204030204" pitchFamily="49" charset="0"/>
              </a:rPr>
              <a:t>）。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</a:rPr>
              <a:t>输入的所有数字分别跟掩码做与操作，按照结果为 </a:t>
            </a:r>
            <a:r>
              <a:rPr lang="en-US" altLang="zh-CN" sz="1800" dirty="0">
                <a:latin typeface="Consolas" panose="020B0609020204030204" pitchFamily="49" charset="0"/>
              </a:rPr>
              <a:t>0 </a:t>
            </a:r>
            <a:r>
              <a:rPr lang="zh-CN" altLang="en-US" sz="1800" dirty="0">
                <a:latin typeface="Consolas" panose="020B0609020204030204" pitchFamily="49" charset="0"/>
              </a:rPr>
              <a:t>和非 </a:t>
            </a:r>
            <a:r>
              <a:rPr lang="en-US" altLang="zh-CN" sz="1800" dirty="0">
                <a:latin typeface="Consolas" panose="020B0609020204030204" pitchFamily="49" charset="0"/>
              </a:rPr>
              <a:t>0 </a:t>
            </a:r>
            <a:r>
              <a:rPr lang="zh-CN" altLang="en-US" sz="1800" dirty="0">
                <a:latin typeface="Consolas" panose="020B0609020204030204" pitchFamily="49" charset="0"/>
              </a:rPr>
              <a:t>分为两组，可以保证 </a:t>
            </a:r>
            <a:r>
              <a:rPr lang="en-US" altLang="zh-CN" sz="1800" dirty="0">
                <a:latin typeface="Consolas" panose="020B0609020204030204" pitchFamily="49" charset="0"/>
              </a:rPr>
              <a:t>p </a:t>
            </a:r>
            <a:r>
              <a:rPr lang="zh-CN" altLang="en-US" sz="1800" dirty="0">
                <a:latin typeface="Consolas" panose="020B0609020204030204" pitchFamily="49" charset="0"/>
              </a:rPr>
              <a:t>和 </a:t>
            </a:r>
            <a:r>
              <a:rPr lang="en-US" altLang="zh-CN" sz="1800" dirty="0">
                <a:latin typeface="Consolas" panose="020B0609020204030204" pitchFamily="49" charset="0"/>
              </a:rPr>
              <a:t>q </a:t>
            </a:r>
            <a:r>
              <a:rPr lang="zh-CN" altLang="en-US" sz="1800" dirty="0">
                <a:latin typeface="Consolas" panose="020B0609020204030204" pitchFamily="49" charset="0"/>
              </a:rPr>
              <a:t>一定被分到两组中。然后每一组的所有数字全部异或，其结果就分别是 </a:t>
            </a:r>
            <a:r>
              <a:rPr lang="en-US" altLang="zh-CN" sz="1800" dirty="0">
                <a:latin typeface="Consolas" panose="020B0609020204030204" pitchFamily="49" charset="0"/>
              </a:rPr>
              <a:t>p </a:t>
            </a:r>
            <a:r>
              <a:rPr lang="zh-CN" altLang="en-US" sz="1800" dirty="0">
                <a:latin typeface="Consolas" panose="020B0609020204030204" pitchFamily="49" charset="0"/>
              </a:rPr>
              <a:t>和 </a:t>
            </a:r>
            <a:r>
              <a:rPr lang="en-US" altLang="zh-CN" sz="1800" dirty="0">
                <a:latin typeface="Consolas" panose="020B0609020204030204" pitchFamily="49" charset="0"/>
              </a:rPr>
              <a:t>q</a:t>
            </a:r>
            <a:r>
              <a:rPr lang="zh-CN" altLang="en-US" sz="1800" dirty="0">
                <a:latin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95ED5B5-8617-5F2C-4B46-64C430704C2B}"/>
              </a:ext>
            </a:extLst>
          </p:cNvPr>
          <p:cNvSpPr txBox="1">
            <a:spLocks/>
          </p:cNvSpPr>
          <p:nvPr/>
        </p:nvSpPr>
        <p:spPr>
          <a:xfrm>
            <a:off x="675341" y="4665053"/>
            <a:ext cx="5320597" cy="1939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将输入的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24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个数字全部异或。假如丢失的两张牌分别是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q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，相同的数字异或后会变成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，所以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24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个数字全部异或的结果是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p^q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，我们设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r=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p^q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8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48692</TotalTime>
  <Words>5961</Words>
  <Application>Microsoft Office PowerPoint</Application>
  <PresentationFormat>宽屏</PresentationFormat>
  <Paragraphs>655</Paragraphs>
  <Slides>31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等线</vt:lpstr>
      <vt:lpstr>华文楷体</vt:lpstr>
      <vt:lpstr>微软雅黑</vt:lpstr>
      <vt:lpstr>Arial</vt:lpstr>
      <vt:lpstr>Cambria Math</vt:lpstr>
      <vt:lpstr>Consolas</vt:lpstr>
      <vt:lpstr>Tw Cen MT</vt:lpstr>
      <vt:lpstr>Wingdings</vt:lpstr>
      <vt:lpstr>电路</vt:lpstr>
      <vt:lpstr>NOIP 语言基础（十三）</vt:lpstr>
      <vt:lpstr>计算机的数制</vt:lpstr>
      <vt:lpstr>二进制</vt:lpstr>
      <vt:lpstr>二进制的转换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611</cp:revision>
  <dcterms:created xsi:type="dcterms:W3CDTF">2018-08-09T00:16:20Z</dcterms:created>
  <dcterms:modified xsi:type="dcterms:W3CDTF">2025-08-08T00:04:36Z</dcterms:modified>
</cp:coreProperties>
</file>