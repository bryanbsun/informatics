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345" r:id="rId3"/>
    <p:sldId id="341" r:id="rId4"/>
    <p:sldId id="366" r:id="rId5"/>
    <p:sldId id="367" r:id="rId6"/>
    <p:sldId id="368" r:id="rId7"/>
    <p:sldId id="369" r:id="rId8"/>
    <p:sldId id="370" r:id="rId9"/>
    <p:sldId id="371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74" autoAdjust="0"/>
  </p:normalViewPr>
  <p:slideViewPr>
    <p:cSldViewPr snapToGrid="0">
      <p:cViewPr varScale="1">
        <p:scale>
          <a:sx n="99" d="100"/>
          <a:sy n="99" d="100"/>
        </p:scale>
        <p:origin x="88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17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64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098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79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语言基础（十五）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活用数组下标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3">
            <a:extLst>
              <a:ext uri="{FF2B5EF4-FFF2-40B4-BE49-F238E27FC236}">
                <a16:creationId xmlns:a16="http://schemas.microsoft.com/office/drawing/2014/main" id="{0CD29F2F-A20B-48DA-9047-725D031DCF2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选举班长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2C2D33-A702-41EE-8420-306D7294F9E6}"/>
              </a:ext>
            </a:extLst>
          </p:cNvPr>
          <p:cNvSpPr/>
          <p:nvPr/>
        </p:nvSpPr>
        <p:spPr>
          <a:xfrm>
            <a:off x="593966" y="1627695"/>
            <a:ext cx="47587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班级里有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名同学，学号从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1≤n≤100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），大家无记名投票选举班长。每人写一个学号代表自己选的那位同学。请计算有多少位同学得到了选票。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BAFA436-5B17-427C-AF28-AA71D1B8095C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D0D824-B158-47E3-947F-05CC5A99804F}"/>
              </a:ext>
            </a:extLst>
          </p:cNvPr>
          <p:cNvSpPr/>
          <p:nvPr/>
        </p:nvSpPr>
        <p:spPr>
          <a:xfrm>
            <a:off x="593967" y="2577557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62F6AF08-0288-402F-A109-C66741EA149F}"/>
              </a:ext>
            </a:extLst>
          </p:cNvPr>
          <p:cNvSpPr txBox="1">
            <a:spLocks/>
          </p:cNvSpPr>
          <p:nvPr/>
        </p:nvSpPr>
        <p:spPr>
          <a:xfrm>
            <a:off x="600414" y="3712446"/>
            <a:ext cx="475228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一个整数，表示有多少位同学得到了选票。</a:t>
            </a:r>
            <a:endParaRPr lang="en-US" altLang="zh-CN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70C5EC-8DC1-493D-ACD9-50283C2BBDDA}"/>
              </a:ext>
            </a:extLst>
          </p:cNvPr>
          <p:cNvSpPr/>
          <p:nvPr/>
        </p:nvSpPr>
        <p:spPr>
          <a:xfrm>
            <a:off x="600414" y="3367545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03E668C0-E6C9-45D6-8E0A-F82840F1B312}"/>
              </a:ext>
            </a:extLst>
          </p:cNvPr>
          <p:cNvSpPr txBox="1">
            <a:spLocks/>
          </p:cNvSpPr>
          <p:nvPr/>
        </p:nvSpPr>
        <p:spPr>
          <a:xfrm>
            <a:off x="593967" y="2916112"/>
            <a:ext cx="475228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第一行为一个整数</a:t>
            </a:r>
            <a:r>
              <a:rPr lang="en-US" altLang="zh-CN" dirty="0"/>
              <a:t>n</a:t>
            </a:r>
            <a:r>
              <a:rPr lang="zh-CN" altLang="en-US" dirty="0"/>
              <a:t>，第二行为空格分隔的</a:t>
            </a:r>
            <a:r>
              <a:rPr lang="en-US" altLang="zh-CN" dirty="0"/>
              <a:t>n</a:t>
            </a:r>
            <a:r>
              <a:rPr lang="zh-CN" altLang="en-US" dirty="0"/>
              <a:t>个整数。</a:t>
            </a:r>
            <a:endParaRPr lang="en-US" altLang="zh-CN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4BF113-53E7-46E4-90DF-F242D374E3B4}"/>
              </a:ext>
            </a:extLst>
          </p:cNvPr>
          <p:cNvSpPr/>
          <p:nvPr/>
        </p:nvSpPr>
        <p:spPr>
          <a:xfrm>
            <a:off x="612351" y="416387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E9B5A7C7-0E8D-46AB-A49D-E212912BA5F4}"/>
              </a:ext>
            </a:extLst>
          </p:cNvPr>
          <p:cNvSpPr txBox="1">
            <a:spLocks/>
          </p:cNvSpPr>
          <p:nvPr/>
        </p:nvSpPr>
        <p:spPr>
          <a:xfrm>
            <a:off x="612351" y="4502434"/>
            <a:ext cx="2733964" cy="6001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ts val="1800"/>
              </a:lnSpc>
            </a:pPr>
            <a:r>
              <a:rPr lang="en-US" altLang="zh-CN" sz="1800" kern="1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7 5 5 3 7 7 1 7 3 3</a:t>
            </a:r>
            <a:endParaRPr lang="en-US" altLang="zh-CN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2E0142-C3E7-43A1-B58D-E0D9B29ED97A}"/>
              </a:ext>
            </a:extLst>
          </p:cNvPr>
          <p:cNvSpPr/>
          <p:nvPr/>
        </p:nvSpPr>
        <p:spPr>
          <a:xfrm>
            <a:off x="3436499" y="4163878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D07F69F0-4040-4721-A077-D965C3A67B94}"/>
              </a:ext>
            </a:extLst>
          </p:cNvPr>
          <p:cNvSpPr txBox="1">
            <a:spLocks/>
          </p:cNvSpPr>
          <p:nvPr/>
        </p:nvSpPr>
        <p:spPr>
          <a:xfrm>
            <a:off x="3436499" y="4502433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480B32-7780-CC79-442C-0FA7096CF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7695"/>
            <a:ext cx="4758727" cy="39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FA8FE787-012B-4417-B8AD-ED30A41232D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选举班长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E5C7F6-5E88-39F3-D432-AA8A87ED33BB}"/>
              </a:ext>
            </a:extLst>
          </p:cNvPr>
          <p:cNvSpPr/>
          <p:nvPr/>
        </p:nvSpPr>
        <p:spPr>
          <a:xfrm>
            <a:off x="593966" y="1627695"/>
            <a:ext cx="4941072" cy="2267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在数组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中，下标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和对应的值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构成了一对含义共同体，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不再是单纯的下标，它有明确的含义“学号为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的值为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表示学号为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的同学得到过选票，所以要确保一开始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中所有元素都初始化为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因为学号最大为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，所以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所以数组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的大小设为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，确保不会越界。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A56CC9-3F5E-DE21-49AC-2BFFC8D9E6F0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说明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6CCFC0-A211-87E5-54D0-4955D200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7695"/>
            <a:ext cx="4758727" cy="39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3">
            <a:extLst>
              <a:ext uri="{FF2B5EF4-FFF2-40B4-BE49-F238E27FC236}">
                <a16:creationId xmlns:a16="http://schemas.microsoft.com/office/drawing/2014/main" id="{0CD29F2F-A20B-48DA-9047-725D031DCF2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最受欢迎的歌手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2C2D33-A702-41EE-8420-306D7294F9E6}"/>
              </a:ext>
            </a:extLst>
          </p:cNvPr>
          <p:cNvSpPr/>
          <p:nvPr/>
        </p:nvSpPr>
        <p:spPr>
          <a:xfrm>
            <a:off x="593966" y="1627695"/>
            <a:ext cx="47587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校园十大歌手现在接受全校同学的投票，看谁才是最受欢迎的。歌手的编号从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位同学参加了投票（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1≤n≤100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），每人写一个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的数字代表自己最喜欢的歌手。请计算哪位歌手得到的票数最多、是多少张。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BAFA436-5B17-427C-AF28-AA71D1B8095C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D0D824-B158-47E3-947F-05CC5A99804F}"/>
              </a:ext>
            </a:extLst>
          </p:cNvPr>
          <p:cNvSpPr/>
          <p:nvPr/>
        </p:nvSpPr>
        <p:spPr>
          <a:xfrm>
            <a:off x="600413" y="3061544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62F6AF08-0288-402F-A109-C66741EA149F}"/>
              </a:ext>
            </a:extLst>
          </p:cNvPr>
          <p:cNvSpPr txBox="1">
            <a:spLocks/>
          </p:cNvSpPr>
          <p:nvPr/>
        </p:nvSpPr>
        <p:spPr>
          <a:xfrm>
            <a:off x="612352" y="4501742"/>
            <a:ext cx="4752280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空格分隔的两个整数，分别表示最受欢迎的歌手的编号和他获得的票数。</a:t>
            </a:r>
            <a:endParaRPr lang="en-US" altLang="zh-CN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70C5EC-8DC1-493D-ACD9-50283C2BBDDA}"/>
              </a:ext>
            </a:extLst>
          </p:cNvPr>
          <p:cNvSpPr/>
          <p:nvPr/>
        </p:nvSpPr>
        <p:spPr>
          <a:xfrm>
            <a:off x="612352" y="4156841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03E668C0-E6C9-45D6-8E0A-F82840F1B312}"/>
              </a:ext>
            </a:extLst>
          </p:cNvPr>
          <p:cNvSpPr txBox="1">
            <a:spLocks/>
          </p:cNvSpPr>
          <p:nvPr/>
        </p:nvSpPr>
        <p:spPr>
          <a:xfrm>
            <a:off x="600413" y="3400099"/>
            <a:ext cx="475228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第一行为一个整数</a:t>
            </a:r>
            <a:r>
              <a:rPr lang="en-US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，第二行为空格分隔的</a:t>
            </a:r>
            <a:r>
              <a:rPr lang="en-US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个整数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4BF113-53E7-46E4-90DF-F242D374E3B4}"/>
              </a:ext>
            </a:extLst>
          </p:cNvPr>
          <p:cNvSpPr/>
          <p:nvPr/>
        </p:nvSpPr>
        <p:spPr>
          <a:xfrm>
            <a:off x="612351" y="5203275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E9B5A7C7-0E8D-46AB-A49D-E212912BA5F4}"/>
              </a:ext>
            </a:extLst>
          </p:cNvPr>
          <p:cNvSpPr txBox="1">
            <a:spLocks/>
          </p:cNvSpPr>
          <p:nvPr/>
        </p:nvSpPr>
        <p:spPr>
          <a:xfrm>
            <a:off x="612351" y="5541830"/>
            <a:ext cx="2733964" cy="6001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ts val="1800"/>
              </a:lnSpc>
            </a:pPr>
            <a:r>
              <a:rPr lang="en-US" altLang="zh-CN" sz="1800" kern="1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7 5 5 3 7 7 1 7 3 3</a:t>
            </a:r>
            <a:endParaRPr lang="en-US" altLang="zh-CN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2E0142-C3E7-43A1-B58D-E0D9B29ED97A}"/>
              </a:ext>
            </a:extLst>
          </p:cNvPr>
          <p:cNvSpPr/>
          <p:nvPr/>
        </p:nvSpPr>
        <p:spPr>
          <a:xfrm>
            <a:off x="3436499" y="5203274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D07F69F0-4040-4721-A077-D965C3A67B94}"/>
              </a:ext>
            </a:extLst>
          </p:cNvPr>
          <p:cNvSpPr txBox="1">
            <a:spLocks/>
          </p:cNvSpPr>
          <p:nvPr/>
        </p:nvSpPr>
        <p:spPr>
          <a:xfrm>
            <a:off x="3436499" y="554182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7 4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921F1A-71CD-7D3C-1AEB-7FA7C5E9A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7695"/>
            <a:ext cx="5061626" cy="44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4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FA8FE787-012B-4417-B8AD-ED30A41232D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最受欢迎的歌手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E5C7F6-5E88-39F3-D432-AA8A87ED33BB}"/>
              </a:ext>
            </a:extLst>
          </p:cNvPr>
          <p:cNvSpPr/>
          <p:nvPr/>
        </p:nvSpPr>
        <p:spPr>
          <a:xfrm>
            <a:off x="593966" y="1627695"/>
            <a:ext cx="4941072" cy="3375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在数组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中，下标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和对应的值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构成了一对含义共同体，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不再是单纯的下标，它有明确的含义“歌手编号为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的值表示编号为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的歌手得到了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张票，所以要确保一开始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中所有元素都初始化为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因为歌手编号最大为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，所以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所以数组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的大小设为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，确保不会越界。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因为歌手的编号为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，所以第二个</a:t>
            </a:r>
            <a:r>
              <a:rPr lang="en-US" altLang="zh-CN" sz="1600" b="1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循环中，循环变量的范围为从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（不是从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，也不是从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A56CC9-3F5E-DE21-49AC-2BFFC8D9E6F0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说明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5D19C5-BEFD-843B-58B6-AB068AC38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31728"/>
            <a:ext cx="5061626" cy="44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9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3">
            <a:extLst>
              <a:ext uri="{FF2B5EF4-FFF2-40B4-BE49-F238E27FC236}">
                <a16:creationId xmlns:a16="http://schemas.microsoft.com/office/drawing/2014/main" id="{0CD29F2F-A20B-48DA-9047-725D031DCF2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字符串的轻重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2C2D33-A702-41EE-8420-306D7294F9E6}"/>
              </a:ext>
            </a:extLst>
          </p:cNvPr>
          <p:cNvSpPr/>
          <p:nvPr/>
        </p:nvSpPr>
        <p:spPr>
          <a:xfrm>
            <a:off x="593966" y="1627695"/>
            <a:ext cx="47587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如果一个字符串中大写字母的种类数量比小写字母的种类数量多，这个字符串就是重的，否则就是轻的。请你判断给定的字符串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是重还是轻。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BAFA436-5B17-427C-AF28-AA71D1B8095C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D0D824-B158-47E3-947F-05CC5A99804F}"/>
              </a:ext>
            </a:extLst>
          </p:cNvPr>
          <p:cNvSpPr/>
          <p:nvPr/>
        </p:nvSpPr>
        <p:spPr>
          <a:xfrm>
            <a:off x="593967" y="2577557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62F6AF08-0288-402F-A109-C66741EA149F}"/>
              </a:ext>
            </a:extLst>
          </p:cNvPr>
          <p:cNvSpPr txBox="1">
            <a:spLocks/>
          </p:cNvSpPr>
          <p:nvPr/>
        </p:nvSpPr>
        <p:spPr>
          <a:xfrm>
            <a:off x="612352" y="3964654"/>
            <a:ext cx="475228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如果</a:t>
            </a:r>
            <a:r>
              <a:rPr lang="en-US" altLang="zh-CN" dirty="0">
                <a:latin typeface="Consolas" panose="020B0609020204030204" pitchFamily="49" charset="0"/>
              </a:rPr>
              <a:t>s</a:t>
            </a:r>
            <a:r>
              <a:rPr lang="zh-CN" altLang="en-US" dirty="0">
                <a:latin typeface="Consolas" panose="020B0609020204030204" pitchFamily="49" charset="0"/>
              </a:rPr>
              <a:t>是重的，输出</a:t>
            </a:r>
            <a:r>
              <a:rPr lang="en-US" altLang="zh-CN" dirty="0">
                <a:latin typeface="Consolas" panose="020B0609020204030204" pitchFamily="49" charset="0"/>
              </a:rPr>
              <a:t>heavy</a:t>
            </a:r>
            <a:r>
              <a:rPr lang="zh-CN" altLang="en-US" dirty="0">
                <a:latin typeface="Consolas" panose="020B0609020204030204" pitchFamily="49" charset="0"/>
              </a:rPr>
              <a:t>，否则输出</a:t>
            </a:r>
            <a:r>
              <a:rPr lang="en-US" altLang="zh-CN" dirty="0">
                <a:latin typeface="Consolas" panose="020B0609020204030204" pitchFamily="49" charset="0"/>
              </a:rPr>
              <a:t>light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70C5EC-8DC1-493D-ACD9-50283C2BBDDA}"/>
              </a:ext>
            </a:extLst>
          </p:cNvPr>
          <p:cNvSpPr/>
          <p:nvPr/>
        </p:nvSpPr>
        <p:spPr>
          <a:xfrm>
            <a:off x="612352" y="3619753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03E668C0-E6C9-45D6-8E0A-F82840F1B312}"/>
              </a:ext>
            </a:extLst>
          </p:cNvPr>
          <p:cNvSpPr txBox="1">
            <a:spLocks/>
          </p:cNvSpPr>
          <p:nvPr/>
        </p:nvSpPr>
        <p:spPr>
          <a:xfrm>
            <a:off x="593967" y="2916112"/>
            <a:ext cx="4752280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一行，一个完全由大小写字母组成的字符串</a:t>
            </a:r>
            <a:r>
              <a:rPr lang="en-US" altLang="zh-CN" dirty="0">
                <a:latin typeface="Consolas" panose="020B0609020204030204" pitchFamily="49" charset="0"/>
              </a:rPr>
              <a:t>s</a:t>
            </a:r>
            <a:r>
              <a:rPr lang="zh-CN" altLang="en-US" dirty="0">
                <a:latin typeface="Consolas" panose="020B0609020204030204" pitchFamily="49" charset="0"/>
              </a:rPr>
              <a:t>，长度不超过</a:t>
            </a:r>
            <a:r>
              <a:rPr lang="en-US" altLang="zh-CN" dirty="0">
                <a:latin typeface="Consolas" panose="020B0609020204030204" pitchFamily="49" charset="0"/>
              </a:rPr>
              <a:t>1000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4BF113-53E7-46E4-90DF-F242D374E3B4}"/>
              </a:ext>
            </a:extLst>
          </p:cNvPr>
          <p:cNvSpPr/>
          <p:nvPr/>
        </p:nvSpPr>
        <p:spPr>
          <a:xfrm>
            <a:off x="624289" y="4416087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E9B5A7C7-0E8D-46AB-A49D-E212912BA5F4}"/>
              </a:ext>
            </a:extLst>
          </p:cNvPr>
          <p:cNvSpPr txBox="1">
            <a:spLocks/>
          </p:cNvSpPr>
          <p:nvPr/>
        </p:nvSpPr>
        <p:spPr>
          <a:xfrm>
            <a:off x="624289" y="4754642"/>
            <a:ext cx="2733964" cy="3231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ts val="18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AbCdEfG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2E0142-C3E7-43A1-B58D-E0D9B29ED97A}"/>
              </a:ext>
            </a:extLst>
          </p:cNvPr>
          <p:cNvSpPr/>
          <p:nvPr/>
        </p:nvSpPr>
        <p:spPr>
          <a:xfrm>
            <a:off x="3448437" y="4416086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D07F69F0-4040-4721-A077-D965C3A67B94}"/>
              </a:ext>
            </a:extLst>
          </p:cNvPr>
          <p:cNvSpPr txBox="1">
            <a:spLocks/>
          </p:cNvSpPr>
          <p:nvPr/>
        </p:nvSpPr>
        <p:spPr>
          <a:xfrm>
            <a:off x="3448437" y="4754641"/>
            <a:ext cx="236694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sz="1800" dirty="0"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heavy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C6F72D-ED08-90A8-6832-4E99001CBBE2}"/>
              </a:ext>
            </a:extLst>
          </p:cNvPr>
          <p:cNvSpPr/>
          <p:nvPr/>
        </p:nvSpPr>
        <p:spPr>
          <a:xfrm>
            <a:off x="612351" y="5190686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8CB5C48-9902-1B65-7D09-A5C74B2D3908}"/>
              </a:ext>
            </a:extLst>
          </p:cNvPr>
          <p:cNvSpPr txBox="1">
            <a:spLocks/>
          </p:cNvSpPr>
          <p:nvPr/>
        </p:nvSpPr>
        <p:spPr>
          <a:xfrm>
            <a:off x="612351" y="5529241"/>
            <a:ext cx="2733964" cy="3231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ts val="18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hIjKlMn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44420A-2686-9D30-D393-5DCB3FE6573F}"/>
              </a:ext>
            </a:extLst>
          </p:cNvPr>
          <p:cNvSpPr/>
          <p:nvPr/>
        </p:nvSpPr>
        <p:spPr>
          <a:xfrm>
            <a:off x="3436499" y="5190685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DB5E097-7983-C965-57D2-E03A46D7420B}"/>
              </a:ext>
            </a:extLst>
          </p:cNvPr>
          <p:cNvSpPr txBox="1">
            <a:spLocks/>
          </p:cNvSpPr>
          <p:nvPr/>
        </p:nvSpPr>
        <p:spPr>
          <a:xfrm>
            <a:off x="3436499" y="5529240"/>
            <a:ext cx="236694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sz="1800" dirty="0"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light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90607F5-166B-3B0A-9B45-1F09409CA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7694"/>
            <a:ext cx="5039315" cy="470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1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FA8FE787-012B-4417-B8AD-ED30A41232D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字符串的轻重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E5C7F6-5E88-39F3-D432-AA8A87ED33BB}"/>
              </a:ext>
            </a:extLst>
          </p:cNvPr>
          <p:cNvSpPr/>
          <p:nvPr/>
        </p:nvSpPr>
        <p:spPr>
          <a:xfrm>
            <a:off x="593966" y="1627695"/>
            <a:ext cx="4941072" cy="3745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在数组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中，下标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和对应的值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构成了一对含义共同体，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不再是单纯的下标，它有明确的含义“字母的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码为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的值为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表示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码为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的字母出现过，所以要确保一开始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中所有元素都初始化为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因为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值最大为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127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，所以数组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的大小设为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130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，确保不会越界。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第二个和第三个</a:t>
            </a:r>
            <a:r>
              <a:rPr lang="en-US" altLang="zh-CN" sz="1600" b="1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循环中，循环变量的范围为从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'a'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'z'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'A'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'Z'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（不是从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len-1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），分别表示查看所有小写字母和查看所有大写字母是否出现。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A56CC9-3F5E-DE21-49AC-2BFFC8D9E6F0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说明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A9865F-D044-238C-CD86-86B51B26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7694"/>
            <a:ext cx="5039315" cy="470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4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3">
            <a:extLst>
              <a:ext uri="{FF2B5EF4-FFF2-40B4-BE49-F238E27FC236}">
                <a16:creationId xmlns:a16="http://schemas.microsoft.com/office/drawing/2014/main" id="{0CD29F2F-A20B-48DA-9047-725D031DCF2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考试排名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2C2D33-A702-41EE-8420-306D7294F9E6}"/>
              </a:ext>
            </a:extLst>
          </p:cNvPr>
          <p:cNvSpPr/>
          <p:nvPr/>
        </p:nvSpPr>
        <p:spPr>
          <a:xfrm>
            <a:off x="593966" y="1627695"/>
            <a:ext cx="47587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期末考试结束了，一共有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个分数（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1≤n≤10</a:t>
            </a:r>
            <a:r>
              <a:rPr lang="en-US" altLang="zh-CN" sz="16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），请你帮老师完成从小到大的排序。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BAFA436-5B17-427C-AF28-AA71D1B8095C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D0D824-B158-47E3-947F-05CC5A99804F}"/>
              </a:ext>
            </a:extLst>
          </p:cNvPr>
          <p:cNvSpPr/>
          <p:nvPr/>
        </p:nvSpPr>
        <p:spPr>
          <a:xfrm>
            <a:off x="612351" y="2315242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62F6AF08-0288-402F-A109-C66741EA149F}"/>
              </a:ext>
            </a:extLst>
          </p:cNvPr>
          <p:cNvSpPr txBox="1">
            <a:spLocks/>
          </p:cNvSpPr>
          <p:nvPr/>
        </p:nvSpPr>
        <p:spPr>
          <a:xfrm>
            <a:off x="612352" y="3686246"/>
            <a:ext cx="475228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空格分隔的</a:t>
            </a:r>
            <a:r>
              <a:rPr lang="en-US" altLang="zh-CN" dirty="0"/>
              <a:t>n</a:t>
            </a:r>
            <a:r>
              <a:rPr lang="zh-CN" altLang="en-US" dirty="0"/>
              <a:t>个整数，为从小到大排序的结果。</a:t>
            </a:r>
            <a:endParaRPr lang="en-US" altLang="zh-CN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70C5EC-8DC1-493D-ACD9-50283C2BBDDA}"/>
              </a:ext>
            </a:extLst>
          </p:cNvPr>
          <p:cNvSpPr/>
          <p:nvPr/>
        </p:nvSpPr>
        <p:spPr>
          <a:xfrm>
            <a:off x="612352" y="3341345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03E668C0-E6C9-45D6-8E0A-F82840F1B312}"/>
              </a:ext>
            </a:extLst>
          </p:cNvPr>
          <p:cNvSpPr txBox="1">
            <a:spLocks/>
          </p:cNvSpPr>
          <p:nvPr/>
        </p:nvSpPr>
        <p:spPr>
          <a:xfrm>
            <a:off x="612351" y="2653797"/>
            <a:ext cx="4752280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第一行为一个整数</a:t>
            </a:r>
            <a:r>
              <a:rPr lang="en-US" altLang="zh-CN" dirty="0"/>
              <a:t>n</a:t>
            </a:r>
            <a:r>
              <a:rPr lang="zh-CN" altLang="en-US" dirty="0"/>
              <a:t>，第二行为空格分隔的</a:t>
            </a:r>
            <a:r>
              <a:rPr lang="en-US" altLang="zh-CN" dirty="0"/>
              <a:t>n</a:t>
            </a:r>
            <a:r>
              <a:rPr lang="zh-CN" altLang="en-US" dirty="0"/>
              <a:t>个正整数（都不超过</a:t>
            </a:r>
            <a:r>
              <a:rPr lang="en-US" altLang="zh-CN" dirty="0"/>
              <a:t>100</a:t>
            </a:r>
            <a:r>
              <a:rPr lang="zh-CN" altLang="en-US" dirty="0"/>
              <a:t>）。</a:t>
            </a:r>
            <a:endParaRPr lang="en-US" altLang="zh-CN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4BF113-53E7-46E4-90DF-F242D374E3B4}"/>
              </a:ext>
            </a:extLst>
          </p:cNvPr>
          <p:cNvSpPr/>
          <p:nvPr/>
        </p:nvSpPr>
        <p:spPr>
          <a:xfrm>
            <a:off x="624289" y="413767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E9B5A7C7-0E8D-46AB-A49D-E212912BA5F4}"/>
              </a:ext>
            </a:extLst>
          </p:cNvPr>
          <p:cNvSpPr txBox="1">
            <a:spLocks/>
          </p:cNvSpPr>
          <p:nvPr/>
        </p:nvSpPr>
        <p:spPr>
          <a:xfrm>
            <a:off x="624288" y="4476234"/>
            <a:ext cx="4752279" cy="6001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algn="just">
              <a:lnSpc>
                <a:spcPts val="1800"/>
              </a:lnSpc>
            </a:pPr>
            <a:r>
              <a:rPr lang="en-US" altLang="zh-CN" sz="1800" kern="1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92 83 61 92 54 75 83 75 83 92</a:t>
            </a:r>
            <a:endParaRPr lang="en-US" altLang="zh-CN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2E0142-C3E7-43A1-B58D-E0D9B29ED97A}"/>
              </a:ext>
            </a:extLst>
          </p:cNvPr>
          <p:cNvSpPr/>
          <p:nvPr/>
        </p:nvSpPr>
        <p:spPr>
          <a:xfrm>
            <a:off x="624289" y="5189277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D07F69F0-4040-4721-A077-D965C3A67B94}"/>
              </a:ext>
            </a:extLst>
          </p:cNvPr>
          <p:cNvSpPr txBox="1">
            <a:spLocks/>
          </p:cNvSpPr>
          <p:nvPr/>
        </p:nvSpPr>
        <p:spPr>
          <a:xfrm>
            <a:off x="624289" y="5527832"/>
            <a:ext cx="4728404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sz="1800" dirty="0"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54 61 75 75 83 83 83 92 92 92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66C6C1-77DB-70DB-937A-6E94ED456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27695"/>
            <a:ext cx="4132175" cy="371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6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FA8FE787-012B-4417-B8AD-ED30A41232D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考试排名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E5C7F6-5E88-39F3-D432-AA8A87ED33BB}"/>
              </a:ext>
            </a:extLst>
          </p:cNvPr>
          <p:cNvSpPr/>
          <p:nvPr/>
        </p:nvSpPr>
        <p:spPr>
          <a:xfrm>
            <a:off x="593966" y="1627695"/>
            <a:ext cx="4941072" cy="4114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在数组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中，下标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和对应的值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构成了一对含义共同体，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不再是单纯的下标，它有明确的含义“分数为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；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的值表示分数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出现了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次，所以要确保一开始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中所有元素都初始化为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因为分数最大为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，所以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所以数组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的大小设为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110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，确保不会越界。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因为分数的范围是从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，第二个</a:t>
            </a:r>
            <a:r>
              <a:rPr lang="en-US" altLang="zh-CN" sz="1600" b="1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循环中，循环变量的范围为从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（不是从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，也不是从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），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的含义是“有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个分数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，所以内部的</a:t>
            </a:r>
            <a:r>
              <a:rPr lang="en-US" altLang="zh-CN" sz="1600" b="1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循环中将分数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次。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这种排序方法称为计数排序。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A56CC9-3F5E-DE21-49AC-2BFFC8D9E6F0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说明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6D3DE1-4773-B44D-5846-5C32CBD97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627695"/>
            <a:ext cx="4132175" cy="371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3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40275</TotalTime>
  <Words>1043</Words>
  <Application>Microsoft Office PowerPoint</Application>
  <PresentationFormat>宽屏</PresentationFormat>
  <Paragraphs>82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华文楷体</vt:lpstr>
      <vt:lpstr>微软雅黑</vt:lpstr>
      <vt:lpstr>Arial</vt:lpstr>
      <vt:lpstr>Consolas</vt:lpstr>
      <vt:lpstr>Tw Cen MT</vt:lpstr>
      <vt:lpstr>电路</vt:lpstr>
      <vt:lpstr>NOIP 语言基础（十五）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青 林</cp:lastModifiedBy>
  <cp:revision>398</cp:revision>
  <dcterms:created xsi:type="dcterms:W3CDTF">2018-08-09T00:16:20Z</dcterms:created>
  <dcterms:modified xsi:type="dcterms:W3CDTF">2024-07-30T00:28:57Z</dcterms:modified>
</cp:coreProperties>
</file>