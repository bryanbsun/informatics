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345" r:id="rId3"/>
    <p:sldId id="341" r:id="rId4"/>
    <p:sldId id="343" r:id="rId5"/>
    <p:sldId id="346" r:id="rId6"/>
    <p:sldId id="363" r:id="rId7"/>
    <p:sldId id="351" r:id="rId8"/>
    <p:sldId id="349" r:id="rId9"/>
    <p:sldId id="362" r:id="rId10"/>
    <p:sldId id="261" r:id="rId11"/>
    <p:sldId id="357" r:id="rId12"/>
    <p:sldId id="358" r:id="rId13"/>
    <p:sldId id="359" r:id="rId14"/>
    <p:sldId id="360" r:id="rId15"/>
    <p:sldId id="352" r:id="rId16"/>
  </p:sldIdLst>
  <p:sldSz cx="12192000" cy="6858000"/>
  <p:notesSz cx="6858000" cy="9144000"/>
  <p:defaultTextStyle>
    <a:defPPr>
      <a:defRPr lang="e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785" autoAdjust="0"/>
    <p:restoredTop sz="95072" autoAdjust="0"/>
  </p:normalViewPr>
  <p:slideViewPr>
    <p:cSldViewPr snapToGrid="0">
      <p:cViewPr varScale="1">
        <p:scale>
          <a:sx n="61" d="100"/>
          <a:sy n="61" d="100"/>
        </p:scale>
        <p:origin x="63" y="4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Sun" userId="851caa7714272873" providerId="LiveId" clId="{9CD94D5E-0A18-4CEF-A655-0E4C15651F93}"/>
    <pc:docChg chg="custSel modSld">
      <pc:chgData name="Bryan Sun" userId="851caa7714272873" providerId="LiveId" clId="{9CD94D5E-0A18-4CEF-A655-0E4C15651F93}" dt="2026-10-18T02:09:38.581" v="2" actId="478"/>
      <pc:docMkLst>
        <pc:docMk/>
      </pc:docMkLst>
      <pc:sldChg chg="addSp delSp modSp mod">
        <pc:chgData name="Bryan Sun" userId="851caa7714272873" providerId="LiveId" clId="{9CD94D5E-0A18-4CEF-A655-0E4C15651F93}" dt="2026-10-18T02:09:38.581" v="2" actId="478"/>
        <pc:sldMkLst>
          <pc:docMk/>
          <pc:sldMk cId="0" sldId="358"/>
        </pc:sldMkLst>
        <pc:inkChg chg="add del mod">
          <ac:chgData name="Bryan Sun" userId="851caa7714272873" providerId="LiveId" clId="{9CD94D5E-0A18-4CEF-A655-0E4C15651F93}" dt="2026-10-18T02:09:38.581" v="2" actId="478"/>
          <ac:inkMkLst>
            <pc:docMk/>
            <pc:sldMk cId="0" sldId="358"/>
            <ac:inkMk id="2" creationId="{2B964B1F-A3C2-3B73-2927-A97C93340B0C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2026/10/18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NOIP </a:t>
            </a:r>
            <a:r>
              <a:rPr lang="en" altLang="en-US" dirty="0"/>
              <a:t>Language Basics (</a:t>
            </a:r>
            <a:r>
              <a:rPr lang="en-US" altLang="zh-CN" dirty="0"/>
              <a:t>1</a:t>
            </a:r>
            <a:r>
              <a:rPr lang="en" altLang="en-US" dirty="0"/>
              <a:t>2)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" altLang="en-US" dirty="0"/>
              <a:t>Structure</a:t>
            </a:r>
            <a:r>
              <a:rPr lang="en-US" altLang="zh-CN" dirty="0"/>
              <a:t>s</a:t>
            </a:r>
            <a:endParaRPr lang="e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000000" y="6120000"/>
            <a:ext cx="27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Mr.</a:t>
            </a:r>
            <a:r>
              <a:rPr lang="en" altLang="en-US" sz="1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Gao's Algorithm </a:t>
            </a:r>
          </a:p>
          <a:p>
            <a:pPr algn="r"/>
            <a:r>
              <a:rPr lang="en" altLang="en-US" sz="14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内容占位符 2"/>
          <p:cNvSpPr txBox="1"/>
          <p:nvPr/>
        </p:nvSpPr>
        <p:spPr>
          <a:xfrm>
            <a:off x="5951079" y="1348343"/>
            <a:ext cx="5862537" cy="558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#include&lt;bits/</a:t>
            </a:r>
            <a:r>
              <a:rPr lang="en" altLang="zh-CN" sz="1400" dirty="0" err="1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stdc</a:t>
            </a: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++.h&gt;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int l1,l2,l3,r1,r2,r3,t1,t2,t3,b1,b2,b3,ans=0;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cin</a:t>
            </a: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&gt;&gt;l1&gt;&gt;r1&gt;&gt;t1&gt;&gt;b1&gt;&gt;l2&gt;&gt;r2&gt;&gt;t2&gt;&gt;b2;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</a:t>
            </a:r>
            <a:endParaRPr lang="en-US" altLang="zh-CN" sz="1400" dirty="0"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CN" sz="1400" dirty="0"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return 0;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" altLang="zh-CN" sz="14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矩形 8"/>
          <p:cNvSpPr/>
          <p:nvPr/>
        </p:nvSpPr>
        <p:spPr>
          <a:xfrm>
            <a:off x="5951079" y="3036543"/>
            <a:ext cx="3823562" cy="320877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l3=max(l1,l2);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r3=min(r1,r2);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t3=max(t1,t2);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b3=min(b1,b2);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ns=(r3-l3)*(b3-t3);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return 0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10397" y="2255455"/>
            <a:ext cx="2091446" cy="13716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29969" y="2611618"/>
            <a:ext cx="1357009" cy="17412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1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–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Overlap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ping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Windows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60225" y="4907685"/>
            <a:ext cx="37087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coordinates of the four vertices of the two windows are:</a:t>
            </a:r>
            <a:endParaRPr lang="en-US" altLang="zh-CN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(l1,t1),(r1,t1),(l1,b1),(r1,b1)</a:t>
            </a:r>
          </a:p>
          <a:p>
            <a:r>
              <a:rPr lang="en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(l2,t2),(r2,t2),(l2,b2),(r2,b2)</a:t>
            </a:r>
          </a:p>
          <a:p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Find the area of the intersection</a:t>
            </a:r>
          </a:p>
        </p:txBody>
      </p:sp>
      <p:sp>
        <p:nvSpPr>
          <p:cNvPr id="2" name="矩形 1"/>
          <p:cNvSpPr/>
          <p:nvPr/>
        </p:nvSpPr>
        <p:spPr>
          <a:xfrm>
            <a:off x="416414" y="6100102"/>
            <a:ext cx="23149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l: left; r: right; t: top; b: bottom</a:t>
            </a: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650700" y="1687042"/>
            <a:ext cx="4245150" cy="99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656031" y="1688041"/>
            <a:ext cx="0" cy="31044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1410397" y="1688041"/>
            <a:ext cx="0" cy="5674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3501834" y="1687042"/>
            <a:ext cx="0" cy="567414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2934899" y="1687042"/>
            <a:ext cx="0" cy="9203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 flipV="1">
            <a:off x="4286978" y="1687042"/>
            <a:ext cx="0" cy="92034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660225" y="2612328"/>
            <a:ext cx="227362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658460" y="4352886"/>
            <a:ext cx="227362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 flipH="1">
            <a:off x="656031" y="2254456"/>
            <a:ext cx="7543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656030" y="3626326"/>
            <a:ext cx="75436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256633" y="1391798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latin typeface="Aptos Display" panose="020B0004020202020204" pitchFamily="34" charset="0"/>
                <a:cs typeface="Consolas" panose="020B0609020204030204" pitchFamily="49" charset="0"/>
              </a:rPr>
              <a:t>l1</a:t>
            </a:r>
            <a:endParaRPr lang="zh-CN" altLang="en-US" sz="14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331279" y="1388623"/>
            <a:ext cx="335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latin typeface="Aptos Display" panose="020B0004020202020204" pitchFamily="34" charset="0"/>
                <a:cs typeface="Consolas" panose="020B0609020204030204" pitchFamily="49" charset="0"/>
              </a:rPr>
              <a:t>r1</a:t>
            </a:r>
            <a:endParaRPr lang="zh-CN" altLang="en-US" sz="14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768086" y="1389235"/>
            <a:ext cx="322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l2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119304" y="1388622"/>
            <a:ext cx="335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r2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22870" y="2102462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latin typeface="Aptos Display" panose="020B0004020202020204" pitchFamily="34" charset="0"/>
                <a:cs typeface="Consolas" panose="020B0609020204030204" pitchFamily="49" charset="0"/>
              </a:rPr>
              <a:t>t1</a:t>
            </a:r>
            <a:endParaRPr lang="zh-CN" altLang="en-US" sz="1400" dirty="0"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18005" y="2460167"/>
            <a:ext cx="3337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t2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293159" y="3479070"/>
            <a:ext cx="3834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1400" dirty="0">
                <a:solidFill>
                  <a:srgbClr val="0070C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b1</a:t>
            </a:r>
            <a:endParaRPr lang="zh-CN" altLang="en-US" sz="1400" dirty="0">
              <a:solidFill>
                <a:srgbClr val="0070C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285761" y="4199377"/>
            <a:ext cx="3982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b2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455025" y="1421235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0</a:t>
            </a: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779206" y="1388622"/>
            <a:ext cx="263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x</a:t>
            </a: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390046" y="4621432"/>
            <a:ext cx="261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just">
              <a:defRPr>
                <a:solidFill>
                  <a:srgbClr val="0070C0"/>
                </a:solidFill>
              </a:defRPr>
            </a:lvl1pPr>
          </a:lstStyle>
          <a:p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y</a:t>
            </a:r>
            <a:endParaRPr lang="zh-CN" altLang="en-US" sz="1400" dirty="0">
              <a:solidFill>
                <a:schemeClr val="bg1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951079" y="4363432"/>
            <a:ext cx="3356207" cy="175827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Autofit/>
          </a:bodyPr>
          <a:lstStyle/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if(l3&lt;r3&amp;&amp;t3&lt;b3)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=(r3-l3)*(b3-t3);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ans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return 0;</a:t>
            </a:r>
          </a:p>
          <a:p>
            <a:pPr defTabSz="914400">
              <a:spcBef>
                <a:spcPts val="1000"/>
              </a:spcBef>
              <a:buSzPct val="125000"/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9086776" y="4469916"/>
            <a:ext cx="29391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Must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consider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case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where windows do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n’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 overlap:</a:t>
            </a:r>
            <a:endParaRPr lang="en-US" altLang="zh-CN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Only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calculate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area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there’s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overlap.</a:t>
            </a:r>
            <a:endParaRPr lang="en" altLang="en-US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9" grpId="0" animBg="1"/>
      <p:bldP spid="10" grpId="0" animBg="1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8612" y="1203080"/>
            <a:ext cx="4012634" cy="2127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struct </a:t>
            </a:r>
            <a:r>
              <a:rPr lang="en" altLang="en-US" sz="1600" dirty="0" err="1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typename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-US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</a:t>
            </a:r>
            <a:r>
              <a:rPr lang="e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ype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 </a:t>
            </a:r>
            <a:r>
              <a:rPr lang="e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member 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type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" altLang="en-US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member </a:t>
            </a: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2;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en" altLang="zh-CN" sz="1600" dirty="0"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4" name="内容占位符 2"/>
          <p:cNvSpPr txBox="1"/>
          <p:nvPr/>
        </p:nvSpPr>
        <p:spPr>
          <a:xfrm>
            <a:off x="5196955" y="1201475"/>
            <a:ext cx="4012634" cy="1742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struct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char name[25],no[25];</a:t>
            </a:r>
          </a:p>
          <a:p>
            <a:pPr marL="0" indent="0">
              <a:buNone/>
            </a:pP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double math,</a:t>
            </a: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english</a:t>
            </a:r>
            <a:r>
              <a:rPr lang="en-US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french</a:t>
            </a: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600" dirty="0">
                <a:latin typeface="JetBrains Mono" panose="020B0509020102050004" pitchFamily="49" charset="77"/>
                <a:cs typeface="Consolas" panose="020B0609020204030204" pitchFamily="49" charset="0"/>
              </a:rPr>
              <a:t>};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CN" sz="16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Structure: Definition</a:t>
            </a:r>
          </a:p>
        </p:txBody>
      </p:sp>
      <p:sp>
        <p:nvSpPr>
          <p:cNvPr id="8" name="矩形 7"/>
          <p:cNvSpPr/>
          <p:nvPr/>
        </p:nvSpPr>
        <p:spPr>
          <a:xfrm>
            <a:off x="1103152" y="2944034"/>
            <a:ext cx="28592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Note the final semicolon</a:t>
            </a:r>
            <a:endParaRPr lang="zh-CN" altLang="en-US" sz="16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678610" y="3960048"/>
            <a:ext cx="4157550" cy="2262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struct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tScore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char name[25],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no[25];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double math,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e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nglish</a:t>
            </a:r>
            <a:r>
              <a:rPr lang="en-US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french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student1,</a:t>
            </a:r>
            <a:r>
              <a:rPr lang="zh-CN" altLang="en-US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student2,</a:t>
            </a:r>
            <a:r>
              <a:rPr lang="zh-CN" altLang="en-US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a[100]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0" name="矩形 9"/>
          <p:cNvSpPr/>
          <p:nvPr/>
        </p:nvSpPr>
        <p:spPr>
          <a:xfrm>
            <a:off x="683421" y="3594242"/>
            <a:ext cx="3790608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variables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together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609" y="5600145"/>
            <a:ext cx="401263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 defining the struct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variables of type </a:t>
            </a:r>
            <a:r>
              <a:rPr lang="en" altLang="zh-CN" sz="16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are defined.</a:t>
            </a:r>
          </a:p>
        </p:txBody>
      </p:sp>
      <p:sp>
        <p:nvSpPr>
          <p:cNvPr id="12" name="矩形 11"/>
          <p:cNvSpPr/>
          <p:nvPr/>
        </p:nvSpPr>
        <p:spPr>
          <a:xfrm>
            <a:off x="9209589" y="1343596"/>
            <a:ext cx="26306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4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tScore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structure :</a:t>
            </a:r>
            <a:endParaRPr lang="en-US" altLang="zh-CN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char arrays represent the name and student ID, the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double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 the scores of mathematics, English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French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respectively.</a:t>
            </a:r>
          </a:p>
        </p:txBody>
      </p:sp>
      <p:sp>
        <p:nvSpPr>
          <p:cNvPr id="13" name="内容占位符 2"/>
          <p:cNvSpPr txBox="1"/>
          <p:nvPr/>
        </p:nvSpPr>
        <p:spPr>
          <a:xfrm>
            <a:off x="5196954" y="3960048"/>
            <a:ext cx="6116313" cy="2262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struct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tScore</a:t>
            </a:r>
            <a:r>
              <a:rPr lang="e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char name[25],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no[25];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double math,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chinese,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english;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tSocre student1,</a:t>
            </a:r>
            <a:r>
              <a:rPr lang="zh-CN" altLang="en-US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student2,</a:t>
            </a:r>
            <a:r>
              <a:rPr lang="zh-CN" altLang="en-US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a[100];</a:t>
            </a:r>
          </a:p>
        </p:txBody>
      </p:sp>
      <p:sp>
        <p:nvSpPr>
          <p:cNvPr id="14" name="矩形 13"/>
          <p:cNvSpPr/>
          <p:nvPr/>
        </p:nvSpPr>
        <p:spPr>
          <a:xfrm>
            <a:off x="5201765" y="3594242"/>
            <a:ext cx="3495921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buSzPct val="125000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efine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struct first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then the variable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084552" y="5191505"/>
            <a:ext cx="1871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</a:t>
            </a:r>
            <a:r>
              <a:rPr lang="zh-C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as</a:t>
            </a:r>
            <a:r>
              <a:rPr lang="zh-C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6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78612" y="1486111"/>
            <a:ext cx="6208571" cy="143148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" altLang="en-US" sz="2000" dirty="0" err="1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initiali</a:t>
            </a:r>
            <a:r>
              <a:rPr lang="en-US" altLang="zh-CN" sz="20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sing</a:t>
            </a:r>
          </a:p>
          <a:p>
            <a:pPr marL="557530" indent="-285750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Use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curly braces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</a:t>
            </a:r>
            <a:r>
              <a:rPr lang="en" altLang="en-US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imilar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to array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</a:t>
            </a:r>
          </a:p>
          <a:p>
            <a:pPr marL="557530" indent="-285750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Values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 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same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order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of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variables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definition</a:t>
            </a:r>
          </a:p>
          <a:p>
            <a:pPr marL="557530" indent="-285750">
              <a:lnSpc>
                <a:spcPct val="100000"/>
              </a:lnSpc>
              <a:spcBef>
                <a:spcPts val="600"/>
              </a:spcBef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If 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initialisers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less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than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variables,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will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padded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by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0</a:t>
            </a:r>
            <a:endParaRPr lang="zh-CN" altLang="en-US" sz="1600" dirty="0"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endParaRPr lang="zh-CN" altLang="en-US" sz="2000" dirty="0"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Structure: Use</a:t>
            </a:r>
          </a:p>
        </p:txBody>
      </p:sp>
      <p:sp>
        <p:nvSpPr>
          <p:cNvPr id="5" name="矩形 4"/>
          <p:cNvSpPr/>
          <p:nvPr/>
        </p:nvSpPr>
        <p:spPr>
          <a:xfrm>
            <a:off x="6677234" y="1655747"/>
            <a:ext cx="3741089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tScore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student1={”</a:t>
            </a:r>
            <a:r>
              <a:rPr lang="en-US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Bob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","0012",95.5,93,98};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84316" y="3363919"/>
            <a:ext cx="4995406" cy="30777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cout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&lt;&lt;student1.no&lt;&lt;" "&lt;&lt;student1.name&lt;&lt;" "&lt;&lt;student1.math;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84316" y="4214418"/>
            <a:ext cx="4835548" cy="2000291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>
              <a:lnSpc>
                <a:spcPct val="150000"/>
              </a:lnSpc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int n;</a:t>
            </a:r>
          </a:p>
          <a:p>
            <a:pPr>
              <a:lnSpc>
                <a:spcPct val="150000"/>
              </a:lnSpc>
            </a:pP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tScore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a[100];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c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n;</a:t>
            </a:r>
          </a:p>
          <a:p>
            <a:pPr>
              <a:lnSpc>
                <a:spcPct val="150000"/>
              </a:lnSpc>
            </a:pP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for(int </a:t>
            </a:r>
            <a:r>
              <a:rPr lang="en-US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&gt;=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--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for(int j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++j)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swap(a[j],</a:t>
            </a:r>
            <a:r>
              <a:rPr lang="zh-CN" altLang="en-US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a[j+1]);</a:t>
            </a:r>
            <a:endParaRPr lang="zh-CN" altLang="en-US" sz="14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8609" y="3760154"/>
            <a:ext cx="5566548" cy="4542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Struct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variables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c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an be operated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as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</a:t>
            </a:r>
            <a:r>
              <a:rPr lang="zh-C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whole</a:t>
            </a:r>
            <a:endParaRPr lang="en" altLang="en-US" sz="16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608" y="2917596"/>
            <a:ext cx="5838923" cy="3658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indent="-228600" defTabSz="914400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</a:pP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Access variables in a struct 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with</a:t>
            </a:r>
            <a:r>
              <a:rPr lang="en" altLang="en-US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the dot operator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 txBox="1"/>
          <p:nvPr/>
        </p:nvSpPr>
        <p:spPr>
          <a:xfrm>
            <a:off x="233464" y="1193295"/>
            <a:ext cx="5862535" cy="558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#include&lt;bits/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stdc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++.h&gt;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struct win{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// l: left; r: right; t: top; b: bottom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int l,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r,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t,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b;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};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win w1,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w2,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w3;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void read(win&amp; w){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</a:t>
            </a:r>
            <a:r>
              <a:rPr lang="en-US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.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l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</a:t>
            </a:r>
            <a:r>
              <a:rPr lang="en-US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.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r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</a:t>
            </a:r>
            <a:r>
              <a:rPr lang="en-US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.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t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</a:t>
            </a:r>
            <a:r>
              <a:rPr lang="en-US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.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b;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内容占位符 2"/>
          <p:cNvSpPr txBox="1"/>
          <p:nvPr/>
        </p:nvSpPr>
        <p:spPr>
          <a:xfrm>
            <a:off x="6095999" y="1185171"/>
            <a:ext cx="5862537" cy="558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ans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read(w1);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read(w2);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w3.l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max(w1.l,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w2.l);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w3.r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min(w1.r,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w2.r);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w3.t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max(w1.t,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w2.t);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w3.b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min(w1.b,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w2.b);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if(w3.l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w3.r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&amp;&amp;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w3.t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w3.b)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ans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(w3.r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-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w3.l)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(w3.b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-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w3.t);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an</a:t>
            </a:r>
            <a:r>
              <a:rPr lang="en-US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s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zh-CN" altLang="en-US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return 0;</a:t>
            </a:r>
          </a:p>
          <a:p>
            <a:pPr marL="0" indent="0">
              <a:buNone/>
            </a:pP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Overlap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ping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Windows</a:t>
            </a:r>
            <a:endParaRPr lang="en" altLang="en-US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51003" y="3150846"/>
            <a:ext cx="5439162" cy="294187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 struct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win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4 int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members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which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coordinates</a:t>
            </a:r>
            <a:endParaRPr lang="en" altLang="en-US" sz="14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044326" y="3417109"/>
            <a:ext cx="4219961" cy="7386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Define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win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type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variables , representing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input windows and the overlapping rectangle respectively</a:t>
            </a:r>
          </a:p>
        </p:txBody>
      </p:sp>
      <p:sp>
        <p:nvSpPr>
          <p:cNvPr id="10" name="矩形 9"/>
          <p:cNvSpPr/>
          <p:nvPr/>
        </p:nvSpPr>
        <p:spPr>
          <a:xfrm>
            <a:off x="651003" y="4663920"/>
            <a:ext cx="4219961" cy="7386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Argument is passed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by-reference, so the value of the argument is changed after reading the variable with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cin.</a:t>
            </a:r>
          </a:p>
        </p:txBody>
      </p:sp>
      <p:sp>
        <p:nvSpPr>
          <p:cNvPr id="11" name="矩形 10"/>
          <p:cNvSpPr/>
          <p:nvPr/>
        </p:nvSpPr>
        <p:spPr>
          <a:xfrm>
            <a:off x="9698976" y="2928608"/>
            <a:ext cx="2265394" cy="738664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Accessing member</a:t>
            </a:r>
            <a:r>
              <a:rPr lang="en-US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 a struct</a:t>
            </a:r>
            <a:r>
              <a:rPr lang="zh-C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using the dot operator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9310983" y="1989285"/>
            <a:ext cx="2412931" cy="35771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multiple arrays represent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 complex set of data (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e.g.,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grades in multiple subjects),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sorting them,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records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require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swapping each array separately.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structures to represent such complex data has obvious advantages.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271780" indent="0">
              <a:buNone/>
            </a:pP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7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 Ranking</a:t>
            </a:r>
          </a:p>
        </p:txBody>
      </p:sp>
      <p:sp>
        <p:nvSpPr>
          <p:cNvPr id="9" name="内容占位符 5"/>
          <p:cNvSpPr txBox="1"/>
          <p:nvPr/>
        </p:nvSpPr>
        <p:spPr>
          <a:xfrm>
            <a:off x="330270" y="1279283"/>
            <a:ext cx="10634658" cy="4401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the scores of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students. 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Sort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them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that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higher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ranked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first;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same,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entered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first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ranked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first</a:t>
            </a:r>
          </a:p>
        </p:txBody>
      </p:sp>
      <p:sp>
        <p:nvSpPr>
          <p:cNvPr id="12" name="矩形 11"/>
          <p:cNvSpPr/>
          <p:nvPr/>
        </p:nvSpPr>
        <p:spPr>
          <a:xfrm>
            <a:off x="328183" y="1719455"/>
            <a:ext cx="4605816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main(){</a:t>
            </a:r>
            <a:endParaRPr lang="en-US" altLang="zh-CN" sz="1200" dirty="0">
              <a:solidFill>
                <a:srgbClr val="80808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int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n,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s[310],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id[310],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j;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for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++){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s[i];</a:t>
            </a:r>
            <a:endParaRPr lang="en-US" altLang="zh-CN" sz="12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id[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for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--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++j){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bool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false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(s[j]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!=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s[j+1])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(s[j]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s[j+1]);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en-US" altLang="zh-CN" sz="12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id[j]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id[j+1];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(f){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swap(s[j],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s[j+1]);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swap(id[j],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id[j+1]);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return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3" name="矩形 2"/>
          <p:cNvSpPr/>
          <p:nvPr/>
        </p:nvSpPr>
        <p:spPr>
          <a:xfrm>
            <a:off x="3017188" y="2585649"/>
            <a:ext cx="15561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Multiple arrays</a:t>
            </a:r>
            <a:endParaRPr lang="zh-CN" altLang="en-US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89355" y="1719455"/>
            <a:ext cx="4518539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struct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score{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tot,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}s[310];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n,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j;</a:t>
            </a:r>
            <a:endParaRPr lang="en-US" altLang="zh-CN" sz="12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main(){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for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++){</a:t>
            </a:r>
            <a:endParaRPr lang="zh-CN" altLang="zh-CN" sz="12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].tot;</a:t>
            </a:r>
            <a:endParaRPr lang="en-US" altLang="zh-CN" sz="12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].id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for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1;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--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++j){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bool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false;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(s[j].tot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!=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s[j+1].tot)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(s[j].tot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s[j+1].tot);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en-US" altLang="zh-CN" sz="1200" dirty="0">
              <a:solidFill>
                <a:schemeClr val="bg1"/>
              </a:solidFill>
              <a:latin typeface="JetBrains Mono" panose="020B0509020102050004" pitchFamily="49" charset="77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s[j].id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&gt;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s[j+1].id;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(f)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swap(s[j],</a:t>
            </a: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s[j+1]);</a:t>
            </a:r>
          </a:p>
          <a:p>
            <a:pPr>
              <a:lnSpc>
                <a:spcPct val="150000"/>
              </a:lnSpc>
              <a:buNone/>
            </a:pPr>
            <a:r>
              <a:rPr lang="zh-CN" altLang="en-US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50000"/>
              </a:lnSpc>
              <a:buNone/>
            </a:pP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return </a:t>
            </a:r>
            <a:r>
              <a:rPr lang="en" altLang="zh-CN" sz="1200" dirty="0">
                <a:solidFill>
                  <a:schemeClr val="bg1"/>
                </a:solidFill>
                <a:latin typeface="JetBrains Mono" panose="020B0509020102050004" pitchFamily="49" charset="77"/>
                <a:ea typeface="微软雅黑" panose="020B0503020204020204" pitchFamily="34" charset="-122"/>
                <a:cs typeface="Consolas" panose="020B0609020204030204" pitchFamily="49" charset="0"/>
              </a:rPr>
              <a:t>0;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矩形 13"/>
          <p:cNvSpPr/>
          <p:nvPr/>
        </p:nvSpPr>
        <p:spPr>
          <a:xfrm>
            <a:off x="7088446" y="2429456"/>
            <a:ext cx="1055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Structure</a:t>
            </a:r>
            <a:endParaRPr lang="zh-CN" altLang="en-US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6" grpId="1" build="p"/>
      <p:bldP spid="12" grpId="0"/>
      <p:bldP spid="12" grpId="1"/>
      <p:bldP spid="3" grpId="0"/>
      <p:bldP spid="3" grpId="1"/>
      <p:bldP spid="13" grpId="0"/>
      <p:bldP spid="13" grpId="1"/>
      <p:bldP spid="14" grpId="0"/>
      <p:bldP spid="1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5"/>
          <p:cNvSpPr>
            <a:spLocks noGrp="1"/>
          </p:cNvSpPr>
          <p:nvPr>
            <p:ph idx="1"/>
          </p:nvPr>
        </p:nvSpPr>
        <p:spPr>
          <a:xfrm>
            <a:off x="678612" y="1486111"/>
            <a:ext cx="10368800" cy="51044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16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  <a:endParaRPr lang="en" altLang="en-US" sz="1600" b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 primary school recently received a grant and plans to use a portion of the funds to provide scholarships to the top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students. At the end of the semester, each student will be grade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in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subjects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Math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French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Students will be sorted by total score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descending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order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case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of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total score,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will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sorted by their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scores. 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being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same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smaller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will be ranked first. This way, each student's ranking is uniquely determined.</a:t>
            </a:r>
          </a:p>
          <a:p>
            <a:pPr marL="0" indent="0">
              <a:buNone/>
            </a:pP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Task: First calculate total score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based on 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subject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scores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then sort according to the above rules, and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 the student IDs and total scores of the top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students. Note that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given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of the top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are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different scholarship, so you must strictly follow the above rules.</a:t>
            </a:r>
            <a:endParaRPr lang="en-US" altLang="zh-CN" sz="1600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16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endParaRPr lang="zh-CN" altLang="en-US" sz="1600" b="1" dirty="0"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n+1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 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1st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line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contains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 positive integer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which 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 the number of students.</a:t>
            </a:r>
          </a:p>
          <a:p>
            <a:pPr marL="0" indent="0">
              <a:buNone/>
            </a:pP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Lines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n+1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 contain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numbers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separated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by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spaces,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each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between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0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100. 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numbers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line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j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represent 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Math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French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scores of student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with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j-1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Each student‘s ID is numbered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 through 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order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(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line</a:t>
            </a:r>
            <a:r>
              <a:rPr lang="zh-C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number of the input data minus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).</a:t>
            </a:r>
          </a:p>
          <a:p>
            <a:pPr marL="0" indent="0">
              <a:buNone/>
            </a:pPr>
            <a:r>
              <a:rPr lang="en-US" altLang="zh-CN" sz="1600" b="1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</a:p>
          <a:p>
            <a:pPr marL="0" indent="0">
              <a:buNone/>
            </a:pP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 lines 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 total , each contain</a:t>
            </a:r>
            <a:r>
              <a:rPr lang="en-US" altLang="zh-CN" sz="1600" dirty="0" err="1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ing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positive integers separated by spaces, representing the student </a:t>
            </a:r>
            <a:r>
              <a:rPr lang="en-US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en" altLang="en-US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total score of the top </a:t>
            </a:r>
            <a:r>
              <a:rPr lang="en" altLang="zh-CN" sz="1600" dirty="0"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5 students.</a:t>
            </a:r>
          </a:p>
        </p:txBody>
      </p:sp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76095" y="2054319"/>
            <a:ext cx="828493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std;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idx[305],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[305],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ma[305],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[305],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tot[305],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temp,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j;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++){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[i];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[i];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i+1;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8899" y="1359601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--i){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(j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j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++j){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bool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false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(tot[j]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!=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tot[j+1])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(tot[j]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tot[j+1]);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!=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[j+1])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[j+1]);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(idx[j]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[j+1]);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(large){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swap(idx[j],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[j+1]);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[j+1]);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swap(ma[j],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ma[j+1]);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[j+1]);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swap(tot[j],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tot[j+1]);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5;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++)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 ”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JetBrains Mono" panose="020B0509020102050004" pitchFamily="49" charset="77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</a:endParaRPr>
          </a:p>
        </p:txBody>
      </p:sp>
      <p:sp>
        <p:nvSpPr>
          <p:cNvPr id="9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multiple arrays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approach</a:t>
            </a:r>
            <a:endParaRPr lang="en" altLang="en-US" dirty="0"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</a:p>
        </p:txBody>
      </p:sp>
      <p:sp>
        <p:nvSpPr>
          <p:cNvPr id="3" name="矩形 2"/>
          <p:cNvSpPr/>
          <p:nvPr/>
        </p:nvSpPr>
        <p:spPr>
          <a:xfrm>
            <a:off x="10206893" y="1277223"/>
            <a:ext cx="17289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AU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arge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==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true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means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AU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records are not in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order,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and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need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swapping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Note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must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2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initiali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se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to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false each time it enters the loop</a:t>
            </a:r>
            <a:endParaRPr lang="zh-CN" altLang="en-US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206894" y="3602430"/>
            <a:ext cx="172894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Perform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swapping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when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needed</a:t>
            </a:r>
            <a:endParaRPr lang="zh-CN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421289" y="2782669"/>
            <a:ext cx="239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need to create an array for the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Maths,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French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and total score</a:t>
            </a:r>
            <a:endParaRPr lang="en-US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9" grpId="0" build="p"/>
      <p:bldP spid="3" grpId="0"/>
      <p:bldP spid="3" grpId="1"/>
      <p:bldP spid="4" grpId="0"/>
      <p:bldP spid="4" grpId="1"/>
      <p:bldP spid="2" grpId="0"/>
      <p:bldP spid="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085139" y="1618494"/>
            <a:ext cx="6096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-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1;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--i){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(j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j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++j){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bool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false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(s[j].tot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!=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s[j+1].tot)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(s[j].tot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s[j+1].tot);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(s[j].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!=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s[j+1].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[j].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s[j+1].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ch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else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large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(s[j].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s[j+1].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);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if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(large)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swap(s[j],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s[j+1]);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5;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++)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cout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“ ”</a:t>
            </a:r>
            <a:r>
              <a:rPr lang="zh-CN" altLang="en-US" sz="1400" dirty="0">
                <a:solidFill>
                  <a:srgbClr val="0000FF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].tot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endl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return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9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The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struct</a:t>
            </a:r>
            <a:r>
              <a:rPr lang="zh-C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approach</a:t>
            </a:r>
            <a:endParaRPr lang="en" altLang="en-US" dirty="0">
              <a:latin typeface="Aptos Display" panose="020B0004020202020204" pitchFamily="34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</a:t>
            </a:r>
            <a:r>
              <a:rPr lang="zh-C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</a:p>
        </p:txBody>
      </p:sp>
      <p:sp>
        <p:nvSpPr>
          <p:cNvPr id="3" name="矩形 2"/>
          <p:cNvSpPr/>
          <p:nvPr/>
        </p:nvSpPr>
        <p:spPr>
          <a:xfrm>
            <a:off x="9790160" y="1369556"/>
            <a:ext cx="17971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l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arge ==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true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not in order and need swapping. Note that it must be initialised to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false each time it enters the loop</a:t>
            </a:r>
            <a:endParaRPr lang="zh-CN" altLang="en-US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90160" y="3637688"/>
            <a:ext cx="18774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If a swap is required, perform the swap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on the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struct</a:t>
            </a:r>
            <a:endParaRPr lang="zh-CN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6161" y="2083715"/>
            <a:ext cx="600396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#include&lt;bits/stdc++.h&gt;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using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namespace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std;</a:t>
            </a:r>
            <a:endParaRPr lang="en-US" altLang="zh-CN" sz="1400" dirty="0">
              <a:solidFill>
                <a:srgbClr val="000000"/>
              </a:solidFill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struct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tScore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tot;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}s[305];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n,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,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j;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80808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int</a:t>
            </a:r>
            <a:r>
              <a:rPr lang="en" altLang="zh-CN" sz="1400" dirty="0"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main(){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6699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for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0;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&lt;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n;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++){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    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cin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].ma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&gt;&gt;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].tot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en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].ma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+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-US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fr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      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s[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].</a:t>
            </a:r>
            <a:r>
              <a:rPr lang="en" altLang="zh-CN" sz="1400" dirty="0" err="1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idx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i+1;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400" dirty="0">
                <a:solidFill>
                  <a:srgbClr val="C7254E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    </a:t>
            </a:r>
            <a:r>
              <a:rPr lang="en" altLang="zh-CN" sz="1400" dirty="0">
                <a:solidFill>
                  <a:srgbClr val="000000"/>
                </a:solidFill>
                <a:latin typeface="JetBrains Mono" panose="020B0509020102050004" pitchFamily="49" charset="77"/>
                <a:cs typeface="Consolas" panose="020B0609020204030204" pitchFamily="49" charset="0"/>
              </a:rPr>
              <a:t>}</a:t>
            </a:r>
            <a:endParaRPr lang="zh-CN" altLang="zh-CN" sz="1400" dirty="0">
              <a:latin typeface="JetBrains Mono" panose="020B0509020102050004" pitchFamily="49" charset="77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25980" y="2056719"/>
            <a:ext cx="20138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Combine the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student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English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Maths,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French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and total score into a structure. When sorting, if you need to swap, do it to the whole structure.</a:t>
            </a:r>
            <a:endParaRPr lang="zh-CN" altLang="zh-CN" sz="1200" dirty="0">
              <a:solidFill>
                <a:srgbClr val="FF0000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3" grpId="0"/>
      <p:bldP spid="3" grpId="1"/>
      <p:bldP spid="4" grpId="0"/>
      <p:bldP spid="4" grpId="1"/>
      <p:bldP spid="10" grpId="0"/>
      <p:bldP spid="10" grpId="1"/>
      <p:bldP spid="11" grpId="0"/>
      <p:bldP spid="11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en-US" dirty="0"/>
              <a:t>Thank you everyone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Teacher Gao's Algorithm Competition Training Camp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600" dirty="0">
                <a:latin typeface="+mj-ea"/>
                <a:ea typeface="+mj-ea"/>
              </a:rPr>
              <a:t>Note: Please turn off your microphone and camera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Calculating freight by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stages</a:t>
            </a:r>
          </a:p>
        </p:txBody>
      </p:sp>
      <p:sp>
        <p:nvSpPr>
          <p:cNvPr id="9" name="矩形 8"/>
          <p:cNvSpPr/>
          <p:nvPr/>
        </p:nvSpPr>
        <p:spPr>
          <a:xfrm>
            <a:off x="678609" y="1303212"/>
            <a:ext cx="868582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Problem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transport company implements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staged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charging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scheme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For a shipment of weight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w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, the basic freight rate is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$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p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/km/ton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with a discount of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The distance is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m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. 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Discount depend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 on the mileage stage </a:t>
            </a:r>
            <a:r>
              <a:rPr lang="en" altLang="zh-CN" sz="1400" i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, as shown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below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610035"/>
              </p:ext>
            </p:extLst>
          </p:nvPr>
        </p:nvGraphicFramePr>
        <p:xfrm>
          <a:off x="678609" y="2352765"/>
          <a:ext cx="3700351" cy="15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0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5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3190">
                <a:tc>
                  <a:txBody>
                    <a:bodyPr/>
                    <a:lstStyle/>
                    <a:p>
                      <a:pPr algn="l"/>
                      <a:r>
                        <a:rPr lang="e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Stage mileage </a:t>
                      </a:r>
                      <a:r>
                        <a:rPr lang="en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 </a:t>
                      </a:r>
                      <a:r>
                        <a:rPr lang="e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km)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s&lt;250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No discounts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250≤s&lt;500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2% </a:t>
                      </a:r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500≤s&lt;1000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 </a:t>
                      </a:r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1000≤s&lt;2000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8% </a:t>
                      </a:r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3190">
                <a:tc>
                  <a:txBody>
                    <a:bodyPr/>
                    <a:lstStyle/>
                    <a:p>
                      <a:r>
                        <a:rPr lang="e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2000≤s&lt;3000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 </a:t>
                      </a:r>
                      <a:r>
                        <a:rPr lang="en" altLang="en-US" sz="120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3000≤s</a:t>
                      </a:r>
                    </a:p>
                  </a:txBody>
                  <a:tcPr marL="19050" marR="19050" marT="19050" marB="19050" anchor="ctr"/>
                </a:tc>
                <a:tc>
                  <a:txBody>
                    <a:bodyPr/>
                    <a:lstStyle/>
                    <a:p>
                      <a:r>
                        <a:rPr lang="en" altLang="zh-CN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15% </a:t>
                      </a:r>
                      <a:r>
                        <a:rPr lang="en" altLang="en-US" sz="12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discount</a:t>
                      </a:r>
                    </a:p>
                  </a:txBody>
                  <a:tcPr marL="19050" marR="19050" marT="19050" marB="190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 Display" panose="020B00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78608" y="4052429"/>
            <a:ext cx="9938592" cy="25237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Input</a:t>
            </a:r>
            <a:endParaRPr lang="en" altLang="en-US" sz="1600" b="1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Three positive integers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w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and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m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separated by a space, representing the basic freight rate per kilometer per ton, weight (in tons), and mileage (in kilometers), respectively. 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Where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 ≤ 100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w ≤ 100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and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m ≤ 100,000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6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Output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Output a line containing an integer representing the integer part of the shipping fee after rounding off the decimal part.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Sample input: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15 10 700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Sample output: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102750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Sample input: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17 9 100000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b="1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Sample output: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13041720</a:t>
            </a:r>
            <a:endParaRPr lang="zh-CN" altLang="en-US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471316" y="2349086"/>
            <a:ext cx="433421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(freight)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at each stage is: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w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(1-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d)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For example, when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p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w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and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m are 15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10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and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700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respectively , the freight calculation process is: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15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250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(1-0)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15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(500-250)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(1-2%)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15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(700-500)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*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(1-5%)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f1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f2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+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f3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=</a:t>
            </a:r>
            <a:r>
              <a:rPr lang="zh-CN" altLang="en-US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" altLang="zh-CN" sz="14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102750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Write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a program to calculate the total freight cost f 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Calculating freight by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stages</a:t>
            </a:r>
          </a:p>
        </p:txBody>
      </p:sp>
      <p:sp>
        <p:nvSpPr>
          <p:cNvPr id="13" name="内容占位符 2"/>
          <p:cNvSpPr txBox="1"/>
          <p:nvPr/>
        </p:nvSpPr>
        <p:spPr>
          <a:xfrm>
            <a:off x="3871993" y="1206515"/>
            <a:ext cx="3996935" cy="55415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1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  <a:endParaRPr lang="zh-CN" altLang="zh-CN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1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1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1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1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 p,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w,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m,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s=0,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d,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f,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f1;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 &gt;&gt;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m;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p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w;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US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endParaRPr lang="en-AU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endParaRPr lang="en-AU" altLang="zh-CN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fixed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100" dirty="0" err="1">
                <a:latin typeface="Consolas" panose="020B0609020204030204" pitchFamily="49" charset="0"/>
                <a:cs typeface="Consolas" panose="020B0609020204030204" pitchFamily="49" charset="0"/>
              </a:rPr>
              <a:t>setprecision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 (0)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1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f;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1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en" altLang="zh-CN" sz="11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矩形 7"/>
          <p:cNvSpPr/>
          <p:nvPr/>
        </p:nvSpPr>
        <p:spPr>
          <a:xfrm>
            <a:off x="678609" y="1200024"/>
            <a:ext cx="2887256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</a:t>
            </a:r>
            <a:r>
              <a:rPr lang="en" altLang="en-US" sz="1600" dirty="0" err="1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naly</a:t>
            </a:r>
            <a:r>
              <a:rPr lang="en-US" altLang="zh-CN" sz="16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sis</a:t>
            </a: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The discounts are different for each section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Once it is determined that freight charges for a certain stage are to be added, the calculation method for freight charges for this stage is fixed.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The natural way of thinking is to determine whether the mileage exceeds the first stage, the second stage,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...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, and the sixth stage in turn. If it exceeds, add the freight for that stage.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pPr marL="177800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For the situation that exceeds the previous stage but does not exceed the current stage, the freight for the excess part is calculated separately and added</a:t>
            </a:r>
            <a:endParaRPr lang="zh-CN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010592" y="2312462"/>
            <a:ext cx="242959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0.02;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(500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0.05;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(1000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1-0.08;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(m-1000)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(2000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d=1-0.1;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(m&lt;3000)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(3000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1-0.15;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3000)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endParaRPr lang="en-AU" altLang="zh-CN" sz="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6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13">
            <a:extLst>
              <a:ext uri="{FF2B5EF4-FFF2-40B4-BE49-F238E27FC236}">
                <a16:creationId xmlns:a16="http://schemas.microsoft.com/office/drawing/2014/main" id="{5B0CEE46-282E-73EB-CE61-DD9C185148A2}"/>
              </a:ext>
            </a:extLst>
          </p:cNvPr>
          <p:cNvSpPr/>
          <p:nvPr/>
        </p:nvSpPr>
        <p:spPr>
          <a:xfrm>
            <a:off x="6276064" y="1140447"/>
            <a:ext cx="4970485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0.02;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(500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0.05;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(1000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1-0.08;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(m-1000)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(2000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d=1-0.1;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(m&lt;3000)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12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(3000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2000)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1-0.15;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3000)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d;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endParaRPr lang="en-AU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Calculating freight by </a:t>
            </a:r>
            <a:r>
              <a:rPr lang="en-US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stages</a:t>
            </a:r>
          </a:p>
        </p:txBody>
      </p:sp>
      <p:sp>
        <p:nvSpPr>
          <p:cNvPr id="11" name="内容占位符 2"/>
          <p:cNvSpPr txBox="1"/>
          <p:nvPr/>
        </p:nvSpPr>
        <p:spPr>
          <a:xfrm>
            <a:off x="1036734" y="2121315"/>
            <a:ext cx="9296874" cy="39703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rgbClr val="808080"/>
                </a:solidFill>
              </a:rPr>
              <a:t>#include &lt;bits/stdc++.h&gt;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dirty="0">
                <a:solidFill>
                  <a:srgbClr val="006699"/>
                </a:solidFill>
              </a:rPr>
              <a:t>using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6699"/>
                </a:solidFill>
              </a:rPr>
              <a:t>namespace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0000"/>
                </a:solidFill>
              </a:rPr>
              <a:t>std;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dirty="0">
                <a:solidFill>
                  <a:srgbClr val="808080"/>
                </a:solidFill>
              </a:rPr>
              <a:t>int </a:t>
            </a:r>
            <a:r>
              <a:rPr lang="en" altLang="zh-CN" dirty="0"/>
              <a:t>a[6]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{0,</a:t>
            </a:r>
            <a:r>
              <a:rPr lang="zh-CN" altLang="en-US" dirty="0"/>
              <a:t> </a:t>
            </a:r>
            <a:r>
              <a:rPr lang="en" altLang="zh-CN" dirty="0"/>
              <a:t>250,</a:t>
            </a:r>
            <a:r>
              <a:rPr lang="zh-CN" altLang="en-US" dirty="0"/>
              <a:t> </a:t>
            </a:r>
            <a:r>
              <a:rPr lang="en" altLang="zh-CN" dirty="0"/>
              <a:t>500,</a:t>
            </a:r>
            <a:r>
              <a:rPr lang="zh-CN" altLang="en-US" dirty="0"/>
              <a:t> </a:t>
            </a:r>
            <a:r>
              <a:rPr lang="en" altLang="zh-CN" dirty="0"/>
              <a:t>1000,</a:t>
            </a:r>
            <a:r>
              <a:rPr lang="zh-CN" altLang="en-US" dirty="0"/>
              <a:t> </a:t>
            </a:r>
            <a:r>
              <a:rPr lang="en" altLang="zh-CN" dirty="0"/>
              <a:t>2000,</a:t>
            </a:r>
            <a:r>
              <a:rPr lang="zh-CN" altLang="en-US" dirty="0"/>
              <a:t> </a:t>
            </a:r>
            <a:r>
              <a:rPr lang="en" altLang="zh-CN" dirty="0"/>
              <a:t>3000};</a:t>
            </a:r>
          </a:p>
          <a:p>
            <a:r>
              <a:rPr lang="en" altLang="zh-CN" dirty="0">
                <a:solidFill>
                  <a:srgbClr val="808080"/>
                </a:solidFill>
              </a:rPr>
              <a:t>int </a:t>
            </a:r>
            <a:r>
              <a:rPr lang="en" altLang="zh-CN" dirty="0"/>
              <a:t>b[6]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{250,</a:t>
            </a:r>
            <a:r>
              <a:rPr lang="zh-CN" altLang="en-US" dirty="0"/>
              <a:t> </a:t>
            </a:r>
            <a:r>
              <a:rPr lang="en" altLang="zh-CN" dirty="0"/>
              <a:t>500,</a:t>
            </a:r>
            <a:r>
              <a:rPr lang="zh-CN" altLang="en-US" dirty="0"/>
              <a:t> </a:t>
            </a:r>
            <a:r>
              <a:rPr lang="en" altLang="zh-CN" dirty="0"/>
              <a:t>1000,</a:t>
            </a:r>
            <a:r>
              <a:rPr lang="zh-CN" altLang="en-US" dirty="0"/>
              <a:t> </a:t>
            </a:r>
            <a:r>
              <a:rPr lang="en" altLang="zh-CN" dirty="0"/>
              <a:t>2000,</a:t>
            </a:r>
            <a:r>
              <a:rPr lang="zh-CN" altLang="en-US" dirty="0"/>
              <a:t> </a:t>
            </a:r>
            <a:r>
              <a:rPr lang="en" altLang="zh-CN" dirty="0"/>
              <a:t>3000,</a:t>
            </a:r>
            <a:r>
              <a:rPr lang="zh-CN" altLang="en-US" dirty="0"/>
              <a:t> </a:t>
            </a:r>
            <a:r>
              <a:rPr lang="en" altLang="zh-CN" dirty="0"/>
              <a:t>100000};</a:t>
            </a:r>
          </a:p>
          <a:p>
            <a:r>
              <a:rPr lang="en" altLang="zh-CN" dirty="0">
                <a:solidFill>
                  <a:srgbClr val="808080"/>
                </a:solidFill>
              </a:rPr>
              <a:t>int </a:t>
            </a:r>
            <a:r>
              <a:rPr lang="en" altLang="zh-CN" dirty="0"/>
              <a:t>d[6]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{100, 98, 95, 92, 90, 85};</a:t>
            </a:r>
          </a:p>
          <a:p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0000"/>
                </a:solidFill>
              </a:rPr>
              <a:t>main(){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p,</a:t>
            </a:r>
            <a:r>
              <a:rPr lang="zh-CN" altLang="en-US" dirty="0"/>
              <a:t> </a:t>
            </a:r>
            <a:r>
              <a:rPr lang="en" altLang="zh-CN" dirty="0"/>
              <a:t>w,</a:t>
            </a:r>
            <a:r>
              <a:rPr lang="zh-CN" altLang="en-US" dirty="0"/>
              <a:t> </a:t>
            </a:r>
            <a:r>
              <a:rPr lang="en" altLang="zh-CN" dirty="0"/>
              <a:t>m;</a:t>
            </a:r>
          </a:p>
          <a:p>
            <a:r>
              <a:rPr lang="en" altLang="zh-CN" dirty="0"/>
              <a:t>    </a:t>
            </a:r>
            <a:r>
              <a:rPr lang="en" altLang="zh-CN" dirty="0" err="1"/>
              <a:t>cin</a:t>
            </a:r>
            <a:r>
              <a:rPr lang="en" altLang="zh-CN" dirty="0"/>
              <a:t> &gt;&gt;</a:t>
            </a:r>
            <a:r>
              <a:rPr lang="zh-CN" altLang="en-US" dirty="0"/>
              <a:t> </a:t>
            </a:r>
            <a:r>
              <a:rPr lang="en" altLang="zh-CN" dirty="0"/>
              <a:t>p</a:t>
            </a:r>
            <a:r>
              <a:rPr lang="zh-CN" altLang="en-US" dirty="0"/>
              <a:t> </a:t>
            </a:r>
            <a:r>
              <a:rPr lang="en" altLang="zh-CN" dirty="0"/>
              <a:t>&gt;&gt;</a:t>
            </a:r>
            <a:r>
              <a:rPr lang="zh-CN" altLang="en-US" dirty="0"/>
              <a:t> </a:t>
            </a:r>
            <a:r>
              <a:rPr lang="en" altLang="zh-CN" dirty="0"/>
              <a:t>w</a:t>
            </a:r>
            <a:r>
              <a:rPr lang="zh-CN" altLang="en-US" dirty="0"/>
              <a:t> </a:t>
            </a:r>
            <a:r>
              <a:rPr lang="en" altLang="zh-CN" dirty="0"/>
              <a:t>&gt;&gt;</a:t>
            </a:r>
            <a:r>
              <a:rPr lang="zh-CN" altLang="en-US" dirty="0"/>
              <a:t> </a:t>
            </a:r>
            <a:r>
              <a:rPr lang="en" altLang="zh-CN" dirty="0"/>
              <a:t>m;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808080"/>
                </a:solidFill>
              </a:rPr>
              <a:t>long</a:t>
            </a:r>
            <a:r>
              <a:rPr lang="en" altLang="zh-CN" dirty="0"/>
              <a:t> </a:t>
            </a:r>
            <a:r>
              <a:rPr lang="en" altLang="zh-CN" dirty="0">
                <a:solidFill>
                  <a:srgbClr val="808080"/>
                </a:solidFill>
              </a:rPr>
              <a:t>long </a:t>
            </a:r>
            <a:r>
              <a:rPr lang="en" altLang="zh-CN" dirty="0"/>
              <a:t>f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0,</a:t>
            </a:r>
            <a:r>
              <a:rPr lang="zh-CN" altLang="en-US" dirty="0"/>
              <a:t> </a:t>
            </a:r>
            <a:r>
              <a:rPr lang="en" altLang="zh-CN" dirty="0"/>
              <a:t>f1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p*w,</a:t>
            </a:r>
            <a:r>
              <a:rPr lang="zh-CN" altLang="en-US" dirty="0"/>
              <a:t> </a:t>
            </a:r>
            <a:r>
              <a:rPr lang="en" altLang="zh-CN" dirty="0"/>
              <a:t>s;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006699"/>
                </a:solidFill>
              </a:rPr>
              <a:t>for </a:t>
            </a:r>
            <a:r>
              <a:rPr lang="en" altLang="zh-CN" dirty="0"/>
              <a:t>(</a:t>
            </a:r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</a:t>
            </a:r>
            <a:r>
              <a:rPr lang="en" altLang="zh-CN" dirty="0" err="1"/>
              <a:t>i</a:t>
            </a:r>
            <a:r>
              <a:rPr lang="en" altLang="zh-CN" dirty="0"/>
              <a:t> =</a:t>
            </a:r>
            <a:r>
              <a:rPr lang="zh-CN" altLang="en-US" dirty="0"/>
              <a:t> </a:t>
            </a:r>
            <a:r>
              <a:rPr lang="en" altLang="zh-CN" dirty="0"/>
              <a:t>0;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" altLang="zh-CN" dirty="0"/>
              <a:t>&lt;</a:t>
            </a:r>
            <a:r>
              <a:rPr lang="zh-CN" altLang="en-US" dirty="0"/>
              <a:t> </a:t>
            </a:r>
            <a:r>
              <a:rPr lang="en" altLang="zh-CN" dirty="0"/>
              <a:t>6;</a:t>
            </a:r>
            <a:r>
              <a:rPr lang="zh-CN" altLang="en-US" dirty="0"/>
              <a:t> </a:t>
            </a:r>
            <a:r>
              <a:rPr lang="en" altLang="zh-CN" dirty="0"/>
              <a:t>++ </a:t>
            </a:r>
            <a:r>
              <a:rPr lang="en" altLang="zh-CN" dirty="0" err="1"/>
              <a:t>i</a:t>
            </a:r>
            <a:r>
              <a:rPr lang="en" altLang="zh-CN" dirty="0"/>
              <a:t>)</a:t>
            </a:r>
          </a:p>
          <a:p>
            <a:r>
              <a:rPr lang="en" altLang="zh-CN" dirty="0"/>
              <a:t>        </a:t>
            </a:r>
            <a:r>
              <a:rPr lang="en" altLang="zh-CN" dirty="0">
                <a:solidFill>
                  <a:srgbClr val="006699"/>
                </a:solidFill>
              </a:rPr>
              <a:t>if </a:t>
            </a:r>
            <a:r>
              <a:rPr lang="en" altLang="zh-CN" dirty="0"/>
              <a:t>(a[</a:t>
            </a:r>
            <a:r>
              <a:rPr lang="en" altLang="zh-CN" dirty="0" err="1"/>
              <a:t>i</a:t>
            </a:r>
            <a:r>
              <a:rPr lang="en" altLang="zh-CN" dirty="0"/>
              <a:t>]</a:t>
            </a:r>
            <a:r>
              <a:rPr lang="zh-CN" altLang="en-US" dirty="0"/>
              <a:t> </a:t>
            </a:r>
            <a:r>
              <a:rPr lang="en" altLang="zh-CN" dirty="0"/>
              <a:t>&lt;=</a:t>
            </a:r>
            <a:r>
              <a:rPr lang="zh-CN" altLang="en-US" dirty="0"/>
              <a:t> </a:t>
            </a:r>
            <a:r>
              <a:rPr lang="en" altLang="zh-CN" dirty="0"/>
              <a:t>m){</a:t>
            </a:r>
          </a:p>
          <a:p>
            <a:r>
              <a:rPr lang="zh-CN" altLang="en-US" dirty="0"/>
              <a:t>            </a:t>
            </a:r>
            <a:r>
              <a:rPr lang="en" altLang="zh-CN" dirty="0"/>
              <a:t>s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f1</a:t>
            </a:r>
            <a:r>
              <a:rPr lang="zh-CN" altLang="en-US" dirty="0"/>
              <a:t> </a:t>
            </a:r>
            <a:r>
              <a:rPr lang="en" altLang="zh-CN" dirty="0"/>
              <a:t>*</a:t>
            </a:r>
            <a:r>
              <a:rPr lang="zh-CN" altLang="en-US" dirty="0"/>
              <a:t> </a:t>
            </a:r>
            <a:r>
              <a:rPr lang="en" altLang="zh-CN" dirty="0"/>
              <a:t>(min(m,</a:t>
            </a:r>
            <a:r>
              <a:rPr lang="zh-CN" altLang="en-US" dirty="0"/>
              <a:t> </a:t>
            </a:r>
            <a:r>
              <a:rPr lang="en" altLang="zh-CN" dirty="0"/>
              <a:t>b[</a:t>
            </a:r>
            <a:r>
              <a:rPr lang="en" altLang="zh-CN" dirty="0" err="1"/>
              <a:t>i</a:t>
            </a:r>
            <a:r>
              <a:rPr lang="en" altLang="zh-CN" dirty="0"/>
              <a:t>])</a:t>
            </a:r>
            <a:r>
              <a:rPr lang="zh-CN" altLang="en-US" dirty="0"/>
              <a:t> </a:t>
            </a:r>
            <a:r>
              <a:rPr lang="en" altLang="zh-CN" dirty="0"/>
              <a:t>-</a:t>
            </a:r>
            <a:r>
              <a:rPr lang="zh-CN" altLang="en-US" dirty="0"/>
              <a:t> </a:t>
            </a:r>
            <a:r>
              <a:rPr lang="en" altLang="zh-CN" dirty="0"/>
              <a:t>a[</a:t>
            </a:r>
            <a:r>
              <a:rPr lang="en" altLang="zh-CN" dirty="0" err="1"/>
              <a:t>i</a:t>
            </a:r>
            <a:r>
              <a:rPr lang="en" altLang="zh-CN" dirty="0"/>
              <a:t>])</a:t>
            </a:r>
            <a:r>
              <a:rPr lang="zh-CN" altLang="en-US" dirty="0"/>
              <a:t> </a:t>
            </a:r>
            <a:r>
              <a:rPr lang="en" altLang="zh-CN" dirty="0"/>
              <a:t>*</a:t>
            </a:r>
            <a:r>
              <a:rPr lang="zh-CN" altLang="en-US" dirty="0"/>
              <a:t> </a:t>
            </a:r>
            <a:r>
              <a:rPr lang="en" altLang="zh-CN" dirty="0"/>
              <a:t>d[</a:t>
            </a:r>
            <a:r>
              <a:rPr lang="en" altLang="zh-CN" dirty="0" err="1"/>
              <a:t>i</a:t>
            </a:r>
            <a:r>
              <a:rPr lang="en" altLang="zh-CN" dirty="0"/>
              <a:t>];</a:t>
            </a:r>
          </a:p>
          <a:p>
            <a:endParaRPr lang="en-US" altLang="zh-CN" dirty="0"/>
          </a:p>
          <a:p>
            <a:r>
              <a:rPr lang="zh-CN" altLang="en-US" dirty="0"/>
              <a:t>            </a:t>
            </a:r>
            <a:r>
              <a:rPr lang="en" altLang="zh-CN" dirty="0"/>
              <a:t>f+=s;</a:t>
            </a:r>
          </a:p>
          <a:p>
            <a:r>
              <a:rPr lang="zh-CN" altLang="en-US" dirty="0"/>
              <a:t>        </a:t>
            </a:r>
            <a:r>
              <a:rPr lang="en" altLang="zh-CN" dirty="0"/>
              <a:t>}</a:t>
            </a:r>
          </a:p>
          <a:p>
            <a:r>
              <a:rPr lang="en" altLang="zh-CN" dirty="0"/>
              <a:t>    </a:t>
            </a:r>
            <a:r>
              <a:rPr lang="en" altLang="zh-CN" dirty="0" err="1"/>
              <a:t>cout</a:t>
            </a:r>
            <a:r>
              <a:rPr lang="en" altLang="zh-CN" dirty="0"/>
              <a:t> &lt;&lt;</a:t>
            </a:r>
            <a:r>
              <a:rPr lang="zh-CN" altLang="en-US" dirty="0"/>
              <a:t> </a:t>
            </a:r>
            <a:r>
              <a:rPr lang="en" altLang="zh-CN" dirty="0"/>
              <a:t>fixed</a:t>
            </a:r>
            <a:r>
              <a:rPr lang="zh-CN" altLang="en-US" dirty="0"/>
              <a:t> </a:t>
            </a:r>
            <a:r>
              <a:rPr lang="en" altLang="zh-CN" dirty="0"/>
              <a:t>&lt;&lt; </a:t>
            </a:r>
            <a:r>
              <a:rPr lang="en" altLang="zh-CN" dirty="0" err="1"/>
              <a:t>setprecision</a:t>
            </a:r>
            <a:r>
              <a:rPr lang="en" altLang="zh-CN" dirty="0"/>
              <a:t> (0)</a:t>
            </a:r>
            <a:r>
              <a:rPr lang="zh-CN" altLang="en-US" dirty="0"/>
              <a:t> </a:t>
            </a:r>
            <a:r>
              <a:rPr lang="en" altLang="zh-CN" dirty="0"/>
              <a:t>&lt;&lt;</a:t>
            </a:r>
            <a:r>
              <a:rPr lang="zh-CN" altLang="en-US" dirty="0"/>
              <a:t> </a:t>
            </a:r>
            <a:r>
              <a:rPr lang="en" altLang="zh-CN" dirty="0"/>
              <a:t>f/100.0;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006699"/>
                </a:solidFill>
              </a:rPr>
              <a:t>return </a:t>
            </a:r>
            <a:r>
              <a:rPr lang="en" altLang="zh-CN" dirty="0"/>
              <a:t>0;</a:t>
            </a:r>
          </a:p>
          <a:p>
            <a:r>
              <a:rPr lang="en" altLang="zh-CN" dirty="0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1036734" y="1284829"/>
            <a:ext cx="615788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It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was</a:t>
            </a:r>
            <a:r>
              <a:rPr lang="zh-C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repeat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ed </a:t>
            </a:r>
            <a:r>
              <a:rPr lang="en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5 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times</a:t>
            </a:r>
            <a:r>
              <a:rPr lang="en-US" altLang="zh-CN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:</a:t>
            </a:r>
            <a:r>
              <a:rPr lang="en" altLang="en-US" sz="14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 "Does the distance exceed the upper limit of a certain stage?", "Yes, so what? No, so what?"</a:t>
            </a:r>
            <a:endParaRPr lang="en-US" altLang="zh-CN" sz="14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</a:endParaRPr>
          </a:p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</a:rPr>
              <a:t>Repetitive tasks can be solved with loops</a:t>
            </a:r>
            <a:endParaRPr lang="zh-CN" altLang="en-US" sz="14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08137" y="4683693"/>
            <a:ext cx="96785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 ”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“*(”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min(m,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b[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“-”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“)*”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d[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“=&gt;”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200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en-US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68672" y="4416594"/>
            <a:ext cx="239873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Use </a:t>
            </a:r>
            <a:r>
              <a:rPr lang="en" altLang="zh-CN" sz="1400" dirty="0" err="1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cout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to debug the program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2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Calculating freight by </a:t>
            </a:r>
            <a:r>
              <a:rPr lang="en-US" altLang="zh-CN" sz="400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stages</a:t>
            </a:r>
            <a:endParaRPr lang="en-US" altLang="zh-CN" sz="4000" dirty="0">
              <a:solidFill>
                <a:schemeClr val="bg1"/>
              </a:solidFill>
              <a:latin typeface="Aptos Display" panose="020B0004020202020204" pitchFamily="34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678608" y="1647036"/>
            <a:ext cx="10634659" cy="397031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CN" dirty="0">
                <a:solidFill>
                  <a:srgbClr val="808080"/>
                </a:solidFill>
              </a:rPr>
              <a:t>#include &lt;bits/stdc++.h&gt;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dirty="0">
                <a:solidFill>
                  <a:srgbClr val="006699"/>
                </a:solidFill>
              </a:rPr>
              <a:t>using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6699"/>
                </a:solidFill>
              </a:rPr>
              <a:t>namespace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0000"/>
                </a:solidFill>
              </a:rPr>
              <a:t>std;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en" altLang="zh-CN" dirty="0">
                <a:solidFill>
                  <a:srgbClr val="808080"/>
                </a:solidFill>
              </a:rPr>
              <a:t>struct </a:t>
            </a:r>
            <a:r>
              <a:rPr lang="en" altLang="zh-CN" dirty="0"/>
              <a:t>ss{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a,</a:t>
            </a:r>
            <a:r>
              <a:rPr lang="zh-CN" altLang="en-US" dirty="0"/>
              <a:t> </a:t>
            </a:r>
            <a:r>
              <a:rPr lang="en" altLang="zh-CN" dirty="0"/>
              <a:t>b,</a:t>
            </a:r>
            <a:r>
              <a:rPr lang="zh-CN" altLang="en-US" dirty="0"/>
              <a:t> </a:t>
            </a:r>
            <a:r>
              <a:rPr lang="en" altLang="zh-CN" dirty="0"/>
              <a:t>d;</a:t>
            </a:r>
          </a:p>
          <a:p>
            <a:r>
              <a:rPr lang="en" altLang="zh-CN" dirty="0"/>
              <a:t>}</a:t>
            </a:r>
            <a:r>
              <a:rPr lang="en" altLang="zh-CN" dirty="0" err="1"/>
              <a:t>ph</a:t>
            </a:r>
            <a:r>
              <a:rPr lang="en" altLang="zh-CN" dirty="0"/>
              <a:t>[6]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{{0,250,100},</a:t>
            </a:r>
            <a:r>
              <a:rPr lang="zh-CN" altLang="en-US" dirty="0"/>
              <a:t> </a:t>
            </a:r>
            <a:r>
              <a:rPr lang="en" altLang="zh-CN" dirty="0"/>
              <a:t>{250,500,98},</a:t>
            </a:r>
            <a:r>
              <a:rPr lang="zh-CN" altLang="en-US" dirty="0"/>
              <a:t> </a:t>
            </a:r>
            <a:r>
              <a:rPr lang="en" altLang="zh-CN" dirty="0"/>
              <a:t>{500,1000,95},</a:t>
            </a:r>
            <a:r>
              <a:rPr lang="zh-CN" altLang="en-US" dirty="0"/>
              <a:t> </a:t>
            </a:r>
            <a:r>
              <a:rPr lang="en" altLang="zh-CN" dirty="0"/>
              <a:t>{1000,2000,92},</a:t>
            </a:r>
            <a:r>
              <a:rPr lang="zh-CN" altLang="en-US" dirty="0"/>
              <a:t> </a:t>
            </a:r>
            <a:r>
              <a:rPr lang="en" altLang="zh-CN" dirty="0"/>
              <a:t>{2000,3000,90},</a:t>
            </a:r>
            <a:r>
              <a:rPr lang="zh-CN" altLang="en-US" dirty="0"/>
              <a:t> </a:t>
            </a:r>
            <a:r>
              <a:rPr lang="en" altLang="zh-CN" dirty="0"/>
              <a:t>{3000,100000,85}};</a:t>
            </a:r>
          </a:p>
          <a:p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>
                <a:solidFill>
                  <a:schemeClr val="tx1"/>
                </a:solidFill>
              </a:rPr>
              <a:t> </a:t>
            </a:r>
            <a:r>
              <a:rPr lang="en" altLang="zh-CN" dirty="0">
                <a:solidFill>
                  <a:srgbClr val="000000"/>
                </a:solidFill>
              </a:rPr>
              <a:t>main(){</a:t>
            </a:r>
            <a:endParaRPr lang="zh-CN" altLang="zh-CN" dirty="0">
              <a:solidFill>
                <a:schemeClr val="tx1"/>
              </a:solidFill>
            </a:endParaRP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p,</a:t>
            </a:r>
            <a:r>
              <a:rPr lang="zh-CN" altLang="en-US" dirty="0"/>
              <a:t> </a:t>
            </a:r>
            <a:r>
              <a:rPr lang="en" altLang="zh-CN" dirty="0"/>
              <a:t>w,</a:t>
            </a:r>
            <a:r>
              <a:rPr lang="zh-CN" altLang="en-US" dirty="0"/>
              <a:t> </a:t>
            </a:r>
            <a:r>
              <a:rPr lang="en" altLang="zh-CN" dirty="0"/>
              <a:t>m;</a:t>
            </a:r>
          </a:p>
          <a:p>
            <a:r>
              <a:rPr lang="en" altLang="zh-CN" dirty="0"/>
              <a:t>    </a:t>
            </a:r>
            <a:r>
              <a:rPr lang="en" altLang="zh-CN" dirty="0" err="1"/>
              <a:t>cin</a:t>
            </a:r>
            <a:r>
              <a:rPr lang="en" altLang="zh-CN" dirty="0"/>
              <a:t> &gt;&gt;</a:t>
            </a:r>
            <a:r>
              <a:rPr lang="zh-CN" altLang="en-US" dirty="0"/>
              <a:t> </a:t>
            </a:r>
            <a:r>
              <a:rPr lang="en" altLang="zh-CN" dirty="0"/>
              <a:t>p</a:t>
            </a:r>
            <a:r>
              <a:rPr lang="zh-CN" altLang="en-US" dirty="0"/>
              <a:t> </a:t>
            </a:r>
            <a:r>
              <a:rPr lang="en" altLang="zh-CN" dirty="0"/>
              <a:t>&gt;&gt;</a:t>
            </a:r>
            <a:r>
              <a:rPr lang="zh-CN" altLang="en-US" dirty="0"/>
              <a:t> </a:t>
            </a:r>
            <a:r>
              <a:rPr lang="en" altLang="zh-CN" dirty="0"/>
              <a:t>w</a:t>
            </a:r>
            <a:r>
              <a:rPr lang="zh-CN" altLang="en-US" dirty="0"/>
              <a:t> </a:t>
            </a:r>
            <a:r>
              <a:rPr lang="en" altLang="zh-CN" dirty="0"/>
              <a:t>&gt;&gt;</a:t>
            </a:r>
            <a:r>
              <a:rPr lang="zh-CN" altLang="en-US" dirty="0"/>
              <a:t> </a:t>
            </a:r>
            <a:r>
              <a:rPr lang="en" altLang="zh-CN" dirty="0"/>
              <a:t>m;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808080"/>
                </a:solidFill>
              </a:rPr>
              <a:t>long</a:t>
            </a:r>
            <a:r>
              <a:rPr lang="en" altLang="zh-CN" dirty="0"/>
              <a:t> </a:t>
            </a:r>
            <a:r>
              <a:rPr lang="en" altLang="zh-CN" dirty="0">
                <a:solidFill>
                  <a:srgbClr val="808080"/>
                </a:solidFill>
              </a:rPr>
              <a:t>long </a:t>
            </a:r>
            <a:r>
              <a:rPr lang="en" altLang="zh-CN" dirty="0"/>
              <a:t>f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0,f1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p*w,</a:t>
            </a:r>
            <a:r>
              <a:rPr lang="zh-CN" altLang="en-US" dirty="0"/>
              <a:t> </a:t>
            </a:r>
            <a:r>
              <a:rPr lang="en" altLang="zh-CN" dirty="0"/>
              <a:t>s;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006699"/>
                </a:solidFill>
              </a:rPr>
              <a:t>for </a:t>
            </a:r>
            <a:r>
              <a:rPr lang="en" altLang="zh-CN" dirty="0"/>
              <a:t>(</a:t>
            </a:r>
            <a:r>
              <a:rPr lang="en" altLang="zh-CN" dirty="0">
                <a:solidFill>
                  <a:srgbClr val="808080"/>
                </a:solidFill>
              </a:rPr>
              <a:t>int</a:t>
            </a:r>
            <a:r>
              <a:rPr lang="en" altLang="zh-CN" dirty="0"/>
              <a:t> </a:t>
            </a:r>
            <a:r>
              <a:rPr lang="en" altLang="zh-CN" dirty="0" err="1"/>
              <a:t>i</a:t>
            </a:r>
            <a:r>
              <a:rPr lang="en" altLang="zh-CN" dirty="0"/>
              <a:t> =</a:t>
            </a:r>
            <a:r>
              <a:rPr lang="zh-CN" altLang="en-US" dirty="0"/>
              <a:t> </a:t>
            </a:r>
            <a:r>
              <a:rPr lang="en" altLang="zh-CN" dirty="0"/>
              <a:t>0;</a:t>
            </a:r>
            <a:r>
              <a:rPr lang="zh-CN" altLang="en-US" dirty="0"/>
              <a:t> </a:t>
            </a:r>
            <a:r>
              <a:rPr lang="en-AU" altLang="zh-CN" dirty="0"/>
              <a:t>I</a:t>
            </a:r>
            <a:r>
              <a:rPr lang="zh-CN" altLang="en-US" dirty="0"/>
              <a:t> </a:t>
            </a:r>
            <a:r>
              <a:rPr lang="en" altLang="zh-CN" dirty="0"/>
              <a:t>&lt;</a:t>
            </a:r>
            <a:r>
              <a:rPr lang="zh-CN" altLang="en-US" dirty="0"/>
              <a:t> </a:t>
            </a:r>
            <a:r>
              <a:rPr lang="en" altLang="zh-CN" dirty="0"/>
              <a:t>6;</a:t>
            </a:r>
            <a:r>
              <a:rPr lang="zh-CN" altLang="en-US" dirty="0"/>
              <a:t> </a:t>
            </a:r>
            <a:r>
              <a:rPr lang="en" altLang="zh-CN" dirty="0"/>
              <a:t>++ </a:t>
            </a:r>
            <a:r>
              <a:rPr lang="en" altLang="zh-CN" dirty="0" err="1"/>
              <a:t>i</a:t>
            </a:r>
            <a:r>
              <a:rPr lang="en" altLang="zh-CN" dirty="0"/>
              <a:t>)</a:t>
            </a:r>
          </a:p>
          <a:p>
            <a:r>
              <a:rPr lang="en" altLang="zh-CN" dirty="0"/>
              <a:t>        </a:t>
            </a:r>
            <a:r>
              <a:rPr lang="en" altLang="zh-CN" dirty="0">
                <a:solidFill>
                  <a:srgbClr val="006699"/>
                </a:solidFill>
              </a:rPr>
              <a:t>if </a:t>
            </a:r>
            <a:r>
              <a:rPr lang="en" altLang="zh-CN" dirty="0"/>
              <a:t>(</a:t>
            </a:r>
            <a:r>
              <a:rPr lang="en" altLang="zh-CN" dirty="0" err="1"/>
              <a:t>ph</a:t>
            </a:r>
            <a:r>
              <a:rPr lang="en" altLang="zh-CN" dirty="0"/>
              <a:t>[</a:t>
            </a:r>
            <a:r>
              <a:rPr lang="en" altLang="zh-CN" dirty="0" err="1"/>
              <a:t>i</a:t>
            </a:r>
            <a:r>
              <a:rPr lang="en" altLang="zh-CN" dirty="0"/>
              <a:t>].a</a:t>
            </a:r>
            <a:r>
              <a:rPr lang="zh-CN" altLang="en-US" dirty="0"/>
              <a:t> </a:t>
            </a:r>
            <a:r>
              <a:rPr lang="en" altLang="zh-CN" dirty="0"/>
              <a:t>&lt;=</a:t>
            </a:r>
            <a:r>
              <a:rPr lang="zh-CN" altLang="en-US" dirty="0"/>
              <a:t> </a:t>
            </a:r>
            <a:r>
              <a:rPr lang="en" altLang="zh-CN" dirty="0"/>
              <a:t>m){</a:t>
            </a:r>
          </a:p>
          <a:p>
            <a:r>
              <a:rPr lang="zh-CN" altLang="en-US" dirty="0"/>
              <a:t>            </a:t>
            </a:r>
            <a:r>
              <a:rPr lang="en" altLang="zh-CN" dirty="0"/>
              <a:t>s</a:t>
            </a:r>
            <a:r>
              <a:rPr lang="zh-CN" altLang="en-US" dirty="0"/>
              <a:t> </a:t>
            </a:r>
            <a:r>
              <a:rPr lang="en" altLang="zh-CN" dirty="0"/>
              <a:t>=</a:t>
            </a:r>
            <a:r>
              <a:rPr lang="zh-CN" altLang="en-US" dirty="0"/>
              <a:t> </a:t>
            </a:r>
            <a:r>
              <a:rPr lang="en" altLang="zh-CN" dirty="0"/>
              <a:t>f1</a:t>
            </a:r>
            <a:r>
              <a:rPr lang="zh-CN" altLang="en-US" dirty="0"/>
              <a:t>  </a:t>
            </a:r>
            <a:r>
              <a:rPr lang="en" altLang="zh-CN" dirty="0"/>
              <a:t>*(min(m,</a:t>
            </a:r>
            <a:r>
              <a:rPr lang="zh-CN" altLang="en-US" dirty="0"/>
              <a:t> </a:t>
            </a:r>
            <a:r>
              <a:rPr lang="en" altLang="zh-CN" dirty="0" err="1"/>
              <a:t>ph</a:t>
            </a:r>
            <a:r>
              <a:rPr lang="en" altLang="zh-CN" dirty="0"/>
              <a:t>[ </a:t>
            </a:r>
            <a:r>
              <a:rPr lang="en" altLang="zh-CN" dirty="0" err="1"/>
              <a:t>i</a:t>
            </a:r>
            <a:r>
              <a:rPr lang="en" altLang="zh-CN" dirty="0"/>
              <a:t> ].b)</a:t>
            </a:r>
            <a:r>
              <a:rPr lang="zh-CN" altLang="en-US" dirty="0"/>
              <a:t> </a:t>
            </a:r>
            <a:r>
              <a:rPr lang="en" altLang="zh-CN" dirty="0"/>
              <a:t>- </a:t>
            </a:r>
            <a:r>
              <a:rPr lang="en" altLang="zh-CN" dirty="0" err="1"/>
              <a:t>ph</a:t>
            </a:r>
            <a:r>
              <a:rPr lang="en" altLang="zh-CN" dirty="0"/>
              <a:t>[</a:t>
            </a:r>
            <a:r>
              <a:rPr lang="en" altLang="zh-CN" dirty="0" err="1"/>
              <a:t>i</a:t>
            </a:r>
            <a:r>
              <a:rPr lang="en" altLang="zh-CN" dirty="0"/>
              <a:t>].a)</a:t>
            </a:r>
            <a:r>
              <a:rPr lang="zh-CN" altLang="en-US" dirty="0"/>
              <a:t> </a:t>
            </a:r>
            <a:r>
              <a:rPr lang="en" altLang="zh-CN" dirty="0"/>
              <a:t>* </a:t>
            </a:r>
            <a:r>
              <a:rPr lang="en" altLang="zh-CN" dirty="0" err="1"/>
              <a:t>ph</a:t>
            </a:r>
            <a:r>
              <a:rPr lang="en" altLang="zh-CN" dirty="0"/>
              <a:t>[</a:t>
            </a:r>
            <a:r>
              <a:rPr lang="en" altLang="zh-CN" dirty="0" err="1"/>
              <a:t>i</a:t>
            </a:r>
            <a:r>
              <a:rPr lang="en" altLang="zh-CN" dirty="0"/>
              <a:t>].d;</a:t>
            </a:r>
          </a:p>
          <a:p>
            <a:r>
              <a:rPr lang="en" altLang="zh-CN" dirty="0"/>
              <a:t>            </a:t>
            </a:r>
            <a:r>
              <a:rPr lang="en" altLang="zh-CN" sz="1200" dirty="0" err="1"/>
              <a:t>cout</a:t>
            </a:r>
            <a:r>
              <a:rPr lang="en" altLang="zh-CN" sz="1200" dirty="0"/>
              <a:t> &lt;&lt; </a:t>
            </a:r>
            <a:r>
              <a:rPr lang="en" altLang="zh-CN" sz="1200" dirty="0" err="1"/>
              <a:t>i</a:t>
            </a:r>
            <a:r>
              <a:rPr lang="en" altLang="zh-CN" sz="1200" dirty="0"/>
              <a:t> &lt;&lt;</a:t>
            </a:r>
            <a:r>
              <a:rPr lang="zh-CN" altLang="en-US" sz="1200" dirty="0"/>
              <a:t> </a:t>
            </a:r>
            <a:r>
              <a:rPr lang="en" altLang="zh-CN" sz="1200" dirty="0"/>
              <a:t>“ </a:t>
            </a:r>
            <a:r>
              <a:rPr lang="zh-CN" altLang="en-US" sz="1200" dirty="0"/>
              <a:t> </a:t>
            </a:r>
            <a:r>
              <a:rPr lang="en" altLang="zh-CN" sz="1200" dirty="0"/>
              <a:t>”</a:t>
            </a:r>
            <a:r>
              <a:rPr lang="zh-CN" altLang="en-US" sz="1200" dirty="0"/>
              <a:t> </a:t>
            </a:r>
            <a:r>
              <a:rPr lang="en" altLang="zh-CN" sz="1200" dirty="0"/>
              <a:t>&lt;&lt;</a:t>
            </a:r>
            <a:r>
              <a:rPr lang="zh-CN" altLang="en-US" sz="1200" dirty="0"/>
              <a:t> </a:t>
            </a:r>
            <a:r>
              <a:rPr lang="en" altLang="zh-CN" sz="1200" dirty="0"/>
              <a:t>f1</a:t>
            </a:r>
            <a:r>
              <a:rPr lang="zh-CN" altLang="en-US" sz="1200" dirty="0"/>
              <a:t> </a:t>
            </a:r>
            <a:r>
              <a:rPr lang="en" altLang="zh-CN" sz="1200" dirty="0"/>
              <a:t>&lt;&lt;</a:t>
            </a:r>
            <a:r>
              <a:rPr lang="zh-CN" altLang="en-US" sz="1200" dirty="0"/>
              <a:t> </a:t>
            </a:r>
            <a:r>
              <a:rPr lang="en-US" altLang="zh-CN" sz="1200" dirty="0"/>
              <a:t>“</a:t>
            </a:r>
            <a:r>
              <a:rPr lang="en" altLang="zh-CN" sz="1200" dirty="0"/>
              <a:t>*(</a:t>
            </a:r>
            <a:r>
              <a:rPr lang="en-US" altLang="zh-CN" sz="1200" dirty="0"/>
              <a:t>”</a:t>
            </a:r>
            <a:r>
              <a:rPr lang="zh-CN" altLang="en-US" sz="1200" dirty="0"/>
              <a:t> </a:t>
            </a:r>
            <a:r>
              <a:rPr lang="en" altLang="zh-CN" sz="1200" dirty="0"/>
              <a:t>&lt;&lt;</a:t>
            </a:r>
            <a:r>
              <a:rPr lang="zh-CN" altLang="en-US" sz="1200" dirty="0"/>
              <a:t> </a:t>
            </a:r>
            <a:r>
              <a:rPr lang="en" altLang="zh-CN" sz="1200" dirty="0"/>
              <a:t>min(m,</a:t>
            </a:r>
            <a:r>
              <a:rPr lang="zh-CN" altLang="en-US" sz="1200" dirty="0"/>
              <a:t> </a:t>
            </a:r>
            <a:r>
              <a:rPr lang="en" altLang="zh-CN" sz="1200" dirty="0" err="1"/>
              <a:t>ph</a:t>
            </a:r>
            <a:r>
              <a:rPr lang="en" altLang="zh-CN" sz="1200" dirty="0"/>
              <a:t>[</a:t>
            </a:r>
            <a:r>
              <a:rPr lang="en" altLang="zh-CN" sz="1200" dirty="0" err="1"/>
              <a:t>i</a:t>
            </a:r>
            <a:r>
              <a:rPr lang="en" altLang="zh-CN" sz="1200" dirty="0"/>
              <a:t>].b)</a:t>
            </a:r>
            <a:r>
              <a:rPr lang="zh-CN" altLang="en-US" sz="1200" dirty="0"/>
              <a:t> </a:t>
            </a:r>
            <a:r>
              <a:rPr lang="en" altLang="zh-CN" sz="1200" dirty="0"/>
              <a:t>&lt;&lt;</a:t>
            </a:r>
            <a:r>
              <a:rPr lang="zh-CN" altLang="en-US" sz="1200" dirty="0"/>
              <a:t> </a:t>
            </a:r>
            <a:r>
              <a:rPr lang="en" altLang="zh-CN" sz="1200" dirty="0"/>
              <a:t>“-”</a:t>
            </a:r>
            <a:r>
              <a:rPr lang="zh-CN" altLang="en-US" sz="1200" dirty="0"/>
              <a:t> </a:t>
            </a:r>
            <a:r>
              <a:rPr lang="en" altLang="zh-CN" sz="1200" dirty="0"/>
              <a:t>&lt;&lt; </a:t>
            </a:r>
            <a:r>
              <a:rPr lang="en" altLang="zh-CN" sz="1200" dirty="0" err="1"/>
              <a:t>ph</a:t>
            </a:r>
            <a:r>
              <a:rPr lang="en" altLang="zh-CN" sz="1200" dirty="0"/>
              <a:t>[</a:t>
            </a:r>
            <a:r>
              <a:rPr lang="en" altLang="zh-CN" sz="1200" dirty="0" err="1"/>
              <a:t>i</a:t>
            </a:r>
            <a:r>
              <a:rPr lang="en" altLang="zh-CN" sz="1200" dirty="0"/>
              <a:t>].a</a:t>
            </a:r>
            <a:r>
              <a:rPr lang="zh-CN" altLang="en-US" sz="1200" dirty="0"/>
              <a:t> </a:t>
            </a:r>
            <a:r>
              <a:rPr lang="en" altLang="zh-CN" sz="1200" dirty="0"/>
              <a:t>&lt;&lt;</a:t>
            </a:r>
            <a:r>
              <a:rPr lang="zh-CN" altLang="en-US" sz="1200" dirty="0"/>
              <a:t> </a:t>
            </a:r>
            <a:r>
              <a:rPr lang="en-US" altLang="zh-CN" sz="1200" dirty="0"/>
              <a:t>“</a:t>
            </a:r>
            <a:r>
              <a:rPr lang="en" altLang="zh-CN" sz="1200" dirty="0"/>
              <a:t>)*</a:t>
            </a:r>
            <a:r>
              <a:rPr lang="en-US" altLang="zh-CN" sz="1200" dirty="0"/>
              <a:t>”</a:t>
            </a:r>
            <a:r>
              <a:rPr lang="zh-CN" altLang="en-US" sz="1200" dirty="0"/>
              <a:t> </a:t>
            </a:r>
            <a:r>
              <a:rPr lang="en" altLang="zh-CN" sz="1200" dirty="0"/>
              <a:t>&lt;&lt; </a:t>
            </a:r>
            <a:r>
              <a:rPr lang="en" altLang="zh-CN" sz="1200" dirty="0" err="1"/>
              <a:t>ph</a:t>
            </a:r>
            <a:r>
              <a:rPr lang="en" altLang="zh-CN" sz="1200" dirty="0"/>
              <a:t>[</a:t>
            </a:r>
            <a:r>
              <a:rPr lang="en" altLang="zh-CN" sz="1200" dirty="0" err="1"/>
              <a:t>i</a:t>
            </a:r>
            <a:r>
              <a:rPr lang="en" altLang="zh-CN" sz="1200" dirty="0"/>
              <a:t>].d</a:t>
            </a:r>
            <a:r>
              <a:rPr lang="zh-CN" altLang="en-US" sz="1200" dirty="0"/>
              <a:t> </a:t>
            </a:r>
            <a:r>
              <a:rPr lang="en" altLang="zh-CN" sz="1200" dirty="0"/>
              <a:t>&lt;&lt;</a:t>
            </a:r>
            <a:r>
              <a:rPr lang="zh-CN" altLang="en-US" sz="1200" dirty="0"/>
              <a:t> </a:t>
            </a:r>
            <a:r>
              <a:rPr lang="en" altLang="zh-CN" sz="1200" dirty="0"/>
              <a:t>“=&gt;”</a:t>
            </a:r>
            <a:r>
              <a:rPr lang="zh-CN" altLang="en-US" sz="1200" dirty="0"/>
              <a:t> </a:t>
            </a:r>
            <a:r>
              <a:rPr lang="en" altLang="zh-CN" sz="1200" dirty="0"/>
              <a:t>&lt;&lt;</a:t>
            </a:r>
            <a:r>
              <a:rPr lang="zh-CN" altLang="en-US" sz="1200" dirty="0"/>
              <a:t> </a:t>
            </a:r>
            <a:r>
              <a:rPr lang="en" altLang="zh-CN" sz="1200" dirty="0"/>
              <a:t>s</a:t>
            </a:r>
            <a:r>
              <a:rPr lang="zh-CN" altLang="en-US" sz="1200" dirty="0"/>
              <a:t> </a:t>
            </a:r>
            <a:r>
              <a:rPr lang="en" altLang="zh-CN" sz="1200" dirty="0"/>
              <a:t>&lt;&lt; </a:t>
            </a:r>
            <a:r>
              <a:rPr lang="en" altLang="zh-CN" sz="1200" dirty="0" err="1"/>
              <a:t>endl</a:t>
            </a:r>
            <a:r>
              <a:rPr lang="en" altLang="zh-CN" sz="1200" dirty="0"/>
              <a:t>;</a:t>
            </a:r>
          </a:p>
          <a:p>
            <a:r>
              <a:rPr lang="zh-CN" altLang="en-US" dirty="0"/>
              <a:t>            </a:t>
            </a:r>
            <a:r>
              <a:rPr lang="en" altLang="zh-CN" dirty="0"/>
              <a:t>f+=s;</a:t>
            </a:r>
          </a:p>
          <a:p>
            <a:r>
              <a:rPr lang="zh-CN" altLang="en-US" dirty="0"/>
              <a:t>        </a:t>
            </a:r>
            <a:r>
              <a:rPr lang="en" altLang="zh-CN" dirty="0"/>
              <a:t>}</a:t>
            </a:r>
          </a:p>
          <a:p>
            <a:r>
              <a:rPr lang="en" altLang="zh-CN" dirty="0"/>
              <a:t>    </a:t>
            </a:r>
            <a:r>
              <a:rPr lang="en" altLang="zh-CN" dirty="0" err="1"/>
              <a:t>cout</a:t>
            </a:r>
            <a:r>
              <a:rPr lang="en" altLang="zh-CN" dirty="0"/>
              <a:t> &lt;&lt;</a:t>
            </a:r>
            <a:r>
              <a:rPr lang="zh-CN" altLang="en-US" dirty="0"/>
              <a:t> </a:t>
            </a:r>
            <a:r>
              <a:rPr lang="en" altLang="zh-CN" dirty="0"/>
              <a:t>fixed</a:t>
            </a:r>
            <a:r>
              <a:rPr lang="zh-CN" altLang="en-US" dirty="0"/>
              <a:t> </a:t>
            </a:r>
            <a:r>
              <a:rPr lang="en" altLang="zh-CN" dirty="0"/>
              <a:t>&lt;&lt; </a:t>
            </a:r>
            <a:r>
              <a:rPr lang="en" altLang="zh-CN" dirty="0" err="1"/>
              <a:t>setprecision</a:t>
            </a:r>
            <a:r>
              <a:rPr lang="en" altLang="zh-CN" dirty="0"/>
              <a:t> (0)</a:t>
            </a:r>
            <a:r>
              <a:rPr lang="zh-CN" altLang="en-US" dirty="0"/>
              <a:t> </a:t>
            </a:r>
            <a:r>
              <a:rPr lang="en" altLang="zh-CN" dirty="0"/>
              <a:t>&lt;&lt;</a:t>
            </a:r>
            <a:r>
              <a:rPr lang="zh-CN" altLang="en-US" dirty="0"/>
              <a:t> </a:t>
            </a:r>
            <a:r>
              <a:rPr lang="en" altLang="zh-CN" dirty="0"/>
              <a:t>f/100.0;</a:t>
            </a:r>
          </a:p>
          <a:p>
            <a:r>
              <a:rPr lang="en" altLang="zh-CN" dirty="0"/>
              <a:t>    </a:t>
            </a:r>
            <a:r>
              <a:rPr lang="en" altLang="zh-CN" dirty="0">
                <a:solidFill>
                  <a:srgbClr val="006699"/>
                </a:solidFill>
              </a:rPr>
              <a:t>return </a:t>
            </a:r>
            <a:r>
              <a:rPr lang="en" altLang="zh-CN" dirty="0"/>
              <a:t>0;</a:t>
            </a:r>
          </a:p>
          <a:p>
            <a:r>
              <a:rPr lang="en" altLang="zh-CN" dirty="0"/>
              <a:t>}</a:t>
            </a:r>
          </a:p>
        </p:txBody>
      </p:sp>
      <p:sp>
        <p:nvSpPr>
          <p:cNvPr id="12" name="矩形 11"/>
          <p:cNvSpPr/>
          <p:nvPr/>
        </p:nvSpPr>
        <p:spPr>
          <a:xfrm>
            <a:off x="678608" y="1339259"/>
            <a:ext cx="378392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You can use structures instead of </a:t>
            </a:r>
            <a:r>
              <a:rPr lang="en" altLang="zh-CN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3 </a:t>
            </a:r>
            <a:r>
              <a:rPr lang="en" altLang="en-US" sz="1400" dirty="0">
                <a:solidFill>
                  <a:srgbClr val="FF0000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arrays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6162" y="2083715"/>
            <a:ext cx="558367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struct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tScore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s[305];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tScore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s1, tScore s2){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(s1.tot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s2.tot)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s1.tot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s2.tot;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(s1.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s1.idx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s2.idx;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52162" y="2083715"/>
            <a:ext cx="55836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++){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&gt;&gt;s[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].ma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].tot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].ma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i+1;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</a:t>
            </a:r>
            <a:r>
              <a:rPr lang="zh-CN" altLang="en-US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sort(s,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s+n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AU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 </a:t>
            </a:r>
            <a:r>
              <a:rPr lang="e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“ ”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tot[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</a:t>
            </a:r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endl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en" altLang="zh-CN" sz="1600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内容占位符 5"/>
          <p:cNvSpPr>
            <a:spLocks noGrp="1"/>
          </p:cNvSpPr>
          <p:nvPr>
            <p:ph idx="1"/>
          </p:nvPr>
        </p:nvSpPr>
        <p:spPr>
          <a:xfrm>
            <a:off x="256162" y="1359601"/>
            <a:ext cx="5839838" cy="517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structure </a:t>
            </a:r>
            <a:r>
              <a:rPr lang="en" altLang="zh-CN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+ </a:t>
            </a:r>
            <a:r>
              <a:rPr lang="en" altLang="en-US" dirty="0">
                <a:latin typeface="Aptos Display" panose="020B0004020202020204" pitchFamily="34" charset="0"/>
                <a:ea typeface="微软雅黑" panose="020B0503020204020204" pitchFamily="34" charset="-122"/>
                <a:cs typeface="Courier New" panose="02070309020205020404" pitchFamily="49" charset="0"/>
              </a:rPr>
              <a:t>sorting function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Example Question </a:t>
            </a:r>
            <a:r>
              <a:rPr lang="en" altLang="zh-CN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- </a:t>
            </a:r>
            <a:r>
              <a:rPr lang="en" altLang="en-US" sz="4000" dirty="0">
                <a:solidFill>
                  <a:schemeClr val="bg1"/>
                </a:solidFill>
                <a:latin typeface="Aptos Display" panose="020B0004020202020204" pitchFamily="34" charset="0"/>
                <a:ea typeface="微软雅黑" panose="020B0503020204020204" pitchFamily="34" charset="-122"/>
                <a:cs typeface="Consolas" panose="020B0609020204030204" pitchFamily="49" charset="0"/>
              </a:rPr>
              <a:t>Scholarship</a:t>
            </a:r>
          </a:p>
        </p:txBody>
      </p:sp>
      <p:sp>
        <p:nvSpPr>
          <p:cNvPr id="2" name="矩形 1"/>
          <p:cNvSpPr/>
          <p:nvPr/>
        </p:nvSpPr>
        <p:spPr>
          <a:xfrm>
            <a:off x="3739662" y="2421403"/>
            <a:ext cx="20138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Combine the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student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ID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,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English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, Maths,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French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and total score into a structure. When sorting, if you need to swap, do it to the whole structure.</a:t>
            </a:r>
            <a:endParaRPr lang="zh-CN" altLang="zh-CN" sz="12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39663" y="3899163"/>
            <a:ext cx="194275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Determines whether s1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and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s2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are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AU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already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in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order.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If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yes</a:t>
            </a:r>
            <a:r>
              <a:rPr lang="zh-C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return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 true; </a:t>
            </a: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otherwise, </a:t>
            </a:r>
            <a:r>
              <a:rPr lang="en" altLang="zh-CN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returns false.</a:t>
            </a:r>
            <a:endParaRPr lang="zh-CN" altLang="en-US" sz="1200" dirty="0">
              <a:solidFill>
                <a:srgbClr val="FF0000"/>
              </a:solidFill>
              <a:latin typeface="Aptos Display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394443" y="3760663"/>
            <a:ext cx="187164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" altLang="en-US" sz="1200" dirty="0">
                <a:solidFill>
                  <a:srgbClr val="FF0000"/>
                </a:solidFill>
                <a:latin typeface="Aptos Display" panose="020B0004020202020204" pitchFamily="34" charset="0"/>
                <a:cs typeface="Consolas" panose="020B0609020204030204" pitchFamily="49" charset="0"/>
              </a:rPr>
              <a:t>Calling the sort function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1069</TotalTime>
  <Words>4132</Words>
  <Application>Microsoft Office PowerPoint</Application>
  <PresentationFormat>Widescreen</PresentationFormat>
  <Paragraphs>456</Paragraphs>
  <Slides>15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电路</vt:lpstr>
      <vt:lpstr>NOIP Language Basics (12)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everyone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Bryan Sun</cp:lastModifiedBy>
  <cp:revision>344</cp:revision>
  <dcterms:created xsi:type="dcterms:W3CDTF">2018-08-09T00:16:00Z</dcterms:created>
  <dcterms:modified xsi:type="dcterms:W3CDTF">2026-10-18T02:09:46Z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9CCE0B31C1154CA7A4FB1F24B9171C33</vt:lpwstr>
  </property>
  <property fmtid="{D5CDD505-2E9C-101B-9397-08002B2CF9AE}" pid="3" name="KSOProductBuildVer">
    <vt:lpwstr>2052-11.1.0.11045</vt:lpwstr>
  </property>
</Properties>
</file>