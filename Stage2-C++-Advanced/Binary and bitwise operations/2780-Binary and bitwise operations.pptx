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341" r:id="rId3"/>
    <p:sldId id="473" r:id="rId4"/>
    <p:sldId id="470" r:id="rId5"/>
    <p:sldId id="362" r:id="rId6"/>
    <p:sldId id="637" r:id="rId7"/>
    <p:sldId id="433" r:id="rId8"/>
    <p:sldId id="347" r:id="rId9"/>
    <p:sldId id="350" r:id="rId10"/>
    <p:sldId id="640" r:id="rId11"/>
    <p:sldId id="647" r:id="rId12"/>
    <p:sldId id="351" r:id="rId13"/>
    <p:sldId id="352" r:id="rId14"/>
    <p:sldId id="639" r:id="rId15"/>
    <p:sldId id="654" r:id="rId16"/>
    <p:sldId id="652" r:id="rId17"/>
    <p:sldId id="641" r:id="rId18"/>
    <p:sldId id="642" r:id="rId19"/>
    <p:sldId id="651" r:id="rId20"/>
    <p:sldId id="649" r:id="rId21"/>
    <p:sldId id="650" r:id="rId22"/>
    <p:sldId id="638" r:id="rId23"/>
    <p:sldId id="437" r:id="rId24"/>
    <p:sldId id="648" r:id="rId25"/>
    <p:sldId id="434" r:id="rId26"/>
    <p:sldId id="435" r:id="rId27"/>
    <p:sldId id="643" r:id="rId28"/>
    <p:sldId id="644" r:id="rId29"/>
    <p:sldId id="645" r:id="rId30"/>
    <p:sldId id="646" r:id="rId31"/>
    <p:sldId id="261" r:id="rId3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65" autoAdjust="0"/>
    <p:restoredTop sz="97382" autoAdjust="0"/>
  </p:normalViewPr>
  <p:slideViewPr>
    <p:cSldViewPr snapToGrid="0">
      <p:cViewPr varScale="1">
        <p:scale>
          <a:sx n="163" d="100"/>
          <a:sy n="163" d="100"/>
        </p:scale>
        <p:origin x="20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35878-66A0-4244-95BC-EDB144338379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7CF2-2E72-4FB1-8C21-6F6F78E75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0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97CF2-2E72-4FB1-8C21-6F6F78E7573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80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9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7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NOIP </a:t>
            </a:r>
            <a:r>
              <a:rPr lang="en" altLang="en-US" dirty="0"/>
              <a:t>Language Fundamentals (</a:t>
            </a:r>
            <a:r>
              <a:rPr lang="en-US" altLang="zh-CN" dirty="0"/>
              <a:t>13</a:t>
            </a:r>
            <a:r>
              <a:rPr lang="en" altLang="en-US" dirty="0"/>
              <a:t>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Binary and bitwise operations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00000" y="6120000"/>
            <a:ext cx="27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"/>
            </a:defPPr>
            <a:lvl1pPr algn="r">
              <a:defRPr sz="1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en-US"/>
              <a:t>Mr</a:t>
            </a:r>
            <a:r>
              <a:rPr lang="en" altLang="en-US"/>
              <a:t> </a:t>
            </a:r>
            <a:r>
              <a:rPr lang="en" altLang="en-US" dirty="0"/>
              <a:t>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en" altLang="en-US" sz="4000" cap="none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Computer number systems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609" y="1489575"/>
            <a:ext cx="7983946" cy="472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Decimal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Ten digits: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0~9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base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10 for counting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;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binary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Two digits: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0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and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base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 for counting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;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Octal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Eight digits: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0~7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base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8 for counting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;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hexadecimal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Sixteen digits: </a:t>
            </a:r>
            <a:r>
              <a:rPr lang="en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0~9 </a:t>
            </a: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</a:t>
            </a:r>
            <a:r>
              <a:rPr lang="en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A~F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base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16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;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AU" altLang="zh-CN" sz="1800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Weights</a:t>
            </a:r>
            <a:endParaRPr lang="en-US" altLang="zh-CN" sz="1800" u="sng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Also called “place values”, </a:t>
            </a: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it </a:t>
            </a:r>
            <a:r>
              <a:rPr lang="en-US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means</a:t>
            </a: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the </a:t>
            </a:r>
            <a:r>
              <a:rPr lang="en-US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value</a:t>
            </a:r>
            <a:r>
              <a:rPr lang="zh-C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represented by </a:t>
            </a:r>
            <a:r>
              <a:rPr lang="en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 </a:t>
            </a:r>
            <a:r>
              <a:rPr lang="e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 a certain place</a:t>
            </a:r>
            <a:r>
              <a:rPr lang="zh-C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</a:t>
            </a:r>
            <a:r>
              <a:rPr lang="zh-C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the</a:t>
            </a:r>
            <a:r>
              <a:rPr lang="zh-CN" altLang="en-US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number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;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E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xample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in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d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ecimal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number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123, the 1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 the hundreds place has a weight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100, the 2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 the tens place has a weight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10, and the 3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 the ones place has a weight of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.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0" indent="0">
              <a:buNone/>
            </a:pPr>
            <a:endParaRPr lang="zh-CN" altLang="en-US" dirty="0">
              <a:latin typeface="Aptos Display" panose="020B00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9EC699-2257-7DD5-727B-EC7B3387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051" y="1489572"/>
            <a:ext cx="1151358" cy="12289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B1C2CE2-8587-9238-370B-FFB7E8711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89572"/>
            <a:ext cx="3659659" cy="2728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E47922-9BD5-0A8E-EAE0-25765DE21F0A}"/>
              </a:ext>
            </a:extLst>
          </p:cNvPr>
          <p:cNvSpPr txBox="1"/>
          <p:nvPr/>
        </p:nvSpPr>
        <p:spPr>
          <a:xfrm>
            <a:off x="6912000" y="2059458"/>
            <a:ext cx="2988000" cy="234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Starting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binary</a:t>
            </a:r>
            <a:endParaRPr lang="en-AU" sz="13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E0F48-5BFF-DC3F-2391-DB011A86419C}"/>
              </a:ext>
            </a:extLst>
          </p:cNvPr>
          <p:cNvSpPr txBox="1"/>
          <p:nvPr/>
        </p:nvSpPr>
        <p:spPr>
          <a:xfrm>
            <a:off x="6912067" y="2446032"/>
            <a:ext cx="2988000" cy="234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Starting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octal</a:t>
            </a:r>
            <a:endParaRPr lang="en-AU" sz="13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EDFDC-1FD2-A391-B8C7-0A0014F256FA}"/>
              </a:ext>
            </a:extLst>
          </p:cNvPr>
          <p:cNvSpPr txBox="1"/>
          <p:nvPr/>
        </p:nvSpPr>
        <p:spPr>
          <a:xfrm>
            <a:off x="6912000" y="2832606"/>
            <a:ext cx="2988000" cy="234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Starting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</a:t>
            </a:r>
            <a:r>
              <a:rPr lang="zh-CN" altLang="en-US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hex</a:t>
            </a:r>
            <a:endParaRPr lang="en-AU" sz="13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en-US" altLang="zh-CN" sz="4000" cap="none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B</a:t>
            </a:r>
            <a:r>
              <a:rPr lang="en" altLang="en-US" sz="4000" cap="none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inary</a:t>
            </a:r>
            <a:endParaRPr lang="en" altLang="en-US" sz="4000" cap="none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  <a:cs typeface="Consolas" panose="020B0609020204030204" pitchFamily="49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8" y="2362575"/>
            <a:ext cx="5417391" cy="2549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Weight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Integer part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L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owest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to highest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place,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weights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are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-US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0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-US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1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-US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…;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Decimal part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H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ighest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to lowest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place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weights are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-1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-2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-3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...</a:t>
            </a:r>
          </a:p>
          <a:p>
            <a:pPr marL="0" indent="0">
              <a:buNone/>
            </a:pPr>
            <a:endParaRPr lang="zh-CN" altLang="en-US" sz="1600" dirty="0">
              <a:latin typeface="Aptos Display" panose="020B00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66C40C-CEA7-5C79-06A1-EDE6F0DB3318}"/>
              </a:ext>
            </a:extLst>
          </p:cNvPr>
          <p:cNvSpPr txBox="1"/>
          <p:nvPr/>
        </p:nvSpPr>
        <p:spPr>
          <a:xfrm>
            <a:off x="5474276" y="1320898"/>
            <a:ext cx="5679990" cy="236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More</a:t>
            </a:r>
            <a:r>
              <a:rPr lang="zh-CN" altLang="en-US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reading</a:t>
            </a:r>
            <a:r>
              <a:rPr lang="en" altLang="en-US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: Expo</a:t>
            </a:r>
            <a:r>
              <a:rPr lang="en-US" altLang="zh-CN" sz="2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nentiation</a:t>
            </a:r>
            <a:endParaRPr lang="en-US" altLang="zh-CN" sz="2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The basic meaning of exponentiation is "multiplying many identical numbers", for example,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5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means "multiplying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five 2s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".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Here,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is called the "base",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5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is called the "exponent" (also called "power"), and the result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32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is called the "power", read as "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2 to the power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of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5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is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32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</a:rPr>
              <a:t>".</a:t>
            </a:r>
            <a:endParaRPr lang="zh-CN" altLang="en-US" sz="1600" dirty="0">
              <a:latin typeface="Aptos Display" panose="020B0004020202020204" pitchFamily="34" charset="0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/>
              <p:nvPr/>
            </p:nvSpPr>
            <p:spPr>
              <a:xfrm>
                <a:off x="5467719" y="4137143"/>
                <a:ext cx="4784420" cy="2519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 algn="just" defTabSz="914400">
                  <a:lnSpc>
                    <a:spcPct val="150000"/>
                  </a:lnSpc>
                  <a:buFont typeface="+mj-lt"/>
                  <a:buAutoNum type="arabicPeriod"/>
                  <a:defRPr sz="1400" kern="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defRPr>
                </a:lvl1pPr>
              </a:lstStyle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0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exponent</a:t>
                </a:r>
                <a:endParaRPr lang="en" altLang="zh-CN" sz="16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endParaRPr>
              </a:p>
              <a:p>
                <a:pPr marL="266700" indent="0">
                  <a:buNone/>
                </a:pP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Special rule: A non-zero 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number </a:t>
                </a: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to the power of 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0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is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1 </a:t>
                </a: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(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0 to the power </a:t>
                </a: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of 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0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has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no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meaning</a:t>
                </a: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);</a:t>
                </a:r>
                <a:endParaRPr lang="en-US" altLang="zh-CN" sz="16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endParaRPr>
              </a:p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N</a:t>
                </a:r>
                <a:r>
                  <a:rPr lang="en" altLang="en-US" sz="1600" dirty="0" err="1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egative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exponent</a:t>
                </a:r>
              </a:p>
              <a:p>
                <a:pPr marL="266700" indent="0">
                  <a:lnSpc>
                    <a:spcPts val="2400"/>
                  </a:lnSpc>
                  <a:buNone/>
                </a:pPr>
                <a:r>
                  <a:rPr lang="e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A negative power is the reciprocal of its corresponding positive power, for example, 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2</a:t>
                </a:r>
                <a:r>
                  <a:rPr lang="en" altLang="zh-CN" sz="1600" baseline="300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- 5 </a:t>
                </a:r>
                <a:r>
                  <a:rPr lang="en" altLang="zh-CN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=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Aptos Display" panose="020B0004020202020204" pitchFamily="34" charset="0"/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2</m:t>
                        </m:r>
                        <m:r>
                          <a:rPr lang="en-US" altLang="zh-CN" sz="2400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latin typeface="Aptos Display" panose="020B0004020202020204" pitchFamily="34" charset="0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719" y="4137143"/>
                <a:ext cx="4784420" cy="2519023"/>
              </a:xfrm>
              <a:prstGeom prst="rect">
                <a:avLst/>
              </a:prstGeom>
              <a:blipFill>
                <a:blip r:embed="rId2"/>
                <a:stretch>
                  <a:fillRect l="-529" r="-5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93CED08F-3E6C-9F59-B469-99E73B6A0FC3}"/>
              </a:ext>
            </a:extLst>
          </p:cNvPr>
          <p:cNvGrpSpPr/>
          <p:nvPr/>
        </p:nvGrpSpPr>
        <p:grpSpPr>
          <a:xfrm>
            <a:off x="8186115" y="3187415"/>
            <a:ext cx="1499757" cy="1432085"/>
            <a:chOff x="7637316" y="2822408"/>
            <a:chExt cx="1499757" cy="143208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852D42-A6C7-428C-41E9-2978647FCAA0}"/>
                </a:ext>
              </a:extLst>
            </p:cNvPr>
            <p:cNvSpPr txBox="1"/>
            <p:nvPr/>
          </p:nvSpPr>
          <p:spPr>
            <a:xfrm>
              <a:off x="7765472" y="3138406"/>
              <a:ext cx="1371601" cy="676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" altLang="zh-CN" sz="28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rPr>
                <a:t>2</a:t>
              </a:r>
              <a:r>
                <a:rPr lang="en" altLang="zh-CN" sz="2800" baseline="300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rPr>
                <a:t>5 </a:t>
              </a:r>
              <a:r>
                <a:rPr lang="en" altLang="zh-CN" sz="28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</a:rPr>
                <a:t>= 32</a:t>
              </a:r>
              <a:endParaRPr lang="zh-CN" altLang="en-US" sz="2800" dirty="0"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8D26E8-1F0A-625C-EF2D-D7346504B3EA}"/>
                </a:ext>
              </a:extLst>
            </p:cNvPr>
            <p:cNvSpPr txBox="1"/>
            <p:nvPr/>
          </p:nvSpPr>
          <p:spPr>
            <a:xfrm>
              <a:off x="7637316" y="3911770"/>
              <a:ext cx="658092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en-US" sz="1200" dirty="0">
                  <a:latin typeface="Aptos Display" panose="020B0004020202020204" pitchFamily="34" charset="0"/>
                  <a:ea typeface="微软雅黑" panose="020B0503020204020204" charset="-122"/>
                </a:rPr>
                <a:t>base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C66267C-F37A-2182-F12B-DECD0B054488}"/>
                </a:ext>
              </a:extLst>
            </p:cNvPr>
            <p:cNvSpPr txBox="1"/>
            <p:nvPr/>
          </p:nvSpPr>
          <p:spPr>
            <a:xfrm>
              <a:off x="8330038" y="3911770"/>
              <a:ext cx="658092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en-US" sz="1200" dirty="0">
                  <a:latin typeface="Aptos Display" panose="020B0004020202020204" pitchFamily="34" charset="0"/>
                  <a:ea typeface="微软雅黑" panose="020B0503020204020204" charset="-122"/>
                </a:rPr>
                <a:t>power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F231000-E8D7-B97D-4631-49AA4EB55074}"/>
                </a:ext>
              </a:extLst>
            </p:cNvPr>
            <p:cNvSpPr txBox="1"/>
            <p:nvPr/>
          </p:nvSpPr>
          <p:spPr>
            <a:xfrm>
              <a:off x="7768931" y="2822408"/>
              <a:ext cx="770851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en-US" sz="1200" dirty="0">
                  <a:latin typeface="Aptos Display" panose="020B0004020202020204" pitchFamily="34" charset="0"/>
                  <a:ea typeface="微软雅黑" panose="020B0503020204020204" charset="-122"/>
                </a:rPr>
                <a:t>expo</a:t>
              </a:r>
              <a:r>
                <a:rPr lang="en-US" altLang="zh-CN" sz="1200" dirty="0" err="1">
                  <a:latin typeface="Aptos Display" panose="020B0004020202020204" pitchFamily="34" charset="0"/>
                  <a:ea typeface="微软雅黑" panose="020B0503020204020204" charset="-122"/>
                </a:rPr>
                <a:t>nent</a:t>
              </a:r>
              <a:endParaRPr lang="en" altLang="en-US" sz="1200" dirty="0"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0945996-0053-E12E-9DBF-9366943D3A04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8097978" y="3165131"/>
              <a:ext cx="56379" cy="2016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3AC6564-2C8E-4C85-48ED-E78DDDA18B9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966362" y="3675640"/>
              <a:ext cx="0" cy="2361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1207AA-F5BC-D9AD-7555-F81D90832BDD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8659084" y="3669141"/>
              <a:ext cx="0" cy="2426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C400758-46B7-D19B-6EAA-BE798DF3521F}"/>
              </a:ext>
            </a:extLst>
          </p:cNvPr>
          <p:cNvGrpSpPr/>
          <p:nvPr/>
        </p:nvGrpSpPr>
        <p:grpSpPr>
          <a:xfrm>
            <a:off x="1144773" y="4532038"/>
            <a:ext cx="1795084" cy="1458354"/>
            <a:chOff x="719516" y="3556456"/>
            <a:chExt cx="1795084" cy="145835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E68BCE-9467-00D5-61E3-889EA0960404}"/>
                </a:ext>
              </a:extLst>
            </p:cNvPr>
            <p:cNvSpPr txBox="1"/>
            <p:nvPr/>
          </p:nvSpPr>
          <p:spPr>
            <a:xfrm>
              <a:off x="778396" y="3929604"/>
              <a:ext cx="1736204" cy="676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" altLang="zh-CN" sz="280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</a:rPr>
                <a:t>110.101</a:t>
              </a:r>
              <a:endParaRPr kumimoji="0" lang="zh-CN" altLang="en-US" sz="280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77AF3C2-754B-C2F1-D536-41B76FC6ECE0}"/>
                </a:ext>
              </a:extLst>
            </p:cNvPr>
            <p:cNvSpPr txBox="1"/>
            <p:nvPr/>
          </p:nvSpPr>
          <p:spPr>
            <a:xfrm>
              <a:off x="719516" y="4588668"/>
              <a:ext cx="474516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dirty="0">
                  <a:latin typeface="Aptos Display" panose="020B0004020202020204" pitchFamily="34" charset="0"/>
                  <a:ea typeface="微软雅黑" panose="020B0503020204020204" charset="-122"/>
                </a:rPr>
                <a:t>2</a:t>
              </a:r>
              <a:r>
                <a:rPr lang="en-US" altLang="zh-CN" sz="1600" baseline="30000" dirty="0">
                  <a:latin typeface="Aptos Display" panose="020B0004020202020204" pitchFamily="34" charset="0"/>
                  <a:ea typeface="微软雅黑" panose="020B0503020204020204" charset="-122"/>
                </a:rPr>
                <a:t>2</a:t>
              </a:r>
              <a:endParaRPr kumimoji="0" lang="zh-CN" altLang="en-US" sz="1200" u="none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11B786A-339C-DE58-5963-4027EAA2E260}"/>
                </a:ext>
              </a:extLst>
            </p:cNvPr>
            <p:cNvSpPr txBox="1"/>
            <p:nvPr/>
          </p:nvSpPr>
          <p:spPr>
            <a:xfrm>
              <a:off x="1530838" y="4588668"/>
              <a:ext cx="559435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-2</a:t>
              </a:r>
              <a:endParaRPr kumimoji="0" lang="zh-CN" altLang="en-US" sz="1200" u="none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B052635-FE32-1D0E-C9C7-A7FCA07FED4C}"/>
                </a:ext>
              </a:extLst>
            </p:cNvPr>
            <p:cNvSpPr txBox="1"/>
            <p:nvPr/>
          </p:nvSpPr>
          <p:spPr>
            <a:xfrm>
              <a:off x="910010" y="3556456"/>
              <a:ext cx="474514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1</a:t>
              </a:r>
              <a:endParaRPr kumimoji="0" lang="zh-CN" altLang="en-US" sz="1050" u="none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63F4492-FCD6-3DC3-C9FB-3100CD133AD8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31" y="3912201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50AD855F-8EE4-42CF-9646-640515655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711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6C1ED6B-4E45-7C29-5302-4AA0F609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2846" y="4488914"/>
              <a:ext cx="0" cy="24262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4C5E9D-78BD-7F4B-50EE-B653214217CD}"/>
                </a:ext>
              </a:extLst>
            </p:cNvPr>
            <p:cNvSpPr txBox="1"/>
            <p:nvPr/>
          </p:nvSpPr>
          <p:spPr>
            <a:xfrm>
              <a:off x="1121294" y="4588668"/>
              <a:ext cx="474516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" altLang="zh-CN" sz="1600" dirty="0">
                  <a:latin typeface="Aptos Display" panose="020B0004020202020204" pitchFamily="34" charset="0"/>
                  <a:ea typeface="微软雅黑" panose="020B0503020204020204" charset="-122"/>
                </a:rPr>
                <a:t>2</a:t>
              </a:r>
              <a:r>
                <a:rPr lang="en" altLang="zh-CN" sz="1600" baseline="30000" dirty="0">
                  <a:latin typeface="Aptos Display" panose="020B0004020202020204" pitchFamily="34" charset="0"/>
                  <a:ea typeface="微软雅黑" panose="020B0503020204020204" charset="-122"/>
                </a:rPr>
                <a:t>0​</a:t>
              </a:r>
              <a:endParaRPr kumimoji="0" lang="zh-CN" altLang="en-US" sz="120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64A0BA3-95FB-02FE-FB22-B29697F6B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489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83B255-08D1-BC0B-9147-492DD5C4E57D}"/>
                </a:ext>
              </a:extLst>
            </p:cNvPr>
            <p:cNvSpPr txBox="1"/>
            <p:nvPr/>
          </p:nvSpPr>
          <p:spPr>
            <a:xfrm>
              <a:off x="1351025" y="3565732"/>
              <a:ext cx="474514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-1</a:t>
              </a:r>
              <a:endParaRPr kumimoji="0" lang="zh-CN" altLang="en-US" sz="1050" u="none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E331036-6D15-FF21-A37B-B0BDC4E92F76}"/>
                </a:ext>
              </a:extLst>
            </p:cNvPr>
            <p:cNvCxnSpPr>
              <a:cxnSpLocks/>
            </p:cNvCxnSpPr>
            <p:nvPr/>
          </p:nvCxnSpPr>
          <p:spPr>
            <a:xfrm>
              <a:off x="1594350" y="3921477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3379061-86EE-7C79-8B36-E764F7CC826F}"/>
                </a:ext>
              </a:extLst>
            </p:cNvPr>
            <p:cNvSpPr txBox="1"/>
            <p:nvPr/>
          </p:nvSpPr>
          <p:spPr>
            <a:xfrm>
              <a:off x="1751303" y="3565297"/>
              <a:ext cx="474514" cy="426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kern="1200" dirty="0"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2</a:t>
              </a:r>
              <a:r>
                <a:rPr lang="en-US" altLang="zh-CN" sz="1600" kern="1200" baseline="30000" dirty="0">
                  <a:latin typeface="Aptos Display" panose="020B0004020202020204" pitchFamily="34" charset="0"/>
                  <a:ea typeface="微软雅黑" panose="020B0503020204020204" charset="-122"/>
                  <a:cs typeface="+mn-cs"/>
                </a:rPr>
                <a:t>-3</a:t>
              </a:r>
              <a:endParaRPr kumimoji="0" lang="zh-CN" altLang="en-US" sz="1050" u="none" strike="noStrike" kern="1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A8B6BAB-1694-5878-334C-3AD58D57E80F}"/>
                </a:ext>
              </a:extLst>
            </p:cNvPr>
            <p:cNvCxnSpPr>
              <a:cxnSpLocks/>
            </p:cNvCxnSpPr>
            <p:nvPr/>
          </p:nvCxnSpPr>
          <p:spPr>
            <a:xfrm>
              <a:off x="1980769" y="3921042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8344B32-4435-CBA8-3C60-BAE8B4149D23}"/>
              </a:ext>
            </a:extLst>
          </p:cNvPr>
          <p:cNvSpPr txBox="1"/>
          <p:nvPr/>
        </p:nvSpPr>
        <p:spPr>
          <a:xfrm>
            <a:off x="678608" y="1320898"/>
            <a:ext cx="6094970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Binary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digits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only have two values: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single binary digit is called a "bit"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en" altLang="en-US" sz="4000" cap="none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Binary conversion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FC3CDF-5A66-A465-51F2-7C6BDFC359AD}"/>
              </a:ext>
            </a:extLst>
          </p:cNvPr>
          <p:cNvSpPr txBox="1"/>
          <p:nvPr/>
        </p:nvSpPr>
        <p:spPr>
          <a:xfrm>
            <a:off x="678608" y="1486111"/>
            <a:ext cx="9445601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>
              <a:buFont typeface="+mj-ea"/>
              <a:buAutoNum type="ea1JpnChsDbPeriod"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Binary to Decimal: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Expand by Weights and Summate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360363" lvl="1"/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Example: 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1011.01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-1</a:t>
            </a:r>
            <a:r>
              <a:rPr lang="zh-CN" altLang="en-US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1×2</a:t>
            </a:r>
            <a:r>
              <a:rPr lang="en" altLang="zh-CN" sz="14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-2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</a:t>
            </a:r>
          </a:p>
          <a:p>
            <a:pPr marL="1793875" lvl="1"/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8 + 2 + 1 + 0.25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93875" lvl="1"/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11.25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>
              <a:buFont typeface="+mj-ea"/>
              <a:buAutoNum type="ea1JpnChsDbPeriod"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Decimal to Binary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03C04F-28D7-07B6-9CB0-0C52A73CD802}"/>
              </a:ext>
            </a:extLst>
          </p:cNvPr>
          <p:cNvSpPr txBox="1"/>
          <p:nvPr/>
        </p:nvSpPr>
        <p:spPr>
          <a:xfrm>
            <a:off x="1018309" y="2833018"/>
            <a:ext cx="4170218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Integer part: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Long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d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ivide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by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output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remainders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in reverse order.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Example: (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89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1011001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E28504-EDD0-3464-BAF1-B01C8A176E3D}"/>
              </a:ext>
            </a:extLst>
          </p:cNvPr>
          <p:cNvSpPr txBox="1"/>
          <p:nvPr/>
        </p:nvSpPr>
        <p:spPr>
          <a:xfrm>
            <a:off x="5380626" y="2833018"/>
            <a:ext cx="4170218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Decimal part: Multiply by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repeatedly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utput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integer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part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sequentially.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Example: (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0.625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0.101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r>
              <a:rPr lang="en" altLang="zh-CN" sz="14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1314E31-CCD5-7351-13FC-48496D157AB2}"/>
              </a:ext>
            </a:extLst>
          </p:cNvPr>
          <p:cNvGrpSpPr/>
          <p:nvPr/>
        </p:nvGrpSpPr>
        <p:grpSpPr>
          <a:xfrm>
            <a:off x="1018309" y="3813545"/>
            <a:ext cx="2350208" cy="2633292"/>
            <a:chOff x="1179237" y="3479028"/>
            <a:chExt cx="2350208" cy="2633292"/>
          </a:xfrm>
        </p:grpSpPr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9E6A3D18-A8A3-D81D-0AEB-4614F57B3D71}"/>
                </a:ext>
              </a:extLst>
            </p:cNvPr>
            <p:cNvCxnSpPr>
              <a:cxnSpLocks/>
            </p:cNvCxnSpPr>
            <p:nvPr/>
          </p:nvCxnSpPr>
          <p:spPr>
            <a:xfrm>
              <a:off x="1562100" y="3540298"/>
              <a:ext cx="1122218" cy="290946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AF9C1A7A-1FD3-649C-C437-8E450747F6A9}"/>
                </a:ext>
              </a:extLst>
            </p:cNvPr>
            <p:cNvCxnSpPr>
              <a:cxnSpLocks/>
            </p:cNvCxnSpPr>
            <p:nvPr/>
          </p:nvCxnSpPr>
          <p:spPr>
            <a:xfrm>
              <a:off x="1714500" y="3845098"/>
              <a:ext cx="969818" cy="332509"/>
            </a:xfrm>
            <a:prstGeom prst="bentConnector3">
              <a:avLst>
                <a:gd name="adj1" fmla="val 714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连接符: 肘形 78">
              <a:extLst>
                <a:ext uri="{FF2B5EF4-FFF2-40B4-BE49-F238E27FC236}">
                  <a16:creationId xmlns:a16="http://schemas.microsoft.com/office/drawing/2014/main" id="{39AE4260-1381-3559-17CB-77D22BD6F38A}"/>
                </a:ext>
              </a:extLst>
            </p:cNvPr>
            <p:cNvCxnSpPr>
              <a:cxnSpLocks/>
            </p:cNvCxnSpPr>
            <p:nvPr/>
          </p:nvCxnSpPr>
          <p:spPr>
            <a:xfrm>
              <a:off x="1863437" y="4191461"/>
              <a:ext cx="820881" cy="304801"/>
            </a:xfrm>
            <a:prstGeom prst="bentConnector3">
              <a:avLst>
                <a:gd name="adj1" fmla="val -21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A16C760D-88BD-DD45-2FFA-8E23718A6B08}"/>
                </a:ext>
              </a:extLst>
            </p:cNvPr>
            <p:cNvCxnSpPr>
              <a:cxnSpLocks/>
            </p:cNvCxnSpPr>
            <p:nvPr/>
          </p:nvCxnSpPr>
          <p:spPr>
            <a:xfrm>
              <a:off x="2012374" y="4509904"/>
              <a:ext cx="671944" cy="304801"/>
            </a:xfrm>
            <a:prstGeom prst="bentConnector3">
              <a:avLst>
                <a:gd name="adj1" fmla="val 515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连接符: 肘形 80">
              <a:extLst>
                <a:ext uri="{FF2B5EF4-FFF2-40B4-BE49-F238E27FC236}">
                  <a16:creationId xmlns:a16="http://schemas.microsoft.com/office/drawing/2014/main" id="{E59D419B-8D41-AD7C-850C-5ABC0F5DE088}"/>
                </a:ext>
              </a:extLst>
            </p:cNvPr>
            <p:cNvCxnSpPr>
              <a:cxnSpLocks/>
            </p:cNvCxnSpPr>
            <p:nvPr/>
          </p:nvCxnSpPr>
          <p:spPr>
            <a:xfrm>
              <a:off x="2161311" y="4828347"/>
              <a:ext cx="523007" cy="312151"/>
            </a:xfrm>
            <a:prstGeom prst="bentConnector3">
              <a:avLst>
                <a:gd name="adj1" fmla="val 993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C465A006-AD4B-1C90-3F18-DC3F58763E28}"/>
                </a:ext>
              </a:extLst>
            </p:cNvPr>
            <p:cNvCxnSpPr>
              <a:cxnSpLocks/>
            </p:cNvCxnSpPr>
            <p:nvPr/>
          </p:nvCxnSpPr>
          <p:spPr>
            <a:xfrm>
              <a:off x="2310248" y="5140498"/>
              <a:ext cx="374070" cy="318655"/>
            </a:xfrm>
            <a:prstGeom prst="bentConnector3">
              <a:avLst>
                <a:gd name="adj1" fmla="val -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7F3A780B-7A09-BBAB-3DEA-F7FB0A321D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12424" y="5499409"/>
              <a:ext cx="318655" cy="225133"/>
            </a:xfrm>
            <a:prstGeom prst="bentConnector3">
              <a:avLst>
                <a:gd name="adj1" fmla="val 97826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4455350-A6C1-A345-BBBE-A69D4AC8FFAA}"/>
                </a:ext>
              </a:extLst>
            </p:cNvPr>
            <p:cNvSpPr txBox="1"/>
            <p:nvPr/>
          </p:nvSpPr>
          <p:spPr>
            <a:xfrm>
              <a:off x="2391507" y="3479028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89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D51DDC2E-AF21-3854-787F-0D26AD72C794}"/>
                </a:ext>
              </a:extLst>
            </p:cNvPr>
            <p:cNvSpPr txBox="1"/>
            <p:nvPr/>
          </p:nvSpPr>
          <p:spPr>
            <a:xfrm>
              <a:off x="2391506" y="3791178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44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0D119D1A-2D6A-1064-F03F-751300CE87F5}"/>
                </a:ext>
              </a:extLst>
            </p:cNvPr>
            <p:cNvSpPr txBox="1"/>
            <p:nvPr/>
          </p:nvSpPr>
          <p:spPr>
            <a:xfrm>
              <a:off x="2391506" y="4138786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latin typeface="Aptos Display" panose="020B0004020202020204" pitchFamily="34" charset="0"/>
                  <a:ea typeface="微软雅黑" panose="020B0503020204020204" pitchFamily="34" charset="-122"/>
                </a:rPr>
                <a:t>22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7D91390A-2A59-0D6C-9E60-FB47308AE68E}"/>
                </a:ext>
              </a:extLst>
            </p:cNvPr>
            <p:cNvSpPr txBox="1"/>
            <p:nvPr/>
          </p:nvSpPr>
          <p:spPr>
            <a:xfrm>
              <a:off x="2391506" y="4471295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11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C6C9B8E-A584-B62A-A35D-CD2E0C7854C5}"/>
                </a:ext>
              </a:extLst>
            </p:cNvPr>
            <p:cNvSpPr txBox="1"/>
            <p:nvPr/>
          </p:nvSpPr>
          <p:spPr>
            <a:xfrm>
              <a:off x="2422814" y="4756011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5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FBBDE7D-3C96-BEA2-446D-73D42BC2772E}"/>
                </a:ext>
              </a:extLst>
            </p:cNvPr>
            <p:cNvSpPr txBox="1"/>
            <p:nvPr/>
          </p:nvSpPr>
          <p:spPr>
            <a:xfrm>
              <a:off x="2422814" y="5068161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3A2B642-68ED-75AE-1CA0-C99B7650877A}"/>
                </a:ext>
              </a:extLst>
            </p:cNvPr>
            <p:cNvSpPr txBox="1"/>
            <p:nvPr/>
          </p:nvSpPr>
          <p:spPr>
            <a:xfrm>
              <a:off x="2422814" y="5394229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D4F89991-03B6-598F-E316-4985577BF0A8}"/>
                </a:ext>
              </a:extLst>
            </p:cNvPr>
            <p:cNvSpPr txBox="1"/>
            <p:nvPr/>
          </p:nvSpPr>
          <p:spPr>
            <a:xfrm>
              <a:off x="2422814" y="5727919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6FA1948-5579-2C73-9AA6-D05BA1FA19A7}"/>
                </a:ext>
              </a:extLst>
            </p:cNvPr>
            <p:cNvSpPr txBox="1"/>
            <p:nvPr/>
          </p:nvSpPr>
          <p:spPr>
            <a:xfrm>
              <a:off x="1179237" y="3479028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AC700208-3538-B04F-F26F-FFC004A34101}"/>
                </a:ext>
              </a:extLst>
            </p:cNvPr>
            <p:cNvSpPr txBox="1"/>
            <p:nvPr/>
          </p:nvSpPr>
          <p:spPr>
            <a:xfrm>
              <a:off x="1355081" y="3791177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C72AE4C-F6D5-E6A1-023D-215B7DF2CDBA}"/>
                </a:ext>
              </a:extLst>
            </p:cNvPr>
            <p:cNvSpPr txBox="1"/>
            <p:nvPr/>
          </p:nvSpPr>
          <p:spPr>
            <a:xfrm>
              <a:off x="1498689" y="4129366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CA6CC73-C761-E440-A99C-DE2ED8028816}"/>
                </a:ext>
              </a:extLst>
            </p:cNvPr>
            <p:cNvSpPr txBox="1"/>
            <p:nvPr/>
          </p:nvSpPr>
          <p:spPr>
            <a:xfrm>
              <a:off x="1655353" y="4471295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515731F-A9D1-9A70-9404-19B86F567BA2}"/>
                </a:ext>
              </a:extLst>
            </p:cNvPr>
            <p:cNvSpPr txBox="1"/>
            <p:nvPr/>
          </p:nvSpPr>
          <p:spPr>
            <a:xfrm>
              <a:off x="1798958" y="4754334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A6A7C05-A57B-5898-1DC8-E797B67E3ED0}"/>
                </a:ext>
              </a:extLst>
            </p:cNvPr>
            <p:cNvSpPr txBox="1"/>
            <p:nvPr/>
          </p:nvSpPr>
          <p:spPr>
            <a:xfrm>
              <a:off x="1942294" y="5077423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527E9D16-E22B-6A71-9734-C5D2D72ED989}"/>
                </a:ext>
              </a:extLst>
            </p:cNvPr>
            <p:cNvSpPr txBox="1"/>
            <p:nvPr/>
          </p:nvSpPr>
          <p:spPr>
            <a:xfrm>
              <a:off x="2083246" y="5400511"/>
              <a:ext cx="414037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74BE4E1-A553-6E66-7ED8-84842B0CB79B}"/>
                </a:ext>
              </a:extLst>
            </p:cNvPr>
            <p:cNvSpPr txBox="1"/>
            <p:nvPr/>
          </p:nvSpPr>
          <p:spPr>
            <a:xfrm>
              <a:off x="2755454" y="3802123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6E847F1-B5EF-D513-6849-127DF5237836}"/>
                </a:ext>
              </a:extLst>
            </p:cNvPr>
            <p:cNvSpPr txBox="1"/>
            <p:nvPr/>
          </p:nvSpPr>
          <p:spPr>
            <a:xfrm>
              <a:off x="2757984" y="4107319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8D00EA9-5A82-06C2-F26D-D672223BCDEF}"/>
                </a:ext>
              </a:extLst>
            </p:cNvPr>
            <p:cNvSpPr txBox="1"/>
            <p:nvPr/>
          </p:nvSpPr>
          <p:spPr>
            <a:xfrm>
              <a:off x="2757984" y="4450936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BD21FC7-9C24-2522-6BD1-744E23F75215}"/>
                </a:ext>
              </a:extLst>
            </p:cNvPr>
            <p:cNvSpPr txBox="1"/>
            <p:nvPr/>
          </p:nvSpPr>
          <p:spPr>
            <a:xfrm>
              <a:off x="2756528" y="4755938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CD47AE1-BC7E-202C-9429-40923F8FC561}"/>
                </a:ext>
              </a:extLst>
            </p:cNvPr>
            <p:cNvSpPr txBox="1"/>
            <p:nvPr/>
          </p:nvSpPr>
          <p:spPr>
            <a:xfrm>
              <a:off x="2756528" y="5081730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8D3C3EC3-81FE-72F1-50C2-6AD86F5AAF0B}"/>
                </a:ext>
              </a:extLst>
            </p:cNvPr>
            <p:cNvSpPr txBox="1"/>
            <p:nvPr/>
          </p:nvSpPr>
          <p:spPr>
            <a:xfrm>
              <a:off x="2756528" y="5386732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5742F96D-82BB-BB2C-7929-416F1D4CC18A}"/>
                </a:ext>
              </a:extLst>
            </p:cNvPr>
            <p:cNvSpPr txBox="1"/>
            <p:nvPr/>
          </p:nvSpPr>
          <p:spPr>
            <a:xfrm>
              <a:off x="2756528" y="5704875"/>
              <a:ext cx="622923" cy="384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6AE0631C-305A-FEBD-F5FF-AA14E3ED1E0E}"/>
                </a:ext>
              </a:extLst>
            </p:cNvPr>
            <p:cNvCxnSpPr/>
            <p:nvPr/>
          </p:nvCxnSpPr>
          <p:spPr>
            <a:xfrm flipV="1">
              <a:off x="3529445" y="3927764"/>
              <a:ext cx="0" cy="2092036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3B35435-F831-0EBC-7D32-84BBAB55158C}"/>
              </a:ext>
            </a:extLst>
          </p:cNvPr>
          <p:cNvSpPr txBox="1"/>
          <p:nvPr/>
        </p:nvSpPr>
        <p:spPr>
          <a:xfrm>
            <a:off x="5380626" y="3863749"/>
            <a:ext cx="4170218" cy="204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 algn="l">
              <a:lnSpc>
                <a:spcPts val="168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0.625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× 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1.25 ………… Take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nteger</a:t>
            </a: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0.25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× 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0.5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Take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0.5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× 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indent="0" algn="l">
              <a:lnSpc>
                <a:spcPts val="1680"/>
              </a:lnSpc>
              <a:buNone/>
            </a:pPr>
            <a:r>
              <a:rPr lang="en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1.0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Take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nteger</a:t>
            </a: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E744537B-A5A0-DEE6-CEAE-02337CA90B7F}"/>
              </a:ext>
            </a:extLst>
          </p:cNvPr>
          <p:cNvCxnSpPr>
            <a:cxnSpLocks/>
          </p:cNvCxnSpPr>
          <p:nvPr/>
        </p:nvCxnSpPr>
        <p:spPr>
          <a:xfrm flipV="1">
            <a:off x="8723303" y="4314110"/>
            <a:ext cx="0" cy="1562985"/>
          </a:xfrm>
          <a:prstGeom prst="straightConnector1">
            <a:avLst/>
          </a:prstGeom>
          <a:ln w="12700">
            <a:solidFill>
              <a:schemeClr val="bg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9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Decimal to Binary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573400" cy="70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Convert a decimal integer to binary and output it.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1EDB3F-961A-C793-1EF4-4BD272B74F3E}"/>
              </a:ext>
            </a:extLst>
          </p:cNvPr>
          <p:cNvSpPr txBox="1"/>
          <p:nvPr/>
        </p:nvSpPr>
        <p:spPr>
          <a:xfrm>
            <a:off x="431988" y="2314525"/>
            <a:ext cx="2240359" cy="107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" altLang="en-US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in decimal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10⁹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09CDDF-95F1-2F94-6D6B-5C11535356C6}"/>
              </a:ext>
            </a:extLst>
          </p:cNvPr>
          <p:cNvSpPr txBox="1"/>
          <p:nvPr/>
        </p:nvSpPr>
        <p:spPr>
          <a:xfrm>
            <a:off x="2673324" y="2314525"/>
            <a:ext cx="2332064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Binary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representation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4D8F7FE-5AF4-A141-0CA2-9D79859DEFAB}"/>
              </a:ext>
            </a:extLst>
          </p:cNvPr>
          <p:cNvSpPr txBox="1"/>
          <p:nvPr/>
        </p:nvSpPr>
        <p:spPr>
          <a:xfrm>
            <a:off x="431013" y="363255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400" dirty="0">
                <a:latin typeface="Aptos Display" panose="020B0004020202020204" pitchFamily="34" charset="0"/>
              </a:rPr>
              <a:t>Sample Input </a:t>
            </a:r>
            <a:r>
              <a:rPr lang="en" altLang="zh-CN" sz="1400" dirty="0">
                <a:latin typeface="Aptos Display" panose="020B0004020202020204" pitchFamily="34" charset="0"/>
              </a:rPr>
              <a:t>1 </a:t>
            </a:r>
            <a:r>
              <a:rPr lang="en" altLang="en-US" sz="1400" dirty="0">
                <a:latin typeface="Aptos Display" panose="020B0004020202020204" pitchFamily="34" charset="0"/>
              </a:rPr>
              <a:t>:</a:t>
            </a:r>
            <a:endParaRPr lang="en-US" altLang="zh-CN" sz="1400" dirty="0">
              <a:latin typeface="Aptos Display" panose="020B0004020202020204" pitchFamily="34" charset="0"/>
            </a:endParaRPr>
          </a:p>
          <a:p>
            <a:r>
              <a:rPr lang="en" altLang="zh-CN" sz="1400" dirty="0">
                <a:latin typeface="Aptos Display" panose="020B0004020202020204" pitchFamily="34" charset="0"/>
              </a:rPr>
              <a:t>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FB0BE8-F23A-A843-251A-C3544AE7EDD2}"/>
              </a:ext>
            </a:extLst>
          </p:cNvPr>
          <p:cNvSpPr/>
          <p:nvPr/>
        </p:nvSpPr>
        <p:spPr>
          <a:xfrm>
            <a:off x="2672348" y="363255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11001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27B22E-7B09-1350-6B28-E79F3A18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38" y="1806382"/>
            <a:ext cx="3263937" cy="31616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791F14-2533-7077-9C1F-2DE86A0E8A7B}"/>
              </a:ext>
            </a:extLst>
          </p:cNvPr>
          <p:cNvSpPr/>
          <p:nvPr/>
        </p:nvSpPr>
        <p:spPr>
          <a:xfrm>
            <a:off x="8565698" y="2660731"/>
            <a:ext cx="3194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conversion process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least significant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he most significant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Therefore, when storing array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least significant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stored at index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second least index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so on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until the most significant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placed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stored at index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(the last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6D4E1C-0B7E-F672-85BC-389EFE56684B}"/>
              </a:ext>
            </a:extLst>
          </p:cNvPr>
          <p:cNvSpPr/>
          <p:nvPr/>
        </p:nvSpPr>
        <p:spPr>
          <a:xfrm>
            <a:off x="9300903" y="4018247"/>
            <a:ext cx="24591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output from the most significant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least significant, you need to start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down to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01790F-28C1-F1C9-295D-83E990492334}"/>
              </a:ext>
            </a:extLst>
          </p:cNvPr>
          <p:cNvSpPr/>
          <p:nvPr/>
        </p:nvSpPr>
        <p:spPr>
          <a:xfrm>
            <a:off x="431013" y="5463574"/>
            <a:ext cx="10128670" cy="4668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Consider: If the data range is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changed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0&lt;n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program?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Binary to Decimal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012" y="342900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b="1" dirty="0">
                <a:latin typeface="Aptos Display" panose="020B0004020202020204" pitchFamily="34" charset="0"/>
              </a:rPr>
              <a:t>Sample Input </a:t>
            </a:r>
            <a:r>
              <a:rPr lang="en" altLang="zh-CN" b="1" dirty="0">
                <a:latin typeface="Aptos Display" panose="020B0004020202020204" pitchFamily="34" charset="0"/>
              </a:rPr>
              <a:t>1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zh-CN" dirty="0">
                <a:latin typeface="Aptos Display" panose="020B0004020202020204" pitchFamily="34" charset="0"/>
              </a:rPr>
              <a:t>10010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101546" y="3405560"/>
            <a:ext cx="143827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 </a:t>
            </a:r>
            <a:r>
              <a:rPr lang="en" altLang="zh-CN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101546" y="2231841"/>
            <a:ext cx="2274017" cy="89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integer, represented in decimal as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013" y="2231841"/>
            <a:ext cx="2670534" cy="11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" altLang="en-US" sz="12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single line containing only 0s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1s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 least one digit and a length not exceeding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7CAD6E-A3A9-C6D3-ADFD-707440EEEE5D}"/>
              </a:ext>
            </a:extLst>
          </p:cNvPr>
          <p:cNvSpPr/>
          <p:nvPr/>
        </p:nvSpPr>
        <p:spPr>
          <a:xfrm>
            <a:off x="431012" y="1338720"/>
            <a:ext cx="4678175" cy="707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Convert a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positive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binary integer to decimal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output it.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1AAD2D-F943-2756-C7FF-E28646E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931" y="1338720"/>
            <a:ext cx="2691986" cy="239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6125BD-8C9D-CED9-11F7-261CF407FA62}"/>
              </a:ext>
            </a:extLst>
          </p:cNvPr>
          <p:cNvSpPr/>
          <p:nvPr/>
        </p:nvSpPr>
        <p:spPr>
          <a:xfrm>
            <a:off x="431012" y="4877491"/>
            <a:ext cx="8131097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Question: If the data range changes from length not exceeding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not exceeding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63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does the program need to be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changed?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4966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8" y="2424694"/>
            <a:ext cx="10979992" cy="310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>
              <a:buAutoNum type="romanUcPeriod"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True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form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(sign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and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magnitude)</a:t>
            </a:r>
          </a:p>
          <a:p>
            <a:pPr marL="361950" indent="0">
              <a:buNone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highest bit represents sign. If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x = 102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then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= -102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then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11100110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323850" indent="-31115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II.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AU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	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Inverse code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(one’s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complement)</a:t>
            </a:r>
          </a:p>
          <a:p>
            <a:pPr marL="323850" lvl="1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</a:t>
            </a:r>
            <a:r>
              <a:rPr lang="en" altLang="en-US" sz="1400" kern="1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ne‘s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complement of a positive number is its </a:t>
            </a:r>
            <a:r>
              <a:rPr lang="en-US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S&amp;M</a:t>
            </a:r>
            <a:r>
              <a:rPr lang="zh-C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form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; </a:t>
            </a:r>
            <a:r>
              <a:rPr lang="en-US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</a:t>
            </a:r>
            <a:r>
              <a:rPr lang="en" altLang="en-US" sz="1400" kern="1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ne's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complement of a negative number is </a:t>
            </a:r>
            <a:r>
              <a:rPr lang="en-US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done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by inverting all bits except the sign bit.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23850" lvl="1">
              <a:lnSpc>
                <a:spcPct val="150000"/>
              </a:lnSpc>
            </a:pP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x = 102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kern="1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kern="1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x = -102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kern="1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11100110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kern="1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10011001</a:t>
            </a:r>
            <a:r>
              <a:rPr lang="e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23850" indent="-311150">
              <a:buNone/>
              <a:tabLst>
                <a:tab pos="38100" algn="l"/>
              </a:tabLst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III.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AU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wo's complement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360363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Two’s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complement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positive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number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it’s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one’s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complement.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Negative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</a:t>
            </a:r>
            <a:r>
              <a:rPr lang="en" altLang="en-US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ne‘s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complement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plus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360363" lvl="1"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x = 102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01100110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x = -102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11100110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10011001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10011010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1513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Sign and Magnitude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1’s complement, 2’s complement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4A47816-DDF5-5B0F-3576-B070A8FB833F}"/>
              </a:ext>
            </a:extLst>
          </p:cNvPr>
          <p:cNvSpPr txBox="1">
            <a:spLocks/>
          </p:cNvSpPr>
          <p:nvPr/>
        </p:nvSpPr>
        <p:spPr>
          <a:xfrm>
            <a:off x="6567055" y="1301953"/>
            <a:ext cx="4504758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2000" dirty="0">
                <a:latin typeface="Aptos Display" panose="020B0004020202020204" pitchFamily="34" charset="0"/>
              </a:rPr>
              <a:t>In </a:t>
            </a:r>
            <a:r>
              <a:rPr lang="en" altLang="en-US" sz="2000" dirty="0" err="1">
                <a:latin typeface="Aptos Display" panose="020B0004020202020204" pitchFamily="34" charset="0"/>
              </a:rPr>
              <a:t>practic</a:t>
            </a:r>
            <a:r>
              <a:rPr lang="en-US" altLang="zh-CN" sz="2000" dirty="0">
                <a:latin typeface="Aptos Display" panose="020B0004020202020204" pitchFamily="34" charset="0"/>
              </a:rPr>
              <a:t>e</a:t>
            </a:r>
            <a:r>
              <a:rPr lang="en" altLang="en-US" sz="2000" dirty="0">
                <a:latin typeface="Aptos Display" panose="020B0004020202020204" pitchFamily="34" charset="0"/>
              </a:rPr>
              <a:t>, integers are stored in two's complement form.</a:t>
            </a:r>
            <a:endParaRPr lang="en-US" altLang="zh-CN" sz="2000" dirty="0">
              <a:latin typeface="Aptos Display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DC0DC-34BA-0D1F-5CBD-B78A78613949}"/>
              </a:ext>
            </a:extLst>
          </p:cNvPr>
          <p:cNvSpPr txBox="1"/>
          <p:nvPr/>
        </p:nvSpPr>
        <p:spPr>
          <a:xfrm>
            <a:off x="1087009" y="5744833"/>
            <a:ext cx="1674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x = -1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6A4EC-C0FF-1B04-A9DA-F39CF2D719A9}"/>
              </a:ext>
            </a:extLst>
          </p:cNvPr>
          <p:cNvSpPr txBox="1"/>
          <p:nvPr/>
        </p:nvSpPr>
        <p:spPr>
          <a:xfrm>
            <a:off x="2523280" y="5529390"/>
            <a:ext cx="60949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SM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10000000 00000000 00000000 00000001</a:t>
            </a:r>
          </a:p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1111111 11111111 11111111 11111110</a:t>
            </a:r>
          </a:p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[x]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</a:t>
            </a:r>
            <a:r>
              <a:rPr lang="e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11111111 11111111 11111111 11111111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1BF968-4B44-5CCA-C040-997ED6C8B7C1}"/>
              </a:ext>
            </a:extLst>
          </p:cNvPr>
          <p:cNvSpPr/>
          <p:nvPr/>
        </p:nvSpPr>
        <p:spPr>
          <a:xfrm>
            <a:off x="678607" y="1286452"/>
            <a:ext cx="5888447" cy="116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Character type, 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byte,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bits</a:t>
            </a: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Integer type, 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bytes,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bits.</a:t>
            </a: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long long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A long integer type that 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bytes and is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64-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bit.</a:t>
            </a:r>
          </a:p>
        </p:txBody>
      </p:sp>
    </p:spTree>
    <p:extLst>
      <p:ext uri="{BB962C8B-B14F-4D97-AF65-F5344CB8AC3E}">
        <p14:creationId xmlns:p14="http://schemas.microsoft.com/office/powerpoint/2010/main" val="1180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83A7236-FF3D-4F4B-B28E-DE1AF29A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537" y="2620065"/>
            <a:ext cx="1249982" cy="145779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1&amp;1 =&gt;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1&amp;0 =&gt; 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0&amp;1 =&gt; 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0&amp;0 =&gt; 0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Bitwise operations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348457"/>
            <a:ext cx="8008191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are three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special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operations between two binary bits: AND, OR, and XOR.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56FE38-6129-4248-8C74-2761FDE7D3CD}"/>
              </a:ext>
            </a:extLst>
          </p:cNvPr>
          <p:cNvSpPr/>
          <p:nvPr/>
        </p:nvSpPr>
        <p:spPr>
          <a:xfrm>
            <a:off x="687232" y="1860202"/>
            <a:ext cx="5046303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AND: The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operator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&amp;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If both bits are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result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otherwise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D5EA25A-E45E-47D0-A79D-46C65D5CD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884654"/>
              </p:ext>
            </p:extLst>
          </p:nvPr>
        </p:nvGraphicFramePr>
        <p:xfrm>
          <a:off x="761513" y="2742392"/>
          <a:ext cx="16654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E78A7AC-91A9-4E11-A318-CD67171D0ECB}"/>
              </a:ext>
            </a:extLst>
          </p:cNvPr>
          <p:cNvSpPr/>
          <p:nvPr/>
        </p:nvSpPr>
        <p:spPr>
          <a:xfrm>
            <a:off x="761513" y="4247169"/>
            <a:ext cx="4972021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OR: The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operator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|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If both bits are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result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otherwise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E750D1-EBFE-494D-A574-7954B18DA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31103"/>
              </p:ext>
            </p:extLst>
          </p:nvPr>
        </p:nvGraphicFramePr>
        <p:xfrm>
          <a:off x="761513" y="5307918"/>
          <a:ext cx="166544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|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D3142C3-9399-42D3-A1C2-1993A2F3E303}"/>
              </a:ext>
            </a:extLst>
          </p:cNvPr>
          <p:cNvSpPr txBox="1">
            <a:spLocks/>
          </p:cNvSpPr>
          <p:nvPr/>
        </p:nvSpPr>
        <p:spPr>
          <a:xfrm>
            <a:off x="2716537" y="5050287"/>
            <a:ext cx="1249982" cy="15061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1|1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1|0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0|1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0|0 =&gt; 0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60D5F11-5003-4A3F-922C-C41A69831906}"/>
              </a:ext>
            </a:extLst>
          </p:cNvPr>
          <p:cNvSpPr txBox="1">
            <a:spLocks/>
          </p:cNvSpPr>
          <p:nvPr/>
        </p:nvSpPr>
        <p:spPr>
          <a:xfrm>
            <a:off x="8432023" y="2620065"/>
            <a:ext cx="1249981" cy="1457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1^1 =&gt; 0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1^0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0^1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0^0 =&gt; 0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93AC5B-67A0-4EA7-B5A7-1C15E57C6A2D}"/>
              </a:ext>
            </a:extLst>
          </p:cNvPr>
          <p:cNvSpPr/>
          <p:nvPr/>
        </p:nvSpPr>
        <p:spPr>
          <a:xfrm>
            <a:off x="6458467" y="1810828"/>
            <a:ext cx="4822906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XOR: The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operator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^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If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bits are different,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result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otherwise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A22B29D-F664-4859-BCCF-8D0DBD05A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587406"/>
              </p:ext>
            </p:extLst>
          </p:nvPr>
        </p:nvGraphicFramePr>
        <p:xfrm>
          <a:off x="6458467" y="2730167"/>
          <a:ext cx="16654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^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5556E89-F32E-70EE-B511-AF3E9A8F66E6}"/>
              </a:ext>
            </a:extLst>
          </p:cNvPr>
          <p:cNvSpPr txBox="1"/>
          <p:nvPr/>
        </p:nvSpPr>
        <p:spPr>
          <a:xfrm>
            <a:off x="6458467" y="4430049"/>
            <a:ext cx="497202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NOT: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operator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Possible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kern="10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ingle bit</a:t>
            </a:r>
            <a:r>
              <a:rPr lang="en" altLang="zh-CN" kern="10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EBC290B-A045-504E-A44B-4F760D6BC669}"/>
              </a:ext>
            </a:extLst>
          </p:cNvPr>
          <p:cNvSpPr txBox="1">
            <a:spLocks/>
          </p:cNvSpPr>
          <p:nvPr/>
        </p:nvSpPr>
        <p:spPr>
          <a:xfrm>
            <a:off x="6458467" y="5050287"/>
            <a:ext cx="1249982" cy="687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~1 =&gt; 0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~0 =&gt; 1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BFD758D-52CD-6ECB-63B5-584D1039C7E0}"/>
              </a:ext>
            </a:extLst>
          </p:cNvPr>
          <p:cNvSpPr/>
          <p:nvPr/>
        </p:nvSpPr>
        <p:spPr>
          <a:xfrm>
            <a:off x="5995938" y="3481208"/>
            <a:ext cx="5317330" cy="243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|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26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binary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(two's complement).</a:t>
            </a:r>
          </a:p>
          <a:p>
            <a:pPr marL="444500" lvl="1" indent="-179388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(9)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(1001)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4500" lvl="1" indent="-179388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(26)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(11010)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Right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align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left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pad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performing a bitwise OR operation.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result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back to decimal.</a:t>
            </a:r>
          </a:p>
          <a:p>
            <a:pPr>
              <a:lnSpc>
                <a:spcPct val="12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9|26 = (1001)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11010)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(11011)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=&gt; 27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33303D-7EF0-4878-A1FC-568030BB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449" y="4133256"/>
            <a:ext cx="1760089" cy="9008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Bitwise operations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67A81F-40C2-4A0B-BF85-4B253BDE1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779" y="4133256"/>
            <a:ext cx="1760089" cy="9008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233192"/>
            <a:ext cx="10634659" cy="214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AND, OR, XOR, and NOT operations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possible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multiple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bits.</a:t>
            </a:r>
          </a:p>
          <a:p>
            <a:pPr marL="177800" indent="-177800" algn="just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performing AND, OR, or XOR on two decimal numbers, first convert them to binary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forms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(two's complement), perform bitwise operations, then convert it back to decimal.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performing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operation on a decimal number, first convert it to binary form (two's complement), perform bitwise operation, then convert it back to decimal.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Principle: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Right-a</a:t>
            </a:r>
            <a:r>
              <a:rPr lang="en" altLang="en-US" sz="1600" kern="1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lign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both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numbers,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left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pad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perform bitwise operations.</a:t>
            </a:r>
            <a:endParaRPr lang="zh-CN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AND, OR, and XOR operations only occur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bits, 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carry or borrow operations, the bits do not affect each other.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93E3D7-F078-0BDD-2AF7-3DC9615EA30E}"/>
              </a:ext>
            </a:extLst>
          </p:cNvPr>
          <p:cNvSpPr/>
          <p:nvPr/>
        </p:nvSpPr>
        <p:spPr>
          <a:xfrm>
            <a:off x="678608" y="3481209"/>
            <a:ext cx="5317330" cy="2438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&amp; 26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binary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(two's complement).</a:t>
            </a:r>
          </a:p>
          <a:p>
            <a:pPr marL="444500" lvl="1" indent="-179388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(9)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(1001)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4500" lvl="1" indent="-179388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(26)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(11010)</a:t>
            </a:r>
            <a:r>
              <a:rPr lang="en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Right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lign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left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pad with zeros</a:t>
            </a:r>
          </a:p>
          <a:p>
            <a:pPr>
              <a:lnSpc>
                <a:spcPct val="12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	perform a bitwise AND operation.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3.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result back to decimal.</a:t>
            </a:r>
          </a:p>
          <a:p>
            <a:pPr>
              <a:lnSpc>
                <a:spcPct val="12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9&amp;26 = (1001)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(11010)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(1000)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=&gt; 8</a:t>
            </a:r>
          </a:p>
        </p:txBody>
      </p:sp>
    </p:spTree>
    <p:extLst>
      <p:ext uri="{BB962C8B-B14F-4D97-AF65-F5344CB8AC3E}">
        <p14:creationId xmlns:p14="http://schemas.microsoft.com/office/powerpoint/2010/main" val="363603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Bitwise operation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quiz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7" y="1408319"/>
            <a:ext cx="5094042" cy="189752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integers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satisfy the following conditions: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</a:rPr>
              <a:t>a &amp; b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equals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AU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|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equals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^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=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______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F44AD3B-3361-42AD-A3D1-3BE08797A1CF}"/>
              </a:ext>
            </a:extLst>
          </p:cNvPr>
          <p:cNvSpPr txBox="1">
            <a:spLocks/>
          </p:cNvSpPr>
          <p:nvPr/>
        </p:nvSpPr>
        <p:spPr>
          <a:xfrm>
            <a:off x="675387" y="3552155"/>
            <a:ext cx="4613305" cy="1396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sz="1600" dirty="0">
                <a:latin typeface="Aptos Display" panose="020B0004020202020204" pitchFamily="34" charset="0"/>
              </a:rPr>
              <a:t>[</a:t>
            </a:r>
            <a:r>
              <a:rPr lang="en" altLang="en-US" sz="1600" dirty="0">
                <a:latin typeface="Aptos Display" panose="020B0004020202020204" pitchFamily="34" charset="0"/>
              </a:rPr>
              <a:t>Note</a:t>
            </a:r>
            <a:r>
              <a:rPr lang="en" altLang="zh-CN" sz="1600" dirty="0">
                <a:latin typeface="Aptos Display" panose="020B0004020202020204" pitchFamily="34" charset="0"/>
              </a:rPr>
              <a:t>] </a:t>
            </a:r>
            <a:r>
              <a:rPr lang="en" altLang="en-US" sz="1600" dirty="0">
                <a:latin typeface="Aptos Display" panose="020B0004020202020204" pitchFamily="34" charset="0"/>
              </a:rPr>
              <a:t>To perform bitwise operations, the operands must first be converted to binary</a:t>
            </a:r>
            <a:r>
              <a:rPr lang="zh-CN" altLang="en-US" sz="1600" dirty="0">
                <a:latin typeface="Aptos Display" panose="020B0004020202020204" pitchFamily="34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</a:rPr>
              <a:t>form</a:t>
            </a:r>
            <a:r>
              <a:rPr lang="en" altLang="en-US" sz="1600" dirty="0">
                <a:latin typeface="Aptos Display" panose="020B0004020202020204" pitchFamily="34" charset="0"/>
              </a:rPr>
              <a:t> (two</a:t>
            </a:r>
            <a:r>
              <a:rPr lang="en-US" altLang="zh-CN" sz="1600" dirty="0">
                <a:latin typeface="Aptos Display" panose="020B0004020202020204" pitchFamily="34" charset="0"/>
              </a:rPr>
              <a:t>'</a:t>
            </a:r>
            <a:r>
              <a:rPr lang="en" altLang="en-US" sz="1600" dirty="0">
                <a:latin typeface="Aptos Display" panose="020B0004020202020204" pitchFamily="34" charset="0"/>
              </a:rPr>
              <a:t>s complement).</a:t>
            </a:r>
            <a:r>
              <a:rPr lang="zh-CN" altLang="en-US" sz="1600" dirty="0">
                <a:latin typeface="Aptos Display" panose="020B0004020202020204" pitchFamily="34" charset="0"/>
              </a:rPr>
              <a:t>  </a:t>
            </a:r>
            <a:r>
              <a:rPr lang="en-US" altLang="zh-CN" sz="1600" dirty="0">
                <a:latin typeface="Aptos Display" panose="020B0004020202020204" pitchFamily="34" charset="0"/>
              </a:rPr>
              <a:t>'</a:t>
            </a:r>
            <a:r>
              <a:rPr lang="en" altLang="zh-CN" sz="1600" dirty="0">
                <a:latin typeface="Aptos Display" panose="020B0004020202020204" pitchFamily="34" charset="0"/>
              </a:rPr>
              <a:t>a</a:t>
            </a:r>
            <a:r>
              <a:rPr lang="en-US" altLang="zh-CN" sz="1600" dirty="0">
                <a:latin typeface="Aptos Display" panose="020B0004020202020204" pitchFamily="34" charset="0"/>
              </a:rPr>
              <a:t>'</a:t>
            </a:r>
            <a:r>
              <a:rPr lang="en" altLang="zh-CN" sz="1600" dirty="0">
                <a:latin typeface="Aptos Display" panose="020B0004020202020204" pitchFamily="34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</a:rPr>
              <a:t>and </a:t>
            </a:r>
            <a:r>
              <a:rPr lang="en-US" altLang="zh-CN" sz="1600" dirty="0">
                <a:latin typeface="Aptos Display" panose="020B0004020202020204" pitchFamily="34" charset="0"/>
              </a:rPr>
              <a:t>'</a:t>
            </a:r>
            <a:r>
              <a:rPr lang="en" altLang="zh-CN" sz="1600" dirty="0">
                <a:latin typeface="Aptos Display" panose="020B0004020202020204" pitchFamily="34" charset="0"/>
              </a:rPr>
              <a:t>b</a:t>
            </a:r>
            <a:r>
              <a:rPr lang="en-US" altLang="zh-CN" sz="1600" dirty="0">
                <a:latin typeface="Aptos Display" panose="020B0004020202020204" pitchFamily="34" charset="0"/>
              </a:rPr>
              <a:t>'</a:t>
            </a:r>
            <a:r>
              <a:rPr lang="en" altLang="zh-CN" sz="1600" dirty="0">
                <a:latin typeface="Aptos Display" panose="020B0004020202020204" pitchFamily="34" charset="0"/>
              </a:rPr>
              <a:t> discussed</a:t>
            </a:r>
            <a:r>
              <a:rPr lang="zh-CN" altLang="en-US" sz="1600" dirty="0">
                <a:latin typeface="Aptos Display" panose="020B0004020202020204" pitchFamily="34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</a:rPr>
              <a:t>thereafter</a:t>
            </a:r>
            <a:r>
              <a:rPr lang="en" altLang="zh-CN" sz="1600" dirty="0">
                <a:latin typeface="Aptos Display" panose="020B0004020202020204" pitchFamily="34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</a:rPr>
              <a:t>mean</a:t>
            </a:r>
            <a:r>
              <a:rPr lang="en" altLang="en-US" sz="1600" dirty="0">
                <a:latin typeface="Aptos Display" panose="020B0004020202020204" pitchFamily="34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</a:rPr>
              <a:t>their</a:t>
            </a:r>
            <a:r>
              <a:rPr lang="en" altLang="en-US" sz="1600" dirty="0">
                <a:latin typeface="Aptos Display" panose="020B0004020202020204" pitchFamily="34" charset="0"/>
              </a:rPr>
              <a:t> two's complement form.</a:t>
            </a:r>
            <a:endParaRPr lang="en-US" altLang="zh-CN" sz="1600" dirty="0">
              <a:latin typeface="Aptos Display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DF91B2-B80C-3CB6-F0B7-369C4B515EB3}"/>
              </a:ext>
            </a:extLst>
          </p:cNvPr>
          <p:cNvSpPr txBox="1"/>
          <p:nvPr/>
        </p:nvSpPr>
        <p:spPr>
          <a:xfrm>
            <a:off x="6095999" y="2357082"/>
            <a:ext cx="5618205" cy="3099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From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a&amp;b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we know that the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isn’t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any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</a:rPr>
              <a:t>'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</a:rPr>
              <a:t>'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 the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same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position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 (Because if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there’s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any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matching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1’s,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result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of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can’t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contradicting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a&amp;b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since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1’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are in staggered positions, we know from 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a|b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that the sum of the number of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1s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can only be 1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Therefore,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between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other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Therefore, 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a^b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852BCC-B917-527D-5C86-4060F3216DE6}"/>
              </a:ext>
            </a:extLst>
          </p:cNvPr>
          <p:cNvSpPr txBox="1"/>
          <p:nvPr/>
        </p:nvSpPr>
        <p:spPr>
          <a:xfrm>
            <a:off x="6096000" y="1408319"/>
            <a:ext cx="56182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a: 00000000 00000000 00000000 00000000</a:t>
            </a:r>
          </a:p>
          <a:p>
            <a:pPr marL="0" lvl="1"/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b: 00000000 00000000 00000000 00000001</a:t>
            </a:r>
          </a:p>
        </p:txBody>
      </p:sp>
    </p:spTree>
    <p:extLst>
      <p:ext uri="{BB962C8B-B14F-4D97-AF65-F5344CB8AC3E}">
        <p14:creationId xmlns:p14="http://schemas.microsoft.com/office/powerpoint/2010/main" val="200994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Bitwise operation tips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9A12839-39B6-AA5B-DB80-831B0F9240FB}"/>
              </a:ext>
            </a:extLst>
          </p:cNvPr>
          <p:cNvSpPr txBox="1">
            <a:spLocks/>
          </p:cNvSpPr>
          <p:nvPr/>
        </p:nvSpPr>
        <p:spPr>
          <a:xfrm>
            <a:off x="675386" y="2557848"/>
            <a:ext cx="5313289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underscore to convert lowercase to uppercase.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'b'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'_'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'B'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'B'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'_'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'B'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DEAEE2C-5422-050F-D798-9C4F3F5B9FFA}"/>
              </a:ext>
            </a:extLst>
          </p:cNvPr>
          <p:cNvSpPr txBox="1">
            <a:spLocks/>
          </p:cNvSpPr>
          <p:nvPr/>
        </p:nvSpPr>
        <p:spPr>
          <a:xfrm>
            <a:off x="675387" y="3707377"/>
            <a:ext cx="4890912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spaces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flip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cases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'd'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^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'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'D'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'D'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^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'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'd'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9AB6FE5-364C-64D8-36B7-BDA9ACFEE561}"/>
              </a:ext>
            </a:extLst>
          </p:cNvPr>
          <p:cNvSpPr txBox="1">
            <a:spLocks/>
          </p:cNvSpPr>
          <p:nvPr/>
        </p:nvSpPr>
        <p:spPr>
          <a:xfrm>
            <a:off x="675387" y="4856906"/>
            <a:ext cx="2763272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Increment by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n=1;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-~n;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// n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becomes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</a:t>
            </a:r>
            <a:endParaRPr lang="zh-CN" altLang="zh-CN" sz="1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7BFC0E8-4816-A499-ACBA-BB46A7E75529}"/>
              </a:ext>
            </a:extLst>
          </p:cNvPr>
          <p:cNvSpPr txBox="1">
            <a:spLocks/>
          </p:cNvSpPr>
          <p:nvPr/>
        </p:nvSpPr>
        <p:spPr>
          <a:xfrm>
            <a:off x="3288306" y="4856905"/>
            <a:ext cx="2700369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Decrement by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n=2;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~-n;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// n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becomes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endParaRPr lang="zh-CN" altLang="zh-CN" sz="1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CEF83FF-CC47-A5AB-C9F7-4336747CC1B8}"/>
              </a:ext>
            </a:extLst>
          </p:cNvPr>
          <p:cNvSpPr txBox="1">
            <a:spLocks/>
          </p:cNvSpPr>
          <p:nvPr/>
        </p:nvSpPr>
        <p:spPr>
          <a:xfrm>
            <a:off x="6096000" y="1408319"/>
            <a:ext cx="4890912" cy="1680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 the values of two variables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a=3, b=5;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a^=b;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b^=a;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a^=b;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//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Now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5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</a:t>
            </a:r>
            <a:r>
              <a:rPr lang="en" altLang="zh-CN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3 </a:t>
            </a:r>
            <a:r>
              <a:rPr lang="en" altLang="en-US" sz="1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  <a:r>
              <a:rPr lang="en" altLang="zh-CN" sz="1800" dirty="0">
                <a:solidFill>
                  <a:srgbClr val="00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0531329-2C89-01E9-394B-286C1B4AC116}"/>
              </a:ext>
            </a:extLst>
          </p:cNvPr>
          <p:cNvSpPr txBox="1">
            <a:spLocks/>
          </p:cNvSpPr>
          <p:nvPr/>
        </p:nvSpPr>
        <p:spPr>
          <a:xfrm>
            <a:off x="6096000" y="3089189"/>
            <a:ext cx="4890912" cy="1680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 if two numbers have opposite signs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a^b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)&lt;0)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diff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8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e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51442106-8562-BC69-6946-956514EDC167}"/>
              </a:ext>
            </a:extLst>
          </p:cNvPr>
          <p:cNvSpPr txBox="1">
            <a:spLocks/>
          </p:cNvSpPr>
          <p:nvPr/>
        </p:nvSpPr>
        <p:spPr>
          <a:xfrm>
            <a:off x="6096000" y="4770059"/>
            <a:ext cx="1783722" cy="741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800" dirty="0">
                <a:latin typeface="Aptos Display" panose="020B0004020202020204" pitchFamily="34" charset="0"/>
              </a:rPr>
              <a:t>Input: 	</a:t>
            </a:r>
            <a:r>
              <a:rPr lang="en" altLang="zh-CN" sz="1800" dirty="0">
                <a:latin typeface="Consolas" panose="020B0609020204030204" pitchFamily="49" charset="0"/>
              </a:rPr>
              <a:t>-1 2</a:t>
            </a:r>
          </a:p>
          <a:p>
            <a:r>
              <a:rPr lang="en" altLang="en-US" sz="1800" dirty="0">
                <a:latin typeface="Aptos Display" panose="020B0004020202020204" pitchFamily="34" charset="0"/>
              </a:rPr>
              <a:t>Output: 	</a:t>
            </a:r>
            <a:r>
              <a:rPr lang="en" altLang="zh-CN" sz="1800" dirty="0">
                <a:latin typeface="Consolas" panose="020B0609020204030204" pitchFamily="49" charset="0"/>
              </a:rPr>
              <a:t>diff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A56D789-834A-FB94-ED0C-CD2461CC0B56}"/>
              </a:ext>
            </a:extLst>
          </p:cNvPr>
          <p:cNvSpPr txBox="1">
            <a:spLocks/>
          </p:cNvSpPr>
          <p:nvPr/>
        </p:nvSpPr>
        <p:spPr>
          <a:xfrm>
            <a:off x="8126627" y="4770059"/>
            <a:ext cx="1783722" cy="741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800" dirty="0">
                <a:latin typeface="Aptos Display" panose="020B0004020202020204" pitchFamily="34" charset="0"/>
              </a:rPr>
              <a:t>Input: 	</a:t>
            </a:r>
            <a:r>
              <a:rPr lang="en" altLang="zh-CN" sz="1800" dirty="0">
                <a:latin typeface="Consolas" panose="020B0609020204030204" pitchFamily="49" charset="0"/>
              </a:rPr>
              <a:t>3 2</a:t>
            </a:r>
          </a:p>
          <a:p>
            <a:r>
              <a:rPr lang="en" altLang="en-US" sz="1800" dirty="0">
                <a:latin typeface="Aptos Display" panose="020B0004020202020204" pitchFamily="34" charset="0"/>
              </a:rPr>
              <a:t>Output: 	</a:t>
            </a:r>
            <a:r>
              <a:rPr lang="en" altLang="zh-CN" sz="1800" dirty="0">
                <a:latin typeface="Consolas" panose="020B0609020204030204" pitchFamily="49" charset="0"/>
              </a:rPr>
              <a:t>same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537DB8-0FFC-F5C5-1205-35FBA180BC96}"/>
              </a:ext>
            </a:extLst>
          </p:cNvPr>
          <p:cNvSpPr/>
          <p:nvPr/>
        </p:nvSpPr>
        <p:spPr>
          <a:xfrm>
            <a:off x="675387" y="1408318"/>
            <a:ext cx="509434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space to convert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uppercase to lowercase.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'A'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'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'a'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'a'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'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'a'</a:t>
            </a:r>
            <a:endParaRPr lang="zh-CN" altLang="zh-CN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1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6D4BE2F-1F14-49D8-829C-DF22C03223A9}"/>
              </a:ext>
            </a:extLst>
          </p:cNvPr>
          <p:cNvSpPr txBox="1">
            <a:spLocks/>
          </p:cNvSpPr>
          <p:nvPr/>
        </p:nvSpPr>
        <p:spPr>
          <a:xfrm>
            <a:off x="4778480" y="1343236"/>
            <a:ext cx="3849054" cy="83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ct val="125000"/>
              <a:buNone/>
            </a:pP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Analysis: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data range: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10⁹, there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many ways.  Since the data range of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 is -2³¹ to 2³¹-1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approximately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-2.1×10⁹ 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2.1×10⁹,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we can process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within int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range, which will not exceed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to the power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30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Minister's New Trick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8" y="1678906"/>
            <a:ext cx="4103090" cy="175009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Remember "The Minister's Wheat"? On an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8x8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chessboard, the first square has one grain of wheat, the second square has two, and each subsequent square has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twice the number of grains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Filling all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64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squares with wheat was quite a task for the king!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Now, the minister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comes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up with a new trick: he wants to check if the number of wheat grains (within the integer range) in the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square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correct. His method is quite unique: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check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number of wheat grains is a power of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example,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024 = </a:t>
            </a:r>
            <a:r>
              <a:rPr lang="en" altLang="zh-CN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baseline="300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he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thihnks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1024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correct number of wheat grains.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Please </a:t>
            </a:r>
            <a:r>
              <a:rPr lang="en" altLang="en-US" sz="120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write a program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solve the minister's problem.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C9C459-5585-4CE2-8EC5-41D7EDBC073A}"/>
              </a:ext>
            </a:extLst>
          </p:cNvPr>
          <p:cNvSpPr/>
          <p:nvPr/>
        </p:nvSpPr>
        <p:spPr>
          <a:xfrm>
            <a:off x="678609" y="1343236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9BFDA-833D-4BA6-B1C7-E51AD842B1EC}"/>
              </a:ext>
            </a:extLst>
          </p:cNvPr>
          <p:cNvSpPr/>
          <p:nvPr/>
        </p:nvSpPr>
        <p:spPr>
          <a:xfrm>
            <a:off x="675387" y="3712584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-US" altLang="zh-CN" sz="1600" b="1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976F0EA-8EEB-4327-AF56-DEE737A2926D}"/>
              </a:ext>
            </a:extLst>
          </p:cNvPr>
          <p:cNvSpPr txBox="1">
            <a:spLocks/>
          </p:cNvSpPr>
          <p:nvPr/>
        </p:nvSpPr>
        <p:spPr>
          <a:xfrm>
            <a:off x="675386" y="4574085"/>
            <a:ext cx="3887735" cy="295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If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is an integer power of </a:t>
            </a:r>
            <a:r>
              <a:rPr lang="en" altLang="zh-CN" dirty="0">
                <a:latin typeface="Aptos Display" panose="020B0004020202020204" pitchFamily="34" charset="0"/>
              </a:rPr>
              <a:t>2</a:t>
            </a:r>
            <a:r>
              <a:rPr lang="en" altLang="en-US" dirty="0">
                <a:latin typeface="Aptos Display" panose="020B0004020202020204" pitchFamily="34" charset="0"/>
              </a:rPr>
              <a:t>, output </a:t>
            </a:r>
            <a:r>
              <a:rPr lang="en" altLang="zh-CN" dirty="0">
                <a:latin typeface="Aptos Display" panose="020B0004020202020204" pitchFamily="34" charset="0"/>
              </a:rPr>
              <a:t>Yes</a:t>
            </a:r>
            <a:r>
              <a:rPr lang="en" altLang="en-US" dirty="0">
                <a:latin typeface="Aptos Display" panose="020B0004020202020204" pitchFamily="34" charset="0"/>
              </a:rPr>
              <a:t>; otherwise output </a:t>
            </a:r>
            <a:r>
              <a:rPr lang="en" altLang="en-US">
                <a:latin typeface="Aptos Display" panose="020B0004020202020204" pitchFamily="34" charset="0"/>
              </a:rPr>
              <a:t>No.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A4DD0B-3718-4239-BCC5-8A5846B66C31}"/>
              </a:ext>
            </a:extLst>
          </p:cNvPr>
          <p:cNvSpPr/>
          <p:nvPr/>
        </p:nvSpPr>
        <p:spPr>
          <a:xfrm>
            <a:off x="671357" y="4246236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endParaRPr lang="en-US" altLang="zh-CN" sz="1600" b="1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ABC4A0B-3FCF-4776-A8ED-18DA4476CBDA}"/>
              </a:ext>
            </a:extLst>
          </p:cNvPr>
          <p:cNvSpPr txBox="1">
            <a:spLocks/>
          </p:cNvSpPr>
          <p:nvPr/>
        </p:nvSpPr>
        <p:spPr>
          <a:xfrm>
            <a:off x="675386" y="3981896"/>
            <a:ext cx="3316338" cy="3011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zh-CN">
                <a:latin typeface="Aptos Display" panose="020B0004020202020204" pitchFamily="34" charset="0"/>
              </a:rPr>
              <a:t>A </a:t>
            </a:r>
            <a:r>
              <a:rPr lang="en" altLang="en-US" dirty="0">
                <a:latin typeface="Aptos Display" panose="020B0004020202020204" pitchFamily="34" charset="0"/>
              </a:rPr>
              <a:t>positive integer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(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≤ </a:t>
            </a:r>
            <a:r>
              <a:rPr lang="en" altLang="zh-CN" dirty="0">
                <a:latin typeface="Aptos Display" panose="020B0004020202020204" pitchFamily="34" charset="0"/>
              </a:rPr>
              <a:t>10⁹ </a:t>
            </a:r>
            <a:r>
              <a:rPr lang="en" altLang="en-US" dirty="0">
                <a:latin typeface="Aptos Display" panose="020B0004020202020204" pitchFamily="34" charset="0"/>
              </a:rPr>
              <a:t>).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437BDC6B-D94D-43BF-9AB7-E1B41EA68663}"/>
              </a:ext>
            </a:extLst>
          </p:cNvPr>
          <p:cNvSpPr txBox="1">
            <a:spLocks/>
          </p:cNvSpPr>
          <p:nvPr/>
        </p:nvSpPr>
        <p:spPr>
          <a:xfrm>
            <a:off x="675386" y="4869401"/>
            <a:ext cx="1277914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Sample Input </a:t>
            </a:r>
            <a:r>
              <a:rPr lang="en" altLang="zh-CN" dirty="0">
                <a:latin typeface="Aptos Display" panose="020B0004020202020204" pitchFamily="34" charset="0"/>
              </a:rPr>
              <a:t>1 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zh-CN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034EC7-7B9E-4E2E-B96F-50EA58B01D8D}"/>
              </a:ext>
            </a:extLst>
          </p:cNvPr>
          <p:cNvSpPr/>
          <p:nvPr/>
        </p:nvSpPr>
        <p:spPr>
          <a:xfrm>
            <a:off x="2269047" y="4869401"/>
            <a:ext cx="1528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2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C290B339-AD78-4B04-BDD9-0280A11828B9}"/>
              </a:ext>
            </a:extLst>
          </p:cNvPr>
          <p:cNvSpPr txBox="1">
            <a:spLocks/>
          </p:cNvSpPr>
          <p:nvPr/>
        </p:nvSpPr>
        <p:spPr>
          <a:xfrm>
            <a:off x="668135" y="5427914"/>
            <a:ext cx="1236476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Sample Input </a:t>
            </a:r>
            <a:r>
              <a:rPr lang="en" altLang="zh-CN" dirty="0">
                <a:latin typeface="Aptos Display" panose="020B0004020202020204" pitchFamily="34" charset="0"/>
              </a:rPr>
              <a:t>2 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zh-CN" dirty="0">
                <a:latin typeface="Consolas" panose="020B0609020204030204" pitchFamily="49" charset="0"/>
              </a:rPr>
              <a:t>1024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752EF4-410D-4F7B-9990-66A3AE80D995}"/>
              </a:ext>
            </a:extLst>
          </p:cNvPr>
          <p:cNvSpPr/>
          <p:nvPr/>
        </p:nvSpPr>
        <p:spPr>
          <a:xfrm>
            <a:off x="2269047" y="5427807"/>
            <a:ext cx="1528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2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74B33DE-9CE2-47F5-99E4-62278339E248}"/>
              </a:ext>
            </a:extLst>
          </p:cNvPr>
          <p:cNvSpPr txBox="1">
            <a:spLocks/>
          </p:cNvSpPr>
          <p:nvPr/>
        </p:nvSpPr>
        <p:spPr>
          <a:xfrm>
            <a:off x="675386" y="5961566"/>
            <a:ext cx="1281136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Sample Input </a:t>
            </a:r>
            <a:r>
              <a:rPr lang="en" altLang="zh-CN" dirty="0">
                <a:latin typeface="Aptos Display" panose="020B0004020202020204" pitchFamily="34" charset="0"/>
              </a:rPr>
              <a:t>3 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zh-CN" dirty="0">
                <a:latin typeface="Consolas" panose="020B0609020204030204" pitchFamily="49" charset="0"/>
              </a:rPr>
              <a:t>1023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CE82B0-A9E8-446A-B52C-76C3D7E917EE}"/>
              </a:ext>
            </a:extLst>
          </p:cNvPr>
          <p:cNvSpPr/>
          <p:nvPr/>
        </p:nvSpPr>
        <p:spPr>
          <a:xfrm>
            <a:off x="2269047" y="5961565"/>
            <a:ext cx="1528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B9CB1901-FA09-4E23-984F-B0868837B687}"/>
              </a:ext>
            </a:extLst>
          </p:cNvPr>
          <p:cNvSpPr txBox="1">
            <a:spLocks/>
          </p:cNvSpPr>
          <p:nvPr/>
        </p:nvSpPr>
        <p:spPr>
          <a:xfrm>
            <a:off x="8551334" y="1411881"/>
            <a:ext cx="3581400" cy="2754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" altLang="zh-CN" sz="12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05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05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sz="105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" altLang="zh-CN" sz="105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j*=2)</a:t>
            </a:r>
            <a:endParaRPr lang="zh-CN" altLang="zh-CN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13A5B94F-391C-486F-AF36-5743D034AB1A}"/>
              </a:ext>
            </a:extLst>
          </p:cNvPr>
          <p:cNvSpPr txBox="1">
            <a:spLocks/>
          </p:cNvSpPr>
          <p:nvPr/>
        </p:nvSpPr>
        <p:spPr>
          <a:xfrm>
            <a:off x="4778477" y="3989454"/>
            <a:ext cx="6980049" cy="28767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</a:t>
            </a:r>
            <a:r>
              <a:rPr lang="en" altLang="zh-CN" sz="12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p[40]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{1, 2, 4, 8, 16, 32, 64, 128, 256, 512, 1024, 2048, 4096, 8192, 16384, 32768, 65536, 131072, 262144, 524288, 1048576, 2097152, 4194304, 8388608, 16777216, 33554432, 67108864, 134217728, 268435456, 536870912, 1073741824};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72A4A-FCE6-4F74-9ED7-72C9F9F9E50F}"/>
              </a:ext>
            </a:extLst>
          </p:cNvPr>
          <p:cNvSpPr/>
          <p:nvPr/>
        </p:nvSpPr>
        <p:spPr>
          <a:xfrm>
            <a:off x="4778480" y="2095857"/>
            <a:ext cx="38490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Approach A: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Let’s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"try".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 is, calculate the values of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...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30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Compare the input number with each of them. If they is a match, output </a:t>
            </a:r>
            <a:r>
              <a:rPr lang="en" altLang="zh-CN" sz="12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Yes" ; otherwise, compare with the next,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until the input 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exc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eds the next calculated power, then output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"No"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388382-FE97-4BE1-B126-5207636F467D}"/>
              </a:ext>
            </a:extLst>
          </p:cNvPr>
          <p:cNvSpPr/>
          <p:nvPr/>
        </p:nvSpPr>
        <p:spPr>
          <a:xfrm>
            <a:off x="4778477" y="3022041"/>
            <a:ext cx="38490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Approach B: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Since we need to calculate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powers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2, why don’t we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pre-calculate these powers and store them in an array.  Then we iterate through the array and compare them with the input number. </a:t>
            </a:r>
            <a:b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approach is called preprocessing, or "table lookup".</a:t>
            </a:r>
          </a:p>
        </p:txBody>
      </p:sp>
    </p:spTree>
    <p:extLst>
      <p:ext uri="{BB962C8B-B14F-4D97-AF65-F5344CB8AC3E}">
        <p14:creationId xmlns:p14="http://schemas.microsoft.com/office/powerpoint/2010/main" val="254400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4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en-US" sz="400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Minister's New Trick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8" y="1408318"/>
            <a:ext cx="4697096" cy="50485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Converting a 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binary means having a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a number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0s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 the number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0s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corresponds to the 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minus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converted to binary, is all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(the 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equals the number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we perform a bitwise AND operation on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and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powers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minus 1, the result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always be 0.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 is,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800" baseline="30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&amp; (2</a:t>
            </a:r>
            <a:r>
              <a:rPr lang="en" altLang="zh-CN" sz="1800" baseline="30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- 1) == 0 is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always true 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It is easy to prove that for any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that is not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power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&amp; (x-1)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always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non-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ABC4A0B-3FCF-4776-A8ED-18DA4476CBDA}"/>
              </a:ext>
            </a:extLst>
          </p:cNvPr>
          <p:cNvSpPr txBox="1">
            <a:spLocks/>
          </p:cNvSpPr>
          <p:nvPr/>
        </p:nvSpPr>
        <p:spPr>
          <a:xfrm>
            <a:off x="5624385" y="1408317"/>
            <a:ext cx="3242524" cy="1800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en-US" sz="1800" dirty="0">
                <a:latin typeface="Aptos Display" panose="020B0004020202020204" pitchFamily="34" charset="0"/>
              </a:rPr>
              <a:t>Therefore, we arrived at a third approach: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>
                <a:latin typeface="Aptos Display" panose="020B0004020202020204" pitchFamily="34" charset="0"/>
              </a:rPr>
              <a:t>AND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input number </a:t>
            </a:r>
            <a:r>
              <a:rPr lang="en-US" altLang="zh-CN" sz="1800" dirty="0">
                <a:latin typeface="Aptos Display" panose="020B0004020202020204" pitchFamily="34" charset="0"/>
              </a:rPr>
              <a:t>with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the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number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minus</a:t>
            </a:r>
            <a:r>
              <a:rPr lang="en" altLang="en-US" sz="1800" dirty="0">
                <a:latin typeface="Aptos Display" panose="020B0004020202020204" pitchFamily="34" charset="0"/>
              </a:rPr>
              <a:t> </a:t>
            </a:r>
            <a:r>
              <a:rPr lang="en" altLang="zh-CN" sz="1800" dirty="0">
                <a:latin typeface="Aptos Display" panose="020B0004020202020204" pitchFamily="34" charset="0"/>
              </a:rPr>
              <a:t>1. </a:t>
            </a:r>
            <a:r>
              <a:rPr lang="en" altLang="en-US" sz="1800" dirty="0">
                <a:latin typeface="Aptos Display" panose="020B0004020202020204" pitchFamily="34" charset="0"/>
              </a:rPr>
              <a:t>If the result is </a:t>
            </a:r>
            <a:r>
              <a:rPr lang="en" altLang="zh-CN" sz="1800" dirty="0">
                <a:latin typeface="Aptos Display" panose="020B0004020202020204" pitchFamily="34" charset="0"/>
              </a:rPr>
              <a:t>0</a:t>
            </a:r>
            <a:r>
              <a:rPr lang="en" altLang="en-US" sz="1800" dirty="0">
                <a:latin typeface="Aptos Display" panose="020B0004020202020204" pitchFamily="34" charset="0"/>
              </a:rPr>
              <a:t>, </a:t>
            </a:r>
            <a:r>
              <a:rPr lang="en-US" altLang="zh-CN" sz="1800" dirty="0">
                <a:latin typeface="Aptos Display" panose="020B0004020202020204" pitchFamily="34" charset="0"/>
              </a:rPr>
              <a:t>it’s</a:t>
            </a:r>
            <a:r>
              <a:rPr lang="en" altLang="en-US" sz="1800" dirty="0">
                <a:latin typeface="Aptos Display" panose="020B0004020202020204" pitchFamily="34" charset="0"/>
              </a:rPr>
              <a:t> a power of </a:t>
            </a:r>
            <a:r>
              <a:rPr lang="en-US" altLang="zh-CN" sz="1800" dirty="0">
                <a:latin typeface="Aptos Display" panose="020B0004020202020204" pitchFamily="34" charset="0"/>
              </a:rPr>
              <a:t>2,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otherwise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not.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B9CB1901-FA09-4E23-984F-B0868837B687}"/>
              </a:ext>
            </a:extLst>
          </p:cNvPr>
          <p:cNvSpPr txBox="1">
            <a:spLocks/>
          </p:cNvSpPr>
          <p:nvPr/>
        </p:nvSpPr>
        <p:spPr>
          <a:xfrm>
            <a:off x="8991007" y="1408318"/>
            <a:ext cx="3074351" cy="3231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</a:t>
            </a:r>
            <a:r>
              <a:rPr lang="en" altLang="zh-CN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(n&amp;(n-1))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6AB28DA-84A9-4466-8F02-AD4A98063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70" y="3254707"/>
            <a:ext cx="3074351" cy="789852"/>
          </a:xfrm>
          <a:prstGeom prst="rect">
            <a:avLst/>
          </a:prstGeom>
        </p:spPr>
      </p:pic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F44AD3B-3361-42AD-A3D1-3BE08797A1CF}"/>
              </a:ext>
            </a:extLst>
          </p:cNvPr>
          <p:cNvSpPr txBox="1">
            <a:spLocks/>
          </p:cNvSpPr>
          <p:nvPr/>
        </p:nvSpPr>
        <p:spPr>
          <a:xfrm>
            <a:off x="5664755" y="4090898"/>
            <a:ext cx="2817934" cy="412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000" dirty="0">
                <a:latin typeface="Aptos Display" panose="020B0004020202020204" pitchFamily="34" charset="0"/>
              </a:rPr>
              <a:t>1024 &amp; (1024 - 1) == 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1AA5D0-26C0-912D-86BD-75BB809C1ADD}"/>
              </a:ext>
            </a:extLst>
          </p:cNvPr>
          <p:cNvSpPr txBox="1">
            <a:spLocks/>
          </p:cNvSpPr>
          <p:nvPr/>
        </p:nvSpPr>
        <p:spPr>
          <a:xfrm>
            <a:off x="5372484" y="4503130"/>
            <a:ext cx="5530467" cy="19769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 </a:t>
            </a:r>
            <a:r>
              <a:rPr lang="en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 </a:t>
            </a:r>
            <a:r>
              <a:rPr lang="en" altLang="zh-CN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Bitwise operators have very low precedence; the following program is incorrect:</a:t>
            </a:r>
            <a:endParaRPr lang="en-US" altLang="zh-CN" sz="1600" dirty="0">
              <a:solidFill>
                <a:srgbClr val="C7254E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(n&amp;(n-1) == 0)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 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 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6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It should be:</a:t>
            </a:r>
            <a:endParaRPr lang="en-US" altLang="zh-CN" sz="16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((n&amp;(n-1))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5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8" y="1450601"/>
            <a:ext cx="7163642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Left shift (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): Shifts each bit left a number of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6238DF-DB34-6D28-9A91-674CAC46C337}"/>
              </a:ext>
            </a:extLst>
          </p:cNvPr>
          <p:cNvSpPr/>
          <p:nvPr/>
        </p:nvSpPr>
        <p:spPr>
          <a:xfrm>
            <a:off x="7896126" y="1450601"/>
            <a:ext cx="37878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Mathematical meaning:</a:t>
            </a:r>
            <a:endParaRPr lang="en-US" altLang="zh-CN" sz="2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Shifting left by one bit is equivalent to multiplying by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16BFC9-CE3D-60DB-99D2-3AF4A3CE17ED}"/>
              </a:ext>
            </a:extLst>
          </p:cNvPr>
          <p:cNvSpPr txBox="1"/>
          <p:nvPr/>
        </p:nvSpPr>
        <p:spPr>
          <a:xfrm>
            <a:off x="678608" y="2006287"/>
            <a:ext cx="7163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= 75;</a:t>
            </a:r>
          </a:p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Find</a:t>
            </a:r>
            <a:r>
              <a:rPr lang="e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&lt;&lt; 2;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2984CF-9654-34EB-00D2-EF135C6E7CA4}"/>
              </a:ext>
            </a:extLst>
          </p:cNvPr>
          <p:cNvSpPr txBox="1"/>
          <p:nvPr/>
        </p:nvSpPr>
        <p:spPr>
          <a:xfrm>
            <a:off x="678608" y="2842972"/>
            <a:ext cx="7163642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binary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(two's complement form).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(75)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00000000 00000000 00000000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06ADB3-09D7-6656-5FE7-66802CD3F54C}"/>
              </a:ext>
            </a:extLst>
          </p:cNvPr>
          <p:cNvSpPr txBox="1"/>
          <p:nvPr/>
        </p:nvSpPr>
        <p:spPr>
          <a:xfrm>
            <a:off x="678608" y="3498023"/>
            <a:ext cx="7163642" cy="1448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 startAt="2"/>
            </a:pP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left, filling the lower bits (right side) with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and discarding the higher bits (left side).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739EC1-7FD5-8F75-688A-7AADA033D376}"/>
              </a:ext>
            </a:extLst>
          </p:cNvPr>
          <p:cNvSpPr txBox="1"/>
          <p:nvPr/>
        </p:nvSpPr>
        <p:spPr>
          <a:xfrm>
            <a:off x="678608" y="4973812"/>
            <a:ext cx="7163642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 startAt="3"/>
            </a:pP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third step is to convert the resulting binary number back to decimal.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00000000 00000000 00000001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00101100)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(300)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zh-CN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0E2F9F-5604-4054-71C4-ED39B5588989}"/>
              </a:ext>
            </a:extLst>
          </p:cNvPr>
          <p:cNvSpPr txBox="1"/>
          <p:nvPr/>
        </p:nvSpPr>
        <p:spPr>
          <a:xfrm>
            <a:off x="7896125" y="3020261"/>
            <a:ext cx="4008007" cy="1073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Compound assignment syntax: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= 75;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Equivalent to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  <a:endParaRPr lang="zh-CN" altLang="en-US" sz="14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96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9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5F52-6696-8005-54C9-027BE95C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D43D2B1-EB89-4C47-A87C-A42C370FC90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5E8459-761D-0A88-8964-86587DD32AEE}"/>
              </a:ext>
            </a:extLst>
          </p:cNvPr>
          <p:cNvSpPr txBox="1"/>
          <p:nvPr/>
        </p:nvSpPr>
        <p:spPr>
          <a:xfrm>
            <a:off x="678608" y="1450601"/>
            <a:ext cx="7277942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Right shift (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):</a:t>
            </a:r>
            <a:r>
              <a:rPr lang="zh-C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Shifts each bit to the right by a number of </a:t>
            </a:r>
            <a:r>
              <a:rPr lang="en-US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962407-2854-8876-A4AE-CB04C60D7AFB}"/>
              </a:ext>
            </a:extLst>
          </p:cNvPr>
          <p:cNvSpPr/>
          <p:nvPr/>
        </p:nvSpPr>
        <p:spPr>
          <a:xfrm>
            <a:off x="7956550" y="1468908"/>
            <a:ext cx="35568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Mathematical meaning:</a:t>
            </a:r>
            <a:endParaRPr lang="en-US" altLang="zh-CN" sz="2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Shifting right by one </a:t>
            </a:r>
            <a:r>
              <a:rPr lang="en-US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equivalent to dividing by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A71C8-98FD-0647-9D57-944808C2EF5E}"/>
              </a:ext>
            </a:extLst>
          </p:cNvPr>
          <p:cNvSpPr txBox="1"/>
          <p:nvPr/>
        </p:nvSpPr>
        <p:spPr>
          <a:xfrm>
            <a:off x="678608" y="2141754"/>
            <a:ext cx="7277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= -2147483573;</a:t>
            </a:r>
          </a:p>
          <a:p>
            <a:pPr marL="0" lvl="1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Find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&gt;&gt; 3;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E8AC48-603F-9233-1D41-75338C3FA1A0}"/>
              </a:ext>
            </a:extLst>
          </p:cNvPr>
          <p:cNvSpPr txBox="1"/>
          <p:nvPr/>
        </p:nvSpPr>
        <p:spPr>
          <a:xfrm>
            <a:off x="678608" y="2842972"/>
            <a:ext cx="7277942" cy="6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onvert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binary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form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(two's complement).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(-2147483573)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10000000 00000000 00000000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01001011)</a:t>
            </a:r>
            <a:r>
              <a:rPr lang="en" altLang="zh-CN" sz="1600" baseline="-250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751CEC-10F2-4607-BD26-EBEFF9DE7130}"/>
              </a:ext>
            </a:extLst>
          </p:cNvPr>
          <p:cNvSpPr txBox="1"/>
          <p:nvPr/>
        </p:nvSpPr>
        <p:spPr>
          <a:xfrm>
            <a:off x="678608" y="3498023"/>
            <a:ext cx="7277942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 startAt="2"/>
            </a:pP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hift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digits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right. 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unsigned numbers, fill the high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er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(left side) with </a:t>
            </a:r>
            <a:r>
              <a:rPr lang="en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for signed numbers, fill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igh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er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(left side) with the sign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iscard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low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er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(right side).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0000000 00000000 00000000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000000 00000000 00000000 0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00000 00000000 00000000 00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0000 00000000 00000000 000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</a:t>
            </a:r>
            <a:endParaRPr lang="en-US" altLang="zh-CN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4EA87E-DA7E-C48D-F3E8-7F561AAA89B4}"/>
              </a:ext>
            </a:extLst>
          </p:cNvPr>
          <p:cNvSpPr txBox="1"/>
          <p:nvPr/>
        </p:nvSpPr>
        <p:spPr>
          <a:xfrm>
            <a:off x="678608" y="5508830"/>
            <a:ext cx="7277942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SzPct val="100000"/>
              <a:buFont typeface="+mj-lt"/>
              <a:buAutoNum type="arabicPeriod" startAt="3"/>
            </a:pPr>
            <a:r>
              <a:rPr lang="en-US" altLang="zh-CN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</a:t>
            </a:r>
            <a:r>
              <a:rPr lang="en" altLang="en-US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onvert</a:t>
            </a:r>
            <a:r>
              <a:rPr lang="en" altLang="en-US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the result back to decimal.</a:t>
            </a:r>
            <a:endParaRPr lang="en-US" altLang="zh-CN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1110000 00000000 00000000 00001001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(-268435447)</a:t>
            </a:r>
            <a:r>
              <a:rPr lang="en" altLang="zh-CN" sz="1600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zh-CN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879131-2F63-581E-A731-AEC0F16867A2}"/>
              </a:ext>
            </a:extLst>
          </p:cNvPr>
          <p:cNvSpPr txBox="1"/>
          <p:nvPr/>
        </p:nvSpPr>
        <p:spPr>
          <a:xfrm>
            <a:off x="7956549" y="3038568"/>
            <a:ext cx="3768809" cy="120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Compound assignment syntax: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-2147483573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&gt;&gt;=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Equivalent to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x=x&gt;&gt;3;</a:t>
            </a:r>
            <a:endParaRPr lang="zh-CN" altLang="en-US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0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9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E7B380-CC9E-579C-51FE-E888CC73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A8005E7-5DF8-08F4-851C-4D56B99B45FF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"/>
            </a:defPPr>
            <a:lvl1pPr>
              <a:defRPr sz="400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" altLang="en-US" dirty="0"/>
              <a:t>Shift operations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25803C-B023-7EE9-2A7E-AB527E3DEC68}"/>
              </a:ext>
            </a:extLst>
          </p:cNvPr>
          <p:cNvSpPr txBox="1"/>
          <p:nvPr/>
        </p:nvSpPr>
        <p:spPr>
          <a:xfrm>
            <a:off x="678608" y="1450601"/>
            <a:ext cx="10725992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Left shift ( </a:t>
            </a:r>
            <a:r>
              <a:rPr lang="en" altLang="zh-CN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en-US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): Shifts each bit left by a specified number of places, from left to right.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Right shift ( </a:t>
            </a:r>
            <a:r>
              <a:rPr lang="en" altLang="zh-CN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en" altLang="en-US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): Shifts each bit right by a specified number of places, from right to left;</a:t>
            </a:r>
            <a:endParaRPr lang="zh-CN" altLang="zh-CN" kern="100" dirty="0">
              <a:solidFill>
                <a:prstClr val="black"/>
              </a:solidFill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65EB9660-8F3A-4972-09B5-B2E02489C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08" y="2381817"/>
            <a:ext cx="5098176" cy="327098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c = 67;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Find </a:t>
            </a:r>
            <a:r>
              <a:rPr lang="en" altLang="zh-CN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&lt;&lt; 2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 Convert to binary form (two's complement).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(67)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(01001011)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 Shift the number </a:t>
            </a:r>
            <a:r>
              <a:rPr lang="en" altLang="zh-CN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places 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the left, filling the lower (right) places with zeros and discarding the higher (left) places.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 =&gt; 10010110 =&gt; 00101100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</a:rPr>
              <a:t>3. Convert the result back to decimal form.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00101100)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(44)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00C13D09-D8EB-5D1B-413C-387C24C28084}"/>
              </a:ext>
            </a:extLst>
          </p:cNvPr>
          <p:cNvSpPr txBox="1">
            <a:spLocks/>
          </p:cNvSpPr>
          <p:nvPr/>
        </p:nvSpPr>
        <p:spPr>
          <a:xfrm>
            <a:off x="6096000" y="2333984"/>
            <a:ext cx="6139804" cy="3662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c = -27;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Find </a:t>
            </a:r>
            <a:r>
              <a:rPr lang="en" altLang="zh-CN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&gt;&gt; 3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 Convert it to binary form (two's complement).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AU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-27)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(11100101)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 </a:t>
            </a:r>
            <a:r>
              <a:rPr lang="en-US" altLang="zh-CN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hift the number </a:t>
            </a:r>
            <a:r>
              <a:rPr lang="en" altLang="zh-CN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places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right.  For </a:t>
            </a:r>
            <a:r>
              <a:rPr lang="en" altLang="en-US" sz="1800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unsigned numbers, fill the higher (left) places with </a:t>
            </a:r>
            <a:r>
              <a:rPr lang="en" altLang="zh-CN" sz="1800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0s</a:t>
            </a:r>
            <a:r>
              <a:rPr lang="en" altLang="en-US" sz="1800" kern="100" dirty="0">
                <a:solidFill>
                  <a:prstClr val="black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for signed numbers, fill the higher (left) places the sign, </a:t>
            </a: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discard the lower (right) places.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11100101 =&gt; 11110010 =&gt; 11111001 =&gt; 11111100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en-US" sz="1800" dirty="0">
                <a:latin typeface="Aptos" panose="020B0004020202020204" pitchFamily="34" charset="0"/>
                <a:ea typeface="微软雅黑" panose="020B0503020204020204" pitchFamily="34" charset="-122"/>
              </a:rPr>
              <a:t>3. Convert the result back to decimal form.</a:t>
            </a: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11111100)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(-4)</a:t>
            </a:r>
            <a:r>
              <a:rPr lang="en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en-US" altLang="zh-CN" sz="1800" baseline="-25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800" dirty="0">
              <a:latin typeface="Aptos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357CAD-F363-1866-B70A-AC28C6D51ED4}"/>
              </a:ext>
            </a:extLst>
          </p:cNvPr>
          <p:cNvSpPr/>
          <p:nvPr/>
        </p:nvSpPr>
        <p:spPr>
          <a:xfrm>
            <a:off x="678608" y="5910102"/>
            <a:ext cx="8439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dirty="0">
                <a:solidFill>
                  <a:schemeClr val="bg1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Mathematical meaning: Left shifting one place equals multiplying by </a:t>
            </a:r>
            <a:r>
              <a:rPr lang="en" altLang="zh-CN" dirty="0">
                <a:solidFill>
                  <a:schemeClr val="bg1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dirty="0">
                <a:solidFill>
                  <a:schemeClr val="bg1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right shifting one place equals dividing by </a:t>
            </a:r>
            <a:r>
              <a:rPr lang="en" altLang="zh-CN" dirty="0">
                <a:solidFill>
                  <a:schemeClr val="bg1"/>
                </a:solidFill>
                <a:latin typeface="Aptos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5473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Shift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operations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E1CB663-83FC-DCFD-FB23-5E3128D88161}"/>
              </a:ext>
            </a:extLst>
          </p:cNvPr>
          <p:cNvSpPr txBox="1">
            <a:spLocks/>
          </p:cNvSpPr>
          <p:nvPr/>
        </p:nvSpPr>
        <p:spPr>
          <a:xfrm>
            <a:off x="678609" y="2333638"/>
            <a:ext cx="5997683" cy="3887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p[40]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{1, 2, 4, 8, 16, 32, 64, 128, 256, 512, 1024, 2048, 4096, 8192, 16384, 32768, 65536, 131072, 262144, 524288, 1048576, 2097152, 4194304, 8388608, 16777216, 33554432, 67108864, 134217728, 268435456, 536870912, 1073741824};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++i)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p[i]){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C8802-552E-D683-5538-95BC4DCE27E9}"/>
              </a:ext>
            </a:extLst>
          </p:cNvPr>
          <p:cNvSpPr txBox="1">
            <a:spLocks/>
          </p:cNvSpPr>
          <p:nvPr/>
        </p:nvSpPr>
        <p:spPr>
          <a:xfrm>
            <a:off x="678609" y="1352445"/>
            <a:ext cx="5771618" cy="9811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2 to the powers of </a:t>
            </a:r>
            <a:r>
              <a:rPr lang="en" altLang="zh-CN" sz="1800" dirty="0">
                <a:latin typeface="Aptos Display" panose="020B0004020202020204" pitchFamily="34" charset="0"/>
              </a:rPr>
              <a:t>0 </a:t>
            </a:r>
            <a:r>
              <a:rPr lang="en" altLang="en-US" sz="1800" dirty="0">
                <a:latin typeface="Aptos Display" panose="020B0004020202020204" pitchFamily="34" charset="0"/>
              </a:rPr>
              <a:t>to </a:t>
            </a:r>
            <a:r>
              <a:rPr lang="en" altLang="zh-CN" sz="1800" dirty="0">
                <a:latin typeface="Aptos Display" panose="020B0004020202020204" pitchFamily="34" charset="0"/>
              </a:rPr>
              <a:t>30 </a:t>
            </a:r>
            <a:r>
              <a:rPr lang="en" altLang="en-US" sz="1800" dirty="0">
                <a:latin typeface="Aptos Display" panose="020B0004020202020204" pitchFamily="34" charset="0"/>
              </a:rPr>
              <a:t>can be conveniently obtained by using shift operations 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129BE5-3999-D627-9245-62346275545B}"/>
              </a:ext>
            </a:extLst>
          </p:cNvPr>
          <p:cNvSpPr txBox="1"/>
          <p:nvPr/>
        </p:nvSpPr>
        <p:spPr>
          <a:xfrm>
            <a:off x="7210033" y="1352445"/>
            <a:ext cx="4696217" cy="2462213"/>
          </a:xfrm>
          <a:prstGeom prst="rect">
            <a:avLst/>
          </a:prstGeom>
          <a:solidFill>
            <a:sysClr val="window" lastClr="FFFFFF">
              <a:alpha val="5000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“int n,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p[40]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{1"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 i &lt;= 30; ++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Shifting left by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en" altLang="en-US" sz="14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qu</a:t>
            </a:r>
            <a:r>
              <a:rPr lang="en-US" altLang="zh-CN" sz="14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als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multiplying by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times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i.e.,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400" baseline="300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 </a:t>
            </a:r>
            <a:endParaRPr lang="en-US" altLang="zh-CN" sz="1400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“, ”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(1&lt;&lt;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"};"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56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ask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4C3C65-36CE-DB37-8883-C9F2823B9D0A}"/>
              </a:ext>
            </a:extLst>
          </p:cNvPr>
          <p:cNvSpPr/>
          <p:nvPr/>
        </p:nvSpPr>
        <p:spPr>
          <a:xfrm>
            <a:off x="556252" y="4057295"/>
            <a:ext cx="10010148" cy="2688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Conclusion: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2" indent="-342900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make a certain place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while leaving the others unchanged, you should construct a number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mask in which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place you want to make 1 is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1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all others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  The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perform an OR operation between the number and the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mask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2" indent="-342900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make a certain place 0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while leaving the others unchanged, you should construct a number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mask in which the place you want to make 0 is 0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all others are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  Then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perform an AND operation between the number and the mask.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7E1243-3845-D833-81CA-A1BEAE871BB5}"/>
              </a:ext>
            </a:extLst>
          </p:cNvPr>
          <p:cNvSpPr txBox="1"/>
          <p:nvPr/>
        </p:nvSpPr>
        <p:spPr>
          <a:xfrm>
            <a:off x="6729351" y="1974758"/>
            <a:ext cx="4669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</a:p>
          <a:p>
            <a:pPr marL="0" lvl="1"/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11111111 11111111 11111111 11111111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223EE3E-18AA-81A2-8A9C-4C2084490007}"/>
              </a:ext>
            </a:extLst>
          </p:cNvPr>
          <p:cNvSpPr txBox="1"/>
          <p:nvPr/>
        </p:nvSpPr>
        <p:spPr>
          <a:xfrm>
            <a:off x="6729351" y="1339839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</a:p>
          <a:p>
            <a:pPr marL="0" lvl="1"/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 00000000 00000000 00000000 00000000 </a:t>
            </a:r>
            <a:r>
              <a:rPr lang="en" altLang="zh-CN" sz="1400" u="sng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BDA62E-30B9-E053-5247-58960B3CBC50}"/>
              </a:ext>
            </a:extLst>
          </p:cNvPr>
          <p:cNvSpPr txBox="1"/>
          <p:nvPr/>
        </p:nvSpPr>
        <p:spPr>
          <a:xfrm>
            <a:off x="6729350" y="3226407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</a:p>
          <a:p>
            <a:pPr marL="0" lvl="1"/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1111111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DC7358-51CF-ED23-DE96-10D6AB990D1E}"/>
              </a:ext>
            </a:extLst>
          </p:cNvPr>
          <p:cNvSpPr txBox="1"/>
          <p:nvPr/>
        </p:nvSpPr>
        <p:spPr>
          <a:xfrm>
            <a:off x="6729350" y="2652455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00000000 01011100 00100010 01100100</a:t>
            </a:r>
          </a:p>
          <a:p>
            <a:pPr marL="0" lvl="1"/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 00000000 00000000 00000000 00000000 </a:t>
            </a:r>
            <a:r>
              <a:rPr lang="en" altLang="zh-CN" sz="1400" u="sng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0" lvl="1"/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00000000 00000000 00000000 00000000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47B3BB-91B3-CE0A-8AF9-E7247E344CBD}"/>
              </a:ext>
            </a:extLst>
          </p:cNvPr>
          <p:cNvSpPr/>
          <p:nvPr/>
        </p:nvSpPr>
        <p:spPr>
          <a:xfrm>
            <a:off x="556252" y="1475229"/>
            <a:ext cx="4573496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OR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any number results in the original number: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3FE160-5ADF-1E03-8B3F-82FE08027C57}"/>
              </a:ext>
            </a:extLst>
          </p:cNvPr>
          <p:cNvSpPr/>
          <p:nvPr/>
        </p:nvSpPr>
        <p:spPr>
          <a:xfrm>
            <a:off x="556252" y="2105691"/>
            <a:ext cx="3299108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any number results in 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2D7F5D-1986-2277-69CA-7B74A9E98AFB}"/>
              </a:ext>
            </a:extLst>
          </p:cNvPr>
          <p:cNvSpPr/>
          <p:nvPr/>
        </p:nvSpPr>
        <p:spPr>
          <a:xfrm>
            <a:off x="556252" y="2736153"/>
            <a:ext cx="3050643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AND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any number results in 0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D6297E-B4AC-BD6C-D0BF-7034F2D24B8E}"/>
              </a:ext>
            </a:extLst>
          </p:cNvPr>
          <p:cNvSpPr/>
          <p:nvPr/>
        </p:nvSpPr>
        <p:spPr>
          <a:xfrm>
            <a:off x="556252" y="3366615"/>
            <a:ext cx="5158592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AND </a:t>
            </a:r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any number results in the original number: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89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allAtOnce"/>
      <p:bldP spid="24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B0FD-4BFB-7895-F465-98A5035D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4F7FA8A-86EC-B2AB-DBA5-F1322A939C8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Masks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CEF09A-E686-F15A-FB9D-05FC824078C3}"/>
              </a:ext>
            </a:extLst>
          </p:cNvPr>
          <p:cNvSpPr/>
          <p:nvPr/>
        </p:nvSpPr>
        <p:spPr>
          <a:xfrm>
            <a:off x="2872855" y="2423881"/>
            <a:ext cx="2018501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728909-489F-C47B-9A3E-02CED17BCC4E}"/>
              </a:ext>
            </a:extLst>
          </p:cNvPr>
          <p:cNvSpPr/>
          <p:nvPr/>
        </p:nvSpPr>
        <p:spPr>
          <a:xfrm>
            <a:off x="348895" y="2426301"/>
            <a:ext cx="1763624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EF46A5-29B7-BBBD-D4F5-43009B316023}"/>
              </a:ext>
            </a:extLst>
          </p:cNvPr>
          <p:cNvSpPr/>
          <p:nvPr/>
        </p:nvSpPr>
        <p:spPr>
          <a:xfrm>
            <a:off x="5821251" y="1236392"/>
            <a:ext cx="6021854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 is on places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to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 from right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 A mask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msk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constructed for these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four bits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then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is AND-ed with msk.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38E928-92E0-6C66-E6EE-4DA0CF008F38}"/>
              </a:ext>
            </a:extLst>
          </p:cNvPr>
          <p:cNvSpPr/>
          <p:nvPr/>
        </p:nvSpPr>
        <p:spPr>
          <a:xfrm>
            <a:off x="348894" y="1241054"/>
            <a:ext cx="5472357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Example]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a positive integer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change the 3rd to the 6</a:t>
            </a:r>
            <a:r>
              <a:rPr lang="en" altLang="en-US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places from the right to 0, other places unchanged.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291B0A-1F03-2BE6-59DF-1B60F9398A92}"/>
              </a:ext>
            </a:extLst>
          </p:cNvPr>
          <p:cNvSpPr/>
          <p:nvPr/>
        </p:nvSpPr>
        <p:spPr>
          <a:xfrm>
            <a:off x="348895" y="2882789"/>
            <a:ext cx="5151359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Explanation: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[85]</a:t>
            </a:r>
            <a:r>
              <a:rPr lang="e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0101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after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changing the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3rd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6th places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we get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125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25B176-21A3-68BA-6426-77B5C7CF9681}"/>
              </a:ext>
            </a:extLst>
          </p:cNvPr>
          <p:cNvSpPr/>
          <p:nvPr/>
        </p:nvSpPr>
        <p:spPr>
          <a:xfrm>
            <a:off x="348895" y="4148450"/>
            <a:ext cx="4486341" cy="1940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process of constructing a mask: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mask = 1;</a:t>
            </a: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&lt;&lt;= 4;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 msk;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&lt;&lt;= 2;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CADB21-59B1-D93C-B46B-D656C250F671}"/>
              </a:ext>
            </a:extLst>
          </p:cNvPr>
          <p:cNvSpPr txBox="1"/>
          <p:nvPr/>
        </p:nvSpPr>
        <p:spPr>
          <a:xfrm>
            <a:off x="5821251" y="2690874"/>
            <a:ext cx="64462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00000000 00000000 00000000 01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0101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| 00000000 00000000 00000000 00</a:t>
            </a:r>
            <a:r>
              <a:rPr lang="en" altLang="zh-CN" sz="1600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00000000 00000000 00000000 01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125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D41F8B-C6B5-A92C-6355-609EA8EB2133}"/>
              </a:ext>
            </a:extLst>
          </p:cNvPr>
          <p:cNvSpPr txBox="1"/>
          <p:nvPr/>
        </p:nvSpPr>
        <p:spPr>
          <a:xfrm>
            <a:off x="2538444" y="453700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1F193-465D-CDF5-A8A5-C2AEBBDFEDBB}"/>
              </a:ext>
            </a:extLst>
          </p:cNvPr>
          <p:cNvSpPr txBox="1"/>
          <p:nvPr/>
        </p:nvSpPr>
        <p:spPr>
          <a:xfrm>
            <a:off x="2538444" y="495474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04CC2F-BC35-F147-460F-0654F513D779}"/>
              </a:ext>
            </a:extLst>
          </p:cNvPr>
          <p:cNvSpPr txBox="1"/>
          <p:nvPr/>
        </p:nvSpPr>
        <p:spPr>
          <a:xfrm>
            <a:off x="2538444" y="536886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1E960F-0A0E-46C1-112C-7AF092D86975}"/>
              </a:ext>
            </a:extLst>
          </p:cNvPr>
          <p:cNvSpPr txBox="1"/>
          <p:nvPr/>
        </p:nvSpPr>
        <p:spPr>
          <a:xfrm>
            <a:off x="2538444" y="578298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74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7" grpId="0"/>
      <p:bldP spid="19" grpId="0"/>
      <p:bldP spid="20" grpId="0"/>
      <p:bldP spid="2" grpId="0"/>
      <p:bldP spid="3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39BA-34D3-5494-0B7C-ADF6D617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C0E1CDD-A4D4-FAFB-D16C-26844E2FF882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ask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368D92-ED75-DA8C-A634-D871890584F4}"/>
              </a:ext>
            </a:extLst>
          </p:cNvPr>
          <p:cNvSpPr/>
          <p:nvPr/>
        </p:nvSpPr>
        <p:spPr>
          <a:xfrm>
            <a:off x="2872855" y="2167570"/>
            <a:ext cx="1898277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E0DA50-6193-0473-B9AB-3F465C1FA9C6}"/>
              </a:ext>
            </a:extLst>
          </p:cNvPr>
          <p:cNvSpPr/>
          <p:nvPr/>
        </p:nvSpPr>
        <p:spPr>
          <a:xfrm>
            <a:off x="348895" y="2169990"/>
            <a:ext cx="1763624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6498A2-D6F6-4A11-DBBD-B5C88BF14F20}"/>
              </a:ext>
            </a:extLst>
          </p:cNvPr>
          <p:cNvSpPr/>
          <p:nvPr/>
        </p:nvSpPr>
        <p:spPr>
          <a:xfrm>
            <a:off x="5821250" y="1236392"/>
            <a:ext cx="5913549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 is on places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to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 from right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 A mask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msk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constructed for these places, and then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is AND-ed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msk. 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F619E0-2AAC-65F3-6BAB-9F7C054EDF69}"/>
              </a:ext>
            </a:extLst>
          </p:cNvPr>
          <p:cNvSpPr/>
          <p:nvPr/>
        </p:nvSpPr>
        <p:spPr>
          <a:xfrm>
            <a:off x="348894" y="1241054"/>
            <a:ext cx="5082087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[Example]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a positive integer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change the 3</a:t>
            </a:r>
            <a:r>
              <a:rPr lang="en" altLang="en-US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rd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6</a:t>
            </a:r>
            <a:r>
              <a:rPr lang="en" altLang="en-US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places from right to 0, other places unchanged.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757A8B-01C4-8D48-6762-CF893CBA6E21}"/>
              </a:ext>
            </a:extLst>
          </p:cNvPr>
          <p:cNvSpPr/>
          <p:nvPr/>
        </p:nvSpPr>
        <p:spPr>
          <a:xfrm>
            <a:off x="348896" y="2626478"/>
            <a:ext cx="5026668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explanation: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[85]</a:t>
            </a:r>
            <a:r>
              <a:rPr lang="en" altLang="zh-CN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</a:t>
            </a:r>
            <a:r>
              <a:rPr lang="e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0101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after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changing the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3rd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6th bits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 right to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we get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65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543D08-2978-C8DF-44C5-0956EA8DED28}"/>
              </a:ext>
            </a:extLst>
          </p:cNvPr>
          <p:cNvSpPr/>
          <p:nvPr/>
        </p:nvSpPr>
        <p:spPr>
          <a:xfrm>
            <a:off x="400850" y="4136030"/>
            <a:ext cx="4922760" cy="2314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process of constructing a mask: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1;</a:t>
            </a: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&lt;&lt;= 4;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 msk;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&lt;&lt;= 2;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=~ msk;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4465DB-2EF9-55B3-CC93-AB8D2C6AA7EB}"/>
              </a:ext>
            </a:extLst>
          </p:cNvPr>
          <p:cNvSpPr txBox="1"/>
          <p:nvPr/>
        </p:nvSpPr>
        <p:spPr>
          <a:xfrm>
            <a:off x="5596436" y="2542159"/>
            <a:ext cx="64462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00000000 00000000 00000000 01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0101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11</a:t>
            </a:r>
            <a:r>
              <a:rPr lang="en" altLang="zh-CN" sz="1600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00000000 00000000 00000000 01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65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D3F076-9F46-5AF8-CB21-F7E6B95770BD}"/>
              </a:ext>
            </a:extLst>
          </p:cNvPr>
          <p:cNvSpPr txBox="1"/>
          <p:nvPr/>
        </p:nvSpPr>
        <p:spPr>
          <a:xfrm>
            <a:off x="2538444" y="453700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01D810-F8B3-9F63-F0C5-0A53E0985909}"/>
              </a:ext>
            </a:extLst>
          </p:cNvPr>
          <p:cNvSpPr txBox="1"/>
          <p:nvPr/>
        </p:nvSpPr>
        <p:spPr>
          <a:xfrm>
            <a:off x="2538444" y="495474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F3BBF9-265C-160B-6470-0A9CFC7AE9EB}"/>
              </a:ext>
            </a:extLst>
          </p:cNvPr>
          <p:cNvSpPr txBox="1"/>
          <p:nvPr/>
        </p:nvSpPr>
        <p:spPr>
          <a:xfrm>
            <a:off x="2538444" y="536886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7B1EC4-998C-B36C-C614-11CBAAA2EA9E}"/>
              </a:ext>
            </a:extLst>
          </p:cNvPr>
          <p:cNvSpPr txBox="1"/>
          <p:nvPr/>
        </p:nvSpPr>
        <p:spPr>
          <a:xfrm>
            <a:off x="2538444" y="578298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17D95C-1518-8789-B062-878DCFC5D4E9}"/>
              </a:ext>
            </a:extLst>
          </p:cNvPr>
          <p:cNvSpPr txBox="1"/>
          <p:nvPr/>
        </p:nvSpPr>
        <p:spPr>
          <a:xfrm>
            <a:off x="2538444" y="6197108"/>
            <a:ext cx="4732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06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7" grpId="0"/>
      <p:bldP spid="19" grpId="0"/>
      <p:bldP spid="20" grpId="0"/>
      <p:bldP spid="2" grpId="0"/>
      <p:bldP spid="3" grpId="0"/>
      <p:bldP spid="5" grpId="0"/>
      <p:bldP spid="6" grpId="0"/>
      <p:bldP spid="8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89CB4D-E983-850C-3C28-D9FDEE15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755CF85-BBC5-165B-74DD-20844F30414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Masks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EEE46-F318-7E57-2513-273546A6FB33}"/>
              </a:ext>
            </a:extLst>
          </p:cNvPr>
          <p:cNvSpPr txBox="1"/>
          <p:nvPr/>
        </p:nvSpPr>
        <p:spPr>
          <a:xfrm>
            <a:off x="678607" y="1450601"/>
            <a:ext cx="10634659" cy="877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Sometimes it's necessary to manipulate specific bits in a binary number. We use a string of binary digits to achieve this; such binary digits are usually called a mask.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10CA0-20D9-E11C-D2F2-C66AEC6CC01B}"/>
              </a:ext>
            </a:extLst>
          </p:cNvPr>
          <p:cNvSpPr/>
          <p:nvPr/>
        </p:nvSpPr>
        <p:spPr>
          <a:xfrm>
            <a:off x="3202565" y="3204401"/>
            <a:ext cx="1898277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41416C-EAF9-A0B2-8AC1-734C1D8DC219}"/>
              </a:ext>
            </a:extLst>
          </p:cNvPr>
          <p:cNvSpPr/>
          <p:nvPr/>
        </p:nvSpPr>
        <p:spPr>
          <a:xfrm>
            <a:off x="629181" y="5445962"/>
            <a:ext cx="4471661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Think: If the problem is  changed to “change… to 1", how should the program be modified?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D1C974-2F7D-99A6-CE07-528FB68A14C8}"/>
              </a:ext>
            </a:extLst>
          </p:cNvPr>
          <p:cNvSpPr txBox="1"/>
          <p:nvPr/>
        </p:nvSpPr>
        <p:spPr>
          <a:xfrm>
            <a:off x="9270628" y="3649473"/>
            <a:ext cx="2802173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the mask: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0111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</a:t>
            </a:r>
            <a:r>
              <a:rPr lang="en" altLang="zh-CN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 </a:t>
            </a:r>
            <a:r>
              <a:rPr lang="en" altLang="zh-CN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en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endParaRPr lang="en-US" altLang="zh-CN" u="sng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65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523DE5-6559-252A-C76C-A86EE547DEE2}"/>
              </a:ext>
            </a:extLst>
          </p:cNvPr>
          <p:cNvSpPr/>
          <p:nvPr/>
        </p:nvSpPr>
        <p:spPr>
          <a:xfrm>
            <a:off x="678605" y="3206821"/>
            <a:ext cx="1757212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6AD19-AC44-0F87-B4BA-CEE6EE383556}"/>
              </a:ext>
            </a:extLst>
          </p:cNvPr>
          <p:cNvSpPr/>
          <p:nvPr/>
        </p:nvSpPr>
        <p:spPr>
          <a:xfrm>
            <a:off x="5345296" y="2328470"/>
            <a:ext cx="6168098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Change is on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 from the right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Construct a mask msk for these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places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11000011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perform a bitwise AND operation between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mask.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904607-EAEE-05D3-1A44-3474EC9790E2}"/>
              </a:ext>
            </a:extLst>
          </p:cNvPr>
          <p:cNvSpPr/>
          <p:nvPr/>
        </p:nvSpPr>
        <p:spPr>
          <a:xfrm>
            <a:off x="678606" y="2332414"/>
            <a:ext cx="4461803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[Example]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a positive integer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change the 3</a:t>
            </a:r>
            <a:r>
              <a:rPr lang="en" altLang="en-US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rd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6</a:t>
            </a:r>
            <a:r>
              <a:rPr lang="en" altLang="en-US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places from the right to 0.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3F62B0-FE9B-9E01-0CEE-FDFCEF729633}"/>
              </a:ext>
            </a:extLst>
          </p:cNvPr>
          <p:cNvSpPr/>
          <p:nvPr/>
        </p:nvSpPr>
        <p:spPr>
          <a:xfrm>
            <a:off x="678606" y="3663309"/>
            <a:ext cx="4461803" cy="17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Explanation: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[93]</a:t>
            </a:r>
            <a:r>
              <a:rPr lang="e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TC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0111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after zeroing the 3rd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6th places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 the right, we get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65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563370-E97D-CE35-1551-3624EA0DFE50}"/>
              </a:ext>
            </a:extLst>
          </p:cNvPr>
          <p:cNvSpPr/>
          <p:nvPr/>
        </p:nvSpPr>
        <p:spPr>
          <a:xfrm>
            <a:off x="5345296" y="3627352"/>
            <a:ext cx="3885765" cy="2125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process of constructing a mask: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msk = (1&lt;&lt;4);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00010000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 </a:t>
            </a:r>
            <a:r>
              <a:rPr lang="en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</a:t>
            </a:r>
            <a:r>
              <a:rPr lang="e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00001111</a:t>
            </a:r>
          </a:p>
          <a:p>
            <a:pPr>
              <a:lnSpc>
                <a:spcPct val="150000"/>
              </a:lnSpc>
            </a:pPr>
            <a:r>
              <a:rPr lang="en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</a:t>
            </a: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 2;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00111100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 = ~msk; </a:t>
            </a:r>
            <a:r>
              <a:rPr lang="en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11000011</a:t>
            </a:r>
          </a:p>
        </p:txBody>
      </p:sp>
    </p:spTree>
    <p:extLst>
      <p:ext uri="{BB962C8B-B14F-4D97-AF65-F5344CB8AC3E}">
        <p14:creationId xmlns:p14="http://schemas.microsoft.com/office/powerpoint/2010/main" val="27989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  <p:bldP spid="13" grpId="0"/>
      <p:bldP spid="17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emset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560976" y="1357138"/>
            <a:ext cx="10869924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</a:t>
            </a:r>
            <a:r>
              <a:rPr lang="en" altLang="en-US" sz="1600" kern="1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 the entire array to the specified values.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second parameter is the init</a:t>
            </a:r>
            <a:r>
              <a:rPr lang="en-AU" altLang="en-US" sz="1600" kern="100" dirty="0" err="1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 value which can only be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because:</a:t>
            </a:r>
            <a:endParaRPr lang="zh-CN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emset()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Initialize the array in bytes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value is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two's complement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all 0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if value is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two's complement of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is all 1s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 This ensures </a:t>
            </a:r>
            <a:r>
              <a:rPr lang="en-AU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whatever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 of bytes are to be initialised, result is always correct.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value is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since the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 occupies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bytes, the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bytes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 be initialised as follows: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00000001 00000001 00000001 00000001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16843009</a:t>
            </a: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 ONLY: becase it consists of only one byte, when initializing a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 type array using the memset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function, the second parameter can be any value.</a:t>
            </a:r>
          </a:p>
          <a:p>
            <a:pPr marL="285750" indent="-2857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emset()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specifies "how many bytes to initialize".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sizeof(a)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means “size of variable a in terms of bytes".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Here,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'a'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contains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110 integer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variables, which is 110 *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4 = 440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bytes.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Therefore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sizeof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(a)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returns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440.</a:t>
            </a:r>
            <a:endParaRPr lang="zh-CN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032FB-BD74-D4FF-11CF-256F93690CDA}"/>
              </a:ext>
            </a:extLst>
          </p:cNvPr>
          <p:cNvSpPr txBox="1"/>
          <p:nvPr/>
        </p:nvSpPr>
        <p:spPr>
          <a:xfrm>
            <a:off x="7044267" y="1479353"/>
            <a:ext cx="5147734" cy="95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defTabSz="914400">
              <a:lnSpc>
                <a:spcPct val="120000"/>
              </a:lnSpc>
            </a:pP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Initialise all elements in array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to 0</a:t>
            </a:r>
          </a:p>
          <a:p>
            <a:pPr marL="180975" defTabSz="914400">
              <a:lnSpc>
                <a:spcPct val="120000"/>
              </a:lnSpc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a[110];</a:t>
            </a:r>
          </a:p>
          <a:p>
            <a:pPr marL="180975" defTabSz="914400">
              <a:lnSpc>
                <a:spcPct val="120000"/>
              </a:lnSpc>
            </a:pPr>
            <a:r>
              <a:rPr lang="en" altLang="zh-CN" sz="16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 0, sizeof(a));</a:t>
            </a:r>
          </a:p>
        </p:txBody>
      </p:sp>
    </p:spTree>
    <p:extLst>
      <p:ext uri="{BB962C8B-B14F-4D97-AF65-F5344CB8AC3E}">
        <p14:creationId xmlns:p14="http://schemas.microsoft.com/office/powerpoint/2010/main" val="352439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Get the least significant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178035"/>
            <a:ext cx="1059075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= 100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00000000 00000000 00000000 01100100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[-x]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11111111 11111111 11111111 10011100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00000000 00000000 00000000 01100100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10011100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00000100 …… 4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x=-6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[x]&lt;sub&gt;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11111111 11111111 11111111 11111010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[-x]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00000000 00000000 00000000 00000110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00000000 00000000 00000000 00000110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00000010 …… 2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x=256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00000000 00000000 00000001 00000000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[-x]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11111111 11111111 11111111 00000000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      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00000000 00000000 00000001 00000000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00000000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00000001 00000000 …… 256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19BC96-ADD0-EB4F-4586-0150F0578931}"/>
              </a:ext>
            </a:extLst>
          </p:cNvPr>
          <p:cNvSpPr txBox="1"/>
          <p:nvPr/>
        </p:nvSpPr>
        <p:spPr>
          <a:xfrm>
            <a:off x="1160382" y="1249894"/>
            <a:ext cx="2856607" cy="764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lowbit(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x&amp;-x;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DD7838-79D5-07B4-C9B6-3D811411A19F}"/>
              </a:ext>
            </a:extLst>
          </p:cNvPr>
          <p:cNvSpPr txBox="1"/>
          <p:nvPr/>
        </p:nvSpPr>
        <p:spPr>
          <a:xfrm>
            <a:off x="678606" y="1249894"/>
            <a:ext cx="481776" cy="764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400" dirty="0">
                <a:solidFill>
                  <a:srgbClr val="808080"/>
                </a:solidFill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400" dirty="0">
                <a:solidFill>
                  <a:srgbClr val="808080"/>
                </a:solidFill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400" dirty="0">
                <a:solidFill>
                  <a:srgbClr val="808080"/>
                </a:solidFill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en-US" altLang="zh-CN" sz="1400" dirty="0">
              <a:solidFill>
                <a:schemeClr val="tx1"/>
              </a:solidFill>
              <a:latin typeface="Aptos Display" panose="020B0004020202020204" pitchFamily="34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3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Remove the least significant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178035"/>
            <a:ext cx="1051043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Say x=6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00000000 00000000 0000000 00000110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00000000 00000000 00000000 00000101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00000000 00000000 00000000 00000101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00000100 …… 4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x=-6,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11111111 11111111 11111010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zh-CN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11111111 11111111 11111111 11111001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11111001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11111000 …… -8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x=256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00000000 00000000 00000001 00000000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zh-CN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00000000 00000000 00000000 11111111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00000000 00000000 00000001 00000000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00000000 00000000 00000000 11111111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00000000 …… 0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19BC96-ADD0-EB4F-4586-0150F0578931}"/>
              </a:ext>
            </a:extLst>
          </p:cNvPr>
          <p:cNvSpPr txBox="1"/>
          <p:nvPr/>
        </p:nvSpPr>
        <p:spPr>
          <a:xfrm>
            <a:off x="1160382" y="1249894"/>
            <a:ext cx="2856607" cy="764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(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x&amp;(x-1);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DD7838-79D5-07B4-C9B6-3D811411A19F}"/>
              </a:ext>
            </a:extLst>
          </p:cNvPr>
          <p:cNvSpPr txBox="1"/>
          <p:nvPr/>
        </p:nvSpPr>
        <p:spPr>
          <a:xfrm>
            <a:off x="678606" y="1249894"/>
            <a:ext cx="481776" cy="764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774DF-B621-A920-3E66-8182D40EAB33}"/>
              </a:ext>
            </a:extLst>
          </p:cNvPr>
          <p:cNvSpPr txBox="1">
            <a:spLocks/>
          </p:cNvSpPr>
          <p:nvPr/>
        </p:nvSpPr>
        <p:spPr>
          <a:xfrm>
            <a:off x="7517331" y="1151842"/>
            <a:ext cx="4153488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ct val="150000"/>
              </a:lnSpc>
            </a:pPr>
            <a:r>
              <a:rPr lang="en" altLang="zh-CN" sz="2000" dirty="0">
                <a:latin typeface="Aptos Display" panose="020B0004020202020204" pitchFamily="34" charset="0"/>
              </a:rPr>
              <a:t>Brian Kernighan's </a:t>
            </a:r>
            <a:r>
              <a:rPr lang="en" altLang="en-US" sz="2000" dirty="0">
                <a:latin typeface="Aptos Display" panose="020B0004020202020204" pitchFamily="34" charset="0"/>
              </a:rPr>
              <a:t>algorithm:</a:t>
            </a:r>
            <a:endParaRPr lang="en-US" altLang="zh-CN" sz="2000" dirty="0">
              <a:latin typeface="Aptos Display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" altLang="zh-CN" sz="2000" dirty="0">
                <a:latin typeface="Aptos Display" panose="020B0004020202020204" pitchFamily="34" charset="0"/>
              </a:rPr>
              <a:t>1 </a:t>
            </a:r>
            <a:r>
              <a:rPr lang="en" altLang="en-US" sz="2000" dirty="0">
                <a:latin typeface="Aptos Display" panose="020B0004020202020204" pitchFamily="34" charset="0"/>
              </a:rPr>
              <a:t>in the two's complement form</a:t>
            </a:r>
          </a:p>
        </p:txBody>
      </p:sp>
    </p:spTree>
    <p:extLst>
      <p:ext uri="{BB962C8B-B14F-4D97-AF65-F5344CB8AC3E}">
        <p14:creationId xmlns:p14="http://schemas.microsoft.com/office/powerpoint/2010/main" val="18908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Number of 1s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3022274"/>
            <a:ext cx="10479545" cy="313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Say x=6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00000000 00000000 0000000 00000110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00000000 00000000 00000000 00000101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00000000 00000000 00000000 00000101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00000100 …… 4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is now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4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00000000 00000000 00000000 00000011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00000000 00000000 00000000 00000100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00000000 00000000 00000000 00000011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00000000 00000000 00000000 00000000 …… 0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now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the loop ends and returns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2.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029353-B59B-0E9E-0196-C94263BD6A18}"/>
              </a:ext>
            </a:extLst>
          </p:cNvPr>
          <p:cNvSpPr txBox="1"/>
          <p:nvPr/>
        </p:nvSpPr>
        <p:spPr>
          <a:xfrm>
            <a:off x="1160382" y="1311679"/>
            <a:ext cx="4104637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(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 = 0;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 x; x &amp;= x-1) ret++;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175F135-6076-2F5B-C01C-46BD43937EBC}"/>
              </a:ext>
            </a:extLst>
          </p:cNvPr>
          <p:cNvSpPr txBox="1"/>
          <p:nvPr/>
        </p:nvSpPr>
        <p:spPr>
          <a:xfrm>
            <a:off x="678606" y="1311678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360AE6A-40C4-5EC4-1DAE-945C8723B92C}"/>
              </a:ext>
            </a:extLst>
          </p:cNvPr>
          <p:cNvSpPr txBox="1"/>
          <p:nvPr/>
        </p:nvSpPr>
        <p:spPr>
          <a:xfrm>
            <a:off x="6385831" y="1311677"/>
            <a:ext cx="4028704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(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 = 0;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 ret++, x&amp;=x-1;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814A5B5-20EB-D68A-56F5-D01866744772}"/>
              </a:ext>
            </a:extLst>
          </p:cNvPr>
          <p:cNvSpPr txBox="1"/>
          <p:nvPr/>
        </p:nvSpPr>
        <p:spPr>
          <a:xfrm>
            <a:off x="5904054" y="1311676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Number of 1’s 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618014"/>
            <a:ext cx="10510437" cy="424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x=-6, [x]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11111111 11111111 11111010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zh-CN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11111111 11111111 11111111 11111001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11111111 11111111 11111111 11111010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11111001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11111000 …… -8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now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-8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1111111 11111111 11111111 11110111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11111111 11111111 11111111 11111000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11110111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11110000 …… -16</a:t>
            </a:r>
          </a:p>
          <a:p>
            <a:pPr marL="0" lvl="1"/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is now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-16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[x-1]</a:t>
            </a:r>
            <a:r>
              <a:rPr lang="en" altLang="en-US" sz="1600" baseline="-25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TC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=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11111111 11111111 11111111 11101111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11111111 11111111 11111111 11110000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" altLang="zh-CN" sz="16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&amp; 11111111 11111111 11111111 11101111 </a:t>
            </a:r>
            <a:r>
              <a:rPr lang="en" altLang="zh-CN" sz="16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11111111 11111111 11111111 11100000 …… -32</a:t>
            </a:r>
          </a:p>
          <a:p>
            <a:pPr marL="0" lvl="1">
              <a:lnSpc>
                <a:spcPct val="150000"/>
              </a:lnSpc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now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-32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...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with each iteration, the number of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1’s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decreases by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until they all disappear.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0BF37D-4024-104D-D027-FB287CCA57E4}"/>
              </a:ext>
            </a:extLst>
          </p:cNvPr>
          <p:cNvSpPr txBox="1"/>
          <p:nvPr/>
        </p:nvSpPr>
        <p:spPr>
          <a:xfrm>
            <a:off x="1160381" y="1311679"/>
            <a:ext cx="4075761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(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 = 0;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 x; x &amp;= x-1) ret++;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93F84FF-C1E2-0462-FFF6-C44CA9ED6581}"/>
              </a:ext>
            </a:extLst>
          </p:cNvPr>
          <p:cNvSpPr txBox="1"/>
          <p:nvPr/>
        </p:nvSpPr>
        <p:spPr>
          <a:xfrm>
            <a:off x="678606" y="1311678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3ABFD9F-2C53-7FD8-0C23-5CDF39FF538F}"/>
              </a:ext>
            </a:extLst>
          </p:cNvPr>
          <p:cNvSpPr txBox="1"/>
          <p:nvPr/>
        </p:nvSpPr>
        <p:spPr>
          <a:xfrm>
            <a:off x="5577307" y="1311677"/>
            <a:ext cx="4075760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(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){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 = 0;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 ret++, x &amp;= x-1;</a:t>
            </a:r>
            <a:endParaRPr lang="pl-PL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EFC7FB8-096F-CBA9-F1E1-0170E640F4D7}"/>
              </a:ext>
            </a:extLst>
          </p:cNvPr>
          <p:cNvSpPr txBox="1"/>
          <p:nvPr/>
        </p:nvSpPr>
        <p:spPr>
          <a:xfrm>
            <a:off x="5095530" y="1311676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18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1ABE49F-CAF5-207D-7766-2A68AEACE63A}"/>
              </a:ext>
            </a:extLst>
          </p:cNvPr>
          <p:cNvSpPr txBox="1">
            <a:spLocks/>
          </p:cNvSpPr>
          <p:nvPr/>
        </p:nvSpPr>
        <p:spPr>
          <a:xfrm>
            <a:off x="9336505" y="1300637"/>
            <a:ext cx="2743199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2000" dirty="0">
                <a:latin typeface="Aptos Display" panose="020B0004020202020204" pitchFamily="34" charset="0"/>
              </a:rPr>
              <a:t>Application of Brian Kernighan’s algorithm, find number of 1’s</a:t>
            </a:r>
            <a:endParaRPr lang="en-US" altLang="zh-CN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1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 operation techniques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F3F2196-FA39-B91E-3104-4CEDA1959D59}"/>
              </a:ext>
            </a:extLst>
          </p:cNvPr>
          <p:cNvSpPr txBox="1">
            <a:spLocks/>
          </p:cNvSpPr>
          <p:nvPr/>
        </p:nvSpPr>
        <p:spPr>
          <a:xfrm>
            <a:off x="623004" y="1455497"/>
            <a:ext cx="6095430" cy="160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characteristics of the XOR operation: if the two operands are the same, the result is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if different, the result is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feature can simply program logic at times.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23004" y="3183239"/>
            <a:ext cx="5970301" cy="9317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a student's scores in English and Maths, determine whether he has failed exactly one subject (score less than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60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points).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29183" y="4471131"/>
            <a:ext cx="2775104" cy="1289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Input: Two integers between 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404287" y="4471131"/>
            <a:ext cx="2890635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If the student fails exactly one course, output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otherwise, output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3A3FD84-F7AB-5B0B-4432-AABAB2E082F0}"/>
              </a:ext>
            </a:extLst>
          </p:cNvPr>
          <p:cNvSpPr txBox="1">
            <a:spLocks/>
          </p:cNvSpPr>
          <p:nvPr/>
        </p:nvSpPr>
        <p:spPr>
          <a:xfrm>
            <a:off x="6862120" y="2262588"/>
            <a:ext cx="4451148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b;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 &gt;&gt; a &gt;&gt; b;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 &lt;&lt; ((a&lt;60) ^ (b&lt;60));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 operation techniques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8" y="1307652"/>
            <a:ext cx="579919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XOR operation has the following three features: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Any number XOR-ed with itself is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0.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Any number XOR-ed with 0 is itself.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XORing multiple numbers satisfies the commutative law.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3146830"/>
            <a:ext cx="5869838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M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 and Jia are playing a poker game in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 the card with the larger figure wins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There are two patterns of cards (figures are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13 respectively, 26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cards in total).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Unfortunately after one round, they discovered that one card was missing.  Which one was it?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0" y="5263455"/>
            <a:ext cx="3070117" cy="1024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Input: One line containing </a:t>
            </a:r>
            <a:r>
              <a:rPr lang="en" altLang="zh-CN" sz="1800" dirty="0">
                <a:latin typeface="Aptos Display" panose="020B0004020202020204" pitchFamily="34" charset="0"/>
              </a:rPr>
              <a:t>25 </a:t>
            </a:r>
            <a:r>
              <a:rPr lang="en" altLang="en-US" sz="1800" dirty="0">
                <a:latin typeface="Aptos Display" panose="020B0004020202020204" pitchFamily="34" charset="0"/>
              </a:rPr>
              <a:t>integers, representing the remaining </a:t>
            </a:r>
            <a:r>
              <a:rPr lang="en" altLang="zh-CN" sz="1800" dirty="0">
                <a:latin typeface="Aptos Display" panose="020B0004020202020204" pitchFamily="34" charset="0"/>
              </a:rPr>
              <a:t>25 </a:t>
            </a:r>
            <a:r>
              <a:rPr lang="en" altLang="en-US" sz="1800" dirty="0">
                <a:latin typeface="Aptos Display" panose="020B0004020202020204" pitchFamily="34" charset="0"/>
              </a:rPr>
              <a:t>cards.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913933" y="5263455"/>
            <a:ext cx="2732343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An integer, representing the card with the fewest cards.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814752" y="1307652"/>
            <a:ext cx="4992130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XOR all 25 input numbers.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If no card is missing, since there are two of each figure, appying the commutative law, they can be written as: </a:t>
            </a:r>
            <a:r>
              <a:rPr lang="en" altLang="zh-CN" sz="1800" dirty="0">
                <a:latin typeface="Consolas" panose="020B0609020204030204" pitchFamily="49" charset="0"/>
              </a:rPr>
              <a:t>1^1^2^2^…^13^13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Because “any number XOR-ed with itself is 0", </a:t>
            </a:r>
            <a:r>
              <a:rPr lang="en" altLang="zh-CN" sz="1800" dirty="0">
                <a:latin typeface="Consolas" panose="020B0609020204030204" pitchFamily="49" charset="0"/>
              </a:rPr>
              <a:t>1^1^2^2^…^13^13 = 0^0^…^0 = 0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But since one card is missing, say x, the result of XOR is </a:t>
            </a:r>
            <a:r>
              <a:rPr lang="en" altLang="zh-CN" sz="1800" dirty="0">
                <a:latin typeface="Consolas" panose="020B0609020204030204" pitchFamily="49" charset="0"/>
              </a:rPr>
              <a:t>0^0^…^0^x</a:t>
            </a:r>
            <a:r>
              <a:rPr lang="en" altLang="en-US" sz="1800" dirty="0">
                <a:latin typeface="Aptos Display" panose="020B0004020202020204" pitchFamily="34" charset="0"/>
              </a:rPr>
              <a:t>.  Since "</a:t>
            </a:r>
            <a:r>
              <a:rPr lang="en" altLang="en-US" sz="1800" kern="100" dirty="0">
                <a:solidFill>
                  <a:prstClr val="black"/>
                </a:solidFill>
                <a:latin typeface="Aptos Display" panose="020B0004020202020204" pitchFamily="34" charset="0"/>
              </a:rPr>
              <a:t>any number XOR-ed with </a:t>
            </a:r>
            <a:r>
              <a:rPr lang="en" altLang="zh-CN" sz="1800" kern="100" dirty="0">
                <a:solidFill>
                  <a:prstClr val="black"/>
                </a:solidFill>
                <a:latin typeface="Aptos Display" panose="020B0004020202020204" pitchFamily="34" charset="0"/>
              </a:rPr>
              <a:t>0 is itself</a:t>
            </a:r>
            <a:r>
              <a:rPr lang="en" altLang="en-US" sz="1800" dirty="0">
                <a:latin typeface="Aptos Display" panose="020B0004020202020204" pitchFamily="34" charset="0"/>
              </a:rPr>
              <a:t>", the final result of XORing all numbers is </a:t>
            </a:r>
            <a:r>
              <a:rPr lang="en" altLang="zh-CN" sz="1800" dirty="0">
                <a:latin typeface="Aptos Display" panose="020B0004020202020204" pitchFamily="34" charset="0"/>
              </a:rPr>
              <a:t>x</a:t>
            </a:r>
            <a:r>
              <a:rPr lang="en" altLang="en-US" sz="1800" dirty="0">
                <a:latin typeface="Aptos Display" panose="020B0004020202020204" pitchFamily="34" charset="0"/>
              </a:rPr>
              <a:t>, which is the answer.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Missing playing cards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1307652"/>
            <a:ext cx="5812086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Ming and Jia are playing a poker game in which the card with the larger figure wins.  There are 3 patterns of cards (figures are from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13 respectively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39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cards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total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Unfortunately after one round, they discovered that two cards of the same figure were missing. 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 were they?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1" y="3640475"/>
            <a:ext cx="3064952" cy="1024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Input: One line containing </a:t>
            </a:r>
            <a:r>
              <a:rPr lang="en" altLang="zh-CN" sz="1800" dirty="0">
                <a:latin typeface="Aptos Display" panose="020B0004020202020204" pitchFamily="34" charset="0"/>
              </a:rPr>
              <a:t>37 </a:t>
            </a:r>
            <a:r>
              <a:rPr lang="en" altLang="en-US" sz="1800" dirty="0">
                <a:latin typeface="Aptos Display" panose="020B0004020202020204" pitchFamily="34" charset="0"/>
              </a:rPr>
              <a:t>integers, </a:t>
            </a:r>
            <a:r>
              <a:rPr lang="en-US" altLang="zh-CN" sz="1800" dirty="0">
                <a:latin typeface="Aptos Display" panose="020B0004020202020204" pitchFamily="34" charset="0"/>
              </a:rPr>
              <a:t>which are</a:t>
            </a:r>
            <a:r>
              <a:rPr lang="en" altLang="en-US" sz="1800" dirty="0">
                <a:latin typeface="Aptos Display" panose="020B0004020202020204" pitchFamily="34" charset="0"/>
              </a:rPr>
              <a:t> the  </a:t>
            </a:r>
            <a:r>
              <a:rPr lang="en" altLang="zh-CN" sz="1800" dirty="0">
                <a:latin typeface="Aptos Display" panose="020B0004020202020204" pitchFamily="34" charset="0"/>
              </a:rPr>
              <a:t>37 </a:t>
            </a:r>
            <a:r>
              <a:rPr lang="en" altLang="en-US" sz="1800" dirty="0">
                <a:latin typeface="Aptos Display" panose="020B0004020202020204" pitchFamily="34" charset="0"/>
              </a:rPr>
              <a:t>cards.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745458" y="3640475"/>
            <a:ext cx="2664967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One integer, which is the figure of the missing cards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660682" y="1307652"/>
            <a:ext cx="4774131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sz="1800" dirty="0">
                <a:latin typeface="Aptos Display" panose="020B0004020202020204" pitchFamily="34" charset="0"/>
              </a:rPr>
              <a:t>1s </a:t>
            </a:r>
            <a:r>
              <a:rPr lang="en" altLang="en-US" sz="1800" dirty="0">
                <a:latin typeface="Aptos Display" panose="020B0004020202020204" pitchFamily="34" charset="0"/>
              </a:rPr>
              <a:t>in each digit should be divisible by </a:t>
            </a:r>
            <a:r>
              <a:rPr lang="en" altLang="zh-CN" sz="1800" dirty="0">
                <a:latin typeface="Aptos Display" panose="020B0004020202020204" pitchFamily="34" charset="0"/>
              </a:rPr>
              <a:t>3 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Now that there is only one card missing, and two cards are missing, the digit that is not divisible by </a:t>
            </a:r>
            <a:r>
              <a:rPr lang="en" altLang="zh-CN" sz="1800" dirty="0">
                <a:latin typeface="Aptos Display" panose="020B0004020202020204" pitchFamily="34" charset="0"/>
              </a:rPr>
              <a:t>3 </a:t>
            </a:r>
            <a:r>
              <a:rPr lang="en" altLang="en-US" sz="1800" dirty="0">
                <a:latin typeface="Aptos Display" panose="020B0004020202020204" pitchFamily="34" charset="0"/>
              </a:rPr>
              <a:t>indicates that the card in that digit is </a:t>
            </a:r>
            <a:r>
              <a:rPr lang="en" altLang="zh-CN" sz="1800" dirty="0">
                <a:latin typeface="Aptos Display" panose="020B0004020202020204" pitchFamily="34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Replace all the </a:t>
            </a:r>
            <a:r>
              <a:rPr lang="en" altLang="zh-CN" sz="1800" dirty="0">
                <a:latin typeface="Aptos Display" panose="020B0004020202020204" pitchFamily="34" charset="0"/>
              </a:rPr>
              <a:t>32 </a:t>
            </a:r>
            <a:r>
              <a:rPr lang="en" altLang="en-US" sz="1800" dirty="0">
                <a:latin typeface="Aptos Display" panose="020B0004020202020204" pitchFamily="34" charset="0"/>
              </a:rPr>
              <a:t>counters that are divisible by </a:t>
            </a:r>
            <a:r>
              <a:rPr lang="en" altLang="zh-CN" sz="1800" dirty="0">
                <a:latin typeface="Aptos Display" panose="020B0004020202020204" pitchFamily="34" charset="0"/>
              </a:rPr>
              <a:t>3 </a:t>
            </a:r>
            <a:r>
              <a:rPr lang="en" altLang="en-US" sz="1800" dirty="0">
                <a:latin typeface="Aptos Display" panose="020B0004020202020204" pitchFamily="34" charset="0"/>
              </a:rPr>
              <a:t>with </a:t>
            </a:r>
            <a:r>
              <a:rPr lang="en" altLang="zh-CN" sz="1800" dirty="0">
                <a:latin typeface="Aptos Display" panose="020B0004020202020204" pitchFamily="34" charset="0"/>
              </a:rPr>
              <a:t>0 , and </a:t>
            </a:r>
            <a:r>
              <a:rPr lang="en" altLang="en-US" sz="1800" dirty="0">
                <a:latin typeface="Aptos Display" panose="020B0004020202020204" pitchFamily="34" charset="0"/>
              </a:rPr>
              <a:t>all the counters that are not divisible by </a:t>
            </a:r>
            <a:r>
              <a:rPr lang="en" altLang="zh-CN" sz="1800" dirty="0">
                <a:latin typeface="Aptos Display" panose="020B0004020202020204" pitchFamily="34" charset="0"/>
              </a:rPr>
              <a:t>3 with 1. </a:t>
            </a:r>
            <a:r>
              <a:rPr lang="en" altLang="en-US" sz="1800" dirty="0">
                <a:latin typeface="Aptos Display" panose="020B0004020202020204" pitchFamily="34" charset="0"/>
              </a:rPr>
              <a:t>Then convert the result to decimal. This will give you the missing card.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95ED5B5-8617-5F2C-4B46-64C430704C2B}"/>
              </a:ext>
            </a:extLst>
          </p:cNvPr>
          <p:cNvSpPr txBox="1">
            <a:spLocks/>
          </p:cNvSpPr>
          <p:nvPr/>
        </p:nvSpPr>
        <p:spPr>
          <a:xfrm>
            <a:off x="675342" y="4819057"/>
            <a:ext cx="5812086" cy="1939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After converting all the cards to binary, each card has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bits.  Count the number of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 in each bit of all the numbers (there are 32 counters for the 32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bits , which can be recorded using an array).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1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Missing playing cards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1306267"/>
            <a:ext cx="5821712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Ming and Jia are playing a poker game in which the card with the larger figure wins.  There are 2 patterns of cards (figures are from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13 respectively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26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cards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total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Unfortunately after one round, they discovered that two cards of different figures were missing. 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 were they?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0" y="3640475"/>
            <a:ext cx="3011135" cy="1297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Input: One line containing </a:t>
            </a:r>
            <a:r>
              <a:rPr lang="en" altLang="zh-CN" sz="1800" dirty="0">
                <a:latin typeface="Aptos Display" panose="020B0004020202020204" pitchFamily="34" charset="0"/>
              </a:rPr>
              <a:t>24 </a:t>
            </a:r>
            <a:r>
              <a:rPr lang="en" altLang="en-US" sz="1800" dirty="0">
                <a:latin typeface="Aptos Display" panose="020B0004020202020204" pitchFamily="34" charset="0"/>
              </a:rPr>
              <a:t>integers, which are the 24 remaining cards.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686475" y="3640475"/>
            <a:ext cx="2810578" cy="1298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Two space-separated integers, which are the two missing cards.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697609" y="1307652"/>
            <a:ext cx="5257553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Apparently </a:t>
            </a:r>
            <a:r>
              <a:rPr lang="en" altLang="zh-CN" sz="1800" dirty="0">
                <a:latin typeface="Consolas" panose="020B0609020204030204" pitchFamily="49" charset="0"/>
              </a:rPr>
              <a:t>p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and </a:t>
            </a:r>
            <a:r>
              <a:rPr lang="en" altLang="zh-CN" sz="1800" dirty="0">
                <a:latin typeface="Consolas" panose="020B0609020204030204" pitchFamily="49" charset="0"/>
              </a:rPr>
              <a:t>q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must have some different digits, i.e., on some places it’s </a:t>
            </a:r>
            <a:r>
              <a:rPr lang="en" altLang="en-US" sz="1800" dirty="0">
                <a:latin typeface="Consolas" panose="020B0609020204030204" pitchFamily="49" charset="0"/>
              </a:rPr>
              <a:t>0</a:t>
            </a:r>
            <a:r>
              <a:rPr lang="en" altLang="en-US" sz="1800" dirty="0">
                <a:latin typeface="Aptos Display" panose="020B0004020202020204" pitchFamily="34" charset="0"/>
              </a:rPr>
              <a:t> in </a:t>
            </a:r>
            <a:r>
              <a:rPr lang="en" altLang="zh-CN" sz="1800" dirty="0">
                <a:latin typeface="Consolas" panose="020B0609020204030204" pitchFamily="49" charset="0"/>
              </a:rPr>
              <a:t>p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and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</a:rPr>
              <a:t>1</a:t>
            </a:r>
            <a:r>
              <a:rPr lang="en" altLang="en-US" sz="1800" dirty="0">
                <a:latin typeface="Aptos Display" panose="020B0004020202020204" pitchFamily="34" charset="0"/>
              </a:rPr>
              <a:t> in </a:t>
            </a:r>
            <a:r>
              <a:rPr lang="en" altLang="zh-CN" sz="1800" dirty="0">
                <a:latin typeface="Consolas" panose="020B0609020204030204" pitchFamily="49" charset="0"/>
              </a:rPr>
              <a:t>q</a:t>
            </a:r>
            <a:r>
              <a:rPr lang="en" altLang="en-US" sz="1800" dirty="0">
                <a:latin typeface="Aptos Display" panose="020B0004020202020204" pitchFamily="34" charset="0"/>
              </a:rPr>
              <a:t>, thus </a:t>
            </a:r>
            <a:r>
              <a:rPr lang="en" altLang="en-US" sz="1800" dirty="0">
                <a:latin typeface="Consolas" panose="020B0609020204030204" pitchFamily="49" charset="0"/>
              </a:rPr>
              <a:t>1</a:t>
            </a:r>
            <a:r>
              <a:rPr lang="en" altLang="en-US" sz="1800" dirty="0">
                <a:latin typeface="Aptos Display" panose="020B0004020202020204" pitchFamily="34" charset="0"/>
              </a:rPr>
              <a:t> in </a:t>
            </a:r>
            <a:r>
              <a:rPr lang="en" altLang="en-US" sz="1800" dirty="0">
                <a:latin typeface="Consolas" panose="020B0609020204030204" pitchFamily="49" charset="0"/>
              </a:rPr>
              <a:t>r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Convert </a:t>
            </a:r>
            <a:r>
              <a:rPr lang="en" altLang="zh-CN" sz="1800" dirty="0">
                <a:latin typeface="Consolas" panose="020B0609020204030204" pitchFamily="49" charset="0"/>
              </a:rPr>
              <a:t>r</a:t>
            </a:r>
            <a:r>
              <a:rPr lang="en" altLang="zh-CN" sz="1800" dirty="0">
                <a:latin typeface="Aptos Display" panose="020B0004020202020204" pitchFamily="34" charset="0"/>
              </a:rPr>
              <a:t> to binary, </a:t>
            </a:r>
            <a:r>
              <a:rPr lang="en-US" altLang="zh-CN" sz="1800" dirty="0">
                <a:latin typeface="Aptos Display" panose="020B0004020202020204" pitchFamily="34" charset="0"/>
              </a:rPr>
              <a:t>locate</a:t>
            </a:r>
            <a:r>
              <a:rPr lang="en" altLang="zh-CN" sz="1800" dirty="0">
                <a:latin typeface="Aptos Display" panose="020B0004020202020204" pitchFamily="34" charset="0"/>
              </a:rPr>
              <a:t> any </a:t>
            </a:r>
            <a:r>
              <a:rPr lang="en" altLang="zh-CN" sz="1800" dirty="0">
                <a:latin typeface="Consolas" panose="020B0609020204030204" pitchFamily="49" charset="0"/>
              </a:rPr>
              <a:t>1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in it, create a mask (e.g., if the 2nd place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is </a:t>
            </a:r>
            <a:r>
              <a:rPr lang="en" altLang="zh-CN" sz="1800" dirty="0">
                <a:latin typeface="Consolas" panose="020B0609020204030204" pitchFamily="49" charset="0"/>
              </a:rPr>
              <a:t>1</a:t>
            </a:r>
            <a:r>
              <a:rPr lang="en" altLang="en-US" sz="1800" dirty="0">
                <a:latin typeface="Aptos Display" panose="020B0004020202020204" pitchFamily="34" charset="0"/>
              </a:rPr>
              <a:t>, the mask is </a:t>
            </a:r>
            <a:r>
              <a:rPr lang="en" altLang="zh-CN" sz="1800" dirty="0">
                <a:latin typeface="Consolas" panose="020B0609020204030204" pitchFamily="49" charset="0"/>
              </a:rPr>
              <a:t>00000010</a:t>
            </a:r>
            <a:r>
              <a:rPr lang="en" altLang="en-US" sz="1800" dirty="0">
                <a:latin typeface="Aptos Display" panose="020B0004020202020204" pitchFamily="34" charset="0"/>
              </a:rPr>
              <a:t>).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en-US" sz="1800" dirty="0">
                <a:latin typeface="Aptos Display" panose="020B0004020202020204" pitchFamily="34" charset="0"/>
              </a:rPr>
              <a:t>Perform bitwise AND between the mask and all input numbers, and divide the input into two groups based on the result being </a:t>
            </a:r>
            <a:r>
              <a:rPr lang="en" altLang="zh-CN" sz="1800" dirty="0">
                <a:latin typeface="Consolas" panose="020B0609020204030204" pitchFamily="49" charset="0"/>
              </a:rPr>
              <a:t>0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or non-</a:t>
            </a:r>
            <a:r>
              <a:rPr lang="en" altLang="en-US" sz="1800" dirty="0">
                <a:latin typeface="Consolas" panose="020B0609020204030204" pitchFamily="49" charset="0"/>
              </a:rPr>
              <a:t>0</a:t>
            </a:r>
            <a:r>
              <a:rPr lang="en" altLang="en-US" sz="1800" dirty="0">
                <a:latin typeface="Aptos Display" panose="020B0004020202020204" pitchFamily="34" charset="0"/>
              </a:rPr>
              <a:t>.  This guarantees that </a:t>
            </a:r>
            <a:r>
              <a:rPr lang="en" altLang="zh-CN" sz="1800" dirty="0">
                <a:latin typeface="Consolas" panose="020B0609020204030204" pitchFamily="49" charset="0"/>
              </a:rPr>
              <a:t>p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and </a:t>
            </a:r>
            <a:r>
              <a:rPr lang="en" altLang="zh-CN" sz="1800" dirty="0">
                <a:latin typeface="Consolas" panose="020B0609020204030204" pitchFamily="49" charset="0"/>
              </a:rPr>
              <a:t>q</a:t>
            </a:r>
            <a:r>
              <a:rPr lang="en" altLang="zh-CN" sz="1800" dirty="0">
                <a:latin typeface="Aptos Display" panose="020B0004020202020204" pitchFamily="34" charset="0"/>
              </a:rPr>
              <a:t> must</a:t>
            </a:r>
            <a:r>
              <a:rPr lang="en" altLang="en-US" sz="1800" dirty="0">
                <a:latin typeface="Aptos Display" panose="020B0004020202020204" pitchFamily="34" charset="0"/>
              </a:rPr>
              <a:t> be in different groups.  Then, XOR all numbers in each group, the results will be </a:t>
            </a:r>
            <a:r>
              <a:rPr lang="en" altLang="zh-CN" sz="1800" dirty="0">
                <a:latin typeface="Consolas" panose="020B0609020204030204" pitchFamily="49" charset="0"/>
              </a:rPr>
              <a:t>p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and </a:t>
            </a:r>
            <a:r>
              <a:rPr lang="en" altLang="zh-CN" sz="1800" dirty="0">
                <a:latin typeface="Consolas" panose="020B0609020204030204" pitchFamily="49" charset="0"/>
              </a:rPr>
              <a:t>q</a:t>
            </a:r>
            <a:r>
              <a:rPr lang="en" altLang="zh-CN" sz="1800" dirty="0">
                <a:latin typeface="Aptos Display" panose="020B0004020202020204" pitchFamily="34" charset="0"/>
              </a:rPr>
              <a:t> respectively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95ED5B5-8617-5F2C-4B46-64C430704C2B}"/>
              </a:ext>
            </a:extLst>
          </p:cNvPr>
          <p:cNvSpPr txBox="1">
            <a:spLocks/>
          </p:cNvSpPr>
          <p:nvPr/>
        </p:nvSpPr>
        <p:spPr>
          <a:xfrm>
            <a:off x="675341" y="4939357"/>
            <a:ext cx="5821712" cy="14229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XOR all 24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numbers.  Let the two missing cards be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q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 Since 2 same numbers XOR-ed becomes 0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result of XOR-ing all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24 numbers is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p^q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 Let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 = p^q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8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50560</TotalTime>
  <Words>6012</Words>
  <Application>Microsoft Office PowerPoint</Application>
  <PresentationFormat>Widescreen</PresentationFormat>
  <Paragraphs>654</Paragraphs>
  <Slides>31</Slides>
  <Notes>3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电路</vt:lpstr>
      <vt:lpstr>NOIP Language Fundamentals (13)</vt:lpstr>
      <vt:lpstr>Computer number systems</vt:lpstr>
      <vt:lpstr>Binary</vt:lpstr>
      <vt:lpstr>Binary conversion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612</cp:revision>
  <dcterms:created xsi:type="dcterms:W3CDTF">2018-08-09T00:16:20Z</dcterms:created>
  <dcterms:modified xsi:type="dcterms:W3CDTF">2026-01-25T09:28:06Z</dcterms:modified>
</cp:coreProperties>
</file>