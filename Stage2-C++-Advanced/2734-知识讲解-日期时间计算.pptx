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81" r:id="rId3"/>
    <p:sldId id="341" r:id="rId4"/>
    <p:sldId id="394" r:id="rId5"/>
    <p:sldId id="395" r:id="rId6"/>
    <p:sldId id="396" r:id="rId7"/>
    <p:sldId id="397" r:id="rId8"/>
    <p:sldId id="398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82368" autoAdjust="0"/>
  </p:normalViewPr>
  <p:slideViewPr>
    <p:cSldViewPr snapToGrid="0">
      <p:cViewPr varScale="1">
        <p:scale>
          <a:sx n="127" d="100"/>
          <a:sy n="127" d="100"/>
        </p:scale>
        <p:origin x="15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9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入门基础算法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日期时间计算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时间单位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小时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=60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分钟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分钟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=60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秒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秒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=1000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毫秒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毫秒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=1000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微秒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微秒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=1000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纳秒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56704-FF9C-7E85-B3E8-EBADFC79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23A46-7A0A-8D13-9106-20569635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日期单位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8D20A-913B-0EBC-5831-3F436108B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天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=24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小时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月的天数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每月的天数没有规律，除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月外每月天数为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30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或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31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天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平年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月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28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天，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闰年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月为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29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天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=12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月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年的天数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平年为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365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天，闰年为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366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天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662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A4D9-9660-E366-3C47-8F40DCAB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AA30C-DB80-6709-790F-B4C0CB3E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月份的天数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53F62-FDA0-712A-E1ED-F3BD281A0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通常用一个数组来记录每个月的天数：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None/>
              <a:tabLst/>
              <a:defRPr/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 days[20]={0,31,28,31,30,31,30,31,31,30,31,30,31};</a:t>
            </a: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从下标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开始保存，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days[1]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表示一月份的天数，以此类推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02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1CE9-D4F6-C48E-EA89-16D1699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F2615-B36A-41CA-CFDD-8843CE73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闰年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B38C5-28D1-3535-5556-9F101037D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170358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闰年的规则：四年一闰，百年不闰，四百年又闰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spcBef>
                <a:spcPts val="1000"/>
              </a:spcBef>
              <a:defRPr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年份能被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400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整除，或者能被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整除且不能被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整除，就是闰年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None/>
              <a:tabLst/>
              <a:defRPr/>
            </a:pPr>
            <a:endParaRPr lang="en-US" altLang="zh-CN" b="1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E88A0-1E06-41F2-669C-167429102540}"/>
              </a:ext>
            </a:extLst>
          </p:cNvPr>
          <p:cNvSpPr txBox="1"/>
          <p:nvPr/>
        </p:nvSpPr>
        <p:spPr>
          <a:xfrm>
            <a:off x="678609" y="3189696"/>
            <a:ext cx="10368800" cy="164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1000"/>
              </a:spcBef>
              <a:buSzPct val="125000"/>
              <a:defRPr/>
            </a:pPr>
            <a:r>
              <a:rPr lang="en-US" altLang="zh-CN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isLeapYear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(int y){</a:t>
            </a:r>
          </a:p>
          <a:p>
            <a:pPr lvl="0" defTabSz="914400">
              <a:lnSpc>
                <a:spcPct val="120000"/>
              </a:lnSpc>
              <a:spcBef>
                <a:spcPts val="1000"/>
              </a:spcBef>
              <a:buSzPct val="125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y%400==0||y%4==0&amp;&amp;y%100;</a:t>
            </a:r>
          </a:p>
          <a:p>
            <a:pPr lvl="0" defTabSz="914400">
              <a:lnSpc>
                <a:spcPct val="120000"/>
              </a:lnSpc>
              <a:spcBef>
                <a:spcPts val="1000"/>
              </a:spcBef>
              <a:buSzPct val="125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067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2E2-6E54-715C-ADFE-E02B7601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0382D-4CC6-2965-5562-64A0827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09747-17B3-EF2B-32F5-D312DF835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统一单位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例如，小时搭配分钟搭配秒的计算，可以全部转为秒后进行计算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zh-CN" altLang="en-US" noProof="0" dirty="0">
                <a:latin typeface="Consolas" panose="020B0609020204030204" pitchFamily="49" charset="0"/>
                <a:ea typeface="微软雅黑" panose="020B0503020204020204" pitchFamily="34" charset="-122"/>
              </a:rPr>
              <a:t>看做是特殊进制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/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例如，秒进位到分钟、分钟进位到小时可以看做是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60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进制，小时进位到天可以看做是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进制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67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4F0D-D4B2-841E-F1F0-A1214412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D5EE-630B-1085-86AE-289201F6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日期加法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FD10CC-E5AD-0EFF-7926-5A7EB616B981}"/>
              </a:ext>
            </a:extLst>
          </p:cNvPr>
          <p:cNvSpPr txBox="1"/>
          <p:nvPr/>
        </p:nvSpPr>
        <p:spPr>
          <a:xfrm>
            <a:off x="471093" y="4655056"/>
            <a:ext cx="3766029" cy="732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0" indent="0" algn="l">
              <a:lnSpc>
                <a:spcPct val="120000"/>
              </a:lnSpc>
              <a:spcBef>
                <a:spcPts val="1000"/>
              </a:spcBef>
              <a:buSzPct val="125000"/>
              <a:buNone/>
              <a:defRPr/>
            </a:pPr>
            <a:r>
              <a:rPr lang="zh-CN" altLang="en-US" sz="1800" kern="1200" dirty="0">
                <a:latin typeface="Consolas" panose="020B0609020204030204" pitchFamily="49" charset="0"/>
                <a:ea typeface="微软雅黑" panose="020B0503020204020204" pitchFamily="34" charset="-122"/>
              </a:rPr>
              <a:t>从输入的日期开始，模拟日期加法，每次加</a:t>
            </a:r>
            <a:r>
              <a:rPr lang="en-US" altLang="zh-CN" sz="1800" kern="1200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800" kern="1200" dirty="0">
                <a:latin typeface="Consolas" panose="020B0609020204030204" pitchFamily="49" charset="0"/>
                <a:ea typeface="微软雅黑" panose="020B0503020204020204" pitchFamily="34" charset="-122"/>
              </a:rPr>
              <a:t>天，连续加</a:t>
            </a:r>
            <a:r>
              <a:rPr lang="en-US" altLang="zh-CN" sz="1800" kern="1200" dirty="0"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800" kern="1200" dirty="0">
                <a:latin typeface="Consolas" panose="020B0609020204030204" pitchFamily="49" charset="0"/>
                <a:ea typeface="微软雅黑" panose="020B0503020204020204" pitchFamily="34" charset="-122"/>
              </a:rPr>
              <a:t>次。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D96351-3DE0-3332-E6B4-6973C6C4EFA1}"/>
              </a:ext>
            </a:extLst>
          </p:cNvPr>
          <p:cNvSpPr txBox="1"/>
          <p:nvPr/>
        </p:nvSpPr>
        <p:spPr>
          <a:xfrm>
            <a:off x="4916932" y="1146455"/>
            <a:ext cx="6895804" cy="576055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#include &lt;bits/</a:t>
            </a:r>
            <a:r>
              <a:rPr lang="en-US" altLang="zh-CN" sz="16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stdc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++.h&gt;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std;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days[20]={0,31,28,31,30,31,30,31,31,30,31,30,31};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y,m,d,n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isLeapYear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(int y){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y%400==0||y%4==0&amp;&amp;y%100;</a:t>
            </a:r>
          </a:p>
          <a:p>
            <a:pPr lv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mar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&gt;&gt;y&gt;&gt;m&gt;&gt;d&gt;&gt;n;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isLeapYear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(y)) days[2]=29;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处理闰年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=1;i&lt;=n;++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++d;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加一天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(d&gt;days[m]){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超过当月的天数，进位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++m;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d=1;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(m&gt;12){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超过一年的月数，进位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++y;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m=1;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isLeapYear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(y)) days[2]=29;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处理闰年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days[2]=28; 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处理平年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}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}</a:t>
            </a: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}</a:t>
            </a:r>
            <a:endParaRPr lang="fr-FR" altLang="zh-CN" sz="1600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cout&lt;&lt;y&lt;&lt;" "&lt;&lt;m&lt;&lt;" "&lt;&lt;d&lt;&lt;endl;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0;</a:t>
            </a:r>
          </a:p>
          <a:p>
            <a:pPr marL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6E53E2-940B-AAD3-3D5A-7A92DC0924AA}"/>
              </a:ext>
            </a:extLst>
          </p:cNvPr>
          <p:cNvSpPr txBox="1"/>
          <p:nvPr/>
        </p:nvSpPr>
        <p:spPr>
          <a:xfrm>
            <a:off x="4444637" y="1146455"/>
            <a:ext cx="472295" cy="576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5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charset="-122"/>
            </a:endParaRP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8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</a:p>
          <a:p>
            <a:pPr marL="0" indent="0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3019DF-D4DC-493A-341F-B8A4207F980A}"/>
              </a:ext>
            </a:extLst>
          </p:cNvPr>
          <p:cNvSpPr/>
          <p:nvPr/>
        </p:nvSpPr>
        <p:spPr>
          <a:xfrm>
            <a:off x="438145" y="1420024"/>
            <a:ext cx="3766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CEA366-A8CD-3508-0C77-48FBA3F3D7D5}"/>
              </a:ext>
            </a:extLst>
          </p:cNvPr>
          <p:cNvSpPr txBox="1"/>
          <p:nvPr/>
        </p:nvSpPr>
        <p:spPr>
          <a:xfrm>
            <a:off x="438146" y="2807934"/>
            <a:ext cx="21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0" indent="0" algn="l" defTabSz="457200">
              <a:lnSpc>
                <a:spcPct val="100000"/>
              </a:lnSpc>
              <a:buNone/>
            </a:pP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2023 12 25 10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24DD88-6446-B47D-AF59-621F89CA31FB}"/>
              </a:ext>
            </a:extLst>
          </p:cNvPr>
          <p:cNvSpPr txBox="1"/>
          <p:nvPr/>
        </p:nvSpPr>
        <p:spPr>
          <a:xfrm>
            <a:off x="438144" y="1789356"/>
            <a:ext cx="3766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输入年、月、日和整数</a:t>
            </a: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，求</a:t>
            </a: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天后的日期。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CBF6B0-4752-93A1-A184-A7E9ABE43090}"/>
              </a:ext>
            </a:extLst>
          </p:cNvPr>
          <p:cNvSpPr txBox="1"/>
          <p:nvPr/>
        </p:nvSpPr>
        <p:spPr>
          <a:xfrm>
            <a:off x="2561622" y="2807934"/>
            <a:ext cx="1642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0" indent="0" algn="l" defTabSz="457200">
              <a:lnSpc>
                <a:spcPct val="100000"/>
              </a:lnSpc>
              <a:buNone/>
            </a:pP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2024 1 4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D51F90-FA7C-0A22-F545-DBDD152BCA7D}"/>
              </a:ext>
            </a:extLst>
          </p:cNvPr>
          <p:cNvSpPr/>
          <p:nvPr/>
        </p:nvSpPr>
        <p:spPr>
          <a:xfrm>
            <a:off x="438147" y="2441383"/>
            <a:ext cx="2123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50BEDA-AFBF-9792-3993-621B0B4AA79C}"/>
              </a:ext>
            </a:extLst>
          </p:cNvPr>
          <p:cNvSpPr/>
          <p:nvPr/>
        </p:nvSpPr>
        <p:spPr>
          <a:xfrm>
            <a:off x="2561623" y="2441383"/>
            <a:ext cx="1642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E3FD22-D051-C5F3-76B6-76E75F44656F}"/>
              </a:ext>
            </a:extLst>
          </p:cNvPr>
          <p:cNvSpPr/>
          <p:nvPr/>
        </p:nvSpPr>
        <p:spPr>
          <a:xfrm>
            <a:off x="454619" y="4279700"/>
            <a:ext cx="3766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思路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B4D491-C843-7D79-5CB4-A2A8BACE9E61}"/>
              </a:ext>
            </a:extLst>
          </p:cNvPr>
          <p:cNvSpPr txBox="1"/>
          <p:nvPr/>
        </p:nvSpPr>
        <p:spPr>
          <a:xfrm>
            <a:off x="454619" y="3543817"/>
            <a:ext cx="21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0" indent="0" algn="l" defTabSz="457200">
              <a:lnSpc>
                <a:spcPct val="100000"/>
              </a:lnSpc>
              <a:buNone/>
            </a:pP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2023 12 25 70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1103B4-2BCD-31FD-B587-C391517CB274}"/>
              </a:ext>
            </a:extLst>
          </p:cNvPr>
          <p:cNvSpPr txBox="1"/>
          <p:nvPr/>
        </p:nvSpPr>
        <p:spPr>
          <a:xfrm>
            <a:off x="2578095" y="3543817"/>
            <a:ext cx="1642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0" indent="0" algn="l" defTabSz="457200">
              <a:lnSpc>
                <a:spcPct val="100000"/>
              </a:lnSpc>
              <a:buNone/>
            </a:pPr>
            <a:r>
              <a:rPr lang="en-US" altLang="zh-CN" sz="1800" kern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2024 3 4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BCDA43-E02F-B190-AC03-53B7E84D690A}"/>
              </a:ext>
            </a:extLst>
          </p:cNvPr>
          <p:cNvSpPr/>
          <p:nvPr/>
        </p:nvSpPr>
        <p:spPr>
          <a:xfrm>
            <a:off x="454620" y="3177266"/>
            <a:ext cx="2123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F9BCA0-EAF3-3112-272E-69BD317E3D7F}"/>
              </a:ext>
            </a:extLst>
          </p:cNvPr>
          <p:cNvSpPr/>
          <p:nvPr/>
        </p:nvSpPr>
        <p:spPr>
          <a:xfrm>
            <a:off x="2578096" y="3177266"/>
            <a:ext cx="1642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075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 animBg="1"/>
      <p:bldP spid="9" grpId="0"/>
      <p:bldP spid="14" grpId="0"/>
      <p:bldP spid="15" grpId="0"/>
      <p:bldP spid="16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48157</TotalTime>
  <Words>607</Words>
  <Application>Microsoft Office PowerPoint</Application>
  <PresentationFormat>宽屏</PresentationFormat>
  <Paragraphs>106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华文楷体</vt:lpstr>
      <vt:lpstr>微软雅黑</vt:lpstr>
      <vt:lpstr>Arial</vt:lpstr>
      <vt:lpstr>Consolas</vt:lpstr>
      <vt:lpstr>Tw Cen MT</vt:lpstr>
      <vt:lpstr>电路</vt:lpstr>
      <vt:lpstr>NOIP 入门基础算法</vt:lpstr>
      <vt:lpstr>日期时间计算</vt:lpstr>
      <vt:lpstr>时间单位</vt:lpstr>
      <vt:lpstr>日期单位</vt:lpstr>
      <vt:lpstr>月份的天数</vt:lpstr>
      <vt:lpstr>闰年</vt:lpstr>
      <vt:lpstr>计算技巧</vt:lpstr>
      <vt:lpstr>日期加法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青 林</cp:lastModifiedBy>
  <cp:revision>194</cp:revision>
  <dcterms:created xsi:type="dcterms:W3CDTF">2018-08-09T00:16:20Z</dcterms:created>
  <dcterms:modified xsi:type="dcterms:W3CDTF">2025-03-28T12:11:57Z</dcterms:modified>
</cp:coreProperties>
</file>