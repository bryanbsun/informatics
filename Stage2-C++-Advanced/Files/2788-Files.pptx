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341" r:id="rId3"/>
    <p:sldId id="348" r:id="rId4"/>
    <p:sldId id="342" r:id="rId5"/>
    <p:sldId id="350" r:id="rId6"/>
    <p:sldId id="352" r:id="rId7"/>
    <p:sldId id="357" r:id="rId8"/>
    <p:sldId id="361" r:id="rId9"/>
    <p:sldId id="362" r:id="rId10"/>
    <p:sldId id="363" r:id="rId11"/>
    <p:sldId id="261" r:id="rId12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6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18T03:47:12.635" v="0" actId="7634"/>
      <pc:docMkLst>
        <pc:docMk/>
      </pc:docMkLst>
      <pc:sldChg chg="addSp mod">
        <pc:chgData name="Bryan Sun" userId="851caa7714272873" providerId="LiveId" clId="{9CD94D5E-0A18-4CEF-A655-0E4C15651F93}" dt="2026-10-18T03:47:12.635" v="0" actId="7634"/>
        <pc:sldMkLst>
          <pc:docMk/>
          <pc:sldMk cId="815367437" sldId="342"/>
        </pc:sldMkLst>
        <pc:inkChg chg="add">
          <ac:chgData name="Bryan Sun" userId="851caa7714272873" providerId="LiveId" clId="{9CD94D5E-0A18-4CEF-A655-0E4C15651F93}" dt="2026-10-18T03:47:12.635" v="0" actId="7634"/>
          <ac:inkMkLst>
            <pc:docMk/>
            <pc:sldMk cId="815367437" sldId="342"/>
            <ac:inkMk id="2" creationId="{BB9ADFB3-56A3-A6BE-A46E-32CFA395060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5887 7408 8031,'-9'-16'-23,"-4"-1"0,7 1 354,3-1-19,1 8 1,2 0-1,2 5 95,3-1 0,-1-1 0,7 6-121,2 0 0,2 0 0,3 0 0,2 0-119,2 0 0,8 0 0,-3 0 0,6 0-107,6 0 0,-2-2 0,8-1 0,5-3-62,3 2 1,15 1 0,2-1 0,9-3 16,11-2 0,-43 3 1,0 1-1,2-3 1,-1-1-1,0 1 1,0-1 30,-1 1 0,1 0 1,4 0-1,-1-1 0,-3 2 1,0 0-1,1 0 0,-1 1 10,44-5 1,-45 6 0,0 1 0,45-9-1,-46 8 1,1 1-41,0 0 1,0 0 0,39-7 0,3 4 0,-7-1-31,-5 1 0,4 0 1,-5 3-1,-1-1 29,-3 1 1,-14-3 0,-8 1 0,-10 2 32,-5 3 1,-3 1 0,-3 0 0,-3 0-44,-2 0 1,-2 0 0,-6 0 0,-1 1 18,-4 5 1,4-4-1,-4 3 10,3-3 1,3 0 0,-1 2 2,1 1 1,-1 1 0,1-6 0,0 0-91,-1 0 1,1 0 0,-1 0-279,1 0 1,-1 0-1624,1 0 868,-8 0 0,-4 0 1086,-10 0 0,-26-15 0,-13-3 0</inkml:trace>
  <inkml:trace contextRef="#ctx0" brushRef="#br0">9608 7144 7908,'-6'-11'-6,"1"0"0,-1 0 0,4-4 0,-1 2 513,-3 2-197,1 7 1,6-3-53,5 7 1,-2 0-1,7 0 1,2 0-70,1 0 0,3 2 0,1 2 1,2 1-117,2-1 0,8 3 0,-1 0 0,8 1-39,7-1 0,4 4 0,1-3 1,3-1 27,3 0 1,13-1 0,15-6 0,9 0-28,-44 0 1,1 0-1,0 0 1,1 0-1,0 0 1,1 0-1,3-1 1,1 0-13,5-1 0,1-2 1,-3 1-1,0-1 1,3-2-1,1-1 1,-5 2-1,0 1-44,-1 0 0,0 1 0,3-3 0,1 1 0,-1 1 0,0 2 0,-4 0 0,-2 0 40,-5 1 0,0 1 0,45 0 0,-1 0 0,0 0 59,-4 0 1,-16 0-1,-6 0 1,-2 0-38,1 0 0,3 0 1,0 0-1,-4 0-102,-11 0 0,-9 5 1,-12 1-1,-5-3-446,-5-1 313,-3 5 0,-10-3-608,-4 7 121,-3-7 0,-2 5-680,0-3 1361,0-5 0,-22 7 0,-5-8 0</inkml:trace>
  <inkml:trace contextRef="#ctx0" brushRef="#br0">6995 5854 7824,'-33'-7'-51,"2"-1"0,3-5 0,4 4 1,2 2 538,0 3 1,-7 2-1,1 2-465,-3 0 1,-10 0-1,-4 0 1,-7 0 175,-3 0 1,-11 6-1,5 3 1,4 4-87,4 5 0,1 17 0,-3 6 0,-7 12-59,27-21 0,0 2 1,0 3-1,0 1 0,-3 6 1,1 1-1,0 1 1,2 1 20,2 1 1,2 2-1,1-1 1,3 1-1,4-2 1,2 1-1,1-2 1,1 0-47,1-3 0,1 0 1,-8 39-1,4-4 0,9-4-70,6-1 1,19 3 0,11-4 0,11 1-45,9-1 0,5 4 0,7-5 1,-25-36-1,2 0-62,3 2 1,3-3 0,8-3 0,4-3 0,6 1 0,3-1 0,0-5 0,1-2-101,0-4 0,2-3 1,5-5-1,1-6 0,2-5 1,0-5-1,5-5 1,2-4 230,4-3 1,0-4 0,0-4-1,1-3 1,3-2 0,-1-1-1,-4-2 1,0-2 56,-1-1 0,-2-3 0,-6 0 1,-1-2-1,1-2 0,-1-1 1,-4-1-1,-3-1-15,-5-1 0,-3-2 0,-2 2 0,-5-3 0,-10 2 0,-4-1 1,-4 1-1,-3 1-18,-6 1 1,-4 0 0,-3-3-1,-4-1 1,-4 3 0,-3 0 0,-1 1-1,-2 1-31,-5-46 0,-5 2 0,-10 1 0,8 43 0,-2-1 15,-2-2 0,-3 0 1,-1 3-1,-4 2 1,-4 2-1,-3 2 0,-2 3 1,-2 2 6,-2 3 1,-3 2 0,-6-2 0,-2 3 0,0 4 0,-2 2 0,1 3-1,-1 3 65,-2 3 1,-1 3-1,-7 3 1,-1 5-1,-6 0 1,-1 4-1,1 2 1,0 3-156,1 4 0,1 2 1,0 2-1,2 3 1,3 2-1,2 1 0,4 0 1,1 2-251,5-1 0,2 0 1,1 3-1,2 0 1,-28 18 340,6 1 0,-4 1 0,13 0 0,3 7 0</inkml:trace>
  <inkml:trace contextRef="#ctx0" brushRef="#br0">11592 5788 7956,'-11'-22'45,"0"-2"1,-2-2 0,0-1 181,2 1 1,-3 2 0,3 6-192,-4-4 1,-4 9 0,-3-4 0,-5 4 13,-4 4 0,-4 2 0,-4 7 0,-5 0 11,-4 0 0,-1 7 0,-1 4 1,-1 4-33,-5 1 1,-4 8 0,-15 6 0,-10 6 16,39-14 1,0 0 0,-1 3-1,0 0 1,5 1 0,0 1 0,-2 2-1,0-1 8,-3 1 0,0 1 0,0 2 1,0 2-1,3 2 0,2 0 0,5-1 1,2 0 203,-24 33 0,15-2 1,6-2-1,5-3-106,5-6 1,4 2-1,10 0 1,3 2-171,5 3 0,8 1 0,9-1 1,13-3-101,11-2 0,7 3 0,9-3 0,8 0-1,13 0 1,-29-32 0,4-4 0,8-3 0,2-3 0,2-2 0,1-2 43,3 0 1,1-3 0,10-4 0,1-3-1,3-2 1,0-3 0,3-6 0,0-4-61,3-5 1,1-3-1,1-3 1,1-3-1,-26 5 1,0-1-1,0-1 1,1 0-1,-1-1 1,0 0 130,0 0 0,0-1 1,-1-1-1,-2 1 1,-1-1-1,-1-1 1,21-14-1,-2-2 1,-2-1-1,-2-2-35,-3 0 0,-4-1 0,-9 4 1,-5-1-1,-10 5 0,-5 0 1,11-33-48,-24 6 1,-13 2 0,-12-2 0,-8-2-198,-12-1 1,-8 6 0,-7 10 282,-6 4 0,-1 3 0,-4 4 0,-4 4 0</inkml:trace>
  <inkml:trace contextRef="#ctx0" brushRef="#br0">7045 8665 8190,'-32'-7'0,"5"-4"1164,5-4 0,3 4-872,3 0 1,8 7 0,10-1 47,13 3 1,5 0 0,13-2 0,8-1-194,5 1 1,5 1 0,2-1 0,4-2-332,2 3 0,-6-5 0,2 3 0,-3-1-48,-2-1 0,-1 5 0,-1-3 0,-6 3-1598,-9 2 1246,0-8 1,-23 8 0,-7-1 0,-16 6 240,-12 4 0,-8-3 0,-6 5 0,-5 2 343,-4 1 0,-2 5 0,1 1 0,-1 2 0,1-2 0,-3-1 0,-3-3 0,-4 1 28,0-1 1,-5 1 0,7-3-1,2-2 624,5-7 0,19-3 1,4-2 1132,6 0 1,14-2-1312,7-3 1,9 1 0,13-5-1,8-1-306,7 1 1,7-4 0,11-7-1,7-2-30,8 2 1,4 0 0,5 0-1,-2-3-718,2 3 0,3 4 0,3 3 1,-2 4-3099,-8 1 3678,-5 3 0,-4 20 0,0 3 0</inkml:trace>
  <inkml:trace contextRef="#ctx0" brushRef="#br0">9475 8599 7703,'11'-6'225,"0"1"1,-5-6-1,5 5 1,0 1 368,-2-2 0,6 5 0,-2-4-383,7 4 1,8 2 0,12 0 0,11 0 63,14 0 1,8-5 0,10-1 0,1 1-294,5-3 0,-43 7 0,1-1 1,3-3-1,0 1 0,-3 0 0,-1 0-323,35 1 0,-20-5 0,-17 3 0,-15 1-400,-9 2 0,-12 2 1,-8 0-589,-9 0 1329,-6 0 0,-38 0 0,-10 0 0</inkml:trace>
  <inkml:trace contextRef="#ctx0" brushRef="#br0">9624 8698 7829,'-33'9'0,"2"-3"1343,3-4 1,8-2-957,15 0 0,8 2 1,21 1-1,9 3-274,10-3 1,6-3 0,8-3 0,7-5-128,6-1 1,9-2 0,0-5 0,8-1-258,-41 9 1,1 0-1,4-1 1,1 1 193,0 0 1,1-1-1,10-2 1,1-1 0,-1-1-1,0 0 1</inkml:trace>
  <inkml:trace contextRef="#ctx0" brushRef="#br0">9790 10153 8316,'16'-11'461,"1"0"1,-1 8 0,3-5-1,1 3-242,2-1 0,2 1 1,-2 3-1,5-2-129,5-1 1,1-1 0,3 6 0,8 2 21,12 4 1,13-5 0,9 5-1,4-4-62,6-2 1,-40 0 0,2 0 0,5 0 0,2 0 0,3-1 0,1 0-32,0-2 0,-1 0 0,-2 2 0,-2-1 0,0-3 0,-1 1 0,1 0 0,2 0-49,1 2 0,1 1 0,-6-1 0,-1 2 1,-2 0-1,-1 0 0,34 0-160,-9 0 0,6 0 1,-4 0-1,-1 0-42,-12 0 1,-16 0 0,-11 0 0,-8 0-398,-7 0 108,-11 0 1,-5 0-34,-12 0 0,-5 7 0,-9 2 554,-2 0 0,-37 0 0,-14-3 0,-5-1 0,1-1 0</inkml:trace>
  <inkml:trace contextRef="#ctx0" brushRef="#br0">9955 10484 8070,'-11'-7'23,"0"-4"1,9 2-1,4-1 1,11 3 366,7 3 0,11 1 0,2-1 0,10-2 0,15-5 0,12 4 0,13 0-105,7-1 0,2-4 1,-44 7-1,1 0 0,1 0 1,1-1-210,5 0 0,0 1 1,-2 2-1,-1 1 0,2-3 1,0 1-1,-4-1 0,-1 0-44,-3 1 0,0-1 1,5 1-1,1-1 1,-2-1-1,0-1 0,2 2 1,-1 1-38,-2 0 0,-1 1 1,-1-3-1,-2 1 1,42-1-1,-41 4 1,0 0-46,2 2 1,-1-1 0,37-5-1,-10 1 1,-9 1 8,-5 2 1,0 0-1,3-1 1,-5-3-64,-10 2 1,-1 3-1,-11 1 1,-6 0-670,-7 0 1,-7 1-68,-6 5 0,-4-2 0,-7 7 840,0 1 0,-15 3 0,-3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C24E5-4498-9F45-ACB2-52E730646718}" type="datetimeFigureOut">
              <a:rPr lang="en-AU" smtClean="0"/>
              <a:t>18/10/2026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3DB0E-44F8-2041-9EB7-CF9667F931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10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3DB0E-44F8-2041-9EB7-CF9667F9313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936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NOIP </a:t>
            </a:r>
            <a:r>
              <a:rPr lang="en" altLang="en-US" dirty="0"/>
              <a:t>Language Basics (12)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Files</a:t>
            </a:r>
            <a:endParaRPr lang="e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789661" y="6206490"/>
            <a:ext cx="2214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zh-CN" altLang="en-US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" altLang="en-US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Gao's Algorithm Competition </a:t>
            </a:r>
          </a:p>
          <a:p>
            <a:pPr algn="r"/>
            <a:r>
              <a:rPr lang="en" altLang="en-US" sz="1100" dirty="0">
                <a:latin typeface="华文楷体" panose="02010600040101010101" pitchFamily="2" charset="-122"/>
                <a:ea typeface="华文楷体" panose="02010600040101010101" pitchFamily="2" charset="-122"/>
              </a:rPr>
              <a:t>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084664" cy="5371890"/>
          </a:xfrm>
        </p:spPr>
        <p:txBody>
          <a:bodyPr>
            <a:normAutofit lnSpcReduction="10000"/>
          </a:bodyPr>
          <a:lstStyle/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 collection of data stored on external media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In plain language: save data on disk as a sequence of bytes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Types</a:t>
            </a:r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of files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Binary files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Text files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Binary files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Pro: high efficiency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You need to know the encoding format to decode it correctly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Text file:</a:t>
            </a:r>
            <a:endParaRPr lang="en-US" altLang="zh-CN" sz="20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Directly translate into text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using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ASCII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table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low efficiency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F137E-29E8-EF4E-B734-7F2194BC3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276" y="2926830"/>
            <a:ext cx="4284133" cy="16976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D2572B-AD75-4860-89AD-27D193E42FA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What is a file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C26A64-B8C3-4EFC-9CD7-58C7C9B5398D}"/>
              </a:ext>
            </a:extLst>
          </p:cNvPr>
          <p:cNvSpPr/>
          <p:nvPr/>
        </p:nvSpPr>
        <p:spPr>
          <a:xfrm>
            <a:off x="3990946" y="4162819"/>
            <a:ext cx="2476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When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opened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</a:t>
            </a:r>
            <a:r>
              <a:rPr lang="en" altLang="en-US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ith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text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editor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, you see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meaningless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characters.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D45D1A-C10D-44EF-B3FF-5D6E46805401}"/>
              </a:ext>
            </a:extLst>
          </p:cNvPr>
          <p:cNvSpPr/>
          <p:nvPr/>
        </p:nvSpPr>
        <p:spPr>
          <a:xfrm>
            <a:off x="3990946" y="5510409"/>
            <a:ext cx="2476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an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open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directly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with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text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editors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(Notepad,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VSCode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, etc.)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.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64990-1491-4713-F56B-597FDA81C5E1}"/>
              </a:ext>
            </a:extLst>
          </p:cNvPr>
          <p:cNvSpPr txBox="1"/>
          <p:nvPr/>
        </p:nvSpPr>
        <p:spPr>
          <a:xfrm rot="21216741">
            <a:off x="7724974" y="2962500"/>
            <a:ext cx="17673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Binary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format</a:t>
            </a:r>
            <a:endParaRPr lang="en-AU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3B0CE-7C9F-4090-622A-24E6DC851CD9}"/>
              </a:ext>
            </a:extLst>
          </p:cNvPr>
          <p:cNvSpPr txBox="1"/>
          <p:nvPr/>
        </p:nvSpPr>
        <p:spPr>
          <a:xfrm rot="473191">
            <a:off x="7739422" y="3726119"/>
            <a:ext cx="17673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Text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format</a:t>
            </a:r>
            <a:endParaRPr lang="en-AU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Where are they?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Memory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Disk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Operation process (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see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figure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C++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programs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 buffers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Stream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-oriented</a:t>
            </a:r>
          </a:p>
          <a:p>
            <a:pPr lvl="1"/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I/O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Types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trea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m-oriented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</a:t>
            </a:r>
          </a:p>
          <a:p>
            <a:pPr lvl="1"/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stream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ILE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pointer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571A0C-0097-9245-8D14-CDA367B59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590" y="1486109"/>
            <a:ext cx="4206185" cy="451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7708649-DEC0-EF42-8A7C-7E9406DFF0D7}"/>
              </a:ext>
            </a:extLst>
          </p:cNvPr>
          <p:cNvSpPr/>
          <p:nvPr/>
        </p:nvSpPr>
        <p:spPr>
          <a:xfrm>
            <a:off x="5960533" y="5757333"/>
            <a:ext cx="609600" cy="389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ptos Display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5FCF6F-A941-4B44-B194-1E6B086551E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Programs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D1ECFD-9032-458B-8BD2-DCB9D428D01A}"/>
              </a:ext>
            </a:extLst>
          </p:cNvPr>
          <p:cNvSpPr/>
          <p:nvPr/>
        </p:nvSpPr>
        <p:spPr>
          <a:xfrm>
            <a:off x="3386142" y="3988984"/>
            <a:ext cx="2476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Informatics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competitions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only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focus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stream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7DCD0-A54A-42A2-B30E-D8A89642C564}"/>
              </a:ext>
            </a:extLst>
          </p:cNvPr>
          <p:cNvSpPr/>
          <p:nvPr/>
        </p:nvSpPr>
        <p:spPr>
          <a:xfrm>
            <a:off x="3326311" y="5952066"/>
            <a:ext cx="24768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4DA47-3863-1338-D36B-2BB1B2E92622}"/>
              </a:ext>
            </a:extLst>
          </p:cNvPr>
          <p:cNvSpPr txBox="1"/>
          <p:nvPr/>
        </p:nvSpPr>
        <p:spPr>
          <a:xfrm>
            <a:off x="7865326" y="1831985"/>
            <a:ext cx="1070518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Inp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ut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F951F-4462-152A-6622-A53BF236057B}"/>
              </a:ext>
            </a:extLst>
          </p:cNvPr>
          <p:cNvSpPr txBox="1"/>
          <p:nvPr/>
        </p:nvSpPr>
        <p:spPr>
          <a:xfrm>
            <a:off x="7928516" y="2735481"/>
            <a:ext cx="1070518" cy="2049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Output</a:t>
            </a:r>
            <a:r>
              <a:rPr lang="zh-CN" altLang="en-US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1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F7DC3-84FB-E6CA-6419-7B98D4FB12B7}"/>
              </a:ext>
            </a:extLst>
          </p:cNvPr>
          <p:cNvSpPr txBox="1"/>
          <p:nvPr/>
        </p:nvSpPr>
        <p:spPr>
          <a:xfrm>
            <a:off x="9678017" y="2398479"/>
            <a:ext cx="508170" cy="2573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Disk</a:t>
            </a:r>
            <a:endParaRPr lang="en-AU" sz="11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D63FE0-AFEE-1588-01E6-873595634A57}"/>
              </a:ext>
            </a:extLst>
          </p:cNvPr>
          <p:cNvSpPr txBox="1"/>
          <p:nvPr/>
        </p:nvSpPr>
        <p:spPr>
          <a:xfrm>
            <a:off x="6570133" y="2423322"/>
            <a:ext cx="782238" cy="2573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Pgm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data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5468F-237E-B3E8-A3BF-BA2A273F2AA5}"/>
              </a:ext>
            </a:extLst>
          </p:cNvPr>
          <p:cNvSpPr txBox="1"/>
          <p:nvPr/>
        </p:nvSpPr>
        <p:spPr>
          <a:xfrm>
            <a:off x="6486292" y="3745109"/>
            <a:ext cx="1442224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Define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variable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0D037-DCDD-E932-5B63-9BF541A96091}"/>
              </a:ext>
            </a:extLst>
          </p:cNvPr>
          <p:cNvSpPr txBox="1"/>
          <p:nvPr/>
        </p:nvSpPr>
        <p:spPr>
          <a:xfrm>
            <a:off x="8610687" y="3745109"/>
            <a:ext cx="1442224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Create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CD47B6-376B-D83F-6A03-257499060C35}"/>
              </a:ext>
            </a:extLst>
          </p:cNvPr>
          <p:cNvSpPr txBox="1"/>
          <p:nvPr/>
        </p:nvSpPr>
        <p:spPr>
          <a:xfrm>
            <a:off x="6690731" y="4295955"/>
            <a:ext cx="1070517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Open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B5B9A2-5F99-96E2-014B-064FCD3DB7BF}"/>
              </a:ext>
            </a:extLst>
          </p:cNvPr>
          <p:cNvSpPr txBox="1"/>
          <p:nvPr/>
        </p:nvSpPr>
        <p:spPr>
          <a:xfrm>
            <a:off x="6570133" y="4890097"/>
            <a:ext cx="1358383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Read/write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6FD83-3FE5-D06F-820F-F4503C4E1358}"/>
              </a:ext>
            </a:extLst>
          </p:cNvPr>
          <p:cNvSpPr txBox="1"/>
          <p:nvPr/>
        </p:nvSpPr>
        <p:spPr>
          <a:xfrm>
            <a:off x="6759703" y="5440943"/>
            <a:ext cx="1001545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Close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87E23A-2634-9687-4E82-EDB9E23D398F}"/>
              </a:ext>
            </a:extLst>
          </p:cNvPr>
          <p:cNvSpPr txBox="1"/>
          <p:nvPr/>
        </p:nvSpPr>
        <p:spPr>
          <a:xfrm>
            <a:off x="8676472" y="5440943"/>
            <a:ext cx="1376439" cy="204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Flush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file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</a:rPr>
              <a:t>buffer</a:t>
            </a:r>
            <a:endParaRPr lang="en-AU" sz="12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10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 animBg="1"/>
      <p:bldP spid="5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4502988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Header file: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" altLang="zh-CN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fstream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Class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ifstream / ofstream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Operations: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&gt;&gt;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Close statement: </a:t>
            </a:r>
            <a:r>
              <a:rPr lang="en" altLang="zh-CN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fin.close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5562600" y="1486109"/>
            <a:ext cx="5281612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 &lt;bits/stdc++.h&gt;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ifstream fin("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ab.in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ofstream fout("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ab.out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a,</a:t>
            </a: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fin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fout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9FE863-43B6-46F9-A6C5-F37F7D09119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tream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class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E9B2F5-5E83-4801-AC6B-47AF1488A3C7}"/>
              </a:ext>
            </a:extLst>
          </p:cNvPr>
          <p:cNvSpPr/>
          <p:nvPr/>
        </p:nvSpPr>
        <p:spPr>
          <a:xfrm>
            <a:off x="8935294" y="2274835"/>
            <a:ext cx="15266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fout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custom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whatever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names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like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000D9-01A6-4B4C-B87F-EB85D1EC06B9}"/>
              </a:ext>
            </a:extLst>
          </p:cNvPr>
          <p:cNvSpPr/>
          <p:nvPr/>
        </p:nvSpPr>
        <p:spPr>
          <a:xfrm>
            <a:off x="8935293" y="4249428"/>
            <a:ext cx="1526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Replace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fout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9ADFB3-56A3-A6BE-A46E-32CFA395060D}"/>
                  </a:ext>
                </a:extLst>
              </p14:cNvPr>
              <p14:cNvContentPartPr/>
              <p14:nvPr/>
            </p14:nvContentPartPr>
            <p14:xfrm>
              <a:off x="2000880" y="1994400"/>
              <a:ext cx="2607120" cy="178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9ADFB3-56A3-A6BE-A46E-32CFA39506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680" y="1978200"/>
                <a:ext cx="2639520" cy="18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3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2509431" cy="3415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(Early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days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 Some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OI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questions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required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logic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due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unknown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size.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3688041" y="1476796"/>
            <a:ext cx="2781300" cy="4986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 &lt;bits/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stdc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ifstream fin("sum.in");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ofstream fout ("sum.out");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int x,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sum;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while(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fin</a:t>
            </a:r>
            <a:r>
              <a:rPr lang="zh-CN" altLang="en-US" sz="12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x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sum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+=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x;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fout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sum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5A9BD6-13F6-4E48-996E-23FEEBCBCDD1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etermin</a:t>
            </a:r>
            <a:r>
              <a:rPr lang="en-US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end of input data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C76F8A-55A3-45B0-9CF4-82DC97808144}"/>
              </a:ext>
            </a:extLst>
          </p:cNvPr>
          <p:cNvSpPr/>
          <p:nvPr/>
        </p:nvSpPr>
        <p:spPr>
          <a:xfrm>
            <a:off x="6096000" y="3071997"/>
            <a:ext cx="14927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 the return value of operator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&gt;&gt;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judge.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way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recommended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less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prone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mistakes.</a:t>
            </a:r>
            <a:endParaRPr lang="en" altLang="en-US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0F380DD-D448-404F-A3E3-CE1D37FE23F6}"/>
              </a:ext>
            </a:extLst>
          </p:cNvPr>
          <p:cNvSpPr txBox="1">
            <a:spLocks/>
          </p:cNvSpPr>
          <p:nvPr/>
        </p:nvSpPr>
        <p:spPr>
          <a:xfrm>
            <a:off x="7577138" y="1476795"/>
            <a:ext cx="2781300" cy="498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#include &lt;bits/stdc++.h&gt;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ifstream fin("sum.in");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ofstream fout("sum.out");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int x,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sum;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while(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</a:rPr>
              <a:t>!</a:t>
            </a:r>
            <a:r>
              <a:rPr lang="en" altLang="zh-CN" sz="1200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fin.eof</a:t>
            </a:r>
            <a:r>
              <a:rPr lang="en" altLang="zh-CN" sz="1200" dirty="0">
                <a:solidFill>
                  <a:srgbClr val="FF0000"/>
                </a:solidFill>
                <a:latin typeface="JetBrains Mono" panose="020B0509020102050004" pitchFamily="49" charset="77"/>
              </a:rPr>
              <a:t>()</a:t>
            </a:r>
            <a:r>
              <a:rPr lang="en" altLang="zh-CN" sz="1200" dirty="0">
                <a:latin typeface="JetBrains Mono" panose="020B0509020102050004" pitchFamily="49" charset="7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JetBrains Mono" panose="020B0509020102050004" pitchFamily="49" charset="77"/>
              </a:rPr>
              <a:t>        </a:t>
            </a:r>
            <a:r>
              <a:rPr lang="en" altLang="zh-CN" sz="1200" dirty="0">
                <a:latin typeface="JetBrains Mono" panose="020B0509020102050004" pitchFamily="49" charset="77"/>
              </a:rPr>
              <a:t>fin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&gt;&gt;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x, sum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+=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x;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fout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&lt;&lt;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sum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&lt;&lt;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 err="1">
                <a:latin typeface="JetBrains Mono" panose="020B0509020102050004" pitchFamily="49" charset="77"/>
              </a:rPr>
              <a:t>endl</a:t>
            </a:r>
            <a:r>
              <a:rPr lang="en" altLang="zh-CN" sz="1200" dirty="0">
                <a:latin typeface="JetBrains Mono" panose="020B0509020102050004" pitchFamily="49" charset="77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return 0;</a:t>
            </a:r>
          </a:p>
          <a:p>
            <a:pPr>
              <a:lnSpc>
                <a:spcPct val="150000"/>
              </a:lnSpc>
            </a:pPr>
            <a:r>
              <a:rPr lang="en" altLang="zh-CN" sz="1200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9FA345-F5E4-4D8B-B32C-7822C2FE0C81}"/>
              </a:ext>
            </a:extLst>
          </p:cNvPr>
          <p:cNvSpPr/>
          <p:nvPr/>
        </p:nvSpPr>
        <p:spPr>
          <a:xfrm>
            <a:off x="10216558" y="3071997"/>
            <a:ext cx="14755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way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depends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work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intended.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More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mistake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prone,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 recommended.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1BA237-D01A-4A66-A279-E97CB1109157}"/>
              </a:ext>
            </a:extLst>
          </p:cNvPr>
          <p:cNvSpPr/>
          <p:nvPr/>
        </p:nvSpPr>
        <p:spPr>
          <a:xfrm>
            <a:off x="7577138" y="2118600"/>
            <a:ext cx="2596672" cy="486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20A0B2-5E54-426E-BA5F-741AA25B6912}"/>
              </a:ext>
            </a:extLst>
          </p:cNvPr>
          <p:cNvSpPr/>
          <p:nvPr/>
        </p:nvSpPr>
        <p:spPr>
          <a:xfrm>
            <a:off x="10258588" y="1946128"/>
            <a:ext cx="1307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en-US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ile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opened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execution.</a:t>
            </a:r>
          </a:p>
        </p:txBody>
      </p:sp>
    </p:spTree>
    <p:extLst>
      <p:ext uri="{BB962C8B-B14F-4D97-AF65-F5344CB8AC3E}">
        <p14:creationId xmlns:p14="http://schemas.microsoft.com/office/powerpoint/2010/main" val="370035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/>
      <p:bldP spid="10" grpId="0"/>
      <p:bldP spid="11" grpId="0"/>
      <p:bldP spid="2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5562600" y="1486109"/>
            <a:ext cx="5281612" cy="5536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#include &lt;bits/stdc++.h&gt;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ifstream fin;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ofstream fout;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int x,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sum;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fin.open</a:t>
            </a:r>
            <a:r>
              <a:rPr lang="en" altLang="zh-CN" dirty="0">
                <a:latin typeface="JetBrains Mono" panose="020B0509020102050004" pitchFamily="49" charset="77"/>
              </a:rPr>
              <a:t>("sum.in");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fout.open("sum.out");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-US" altLang="zh-CN" dirty="0">
                <a:latin typeface="JetBrains Mono" panose="020B0509020102050004" pitchFamily="49" charset="77"/>
              </a:rPr>
              <a:t>w</a:t>
            </a:r>
            <a:r>
              <a:rPr lang="en" altLang="zh-CN" dirty="0">
                <a:latin typeface="JetBrains Mono" panose="020B0509020102050004" pitchFamily="49" charset="77"/>
              </a:rPr>
              <a:t>hile (fin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&gt;&gt;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    </a:t>
            </a:r>
            <a:r>
              <a:rPr lang="en" altLang="zh-CN" dirty="0">
                <a:latin typeface="JetBrains Mono" panose="020B0509020102050004" pitchFamily="49" charset="77"/>
              </a:rPr>
              <a:t>sum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+=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x;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fout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&lt;&lt;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sum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&lt;&lt;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 err="1">
                <a:latin typeface="JetBrains Mono" panose="020B0509020102050004" pitchFamily="49" charset="77"/>
              </a:rPr>
              <a:t>endl</a:t>
            </a:r>
            <a:r>
              <a:rPr lang="en" altLang="zh-CN" dirty="0">
                <a:latin typeface="JetBrains Mono" panose="020B0509020102050004" pitchFamily="49" charset="77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fin.close</a:t>
            </a:r>
            <a:r>
              <a:rPr lang="en" altLang="zh-CN" dirty="0">
                <a:latin typeface="JetBrains Mono" panose="020B0509020102050004" pitchFamily="49" charset="77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fout.close</a:t>
            </a:r>
            <a:r>
              <a:rPr lang="en" altLang="zh-CN" dirty="0">
                <a:latin typeface="JetBrains Mono" panose="020B0509020102050004" pitchFamily="49" charset="77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return 0;</a:t>
            </a:r>
          </a:p>
          <a:p>
            <a:pPr>
              <a:lnSpc>
                <a:spcPct val="150000"/>
              </a:lnSpc>
            </a:pPr>
            <a:r>
              <a:rPr lang="en" altLang="zh-CN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916FA0-E7B0-4AC2-9584-EAB00885D1B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Opening and closing files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7A7BA5-DD68-453A-87DA-B554E57B6390}"/>
              </a:ext>
            </a:extLst>
          </p:cNvPr>
          <p:cNvSpPr/>
          <p:nvPr/>
        </p:nvSpPr>
        <p:spPr>
          <a:xfrm>
            <a:off x="5562600" y="2211506"/>
            <a:ext cx="1539536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37A4E5-E4F4-4B66-9AFA-DDE359B2C7AA}"/>
              </a:ext>
            </a:extLst>
          </p:cNvPr>
          <p:cNvSpPr/>
          <p:nvPr/>
        </p:nvSpPr>
        <p:spPr>
          <a:xfrm>
            <a:off x="5910332" y="3482267"/>
            <a:ext cx="2292635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7A2DE0-716A-489F-B4F8-0E4BDA36C824}"/>
              </a:ext>
            </a:extLst>
          </p:cNvPr>
          <p:cNvSpPr/>
          <p:nvPr/>
        </p:nvSpPr>
        <p:spPr>
          <a:xfrm>
            <a:off x="5910332" y="5085406"/>
            <a:ext cx="1546911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CC0108-8476-4074-A068-E671A242BCC9}"/>
              </a:ext>
            </a:extLst>
          </p:cNvPr>
          <p:cNvSpPr/>
          <p:nvPr/>
        </p:nvSpPr>
        <p:spPr>
          <a:xfrm>
            <a:off x="7102135" y="2293791"/>
            <a:ext cx="1757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file is not open at this time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70EA7-1CCF-409E-A70C-E4408967BF20}"/>
              </a:ext>
            </a:extLst>
          </p:cNvPr>
          <p:cNvSpPr/>
          <p:nvPr/>
        </p:nvSpPr>
        <p:spPr>
          <a:xfrm>
            <a:off x="8325763" y="3462173"/>
            <a:ext cx="17577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you need to open a file, call the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open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to open it.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AFDE7-4907-4007-A872-DE014AD7C72C}"/>
              </a:ext>
            </a:extLst>
          </p:cNvPr>
          <p:cNvSpPr/>
          <p:nvPr/>
        </p:nvSpPr>
        <p:spPr>
          <a:xfrm>
            <a:off x="7457243" y="5260024"/>
            <a:ext cx="21839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close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is used to close the file. 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competitions,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these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statements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 be omitted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410E82-4F63-43E6-B111-51EC3A1D7E54}"/>
              </a:ext>
            </a:extLst>
          </p:cNvPr>
          <p:cNvSpPr/>
          <p:nvPr/>
        </p:nvSpPr>
        <p:spPr>
          <a:xfrm>
            <a:off x="3142695" y="3462173"/>
            <a:ext cx="2865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file being opened must be in the same folder as 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source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executable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files.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41275F3-BFEF-4E7D-866D-994FA1BE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2700081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In some special cases, file variables cannot be initiali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sed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and need to be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opened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and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closed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with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the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open/close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f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unction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EDB99E-036B-43D2-9DF6-F68B3CDE944B}"/>
              </a:ext>
            </a:extLst>
          </p:cNvPr>
          <p:cNvSpPr/>
          <p:nvPr/>
        </p:nvSpPr>
        <p:spPr>
          <a:xfrm>
            <a:off x="3740493" y="3923838"/>
            <a:ext cx="20470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 also use an absolute path: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fin.open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("C:/sum.in");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a relative path: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fin.open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("../sum.in");</a:t>
            </a:r>
          </a:p>
        </p:txBody>
      </p:sp>
    </p:spTree>
    <p:extLst>
      <p:ext uri="{BB962C8B-B14F-4D97-AF65-F5344CB8AC3E}">
        <p14:creationId xmlns:p14="http://schemas.microsoft.com/office/powerpoint/2010/main" val="38897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9" grpId="0" animBg="1"/>
      <p:bldP spid="10" grpId="0"/>
      <p:bldP spid="11" grpId="0"/>
      <p:bldP spid="12" grpId="0"/>
      <p:bldP spid="13" grpId="0"/>
      <p:bldP spid="15" grpId="0" uiExpand="1" build="p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34" y="1273684"/>
            <a:ext cx="3209807" cy="5282749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tandard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input and standard output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input device used by </a:t>
            </a:r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the keyboard (console), also known as standard input: </a:t>
            </a:r>
            <a:r>
              <a:rPr lang="en" altLang="zh-CN" sz="14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</a:p>
          <a:p>
            <a:pPr lvl="1"/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4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printf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the display (console), also known as standard output: </a:t>
            </a:r>
            <a:r>
              <a:rPr lang="en" altLang="zh-CN" sz="1400" b="1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endParaRPr lang="en-US" altLang="zh-CN" sz="14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C++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language can use the </a:t>
            </a:r>
            <a:r>
              <a:rPr lang="en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to redirect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stdin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stdout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related files, turning the original standard input and standard output into file input and file output.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92465D-1F1A-4FD6-83A5-6DFC3A56F66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 redirection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F17249-D53C-47A8-B826-917DD9CC2DD4}"/>
              </a:ext>
            </a:extLst>
          </p:cNvPr>
          <p:cNvSpPr txBox="1">
            <a:spLocks/>
          </p:cNvSpPr>
          <p:nvPr/>
        </p:nvSpPr>
        <p:spPr>
          <a:xfrm>
            <a:off x="3920690" y="1273685"/>
            <a:ext cx="3886463" cy="380494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 &lt;bits/stdc++.h&gt;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n,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x,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sum;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freopen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("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ab.in","r",stdin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freopen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(“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ab.out”,“w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”,</a:t>
            </a:r>
            <a:r>
              <a:rPr lang="zh-CN" altLang="en-US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stdout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for(int </a:t>
            </a:r>
            <a:r>
              <a:rPr lang="en-US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AU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++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x;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sum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+=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x;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sum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en-US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C11EBB-30EF-4594-9387-559F4CC41681}"/>
              </a:ext>
            </a:extLst>
          </p:cNvPr>
          <p:cNvSpPr/>
          <p:nvPr/>
        </p:nvSpPr>
        <p:spPr>
          <a:xfrm>
            <a:off x="4280497" y="2290225"/>
            <a:ext cx="3143054" cy="533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4673F8-181F-4599-99CD-705D6EA9F9E6}"/>
              </a:ext>
            </a:extLst>
          </p:cNvPr>
          <p:cNvSpPr/>
          <p:nvPr/>
        </p:nvSpPr>
        <p:spPr>
          <a:xfrm>
            <a:off x="7567463" y="2121121"/>
            <a:ext cx="44452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b="1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redirected to the file 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ab.in.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subsequent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(or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)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code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changed, but they will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 from the file 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ab.in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instead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FE3F8-3E65-42EC-8F47-56FB5111DDC8}"/>
              </a:ext>
            </a:extLst>
          </p:cNvPr>
          <p:cNvSpPr/>
          <p:nvPr/>
        </p:nvSpPr>
        <p:spPr>
          <a:xfrm>
            <a:off x="7567463" y="2556872"/>
            <a:ext cx="444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b="1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redirected to the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ab.out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Subsequent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(or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)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code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changed, but they will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wri</a:t>
            </a:r>
            <a:r>
              <a:rPr lang="en-US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te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the 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  <a:r>
              <a:rPr lang="zh-C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ab.out</a:t>
            </a:r>
            <a:r>
              <a:rPr lang="en-US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CBC588-591D-4D50-89B9-2BDAF880E306}"/>
              </a:ext>
            </a:extLst>
          </p:cNvPr>
          <p:cNvSpPr/>
          <p:nvPr/>
        </p:nvSpPr>
        <p:spPr>
          <a:xfrm>
            <a:off x="5995938" y="1760306"/>
            <a:ext cx="31430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en" altLang="zh-CN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should be at the beginning of program, before all other code</a:t>
            </a:r>
            <a:endParaRPr lang="en-US" altLang="zh-CN" sz="12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1B55793-79B0-452A-BA9B-A5A8E23053FD}"/>
              </a:ext>
            </a:extLst>
          </p:cNvPr>
          <p:cNvSpPr txBox="1">
            <a:spLocks/>
          </p:cNvSpPr>
          <p:nvPr/>
        </p:nvSpPr>
        <p:spPr>
          <a:xfrm>
            <a:off x="7452354" y="3259270"/>
            <a:ext cx="46863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zh-CN" dirty="0">
                <a:latin typeface="JetBrains Mono" panose="020B0509020102050004" pitchFamily="49" charset="77"/>
              </a:rPr>
              <a:t>#include &lt;bits/stdc++.h&gt;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using namespace std;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int n,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x,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sum;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int main() {</a:t>
            </a:r>
          </a:p>
          <a:p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freopen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(“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ab.in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”,</a:t>
            </a:r>
            <a:r>
              <a:rPr lang="zh-CN" altLang="en-US" dirty="0">
                <a:solidFill>
                  <a:srgbClr val="FF0000"/>
                </a:solidFill>
                <a:latin typeface="JetBrains Mono" panose="020B0509020102050004" pitchFamily="49" charset="77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“r”,</a:t>
            </a:r>
            <a:r>
              <a:rPr lang="zh-CN" altLang="en-US" dirty="0">
                <a:solidFill>
                  <a:srgbClr val="FF0000"/>
                </a:solidFill>
                <a:latin typeface="JetBrains Mono" panose="020B0509020102050004" pitchFamily="49" charset="77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stdin);</a:t>
            </a:r>
          </a:p>
          <a:p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freopen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(“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ab.out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”,</a:t>
            </a:r>
            <a:r>
              <a:rPr lang="zh-CN" altLang="en-US" dirty="0">
                <a:solidFill>
                  <a:srgbClr val="FF0000"/>
                </a:solidFill>
                <a:latin typeface="JetBrains Mono" panose="020B0509020102050004" pitchFamily="49" charset="77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“w”,</a:t>
            </a:r>
            <a:r>
              <a:rPr lang="zh-CN" altLang="en-US" dirty="0">
                <a:solidFill>
                  <a:srgbClr val="FF0000"/>
                </a:solidFill>
                <a:latin typeface="JetBrains Mono" panose="020B0509020102050004" pitchFamily="49" charset="77"/>
              </a:rPr>
              <a:t> </a:t>
            </a:r>
            <a:r>
              <a:rPr lang="en" altLang="zh-CN" dirty="0" err="1">
                <a:solidFill>
                  <a:srgbClr val="FF0000"/>
                </a:solidFill>
                <a:latin typeface="JetBrains Mono" panose="020B0509020102050004" pitchFamily="49" charset="77"/>
              </a:rPr>
              <a:t>stdout</a:t>
            </a:r>
            <a:r>
              <a:rPr lang="en" altLang="zh-CN" dirty="0">
                <a:solidFill>
                  <a:srgbClr val="FF0000"/>
                </a:solidFill>
                <a:latin typeface="JetBrains Mono" panose="020B0509020102050004" pitchFamily="49" charset="77"/>
              </a:rPr>
              <a:t>);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scanf</a:t>
            </a:r>
            <a:r>
              <a:rPr lang="en" altLang="zh-CN" dirty="0">
                <a:latin typeface="JetBrains Mono" panose="020B0509020102050004" pitchFamily="49" charset="77"/>
              </a:rPr>
              <a:t>(“% d”,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&amp;n);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for(int </a:t>
            </a:r>
            <a:r>
              <a:rPr lang="en-US" altLang="zh-CN" dirty="0">
                <a:latin typeface="JetBrains Mono" panose="020B0509020102050004" pitchFamily="49" charset="77"/>
              </a:rPr>
              <a:t>i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=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0;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-US" altLang="zh-CN" dirty="0">
                <a:latin typeface="JetBrains Mono" panose="020B0509020102050004" pitchFamily="49" charset="77"/>
              </a:rPr>
              <a:t>i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&lt;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n;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++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 err="1">
                <a:latin typeface="JetBrains Mono" panose="020B0509020102050004" pitchFamily="49" charset="77"/>
              </a:rPr>
              <a:t>i</a:t>
            </a:r>
            <a:r>
              <a:rPr lang="en" altLang="zh-CN" dirty="0">
                <a:latin typeface="JetBrains Mono" panose="020B0509020102050004" pitchFamily="49" charset="77"/>
              </a:rPr>
              <a:t>){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        </a:t>
            </a:r>
            <a:r>
              <a:rPr lang="en" altLang="zh-CN" dirty="0" err="1">
                <a:latin typeface="JetBrains Mono" panose="020B0509020102050004" pitchFamily="49" charset="77"/>
              </a:rPr>
              <a:t>scanf</a:t>
            </a:r>
            <a:r>
              <a:rPr lang="en" altLang="zh-CN" dirty="0">
                <a:latin typeface="JetBrains Mono" panose="020B0509020102050004" pitchFamily="49" charset="77"/>
              </a:rPr>
              <a:t>(“%d”,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&amp;x);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    </a:t>
            </a:r>
            <a:r>
              <a:rPr lang="en" altLang="zh-CN" dirty="0">
                <a:latin typeface="JetBrains Mono" panose="020B0509020102050004" pitchFamily="49" charset="77"/>
              </a:rPr>
              <a:t>sum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+=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>
                <a:latin typeface="JetBrains Mono" panose="020B0509020102050004" pitchFamily="49" charset="77"/>
              </a:rPr>
              <a:t>x;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}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    </a:t>
            </a:r>
            <a:r>
              <a:rPr lang="en" altLang="zh-CN" dirty="0" err="1">
                <a:latin typeface="JetBrains Mono" panose="020B0509020102050004" pitchFamily="49" charset="77"/>
              </a:rPr>
              <a:t>printf</a:t>
            </a:r>
            <a:r>
              <a:rPr lang="en" altLang="zh-CN" dirty="0">
                <a:latin typeface="JetBrains Mono" panose="020B0509020102050004" pitchFamily="49" charset="77"/>
              </a:rPr>
              <a:t>(“%d\n”,</a:t>
            </a:r>
            <a:r>
              <a:rPr lang="zh-CN" altLang="en-US" dirty="0">
                <a:latin typeface="JetBrains Mono" panose="020B0509020102050004" pitchFamily="49" charset="77"/>
              </a:rPr>
              <a:t> </a:t>
            </a:r>
            <a:r>
              <a:rPr lang="en" altLang="zh-CN" dirty="0" err="1">
                <a:latin typeface="JetBrains Mono" panose="020B0509020102050004" pitchFamily="49" charset="77"/>
              </a:rPr>
              <a:t>su</a:t>
            </a:r>
            <a:r>
              <a:rPr lang="en-US" altLang="zh-CN" dirty="0">
                <a:latin typeface="JetBrains Mono" panose="020B0509020102050004" pitchFamily="49" charset="77"/>
              </a:rPr>
              <a:t>m</a:t>
            </a:r>
            <a:r>
              <a:rPr lang="en" altLang="zh-CN" dirty="0">
                <a:latin typeface="JetBrains Mono" panose="020B0509020102050004" pitchFamily="49" charset="77"/>
              </a:rPr>
              <a:t>);</a:t>
            </a:r>
          </a:p>
          <a:p>
            <a:r>
              <a:rPr lang="zh-CN" altLang="en-US" dirty="0">
                <a:latin typeface="JetBrains Mono" panose="020B0509020102050004" pitchFamily="49" charset="77"/>
              </a:rPr>
              <a:t>    </a:t>
            </a:r>
            <a:r>
              <a:rPr lang="en" altLang="zh-CN" dirty="0">
                <a:latin typeface="JetBrains Mono" panose="020B0509020102050004" pitchFamily="49" charset="77"/>
              </a:rPr>
              <a:t>return 0;</a:t>
            </a:r>
          </a:p>
          <a:p>
            <a:r>
              <a:rPr lang="en" altLang="zh-CN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876D6F-1C30-423C-90F6-C3EBC5C818D8}"/>
              </a:ext>
            </a:extLst>
          </p:cNvPr>
          <p:cNvSpPr/>
          <p:nvPr/>
        </p:nvSpPr>
        <p:spPr>
          <a:xfrm>
            <a:off x="7551732" y="4245470"/>
            <a:ext cx="2906546" cy="524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F4A0FE-3CBC-4738-9D9C-677A0DF5AC84}"/>
              </a:ext>
            </a:extLst>
          </p:cNvPr>
          <p:cNvSpPr/>
          <p:nvPr/>
        </p:nvSpPr>
        <p:spPr>
          <a:xfrm>
            <a:off x="9576544" y="3706149"/>
            <a:ext cx="22133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scanf+printf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endParaRPr lang="en-US" altLang="zh-CN" sz="14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4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751388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 to improve efficiency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reading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from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zh-C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files</a:t>
            </a:r>
          </a:p>
          <a:p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ifstream + fin</a:t>
            </a:r>
          </a:p>
          <a:p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FILE* 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fscanf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ios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::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sync_with_stdio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(false)</a:t>
            </a:r>
          </a:p>
          <a:p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freopen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zh-CN" sz="18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Fast</a:t>
            </a: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Read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23F86B-D800-45CC-A8F1-22C2B943DF7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Speed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matters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B076D9-F8A4-4BD0-A94A-3CFE7CF3AE8F}"/>
              </a:ext>
            </a:extLst>
          </p:cNvPr>
          <p:cNvSpPr/>
          <p:nvPr/>
        </p:nvSpPr>
        <p:spPr>
          <a:xfrm>
            <a:off x="2842030" y="2886726"/>
            <a:ext cx="3739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lowest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 not use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data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4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A6BD2E-44ED-4FFA-8021-56C25806D790}"/>
              </a:ext>
            </a:extLst>
          </p:cNvPr>
          <p:cNvSpPr/>
          <p:nvPr/>
        </p:nvSpPr>
        <p:spPr>
          <a:xfrm>
            <a:off x="2842030" y="2027030"/>
            <a:ext cx="32539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These two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harder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write,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 recommended.</a:t>
            </a:r>
            <a:endParaRPr lang="en-US" altLang="zh-CN" sz="14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D194C9-F314-4885-BBA2-07A39836EA29}"/>
              </a:ext>
            </a:extLst>
          </p:cNvPr>
          <p:cNvSpPr/>
          <p:nvPr/>
        </p:nvSpPr>
        <p:spPr>
          <a:xfrm>
            <a:off x="5156200" y="3355721"/>
            <a:ext cx="3044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Speed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good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CDC36-5B82-4904-B859-A466BD10AF31}"/>
              </a:ext>
            </a:extLst>
          </p:cNvPr>
          <p:cNvSpPr/>
          <p:nvPr/>
        </p:nvSpPr>
        <p:spPr>
          <a:xfrm>
            <a:off x="2956330" y="3838757"/>
            <a:ext cx="18728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Speed</a:t>
            </a:r>
            <a:r>
              <a:rPr lang="zh-C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good</a:t>
            </a:r>
            <a:r>
              <a:rPr lang="en-US" altLang="zh-CN" sz="14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46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446" y="1805823"/>
            <a:ext cx="3896286" cy="4124115"/>
          </a:xfrm>
        </p:spPr>
        <p:txBody>
          <a:bodyPr>
            <a:normAutofit lnSpcReduction="10000"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template &lt;typename T&gt; void read(T &amp;a){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0; 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int flag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1; 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char ch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while (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&lt;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‘0’ ||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'9'){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if (ch == '-') flag = -1;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do{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a = a *</a:t>
            </a: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10 +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– '0</a:t>
            </a:r>
            <a:r>
              <a:rPr lang="en-US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'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}while('0' &lt;= ch &amp;&amp; ch &lt;= '9');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zh-CN" altLang="en-US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a *= flag;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8B2A7E-CFF0-40BB-BBEA-FBDE1D26BB0B}"/>
              </a:ext>
            </a:extLst>
          </p:cNvPr>
          <p:cNvSpPr txBox="1">
            <a:spLocks/>
          </p:cNvSpPr>
          <p:nvPr/>
        </p:nvSpPr>
        <p:spPr>
          <a:xfrm>
            <a:off x="7451214" y="1805824"/>
            <a:ext cx="3896286" cy="3152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 fontAlgn="base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zh-CN" sz="1200" dirty="0">
                <a:latin typeface="JetBrains Mono" panose="020B0509020102050004" pitchFamily="49" charset="77"/>
              </a:rPr>
              <a:t>int main(){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freopen</a:t>
            </a:r>
            <a:r>
              <a:rPr lang="en" altLang="zh-CN" sz="1200" dirty="0">
                <a:latin typeface="JetBrains Mono" panose="020B0509020102050004" pitchFamily="49" charset="77"/>
              </a:rPr>
              <a:t>(“</a:t>
            </a:r>
            <a:r>
              <a:rPr lang="en" altLang="zh-CN" sz="1200" dirty="0" err="1">
                <a:latin typeface="JetBrains Mono" panose="020B0509020102050004" pitchFamily="49" charset="77"/>
              </a:rPr>
              <a:t>read.in</a:t>
            </a:r>
            <a:r>
              <a:rPr lang="en" altLang="zh-CN" sz="1200" dirty="0">
                <a:latin typeface="JetBrains Mono" panose="020B0509020102050004" pitchFamily="49" charset="77"/>
              </a:rPr>
              <a:t>”,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“r”,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stdin);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freopen</a:t>
            </a:r>
            <a:r>
              <a:rPr lang="en" altLang="zh-CN" sz="1200" dirty="0">
                <a:latin typeface="JetBrains Mono" panose="020B0509020102050004" pitchFamily="49" charset="77"/>
              </a:rPr>
              <a:t>(“</a:t>
            </a:r>
            <a:r>
              <a:rPr lang="en" altLang="zh-CN" sz="1200" dirty="0" err="1">
                <a:latin typeface="JetBrains Mono" panose="020B0509020102050004" pitchFamily="49" charset="77"/>
              </a:rPr>
              <a:t>read.out</a:t>
            </a:r>
            <a:r>
              <a:rPr lang="en" altLang="zh-CN" sz="1200" dirty="0">
                <a:latin typeface="JetBrains Mono" panose="020B0509020102050004" pitchFamily="49" charset="77"/>
              </a:rPr>
              <a:t>”,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“w”,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 err="1">
                <a:latin typeface="JetBrains Mono" panose="020B0509020102050004" pitchFamily="49" charset="77"/>
              </a:rPr>
              <a:t>stdout</a:t>
            </a:r>
            <a:r>
              <a:rPr lang="en" altLang="zh-CN" sz="1200" dirty="0">
                <a:latin typeface="JetBrains Mono" panose="020B0509020102050004" pitchFamily="49" charset="77"/>
              </a:rPr>
              <a:t>);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int x,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y;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long long z;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read(x);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read(y);</a:t>
            </a:r>
          </a:p>
          <a:p>
            <a:r>
              <a:rPr lang="zh-CN" altLang="en-US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>
                <a:latin typeface="JetBrains Mono" panose="020B0509020102050004" pitchFamily="49" charset="77"/>
              </a:rPr>
              <a:t>read(z);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    </a:t>
            </a:r>
            <a:r>
              <a:rPr lang="en" altLang="zh-CN" sz="1200" dirty="0" err="1">
                <a:latin typeface="JetBrains Mono" panose="020B0509020102050004" pitchFamily="49" charset="77"/>
              </a:rPr>
              <a:t>cout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&lt;&lt;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x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+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y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+</a:t>
            </a:r>
            <a:r>
              <a:rPr lang="zh-CN" altLang="en-US" sz="1200" dirty="0">
                <a:latin typeface="JetBrains Mono" panose="020B0509020102050004" pitchFamily="49" charset="77"/>
              </a:rPr>
              <a:t> </a:t>
            </a:r>
            <a:r>
              <a:rPr lang="en" altLang="zh-CN" sz="1200" dirty="0">
                <a:latin typeface="JetBrains Mono" panose="020B0509020102050004" pitchFamily="49" charset="77"/>
              </a:rPr>
              <a:t>z;</a:t>
            </a:r>
          </a:p>
          <a:p>
            <a:r>
              <a:rPr lang="en" altLang="zh-CN" sz="1200" dirty="0">
                <a:latin typeface="JetBrains Mono" panose="020B0509020102050004" pitchFamily="49" charset="77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87607E-B389-4402-A9D0-9623C5D29C4A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Fast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Read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C5D6E6E-8D4A-4530-B628-CD15305998EB}"/>
              </a:ext>
            </a:extLst>
          </p:cNvPr>
          <p:cNvSpPr txBox="1">
            <a:spLocks/>
          </p:cNvSpPr>
          <p:nvPr/>
        </p:nvSpPr>
        <p:spPr>
          <a:xfrm>
            <a:off x="285749" y="1467270"/>
            <a:ext cx="2962152" cy="42191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indent="0" defTabSz="914400" fontAlgn="base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Ideas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Use </a:t>
            </a:r>
            <a:r>
              <a:rPr lang="en" altLang="zh-CN" dirty="0" err="1">
                <a:latin typeface="Aptos Display" panose="020B0004020202020204" pitchFamily="34" charset="0"/>
                <a:ea typeface="微软雅黑" panose="020B0503020204020204" pitchFamily="34" charset="-122"/>
              </a:rPr>
              <a:t>getchar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()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to read characters one by one and assemble them into digital types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step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1.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Filter non-numeric characters until the first numeric character (handle negative signs)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2.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Read the numeric characters and assemble the results until a non-numeric character is found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3. </a:t>
            </a:r>
            <a:r>
              <a:rPr lang="en" altLang="en" dirty="0">
                <a:latin typeface="Aptos Display" panose="020B0004020202020204" pitchFamily="34" charset="0"/>
                <a:ea typeface="微软雅黑" panose="020B0503020204020204" pitchFamily="34" charset="-122"/>
              </a:rPr>
              <a:t>Return 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For example</a:t>
            </a:r>
            <a:endParaRPr lang="en-US" altLang="zh-CN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123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-456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789</a:t>
            </a:r>
          </a:p>
          <a:p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</a:rPr>
              <a:t>987,654,-123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449B15-716A-41EF-B49A-0B943A08688A}"/>
              </a:ext>
            </a:extLst>
          </p:cNvPr>
          <p:cNvSpPr/>
          <p:nvPr/>
        </p:nvSpPr>
        <p:spPr>
          <a:xfrm>
            <a:off x="3476446" y="146726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Fast read function</a:t>
            </a:r>
            <a:endParaRPr lang="en-US" altLang="zh-CN" sz="16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07B1C1-B147-43E6-9DFB-3E995A59AE49}"/>
              </a:ext>
            </a:extLst>
          </p:cNvPr>
          <p:cNvSpPr/>
          <p:nvPr/>
        </p:nvSpPr>
        <p:spPr>
          <a:xfrm>
            <a:off x="7451215" y="146726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Call Example</a:t>
            </a:r>
            <a:endParaRPr lang="en-US" altLang="zh-CN" sz="16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E85B03-54F5-4001-A9E1-6FDC49E0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720" y="3695211"/>
            <a:ext cx="1198717" cy="8105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F1A36E9-DA64-46D9-9131-FD492873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56" y="5111187"/>
            <a:ext cx="1198717" cy="79914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ECA6878-7FD0-4585-A025-CB37A56DD348}"/>
              </a:ext>
            </a:extLst>
          </p:cNvPr>
          <p:cNvSpPr/>
          <p:nvPr/>
        </p:nvSpPr>
        <p:spPr>
          <a:xfrm>
            <a:off x="9366807" y="1477376"/>
            <a:ext cx="128246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Save as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D:\test.cpp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930AF42-7A36-4B99-8FB0-542343A24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831" y="4529368"/>
            <a:ext cx="2483401" cy="53447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8D59B9D-6708-4221-A5DD-98A11E2F73DF}"/>
              </a:ext>
            </a:extLst>
          </p:cNvPr>
          <p:cNvSpPr/>
          <p:nvPr/>
        </p:nvSpPr>
        <p:spPr>
          <a:xfrm>
            <a:off x="9673786" y="3283483"/>
            <a:ext cx="2196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</a:t>
            </a:r>
            <a:r>
              <a:rPr lang="en" altLang="zh-CN" sz="8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DevC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++ ,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create a file through "File-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New-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 Source Code", write 3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numbers, and save it as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D:\read.in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E6833B-95CD-4CD1-B1B2-885CB81133F0}"/>
              </a:ext>
            </a:extLst>
          </p:cNvPr>
          <p:cNvSpPr/>
          <p:nvPr/>
        </p:nvSpPr>
        <p:spPr>
          <a:xfrm>
            <a:off x="7623134" y="5279926"/>
            <a:ext cx="10872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C++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 automatically create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D:\read.out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output the results to this file, which can be opened and viewed with </a:t>
            </a:r>
            <a:endParaRPr lang="en-US" altLang="zh-CN" sz="8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62FEE9-E164-4774-9120-78CA2CDFAA62}"/>
              </a:ext>
            </a:extLst>
          </p:cNvPr>
          <p:cNvSpPr/>
          <p:nvPr/>
        </p:nvSpPr>
        <p:spPr>
          <a:xfrm>
            <a:off x="10772117" y="3698729"/>
            <a:ext cx="8550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【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Notice </a:t>
            </a:r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</a:p>
          <a:p>
            <a:r>
              <a:rPr lang="en" altLang="zh-CN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 files </a:t>
            </a:r>
            <a:r>
              <a:rPr lang="en" altLang="en-US" sz="8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endParaRPr lang="zh-CN" altLang="en-US" sz="800" dirty="0">
              <a:latin typeface="Aptos Display" panose="020B00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4C3C94-F3C7-4876-AEB5-D81A5ADF795C}"/>
              </a:ext>
            </a:extLst>
          </p:cNvPr>
          <p:cNvSpPr/>
          <p:nvPr/>
        </p:nvSpPr>
        <p:spPr>
          <a:xfrm>
            <a:off x="10902748" y="1908870"/>
            <a:ext cx="116240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Make sure that </a:t>
            </a:r>
            <a:r>
              <a:rPr lang="en" altLang="zh-CN" sz="1000" dirty="0" err="1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.cpp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file </a:t>
            </a: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read.in </a:t>
            </a: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in the same folder. </a:t>
            </a:r>
            <a:r>
              <a:rPr lang="en" altLang="zh-CN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D:\ </a:t>
            </a:r>
            <a:r>
              <a:rPr lang="en" altLang="en-US" sz="1000" dirty="0">
                <a:solidFill>
                  <a:srgbClr val="0082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just a guide.</a:t>
            </a:r>
            <a:endParaRPr lang="en-US" altLang="zh-CN" sz="1000" dirty="0">
              <a:solidFill>
                <a:srgbClr val="0082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CBCF5DF-088B-4047-916B-CA0E86C5929B}"/>
              </a:ext>
            </a:extLst>
          </p:cNvPr>
          <p:cNvCxnSpPr>
            <a:cxnSpLocks/>
          </p:cNvCxnSpPr>
          <p:nvPr/>
        </p:nvCxnSpPr>
        <p:spPr>
          <a:xfrm flipH="1" flipV="1">
            <a:off x="10045696" y="1746537"/>
            <a:ext cx="558466" cy="30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AA9F176-2A13-4626-9543-73380D2BAC0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1483950" y="2770644"/>
            <a:ext cx="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64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 build="p"/>
      <p:bldP spid="9" grpId="0"/>
      <p:bldP spid="10" grpId="0"/>
      <p:bldP spid="13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634656" cy="280966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template &lt;typename T&gt; void read(T &amp;a){</a:t>
            </a:r>
          </a:p>
          <a:p>
            <a:pPr marL="0" indent="0" fontAlgn="base"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0; int f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1; char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getchar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 fontAlgn="base"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while (ch &lt;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'0'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ch &gt; '9') {if(ch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'-') f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-1;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getchar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();}</a:t>
            </a:r>
          </a:p>
          <a:p>
            <a:pPr marL="0" indent="0" fontAlgn="base"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do{a = a *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'0'; 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getchar();} while('0'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'9');</a:t>
            </a:r>
          </a:p>
          <a:p>
            <a:pPr marL="0" indent="0" fontAlgn="base"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a *= f;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0E7E59-03DB-49DC-8E37-5F868383B78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Fast</a:t>
            </a:r>
            <a:r>
              <a:rPr lang="en" altLang="en-US" sz="40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Read</a:t>
            </a:r>
          </a:p>
        </p:txBody>
      </p:sp>
    </p:spTree>
    <p:extLst>
      <p:ext uri="{BB962C8B-B14F-4D97-AF65-F5344CB8AC3E}">
        <p14:creationId xmlns:p14="http://schemas.microsoft.com/office/powerpoint/2010/main" val="239719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39364</TotalTime>
  <Words>1574</Words>
  <Application>Microsoft Office PowerPoint</Application>
  <PresentationFormat>Widescreen</PresentationFormat>
  <Paragraphs>216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电路</vt:lpstr>
      <vt:lpstr>NOIP Language Basics (12)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191</cp:revision>
  <dcterms:created xsi:type="dcterms:W3CDTF">2018-08-09T00:16:20Z</dcterms:created>
  <dcterms:modified xsi:type="dcterms:W3CDTF">2026-10-18T03:47:12Z</dcterms:modified>
</cp:coreProperties>
</file>