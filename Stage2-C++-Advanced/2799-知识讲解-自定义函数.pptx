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53" r:id="rId3"/>
    <p:sldId id="359" r:id="rId4"/>
    <p:sldId id="347" r:id="rId5"/>
    <p:sldId id="354" r:id="rId6"/>
    <p:sldId id="350" r:id="rId7"/>
    <p:sldId id="355" r:id="rId8"/>
    <p:sldId id="356" r:id="rId9"/>
    <p:sldId id="361" r:id="rId10"/>
    <p:sldId id="358" r:id="rId11"/>
    <p:sldId id="357" r:id="rId12"/>
    <p:sldId id="360" r:id="rId13"/>
    <p:sldId id="26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652" autoAdjust="0"/>
  </p:normalViewPr>
  <p:slideViewPr>
    <p:cSldViewPr snapToGrid="0">
      <p:cViewPr varScale="1">
        <p:scale>
          <a:sx n="121" d="100"/>
          <a:sy n="121" d="100"/>
        </p:scale>
        <p:origin x="124" y="68"/>
      </p:cViewPr>
      <p:guideLst>
        <p:guide orient="horz" pos="212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/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NOIP </a:t>
            </a:r>
            <a:r>
              <a:rPr lang="zh-CN" altLang="en-US" dirty="0"/>
              <a:t>语言基础（十一）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自定义函数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/>
          <p:nvPr/>
        </p:nvSpPr>
        <p:spPr>
          <a:xfrm>
            <a:off x="494271" y="2602679"/>
            <a:ext cx="2957383" cy="36721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200"/>
              </a:lnSpc>
              <a:buNone/>
            </a:pPr>
            <a:r>
              <a:rPr lang="es-E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n,i;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s-E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main(){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s-E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cin&gt;&gt;n;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s-E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for(i=2;i*i&lt;=n;++i)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s-E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if(n%i==0){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s-E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cout&lt;&lt;"No";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s-E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return 0;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s-E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s-E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cout&lt;&lt;"Yes";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s-E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s-E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altLang="zh-CN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7678443" y="2473569"/>
            <a:ext cx="2957383" cy="36721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main(){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m,i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&gt;&gt;m;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for(int n=2;n&lt;=m;++n){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for(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=2;i*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&lt;=n;++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if(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n%i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==0)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break;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&gt;n)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&lt;&lt;n&lt;&lt;" ";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altLang="zh-CN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判断质数的四个问题</a:t>
            </a:r>
          </a:p>
        </p:txBody>
      </p:sp>
      <p:sp>
        <p:nvSpPr>
          <p:cNvPr id="2" name="矩形 1"/>
          <p:cNvSpPr/>
          <p:nvPr/>
        </p:nvSpPr>
        <p:spPr>
          <a:xfrm>
            <a:off x="868220" y="3397306"/>
            <a:ext cx="2124364" cy="16879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446810" y="3538377"/>
            <a:ext cx="2098041" cy="14247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912192" y="2602679"/>
            <a:ext cx="3305713" cy="1762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思路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枚举从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到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的每个整数，分别判断是否为质数，如果是就输出。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所以，将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【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问题一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】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的判断质数的逻辑加以改造，嵌入循环中。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0376C3A-76AB-4D51-0750-9CE5B5E77F7E}"/>
              </a:ext>
            </a:extLst>
          </p:cNvPr>
          <p:cNvSpPr txBox="1"/>
          <p:nvPr/>
        </p:nvSpPr>
        <p:spPr>
          <a:xfrm>
            <a:off x="494271" y="1138564"/>
            <a:ext cx="3305713" cy="1335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18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问题一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判断质数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给定一个大于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的整数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，判断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是否为质数。是质数输出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Yes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，否则输出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No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62391B5E-18F6-7465-E1B5-DF8B08D6D4B6}"/>
              </a:ext>
            </a:extLst>
          </p:cNvPr>
          <p:cNvSpPr txBox="1"/>
          <p:nvPr/>
        </p:nvSpPr>
        <p:spPr>
          <a:xfrm>
            <a:off x="3912192" y="1138563"/>
            <a:ext cx="3305713" cy="1335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1800" b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问题二</a:t>
            </a:r>
            <a:r>
              <a:rPr lang="en-US" altLang="zh-CN" sz="140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所有质数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给定一个大于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的整数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，输出不大于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的所有质数。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 animBg="1"/>
      <p:bldP spid="13" grpId="0" animBg="1"/>
      <p:bldP spid="14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533932" y="1320271"/>
            <a:ext cx="3844637" cy="1616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18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问题三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质数对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两个相差为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的质数称为质数对，如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7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17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19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等，本题目要求找出所有两个数均不大于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的质数对。</a:t>
            </a:r>
          </a:p>
        </p:txBody>
      </p:sp>
      <p:sp>
        <p:nvSpPr>
          <p:cNvPr id="4" name="文本框 5"/>
          <p:cNvSpPr txBox="1"/>
          <p:nvPr/>
        </p:nvSpPr>
        <p:spPr>
          <a:xfrm>
            <a:off x="3383084" y="5539999"/>
            <a:ext cx="4201657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难道把判断质数的逻辑重复一遍又一遍？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5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判断质数的四个问题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5483913" y="1319742"/>
            <a:ext cx="4504149" cy="1931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18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问题四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纯粹素数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纯粹素数是这样定义的：一个素数，去掉最高位，剩下的数仍为素数，再去掉剩下的数的最高位，剩下的数还是素数，这样下去一直到最后剩下的个位数也还是素数（例如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2347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）。求出所有小于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3000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的四位的纯粹素数。</a:t>
            </a:r>
          </a:p>
        </p:txBody>
      </p:sp>
      <p:sp>
        <p:nvSpPr>
          <p:cNvPr id="7" name="矩形 6"/>
          <p:cNvSpPr/>
          <p:nvPr/>
        </p:nvSpPr>
        <p:spPr>
          <a:xfrm>
            <a:off x="533932" y="3399849"/>
            <a:ext cx="3844637" cy="1441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思路</a:t>
            </a:r>
            <a:endParaRPr lang="en-US" altLang="zh-CN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首先显然最小的质数对是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。枚举从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n-2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的每个奇数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，分别判断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i+2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是否为质数，如果都是质数就将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i+2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作为一个质数对输出。</a:t>
            </a:r>
          </a:p>
        </p:txBody>
      </p:sp>
      <p:sp>
        <p:nvSpPr>
          <p:cNvPr id="8" name="矩形 7"/>
          <p:cNvSpPr/>
          <p:nvPr/>
        </p:nvSpPr>
        <p:spPr>
          <a:xfrm>
            <a:off x="5483912" y="3399848"/>
            <a:ext cx="4504150" cy="1441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思路</a:t>
            </a:r>
            <a:endParaRPr lang="en-US" altLang="zh-CN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枚举从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2999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的每个奇数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，分别判断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去掉千位、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去掉千位和百位、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的个位是否均为质数，如果都是质数就输出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020820" y="6046470"/>
            <a:ext cx="292608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可以使用自定义函数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/>
          <p:cNvSpPr txBox="1"/>
          <p:nvPr/>
        </p:nvSpPr>
        <p:spPr>
          <a:xfrm>
            <a:off x="3174365" y="3098165"/>
            <a:ext cx="2790825" cy="1478698"/>
          </a:xfrm>
          <a:prstGeom prst="rect">
            <a:avLst/>
          </a:prstGeom>
          <a:solidFill>
            <a:srgbClr val="F4F4F4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int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n,a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[110];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void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print(){</a:t>
            </a:r>
          </a:p>
          <a:p>
            <a:pPr marL="0" indent="0" fontAlgn="auto">
              <a:lnSpc>
                <a:spcPct val="6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for(int i=0;i&lt;n;++i)</a:t>
            </a:r>
          </a:p>
          <a:p>
            <a:pPr marL="0" indent="0" fontAlgn="auto">
              <a:lnSpc>
                <a:spcPct val="6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&lt;&lt;a[i]&lt;&lt;" ";</a:t>
            </a:r>
          </a:p>
          <a:p>
            <a:pPr marL="0" indent="0" fontAlgn="auto">
              <a:lnSpc>
                <a:spcPct val="6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cout&lt;&lt;endl;</a:t>
            </a:r>
          </a:p>
          <a:p>
            <a:pPr marL="0" indent="0" fontAlgn="auto">
              <a:lnSpc>
                <a:spcPct val="6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内容占位符 2"/>
          <p:cNvSpPr txBox="1"/>
          <p:nvPr/>
        </p:nvSpPr>
        <p:spPr>
          <a:xfrm>
            <a:off x="197708" y="1486111"/>
            <a:ext cx="2496065" cy="8369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返回类型 函数名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参数列表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函数体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内容占位符 2"/>
          <p:cNvSpPr txBox="1"/>
          <p:nvPr/>
        </p:nvSpPr>
        <p:spPr>
          <a:xfrm>
            <a:off x="6872453" y="1280789"/>
            <a:ext cx="4876800" cy="5153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1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完成一些计算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8775" lvl="1" indent="-176530">
              <a:lnSpc>
                <a:spcPts val="11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执行一些语句</a:t>
            </a:r>
            <a:endParaRPr lang="en-US" altLang="zh-CN" sz="1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8775" lvl="1" indent="-176530">
              <a:lnSpc>
                <a:spcPts val="11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做重复性的输入</a:t>
            </a:r>
            <a:endParaRPr lang="en-US" altLang="zh-CN" sz="1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8775" lvl="1" indent="-176530">
              <a:lnSpc>
                <a:spcPts val="11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做重复性的输出</a:t>
            </a:r>
            <a:endParaRPr lang="en-US" altLang="zh-CN" sz="1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8775" lvl="1" indent="-176530">
              <a:lnSpc>
                <a:spcPts val="11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做重复性的计算</a:t>
            </a:r>
            <a:endParaRPr lang="en-US" altLang="zh-CN" sz="1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函数名：合法标识符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与变量名要求相同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，避免重复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8775" lvl="1" indent="-176530">
              <a:lnSpc>
                <a:spcPts val="11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允许字母、数字、下划线</a:t>
            </a:r>
            <a:endParaRPr lang="en-US" altLang="zh-CN" sz="1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8775" lvl="1" indent="-176530">
              <a:lnSpc>
                <a:spcPts val="11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不能以数字开头</a:t>
            </a:r>
            <a:endParaRPr lang="en-US" altLang="zh-CN" sz="1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8775" lvl="1" indent="-176530">
              <a:lnSpc>
                <a:spcPts val="11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不能是</a:t>
            </a:r>
            <a:r>
              <a:rPr lang="en-US" altLang="zh-CN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C++</a:t>
            </a:r>
            <a:r>
              <a:rPr lang="zh-CN" altLang="en-US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的关键字</a:t>
            </a:r>
            <a:endParaRPr lang="en-US" altLang="zh-CN" sz="1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函数名后的括号不能省略，一对花括号不能省略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参数列表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8775" lvl="1" indent="-176530">
              <a:lnSpc>
                <a:spcPts val="11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可以为空，即一个参数都没有</a:t>
            </a:r>
            <a:endParaRPr lang="en-US" altLang="zh-CN" sz="1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8775" lvl="1" indent="-176530">
              <a:lnSpc>
                <a:spcPts val="11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如果有多个参数，参数之间用逗号分隔</a:t>
            </a:r>
            <a:endParaRPr lang="en-US" altLang="zh-CN" sz="1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8775" lvl="1" indent="-176530">
              <a:lnSpc>
                <a:spcPts val="11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每个参数都要写类型和名称</a:t>
            </a:r>
            <a:endParaRPr lang="en-US" altLang="zh-CN" sz="1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ts val="11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返回类型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>
              <a:lnSpc>
                <a:spcPts val="11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函数执行完之后，可以将计算结果交还给调用它的语句，这就是返回值</a:t>
            </a:r>
            <a:endParaRPr lang="en-US" altLang="zh-CN" sz="1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>
              <a:lnSpc>
                <a:spcPts val="11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返回类型：可以是基本类型，也可以是将来要学的结构体</a:t>
            </a:r>
            <a:endParaRPr lang="en-US" altLang="zh-CN" sz="1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>
              <a:lnSpc>
                <a:spcPts val="11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可以没有返回值，这时返回类型是</a:t>
            </a:r>
            <a:r>
              <a:rPr lang="en-US" altLang="zh-CN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void</a:t>
            </a:r>
          </a:p>
          <a:p>
            <a:pPr>
              <a:lnSpc>
                <a:spcPts val="11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返回语句（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return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）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>
              <a:lnSpc>
                <a:spcPts val="11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代表函数结束</a:t>
            </a:r>
            <a:endParaRPr lang="en-US" altLang="zh-CN" sz="1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>
              <a:lnSpc>
                <a:spcPts val="11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如果定义了返回类型，</a:t>
            </a:r>
            <a:r>
              <a:rPr lang="en-US" altLang="zh-CN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return</a:t>
            </a:r>
            <a:r>
              <a:rPr lang="zh-CN" altLang="en-US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后面跟着返回值</a:t>
            </a:r>
            <a:endParaRPr lang="en-US" altLang="zh-CN" sz="1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1">
              <a:lnSpc>
                <a:spcPts val="11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如果没定义返回类型，单独一句</a:t>
            </a:r>
            <a:r>
              <a:rPr lang="en-US" altLang="zh-CN" sz="1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return</a:t>
            </a:r>
            <a:endParaRPr lang="pt-BR" altLang="zh-CN" sz="10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3173730" y="1639570"/>
            <a:ext cx="2791460" cy="1125220"/>
          </a:xfrm>
          <a:prstGeom prst="rect">
            <a:avLst/>
          </a:prstGeom>
          <a:solidFill>
            <a:srgbClr val="F4F4F4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double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dist(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double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x,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double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y){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double z=x*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x+y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*y;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return sqrt(z);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1" name="内容占位符 2"/>
          <p:cNvSpPr txBox="1"/>
          <p:nvPr/>
        </p:nvSpPr>
        <p:spPr>
          <a:xfrm>
            <a:off x="197707" y="2549606"/>
            <a:ext cx="2496065" cy="1478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四种形态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返回类型 函数名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参数列表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返回类型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函数名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void 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函数名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参数列表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void 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函数名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10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自定义函数</a:t>
            </a:r>
          </a:p>
        </p:txBody>
      </p:sp>
      <p:sp>
        <p:nvSpPr>
          <p:cNvPr id="12" name="矩形 11"/>
          <p:cNvSpPr/>
          <p:nvPr/>
        </p:nvSpPr>
        <p:spPr>
          <a:xfrm>
            <a:off x="2636621" y="1558678"/>
            <a:ext cx="67437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9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返回类型</a:t>
            </a:r>
            <a:endParaRPr lang="en-US" altLang="zh-CN" sz="9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algn="ctr"/>
            <a:r>
              <a:rPr lang="zh-CN" altLang="en-US" sz="9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</a:t>
            </a:r>
            <a:r>
              <a:rPr lang="en-US" altLang="zh-CN" sz="9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double</a:t>
            </a:r>
          </a:p>
        </p:txBody>
      </p:sp>
      <p:cxnSp>
        <p:nvCxnSpPr>
          <p:cNvPr id="14" name="直接连接符 13"/>
          <p:cNvCxnSpPr>
            <a:cxnSpLocks/>
          </p:cNvCxnSpPr>
          <p:nvPr/>
        </p:nvCxnSpPr>
        <p:spPr>
          <a:xfrm>
            <a:off x="3272788" y="1894681"/>
            <a:ext cx="492811" cy="1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cxnSpLocks/>
          </p:cNvCxnSpPr>
          <p:nvPr/>
        </p:nvCxnSpPr>
        <p:spPr>
          <a:xfrm>
            <a:off x="3852859" y="1894682"/>
            <a:ext cx="34940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4239260" y="1895951"/>
            <a:ext cx="14795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3736602" y="1492463"/>
            <a:ext cx="56938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函数名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178010" y="1482885"/>
            <a:ext cx="189103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参数列表（定义了两个参数）</a:t>
            </a:r>
          </a:p>
        </p:txBody>
      </p:sp>
      <p:cxnSp>
        <p:nvCxnSpPr>
          <p:cNvPr id="24" name="直接连接符 23"/>
          <p:cNvCxnSpPr>
            <a:cxnSpLocks/>
          </p:cNvCxnSpPr>
          <p:nvPr/>
        </p:nvCxnSpPr>
        <p:spPr>
          <a:xfrm>
            <a:off x="4176395" y="2449195"/>
            <a:ext cx="62896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4172585" y="2447831"/>
            <a:ext cx="56938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返回值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3240913" y="3621782"/>
            <a:ext cx="3729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3670672" y="3621782"/>
            <a:ext cx="43338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cxnSpLocks/>
          </p:cNvCxnSpPr>
          <p:nvPr/>
        </p:nvCxnSpPr>
        <p:spPr>
          <a:xfrm>
            <a:off x="4142105" y="3625850"/>
            <a:ext cx="1155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2639656" y="3400021"/>
            <a:ext cx="69088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0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无返回值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622937" y="3258209"/>
            <a:ext cx="56938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函数名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043045" y="3256280"/>
            <a:ext cx="117221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参数列表（为空）</a:t>
            </a:r>
          </a:p>
        </p:txBody>
      </p:sp>
      <p:sp>
        <p:nvSpPr>
          <p:cNvPr id="37" name="矩形 36"/>
          <p:cNvSpPr/>
          <p:nvPr/>
        </p:nvSpPr>
        <p:spPr>
          <a:xfrm>
            <a:off x="4661920" y="2452998"/>
            <a:ext cx="121058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返回语句必不可少</a:t>
            </a:r>
          </a:p>
        </p:txBody>
      </p:sp>
      <p:sp>
        <p:nvSpPr>
          <p:cNvPr id="38" name="矩形 37"/>
          <p:cNvSpPr/>
          <p:nvPr/>
        </p:nvSpPr>
        <p:spPr>
          <a:xfrm>
            <a:off x="3520494" y="4317111"/>
            <a:ext cx="183388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无返回值，返回语句可以不写</a:t>
            </a:r>
          </a:p>
        </p:txBody>
      </p:sp>
      <p:sp>
        <p:nvSpPr>
          <p:cNvPr id="39" name="内容占位符 2"/>
          <p:cNvSpPr txBox="1"/>
          <p:nvPr/>
        </p:nvSpPr>
        <p:spPr>
          <a:xfrm>
            <a:off x="3173730" y="4879340"/>
            <a:ext cx="2791460" cy="1725510"/>
          </a:xfrm>
          <a:prstGeom prst="rect">
            <a:avLst/>
          </a:prstGeom>
          <a:solidFill>
            <a:srgbClr val="F4F4F4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int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n,a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[110];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void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print(){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 fontAlgn="auto">
              <a:lnSpc>
                <a:spcPct val="6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    for(int i=0;i&lt;n;++i)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 fontAlgn="auto">
              <a:lnSpc>
                <a:spcPct val="6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       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cout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&lt;&lt;a[i]&lt;&lt;" ";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 fontAlgn="auto">
              <a:lnSpc>
                <a:spcPct val="6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    cout&lt;&lt;endl;</a:t>
            </a:r>
          </a:p>
          <a:p>
            <a:pPr marL="0" indent="0" fontAlgn="auto">
              <a:lnSpc>
                <a:spcPct val="6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    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return;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 fontAlgn="auto">
              <a:lnSpc>
                <a:spcPct val="6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}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882957" y="6358629"/>
            <a:ext cx="262123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当然也可以写返回语句，只是不能加返回值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>
          <a:xfrm>
            <a:off x="4005835" y="1392172"/>
            <a:ext cx="3579966" cy="466572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530" indent="-176530"/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形式参数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-180975"/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函数定义参数列表中的参数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-180975"/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变量名可以任意命名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-180975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每个形式参数都会在内存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(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称为“函数堆栈”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)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中单独分配空间，实际参数的值会复制到形式参数对应的内存空间中，是一份数据的拷贝，这就是传值参数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6530" indent="-176530"/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实际参数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-180975"/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调用函数时传递给函数的参数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-180975"/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每个实际参数都是一个表达式，要将表达式计算出值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-180975"/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会发生自动类型转换（类似于赋值时的自动类型转换）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42925" lvl="1" indent="-180975"/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例如：形式参数为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double x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，而传入的实际参数为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就会自动类型转换为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2.0</a:t>
            </a:r>
          </a:p>
          <a:p>
            <a:pPr marL="542925" lvl="1" indent="-180975"/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例如：形式参数为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 x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，而传入的实际参数为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2.0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2.0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就会自动类型转换为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</a:p>
          <a:p>
            <a:pPr marL="176530" lvl="1" indent="-176530">
              <a:spcBef>
                <a:spcPts val="10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实际参数与形式参数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按照在参数列表中的位置一一对应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，与变量名无关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6530" lvl="1" indent="-176530">
              <a:spcBef>
                <a:spcPts val="10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形式参数的变量名，跟调用函数的地方的变量名完全无关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7813963" y="1392173"/>
            <a:ext cx="3579966" cy="31291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530" indent="-176530"/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调用函数的执行过程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lvl="1" indent="-180975">
              <a:spcBef>
                <a:spcPts val="10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遇到调用函数的语句，当前语句暂停执行，先执行函数调用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lvl="1" indent="-180975">
              <a:spcBef>
                <a:spcPts val="10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依次计算每个实际参数的值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lvl="1" indent="-180975">
              <a:spcBef>
                <a:spcPts val="10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把实际参数的值传递给形式参数，一一对应，自动类型转换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lvl="1" indent="-180975">
              <a:spcBef>
                <a:spcPts val="10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即将实际参数的值存入形式参数对应的内存空间中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lvl="1" indent="-180975">
              <a:spcBef>
                <a:spcPts val="10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执行函数体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lvl="1" indent="-180975">
              <a:spcBef>
                <a:spcPts val="10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遇到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return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语句时，如果有返回值，则计算返回值表达式，返回计算结果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lvl="1" indent="-180975">
              <a:spcBef>
                <a:spcPts val="100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调用该函数的语句（称为调用点）得到返回值后，如果是表达式，将返回值替换调用该函数的语句来计算表达式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内容占位符 2"/>
          <p:cNvSpPr txBox="1"/>
          <p:nvPr/>
        </p:nvSpPr>
        <p:spPr>
          <a:xfrm>
            <a:off x="197707" y="1393431"/>
            <a:ext cx="3579966" cy="5271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530" indent="-176530"/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根据是否定义了返回值，有两种调用形式：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-180975"/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调用并且使用返回值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0">
              <a:buNone/>
            </a:pP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0">
              <a:buNone/>
            </a:pP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0">
              <a:buNone/>
            </a:pP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0">
              <a:buNone/>
            </a:pP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0">
              <a:buNone/>
            </a:pP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0">
              <a:spcBef>
                <a:spcPts val="0"/>
              </a:spcBef>
              <a:buNone/>
            </a:pP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-180975"/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单纯调用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0">
              <a:buNone/>
            </a:pP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0">
              <a:buNone/>
            </a:pP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0">
              <a:buNone/>
            </a:pP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0">
              <a:buNone/>
            </a:pP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0">
              <a:buNone/>
            </a:pP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0">
              <a:buNone/>
            </a:pP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0">
              <a:spcBef>
                <a:spcPts val="0"/>
              </a:spcBef>
              <a:buNone/>
            </a:pP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indent="0">
              <a:buNone/>
            </a:pP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6530" indent="-176530"/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定义了返回值，调用时也可以不使用返回值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6530" indent="-176530"/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先声明，后使用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函数的调用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DC4A8EC5-1AEC-ABDE-138E-F2B1160C459D}"/>
              </a:ext>
            </a:extLst>
          </p:cNvPr>
          <p:cNvSpPr txBox="1"/>
          <p:nvPr/>
        </p:nvSpPr>
        <p:spPr>
          <a:xfrm>
            <a:off x="591959" y="1937028"/>
            <a:ext cx="3078063" cy="1603342"/>
          </a:xfrm>
          <a:prstGeom prst="rect">
            <a:avLst/>
          </a:prstGeom>
          <a:solidFill>
            <a:srgbClr val="F4F4F4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double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dist(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double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x,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  <a:sym typeface="+mn-ea"/>
              </a:rPr>
              <a:t>double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y){</a:t>
            </a:r>
          </a:p>
          <a:p>
            <a:pPr marL="0" indent="0"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double z=x*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x+y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*y;</a:t>
            </a:r>
          </a:p>
          <a:p>
            <a:pPr marL="0" indent="0"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return sqrt(z);</a:t>
            </a:r>
          </a:p>
          <a:p>
            <a:pPr marL="0" indent="0"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 main(){</a:t>
            </a:r>
          </a:p>
          <a:p>
            <a:pPr marL="0" indent="0"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double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p,q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&gt;&gt;p&gt;&gt;q;</a:t>
            </a:r>
          </a:p>
          <a:p>
            <a:pPr marL="0" indent="0"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dist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p,q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);</a:t>
            </a:r>
          </a:p>
          <a:p>
            <a:pPr marL="0" indent="0"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return 0;</a:t>
            </a:r>
          </a:p>
          <a:p>
            <a:pPr marL="0" indent="0"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9B7F80-07F8-6C90-3FF8-A002409ACCBB}"/>
              </a:ext>
            </a:extLst>
          </p:cNvPr>
          <p:cNvSpPr txBox="1"/>
          <p:nvPr/>
        </p:nvSpPr>
        <p:spPr>
          <a:xfrm>
            <a:off x="591960" y="3885392"/>
            <a:ext cx="3077363" cy="2087515"/>
          </a:xfrm>
          <a:prstGeom prst="rect">
            <a:avLst/>
          </a:prstGeom>
          <a:solidFill>
            <a:srgbClr val="F4F4F4"/>
          </a:solidFill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 defTabSz="914400">
              <a:lnSpc>
                <a:spcPts val="12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>
                <a:sym typeface="+mn-ea"/>
              </a:rPr>
              <a:t>int </a:t>
            </a:r>
            <a:r>
              <a:rPr lang="en-US" altLang="zh-CN" dirty="0" err="1">
                <a:sym typeface="+mn-ea"/>
              </a:rPr>
              <a:t>n,a</a:t>
            </a:r>
            <a:r>
              <a:rPr lang="en-US" altLang="zh-CN" dirty="0">
                <a:sym typeface="+mn-ea"/>
              </a:rPr>
              <a:t>[110];</a:t>
            </a:r>
            <a:endParaRPr lang="en-US" altLang="zh-CN" dirty="0"/>
          </a:p>
          <a:p>
            <a:r>
              <a:rPr lang="en-US" altLang="zh-CN" dirty="0"/>
              <a:t>void</a:t>
            </a:r>
            <a:r>
              <a:rPr lang="zh-CN" altLang="en-US" dirty="0"/>
              <a:t> </a:t>
            </a:r>
            <a:r>
              <a:rPr lang="en-US" altLang="zh-CN" dirty="0"/>
              <a:t>print(){</a:t>
            </a:r>
          </a:p>
          <a:p>
            <a:r>
              <a:rPr lang="en-US" altLang="zh-CN" dirty="0"/>
              <a:t>    for(int i=0;i&lt;n;++i)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cout</a:t>
            </a:r>
            <a:r>
              <a:rPr lang="en-US" altLang="zh-CN" dirty="0"/>
              <a:t>&lt;&lt;a[i]&lt;&lt;" ";</a:t>
            </a:r>
          </a:p>
          <a:p>
            <a:r>
              <a:rPr lang="en-US" altLang="zh-CN" dirty="0"/>
              <a:t>    cout&lt;&lt;endl;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int main(){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cin</a:t>
            </a:r>
            <a:r>
              <a:rPr lang="en-US" altLang="zh-CN" dirty="0"/>
              <a:t>&gt;&gt;n;</a:t>
            </a:r>
          </a:p>
          <a:p>
            <a:r>
              <a:rPr lang="en-US" altLang="zh-CN" dirty="0"/>
              <a:t>    for(int </a:t>
            </a:r>
            <a:r>
              <a:rPr lang="en-US" altLang="zh-CN" dirty="0" err="1"/>
              <a:t>i</a:t>
            </a:r>
            <a:r>
              <a:rPr lang="en-US" altLang="zh-CN" dirty="0"/>
              <a:t>=0;i&lt;n;++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cin</a:t>
            </a:r>
            <a:r>
              <a:rPr lang="en-US" altLang="zh-CN" dirty="0"/>
              <a:t>&gt;&gt;a[</a:t>
            </a:r>
            <a:r>
              <a:rPr lang="en-US" altLang="zh-CN" dirty="0" err="1"/>
              <a:t>i</a:t>
            </a:r>
            <a:r>
              <a:rPr lang="en-US" altLang="zh-CN" dirty="0"/>
              <a:t>];</a:t>
            </a:r>
          </a:p>
          <a:p>
            <a:r>
              <a:rPr lang="en-US" altLang="zh-CN" dirty="0"/>
              <a:t>    print();</a:t>
            </a:r>
          </a:p>
          <a:p>
            <a:r>
              <a:rPr lang="en-US" altLang="zh-CN" dirty="0"/>
              <a:t>    return 0;</a:t>
            </a:r>
          </a:p>
          <a:p>
            <a:r>
              <a:rPr lang="en-US" altLang="zh-CN"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4771417" y="1418762"/>
            <a:ext cx="5178494" cy="54612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isPrime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(int n){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for(int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=2;i*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&lt;=n;++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n%i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==0)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return false;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true;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main(){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m,i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&gt;&gt;m;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=2;i&lt;=m;++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isPrime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&lt;&lt;" ";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altLang="zh-CN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290259" y="1449964"/>
            <a:ext cx="4462108" cy="5461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main(){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m,i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&gt;&gt;m;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for(int n=2;n&lt;=m;++n){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for(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=2;i*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&lt;=n;++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if(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n%i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==0)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break;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&gt;n)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&lt;&lt;n&lt;&lt;" ";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altLang="zh-CN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文本框 5"/>
          <p:cNvSpPr txBox="1"/>
          <p:nvPr/>
        </p:nvSpPr>
        <p:spPr>
          <a:xfrm>
            <a:off x="6852250" y="1219132"/>
            <a:ext cx="4361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zh-CN" altLang="en-US" dirty="0"/>
              <a:t>自定义函数</a:t>
            </a:r>
            <a:r>
              <a:rPr lang="en-US" altLang="zh-CN" dirty="0" err="1"/>
              <a:t>isPrime</a:t>
            </a:r>
            <a:r>
              <a:rPr lang="zh-CN" altLang="en-US" dirty="0"/>
              <a:t>，其功能为判断参数</a:t>
            </a:r>
            <a:r>
              <a:rPr lang="en-US" altLang="zh-CN" dirty="0"/>
              <a:t>int n</a:t>
            </a:r>
            <a:r>
              <a:rPr lang="zh-CN" altLang="en-US" dirty="0"/>
              <a:t>是否为质数</a:t>
            </a:r>
            <a:endParaRPr lang="en-US" altLang="zh-CN" dirty="0"/>
          </a:p>
          <a:p>
            <a:r>
              <a:rPr lang="zh-CN" altLang="en-US" dirty="0"/>
              <a:t>返回类型为</a:t>
            </a:r>
            <a:r>
              <a:rPr lang="en-US" altLang="zh-CN" dirty="0"/>
              <a:t>bool</a:t>
            </a:r>
            <a:r>
              <a:rPr lang="zh-CN" altLang="en-US" dirty="0"/>
              <a:t>，如果</a:t>
            </a:r>
            <a:r>
              <a:rPr lang="en-US" altLang="zh-CN" dirty="0"/>
              <a:t>n</a:t>
            </a:r>
            <a:r>
              <a:rPr lang="zh-CN" altLang="en-US" dirty="0"/>
              <a:t>为质数，返回</a:t>
            </a:r>
            <a:r>
              <a:rPr lang="en-US" altLang="zh-CN" dirty="0"/>
              <a:t>true</a:t>
            </a:r>
            <a:r>
              <a:rPr lang="zh-CN" altLang="en-US" dirty="0"/>
              <a:t>，否则返回</a:t>
            </a:r>
            <a:r>
              <a:rPr lang="en-US" altLang="zh-CN" dirty="0"/>
              <a:t>false</a:t>
            </a:r>
            <a:endParaRPr lang="zh-CN" altLang="en-US" dirty="0"/>
          </a:p>
        </p:txBody>
      </p:sp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所有质数</a:t>
            </a:r>
          </a:p>
        </p:txBody>
      </p:sp>
      <p:sp>
        <p:nvSpPr>
          <p:cNvPr id="8" name="文本框 5"/>
          <p:cNvSpPr txBox="1"/>
          <p:nvPr/>
        </p:nvSpPr>
        <p:spPr>
          <a:xfrm>
            <a:off x="3456538" y="3210609"/>
            <a:ext cx="1141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在循环体中执行判断当前数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是否为质数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7360665" y="4162183"/>
            <a:ext cx="1533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zh-CN" altLang="en-US" dirty="0"/>
              <a:t>在循环中对每个数字</a:t>
            </a:r>
            <a:r>
              <a:rPr lang="en-US" altLang="zh-CN" dirty="0" err="1"/>
              <a:t>i</a:t>
            </a:r>
            <a:r>
              <a:rPr lang="zh-CN" altLang="en-US" dirty="0"/>
              <a:t>调用</a:t>
            </a:r>
            <a:r>
              <a:rPr lang="en-US" altLang="zh-CN" dirty="0" err="1"/>
              <a:t>isPrime</a:t>
            </a:r>
            <a:r>
              <a:rPr lang="zh-CN" altLang="en-US" dirty="0"/>
              <a:t>函数判断</a:t>
            </a:r>
            <a:r>
              <a:rPr lang="en-US" altLang="zh-CN" dirty="0" err="1"/>
              <a:t>i</a:t>
            </a:r>
            <a:r>
              <a:rPr lang="zh-CN" altLang="en-US" dirty="0"/>
              <a:t>是否为质数</a:t>
            </a:r>
          </a:p>
        </p:txBody>
      </p:sp>
      <p:sp>
        <p:nvSpPr>
          <p:cNvPr id="10" name="矩形 9"/>
          <p:cNvSpPr/>
          <p:nvPr/>
        </p:nvSpPr>
        <p:spPr>
          <a:xfrm>
            <a:off x="1043708" y="2509123"/>
            <a:ext cx="2244437" cy="14440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>
          <a:xfrm>
            <a:off x="678609" y="1459271"/>
            <a:ext cx="5178494" cy="4849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isPrime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(int n){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for(int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=2;i*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&lt;=n;++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n%i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==0)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return false;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true;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main(){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n;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&gt;&gt;n;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for(int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=3;i&lt;=n-2;i+=2)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isPrime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)&amp;&amp;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isPrime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(i+2))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&lt;&lt;" "&lt;&lt;i+2&lt;&lt;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altLang="zh-CN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质数对</a:t>
            </a:r>
          </a:p>
        </p:txBody>
      </p:sp>
      <p:sp>
        <p:nvSpPr>
          <p:cNvPr id="7" name="文本框 5"/>
          <p:cNvSpPr txBox="1"/>
          <p:nvPr/>
        </p:nvSpPr>
        <p:spPr>
          <a:xfrm>
            <a:off x="2795340" y="1245256"/>
            <a:ext cx="4361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zh-CN" altLang="en-US" dirty="0"/>
              <a:t>自定义函数</a:t>
            </a:r>
            <a:r>
              <a:rPr lang="en-US" altLang="zh-CN" dirty="0" err="1"/>
              <a:t>isPrime</a:t>
            </a:r>
            <a:r>
              <a:rPr lang="zh-CN" altLang="en-US" dirty="0"/>
              <a:t>，其功能为判断参数</a:t>
            </a:r>
            <a:r>
              <a:rPr lang="en-US" altLang="zh-CN" dirty="0"/>
              <a:t>int n</a:t>
            </a:r>
            <a:r>
              <a:rPr lang="zh-CN" altLang="en-US" dirty="0"/>
              <a:t>是否为质数</a:t>
            </a:r>
            <a:endParaRPr lang="en-US" altLang="zh-CN" dirty="0"/>
          </a:p>
          <a:p>
            <a:r>
              <a:rPr lang="zh-CN" altLang="en-US" dirty="0"/>
              <a:t>返回类型为</a:t>
            </a:r>
            <a:r>
              <a:rPr lang="en-US" altLang="zh-CN" dirty="0"/>
              <a:t>bool</a:t>
            </a:r>
            <a:r>
              <a:rPr lang="zh-CN" altLang="en-US" dirty="0"/>
              <a:t>，如果</a:t>
            </a:r>
            <a:r>
              <a:rPr lang="en-US" altLang="zh-CN" dirty="0"/>
              <a:t>n</a:t>
            </a:r>
            <a:r>
              <a:rPr lang="zh-CN" altLang="en-US" dirty="0"/>
              <a:t>为质数，返回</a:t>
            </a:r>
            <a:r>
              <a:rPr lang="en-US" altLang="zh-CN" dirty="0"/>
              <a:t>true</a:t>
            </a:r>
            <a:r>
              <a:rPr lang="zh-CN" altLang="en-US" dirty="0"/>
              <a:t>，否则返回</a:t>
            </a:r>
            <a:r>
              <a:rPr lang="en-US" altLang="zh-CN" dirty="0"/>
              <a:t>false</a:t>
            </a:r>
            <a:endParaRPr lang="zh-CN" altLang="en-US" dirty="0"/>
          </a:p>
        </p:txBody>
      </p:sp>
      <p:sp>
        <p:nvSpPr>
          <p:cNvPr id="9" name="文本框 5"/>
          <p:cNvSpPr txBox="1"/>
          <p:nvPr/>
        </p:nvSpPr>
        <p:spPr>
          <a:xfrm>
            <a:off x="4321299" y="4475621"/>
            <a:ext cx="2498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zh-CN" altLang="en-US" dirty="0"/>
              <a:t>在循环中对每个数字</a:t>
            </a:r>
            <a:r>
              <a:rPr lang="en-US" altLang="zh-CN" dirty="0" err="1"/>
              <a:t>i</a:t>
            </a:r>
            <a:r>
              <a:rPr lang="zh-CN" altLang="en-US" dirty="0"/>
              <a:t>和</a:t>
            </a:r>
            <a:r>
              <a:rPr lang="en-US" altLang="zh-CN" dirty="0"/>
              <a:t>i+2</a:t>
            </a:r>
            <a:r>
              <a:rPr lang="zh-CN" altLang="en-US" dirty="0"/>
              <a:t>分别调用</a:t>
            </a:r>
            <a:r>
              <a:rPr lang="en-US" altLang="zh-CN" dirty="0" err="1"/>
              <a:t>isPrime</a:t>
            </a:r>
            <a:r>
              <a:rPr lang="zh-CN" altLang="en-US" dirty="0"/>
              <a:t>函数判断是否为质数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/>
          <p:cNvSpPr txBox="1"/>
          <p:nvPr/>
        </p:nvSpPr>
        <p:spPr>
          <a:xfrm>
            <a:off x="678609" y="1439048"/>
            <a:ext cx="7789888" cy="5117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isPrime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(int n){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for(int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=2;i*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&lt;=n;++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n%i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==0)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return false;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true;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main(){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for(int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=1003;i&lt;3000;i+=2)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isPrime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(i%10)&amp;&amp;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isPrime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(i%100)&amp;&amp;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isPrime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(i%1000)&amp;&amp;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isPrime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&lt;&lt;" ";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altLang="zh-CN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纯粹素数</a:t>
            </a:r>
          </a:p>
        </p:txBody>
      </p:sp>
      <p:sp>
        <p:nvSpPr>
          <p:cNvPr id="7" name="文本框 5"/>
          <p:cNvSpPr txBox="1"/>
          <p:nvPr/>
        </p:nvSpPr>
        <p:spPr>
          <a:xfrm>
            <a:off x="2795340" y="1245256"/>
            <a:ext cx="4361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zh-CN" altLang="en-US" dirty="0"/>
              <a:t>自定义函数</a:t>
            </a:r>
            <a:r>
              <a:rPr lang="en-US" altLang="zh-CN" dirty="0" err="1"/>
              <a:t>isPrime</a:t>
            </a:r>
            <a:r>
              <a:rPr lang="zh-CN" altLang="en-US" dirty="0"/>
              <a:t>，其功能为判断参数</a:t>
            </a:r>
            <a:r>
              <a:rPr lang="en-US" altLang="zh-CN" dirty="0"/>
              <a:t>int n</a:t>
            </a:r>
            <a:r>
              <a:rPr lang="zh-CN" altLang="en-US" dirty="0"/>
              <a:t>是否为质数</a:t>
            </a:r>
            <a:endParaRPr lang="en-US" altLang="zh-CN" dirty="0"/>
          </a:p>
          <a:p>
            <a:r>
              <a:rPr lang="zh-CN" altLang="en-US" dirty="0"/>
              <a:t>返回类型为</a:t>
            </a:r>
            <a:r>
              <a:rPr lang="en-US" altLang="zh-CN" dirty="0"/>
              <a:t>bool</a:t>
            </a:r>
            <a:r>
              <a:rPr lang="zh-CN" altLang="en-US" dirty="0"/>
              <a:t>，如果</a:t>
            </a:r>
            <a:r>
              <a:rPr lang="en-US" altLang="zh-CN" dirty="0"/>
              <a:t>n</a:t>
            </a:r>
            <a:r>
              <a:rPr lang="zh-CN" altLang="en-US" dirty="0"/>
              <a:t>为质数，返回</a:t>
            </a:r>
            <a:r>
              <a:rPr lang="en-US" altLang="zh-CN" dirty="0"/>
              <a:t>true</a:t>
            </a:r>
            <a:r>
              <a:rPr lang="zh-CN" altLang="en-US" dirty="0"/>
              <a:t>，否则返回</a:t>
            </a:r>
            <a:r>
              <a:rPr lang="en-US" altLang="zh-CN" dirty="0"/>
              <a:t>false</a:t>
            </a:r>
            <a:endParaRPr lang="zh-CN" altLang="en-US" dirty="0"/>
          </a:p>
        </p:txBody>
      </p:sp>
      <p:sp>
        <p:nvSpPr>
          <p:cNvPr id="8" name="文本框 5"/>
          <p:cNvSpPr txBox="1"/>
          <p:nvPr/>
        </p:nvSpPr>
        <p:spPr>
          <a:xfrm>
            <a:off x="4102224" y="3286252"/>
            <a:ext cx="3698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zh-CN" altLang="en-US" dirty="0"/>
              <a:t>在循环中对每个数字</a:t>
            </a:r>
            <a:r>
              <a:rPr lang="en-US" altLang="zh-CN" dirty="0" err="1"/>
              <a:t>i</a:t>
            </a:r>
            <a:r>
              <a:rPr lang="zh-CN" altLang="en-US" dirty="0"/>
              <a:t>的个位、个位加十位、去掉千位、</a:t>
            </a:r>
            <a:r>
              <a:rPr lang="en-US" altLang="zh-CN" dirty="0" err="1"/>
              <a:t>i</a:t>
            </a:r>
            <a:r>
              <a:rPr lang="zh-CN" altLang="en-US" dirty="0"/>
              <a:t>自己分别调用</a:t>
            </a:r>
            <a:r>
              <a:rPr lang="en-US" altLang="zh-CN" dirty="0" err="1"/>
              <a:t>isPrime</a:t>
            </a:r>
            <a:r>
              <a:rPr lang="zh-CN" altLang="en-US" dirty="0"/>
              <a:t>函数判断是否为质数</a:t>
            </a:r>
          </a:p>
        </p:txBody>
      </p:sp>
      <p:sp>
        <p:nvSpPr>
          <p:cNvPr id="10" name="文本框 5"/>
          <p:cNvSpPr txBox="1"/>
          <p:nvPr/>
        </p:nvSpPr>
        <p:spPr>
          <a:xfrm>
            <a:off x="4102223" y="5034860"/>
            <a:ext cx="3698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en-US" altLang="zh-CN" sz="1800" dirty="0" err="1"/>
              <a:t>isPrime</a:t>
            </a:r>
            <a:r>
              <a:rPr lang="zh-CN" altLang="en-US" sz="1800" dirty="0"/>
              <a:t>函数里有一个逻辑问题</a:t>
            </a:r>
            <a:endParaRPr lang="en-US" altLang="zh-CN" sz="1800" dirty="0"/>
          </a:p>
          <a:p>
            <a:r>
              <a:rPr lang="zh-CN" altLang="en-US" sz="1800" dirty="0"/>
              <a:t>请找找看：</a:t>
            </a:r>
            <a:r>
              <a:rPr lang="en-US" altLang="zh-CN" sz="1800" dirty="0"/>
              <a:t>D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字符串忽略大小写判等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02698165-B7C2-9AA5-1C99-C7DFFC9E2819}"/>
              </a:ext>
            </a:extLst>
          </p:cNvPr>
          <p:cNvSpPr>
            <a:spLocks noGrp="1"/>
          </p:cNvSpPr>
          <p:nvPr/>
        </p:nvSpPr>
        <p:spPr>
          <a:xfrm>
            <a:off x="570846" y="1645887"/>
            <a:ext cx="3390469" cy="3323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给定两个长度均不超过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的字符串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，判断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在忽略大小写的情况下是否相等。</a:t>
            </a:r>
            <a:endParaRPr lang="en-US" altLang="zh-CN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BF6B71-423E-DDAC-CA7D-3562C8593E52}"/>
              </a:ext>
            </a:extLst>
          </p:cNvPr>
          <p:cNvSpPr/>
          <p:nvPr/>
        </p:nvSpPr>
        <p:spPr>
          <a:xfrm>
            <a:off x="574067" y="1310216"/>
            <a:ext cx="338502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6144E029-C58D-F954-0742-8C7902724BF6}"/>
              </a:ext>
            </a:extLst>
          </p:cNvPr>
          <p:cNvSpPr txBox="1"/>
          <p:nvPr/>
        </p:nvSpPr>
        <p:spPr>
          <a:xfrm>
            <a:off x="591847" y="2435199"/>
            <a:ext cx="3639185" cy="4366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一行，空格分隔的两个全部由大小写字母组成的字符串。</a:t>
            </a:r>
            <a:endParaRPr lang="en-US" altLang="zh-CN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2BDD8C7-01B0-6936-1EB6-6DC7E085BE0D}"/>
              </a:ext>
            </a:extLst>
          </p:cNvPr>
          <p:cNvSpPr/>
          <p:nvPr/>
        </p:nvSpPr>
        <p:spPr>
          <a:xfrm>
            <a:off x="594771" y="2099659"/>
            <a:ext cx="33877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8D22AA0-0965-EE77-A769-79DAE846C880}"/>
              </a:ext>
            </a:extLst>
          </p:cNvPr>
          <p:cNvSpPr txBox="1"/>
          <p:nvPr/>
        </p:nvSpPr>
        <p:spPr>
          <a:xfrm>
            <a:off x="592053" y="3261995"/>
            <a:ext cx="3390265" cy="4835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如果</a:t>
            </a:r>
            <a:r>
              <a:rPr lang="en-US" altLang="zh-CN" dirty="0">
                <a:latin typeface="Consolas" panose="020B0609020204030204" pitchFamily="49" charset="0"/>
              </a:rPr>
              <a:t>s</a:t>
            </a:r>
            <a:r>
              <a:rPr lang="zh-CN" altLang="en-US" dirty="0">
                <a:latin typeface="Consolas" panose="020B0609020204030204" pitchFamily="49" charset="0"/>
              </a:rPr>
              <a:t>与</a:t>
            </a:r>
            <a:r>
              <a:rPr lang="en-US" altLang="zh-CN" dirty="0">
                <a:latin typeface="Consolas" panose="020B0609020204030204" pitchFamily="49" charset="0"/>
              </a:rPr>
              <a:t>t</a:t>
            </a:r>
            <a:r>
              <a:rPr lang="zh-CN" altLang="en-US" dirty="0">
                <a:latin typeface="Consolas" panose="020B0609020204030204" pitchFamily="49" charset="0"/>
              </a:rPr>
              <a:t>相等，输出 </a:t>
            </a:r>
            <a:r>
              <a:rPr lang="en-US" altLang="zh-CN" dirty="0">
                <a:latin typeface="Consolas" panose="020B0609020204030204" pitchFamily="49" charset="0"/>
              </a:rPr>
              <a:t>equals</a:t>
            </a:r>
            <a:r>
              <a:rPr lang="zh-CN" altLang="en-US" dirty="0">
                <a:latin typeface="Consolas" panose="020B0609020204030204" pitchFamily="49" charset="0"/>
              </a:rPr>
              <a:t>，否则输出 </a:t>
            </a:r>
            <a:r>
              <a:rPr lang="en-US" altLang="zh-CN" dirty="0">
                <a:latin typeface="Consolas" panose="020B0609020204030204" pitchFamily="49" charset="0"/>
              </a:rPr>
              <a:t>NOT equal</a:t>
            </a:r>
            <a:r>
              <a:rPr lang="zh-CN" altLang="en-US" dirty="0">
                <a:latin typeface="Consolas" panose="020B0609020204030204" pitchFamily="49" charset="0"/>
              </a:rPr>
              <a:t>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BA4883-DE8C-756F-C4A4-92F7CCCD398A}"/>
              </a:ext>
            </a:extLst>
          </p:cNvPr>
          <p:cNvSpPr/>
          <p:nvPr/>
        </p:nvSpPr>
        <p:spPr>
          <a:xfrm>
            <a:off x="591847" y="2924888"/>
            <a:ext cx="339046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C4C4725E-9758-98CB-C80E-7B018F195FE8}"/>
              </a:ext>
            </a:extLst>
          </p:cNvPr>
          <p:cNvSpPr txBox="1"/>
          <p:nvPr/>
        </p:nvSpPr>
        <p:spPr>
          <a:xfrm>
            <a:off x="592052" y="3810891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样例输入</a:t>
            </a:r>
            <a:r>
              <a:rPr lang="en-US" altLang="zh-CN" dirty="0">
                <a:latin typeface="Consolas" panose="020B0609020204030204" pitchFamily="49" charset="0"/>
              </a:rPr>
              <a:t>1</a:t>
            </a:r>
            <a:r>
              <a:rPr lang="zh-CN" altLang="en-US" dirty="0">
                <a:latin typeface="Consolas" panose="020B0609020204030204" pitchFamily="49" charset="0"/>
              </a:rPr>
              <a:t>：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Hello </a:t>
            </a:r>
            <a:r>
              <a:rPr lang="en-US" altLang="zh-CN" dirty="0" err="1">
                <a:latin typeface="Consolas" panose="020B0609020204030204" pitchFamily="49" charset="0"/>
              </a:rPr>
              <a:t>hELlO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12D0FCB-9723-1228-DE03-B78DA87A6627}"/>
              </a:ext>
            </a:extLst>
          </p:cNvPr>
          <p:cNvSpPr/>
          <p:nvPr/>
        </p:nvSpPr>
        <p:spPr>
          <a:xfrm>
            <a:off x="2874876" y="3810891"/>
            <a:ext cx="1107440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equals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BAA39DD-065C-CD90-2F1A-5FD71DD7BC71}"/>
              </a:ext>
            </a:extLst>
          </p:cNvPr>
          <p:cNvSpPr txBox="1"/>
          <p:nvPr/>
        </p:nvSpPr>
        <p:spPr>
          <a:xfrm>
            <a:off x="5190836" y="1693689"/>
            <a:ext cx="5586963" cy="1073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530" lvl="0" indent="-176530" algn="just" defTabSz="914400" fontAlgn="auto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首先判断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与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的字符数是否一致，不一致则输出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NOT equal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并结束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6530" lvl="0" indent="-176530" algn="just" defTabSz="914400" fontAlgn="auto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然后对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与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相同下标</a:t>
            </a:r>
            <a:r>
              <a:rPr lang="en-US" altLang="zh-CN" sz="1200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的每一个字符：</a:t>
            </a:r>
          </a:p>
          <a:p>
            <a:pPr marL="633730" lvl="1" indent="-176530" algn="just" defTabSz="914400" fontAlgn="auto">
              <a:lnSpc>
                <a:spcPct val="90000"/>
              </a:lnSpc>
              <a:spcBef>
                <a:spcPts val="400"/>
              </a:spcBef>
              <a:buFont typeface="Wingdings" panose="05000000000000000000" charset="0"/>
              <a:buChar char="ü"/>
            </a:pP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如果是大写字母，就转为对应的小写字母</a:t>
            </a:r>
          </a:p>
          <a:p>
            <a:pPr marL="633730" lvl="1" indent="-176530" algn="just" defTabSz="914400" fontAlgn="auto">
              <a:lnSpc>
                <a:spcPct val="90000"/>
              </a:lnSpc>
              <a:spcBef>
                <a:spcPts val="400"/>
              </a:spcBef>
              <a:buFont typeface="Wingdings" panose="05000000000000000000" charset="0"/>
              <a:buChar char="ü"/>
            </a:pP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让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s[</a:t>
            </a:r>
            <a:r>
              <a:rPr lang="en-US" altLang="zh-CN" sz="1000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</a:t>
            </a: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与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t[</a:t>
            </a:r>
            <a:r>
              <a:rPr lang="en-US" altLang="zh-CN" sz="1000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</a:t>
            </a: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进行比较，如果不同则输出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NOT equal</a:t>
            </a: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并结束</a:t>
            </a:r>
            <a:endParaRPr lang="en-US" altLang="zh-CN" sz="10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6530" indent="-176530" algn="just" defTabSz="91440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循环结束后，输出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equals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（当中没有输出过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NOT equal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，说明所有字符都相同）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E5BEDD3-3F86-35ED-BCC8-C09AFBFC5791}"/>
              </a:ext>
            </a:extLst>
          </p:cNvPr>
          <p:cNvSpPr txBox="1"/>
          <p:nvPr/>
        </p:nvSpPr>
        <p:spPr>
          <a:xfrm>
            <a:off x="5190836" y="1308702"/>
            <a:ext cx="1810327" cy="3371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zh-CN" altLang="zh-CN" dirty="0"/>
              <a:t>分析</a:t>
            </a:r>
          </a:p>
        </p:txBody>
      </p:sp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86DDFFFF-11C6-3AD6-2A55-AD0F7DD3FCA0}"/>
              </a:ext>
            </a:extLst>
          </p:cNvPr>
          <p:cNvSpPr txBox="1"/>
          <p:nvPr/>
        </p:nvSpPr>
        <p:spPr>
          <a:xfrm>
            <a:off x="570846" y="4399140"/>
            <a:ext cx="1816731" cy="649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样例输入</a:t>
            </a:r>
            <a:r>
              <a:rPr lang="en-US" altLang="zh-CN" dirty="0">
                <a:latin typeface="Consolas" panose="020B0609020204030204" pitchFamily="49" charset="0"/>
              </a:rPr>
              <a:t>2</a:t>
            </a:r>
            <a:r>
              <a:rPr lang="zh-CN" altLang="en-US" dirty="0">
                <a:latin typeface="Consolas" panose="020B0609020204030204" pitchFamily="49" charset="0"/>
              </a:rPr>
              <a:t>：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Hello </a:t>
            </a:r>
            <a:r>
              <a:rPr lang="en-US" altLang="zh-CN" dirty="0" err="1">
                <a:latin typeface="Consolas" panose="020B0609020204030204" pitchFamily="49" charset="0"/>
              </a:rPr>
              <a:t>hELley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501F7A7-0AFE-75F2-1A6A-E71E2C4410C3}"/>
              </a:ext>
            </a:extLst>
          </p:cNvPr>
          <p:cNvSpPr/>
          <p:nvPr/>
        </p:nvSpPr>
        <p:spPr>
          <a:xfrm>
            <a:off x="2853670" y="4399140"/>
            <a:ext cx="1107440" cy="575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buSzPct val="125000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>
              <a:buSzPct val="125000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NOT equal</a:t>
            </a:r>
          </a:p>
        </p:txBody>
      </p:sp>
    </p:spTree>
    <p:extLst>
      <p:ext uri="{BB962C8B-B14F-4D97-AF65-F5344CB8AC3E}">
        <p14:creationId xmlns:p14="http://schemas.microsoft.com/office/powerpoint/2010/main" val="421427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/>
          <p:nvPr/>
        </p:nvSpPr>
        <p:spPr>
          <a:xfrm>
            <a:off x="319521" y="1343265"/>
            <a:ext cx="5532870" cy="5034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stdc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++.h&gt;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main(){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char s[110],t[110];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&gt;&gt;s&gt;&gt;t;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len1=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(s),len2=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(t),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if(len1!=len2)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&lt;&lt;"NOT equal";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else{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for(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=0;i&lt;len1;++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char c1=s[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],c2=t[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if('A'&lt;=c1&amp;&amp;c1&lt;='Z') c1=c1-'A'+'a';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if('A'&lt;=c2&amp;&amp;c2&lt;='Z') c2=c2-'A'+'a';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if(c1!=c2){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&lt;&lt;"NOT equal";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return 0;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}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&lt;&lt;"equals";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6096000" y="1343264"/>
            <a:ext cx="5532870" cy="5034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stdc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++.h&gt;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toLowerCase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(char c){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if('A'&lt;=c&amp;&amp;c&lt;='Z') c=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c-'A'+'a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c;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main(){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char s[110],t[110];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&gt;&gt;s&gt;&gt;t;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len1=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(s),len2=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(t),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if(len1!=len2)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&lt;&lt;"NOT equal";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else{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for(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=0;i&lt;len1;++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if(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toLowerCase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(s[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])!=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toLowerCase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(t[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])){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&lt;&lt;"NOT equal";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return 0;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}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&lt;&lt;"equals";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lnSpc>
                <a:spcPts val="800"/>
              </a:lnSpc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文本框 5"/>
          <p:cNvSpPr txBox="1"/>
          <p:nvPr/>
        </p:nvSpPr>
        <p:spPr>
          <a:xfrm>
            <a:off x="8646977" y="1547209"/>
            <a:ext cx="3110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函数的含义：如果传入的参数是大写字母则返回对应的小写字母，否则返回传入的字符</a:t>
            </a:r>
          </a:p>
        </p:txBody>
      </p:sp>
      <p:sp>
        <p:nvSpPr>
          <p:cNvPr id="8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字符串忽略大小写判等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3745522" y="4258081"/>
            <a:ext cx="13697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将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s[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t[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都做大写转小写处理，再判断二者是否相等</a:t>
            </a:r>
          </a:p>
        </p:txBody>
      </p:sp>
      <p:sp>
        <p:nvSpPr>
          <p:cNvPr id="10" name="文本框 5"/>
          <p:cNvSpPr txBox="1"/>
          <p:nvPr/>
        </p:nvSpPr>
        <p:spPr>
          <a:xfrm>
            <a:off x="9286030" y="4054645"/>
            <a:ext cx="2027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对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s[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t[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分别调用该函数的结果判断是否相等</a:t>
            </a:r>
          </a:p>
        </p:txBody>
      </p:sp>
      <p:sp>
        <p:nvSpPr>
          <p:cNvPr id="11" name="矩形 10"/>
          <p:cNvSpPr/>
          <p:nvPr/>
        </p:nvSpPr>
        <p:spPr>
          <a:xfrm>
            <a:off x="1514762" y="3581401"/>
            <a:ext cx="3592947" cy="16295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7624595" y="4724508"/>
            <a:ext cx="173250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9527244" y="4724506"/>
            <a:ext cx="173250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8C6B3A3F-8B13-418B-FCDA-F4E49CA9A7BB}"/>
              </a:ext>
            </a:extLst>
          </p:cNvPr>
          <p:cNvSpPr/>
          <p:nvPr/>
        </p:nvSpPr>
        <p:spPr>
          <a:xfrm>
            <a:off x="7311822" y="4488913"/>
            <a:ext cx="4135763" cy="9330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 animBg="1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4714875" y="1276865"/>
            <a:ext cx="3171826" cy="4276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stdc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++.h&gt;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mySwap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(int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a,int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b){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t=a;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a=b;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b=t;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main(){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a=3,b=5;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mySwap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&lt;&lt;a&lt;&lt;" "&lt;&lt;b;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altLang="zh-CN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329513" y="1276865"/>
            <a:ext cx="3975788" cy="5461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>
              <a:lnSpc>
                <a:spcPct val="10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传值参数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361950" lvl="1" indent="-180975">
              <a:lnSpc>
                <a:spcPct val="10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每个实际参数都是一个表达式，要将表达式计算出值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361950" lvl="1" indent="-180975">
              <a:lnSpc>
                <a:spcPct val="10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每个形式参数都会在内存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(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即“函数堆栈”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)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中单独分配空间，实际参数的值会复制到形式参数对应的内存空间中，是一份数据的拷贝，这就是传值参数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361950" lvl="1" indent="-180975">
              <a:lnSpc>
                <a:spcPct val="10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修改传值参数不会影响实际参数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180975" indent="-180975">
              <a:lnSpc>
                <a:spcPct val="10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传引用参数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361950" lvl="1" indent="-180975">
              <a:lnSpc>
                <a:spcPct val="10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用途：希望在函数里直接修改实际参数的值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361950" lvl="1" indent="-180975">
              <a:lnSpc>
                <a:spcPct val="10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形式参数变量名之前加上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&amp;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则变为传引用参数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361950" lvl="1" indent="-180975">
              <a:lnSpc>
                <a:spcPct val="10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引用参数与实际参数指向同一个内存区域（同一个房间），所以修改引用参数会影响实际参数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361950" lvl="1" indent="-180975">
              <a:lnSpc>
                <a:spcPct val="10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如果函数里定义了传引用参数，在调用时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实际参数必须为变量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180975" indent="-180975">
              <a:lnSpc>
                <a:spcPct val="10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基本类型默认为传值，数组总是传引用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参数的传值与传引用</a:t>
            </a:r>
          </a:p>
        </p:txBody>
      </p:sp>
      <p:sp>
        <p:nvSpPr>
          <p:cNvPr id="8" name="内容占位符 2"/>
          <p:cNvSpPr txBox="1"/>
          <p:nvPr/>
        </p:nvSpPr>
        <p:spPr>
          <a:xfrm>
            <a:off x="8141442" y="1276865"/>
            <a:ext cx="3171826" cy="4276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stdc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++.h&gt;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mySwap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(int 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a,int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b){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t=a;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a=b;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b=t;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main(){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a=3,b=5;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mySwap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&lt;&lt;a&lt;&lt;" "&lt;&lt;b;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altLang="zh-CN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文本框 5"/>
          <p:cNvSpPr txBox="1"/>
          <p:nvPr/>
        </p:nvSpPr>
        <p:spPr>
          <a:xfrm>
            <a:off x="5995938" y="2105431"/>
            <a:ext cx="1581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这里的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的值都被修改了。但因为形式参数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是在函数堆栈中另外分配的内存空间，实际参数中的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并未被修改。</a:t>
            </a:r>
          </a:p>
        </p:txBody>
      </p:sp>
      <p:sp>
        <p:nvSpPr>
          <p:cNvPr id="10" name="文本框 5"/>
          <p:cNvSpPr txBox="1"/>
          <p:nvPr/>
        </p:nvSpPr>
        <p:spPr>
          <a:xfrm>
            <a:off x="5172512" y="4837491"/>
            <a:ext cx="22565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输出：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3 5</a:t>
            </a:r>
            <a:endParaRPr lang="zh-CN" altLang="en-US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文本框 5"/>
          <p:cNvSpPr txBox="1"/>
          <p:nvPr/>
        </p:nvSpPr>
        <p:spPr>
          <a:xfrm>
            <a:off x="9417793" y="2105431"/>
            <a:ext cx="17621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形式参数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为传引用参数，所以在函数堆栈中分配的内存空间里记录了指向实际参数的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的指针，修改形式参数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和，就等于是在修改实际参数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12" name="文本框 5"/>
          <p:cNvSpPr txBox="1"/>
          <p:nvPr/>
        </p:nvSpPr>
        <p:spPr>
          <a:xfrm>
            <a:off x="8599079" y="4837490"/>
            <a:ext cx="22565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输出：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5 3</a:t>
            </a:r>
            <a:endParaRPr lang="zh-CN" altLang="en-US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767319" y="3800678"/>
            <a:ext cx="2005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如果写成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swapThem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(3,5);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会报编译错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4714875" y="1276865"/>
            <a:ext cx="3171826" cy="4361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stdc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++.h&gt;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swapThem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t=a;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a=b;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b=t;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c=10;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main(){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a=3,b=5;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swapThem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&lt;&lt;a&lt;&lt;" "&lt;&lt;b;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altLang="zh-CN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329512" y="1276865"/>
            <a:ext cx="4057737" cy="3323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>
              <a:lnSpc>
                <a:spcPct val="10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全局变量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361950" lvl="1" indent="-180975">
              <a:lnSpc>
                <a:spcPct val="10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定义在函数外面、没有被花括号括起来的变量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361950" lvl="1" indent="-180975">
              <a:lnSpc>
                <a:spcPct val="10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从定义的地方开始，一直到程序文件的最后，都可以使用该变量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361950" lvl="1" indent="-180975">
              <a:lnSpc>
                <a:spcPct val="10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默认初始化为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0</a:t>
            </a:r>
          </a:p>
          <a:p>
            <a:pPr marL="180975" indent="-180975">
              <a:lnSpc>
                <a:spcPct val="10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局部变量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361950" lvl="1" indent="-180975">
              <a:lnSpc>
                <a:spcPct val="10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定义在函数内的为局部变量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361950" lvl="1" indent="-180975">
              <a:lnSpc>
                <a:spcPct val="10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形式参数也是局部变量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361950" lvl="1" indent="-180975">
              <a:lnSpc>
                <a:spcPct val="10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从定义的地方开始，到这个定义所属的代码块结束为止，都可以使用该变量，代码块之外不行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(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既不能读取值，也不能改变值，完全不可见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)</a:t>
            </a:r>
          </a:p>
          <a:p>
            <a:pPr marL="361950" lvl="1" indent="-180975">
              <a:lnSpc>
                <a:spcPct val="10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内层代码块中的变量会屏蔽外层代码块中的同名变量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361950" lvl="1" indent="-180975">
              <a:lnSpc>
                <a:spcPct val="10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定义时的初始值是未知的，在使用之前必须初始化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变量的作用域</a:t>
            </a:r>
          </a:p>
        </p:txBody>
      </p:sp>
      <p:sp>
        <p:nvSpPr>
          <p:cNvPr id="8" name="内容占位符 2"/>
          <p:cNvSpPr txBox="1"/>
          <p:nvPr/>
        </p:nvSpPr>
        <p:spPr>
          <a:xfrm>
            <a:off x="8141442" y="1276865"/>
            <a:ext cx="3171826" cy="4276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stdc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++.h&gt;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main(){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n,cnt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&gt;&gt;n;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for(int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=1,cnt=0;i&lt;=n;++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cnt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cnt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altLang="zh-CN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文本框 5"/>
          <p:cNvSpPr txBox="1"/>
          <p:nvPr/>
        </p:nvSpPr>
        <p:spPr>
          <a:xfrm>
            <a:off x="6126249" y="1848256"/>
            <a:ext cx="16226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这两个全局变量，定义在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swapThem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函数之前，所以函数里能使用它们。</a:t>
            </a:r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被系统默认初始化为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11" name="文本框 5"/>
          <p:cNvSpPr txBox="1"/>
          <p:nvPr/>
        </p:nvSpPr>
        <p:spPr>
          <a:xfrm>
            <a:off x="9565738" y="2141761"/>
            <a:ext cx="2296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循环中定义了一个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cnt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，仅在循环的代码块中可使用，在循环的代码块中屏蔽外层定义的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cnt</a:t>
            </a:r>
            <a:endParaRPr lang="zh-CN" altLang="en-US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720045" y="1848256"/>
            <a:ext cx="865672" cy="2722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739676" y="3595607"/>
            <a:ext cx="865672" cy="2722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067156" y="2447589"/>
            <a:ext cx="865672" cy="8148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5"/>
          <p:cNvSpPr txBox="1"/>
          <p:nvPr/>
        </p:nvSpPr>
        <p:spPr>
          <a:xfrm>
            <a:off x="9392137" y="3244733"/>
            <a:ext cx="2018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输出：不确定</a:t>
            </a:r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因为外层的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cnt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尚未初始化</a:t>
            </a:r>
          </a:p>
        </p:txBody>
      </p:sp>
      <p:sp>
        <p:nvSpPr>
          <p:cNvPr id="12" name="文本框 5"/>
          <p:cNvSpPr txBox="1"/>
          <p:nvPr/>
        </p:nvSpPr>
        <p:spPr>
          <a:xfrm>
            <a:off x="5675361" y="3408619"/>
            <a:ext cx="1732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这个全局变量定义在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swapThem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函数之后，所以函数里不能使用它。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3137</Words>
  <Application>Microsoft Office PowerPoint</Application>
  <PresentationFormat>宽屏</PresentationFormat>
  <Paragraphs>391</Paragraphs>
  <Slides>13</Slides>
  <Notes>0</Notes>
  <HiddenSlides>2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华文楷体</vt:lpstr>
      <vt:lpstr>微软雅黑</vt:lpstr>
      <vt:lpstr>Arial</vt:lpstr>
      <vt:lpstr>Consolas</vt:lpstr>
      <vt:lpstr>Tw Cen MT</vt:lpstr>
      <vt:lpstr>Wingdings</vt:lpstr>
      <vt:lpstr>电路</vt:lpstr>
      <vt:lpstr>NOIP 语言基础（十一）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谢谢大家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青 林</cp:lastModifiedBy>
  <cp:revision>622</cp:revision>
  <dcterms:created xsi:type="dcterms:W3CDTF">2018-08-09T00:16:00Z</dcterms:created>
  <dcterms:modified xsi:type="dcterms:W3CDTF">2025-03-15T04:04:14Z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C2D2F6AB66354DF68D540BCC3342ECEE</vt:lpwstr>
  </property>
  <property fmtid="{D5CDD505-2E9C-101B-9397-08002B2CF9AE}" pid="3" name="KSOProductBuildVer">
    <vt:lpwstr>2052-11.1.0.10700</vt:lpwstr>
  </property>
</Properties>
</file>