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81" r:id="rId2"/>
    <p:sldId id="348" r:id="rId3"/>
    <p:sldId id="362" r:id="rId4"/>
    <p:sldId id="640" r:id="rId5"/>
    <p:sldId id="637" r:id="rId6"/>
    <p:sldId id="638" r:id="rId7"/>
    <p:sldId id="639" r:id="rId8"/>
    <p:sldId id="261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5">
          <p15:clr>
            <a:srgbClr val="A4A3A4"/>
          </p15:clr>
        </p15:guide>
        <p15:guide id="2" pos="387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855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702" y="144"/>
      </p:cViewPr>
      <p:guideLst>
        <p:guide orient="horz" pos="2145"/>
        <p:guide pos="3873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11/16/2024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11/16/2024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11/16/2024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 panose="020B0603020202020204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 panose="020B0603020202020204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11/16/2024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11/16/2024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8609" y="7541"/>
            <a:ext cx="10368800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8612" y="1486111"/>
            <a:ext cx="10368800" cy="51044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0" name="文本框 49"/>
          <p:cNvSpPr txBox="1"/>
          <p:nvPr userDrawn="1"/>
        </p:nvSpPr>
        <p:spPr>
          <a:xfrm>
            <a:off x="10057394" y="6282804"/>
            <a:ext cx="19800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1" name="图片 50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1346105" y="5731394"/>
            <a:ext cx="547200" cy="5514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字符数组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文本框 5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注意：请大家关闭自己的麦克风和摄像头</a:t>
            </a:r>
          </a:p>
        </p:txBody>
      </p:sp>
    </p:spTree>
    <p:extLst>
      <p:ext uri="{BB962C8B-B14F-4D97-AF65-F5344CB8AC3E}">
        <p14:creationId xmlns:p14="http://schemas.microsoft.com/office/powerpoint/2010/main" val="948786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片包含 文字&#10;&#10;自动生成的说明">
            <a:extLst>
              <a:ext uri="{FF2B5EF4-FFF2-40B4-BE49-F238E27FC236}">
                <a16:creationId xmlns:a16="http://schemas.microsoft.com/office/drawing/2014/main" id="{AB5EE649-ACF1-4051-9C75-A1ACBBA91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681" y="1232491"/>
            <a:ext cx="7909849" cy="5398610"/>
          </a:xfrm>
          <a:prstGeom prst="rect">
            <a:avLst/>
          </a:prstGeom>
        </p:spPr>
      </p:pic>
      <p:sp>
        <p:nvSpPr>
          <p:cNvPr id="6" name="文本框 23">
            <a:extLst>
              <a:ext uri="{FF2B5EF4-FFF2-40B4-BE49-F238E27FC236}">
                <a16:creationId xmlns:a16="http://schemas.microsoft.com/office/drawing/2014/main" id="{B7105A8F-A01F-4303-8294-8961A21C45DE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ASCII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码表</a:t>
            </a:r>
          </a:p>
        </p:txBody>
      </p:sp>
    </p:spTree>
    <p:extLst>
      <p:ext uri="{BB962C8B-B14F-4D97-AF65-F5344CB8AC3E}">
        <p14:creationId xmlns:p14="http://schemas.microsoft.com/office/powerpoint/2010/main" val="3476631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ASCII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变换</a:t>
            </a:r>
          </a:p>
        </p:txBody>
      </p:sp>
      <p:sp>
        <p:nvSpPr>
          <p:cNvPr id="8" name="矩形 7"/>
          <p:cNvSpPr/>
          <p:nvPr/>
        </p:nvSpPr>
        <p:spPr>
          <a:xfrm>
            <a:off x="431988" y="1310322"/>
            <a:ext cx="4573400" cy="2642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题目要求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给定一个字符串，对于其中的每个字符：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如果是小写字母，输出它之前的那个字母（如果是 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 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则输出 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z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）；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如果是大写字母，输出它之后的那个字母（如果是 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Z 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则输出 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）；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如果是数字字符，输出与它相加等于 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9 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的那个数字。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其他字符则原封不动地输出。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81EDB3F-961A-C793-1EF4-4BD272B74F3E}"/>
              </a:ext>
            </a:extLst>
          </p:cNvPr>
          <p:cNvSpPr txBox="1"/>
          <p:nvPr/>
        </p:nvSpPr>
        <p:spPr>
          <a:xfrm>
            <a:off x="431988" y="4253517"/>
            <a:ext cx="2515673" cy="1072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输入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一个长度不超过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1000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，不包含空白字符的字符串。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E09CDDF-95F1-2F94-6D6B-5C11535356C6}"/>
              </a:ext>
            </a:extLst>
          </p:cNvPr>
          <p:cNvSpPr txBox="1"/>
          <p:nvPr/>
        </p:nvSpPr>
        <p:spPr>
          <a:xfrm>
            <a:off x="2947661" y="4253517"/>
            <a:ext cx="2148599" cy="1026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输出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一行，依次为输入的每个字符按要求变换的结果。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E4D8F7FE-5AF4-A141-0CA2-9D79859DEFAB}"/>
              </a:ext>
            </a:extLst>
          </p:cNvPr>
          <p:cNvSpPr txBox="1"/>
          <p:nvPr/>
        </p:nvSpPr>
        <p:spPr>
          <a:xfrm>
            <a:off x="431013" y="5571548"/>
            <a:ext cx="1816731" cy="6496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zh-CN" altLang="en-US" sz="1400" dirty="0">
                <a:latin typeface="Consolas" panose="020B0609020204030204" pitchFamily="49" charset="0"/>
              </a:rPr>
              <a:t>样例输入</a:t>
            </a:r>
            <a:r>
              <a:rPr lang="en-US" altLang="zh-CN" sz="1400" dirty="0">
                <a:latin typeface="Consolas" panose="020B0609020204030204" pitchFamily="49" charset="0"/>
              </a:rPr>
              <a:t>1</a:t>
            </a:r>
            <a:r>
              <a:rPr lang="zh-CN" altLang="en-US" sz="1400" dirty="0">
                <a:latin typeface="Consolas" panose="020B0609020204030204" pitchFamily="49" charset="0"/>
              </a:rPr>
              <a:t>：</a:t>
            </a:r>
            <a:endParaRPr lang="en-US" altLang="zh-CN" sz="1400" dirty="0">
              <a:latin typeface="Consolas" panose="020B0609020204030204" pitchFamily="49" charset="0"/>
            </a:endParaRPr>
          </a:p>
          <a:p>
            <a:r>
              <a:rPr lang="en-US" altLang="zh-CN" sz="1400" dirty="0">
                <a:latin typeface="Consolas" panose="020B0609020204030204" pitchFamily="49" charset="0"/>
              </a:rPr>
              <a:t>axZB520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1FB0BE8-F23A-A843-251A-C3544AE7EDD2}"/>
              </a:ext>
            </a:extLst>
          </p:cNvPr>
          <p:cNvSpPr/>
          <p:nvPr/>
        </p:nvSpPr>
        <p:spPr>
          <a:xfrm>
            <a:off x="2946686" y="5571548"/>
            <a:ext cx="2005713" cy="5759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defTabSz="914400">
              <a:buSzPct val="125000"/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样例输出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：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>
              <a:buSzPct val="125000"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zwAC479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3217D09-C7FB-E7B5-D2E6-4A7CFF87F4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4330" y="1310322"/>
            <a:ext cx="4674962" cy="449122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23">
            <a:extLst>
              <a:ext uri="{FF2B5EF4-FFF2-40B4-BE49-F238E27FC236}">
                <a16:creationId xmlns:a16="http://schemas.microsoft.com/office/drawing/2014/main" id="{B7105A8F-A01F-4303-8294-8961A21C45DE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判断回文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028C42E-69D7-4593-9497-2DE249299BB3}"/>
              </a:ext>
            </a:extLst>
          </p:cNvPr>
          <p:cNvSpPr/>
          <p:nvPr/>
        </p:nvSpPr>
        <p:spPr>
          <a:xfrm>
            <a:off x="678610" y="1322347"/>
            <a:ext cx="4377043" cy="1349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题目要求</a:t>
            </a:r>
            <a:endParaRPr lang="en-US" altLang="zh-CN" sz="1400" b="1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回文是顺读和倒读都一样的字符串。输入一个字符串，判断是否为回文，是则输出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YES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，否则输出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NO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。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字符串中没有空白字符，长度不超过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100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。</a:t>
            </a:r>
            <a:endParaRPr lang="zh-CN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2A52BB9-297E-4388-8C1F-7A2088BD3E87}"/>
              </a:ext>
            </a:extLst>
          </p:cNvPr>
          <p:cNvSpPr txBox="1"/>
          <p:nvPr/>
        </p:nvSpPr>
        <p:spPr>
          <a:xfrm>
            <a:off x="674399" y="2745672"/>
            <a:ext cx="2285044" cy="1026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输入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一个长度不超过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100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，不包含空白字符的字符串 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。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FE8681E-47A6-5BA7-D041-48E532166983}"/>
              </a:ext>
            </a:extLst>
          </p:cNvPr>
          <p:cNvSpPr txBox="1"/>
          <p:nvPr/>
        </p:nvSpPr>
        <p:spPr>
          <a:xfrm>
            <a:off x="3054151" y="2745672"/>
            <a:ext cx="2085006" cy="1026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输出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如果 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 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是回文串，输出 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YES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，否则输出 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NO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。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62C373FC-934C-EE5A-C041-5C62C1E5E9C3}"/>
              </a:ext>
            </a:extLst>
          </p:cNvPr>
          <p:cNvSpPr txBox="1"/>
          <p:nvPr/>
        </p:nvSpPr>
        <p:spPr>
          <a:xfrm>
            <a:off x="674399" y="3925344"/>
            <a:ext cx="2285044" cy="5759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zh-CN" altLang="en-US" sz="1400" dirty="0">
                <a:latin typeface="Consolas" panose="020B0609020204030204" pitchFamily="49" charset="0"/>
              </a:rPr>
              <a:t>样例输入</a:t>
            </a:r>
            <a:r>
              <a:rPr lang="en-US" altLang="zh-CN" sz="1400" dirty="0">
                <a:latin typeface="Consolas" panose="020B0609020204030204" pitchFamily="49" charset="0"/>
              </a:rPr>
              <a:t>1</a:t>
            </a:r>
            <a:r>
              <a:rPr lang="zh-CN" altLang="en-US" sz="1400" dirty="0">
                <a:latin typeface="Consolas" panose="020B0609020204030204" pitchFamily="49" charset="0"/>
              </a:rPr>
              <a:t>：</a:t>
            </a:r>
            <a:endParaRPr lang="en-US" altLang="zh-CN" sz="1400" dirty="0">
              <a:latin typeface="Consolas" panose="020B0609020204030204" pitchFamily="49" charset="0"/>
            </a:endParaRPr>
          </a:p>
          <a:p>
            <a:r>
              <a:rPr lang="en-US" altLang="zh-CN" sz="1400" dirty="0" err="1">
                <a:latin typeface="Consolas" panose="020B0609020204030204" pitchFamily="49" charset="0"/>
              </a:rPr>
              <a:t>abcdcba</a:t>
            </a:r>
            <a:endParaRPr lang="en-US" altLang="zh-CN" sz="1400" dirty="0">
              <a:latin typeface="Consolas" panose="020B0609020204030204" pitchFamily="49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FCFC3F9-408C-A9D9-3B11-945D41579BC0}"/>
              </a:ext>
            </a:extLst>
          </p:cNvPr>
          <p:cNvSpPr/>
          <p:nvPr/>
        </p:nvSpPr>
        <p:spPr>
          <a:xfrm>
            <a:off x="3054150" y="3925344"/>
            <a:ext cx="2085006" cy="5759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defTabSz="914400">
              <a:buSzPct val="125000"/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样例输出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：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>
              <a:buSzPct val="125000"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YES</a:t>
            </a:r>
          </a:p>
        </p:txBody>
      </p:sp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E1E934C7-6C8E-905C-EC07-84A2FABADA11}"/>
              </a:ext>
            </a:extLst>
          </p:cNvPr>
          <p:cNvSpPr txBox="1"/>
          <p:nvPr/>
        </p:nvSpPr>
        <p:spPr>
          <a:xfrm>
            <a:off x="674399" y="4655786"/>
            <a:ext cx="2285044" cy="5759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zh-CN" altLang="en-US" sz="1400" dirty="0">
                <a:latin typeface="Consolas" panose="020B0609020204030204" pitchFamily="49" charset="0"/>
              </a:rPr>
              <a:t>样例输入</a:t>
            </a:r>
            <a:r>
              <a:rPr lang="en-US" altLang="zh-CN" sz="1400" dirty="0">
                <a:latin typeface="Consolas" panose="020B0609020204030204" pitchFamily="49" charset="0"/>
              </a:rPr>
              <a:t>2</a:t>
            </a:r>
            <a:r>
              <a:rPr lang="zh-CN" altLang="en-US" sz="1400" dirty="0">
                <a:latin typeface="Consolas" panose="020B0609020204030204" pitchFamily="49" charset="0"/>
              </a:rPr>
              <a:t>：</a:t>
            </a:r>
            <a:endParaRPr lang="en-US" altLang="zh-CN" sz="1400" dirty="0">
              <a:latin typeface="Consolas" panose="020B0609020204030204" pitchFamily="49" charset="0"/>
            </a:endParaRPr>
          </a:p>
          <a:p>
            <a:r>
              <a:rPr lang="en-US" altLang="zh-CN" sz="1400" dirty="0" err="1">
                <a:latin typeface="Consolas" panose="020B0609020204030204" pitchFamily="49" charset="0"/>
              </a:rPr>
              <a:t>abcdefg</a:t>
            </a:r>
            <a:endParaRPr lang="en-US" altLang="zh-CN" sz="1400" dirty="0">
              <a:latin typeface="Consolas" panose="020B0609020204030204" pitchFamily="49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82B6CB3-CEAA-DC8D-54A0-8FEAB72F3805}"/>
              </a:ext>
            </a:extLst>
          </p:cNvPr>
          <p:cNvSpPr/>
          <p:nvPr/>
        </p:nvSpPr>
        <p:spPr>
          <a:xfrm>
            <a:off x="3054150" y="4648609"/>
            <a:ext cx="2085006" cy="5759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defTabSz="914400">
              <a:buSzPct val="125000"/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样例输出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：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>
              <a:buSzPct val="125000"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NO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CE9A51CF-6A99-4067-DC37-32AF5CF5E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609" y="5377727"/>
            <a:ext cx="3262336" cy="376240"/>
          </a:xfrm>
          <a:prstGeom prst="rect">
            <a:avLst/>
          </a:prstGeom>
        </p:spPr>
      </p:pic>
      <p:sp>
        <p:nvSpPr>
          <p:cNvPr id="24" name="内容占位符 2">
            <a:extLst>
              <a:ext uri="{FF2B5EF4-FFF2-40B4-BE49-F238E27FC236}">
                <a16:creationId xmlns:a16="http://schemas.microsoft.com/office/drawing/2014/main" id="{B3C05FAF-6518-F751-FD47-D5DE5D5D079C}"/>
              </a:ext>
            </a:extLst>
          </p:cNvPr>
          <p:cNvSpPr txBox="1"/>
          <p:nvPr/>
        </p:nvSpPr>
        <p:spPr>
          <a:xfrm>
            <a:off x="678609" y="5910102"/>
            <a:ext cx="1011962" cy="6463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en-US" altLang="zh-CN" dirty="0">
                <a:latin typeface="Consolas" panose="020B0609020204030204" pitchFamily="49" charset="0"/>
              </a:rPr>
              <a:t>s[0]==s[6]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s[1]==s[5]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s[2]==s[4]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3519BBBE-9A05-540A-2CD1-F11F70B5DF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9765" y="1321350"/>
            <a:ext cx="3101058" cy="210272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483C3CC-9B1F-C342-C299-67239A740A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0291" y="3772171"/>
            <a:ext cx="3105056" cy="2507663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438DD8D8-11E9-B837-8F46-A39256114D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5373" y="1321350"/>
            <a:ext cx="3101059" cy="3077916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B4E81D95-04FF-D617-CA70-EF4C63FD1C01}"/>
              </a:ext>
            </a:extLst>
          </p:cNvPr>
          <p:cNvSpPr txBox="1"/>
          <p:nvPr/>
        </p:nvSpPr>
        <p:spPr>
          <a:xfrm>
            <a:off x="1816921" y="5908464"/>
            <a:ext cx="2324753" cy="6496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zh-CN" altLang="en-US" dirty="0"/>
              <a:t>从前向后</a:t>
            </a:r>
            <a:r>
              <a:rPr lang="en-US" altLang="zh-CN" dirty="0"/>
              <a:t>+</a:t>
            </a:r>
            <a:r>
              <a:rPr lang="zh-CN" altLang="en-US" dirty="0"/>
              <a:t>从后向前，每一对字符都相等，才是回文；期间只要出现一次不相等，就不是回文。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37697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造回文串</a:t>
            </a:r>
          </a:p>
        </p:txBody>
      </p:sp>
      <p:sp>
        <p:nvSpPr>
          <p:cNvPr id="8" name="矩形 7"/>
          <p:cNvSpPr/>
          <p:nvPr/>
        </p:nvSpPr>
        <p:spPr>
          <a:xfrm>
            <a:off x="431988" y="1310322"/>
            <a:ext cx="4678175" cy="200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小明最近迷上了回文串。所谓回文串，说的是如果一个字符串从左往右读和从右往左读都完全一样，那这个字符串就是回文串。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光是欣赏还不够，他还要动手把得到的字符串都变成回文串。他的方法是，在原字符串的中间位置开始，依次替换为该位置左边从右向左的每个字符。例如，</a:t>
            </a:r>
            <a:r>
              <a:rPr lang="en-US" altLang="zh-CN" sz="12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abcdefg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→ </a:t>
            </a:r>
            <a:r>
              <a:rPr lang="en-US" altLang="zh-CN" sz="12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abcdcba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。注意，生成的回文字符串必须与原串一样长。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请帮助他用这个方法把输入的字符串变成回文串。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8EF0C194-F29E-BE66-BA11-71E4D3A5F52B}"/>
              </a:ext>
            </a:extLst>
          </p:cNvPr>
          <p:cNvSpPr txBox="1"/>
          <p:nvPr/>
        </p:nvSpPr>
        <p:spPr>
          <a:xfrm>
            <a:off x="431988" y="4946293"/>
            <a:ext cx="1816731" cy="6496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zh-CN" altLang="en-US" dirty="0">
                <a:latin typeface="Consolas" panose="020B0609020204030204" pitchFamily="49" charset="0"/>
              </a:rPr>
              <a:t>样例输入</a:t>
            </a:r>
            <a:r>
              <a:rPr lang="en-US" altLang="zh-CN" dirty="0">
                <a:latin typeface="Consolas" panose="020B0609020204030204" pitchFamily="49" charset="0"/>
              </a:rPr>
              <a:t>1</a:t>
            </a:r>
            <a:r>
              <a:rPr lang="zh-CN" altLang="en-US" dirty="0">
                <a:latin typeface="Consolas" panose="020B0609020204030204" pitchFamily="49" charset="0"/>
              </a:rPr>
              <a:t>：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 err="1">
                <a:latin typeface="Consolas" panose="020B0609020204030204" pitchFamily="49" charset="0"/>
              </a:rPr>
              <a:t>abcdefg</a:t>
            </a:r>
            <a:endParaRPr lang="en-US" altLang="zh-CN" dirty="0">
              <a:latin typeface="Consolas" panose="020B0609020204030204" pitchFamily="49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6FFD8F6-A41C-BFF3-6868-3478B229C6F7}"/>
              </a:ext>
            </a:extLst>
          </p:cNvPr>
          <p:cNvSpPr/>
          <p:nvPr/>
        </p:nvSpPr>
        <p:spPr>
          <a:xfrm>
            <a:off x="3671888" y="4946293"/>
            <a:ext cx="1438276" cy="5759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defTabSz="914400">
              <a:buSzPct val="125000"/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样例输出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：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>
              <a:buSzPct val="125000"/>
            </a:pPr>
            <a:r>
              <a:rPr lang="en-US" altLang="zh-CN" sz="12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abcdcba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EA57D6A-E8FE-51F5-42F7-C72403AA2E1D}"/>
              </a:ext>
            </a:extLst>
          </p:cNvPr>
          <p:cNvSpPr txBox="1"/>
          <p:nvPr/>
        </p:nvSpPr>
        <p:spPr>
          <a:xfrm>
            <a:off x="3671887" y="3543806"/>
            <a:ext cx="1438276" cy="893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输出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一行，根据题意造出的回文字符串。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20F083C-8798-A939-1555-94599F5CA9B0}"/>
              </a:ext>
            </a:extLst>
          </p:cNvPr>
          <p:cNvSpPr txBox="1"/>
          <p:nvPr/>
        </p:nvSpPr>
        <p:spPr>
          <a:xfrm>
            <a:off x="431988" y="3543806"/>
            <a:ext cx="3135125" cy="1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输入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一行，一个长度不超过 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100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的字符串，字符串至少包含一个字符，每个字符都是字母、数字、下划线其中之一。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12F2399D-7628-FB87-0A85-B9889041361C}"/>
              </a:ext>
            </a:extLst>
          </p:cNvPr>
          <p:cNvSpPr txBox="1"/>
          <p:nvPr/>
        </p:nvSpPr>
        <p:spPr>
          <a:xfrm>
            <a:off x="431987" y="5517599"/>
            <a:ext cx="1816731" cy="6496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zh-CN" altLang="en-US" dirty="0">
                <a:latin typeface="Consolas" panose="020B0609020204030204" pitchFamily="49" charset="0"/>
              </a:rPr>
              <a:t>样例输入</a:t>
            </a:r>
            <a:r>
              <a:rPr lang="en-US" altLang="zh-CN" dirty="0">
                <a:latin typeface="Consolas" panose="020B0609020204030204" pitchFamily="49" charset="0"/>
              </a:rPr>
              <a:t>2</a:t>
            </a:r>
            <a:r>
              <a:rPr lang="zh-CN" altLang="en-US" dirty="0">
                <a:latin typeface="Consolas" panose="020B0609020204030204" pitchFamily="49" charset="0"/>
              </a:rPr>
              <a:t>：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 err="1">
                <a:latin typeface="Consolas" panose="020B0609020204030204" pitchFamily="49" charset="0"/>
              </a:rPr>
              <a:t>abcdefgh</a:t>
            </a:r>
            <a:endParaRPr lang="en-US" altLang="zh-CN" dirty="0">
              <a:latin typeface="Consolas" panose="020B0609020204030204" pitchFamily="49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2ECACBE-485A-3787-9E83-0391AE920519}"/>
              </a:ext>
            </a:extLst>
          </p:cNvPr>
          <p:cNvSpPr/>
          <p:nvPr/>
        </p:nvSpPr>
        <p:spPr>
          <a:xfrm>
            <a:off x="3671887" y="5517599"/>
            <a:ext cx="1438276" cy="5759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defTabSz="914400">
              <a:buSzPct val="125000"/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样例输出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：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>
              <a:buSzPct val="125000"/>
            </a:pPr>
            <a:r>
              <a:rPr lang="en-US" altLang="zh-CN" sz="12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abcddcba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23" name="内容占位符 2">
            <a:extLst>
              <a:ext uri="{FF2B5EF4-FFF2-40B4-BE49-F238E27FC236}">
                <a16:creationId xmlns:a16="http://schemas.microsoft.com/office/drawing/2014/main" id="{99DCFF15-18C8-C32F-7DF1-F0C84954A830}"/>
              </a:ext>
            </a:extLst>
          </p:cNvPr>
          <p:cNvSpPr txBox="1"/>
          <p:nvPr/>
        </p:nvSpPr>
        <p:spPr>
          <a:xfrm>
            <a:off x="9094785" y="1310322"/>
            <a:ext cx="2355093" cy="11868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en-US" altLang="zh-CN" dirty="0">
                <a:latin typeface="Consolas" panose="020B0609020204030204" pitchFamily="49" charset="0"/>
              </a:rPr>
              <a:t>s[6]=s[0]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s[5]=s[1]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s[4]=</a:t>
            </a:r>
            <a:r>
              <a:rPr lang="en-US" altLang="zh-CN">
                <a:latin typeface="Consolas" panose="020B0609020204030204" pitchFamily="49" charset="0"/>
              </a:rPr>
              <a:t>s[2]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从前向后的每一个字符，复制到从后向前的每一个位置，一直到复制的源头和复制的目标重合。</a:t>
            </a:r>
            <a:endParaRPr lang="en-US" altLang="zh-CN" dirty="0">
              <a:latin typeface="Consolas" panose="020B0609020204030204" pitchFamily="49" charset="0"/>
            </a:endParaRP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DBEA28A9-E83F-52D8-3208-5F4866235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7946" y="1463224"/>
            <a:ext cx="3395687" cy="881069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2382B067-F033-C23E-8EFF-FC706355E7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7945" y="2926293"/>
            <a:ext cx="3747254" cy="2433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602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字符串左移</a:t>
            </a:r>
          </a:p>
        </p:txBody>
      </p:sp>
      <p:sp>
        <p:nvSpPr>
          <p:cNvPr id="8" name="矩形 7"/>
          <p:cNvSpPr/>
          <p:nvPr/>
        </p:nvSpPr>
        <p:spPr>
          <a:xfrm>
            <a:off x="431988" y="1310322"/>
            <a:ext cx="4678175" cy="10264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将字符串的第一个字符移到最后变成一个新的字符串，这种操作叫做字符串左移一位。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请你将给定的字符串 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 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左移一位后输出。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8EF0C194-F29E-BE66-BA11-71E4D3A5F52B}"/>
              </a:ext>
            </a:extLst>
          </p:cNvPr>
          <p:cNvSpPr txBox="1"/>
          <p:nvPr/>
        </p:nvSpPr>
        <p:spPr>
          <a:xfrm>
            <a:off x="431988" y="3939537"/>
            <a:ext cx="1816731" cy="6496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zh-CN" altLang="en-US" sz="1400" dirty="0">
                <a:latin typeface="Consolas" panose="020B0609020204030204" pitchFamily="49" charset="0"/>
              </a:rPr>
              <a:t>样例输入</a:t>
            </a:r>
            <a:r>
              <a:rPr lang="en-US" altLang="zh-CN" sz="1400" dirty="0">
                <a:latin typeface="Consolas" panose="020B0609020204030204" pitchFamily="49" charset="0"/>
              </a:rPr>
              <a:t>1</a:t>
            </a:r>
            <a:r>
              <a:rPr lang="zh-CN" altLang="en-US" sz="1400" dirty="0">
                <a:latin typeface="Consolas" panose="020B0609020204030204" pitchFamily="49" charset="0"/>
              </a:rPr>
              <a:t>：</a:t>
            </a:r>
            <a:endParaRPr lang="en-US" altLang="zh-CN" sz="1400" dirty="0">
              <a:latin typeface="Consolas" panose="020B0609020204030204" pitchFamily="49" charset="0"/>
            </a:endParaRPr>
          </a:p>
          <a:p>
            <a:r>
              <a:rPr lang="en-US" altLang="zh-CN" sz="1400" dirty="0">
                <a:latin typeface="Consolas" panose="020B0609020204030204" pitchFamily="49" charset="0"/>
              </a:rPr>
              <a:t>We love dogs.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6FFD8F6-A41C-BFF3-6868-3478B229C6F7}"/>
              </a:ext>
            </a:extLst>
          </p:cNvPr>
          <p:cNvSpPr/>
          <p:nvPr/>
        </p:nvSpPr>
        <p:spPr>
          <a:xfrm>
            <a:off x="2675045" y="3939537"/>
            <a:ext cx="2005713" cy="5759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defTabSz="914400">
              <a:buSzPct val="125000"/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样例输出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：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>
              <a:buSzPct val="125000"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 love 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dogs.W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EA57D6A-E8FE-51F5-42F7-C72403AA2E1D}"/>
              </a:ext>
            </a:extLst>
          </p:cNvPr>
          <p:cNvSpPr txBox="1"/>
          <p:nvPr/>
        </p:nvSpPr>
        <p:spPr>
          <a:xfrm>
            <a:off x="2675046" y="2570534"/>
            <a:ext cx="2435117" cy="703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输出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将 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 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左移一位后输出。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20F083C-8798-A939-1555-94599F5CA9B0}"/>
              </a:ext>
            </a:extLst>
          </p:cNvPr>
          <p:cNvSpPr txBox="1"/>
          <p:nvPr/>
        </p:nvSpPr>
        <p:spPr>
          <a:xfrm>
            <a:off x="431988" y="2570534"/>
            <a:ext cx="2243057" cy="1026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输入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一个长度不超过 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100 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的字符串 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。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AA2C0616-C192-DF96-0D2A-2D07DF000406}"/>
              </a:ext>
            </a:extLst>
          </p:cNvPr>
          <p:cNvSpPr txBox="1"/>
          <p:nvPr/>
        </p:nvSpPr>
        <p:spPr>
          <a:xfrm>
            <a:off x="5982106" y="4180105"/>
            <a:ext cx="1115770" cy="24839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en-US" altLang="zh-CN" dirty="0">
                <a:latin typeface="Consolas" panose="020B0609020204030204" pitchFamily="49" charset="0"/>
              </a:rPr>
              <a:t>s[0]=s[1]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s[1]=s[2]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s[2]=s[3]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s[3]=s[4]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s[4]=s[5]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s[5]=s[6]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s[6]=s[7]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s[7]=s[8]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s[8]=s[9]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s[9]=s[10]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s[10]=s[11]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s[11]=s[12]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s[12]=s[0]</a:t>
            </a:r>
          </a:p>
        </p:txBody>
      </p:sp>
      <p:sp>
        <p:nvSpPr>
          <p:cNvPr id="16" name="内容占位符 2">
            <a:extLst>
              <a:ext uri="{FF2B5EF4-FFF2-40B4-BE49-F238E27FC236}">
                <a16:creationId xmlns:a16="http://schemas.microsoft.com/office/drawing/2014/main" id="{DCE62117-7129-646D-DB07-64C43149D4F1}"/>
              </a:ext>
            </a:extLst>
          </p:cNvPr>
          <p:cNvSpPr txBox="1"/>
          <p:nvPr/>
        </p:nvSpPr>
        <p:spPr>
          <a:xfrm>
            <a:off x="7097876" y="5016609"/>
            <a:ext cx="1366163" cy="8108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en-US" altLang="zh-CN" dirty="0">
                <a:latin typeface="Consolas" panose="020B0609020204030204" pitchFamily="49" charset="0"/>
              </a:rPr>
              <a:t>s[0]</a:t>
            </a:r>
            <a:r>
              <a:rPr lang="zh-CN" altLang="en-US" dirty="0">
                <a:latin typeface="Consolas" panose="020B0609020204030204" pitchFamily="49" charset="0"/>
              </a:rPr>
              <a:t>最后才用到，但第一个被赋值，为避免被覆盖丢失，要先备份</a:t>
            </a:r>
            <a:endParaRPr lang="en-US" altLang="zh-CN" dirty="0">
              <a:latin typeface="Consolas" panose="020B0609020204030204" pitchFamily="49" charset="0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53A71844-FDA9-37BE-8AE7-933067129F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5178" y="1310321"/>
            <a:ext cx="3004817" cy="3023139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1CB5ACB0-36B7-3F87-16C4-65FECA3A8A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5814" y="1310321"/>
            <a:ext cx="2989364" cy="257052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088D7FA-23F6-C263-6715-CB5397A2AB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987" y="4993408"/>
            <a:ext cx="5289822" cy="857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088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加法求和</a:t>
            </a:r>
          </a:p>
        </p:txBody>
      </p:sp>
      <p:sp>
        <p:nvSpPr>
          <p:cNvPr id="8" name="矩形 7"/>
          <p:cNvSpPr/>
          <p:nvPr/>
        </p:nvSpPr>
        <p:spPr>
          <a:xfrm>
            <a:off x="431988" y="1310322"/>
            <a:ext cx="4678175" cy="3801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输入一个加法算式，求其计算结果并输出。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8EF0C194-F29E-BE66-BA11-71E4D3A5F52B}"/>
              </a:ext>
            </a:extLst>
          </p:cNvPr>
          <p:cNvSpPr txBox="1"/>
          <p:nvPr/>
        </p:nvSpPr>
        <p:spPr>
          <a:xfrm>
            <a:off x="431988" y="3939537"/>
            <a:ext cx="1816731" cy="6496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zh-CN" altLang="en-US" sz="1400" dirty="0">
                <a:latin typeface="Consolas" panose="020B0609020204030204" pitchFamily="49" charset="0"/>
              </a:rPr>
              <a:t>样例输入</a:t>
            </a:r>
            <a:r>
              <a:rPr lang="en-US" altLang="zh-CN" sz="1400" dirty="0">
                <a:latin typeface="Consolas" panose="020B0609020204030204" pitchFamily="49" charset="0"/>
              </a:rPr>
              <a:t>1</a:t>
            </a:r>
            <a:r>
              <a:rPr lang="zh-CN" altLang="en-US" sz="1400" dirty="0">
                <a:latin typeface="Consolas" panose="020B0609020204030204" pitchFamily="49" charset="0"/>
              </a:rPr>
              <a:t>：</a:t>
            </a:r>
            <a:endParaRPr lang="en-US" altLang="zh-CN" sz="1400" dirty="0">
              <a:latin typeface="Consolas" panose="020B0609020204030204" pitchFamily="49" charset="0"/>
            </a:endParaRPr>
          </a:p>
          <a:p>
            <a:r>
              <a:rPr lang="en-US" altLang="zh-CN" sz="1400" dirty="0">
                <a:latin typeface="Consolas" panose="020B0609020204030204" pitchFamily="49" charset="0"/>
              </a:rPr>
              <a:t>3615+97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6FFD8F6-A41C-BFF3-6868-3478B229C6F7}"/>
              </a:ext>
            </a:extLst>
          </p:cNvPr>
          <p:cNvSpPr/>
          <p:nvPr/>
        </p:nvSpPr>
        <p:spPr>
          <a:xfrm>
            <a:off x="2675045" y="3939537"/>
            <a:ext cx="2005713" cy="5759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defTabSz="914400">
              <a:buSzPct val="125000"/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样例输出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：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>
              <a:buSzPct val="125000"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3712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EA57D6A-E8FE-51F5-42F7-C72403AA2E1D}"/>
              </a:ext>
            </a:extLst>
          </p:cNvPr>
          <p:cNvSpPr txBox="1"/>
          <p:nvPr/>
        </p:nvSpPr>
        <p:spPr>
          <a:xfrm>
            <a:off x="2671618" y="1991360"/>
            <a:ext cx="2435117" cy="703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输出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计算 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a+b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的结果并输出。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20F083C-8798-A939-1555-94599F5CA9B0}"/>
              </a:ext>
            </a:extLst>
          </p:cNvPr>
          <p:cNvSpPr txBox="1"/>
          <p:nvPr/>
        </p:nvSpPr>
        <p:spPr>
          <a:xfrm>
            <a:off x="428574" y="1995958"/>
            <a:ext cx="2243057" cy="1672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输入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一个形如“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a+b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”，长度不超过 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 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的字符串 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，其中 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 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和 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 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分别为两个整数。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AA2C0616-C192-DF96-0D2A-2D07DF000406}"/>
              </a:ext>
            </a:extLst>
          </p:cNvPr>
          <p:cNvSpPr txBox="1"/>
          <p:nvPr/>
        </p:nvSpPr>
        <p:spPr>
          <a:xfrm>
            <a:off x="5459222" y="5404747"/>
            <a:ext cx="1434275" cy="13704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  s[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]  a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     0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0  '3'   3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1  '6'   36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2  '1'   361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3  '5'   3615</a:t>
            </a:r>
          </a:p>
          <a:p>
            <a:endParaRPr lang="en-US" altLang="zh-CN" dirty="0">
              <a:latin typeface="Consolas" panose="020B0609020204030204" pitchFamily="49" charset="0"/>
            </a:endParaRPr>
          </a:p>
        </p:txBody>
      </p:sp>
      <p:sp>
        <p:nvSpPr>
          <p:cNvPr id="16" name="内容占位符 2">
            <a:extLst>
              <a:ext uri="{FF2B5EF4-FFF2-40B4-BE49-F238E27FC236}">
                <a16:creationId xmlns:a16="http://schemas.microsoft.com/office/drawing/2014/main" id="{DCE62117-7129-646D-DB07-64C43149D4F1}"/>
              </a:ext>
            </a:extLst>
          </p:cNvPr>
          <p:cNvSpPr txBox="1"/>
          <p:nvPr/>
        </p:nvSpPr>
        <p:spPr>
          <a:xfrm>
            <a:off x="431988" y="4891496"/>
            <a:ext cx="4363532" cy="119845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zh-CN" altLang="en-US" dirty="0">
                <a:latin typeface="Consolas" panose="020B0609020204030204" pitchFamily="49" charset="0"/>
              </a:rPr>
              <a:t>程序分为两个部分，分别从字符串中提取 </a:t>
            </a:r>
            <a:r>
              <a:rPr lang="en-US" altLang="zh-CN" dirty="0">
                <a:latin typeface="Consolas" panose="020B0609020204030204" pitchFamily="49" charset="0"/>
              </a:rPr>
              <a:t>a </a:t>
            </a:r>
            <a:r>
              <a:rPr lang="zh-CN" altLang="en-US" dirty="0">
                <a:latin typeface="Consolas" panose="020B0609020204030204" pitchFamily="49" charset="0"/>
              </a:rPr>
              <a:t>和 </a:t>
            </a:r>
            <a:r>
              <a:rPr lang="en-US" altLang="zh-CN" dirty="0">
                <a:latin typeface="Consolas" panose="020B0609020204030204" pitchFamily="49" charset="0"/>
              </a:rPr>
              <a:t>b </a:t>
            </a:r>
            <a:r>
              <a:rPr lang="zh-CN" altLang="en-US" dirty="0">
                <a:latin typeface="Consolas" panose="020B0609020204030204" pitchFamily="49" charset="0"/>
              </a:rPr>
              <a:t>的值，提取逻辑是一样的：每得到一个新的数字字符，就将其拼接在</a:t>
            </a:r>
            <a:r>
              <a:rPr lang="en-US" altLang="zh-CN" dirty="0">
                <a:latin typeface="Consolas" panose="020B0609020204030204" pitchFamily="49" charset="0"/>
              </a:rPr>
              <a:t>a</a:t>
            </a:r>
            <a:r>
              <a:rPr lang="zh-CN" altLang="en-US" dirty="0">
                <a:latin typeface="Consolas" panose="020B0609020204030204" pitchFamily="49" charset="0"/>
              </a:rPr>
              <a:t>或</a:t>
            </a:r>
            <a:r>
              <a:rPr lang="en-US" altLang="zh-CN" dirty="0">
                <a:latin typeface="Consolas" panose="020B0609020204030204" pitchFamily="49" charset="0"/>
              </a:rPr>
              <a:t>b</a:t>
            </a:r>
            <a:r>
              <a:rPr lang="zh-CN" altLang="en-US" dirty="0">
                <a:latin typeface="Consolas" panose="020B0609020204030204" pitchFamily="49" charset="0"/>
              </a:rPr>
              <a:t>之后。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“拼接在 </a:t>
            </a:r>
            <a:r>
              <a:rPr lang="en-US" altLang="zh-CN" dirty="0">
                <a:latin typeface="Consolas" panose="020B0609020204030204" pitchFamily="49" charset="0"/>
              </a:rPr>
              <a:t>a </a:t>
            </a:r>
            <a:r>
              <a:rPr lang="zh-CN" altLang="en-US" dirty="0">
                <a:latin typeface="Consolas" panose="020B0609020204030204" pitchFamily="49" charset="0"/>
              </a:rPr>
              <a:t>之后”的意思是“变成新的 </a:t>
            </a:r>
            <a:r>
              <a:rPr lang="en-US" altLang="zh-CN" dirty="0">
                <a:latin typeface="Consolas" panose="020B0609020204030204" pitchFamily="49" charset="0"/>
              </a:rPr>
              <a:t>a </a:t>
            </a:r>
            <a:r>
              <a:rPr lang="zh-CN" altLang="en-US" dirty="0">
                <a:latin typeface="Consolas" panose="020B0609020204030204" pitchFamily="49" charset="0"/>
              </a:rPr>
              <a:t>的个位”，所以之前的 </a:t>
            </a:r>
            <a:r>
              <a:rPr lang="en-US" altLang="zh-CN" dirty="0">
                <a:latin typeface="Consolas" panose="020B0609020204030204" pitchFamily="49" charset="0"/>
              </a:rPr>
              <a:t>a </a:t>
            </a:r>
            <a:r>
              <a:rPr lang="zh-CN" altLang="en-US" dirty="0">
                <a:latin typeface="Consolas" panose="020B0609020204030204" pitchFamily="49" charset="0"/>
              </a:rPr>
              <a:t>需要乘以 </a:t>
            </a:r>
            <a:r>
              <a:rPr lang="en-US" altLang="zh-CN" dirty="0">
                <a:latin typeface="Consolas" panose="020B0609020204030204" pitchFamily="49" charset="0"/>
              </a:rPr>
              <a:t>10</a:t>
            </a:r>
            <a:r>
              <a:rPr lang="zh-CN" altLang="en-US" dirty="0">
                <a:latin typeface="Consolas" panose="020B0609020204030204" pitchFamily="49" charset="0"/>
              </a:rPr>
              <a:t>，以便腾出个位的位置。</a:t>
            </a:r>
            <a:endParaRPr lang="en-US" altLang="zh-CN" dirty="0">
              <a:latin typeface="Consolas" panose="020B0609020204030204" pitchFamily="49" charset="0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5C790187-7FD9-0D4E-C569-52C2CF81AE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9222" y="1310321"/>
            <a:ext cx="3327212" cy="3304345"/>
          </a:xfrm>
          <a:prstGeom prst="rect">
            <a:avLst/>
          </a:prstGeom>
        </p:spPr>
      </p:pic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EFD3CBA0-CAD7-6402-475C-50D320D81254}"/>
              </a:ext>
            </a:extLst>
          </p:cNvPr>
          <p:cNvSpPr txBox="1"/>
          <p:nvPr/>
        </p:nvSpPr>
        <p:spPr>
          <a:xfrm>
            <a:off x="7203482" y="5404746"/>
            <a:ext cx="1434274" cy="13704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  s[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]  b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     0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5  '9'   9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6  '7'   97</a:t>
            </a:r>
          </a:p>
          <a:p>
            <a:endParaRPr lang="en-US" altLang="zh-CN" dirty="0">
              <a:latin typeface="Consolas" panose="020B0609020204030204" pitchFamily="49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3DE7B7A-B3CE-464E-9C22-A9A4A6A0A3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944" y="4891496"/>
            <a:ext cx="3029106" cy="330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066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谢谢大家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注意：请大家关闭自己的麦克风和摄像头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电路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4525</TotalTime>
  <Words>928</Words>
  <Application>Microsoft Office PowerPoint</Application>
  <PresentationFormat>宽屏</PresentationFormat>
  <Paragraphs>109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华文楷体</vt:lpstr>
      <vt:lpstr>Arial</vt:lpstr>
      <vt:lpstr>Consolas</vt:lpstr>
      <vt:lpstr>Tw Cen MT</vt:lpstr>
      <vt:lpstr>电路</vt:lpstr>
      <vt:lpstr>字符数组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谢谢大家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NOIP 入门习题精讲 - 09</dc:title>
  <dc:creator>Minren Guan</dc:creator>
  <cp:lastModifiedBy>青 林</cp:lastModifiedBy>
  <cp:revision>380</cp:revision>
  <dcterms:created xsi:type="dcterms:W3CDTF">2018-08-09T00:16:00Z</dcterms:created>
  <dcterms:modified xsi:type="dcterms:W3CDTF">2024-11-16T12:52:56Z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3F4C9B3D74A7499CBC3E5D04972B6390</vt:lpwstr>
  </property>
  <property fmtid="{D5CDD505-2E9C-101B-9397-08002B2CF9AE}" pid="3" name="KSOProductBuildVer">
    <vt:lpwstr>2052-11.1.0.10938</vt:lpwstr>
  </property>
</Properties>
</file>