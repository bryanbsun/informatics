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81" r:id="rId2"/>
    <p:sldId id="389" r:id="rId3"/>
    <p:sldId id="424" r:id="rId4"/>
    <p:sldId id="425" r:id="rId5"/>
    <p:sldId id="390" r:id="rId6"/>
    <p:sldId id="419" r:id="rId7"/>
    <p:sldId id="420" r:id="rId8"/>
    <p:sldId id="421" r:id="rId9"/>
    <p:sldId id="422" r:id="rId10"/>
    <p:sldId id="423" r:id="rId11"/>
    <p:sldId id="261" r:id="rId12"/>
  </p:sldIdLst>
  <p:sldSz cx="12192000" cy="6858000"/>
  <p:notesSz cx="6858000" cy="9144000"/>
  <p:defaultTextStyle>
    <a:defPPr>
      <a:defRPr lang="en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2A124E-8819-7948-BE2A-40E1DAE31C8B}" v="1776" dt="2026-03-23T09:56:12.1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8796" autoAdjust="0"/>
    <p:restoredTop sz="91528" autoAdjust="0"/>
  </p:normalViewPr>
  <p:slideViewPr>
    <p:cSldViewPr snapToGrid="0">
      <p:cViewPr varScale="1">
        <p:scale>
          <a:sx n="92" d="100"/>
          <a:sy n="92" d="100"/>
        </p:scale>
        <p:origin x="200" y="18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yan Sun" userId="851caa7714272873" providerId="LiveId" clId="{1DF0C224-3A3E-55A6-A8D1-F8F2208D385B}"/>
    <pc:docChg chg="undo custSel modSld">
      <pc:chgData name="Bryan Sun" userId="851caa7714272873" providerId="LiveId" clId="{1DF0C224-3A3E-55A6-A8D1-F8F2208D385B}" dt="2026-03-23T09:56:12.152" v="1937" actId="20577"/>
      <pc:docMkLst>
        <pc:docMk/>
      </pc:docMkLst>
      <pc:sldChg chg="modSp mod">
        <pc:chgData name="Bryan Sun" userId="851caa7714272873" providerId="LiveId" clId="{1DF0C224-3A3E-55A6-A8D1-F8F2208D385B}" dt="2026-03-23T09:48:08.811" v="1758" actId="121"/>
        <pc:sldMkLst>
          <pc:docMk/>
          <pc:sldMk cId="750359541" sldId="261"/>
        </pc:sldMkLst>
        <pc:spChg chg="mod">
          <ac:chgData name="Bryan Sun" userId="851caa7714272873" providerId="LiveId" clId="{1DF0C224-3A3E-55A6-A8D1-F8F2208D385B}" dt="2026-03-23T09:48:08.811" v="1758" actId="121"/>
          <ac:spMkLst>
            <pc:docMk/>
            <pc:sldMk cId="750359541" sldId="261"/>
            <ac:spMk id="4" creationId="{00000000-0000-0000-0000-000000000000}"/>
          </ac:spMkLst>
        </pc:spChg>
      </pc:sldChg>
      <pc:sldChg chg="modSp mod">
        <pc:chgData name="Bryan Sun" userId="851caa7714272873" providerId="LiveId" clId="{1DF0C224-3A3E-55A6-A8D1-F8F2208D385B}" dt="2026-03-23T09:15:19.972" v="8" actId="121"/>
        <pc:sldMkLst>
          <pc:docMk/>
          <pc:sldMk cId="948786294" sldId="281"/>
        </pc:sldMkLst>
        <pc:spChg chg="mod">
          <ac:chgData name="Bryan Sun" userId="851caa7714272873" providerId="LiveId" clId="{1DF0C224-3A3E-55A6-A8D1-F8F2208D385B}" dt="2026-03-23T09:15:19.972" v="8" actId="121"/>
          <ac:spMkLst>
            <pc:docMk/>
            <pc:sldMk cId="948786294" sldId="281"/>
            <ac:spMk id="4" creationId="{00000000-0000-0000-0000-000000000000}"/>
          </ac:spMkLst>
        </pc:spChg>
      </pc:sldChg>
      <pc:sldChg chg="modSp mod">
        <pc:chgData name="Bryan Sun" userId="851caa7714272873" providerId="LiveId" clId="{1DF0C224-3A3E-55A6-A8D1-F8F2208D385B}" dt="2026-03-23T09:24:08.066" v="215" actId="27636"/>
        <pc:sldMkLst>
          <pc:docMk/>
          <pc:sldMk cId="1281322328" sldId="389"/>
        </pc:sldMkLst>
        <pc:spChg chg="mod">
          <ac:chgData name="Bryan Sun" userId="851caa7714272873" providerId="LiveId" clId="{1DF0C224-3A3E-55A6-A8D1-F8F2208D385B}" dt="2026-03-23T09:15:32.862" v="9" actId="2711"/>
          <ac:spMkLst>
            <pc:docMk/>
            <pc:sldMk cId="1281322328" sldId="389"/>
            <ac:spMk id="2" creationId="{42D00FBD-1222-496C-8A0C-0B68A7CB6094}"/>
          </ac:spMkLst>
        </pc:spChg>
        <pc:spChg chg="mod">
          <ac:chgData name="Bryan Sun" userId="851caa7714272873" providerId="LiveId" clId="{1DF0C224-3A3E-55A6-A8D1-F8F2208D385B}" dt="2026-03-23T09:24:08.066" v="215" actId="27636"/>
          <ac:spMkLst>
            <pc:docMk/>
            <pc:sldMk cId="1281322328" sldId="389"/>
            <ac:spMk id="3" creationId="{364B6489-5513-4724-81F7-F874B8C60D21}"/>
          </ac:spMkLst>
        </pc:spChg>
      </pc:sldChg>
      <pc:sldChg chg="modSp mod">
        <pc:chgData name="Bryan Sun" userId="851caa7714272873" providerId="LiveId" clId="{1DF0C224-3A3E-55A6-A8D1-F8F2208D385B}" dt="2026-03-23T09:28:42.776" v="447" actId="6549"/>
        <pc:sldMkLst>
          <pc:docMk/>
          <pc:sldMk cId="4151301841" sldId="390"/>
        </pc:sldMkLst>
        <pc:spChg chg="mod">
          <ac:chgData name="Bryan Sun" userId="851caa7714272873" providerId="LiveId" clId="{1DF0C224-3A3E-55A6-A8D1-F8F2208D385B}" dt="2026-03-23T09:27:08.772" v="352" actId="6549"/>
          <ac:spMkLst>
            <pc:docMk/>
            <pc:sldMk cId="4151301841" sldId="390"/>
            <ac:spMk id="2" creationId="{42D00FBD-1222-496C-8A0C-0B68A7CB6094}"/>
          </ac:spMkLst>
        </pc:spChg>
        <pc:spChg chg="mod">
          <ac:chgData name="Bryan Sun" userId="851caa7714272873" providerId="LiveId" clId="{1DF0C224-3A3E-55A6-A8D1-F8F2208D385B}" dt="2026-03-23T09:28:42.776" v="447" actId="6549"/>
          <ac:spMkLst>
            <pc:docMk/>
            <pc:sldMk cId="4151301841" sldId="390"/>
            <ac:spMk id="3" creationId="{364B6489-5513-4724-81F7-F874B8C60D21}"/>
          </ac:spMkLst>
        </pc:spChg>
      </pc:sldChg>
      <pc:sldChg chg="modSp mod modAnim">
        <pc:chgData name="Bryan Sun" userId="851caa7714272873" providerId="LiveId" clId="{1DF0C224-3A3E-55A6-A8D1-F8F2208D385B}" dt="2026-03-23T09:50:50.183" v="1820" actId="6549"/>
        <pc:sldMkLst>
          <pc:docMk/>
          <pc:sldMk cId="293583679" sldId="419"/>
        </pc:sldMkLst>
        <pc:spChg chg="mod">
          <ac:chgData name="Bryan Sun" userId="851caa7714272873" providerId="LiveId" clId="{1DF0C224-3A3E-55A6-A8D1-F8F2208D385B}" dt="2026-03-23T09:30:19.225" v="510" actId="6549"/>
          <ac:spMkLst>
            <pc:docMk/>
            <pc:sldMk cId="293583679" sldId="419"/>
            <ac:spMk id="2" creationId="{42D00FBD-1222-496C-8A0C-0B68A7CB6094}"/>
          </ac:spMkLst>
        </pc:spChg>
        <pc:spChg chg="mod">
          <ac:chgData name="Bryan Sun" userId="851caa7714272873" providerId="LiveId" clId="{1DF0C224-3A3E-55A6-A8D1-F8F2208D385B}" dt="2026-03-23T09:50:50.183" v="1820" actId="6549"/>
          <ac:spMkLst>
            <pc:docMk/>
            <pc:sldMk cId="293583679" sldId="419"/>
            <ac:spMk id="3" creationId="{364B6489-5513-4724-81F7-F874B8C60D21}"/>
          </ac:spMkLst>
        </pc:spChg>
      </pc:sldChg>
      <pc:sldChg chg="modSp mod addAnim delAnim modAnim">
        <pc:chgData name="Bryan Sun" userId="851caa7714272873" providerId="LiveId" clId="{1DF0C224-3A3E-55A6-A8D1-F8F2208D385B}" dt="2026-03-23T09:52:25.555" v="1846" actId="114"/>
        <pc:sldMkLst>
          <pc:docMk/>
          <pc:sldMk cId="1036083925" sldId="420"/>
        </pc:sldMkLst>
        <pc:spChg chg="mod">
          <ac:chgData name="Bryan Sun" userId="851caa7714272873" providerId="LiveId" clId="{1DF0C224-3A3E-55A6-A8D1-F8F2208D385B}" dt="2026-03-23T09:32:44.101" v="675" actId="2711"/>
          <ac:spMkLst>
            <pc:docMk/>
            <pc:sldMk cId="1036083925" sldId="420"/>
            <ac:spMk id="2" creationId="{42D00FBD-1222-496C-8A0C-0B68A7CB6094}"/>
          </ac:spMkLst>
        </pc:spChg>
        <pc:spChg chg="mod">
          <ac:chgData name="Bryan Sun" userId="851caa7714272873" providerId="LiveId" clId="{1DF0C224-3A3E-55A6-A8D1-F8F2208D385B}" dt="2026-03-23T09:52:25.555" v="1846" actId="114"/>
          <ac:spMkLst>
            <pc:docMk/>
            <pc:sldMk cId="1036083925" sldId="420"/>
            <ac:spMk id="3" creationId="{364B6489-5513-4724-81F7-F874B8C60D21}"/>
          </ac:spMkLst>
        </pc:spChg>
      </pc:sldChg>
      <pc:sldChg chg="modSp mod modAnim">
        <pc:chgData name="Bryan Sun" userId="851caa7714272873" providerId="LiveId" clId="{1DF0C224-3A3E-55A6-A8D1-F8F2208D385B}" dt="2026-03-23T09:53:28.559" v="1879" actId="114"/>
        <pc:sldMkLst>
          <pc:docMk/>
          <pc:sldMk cId="3105971564" sldId="421"/>
        </pc:sldMkLst>
        <pc:spChg chg="mod">
          <ac:chgData name="Bryan Sun" userId="851caa7714272873" providerId="LiveId" clId="{1DF0C224-3A3E-55A6-A8D1-F8F2208D385B}" dt="2026-03-23T09:36:39.211" v="1028" actId="2711"/>
          <ac:spMkLst>
            <pc:docMk/>
            <pc:sldMk cId="3105971564" sldId="421"/>
            <ac:spMk id="2" creationId="{42D00FBD-1222-496C-8A0C-0B68A7CB6094}"/>
          </ac:spMkLst>
        </pc:spChg>
        <pc:spChg chg="mod">
          <ac:chgData name="Bryan Sun" userId="851caa7714272873" providerId="LiveId" clId="{1DF0C224-3A3E-55A6-A8D1-F8F2208D385B}" dt="2026-03-23T09:53:28.559" v="1879" actId="114"/>
          <ac:spMkLst>
            <pc:docMk/>
            <pc:sldMk cId="3105971564" sldId="421"/>
            <ac:spMk id="3" creationId="{364B6489-5513-4724-81F7-F874B8C60D21}"/>
          </ac:spMkLst>
        </pc:spChg>
      </pc:sldChg>
      <pc:sldChg chg="modSp mod modAnim">
        <pc:chgData name="Bryan Sun" userId="851caa7714272873" providerId="LiveId" clId="{1DF0C224-3A3E-55A6-A8D1-F8F2208D385B}" dt="2026-03-23T09:55:13.076" v="1917" actId="114"/>
        <pc:sldMkLst>
          <pc:docMk/>
          <pc:sldMk cId="177179520" sldId="422"/>
        </pc:sldMkLst>
        <pc:spChg chg="mod">
          <ac:chgData name="Bryan Sun" userId="851caa7714272873" providerId="LiveId" clId="{1DF0C224-3A3E-55A6-A8D1-F8F2208D385B}" dt="2026-03-23T09:39:26.920" v="1191" actId="2711"/>
          <ac:spMkLst>
            <pc:docMk/>
            <pc:sldMk cId="177179520" sldId="422"/>
            <ac:spMk id="2" creationId="{42D00FBD-1222-496C-8A0C-0B68A7CB6094}"/>
          </ac:spMkLst>
        </pc:spChg>
        <pc:spChg chg="mod">
          <ac:chgData name="Bryan Sun" userId="851caa7714272873" providerId="LiveId" clId="{1DF0C224-3A3E-55A6-A8D1-F8F2208D385B}" dt="2026-03-23T09:55:13.076" v="1917" actId="114"/>
          <ac:spMkLst>
            <pc:docMk/>
            <pc:sldMk cId="177179520" sldId="422"/>
            <ac:spMk id="3" creationId="{364B6489-5513-4724-81F7-F874B8C60D21}"/>
          </ac:spMkLst>
        </pc:spChg>
      </pc:sldChg>
      <pc:sldChg chg="modSp mod modAnim">
        <pc:chgData name="Bryan Sun" userId="851caa7714272873" providerId="LiveId" clId="{1DF0C224-3A3E-55A6-A8D1-F8F2208D385B}" dt="2026-03-23T09:56:12.152" v="1937" actId="20577"/>
        <pc:sldMkLst>
          <pc:docMk/>
          <pc:sldMk cId="333195723" sldId="423"/>
        </pc:sldMkLst>
        <pc:spChg chg="mod">
          <ac:chgData name="Bryan Sun" userId="851caa7714272873" providerId="LiveId" clId="{1DF0C224-3A3E-55A6-A8D1-F8F2208D385B}" dt="2026-03-23T09:45:24.881" v="1502" actId="2711"/>
          <ac:spMkLst>
            <pc:docMk/>
            <pc:sldMk cId="333195723" sldId="423"/>
            <ac:spMk id="2" creationId="{42D00FBD-1222-496C-8A0C-0B68A7CB6094}"/>
          </ac:spMkLst>
        </pc:spChg>
        <pc:spChg chg="mod">
          <ac:chgData name="Bryan Sun" userId="851caa7714272873" providerId="LiveId" clId="{1DF0C224-3A3E-55A6-A8D1-F8F2208D385B}" dt="2026-03-23T09:56:12.152" v="1937" actId="20577"/>
          <ac:spMkLst>
            <pc:docMk/>
            <pc:sldMk cId="333195723" sldId="423"/>
            <ac:spMk id="3" creationId="{364B6489-5513-4724-81F7-F874B8C60D21}"/>
          </ac:spMkLst>
        </pc:spChg>
      </pc:sldChg>
      <pc:sldChg chg="modSp mod">
        <pc:chgData name="Bryan Sun" userId="851caa7714272873" providerId="LiveId" clId="{1DF0C224-3A3E-55A6-A8D1-F8F2208D385B}" dt="2026-03-23T09:48:52.088" v="1759" actId="114"/>
        <pc:sldMkLst>
          <pc:docMk/>
          <pc:sldMk cId="633323522" sldId="424"/>
        </pc:sldMkLst>
        <pc:spChg chg="mod">
          <ac:chgData name="Bryan Sun" userId="851caa7714272873" providerId="LiveId" clId="{1DF0C224-3A3E-55A6-A8D1-F8F2208D385B}" dt="2026-03-23T09:24:33.592" v="227" actId="6549"/>
          <ac:spMkLst>
            <pc:docMk/>
            <pc:sldMk cId="633323522" sldId="424"/>
            <ac:spMk id="2" creationId="{42D00FBD-1222-496C-8A0C-0B68A7CB6094}"/>
          </ac:spMkLst>
        </pc:spChg>
        <pc:spChg chg="mod">
          <ac:chgData name="Bryan Sun" userId="851caa7714272873" providerId="LiveId" clId="{1DF0C224-3A3E-55A6-A8D1-F8F2208D385B}" dt="2026-03-23T09:48:52.088" v="1759" actId="114"/>
          <ac:spMkLst>
            <pc:docMk/>
            <pc:sldMk cId="633323522" sldId="424"/>
            <ac:spMk id="3" creationId="{364B6489-5513-4724-81F7-F874B8C60D21}"/>
          </ac:spMkLst>
        </pc:spChg>
        <pc:graphicFrameChg chg="mod">
          <ac:chgData name="Bryan Sun" userId="851caa7714272873" providerId="LiveId" clId="{1DF0C224-3A3E-55A6-A8D1-F8F2208D385B}" dt="2026-03-23T09:24:26.263" v="216" actId="2711"/>
          <ac:graphicFrameMkLst>
            <pc:docMk/>
            <pc:sldMk cId="633323522" sldId="424"/>
            <ac:graphicFrameMk id="4" creationId="{48C47461-11F8-49B7-85BE-C323896DAFBA}"/>
          </ac:graphicFrameMkLst>
        </pc:graphicFrameChg>
        <pc:graphicFrameChg chg="mod">
          <ac:chgData name="Bryan Sun" userId="851caa7714272873" providerId="LiveId" clId="{1DF0C224-3A3E-55A6-A8D1-F8F2208D385B}" dt="2026-03-23T09:24:26.263" v="216" actId="2711"/>
          <ac:graphicFrameMkLst>
            <pc:docMk/>
            <pc:sldMk cId="633323522" sldId="424"/>
            <ac:graphicFrameMk id="6" creationId="{277ED080-29F6-4053-9F87-D029DCA4186F}"/>
          </ac:graphicFrameMkLst>
        </pc:graphicFrameChg>
      </pc:sldChg>
      <pc:sldChg chg="modSp">
        <pc:chgData name="Bryan Sun" userId="851caa7714272873" providerId="LiveId" clId="{1DF0C224-3A3E-55A6-A8D1-F8F2208D385B}" dt="2026-03-23T09:49:40.547" v="1763" actId="114"/>
        <pc:sldMkLst>
          <pc:docMk/>
          <pc:sldMk cId="1654107089" sldId="425"/>
        </pc:sldMkLst>
        <pc:spChg chg="mod">
          <ac:chgData name="Bryan Sun" userId="851caa7714272873" providerId="LiveId" clId="{1DF0C224-3A3E-55A6-A8D1-F8F2208D385B}" dt="2026-03-23T09:25:37.749" v="244" actId="2711"/>
          <ac:spMkLst>
            <pc:docMk/>
            <pc:sldMk cId="1654107089" sldId="425"/>
            <ac:spMk id="2" creationId="{42D00FBD-1222-496C-8A0C-0B68A7CB6094}"/>
          </ac:spMkLst>
        </pc:spChg>
        <pc:spChg chg="mod">
          <ac:chgData name="Bryan Sun" userId="851caa7714272873" providerId="LiveId" clId="{1DF0C224-3A3E-55A6-A8D1-F8F2208D385B}" dt="2026-03-23T09:49:40.547" v="1763" actId="114"/>
          <ac:spMkLst>
            <pc:docMk/>
            <pc:sldMk cId="1654107089" sldId="425"/>
            <ac:spMk id="3" creationId="{364B6489-5513-4724-81F7-F874B8C60D2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11B5F-5A72-4726-AC3F-C438D330BC78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0F2C92-0232-4362-81DA-2203573C83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4875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3/23/26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3/23/26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3/23/26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3/23/26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3/23/26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>
            <a:extLst>
              <a:ext uri="{FF2B5EF4-FFF2-40B4-BE49-F238E27FC236}">
                <a16:creationId xmlns:a16="http://schemas.microsoft.com/office/drawing/2014/main" id="{130B2939-4C80-4B53-A9F0-B6A7EC450041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8612" y="1486111"/>
            <a:ext cx="10368800" cy="5104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30C60AA-6FA4-4C93-AB01-EB959B7F178F}"/>
              </a:ext>
            </a:extLst>
          </p:cNvPr>
          <p:cNvSpPr txBox="1"/>
          <p:nvPr userDrawn="1"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D2271CAA-D55D-4D42-A776-E7EC3C72185F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" altLang="en-US" dirty="0"/>
              <a:t>greedy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9033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Mr.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Gao's Algorithm </a:t>
            </a:r>
          </a:p>
          <a:p>
            <a:pPr algn="r"/>
            <a:r>
              <a:rPr lang="e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Competition Training Camp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文本框 5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en-US" sz="1600" dirty="0">
                <a:latin typeface="+mj-ea"/>
                <a:ea typeface="+mj-ea"/>
              </a:rPr>
              <a:t>Note: Please turn off your microphone and camera.</a:t>
            </a:r>
          </a:p>
        </p:txBody>
      </p:sp>
    </p:spTree>
    <p:extLst>
      <p:ext uri="{BB962C8B-B14F-4D97-AF65-F5344CB8AC3E}">
        <p14:creationId xmlns:p14="http://schemas.microsoft.com/office/powerpoint/2010/main" val="948786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What is a greedy algorithm?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>
            <a:normAutofit fontScale="92500" lnSpcReduction="10000"/>
          </a:bodyPr>
          <a:lstStyle/>
          <a:p>
            <a:r>
              <a:rPr lang="en" altLang="en-US" dirty="0">
                <a:latin typeface="Aptos Display" panose="020B0004020202020204" pitchFamily="34" charset="0"/>
              </a:rPr>
              <a:t>Greedy algorithms are a problem-solving strategy that starts from the initial state of a problem and </a:t>
            </a:r>
            <a:r>
              <a:rPr lang="en-US" altLang="zh-CN" dirty="0">
                <a:latin typeface="Aptos Display" panose="020B0004020202020204" pitchFamily="34" charset="0"/>
              </a:rPr>
              <a:t>arrive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at</a:t>
            </a:r>
            <a:r>
              <a:rPr lang="en" altLang="en-US" dirty="0">
                <a:latin typeface="Aptos Display" panose="020B0004020202020204" pitchFamily="34" charset="0"/>
              </a:rPr>
              <a:t> the optimal (or </a:t>
            </a:r>
            <a:r>
              <a:rPr lang="en-US" altLang="zh-CN" dirty="0" err="1">
                <a:latin typeface="Aptos Display" panose="020B0004020202020204" pitchFamily="34" charset="0"/>
              </a:rPr>
              <a:t>subo</a:t>
            </a:r>
            <a:r>
              <a:rPr lang="en" altLang="en-US" dirty="0" err="1">
                <a:latin typeface="Aptos Display" panose="020B0004020202020204" pitchFamily="34" charset="0"/>
              </a:rPr>
              <a:t>ptimal</a:t>
            </a:r>
            <a:r>
              <a:rPr lang="en" altLang="en-US" dirty="0">
                <a:latin typeface="Aptos Display" panose="020B0004020202020204" pitchFamily="34" charset="0"/>
              </a:rPr>
              <a:t>) solution through several </a:t>
            </a:r>
            <a:r>
              <a:rPr lang="en-US" altLang="zh-CN" dirty="0">
                <a:latin typeface="Aptos Display" panose="020B0004020202020204" pitchFamily="34" charset="0"/>
              </a:rPr>
              <a:t>steps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of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" altLang="en-US" dirty="0">
                <a:latin typeface="Aptos Display" panose="020B0004020202020204" pitchFamily="34" charset="0"/>
              </a:rPr>
              <a:t>greedy choices.</a:t>
            </a:r>
            <a:endParaRPr lang="en-US" altLang="zh-CN" dirty="0">
              <a:latin typeface="Aptos Display" panose="020B0004020202020204" pitchFamily="34" charset="0"/>
            </a:endParaRPr>
          </a:p>
          <a:p>
            <a:r>
              <a:rPr lang="en" altLang="en-US" dirty="0">
                <a:latin typeface="Aptos Display" panose="020B0004020202020204" pitchFamily="34" charset="0"/>
              </a:rPr>
              <a:t>Each step yields a locally optimal or </a:t>
            </a:r>
            <a:r>
              <a:rPr lang="en-US" altLang="zh-CN" dirty="0">
                <a:latin typeface="Aptos Display" panose="020B0004020202020204" pitchFamily="34" charset="0"/>
              </a:rPr>
              <a:t>sub</a:t>
            </a:r>
            <a:r>
              <a:rPr lang="en" altLang="en-US" dirty="0">
                <a:latin typeface="Aptos Display" panose="020B0004020202020204" pitchFamily="34" charset="0"/>
              </a:rPr>
              <a:t>optimal solution in some sense.</a:t>
            </a:r>
            <a:endParaRPr lang="en-US" altLang="zh-CN" dirty="0">
              <a:latin typeface="Aptos Display" panose="020B0004020202020204" pitchFamily="34" charset="0"/>
            </a:endParaRPr>
          </a:p>
          <a:p>
            <a:r>
              <a:rPr lang="en" altLang="en-US" dirty="0">
                <a:latin typeface="Aptos Display" panose="020B0004020202020204" pitchFamily="34" charset="0"/>
              </a:rPr>
              <a:t>Greedy algorithms cannot </a:t>
            </a:r>
            <a:r>
              <a:rPr lang="en-US" altLang="zh-CN" dirty="0">
                <a:latin typeface="Aptos Display" panose="020B0004020202020204" pitchFamily="34" charset="0"/>
              </a:rPr>
              <a:t>guarantee</a:t>
            </a:r>
            <a:r>
              <a:rPr lang="en" altLang="en-US" dirty="0">
                <a:latin typeface="Aptos Display" panose="020B0004020202020204" pitchFamily="34" charset="0"/>
              </a:rPr>
              <a:t> the globally optimal solution for all problems.</a:t>
            </a:r>
            <a:endParaRPr lang="en-US" altLang="zh-CN" dirty="0">
              <a:latin typeface="Aptos Display" panose="020B0004020202020204" pitchFamily="34" charset="0"/>
            </a:endParaRPr>
          </a:p>
          <a:p>
            <a:r>
              <a:rPr lang="en" altLang="en-US" dirty="0">
                <a:latin typeface="Aptos Display" panose="020B0004020202020204" pitchFamily="34" charset="0"/>
              </a:rPr>
              <a:t>Advantages: Fast! Disadvantages: </a:t>
            </a:r>
            <a:r>
              <a:rPr lang="en-US" altLang="zh-CN" dirty="0">
                <a:latin typeface="Aptos Display" panose="020B0004020202020204" pitchFamily="34" charset="0"/>
              </a:rPr>
              <a:t>Only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generates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suboptimal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overall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solutions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for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m</a:t>
            </a:r>
            <a:r>
              <a:rPr lang="en" altLang="en-US" dirty="0" err="1">
                <a:latin typeface="Aptos Display" panose="020B0004020202020204" pitchFamily="34" charset="0"/>
              </a:rPr>
              <a:t>ost</a:t>
            </a:r>
            <a:r>
              <a:rPr lang="en" altLang="en-US" dirty="0">
                <a:latin typeface="Aptos Display" panose="020B0004020202020204" pitchFamily="34" charset="0"/>
              </a:rPr>
              <a:t> problems.</a:t>
            </a:r>
            <a:endParaRPr lang="en-US" altLang="zh-CN" dirty="0">
              <a:latin typeface="Aptos Display" panose="020B0004020202020204" pitchFamily="34" charset="0"/>
            </a:endParaRPr>
          </a:p>
          <a:p>
            <a:r>
              <a:rPr lang="en" altLang="en-US" dirty="0">
                <a:latin typeface="Aptos Display" panose="020B0004020202020204" pitchFamily="34" charset="0"/>
              </a:rPr>
              <a:t>Correctness of greedy algorithms requires rigorous proof.</a:t>
            </a:r>
            <a:endParaRPr lang="en-US" altLang="zh-CN" dirty="0">
              <a:latin typeface="Aptos Display" panose="020B0004020202020204" pitchFamily="34" charset="0"/>
            </a:endParaRPr>
          </a:p>
          <a:p>
            <a:r>
              <a:rPr lang="en" altLang="en-US" dirty="0">
                <a:latin typeface="Aptos Display" panose="020B0004020202020204" pitchFamily="34" charset="0"/>
              </a:rPr>
              <a:t>Greedy algorithms do not have a fixed algorithm framework; the key is the design of the greedy strategy.</a:t>
            </a:r>
            <a:endParaRPr lang="en-US" altLang="zh-CN" dirty="0">
              <a:latin typeface="Aptos Display" panose="020B0004020202020204" pitchFamily="34" charset="0"/>
            </a:endParaRPr>
          </a:p>
          <a:p>
            <a:r>
              <a:rPr lang="en" altLang="en-US" dirty="0">
                <a:latin typeface="Aptos Display" panose="020B0004020202020204" pitchFamily="34" charset="0"/>
              </a:rPr>
              <a:t>Greedy </a:t>
            </a:r>
            <a:r>
              <a:rPr lang="en-US" altLang="zh-CN" dirty="0">
                <a:latin typeface="Aptos Display" panose="020B0004020202020204" pitchFamily="34" charset="0"/>
              </a:rPr>
              <a:t>decisions</a:t>
            </a:r>
            <a:r>
              <a:rPr lang="en" altLang="en-US" dirty="0">
                <a:latin typeface="Aptos Display" panose="020B0004020202020204" pitchFamily="34" charset="0"/>
              </a:rPr>
              <a:t> must </a:t>
            </a:r>
            <a:r>
              <a:rPr lang="en-US" altLang="zh-CN" dirty="0">
                <a:latin typeface="Aptos Display" panose="020B0004020202020204" pitchFamily="34" charset="0"/>
              </a:rPr>
              <a:t>be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‘</a:t>
            </a:r>
            <a:r>
              <a:rPr lang="en" altLang="en-US" dirty="0">
                <a:latin typeface="Aptos Display" panose="020B0004020202020204" pitchFamily="34" charset="0"/>
              </a:rPr>
              <a:t>no aftereffect</a:t>
            </a:r>
            <a:r>
              <a:rPr lang="en-US" altLang="zh-CN" dirty="0">
                <a:latin typeface="Aptos Display" panose="020B0004020202020204" pitchFamily="34" charset="0"/>
              </a:rPr>
              <a:t>’</a:t>
            </a:r>
            <a:r>
              <a:rPr lang="en" altLang="en-US" dirty="0">
                <a:latin typeface="Aptos Display" panose="020B0004020202020204" pitchFamily="34" charset="0"/>
              </a:rPr>
              <a:t>, and problem</a:t>
            </a:r>
            <a:r>
              <a:rPr lang="en-US" altLang="zh-CN" dirty="0">
                <a:latin typeface="Aptos Display" panose="020B0004020202020204" pitchFamily="34" charset="0"/>
              </a:rPr>
              <a:t>s</a:t>
            </a:r>
            <a:r>
              <a:rPr lang="en" altLang="en-US" dirty="0">
                <a:latin typeface="Aptos Display" panose="020B0004020202020204" pitchFamily="34" charset="0"/>
              </a:rPr>
              <a:t> must </a:t>
            </a:r>
            <a:r>
              <a:rPr lang="en-US" altLang="zh-CN" dirty="0">
                <a:latin typeface="Aptos Display" panose="020B0004020202020204" pitchFamily="34" charset="0"/>
              </a:rPr>
              <a:t>have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‘</a:t>
            </a:r>
            <a:r>
              <a:rPr lang="en" altLang="en-US" dirty="0">
                <a:latin typeface="Aptos Display" panose="020B0004020202020204" pitchFamily="34" charset="0"/>
              </a:rPr>
              <a:t>optimal substructure</a:t>
            </a:r>
            <a:r>
              <a:rPr lang="en-US" altLang="zh-CN" dirty="0">
                <a:latin typeface="Aptos Display" panose="020B0004020202020204" pitchFamily="34" charset="0"/>
              </a:rPr>
              <a:t>’</a:t>
            </a:r>
            <a:r>
              <a:rPr lang="en" altLang="en-US" dirty="0">
                <a:latin typeface="Aptos Display" panose="020B0004020202020204" pitchFamily="34" charset="0"/>
              </a:rPr>
              <a:t>.</a:t>
            </a:r>
            <a:endParaRPr lang="en-US" altLang="zh-CN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1322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Choice</a:t>
            </a:r>
            <a:r>
              <a:rPr lang="zh-C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of</a:t>
            </a:r>
            <a:r>
              <a:rPr lang="zh-C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Optimal path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</p:spPr>
            <p:txBody>
              <a:bodyPr>
                <a:normAutofit/>
              </a:bodyPr>
              <a:lstStyle/>
              <a:p>
                <a:r>
                  <a:rPr lang="en" altLang="en-US" dirty="0">
                    <a:latin typeface="Aptos Display" panose="020B0004020202020204" pitchFamily="34" charset="0"/>
                  </a:rPr>
                  <a:t>In a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" altLang="en-US" dirty="0">
                    <a:latin typeface="Aptos Display" panose="020B0004020202020204" pitchFamily="34" charset="0"/>
                  </a:rPr>
                  <a:t>grid matrix, each cell is assigned a number (weight). Each move can only be up or right. Find a path from the bottom left corner to the top right corner that maximizes the sum of the weights of the cells traversed.</a:t>
                </a:r>
                <a:endParaRPr lang="en-US" altLang="zh-CN" dirty="0">
                  <a:latin typeface="Aptos Display" panose="020B0004020202020204" pitchFamily="34" charset="0"/>
                </a:endParaRPr>
              </a:p>
              <a:p>
                <a:endParaRPr lang="en-US" altLang="zh-CN" dirty="0">
                  <a:latin typeface="Aptos Display" panose="020B0004020202020204" pitchFamily="34" charset="0"/>
                </a:endParaRPr>
              </a:p>
              <a:p>
                <a:r>
                  <a:rPr lang="en" altLang="en-US" dirty="0">
                    <a:latin typeface="Aptos Display" panose="020B0004020202020204" pitchFamily="34" charset="0"/>
                  </a:rPr>
                  <a:t>Greedy strategy: Move the higher weighted option (either the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up</a:t>
                </a:r>
                <a:r>
                  <a:rPr lang="en" altLang="en-US" dirty="0">
                    <a:latin typeface="Aptos Display" panose="020B0004020202020204" pitchFamily="34" charset="0"/>
                  </a:rPr>
                  <a:t> or right) at each step.</a:t>
                </a:r>
                <a:endParaRPr lang="en-US" altLang="zh-CN" dirty="0">
                  <a:latin typeface="Aptos Display" panose="020B0004020202020204" pitchFamily="34" charset="0"/>
                </a:endParaRP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  <a:blipFill>
                <a:blip r:embed="rId2"/>
                <a:stretch>
                  <a:fillRect l="-1224" t="-168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8C47461-11F8-49B7-85BE-C323896DAF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9141633"/>
              </p:ext>
            </p:extLst>
          </p:nvPr>
        </p:nvGraphicFramePr>
        <p:xfrm>
          <a:off x="6898936" y="4630210"/>
          <a:ext cx="3544473" cy="74168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181491">
                  <a:extLst>
                    <a:ext uri="{9D8B030D-6E8A-4147-A177-3AD203B41FA5}">
                      <a16:colId xmlns:a16="http://schemas.microsoft.com/office/drawing/2014/main" val="2295630292"/>
                    </a:ext>
                  </a:extLst>
                </a:gridCol>
                <a:gridCol w="1181491">
                  <a:extLst>
                    <a:ext uri="{9D8B030D-6E8A-4147-A177-3AD203B41FA5}">
                      <a16:colId xmlns:a16="http://schemas.microsoft.com/office/drawing/2014/main" val="2796451891"/>
                    </a:ext>
                  </a:extLst>
                </a:gridCol>
                <a:gridCol w="1181491">
                  <a:extLst>
                    <a:ext uri="{9D8B030D-6E8A-4147-A177-3AD203B41FA5}">
                      <a16:colId xmlns:a16="http://schemas.microsoft.com/office/drawing/2014/main" val="3350143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" altLang="zh-CN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5133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" altLang="zh-CN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899270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77ED080-29F6-4053-9F87-D029DCA418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7074203"/>
              </p:ext>
            </p:extLst>
          </p:nvPr>
        </p:nvGraphicFramePr>
        <p:xfrm>
          <a:off x="1144588" y="4630210"/>
          <a:ext cx="3544473" cy="74168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181491">
                  <a:extLst>
                    <a:ext uri="{9D8B030D-6E8A-4147-A177-3AD203B41FA5}">
                      <a16:colId xmlns:a16="http://schemas.microsoft.com/office/drawing/2014/main" val="2295630292"/>
                    </a:ext>
                  </a:extLst>
                </a:gridCol>
                <a:gridCol w="1181491">
                  <a:extLst>
                    <a:ext uri="{9D8B030D-6E8A-4147-A177-3AD203B41FA5}">
                      <a16:colId xmlns:a16="http://schemas.microsoft.com/office/drawing/2014/main" val="2796451891"/>
                    </a:ext>
                  </a:extLst>
                </a:gridCol>
                <a:gridCol w="1181491">
                  <a:extLst>
                    <a:ext uri="{9D8B030D-6E8A-4147-A177-3AD203B41FA5}">
                      <a16:colId xmlns:a16="http://schemas.microsoft.com/office/drawing/2014/main" val="3350143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" altLang="zh-CN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5133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" altLang="zh-CN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89927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3323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Optimal loading problem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</p:spPr>
            <p:txBody>
              <a:bodyPr>
                <a:normAutofit/>
              </a:bodyPr>
              <a:lstStyle/>
              <a:p>
                <a:r>
                  <a:rPr lang="en" altLang="en-US" dirty="0">
                    <a:latin typeface="Aptos Display" panose="020B0004020202020204" pitchFamily="34" charset="0"/>
                  </a:rPr>
                  <a:t>Given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" altLang="en-US" dirty="0">
                    <a:latin typeface="Aptos Display" panose="020B0004020202020204" pitchFamily="34" charset="0"/>
                  </a:rPr>
                  <a:t> objects, w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eight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of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the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dirty="0">
                    <a:latin typeface="Aptos Display" panose="020B0004020202020204" pitchFamily="34" charset="0"/>
                  </a:rPr>
                  <a:t>-th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object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being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" altLang="en-US" dirty="0">
                    <a:latin typeface="Aptos Display" panose="020B0004020202020204" pitchFamily="34" charset="0"/>
                  </a:rPr>
                  <a:t>, select as many objects as possible such that the total weight does not exceed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" altLang="en-US" dirty="0">
                    <a:latin typeface="Aptos Display" panose="020B0004020202020204" pitchFamily="34" charset="0"/>
                  </a:rPr>
                  <a:t>.</a:t>
                </a:r>
                <a:endParaRPr lang="en-US" altLang="zh-CN" dirty="0">
                  <a:latin typeface="Aptos Display" panose="020B0004020202020204" pitchFamily="34" charset="0"/>
                </a:endParaRPr>
              </a:p>
              <a:p>
                <a:endParaRPr lang="en-US" altLang="zh-CN" dirty="0">
                  <a:latin typeface="Aptos Display" panose="020B0004020202020204" pitchFamily="34" charset="0"/>
                </a:endParaRPr>
              </a:p>
              <a:p>
                <a:r>
                  <a:rPr lang="en" altLang="en-US" dirty="0">
                    <a:latin typeface="Aptos Display" panose="020B0004020202020204" pitchFamily="34" charset="0"/>
                  </a:rPr>
                  <a:t>Greedy strategy: Select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in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the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ascending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order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of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weight.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  <a:blipFill>
                <a:blip r:embed="rId2"/>
                <a:stretch>
                  <a:fillRect l="-1224" t="-168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4107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basic 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approach</a:t>
            </a:r>
            <a:r>
              <a:rPr lang="zh-C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o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f greedy algorithms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>
            <a:normAutofit/>
          </a:bodyPr>
          <a:lstStyle/>
          <a:p>
            <a:r>
              <a:rPr lang="en" altLang="en-US" dirty="0">
                <a:latin typeface="Aptos Display" panose="020B0004020202020204" pitchFamily="34" charset="0"/>
              </a:rPr>
              <a:t>Starting from an initial solution</a:t>
            </a:r>
            <a:r>
              <a:rPr lang="en-US" altLang="zh-CN" dirty="0">
                <a:latin typeface="Aptos Display" panose="020B0004020202020204" pitchFamily="34" charset="0"/>
              </a:rPr>
              <a:t>,</a:t>
            </a:r>
            <a:r>
              <a:rPr lang="en" altLang="en-US" dirty="0">
                <a:latin typeface="Aptos Display" panose="020B0004020202020204" pitchFamily="34" charset="0"/>
              </a:rPr>
              <a:t> proceed </a:t>
            </a:r>
            <a:r>
              <a:rPr lang="en-US" altLang="zh-CN" dirty="0">
                <a:latin typeface="Aptos Display" panose="020B0004020202020204" pitchFamily="34" charset="0"/>
              </a:rPr>
              <a:t>one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" altLang="en-US" dirty="0">
                <a:latin typeface="Aptos Display" panose="020B0004020202020204" pitchFamily="34" charset="0"/>
              </a:rPr>
              <a:t>step </a:t>
            </a:r>
            <a:r>
              <a:rPr lang="en-US" altLang="zh-CN" dirty="0">
                <a:latin typeface="Aptos Display" panose="020B0004020202020204" pitchFamily="34" charset="0"/>
              </a:rPr>
              <a:t>at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a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time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" altLang="en-US" dirty="0">
                <a:latin typeface="Aptos Display" panose="020B0004020202020204" pitchFamily="34" charset="0"/>
              </a:rPr>
              <a:t>according to a greedy strategy, ensuring that each step yields a locally optimal solution, </a:t>
            </a:r>
            <a:r>
              <a:rPr lang="en-US" altLang="zh-CN" dirty="0">
                <a:latin typeface="Aptos Display" panose="020B0004020202020204" pitchFamily="34" charset="0"/>
              </a:rPr>
              <a:t>targeting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to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" altLang="en-US" dirty="0">
                <a:latin typeface="Aptos Display" panose="020B0004020202020204" pitchFamily="34" charset="0"/>
              </a:rPr>
              <a:t>obtain the globally optimal solution.</a:t>
            </a:r>
            <a:endParaRPr lang="en-US" altLang="zh-CN" dirty="0">
              <a:latin typeface="Aptos Display" panose="020B0004020202020204" pitchFamily="34" charset="0"/>
            </a:endParaRPr>
          </a:p>
          <a:p>
            <a:r>
              <a:rPr lang="en-US" altLang="zh-CN" dirty="0">
                <a:latin typeface="Aptos Display" panose="020B0004020202020204" pitchFamily="34" charset="0"/>
              </a:rPr>
              <a:t>P</a:t>
            </a:r>
            <a:r>
              <a:rPr lang="en" altLang="en-US" dirty="0" err="1">
                <a:latin typeface="Aptos Display" panose="020B0004020202020204" pitchFamily="34" charset="0"/>
              </a:rPr>
              <a:t>rocess</a:t>
            </a:r>
            <a:r>
              <a:rPr lang="en" altLang="en-US" dirty="0">
                <a:latin typeface="Aptos Display" panose="020B0004020202020204" pitchFamily="34" charset="0"/>
              </a:rPr>
              <a:t>: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marL="0" indent="0">
              <a:buNone/>
            </a:pPr>
            <a:r>
              <a:rPr lang="en" altLang="zh-CN" dirty="0">
                <a:latin typeface="Aptos Display" panose="020B0004020202020204" pitchFamily="34" charset="0"/>
              </a:rPr>
              <a:t>1. </a:t>
            </a:r>
            <a:r>
              <a:rPr lang="en" altLang="en-US" dirty="0">
                <a:latin typeface="Aptos Display" panose="020B0004020202020204" pitchFamily="34" charset="0"/>
              </a:rPr>
              <a:t>Establish a mathematical model to describe the problem.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marL="0" indent="0">
              <a:buNone/>
            </a:pPr>
            <a:r>
              <a:rPr lang="en" altLang="zh-CN" dirty="0">
                <a:latin typeface="Aptos Display" panose="020B0004020202020204" pitchFamily="34" charset="0"/>
              </a:rPr>
              <a:t>2. </a:t>
            </a:r>
            <a:r>
              <a:rPr lang="en" altLang="en-US" dirty="0">
                <a:latin typeface="Aptos Display" panose="020B0004020202020204" pitchFamily="34" charset="0"/>
              </a:rPr>
              <a:t>Divide the problem into several subproblems.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marL="0" indent="0">
              <a:buNone/>
            </a:pPr>
            <a:r>
              <a:rPr lang="en" altLang="zh-CN" dirty="0">
                <a:latin typeface="Aptos Display" panose="020B0004020202020204" pitchFamily="34" charset="0"/>
              </a:rPr>
              <a:t>3. </a:t>
            </a:r>
            <a:r>
              <a:rPr lang="en" altLang="en-US" dirty="0">
                <a:latin typeface="Aptos Display" panose="020B0004020202020204" pitchFamily="34" charset="0"/>
              </a:rPr>
              <a:t>Solve each subproblem to obtain a locally optimal solution.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marL="0" indent="0">
              <a:buNone/>
            </a:pPr>
            <a:r>
              <a:rPr lang="en" altLang="zh-CN" dirty="0">
                <a:latin typeface="Aptos Display" panose="020B0004020202020204" pitchFamily="34" charset="0"/>
              </a:rPr>
              <a:t>4. </a:t>
            </a:r>
            <a:r>
              <a:rPr lang="en" altLang="en-US" dirty="0">
                <a:latin typeface="Aptos Display" panose="020B0004020202020204" pitchFamily="34" charset="0"/>
              </a:rPr>
              <a:t>Combine the locally optimal solutions of the subproblems into a single solution to the original problem.</a:t>
            </a:r>
            <a:endParaRPr lang="en-US" altLang="zh-CN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1301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M</a:t>
            </a:r>
            <a:r>
              <a:rPr lang="en" altLang="en-US" dirty="0" err="1">
                <a:solidFill>
                  <a:schemeClr val="bg1"/>
                </a:solidFill>
                <a:latin typeface="Aptos Display" panose="020B0004020202020204" pitchFamily="34" charset="0"/>
              </a:rPr>
              <a:t>aximum</a:t>
            </a:r>
            <a:r>
              <a:rPr lang="zh-C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sum</a:t>
            </a:r>
            <a:r>
              <a:rPr lang="zh-C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of</a:t>
            </a:r>
            <a:r>
              <a:rPr lang="zh-C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consecutive</a:t>
            </a:r>
            <a:r>
              <a:rPr lang="zh-C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subsequences</a:t>
            </a:r>
            <a:endParaRPr lang="en" altLang="en-US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</p:spPr>
            <p:txBody>
              <a:bodyPr>
                <a:normAutofit/>
              </a:bodyPr>
              <a:lstStyle/>
              <a:p>
                <a:r>
                  <a:rPr lang="en" altLang="en-US" dirty="0">
                    <a:latin typeface="Aptos Display" panose="020B0004020202020204" pitchFamily="34" charset="0"/>
                  </a:rPr>
                  <a:t>Given a sequence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" altLang="en-US" dirty="0">
                    <a:latin typeface="Aptos Display" panose="020B0004020202020204" pitchFamily="34" charset="0"/>
                  </a:rPr>
                  <a:t>, find the maximum sum of all consecutive subsequences, i.e.:</a:t>
                </a:r>
                <a:endParaRPr lang="en-US" altLang="zh-CN" dirty="0">
                  <a:latin typeface="Aptos Display" panose="020B00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e>
                            <m:lim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1≤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</m:e>
                      </m:func>
                    </m:oMath>
                  </m:oMathPara>
                </a14:m>
                <a:endParaRPr lang="en-US" altLang="zh-CN" i="1" dirty="0">
                  <a:latin typeface="Aptos Display" panose="020B0004020202020204" pitchFamily="34" charset="0"/>
                </a:endParaRPr>
              </a:p>
              <a:p>
                <a:endParaRPr lang="en-US" altLang="zh-CN" dirty="0">
                  <a:latin typeface="Aptos Display" panose="020B0004020202020204" pitchFamily="34" charset="0"/>
                </a:endParaRPr>
              </a:p>
              <a:p>
                <a:r>
                  <a:rPr lang="en" altLang="en-US" dirty="0">
                    <a:latin typeface="Aptos Display" panose="020B0004020202020204" pitchFamily="34" charset="0"/>
                  </a:rPr>
                  <a:t>Brute force: enumeration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" altLang="en-US" dirty="0">
                    <a:latin typeface="Aptos Display" panose="020B0004020202020204" pitchFamily="34" charset="0"/>
                  </a:rPr>
                  <a:t>,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calculate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r>
                  <a:rPr lang="en" altLang="en-US" dirty="0">
                    <a:latin typeface="Aptos Display" panose="020B0004020202020204" pitchFamily="34" charset="0"/>
                  </a:rPr>
                  <a:t>, time complexity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" altLang="en-US" dirty="0">
                    <a:latin typeface="Aptos Display" panose="020B0004020202020204" pitchFamily="34" charset="0"/>
                  </a:rPr>
                  <a:t>.</a:t>
                </a:r>
                <a:endParaRPr lang="en-US" altLang="zh-CN" dirty="0">
                  <a:latin typeface="Aptos Display" panose="020B0004020202020204" pitchFamily="34" charset="0"/>
                </a:endParaRPr>
              </a:p>
              <a:p>
                <a:r>
                  <a:rPr lang="en" altLang="en-US" dirty="0">
                    <a:latin typeface="Aptos Display" panose="020B0004020202020204" pitchFamily="34" charset="0"/>
                  </a:rPr>
                  <a:t>Greedy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Strategy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1</a:t>
                </a:r>
                <a:r>
                  <a:rPr lang="en" altLang="en-US" dirty="0">
                    <a:latin typeface="Aptos Display" panose="020B0004020202020204" pitchFamily="34" charset="0"/>
                  </a:rPr>
                  <a:t>: Discard all negative values and add positive values in blocks.</a:t>
                </a:r>
                <a:endParaRPr lang="en-US" altLang="zh-CN" dirty="0">
                  <a:latin typeface="Aptos Display" panose="020B0004020202020204" pitchFamily="34" charset="0"/>
                </a:endParaRPr>
              </a:p>
              <a:p>
                <a:r>
                  <a:rPr lang="en" altLang="en-US" dirty="0">
                    <a:latin typeface="Aptos Display" panose="020B0004020202020204" pitchFamily="34" charset="0"/>
                  </a:rPr>
                  <a:t>Greedy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Strategy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" altLang="zh-CN" dirty="0">
                    <a:latin typeface="Aptos Display" panose="020B0004020202020204" pitchFamily="34" charset="0"/>
                  </a:rPr>
                  <a:t>2</a:t>
                </a:r>
                <a:r>
                  <a:rPr lang="en" altLang="en-US" dirty="0">
                    <a:latin typeface="Aptos Display" panose="020B0004020202020204" pitchFamily="34" charset="0"/>
                  </a:rPr>
                  <a:t>: Calculate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the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maximum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sum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of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consecutive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subsequences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ending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with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the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r>
                  <a:rPr lang="en-US" altLang="zh-CN" dirty="0">
                    <a:latin typeface="Aptos Display" panose="020B0004020202020204" pitchFamily="34" charset="0"/>
                  </a:rPr>
                  <a:t>-th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numbers.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Find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the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largest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among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all.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  <a:blipFill>
                <a:blip r:embed="rId2"/>
                <a:stretch>
                  <a:fillRect l="-1224" t="-168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583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Queuing to get water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1" y="1486110"/>
                <a:ext cx="10834779" cy="5282749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persons,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one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tap.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E</a:t>
                </a:r>
                <a:r>
                  <a:rPr lang="en" altLang="en-US" dirty="0">
                    <a:latin typeface="Aptos Display" panose="020B0004020202020204" pitchFamily="34" charset="0"/>
                  </a:rPr>
                  <a:t>ach person takes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time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to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fill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up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his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container.</a:t>
                </a:r>
                <a:r>
                  <a:rPr lang="en" altLang="en-US" dirty="0">
                    <a:latin typeface="Aptos Display" panose="020B0004020202020204" pitchFamily="34" charset="0"/>
                  </a:rPr>
                  <a:t> 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" altLang="en-US" dirty="0">
                    <a:latin typeface="Aptos Display" panose="020B0004020202020204" pitchFamily="34" charset="0"/>
                  </a:rPr>
                  <a:t>Find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minimum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average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wait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time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for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the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persons,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and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the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corresponding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sequence.</a:t>
                </a:r>
                <a:r>
                  <a:rPr lang="en" altLang="en-US" dirty="0">
                    <a:latin typeface="Aptos Display" panose="020B0004020202020204" pitchFamily="34" charset="0"/>
                  </a:rPr>
                  <a:t> Output the people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with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the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same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time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in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the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order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of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input</a:t>
                </a:r>
                <a:r>
                  <a:rPr lang="en" altLang="en-US" dirty="0">
                    <a:latin typeface="Aptos Display" panose="020B0004020202020204" pitchFamily="34" charset="0"/>
                  </a:rPr>
                  <a:t>.</a:t>
                </a:r>
                <a:endParaRPr lang="en-US" altLang="zh-CN" dirty="0">
                  <a:latin typeface="Aptos Display" panose="020B0004020202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≤1000, 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endParaRPr lang="en-US" altLang="zh-CN" i="1" dirty="0">
                  <a:latin typeface="Aptos Display" panose="020B0004020202020204" pitchFamily="34" charset="0"/>
                </a:endParaRPr>
              </a:p>
              <a:p>
                <a:endParaRPr lang="en-US" altLang="zh-CN" dirty="0">
                  <a:latin typeface="Aptos Display" panose="020B0004020202020204" pitchFamily="34" charset="0"/>
                </a:endParaRPr>
              </a:p>
              <a:p>
                <a:r>
                  <a:rPr lang="en" altLang="en-US" dirty="0">
                    <a:latin typeface="Aptos Display" panose="020B0004020202020204" pitchFamily="34" charset="0"/>
                  </a:rPr>
                  <a:t>Brute force: Enumerate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" altLang="en-US" dirty="0">
                    <a:latin typeface="Aptos Display" panose="020B0004020202020204" pitchFamily="34" charset="0"/>
                  </a:rPr>
                  <a:t>all permutations of the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persons</a:t>
                </a:r>
                <a:r>
                  <a:rPr lang="e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and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" altLang="en-US" dirty="0">
                    <a:latin typeface="Aptos Display" panose="020B0004020202020204" pitchFamily="34" charset="0"/>
                  </a:rPr>
                  <a:t>calculate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total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" altLang="en-US" dirty="0">
                    <a:latin typeface="Aptos Display" panose="020B0004020202020204" pitchFamily="34" charset="0"/>
                  </a:rPr>
                  <a:t>wait time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accordingly</a:t>
                </a:r>
                <a:r>
                  <a:rPr lang="en" altLang="en-US" dirty="0">
                    <a:latin typeface="Aptos Display" panose="020B0004020202020204" pitchFamily="34" charset="0"/>
                  </a:rPr>
                  <a:t>, time complexity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!)</m:t>
                    </m:r>
                  </m:oMath>
                </a14:m>
                <a:r>
                  <a:rPr lang="en" altLang="en-US" dirty="0">
                    <a:latin typeface="Aptos Display" panose="020B0004020202020204" pitchFamily="34" charset="0"/>
                  </a:rPr>
                  <a:t>.</a:t>
                </a:r>
                <a:endParaRPr lang="en-US" altLang="zh-CN" dirty="0">
                  <a:latin typeface="Aptos Display" panose="020B0004020202020204" pitchFamily="34" charset="0"/>
                </a:endParaRPr>
              </a:p>
              <a:p>
                <a:r>
                  <a:rPr lang="en" altLang="en-US" dirty="0">
                    <a:latin typeface="Aptos Display" panose="020B0004020202020204" pitchFamily="34" charset="0"/>
                  </a:rPr>
                  <a:t>Greedy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strategy</a:t>
                </a:r>
                <a:r>
                  <a:rPr lang="en" altLang="en-US" dirty="0">
                    <a:latin typeface="Aptos Display" panose="020B0004020202020204" pitchFamily="34" charset="0"/>
                  </a:rPr>
                  <a:t>: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Total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wait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time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is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minimum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when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people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queue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in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ascending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order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of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time,</a:t>
                </a:r>
                <a:r>
                  <a:rPr lang="en" altLang="en-US" dirty="0">
                    <a:latin typeface="Aptos Display" panose="020B0004020202020204" pitchFamily="34" charset="0"/>
                  </a:rPr>
                  <a:t> time complexity 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𝑙𝑜𝑔</m:t>
                        </m:r>
                      </m:fNam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altLang="zh-CN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" altLang="en-US" dirty="0">
                    <a:latin typeface="Aptos Display" panose="020B0004020202020204" pitchFamily="34" charset="0"/>
                  </a:rPr>
                  <a:t>.</a:t>
                </a:r>
                <a:endParaRPr lang="en-US" altLang="zh-CN" dirty="0">
                  <a:latin typeface="Aptos Display" panose="020B0004020202020204" pitchFamily="34" charset="0"/>
                </a:endParaRP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1" y="1486110"/>
                <a:ext cx="10834779" cy="5282749"/>
              </a:xfrm>
              <a:blipFill>
                <a:blip r:embed="rId2"/>
                <a:stretch>
                  <a:fillRect l="-1171" t="-1683" r="-70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6083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Queuing to get water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2" y="1486110"/>
                <a:ext cx="10613502" cy="5282749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persons,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" altLang="en-US" dirty="0">
                    <a:latin typeface="Aptos Display" panose="020B0004020202020204" pitchFamily="34" charset="0"/>
                  </a:rPr>
                  <a:t>tap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s.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E</a:t>
                </a:r>
                <a:r>
                  <a:rPr lang="en" altLang="en-US" dirty="0">
                    <a:latin typeface="Aptos Display" panose="020B0004020202020204" pitchFamily="34" charset="0"/>
                  </a:rPr>
                  <a:t>ach person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takes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time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to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fill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up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his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container.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" altLang="en-US" dirty="0">
                    <a:latin typeface="Aptos Display" panose="020B0004020202020204" pitchFamily="34" charset="0"/>
                  </a:rPr>
                  <a:t> Find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minimum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average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wait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time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for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the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persons,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and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the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corresponding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sequence.</a:t>
                </a:r>
                <a:r>
                  <a:rPr lang="en" altLang="en-US" dirty="0">
                    <a:latin typeface="Aptos Display" panose="020B0004020202020204" pitchFamily="34" charset="0"/>
                  </a:rPr>
                  <a:t> Output the people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with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the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same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time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in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the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order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of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input</a:t>
                </a:r>
                <a:r>
                  <a:rPr lang="en" altLang="en-US" dirty="0">
                    <a:latin typeface="Aptos Display" panose="020B0004020202020204" pitchFamily="34" charset="0"/>
                  </a:rPr>
                  <a:t>.</a:t>
                </a:r>
                <a:endParaRPr lang="en-US" altLang="zh-CN" dirty="0">
                  <a:latin typeface="Aptos Display" panose="020B0004020202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≤1000,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≤10, 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endParaRPr lang="en-US" altLang="zh-CN" i="1" dirty="0">
                  <a:latin typeface="Aptos Display" panose="020B0004020202020204" pitchFamily="34" charset="0"/>
                </a:endParaRPr>
              </a:p>
              <a:p>
                <a:endParaRPr lang="en-US" altLang="zh-CN" dirty="0">
                  <a:latin typeface="Aptos Display" panose="020B0004020202020204" pitchFamily="34" charset="0"/>
                </a:endParaRPr>
              </a:p>
              <a:p>
                <a:r>
                  <a:rPr lang="en" altLang="en-US" dirty="0">
                    <a:latin typeface="Aptos Display" panose="020B0004020202020204" pitchFamily="34" charset="0"/>
                  </a:rPr>
                  <a:t>Brute force: Enumerate all permutations of the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persons,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" altLang="en-US" dirty="0">
                    <a:latin typeface="Aptos Display" panose="020B0004020202020204" pitchFamily="34" charset="0"/>
                  </a:rPr>
                  <a:t>and calculate the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total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" altLang="en-US" dirty="0">
                    <a:latin typeface="Aptos Display" panose="020B0004020202020204" pitchFamily="34" charset="0"/>
                  </a:rPr>
                  <a:t>wait time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accordingly,</a:t>
                </a:r>
                <a:r>
                  <a:rPr lang="en" altLang="en-US" dirty="0">
                    <a:latin typeface="Aptos Display" panose="020B0004020202020204" pitchFamily="34" charset="0"/>
                  </a:rPr>
                  <a:t> time complexity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!)</m:t>
                    </m:r>
                  </m:oMath>
                </a14:m>
                <a:r>
                  <a:rPr lang="en" altLang="en-US" dirty="0">
                    <a:latin typeface="Aptos Display" panose="020B0004020202020204" pitchFamily="34" charset="0"/>
                  </a:rPr>
                  <a:t>.</a:t>
                </a:r>
                <a:endParaRPr lang="en-US" altLang="zh-CN" dirty="0">
                  <a:latin typeface="Aptos Display" panose="020B0004020202020204" pitchFamily="34" charset="0"/>
                </a:endParaRPr>
              </a:p>
              <a:p>
                <a:r>
                  <a:rPr lang="en" altLang="en-US" dirty="0">
                    <a:latin typeface="Aptos Display" panose="020B0004020202020204" pitchFamily="34" charset="0"/>
                  </a:rPr>
                  <a:t>Greedy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strategy</a:t>
                </a:r>
                <a:r>
                  <a:rPr lang="en" altLang="en-US" dirty="0">
                    <a:latin typeface="Aptos Display" panose="020B0004020202020204" pitchFamily="34" charset="0"/>
                  </a:rPr>
                  <a:t>: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Total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wait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time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is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minimum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when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people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queue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in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ascending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order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of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time,</a:t>
                </a:r>
                <a:r>
                  <a:rPr lang="en" altLang="en-US" dirty="0">
                    <a:latin typeface="Aptos Display" panose="020B0004020202020204" pitchFamily="34" charset="0"/>
                  </a:rPr>
                  <a:t> time complexity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𝑙𝑜𝑔</m:t>
                        </m:r>
                      </m:fNam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" altLang="en-US" dirty="0">
                    <a:latin typeface="Aptos Display" panose="020B0004020202020204" pitchFamily="34" charset="0"/>
                  </a:rPr>
                  <a:t>.</a:t>
                </a:r>
                <a:endParaRPr lang="en-US" altLang="zh-CN" dirty="0">
                  <a:latin typeface="Aptos Display" panose="020B0004020202020204" pitchFamily="34" charset="0"/>
                </a:endParaRP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2" y="1486110"/>
                <a:ext cx="10613502" cy="5282749"/>
              </a:xfrm>
              <a:blipFill>
                <a:blip r:embed="rId2"/>
                <a:stretch>
                  <a:fillRect l="-1196" t="-1683" r="-71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5971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Divide the cards equally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</p:spPr>
            <p:txBody>
              <a:bodyPr>
                <a:normAutofit/>
              </a:bodyPr>
              <a:lstStyle/>
              <a:p>
                <a:r>
                  <a:rPr lang="en" altLang="en-US" dirty="0">
                    <a:latin typeface="Aptos Display" panose="020B0004020202020204" pitchFamily="34" charset="0"/>
                  </a:rPr>
                  <a:t>There are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" altLang="en-US" dirty="0">
                    <a:latin typeface="Aptos Display" panose="020B0004020202020204" pitchFamily="34" charset="0"/>
                  </a:rPr>
                  <a:t> stacks of playing cards, numbered 1, 2,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…,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>
                    <a:latin typeface="Aptos Display" panose="020B0004020202020204" pitchFamily="34" charset="0"/>
                  </a:rPr>
                  <a:t>.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 </a:t>
                </a:r>
                <a:r>
                  <a:rPr lang="en" altLang="en-US" dirty="0">
                    <a:latin typeface="Aptos Display" panose="020B0004020202020204" pitchFamily="34" charset="0"/>
                  </a:rPr>
                  <a:t>The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re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are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cards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in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the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dirty="0">
                    <a:latin typeface="Aptos Display" panose="020B0004020202020204" pitchFamily="34" charset="0"/>
                  </a:rPr>
                  <a:t>-</a:t>
                </a:r>
                <a:r>
                  <a:rPr lang="en-US" altLang="zh-CN" dirty="0" err="1">
                    <a:latin typeface="Aptos Display" panose="020B0004020202020204" pitchFamily="34" charset="0"/>
                  </a:rPr>
                  <a:t>th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stack</a:t>
                </a:r>
                <a:r>
                  <a:rPr lang="en" altLang="en-US" dirty="0">
                    <a:latin typeface="Aptos Display" panose="020B0004020202020204" pitchFamily="34" charset="0"/>
                  </a:rPr>
                  <a:t>, and the total number of cards is a multiple of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>
                    <a:latin typeface="Aptos Display" panose="020B0004020202020204" pitchFamily="34" charset="0"/>
                  </a:rPr>
                  <a:t>.</a:t>
                </a:r>
                <a:r>
                  <a:rPr lang="en" altLang="en-US" dirty="0">
                    <a:latin typeface="Aptos Display" panose="020B0004020202020204" pitchFamily="34" charset="0"/>
                  </a:rPr>
                  <a:t> 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" altLang="en-US" dirty="0">
                    <a:latin typeface="Aptos Display" panose="020B0004020202020204" pitchFamily="34" charset="0"/>
                  </a:rPr>
                  <a:t>You can take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a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number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of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" altLang="en-US" dirty="0">
                    <a:latin typeface="Aptos Display" panose="020B0004020202020204" pitchFamily="34" charset="0"/>
                  </a:rPr>
                  <a:t>cards from any stack and move them to either the left or right (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from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the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" altLang="en-US" dirty="0">
                    <a:latin typeface="Aptos Display" panose="020B0004020202020204" pitchFamily="34" charset="0"/>
                  </a:rPr>
                  <a:t>the </a:t>
                </a:r>
                <a:r>
                  <a:rPr lang="en" altLang="zh-CN" dirty="0">
                    <a:latin typeface="Aptos Display" panose="020B0004020202020204" pitchFamily="34" charset="0"/>
                  </a:rPr>
                  <a:t>1st </a:t>
                </a:r>
                <a:r>
                  <a:rPr lang="en" altLang="en-US" dirty="0">
                    <a:latin typeface="Aptos Display" panose="020B000402020202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>
                    <a:latin typeface="Aptos Display" panose="020B0004020202020204" pitchFamily="34" charset="0"/>
                  </a:rPr>
                  <a:t>-th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" altLang="en-US" dirty="0">
                    <a:latin typeface="Aptos Display" panose="020B0004020202020204" pitchFamily="34" charset="0"/>
                  </a:rPr>
                  <a:t>stacks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you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" altLang="en-US" dirty="0">
                    <a:latin typeface="Aptos Display" panose="020B0004020202020204" pitchFamily="34" charset="0"/>
                  </a:rPr>
                  <a:t>can only move to one side)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.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This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is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called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one</a:t>
                </a:r>
                <a:r>
                  <a:rPr lang="en" altLang="en-US" dirty="0">
                    <a:latin typeface="Aptos Display" panose="020B0004020202020204" pitchFamily="34" charset="0"/>
                  </a:rPr>
                  <a:t> move. Find the minimum number of moves required to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ensure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" altLang="en-US" dirty="0">
                    <a:latin typeface="Aptos Display" panose="020B0004020202020204" pitchFamily="34" charset="0"/>
                  </a:rPr>
                  <a:t>each stack ha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s</a:t>
                </a:r>
                <a:r>
                  <a:rPr lang="e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equal</a:t>
                </a:r>
                <a:r>
                  <a:rPr lang="en" altLang="en-US" dirty="0">
                    <a:latin typeface="Aptos Display" panose="020B0004020202020204" pitchFamily="34" charset="0"/>
                  </a:rPr>
                  <a:t> number of cards.</a:t>
                </a:r>
                <a:endParaRPr lang="en-US" altLang="zh-CN" dirty="0">
                  <a:latin typeface="Aptos Display" panose="020B0004020202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≤100, 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≤1000</m:t>
                    </m:r>
                  </m:oMath>
                </a14:m>
                <a:endParaRPr lang="en-US" altLang="zh-CN" i="1" dirty="0">
                  <a:latin typeface="Aptos Display" panose="020B0004020202020204" pitchFamily="34" charset="0"/>
                </a:endParaRPr>
              </a:p>
              <a:p>
                <a:endParaRPr lang="en-US" altLang="zh-CN" dirty="0">
                  <a:latin typeface="Aptos Display" panose="020B0004020202020204" pitchFamily="34" charset="0"/>
                </a:endParaRPr>
              </a:p>
              <a:p>
                <a:r>
                  <a:rPr lang="en" altLang="en-US" dirty="0">
                    <a:latin typeface="Aptos Display" panose="020B0004020202020204" pitchFamily="34" charset="0"/>
                  </a:rPr>
                  <a:t>Greed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y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strategy</a:t>
                </a:r>
                <a:r>
                  <a:rPr lang="en" altLang="en-US" dirty="0">
                    <a:latin typeface="Aptos Display" panose="020B0004020202020204" pitchFamily="34" charset="0"/>
                  </a:rPr>
                  <a:t>: From the </a:t>
                </a:r>
                <a14:m>
                  <m:oMath xmlns:m="http://schemas.openxmlformats.org/officeDocument/2006/math">
                    <m:r>
                      <a:rPr lang="en-US" altLang="zh-CN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dirty="0">
                    <a:latin typeface="Aptos Display" panose="020B0004020202020204" pitchFamily="34" charset="0"/>
                  </a:rPr>
                  <a:t>st</a:t>
                </a:r>
                <a:r>
                  <a:rPr lang="en" altLang="zh-CN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stack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to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the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>
                    <a:latin typeface="Aptos Display" panose="020B0004020202020204" pitchFamily="34" charset="0"/>
                  </a:rPr>
                  <a:t>-th,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find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number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of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moves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required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for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the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stack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to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reach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the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average,</a:t>
                </a:r>
                <a:r>
                  <a:rPr lang="en" altLang="en-US" dirty="0">
                    <a:latin typeface="Aptos Display" panose="020B0004020202020204" pitchFamily="34" charset="0"/>
                  </a:rPr>
                  <a:t> time complexity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" altLang="en-US" dirty="0">
                    <a:latin typeface="Aptos Display" panose="020B0004020202020204" pitchFamily="34" charset="0"/>
                  </a:rPr>
                  <a:t>.</a:t>
                </a:r>
                <a:endParaRPr lang="en-US" altLang="zh-CN" dirty="0">
                  <a:latin typeface="Aptos Display" panose="020B0004020202020204" pitchFamily="34" charset="0"/>
                </a:endParaRP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  <a:blipFill>
                <a:blip r:embed="rId2"/>
                <a:stretch>
                  <a:fillRect l="-1224" t="-1683" r="-8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179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Solving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 problems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</p:spPr>
            <p:txBody>
              <a:bodyPr>
                <a:normAutofit/>
              </a:bodyPr>
              <a:lstStyle/>
              <a:p>
                <a:r>
                  <a:rPr lang="en" altLang="en-US" dirty="0">
                    <a:latin typeface="Aptos Display" panose="020B0004020202020204" pitchFamily="34" charset="0"/>
                  </a:rPr>
                  <a:t>There are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problems</a:t>
                </a:r>
                <a:r>
                  <a:rPr lang="en" altLang="en-US" dirty="0">
                    <a:latin typeface="Aptos Display" panose="020B0004020202020204" pitchFamily="34" charset="0"/>
                  </a:rPr>
                  <a:t>, the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i="1" dirty="0">
                    <a:latin typeface="Aptos Display" panose="020B0004020202020204" pitchFamily="34" charset="0"/>
                  </a:rPr>
                  <a:t>-th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problem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requires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" altLang="en-US" dirty="0">
                    <a:latin typeface="Aptos Display" panose="020B0004020202020204" pitchFamily="34" charset="0"/>
                  </a:rPr>
                  <a:t> minute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s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to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solve</a:t>
                </a:r>
                <a:r>
                  <a:rPr lang="en" altLang="en-US" dirty="0">
                    <a:latin typeface="Aptos Display" panose="020B0004020202020204" pitchFamily="34" charset="0"/>
                  </a:rPr>
                  <a:t>. Given the start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time</a:t>
                </a:r>
                <a:r>
                  <a:rPr lang="en" altLang="en-US" dirty="0">
                    <a:latin typeface="Aptos Display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" altLang="en-US" dirty="0">
                    <a:latin typeface="Aptos Display" panose="020B0004020202020204" pitchFamily="34" charset="0"/>
                  </a:rPr>
                  <a:t>and end time 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zh-CN" dirty="0">
                    <a:latin typeface="Aptos Display" panose="020B0004020202020204" pitchFamily="34" charset="0"/>
                  </a:rPr>
                  <a:t>,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" altLang="en-US" dirty="0">
                    <a:latin typeface="Aptos Display" panose="020B0004020202020204" pitchFamily="34" charset="0"/>
                  </a:rPr>
                  <a:t>what is the maximum number of questions that can be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solved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within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the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given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time</a:t>
                </a:r>
                <a:r>
                  <a:rPr lang="en" altLang="en-US" dirty="0">
                    <a:latin typeface="Aptos Display" panose="020B0004020202020204" pitchFamily="34" charset="0"/>
                  </a:rPr>
                  <a:t>?</a:t>
                </a:r>
                <a:endParaRPr lang="en-US" altLang="zh-CN" dirty="0">
                  <a:latin typeface="Aptos Display" panose="020B0004020202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000,  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00</m:t>
                    </m:r>
                  </m:oMath>
                </a14:m>
                <a:endParaRPr lang="en-US" altLang="zh-CN" i="1" dirty="0">
                  <a:latin typeface="Aptos Display" panose="020B0004020202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0000−01−01−00:00≤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≤9999−12−31−23:59</m:t>
                    </m:r>
                  </m:oMath>
                </a14:m>
                <a:endParaRPr lang="en-US" altLang="zh-CN" i="1" dirty="0">
                  <a:latin typeface="Aptos Display" panose="020B0004020202020204" pitchFamily="34" charset="0"/>
                </a:endParaRPr>
              </a:p>
              <a:p>
                <a:endParaRPr lang="en-US" altLang="zh-CN" dirty="0">
                  <a:latin typeface="Aptos Display" panose="020B0004020202020204" pitchFamily="34" charset="0"/>
                </a:endParaRPr>
              </a:p>
              <a:p>
                <a:r>
                  <a:rPr lang="en" altLang="en-US" dirty="0">
                    <a:latin typeface="Aptos Display" panose="020B0004020202020204" pitchFamily="34" charset="0"/>
                  </a:rPr>
                  <a:t>Greedy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>
                    <a:latin typeface="Aptos Display" panose="020B0004020202020204" pitchFamily="34" charset="0"/>
                  </a:rPr>
                  <a:t>strategy</a:t>
                </a:r>
                <a:r>
                  <a:rPr lang="en" altLang="en-US">
                    <a:latin typeface="Aptos Display" panose="020B0004020202020204" pitchFamily="34" charset="0"/>
                  </a:rPr>
                  <a:t>: </a:t>
                </a:r>
                <a:r>
                  <a:rPr lang="en" altLang="en-US" dirty="0">
                    <a:latin typeface="Aptos Display" panose="020B0004020202020204" pitchFamily="34" charset="0"/>
                  </a:rPr>
                  <a:t>Solve the problems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in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the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ascending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order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of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time.</a:t>
                </a:r>
                <a:r>
                  <a:rPr lang="e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Make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sure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your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program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gets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the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number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of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minutes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right.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  <a:blipFill>
                <a:blip r:embed="rId2"/>
                <a:stretch>
                  <a:fillRect l="-1224" t="-168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195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" altLang="en-US" dirty="0"/>
              <a:t>Thank you everyone.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9033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Mr.</a:t>
            </a:r>
            <a:r>
              <a:rPr lang="e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 Gao's Algorithm </a:t>
            </a:r>
          </a:p>
          <a:p>
            <a:pPr algn="r"/>
            <a:r>
              <a:rPr lang="e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Competition Training Camp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en-US" sz="1600" dirty="0">
                <a:latin typeface="+mj-ea"/>
                <a:ea typeface="+mj-ea"/>
              </a:rPr>
              <a:t>Note: Please turn off your microphone and camera.</a:t>
            </a:r>
          </a:p>
        </p:txBody>
      </p:sp>
    </p:spTree>
    <p:extLst>
      <p:ext uri="{BB962C8B-B14F-4D97-AF65-F5344CB8AC3E}">
        <p14:creationId xmlns:p14="http://schemas.microsoft.com/office/powerpoint/2010/main" val="7503595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电路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97628</TotalTime>
  <Words>942</Words>
  <Application>Microsoft Macintosh PowerPoint</Application>
  <PresentationFormat>Widescreen</PresentationFormat>
  <Paragraphs>73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等线</vt:lpstr>
      <vt:lpstr>华文楷体</vt:lpstr>
      <vt:lpstr>Aptos Display</vt:lpstr>
      <vt:lpstr>Arial</vt:lpstr>
      <vt:lpstr>Cambria Math</vt:lpstr>
      <vt:lpstr>Tw Cen MT</vt:lpstr>
      <vt:lpstr>电路</vt:lpstr>
      <vt:lpstr>greedy</vt:lpstr>
      <vt:lpstr>What is a greedy algorithm?</vt:lpstr>
      <vt:lpstr>Choice of Optimal path</vt:lpstr>
      <vt:lpstr>Optimal loading problem</vt:lpstr>
      <vt:lpstr>basic approach of greedy algorithms</vt:lpstr>
      <vt:lpstr>Maximum sum of consecutive subsequences</vt:lpstr>
      <vt:lpstr>Queuing to get water</vt:lpstr>
      <vt:lpstr>Queuing to get water</vt:lpstr>
      <vt:lpstr>Divide the cards equally</vt:lpstr>
      <vt:lpstr>Solving problems</vt:lpstr>
      <vt:lpstr>Thank you everyone.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NOIP 入门习题精讲 - 09</dc:title>
  <dc:creator>Gao Kai</dc:creator>
  <cp:lastModifiedBy>Bryan Sun</cp:lastModifiedBy>
  <cp:revision>208</cp:revision>
  <dcterms:created xsi:type="dcterms:W3CDTF">2018-08-09T00:16:20Z</dcterms:created>
  <dcterms:modified xsi:type="dcterms:W3CDTF">2026-03-23T09:56:15Z</dcterms:modified>
</cp:coreProperties>
</file>