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sldIdLst>
    <p:sldId id="624" r:id="rId2"/>
    <p:sldId id="625" r:id="rId3"/>
    <p:sldId id="626" r:id="rId4"/>
    <p:sldId id="627" r:id="rId5"/>
    <p:sldId id="628" r:id="rId6"/>
    <p:sldId id="701" r:id="rId7"/>
    <p:sldId id="651" r:id="rId8"/>
    <p:sldId id="652" r:id="rId9"/>
    <p:sldId id="653" r:id="rId10"/>
    <p:sldId id="654" r:id="rId11"/>
    <p:sldId id="656" r:id="rId12"/>
    <p:sldId id="657" r:id="rId13"/>
    <p:sldId id="658" r:id="rId14"/>
    <p:sldId id="659" r:id="rId15"/>
    <p:sldId id="660" r:id="rId16"/>
    <p:sldId id="661" r:id="rId17"/>
    <p:sldId id="662" r:id="rId18"/>
    <p:sldId id="663" r:id="rId19"/>
    <p:sldId id="664" r:id="rId20"/>
    <p:sldId id="639" r:id="rId21"/>
    <p:sldId id="645" r:id="rId22"/>
    <p:sldId id="640" r:id="rId23"/>
    <p:sldId id="641" r:id="rId24"/>
    <p:sldId id="644" r:id="rId25"/>
    <p:sldId id="643" r:id="rId26"/>
    <p:sldId id="642" r:id="rId27"/>
    <p:sldId id="646" r:id="rId28"/>
    <p:sldId id="647" r:id="rId29"/>
    <p:sldId id="648" r:id="rId30"/>
    <p:sldId id="665" r:id="rId31"/>
    <p:sldId id="666" r:id="rId32"/>
    <p:sldId id="667" r:id="rId33"/>
    <p:sldId id="668" r:id="rId34"/>
    <p:sldId id="669" r:id="rId35"/>
    <p:sldId id="671" r:id="rId36"/>
    <p:sldId id="672" r:id="rId37"/>
    <p:sldId id="674" r:id="rId38"/>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FBF40-1E15-2C44-9410-BF2BD13E38BD}" v="1152" dt="2023-10-22T03:40:12.979"/>
    <p1510:client id="{C6832A34-E954-4048-AEAC-44542278B57B}" v="3527" dt="2023-10-21T11:57:56.9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372" autoAdjust="0"/>
    <p:restoredTop sz="94694"/>
  </p:normalViewPr>
  <p:slideViewPr>
    <p:cSldViewPr snapToGrid="0">
      <p:cViewPr varScale="1">
        <p:scale>
          <a:sx n="117" d="100"/>
          <a:sy n="117" d="100"/>
        </p:scale>
        <p:origin x="144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Sun" userId="851caa7714272873" providerId="LiveId" clId="{C6832A34-E954-4048-AEAC-44542278B57B}"/>
    <pc:docChg chg="undo custSel delSld modSld delMainMaster">
      <pc:chgData name="Bryan Sun" userId="851caa7714272873" providerId="LiveId" clId="{C6832A34-E954-4048-AEAC-44542278B57B}" dt="2023-10-21T11:57:56.927" v="3649" actId="6549"/>
      <pc:docMkLst>
        <pc:docMk/>
      </pc:docMkLst>
      <pc:sldChg chg="del">
        <pc:chgData name="Bryan Sun" userId="851caa7714272873" providerId="LiveId" clId="{C6832A34-E954-4048-AEAC-44542278B57B}" dt="2023-10-20T11:33:22.185" v="900" actId="2696"/>
        <pc:sldMkLst>
          <pc:docMk/>
          <pc:sldMk cId="4109550427" sldId="256"/>
        </pc:sldMkLst>
      </pc:sldChg>
      <pc:sldChg chg="modSp mod">
        <pc:chgData name="Bryan Sun" userId="851caa7714272873" providerId="LiveId" clId="{C6832A34-E954-4048-AEAC-44542278B57B}" dt="2023-10-21T06:24:05.212" v="2623" actId="108"/>
        <pc:sldMkLst>
          <pc:docMk/>
          <pc:sldMk cId="698590136" sldId="624"/>
        </pc:sldMkLst>
        <pc:spChg chg="mod">
          <ac:chgData name="Bryan Sun" userId="851caa7714272873" providerId="LiveId" clId="{C6832A34-E954-4048-AEAC-44542278B57B}" dt="2023-10-21T06:24:05.212" v="2623" actId="108"/>
          <ac:spMkLst>
            <pc:docMk/>
            <pc:sldMk cId="698590136" sldId="624"/>
            <ac:spMk id="2" creationId="{00000000-0000-0000-0000-000000000000}"/>
          </ac:spMkLst>
        </pc:spChg>
      </pc:sldChg>
      <pc:sldChg chg="modSp">
        <pc:chgData name="Bryan Sun" userId="851caa7714272873" providerId="LiveId" clId="{C6832A34-E954-4048-AEAC-44542278B57B}" dt="2023-10-20T11:55:14.311" v="2049" actId="6549"/>
        <pc:sldMkLst>
          <pc:docMk/>
          <pc:sldMk cId="1006962794" sldId="639"/>
        </pc:sldMkLst>
        <pc:spChg chg="mod">
          <ac:chgData name="Bryan Sun" userId="851caa7714272873" providerId="LiveId" clId="{C6832A34-E954-4048-AEAC-44542278B57B}" dt="2023-10-20T11:55:14.311" v="2049" actId="6549"/>
          <ac:spMkLst>
            <pc:docMk/>
            <pc:sldMk cId="1006962794" sldId="639"/>
            <ac:spMk id="3" creationId="{364B6489-5513-4724-81F7-F874B8C60D21}"/>
          </ac:spMkLst>
        </pc:spChg>
      </pc:sldChg>
      <pc:sldChg chg="modSp mod">
        <pc:chgData name="Bryan Sun" userId="851caa7714272873" providerId="LiveId" clId="{C6832A34-E954-4048-AEAC-44542278B57B}" dt="2023-10-20T11:57:48.113" v="2147" actId="20577"/>
        <pc:sldMkLst>
          <pc:docMk/>
          <pc:sldMk cId="3122757370" sldId="642"/>
        </pc:sldMkLst>
        <pc:spChg chg="mod">
          <ac:chgData name="Bryan Sun" userId="851caa7714272873" providerId="LiveId" clId="{C6832A34-E954-4048-AEAC-44542278B57B}" dt="2023-10-20T11:57:48.113" v="2147" actId="20577"/>
          <ac:spMkLst>
            <pc:docMk/>
            <pc:sldMk cId="3122757370" sldId="642"/>
            <ac:spMk id="2" creationId="{42D00FBD-1222-496C-8A0C-0B68A7CB6094}"/>
          </ac:spMkLst>
        </pc:spChg>
        <pc:spChg chg="mod">
          <ac:chgData name="Bryan Sun" userId="851caa7714272873" providerId="LiveId" clId="{C6832A34-E954-4048-AEAC-44542278B57B}" dt="2023-10-20T11:57:38.259" v="2138" actId="20577"/>
          <ac:spMkLst>
            <pc:docMk/>
            <pc:sldMk cId="3122757370" sldId="642"/>
            <ac:spMk id="3" creationId="{364B6489-5513-4724-81F7-F874B8C60D21}"/>
          </ac:spMkLst>
        </pc:spChg>
      </pc:sldChg>
      <pc:sldChg chg="modSp mod">
        <pc:chgData name="Bryan Sun" userId="851caa7714272873" providerId="LiveId" clId="{C6832A34-E954-4048-AEAC-44542278B57B}" dt="2023-10-20T11:57:08.836" v="2111" actId="20577"/>
        <pc:sldMkLst>
          <pc:docMk/>
          <pc:sldMk cId="2825890575" sldId="643"/>
        </pc:sldMkLst>
        <pc:spChg chg="mod">
          <ac:chgData name="Bryan Sun" userId="851caa7714272873" providerId="LiveId" clId="{C6832A34-E954-4048-AEAC-44542278B57B}" dt="2023-10-20T11:57:08.836" v="2111" actId="20577"/>
          <ac:spMkLst>
            <pc:docMk/>
            <pc:sldMk cId="2825890575" sldId="643"/>
            <ac:spMk id="2" creationId="{42D00FBD-1222-496C-8A0C-0B68A7CB6094}"/>
          </ac:spMkLst>
        </pc:spChg>
      </pc:sldChg>
      <pc:sldChg chg="modSp mod">
        <pc:chgData name="Bryan Sun" userId="851caa7714272873" providerId="LiveId" clId="{C6832A34-E954-4048-AEAC-44542278B57B}" dt="2023-10-20T11:56:59.372" v="2096" actId="20577"/>
        <pc:sldMkLst>
          <pc:docMk/>
          <pc:sldMk cId="1787399020" sldId="644"/>
        </pc:sldMkLst>
        <pc:spChg chg="mod">
          <ac:chgData name="Bryan Sun" userId="851caa7714272873" providerId="LiveId" clId="{C6832A34-E954-4048-AEAC-44542278B57B}" dt="2023-10-20T11:56:59.372" v="2096" actId="20577"/>
          <ac:spMkLst>
            <pc:docMk/>
            <pc:sldMk cId="1787399020" sldId="644"/>
            <ac:spMk id="2" creationId="{42D00FBD-1222-496C-8A0C-0B68A7CB6094}"/>
          </ac:spMkLst>
        </pc:spChg>
      </pc:sldChg>
      <pc:sldChg chg="modSp mod modAnim">
        <pc:chgData name="Bryan Sun" userId="851caa7714272873" providerId="LiveId" clId="{C6832A34-E954-4048-AEAC-44542278B57B}" dt="2023-10-20T11:56:18.395" v="2087" actId="6549"/>
        <pc:sldMkLst>
          <pc:docMk/>
          <pc:sldMk cId="2832505628" sldId="645"/>
        </pc:sldMkLst>
        <pc:spChg chg="mod">
          <ac:chgData name="Bryan Sun" userId="851caa7714272873" providerId="LiveId" clId="{C6832A34-E954-4048-AEAC-44542278B57B}" dt="2023-10-20T11:56:18.395" v="2087" actId="6549"/>
          <ac:spMkLst>
            <pc:docMk/>
            <pc:sldMk cId="2832505628" sldId="645"/>
            <ac:spMk id="3" creationId="{364B6489-5513-4724-81F7-F874B8C60D21}"/>
          </ac:spMkLst>
        </pc:spChg>
      </pc:sldChg>
      <pc:sldChg chg="modSp mod modAnim">
        <pc:chgData name="Bryan Sun" userId="851caa7714272873" providerId="LiveId" clId="{C6832A34-E954-4048-AEAC-44542278B57B}" dt="2023-10-20T12:02:37.040" v="2348" actId="20577"/>
        <pc:sldMkLst>
          <pc:docMk/>
          <pc:sldMk cId="54138808" sldId="646"/>
        </pc:sldMkLst>
        <pc:spChg chg="mod">
          <ac:chgData name="Bryan Sun" userId="851caa7714272873" providerId="LiveId" clId="{C6832A34-E954-4048-AEAC-44542278B57B}" dt="2023-10-20T11:58:06.042" v="2178" actId="20577"/>
          <ac:spMkLst>
            <pc:docMk/>
            <pc:sldMk cId="54138808" sldId="646"/>
            <ac:spMk id="2" creationId="{42D00FBD-1222-496C-8A0C-0B68A7CB6094}"/>
          </ac:spMkLst>
        </pc:spChg>
        <pc:spChg chg="mod">
          <ac:chgData name="Bryan Sun" userId="851caa7714272873" providerId="LiveId" clId="{C6832A34-E954-4048-AEAC-44542278B57B}" dt="2023-10-20T12:02:37.040" v="2348" actId="20577"/>
          <ac:spMkLst>
            <pc:docMk/>
            <pc:sldMk cId="54138808" sldId="646"/>
            <ac:spMk id="3" creationId="{364B6489-5513-4724-81F7-F874B8C60D21}"/>
          </ac:spMkLst>
        </pc:spChg>
      </pc:sldChg>
      <pc:sldChg chg="modSp modAnim">
        <pc:chgData name="Bryan Sun" userId="851caa7714272873" providerId="LiveId" clId="{C6832A34-E954-4048-AEAC-44542278B57B}" dt="2023-10-21T11:57:56.927" v="3649" actId="6549"/>
        <pc:sldMkLst>
          <pc:docMk/>
          <pc:sldMk cId="672107184" sldId="647"/>
        </pc:sldMkLst>
        <pc:spChg chg="mod">
          <ac:chgData name="Bryan Sun" userId="851caa7714272873" providerId="LiveId" clId="{C6832A34-E954-4048-AEAC-44542278B57B}" dt="2023-10-21T11:57:56.927" v="3649" actId="6549"/>
          <ac:spMkLst>
            <pc:docMk/>
            <pc:sldMk cId="672107184" sldId="647"/>
            <ac:spMk id="3" creationId="{364B6489-5513-4724-81F7-F874B8C60D21}"/>
          </ac:spMkLst>
        </pc:spChg>
      </pc:sldChg>
      <pc:sldChg chg="modSp mod">
        <pc:chgData name="Bryan Sun" userId="851caa7714272873" providerId="LiveId" clId="{C6832A34-E954-4048-AEAC-44542278B57B}" dt="2023-10-21T11:00:21.487" v="3361" actId="13926"/>
        <pc:sldMkLst>
          <pc:docMk/>
          <pc:sldMk cId="2058013266" sldId="648"/>
        </pc:sldMkLst>
        <pc:spChg chg="mod">
          <ac:chgData name="Bryan Sun" userId="851caa7714272873" providerId="LiveId" clId="{C6832A34-E954-4048-AEAC-44542278B57B}" dt="2023-10-21T11:00:21.487" v="3361" actId="13926"/>
          <ac:spMkLst>
            <pc:docMk/>
            <pc:sldMk cId="2058013266" sldId="648"/>
            <ac:spMk id="3" creationId="{364B6489-5513-4724-81F7-F874B8C60D21}"/>
          </ac:spMkLst>
        </pc:spChg>
        <pc:picChg chg="mod">
          <ac:chgData name="Bryan Sun" userId="851caa7714272873" providerId="LiveId" clId="{C6832A34-E954-4048-AEAC-44542278B57B}" dt="2023-10-20T12:07:21.817" v="2595" actId="1035"/>
          <ac:picMkLst>
            <pc:docMk/>
            <pc:sldMk cId="2058013266" sldId="648"/>
            <ac:picMk id="4" creationId="{5CBA6F3F-6D63-9648-B7B6-B4F067FF6472}"/>
          </ac:picMkLst>
        </pc:picChg>
      </pc:sldChg>
      <pc:sldChg chg="modSp">
        <pc:chgData name="Bryan Sun" userId="851caa7714272873" providerId="LiveId" clId="{C6832A34-E954-4048-AEAC-44542278B57B}" dt="2023-10-21T11:05:57.649" v="3371" actId="6549"/>
        <pc:sldMkLst>
          <pc:docMk/>
          <pc:sldMk cId="3192662954" sldId="652"/>
        </pc:sldMkLst>
        <pc:spChg chg="mod">
          <ac:chgData name="Bryan Sun" userId="851caa7714272873" providerId="LiveId" clId="{C6832A34-E954-4048-AEAC-44542278B57B}" dt="2023-10-21T11:05:57.649" v="3371" actId="6549"/>
          <ac:spMkLst>
            <pc:docMk/>
            <pc:sldMk cId="3192662954" sldId="652"/>
            <ac:spMk id="3" creationId="{364B6489-5513-4724-81F7-F874B8C60D21}"/>
          </ac:spMkLst>
        </pc:spChg>
      </pc:sldChg>
      <pc:sldChg chg="modSp">
        <pc:chgData name="Bryan Sun" userId="851caa7714272873" providerId="LiveId" clId="{C6832A34-E954-4048-AEAC-44542278B57B}" dt="2023-10-21T11:09:35.061" v="3518" actId="20577"/>
        <pc:sldMkLst>
          <pc:docMk/>
          <pc:sldMk cId="3197605325" sldId="654"/>
        </pc:sldMkLst>
        <pc:spChg chg="mod">
          <ac:chgData name="Bryan Sun" userId="851caa7714272873" providerId="LiveId" clId="{C6832A34-E954-4048-AEAC-44542278B57B}" dt="2023-10-21T11:09:35.061" v="3518" actId="20577"/>
          <ac:spMkLst>
            <pc:docMk/>
            <pc:sldMk cId="3197605325" sldId="654"/>
            <ac:spMk id="3" creationId="{364B6489-5513-4724-81F7-F874B8C60D21}"/>
          </ac:spMkLst>
        </pc:spChg>
      </pc:sldChg>
      <pc:sldChg chg="modSp mod modAnim">
        <pc:chgData name="Bryan Sun" userId="851caa7714272873" providerId="LiveId" clId="{C6832A34-E954-4048-AEAC-44542278B57B}" dt="2023-10-17T10:41:32.723" v="47" actId="20577"/>
        <pc:sldMkLst>
          <pc:docMk/>
          <pc:sldMk cId="1957398792" sldId="658"/>
        </pc:sldMkLst>
        <pc:spChg chg="mod">
          <ac:chgData name="Bryan Sun" userId="851caa7714272873" providerId="LiveId" clId="{C6832A34-E954-4048-AEAC-44542278B57B}" dt="2023-10-17T10:41:32.723" v="47" actId="20577"/>
          <ac:spMkLst>
            <pc:docMk/>
            <pc:sldMk cId="1957398792" sldId="658"/>
            <ac:spMk id="3" creationId="{364B6489-5513-4724-81F7-F874B8C60D21}"/>
          </ac:spMkLst>
        </pc:spChg>
      </pc:sldChg>
      <pc:sldChg chg="modSp mod modAnim">
        <pc:chgData name="Bryan Sun" userId="851caa7714272873" providerId="LiveId" clId="{C6832A34-E954-4048-AEAC-44542278B57B}" dt="2023-10-21T11:33:37.741" v="3567" actId="20577"/>
        <pc:sldMkLst>
          <pc:docMk/>
          <pc:sldMk cId="3075070834" sldId="659"/>
        </pc:sldMkLst>
        <pc:spChg chg="mod">
          <ac:chgData name="Bryan Sun" userId="851caa7714272873" providerId="LiveId" clId="{C6832A34-E954-4048-AEAC-44542278B57B}" dt="2023-10-17T10:41:49.863" v="52" actId="20577"/>
          <ac:spMkLst>
            <pc:docMk/>
            <pc:sldMk cId="3075070834" sldId="659"/>
            <ac:spMk id="2" creationId="{42D00FBD-1222-496C-8A0C-0B68A7CB6094}"/>
          </ac:spMkLst>
        </pc:spChg>
        <pc:spChg chg="mod">
          <ac:chgData name="Bryan Sun" userId="851caa7714272873" providerId="LiveId" clId="{C6832A34-E954-4048-AEAC-44542278B57B}" dt="2023-10-21T11:33:37.741" v="3567" actId="20577"/>
          <ac:spMkLst>
            <pc:docMk/>
            <pc:sldMk cId="3075070834" sldId="659"/>
            <ac:spMk id="3" creationId="{364B6489-5513-4724-81F7-F874B8C60D21}"/>
          </ac:spMkLst>
        </pc:spChg>
      </pc:sldChg>
      <pc:sldChg chg="modSp mod modAnim">
        <pc:chgData name="Bryan Sun" userId="851caa7714272873" providerId="LiveId" clId="{C6832A34-E954-4048-AEAC-44542278B57B}" dt="2023-10-21T11:36:14.118" v="3621" actId="20577"/>
        <pc:sldMkLst>
          <pc:docMk/>
          <pc:sldMk cId="1849388432" sldId="660"/>
        </pc:sldMkLst>
        <pc:spChg chg="mod">
          <ac:chgData name="Bryan Sun" userId="851caa7714272873" providerId="LiveId" clId="{C6832A34-E954-4048-AEAC-44542278B57B}" dt="2023-10-17T10:53:58.141" v="624" actId="20577"/>
          <ac:spMkLst>
            <pc:docMk/>
            <pc:sldMk cId="1849388432" sldId="660"/>
            <ac:spMk id="2" creationId="{42D00FBD-1222-496C-8A0C-0B68A7CB6094}"/>
          </ac:spMkLst>
        </pc:spChg>
        <pc:spChg chg="mod">
          <ac:chgData name="Bryan Sun" userId="851caa7714272873" providerId="LiveId" clId="{C6832A34-E954-4048-AEAC-44542278B57B}" dt="2023-10-21T11:36:14.118" v="3621" actId="20577"/>
          <ac:spMkLst>
            <pc:docMk/>
            <pc:sldMk cId="1849388432" sldId="660"/>
            <ac:spMk id="3" creationId="{364B6489-5513-4724-81F7-F874B8C60D21}"/>
          </ac:spMkLst>
        </pc:spChg>
      </pc:sldChg>
      <pc:sldChg chg="modSp mod">
        <pc:chgData name="Bryan Sun" userId="851caa7714272873" providerId="LiveId" clId="{C6832A34-E954-4048-AEAC-44542278B57B}" dt="2023-10-20T11:39:39.584" v="1013" actId="1036"/>
        <pc:sldMkLst>
          <pc:docMk/>
          <pc:sldMk cId="1611636478" sldId="661"/>
        </pc:sldMkLst>
        <pc:picChg chg="mod">
          <ac:chgData name="Bryan Sun" userId="851caa7714272873" providerId="LiveId" clId="{C6832A34-E954-4048-AEAC-44542278B57B}" dt="2023-10-20T11:39:39.584" v="1013" actId="1036"/>
          <ac:picMkLst>
            <pc:docMk/>
            <pc:sldMk cId="1611636478" sldId="661"/>
            <ac:picMk id="3" creationId="{B4933428-3FDE-D942-8076-53E1F92DAF30}"/>
          </ac:picMkLst>
        </pc:picChg>
      </pc:sldChg>
      <pc:sldChg chg="modSp mod">
        <pc:chgData name="Bryan Sun" userId="851caa7714272873" providerId="LiveId" clId="{C6832A34-E954-4048-AEAC-44542278B57B}" dt="2023-10-21T11:37:24.772" v="3634" actId="27636"/>
        <pc:sldMkLst>
          <pc:docMk/>
          <pc:sldMk cId="3045658773" sldId="662"/>
        </pc:sldMkLst>
        <pc:spChg chg="mod">
          <ac:chgData name="Bryan Sun" userId="851caa7714272873" providerId="LiveId" clId="{C6832A34-E954-4048-AEAC-44542278B57B}" dt="2023-10-20T11:48:07.999" v="1609" actId="20577"/>
          <ac:spMkLst>
            <pc:docMk/>
            <pc:sldMk cId="3045658773" sldId="662"/>
            <ac:spMk id="2" creationId="{42D00FBD-1222-496C-8A0C-0B68A7CB6094}"/>
          </ac:spMkLst>
        </pc:spChg>
        <pc:spChg chg="mod">
          <ac:chgData name="Bryan Sun" userId="851caa7714272873" providerId="LiveId" clId="{C6832A34-E954-4048-AEAC-44542278B57B}" dt="2023-10-21T11:37:24.772" v="3634" actId="27636"/>
          <ac:spMkLst>
            <pc:docMk/>
            <pc:sldMk cId="3045658773" sldId="662"/>
            <ac:spMk id="3" creationId="{364B6489-5513-4724-81F7-F874B8C60D21}"/>
          </ac:spMkLst>
        </pc:spChg>
      </pc:sldChg>
      <pc:sldChg chg="modSp mod modAnim">
        <pc:chgData name="Bryan Sun" userId="851caa7714272873" providerId="LiveId" clId="{C6832A34-E954-4048-AEAC-44542278B57B}" dt="2023-10-20T11:52:22.848" v="2029" actId="20577"/>
        <pc:sldMkLst>
          <pc:docMk/>
          <pc:sldMk cId="4270151225" sldId="663"/>
        </pc:sldMkLst>
        <pc:spChg chg="mod">
          <ac:chgData name="Bryan Sun" userId="851caa7714272873" providerId="LiveId" clId="{C6832A34-E954-4048-AEAC-44542278B57B}" dt="2023-10-20T11:48:13.234" v="1614" actId="6549"/>
          <ac:spMkLst>
            <pc:docMk/>
            <pc:sldMk cId="4270151225" sldId="663"/>
            <ac:spMk id="2" creationId="{42D00FBD-1222-496C-8A0C-0B68A7CB6094}"/>
          </ac:spMkLst>
        </pc:spChg>
        <pc:spChg chg="mod">
          <ac:chgData name="Bryan Sun" userId="851caa7714272873" providerId="LiveId" clId="{C6832A34-E954-4048-AEAC-44542278B57B}" dt="2023-10-20T11:52:22.848" v="2029" actId="20577"/>
          <ac:spMkLst>
            <pc:docMk/>
            <pc:sldMk cId="4270151225" sldId="663"/>
            <ac:spMk id="3" creationId="{364B6489-5513-4724-81F7-F874B8C60D21}"/>
          </ac:spMkLst>
        </pc:spChg>
      </pc:sldChg>
      <pc:sldChg chg="modSp">
        <pc:chgData name="Bryan Sun" userId="851caa7714272873" providerId="LiveId" clId="{C6832A34-E954-4048-AEAC-44542278B57B}" dt="2023-10-21T11:52:55.921" v="3644" actId="20577"/>
        <pc:sldMkLst>
          <pc:docMk/>
          <pc:sldMk cId="1058591705" sldId="665"/>
        </pc:sldMkLst>
        <pc:spChg chg="mod">
          <ac:chgData name="Bryan Sun" userId="851caa7714272873" providerId="LiveId" clId="{C6832A34-E954-4048-AEAC-44542278B57B}" dt="2023-10-21T11:52:55.921" v="3644" actId="20577"/>
          <ac:spMkLst>
            <pc:docMk/>
            <pc:sldMk cId="1058591705" sldId="665"/>
            <ac:spMk id="3" creationId="{364B6489-5513-4724-81F7-F874B8C60D21}"/>
          </ac:spMkLst>
        </pc:spChg>
      </pc:sldChg>
      <pc:sldChg chg="modSp">
        <pc:chgData name="Bryan Sun" userId="851caa7714272873" providerId="LiveId" clId="{C6832A34-E954-4048-AEAC-44542278B57B}" dt="2023-10-21T11:54:24.772" v="3645" actId="20577"/>
        <pc:sldMkLst>
          <pc:docMk/>
          <pc:sldMk cId="3669896796" sldId="666"/>
        </pc:sldMkLst>
        <pc:spChg chg="mod">
          <ac:chgData name="Bryan Sun" userId="851caa7714272873" providerId="LiveId" clId="{C6832A34-E954-4048-AEAC-44542278B57B}" dt="2023-10-21T11:54:24.772" v="3645" actId="20577"/>
          <ac:spMkLst>
            <pc:docMk/>
            <pc:sldMk cId="3669896796" sldId="666"/>
            <ac:spMk id="3" creationId="{364B6489-5513-4724-81F7-F874B8C60D21}"/>
          </ac:spMkLst>
        </pc:spChg>
      </pc:sldChg>
      <pc:sldChg chg="modSp mod">
        <pc:chgData name="Bryan Sun" userId="851caa7714272873" providerId="LiveId" clId="{C6832A34-E954-4048-AEAC-44542278B57B}" dt="2023-10-21T06:34:03.025" v="2943" actId="20577"/>
        <pc:sldMkLst>
          <pc:docMk/>
          <pc:sldMk cId="554686132" sldId="672"/>
        </pc:sldMkLst>
        <pc:spChg chg="mod">
          <ac:chgData name="Bryan Sun" userId="851caa7714272873" providerId="LiveId" clId="{C6832A34-E954-4048-AEAC-44542278B57B}" dt="2023-10-21T06:34:03.025" v="2943" actId="20577"/>
          <ac:spMkLst>
            <pc:docMk/>
            <pc:sldMk cId="554686132" sldId="672"/>
            <ac:spMk id="3" creationId="{364B6489-5513-4724-81F7-F874B8C60D21}"/>
          </ac:spMkLst>
        </pc:spChg>
      </pc:sldChg>
      <pc:sldChg chg="modSp mod">
        <pc:chgData name="Bryan Sun" userId="851caa7714272873" providerId="LiveId" clId="{C6832A34-E954-4048-AEAC-44542278B57B}" dt="2023-10-21T06:40:04.206" v="3241" actId="20577"/>
        <pc:sldMkLst>
          <pc:docMk/>
          <pc:sldMk cId="3266263703" sldId="674"/>
        </pc:sldMkLst>
        <pc:spChg chg="mod">
          <ac:chgData name="Bryan Sun" userId="851caa7714272873" providerId="LiveId" clId="{C6832A34-E954-4048-AEAC-44542278B57B}" dt="2023-10-21T06:24:37.447" v="2625" actId="20577"/>
          <ac:spMkLst>
            <pc:docMk/>
            <pc:sldMk cId="3266263703" sldId="674"/>
            <ac:spMk id="2" creationId="{42D00FBD-1222-496C-8A0C-0B68A7CB6094}"/>
          </ac:spMkLst>
        </pc:spChg>
        <pc:spChg chg="mod">
          <ac:chgData name="Bryan Sun" userId="851caa7714272873" providerId="LiveId" clId="{C6832A34-E954-4048-AEAC-44542278B57B}" dt="2023-10-21T06:40:04.206" v="3241" actId="20577"/>
          <ac:spMkLst>
            <pc:docMk/>
            <pc:sldMk cId="3266263703" sldId="674"/>
            <ac:spMk id="3" creationId="{364B6489-5513-4724-81F7-F874B8C60D21}"/>
          </ac:spMkLst>
        </pc:spChg>
      </pc:sldChg>
      <pc:sldMasterChg chg="del delSldLayout">
        <pc:chgData name="Bryan Sun" userId="851caa7714272873" providerId="LiveId" clId="{C6832A34-E954-4048-AEAC-44542278B57B}" dt="2023-10-20T11:33:22.185" v="900" actId="2696"/>
        <pc:sldMasterMkLst>
          <pc:docMk/>
          <pc:sldMasterMk cId="3378982090" sldId="2147483648"/>
        </pc:sldMasterMkLst>
        <pc:sldLayoutChg chg="del">
          <pc:chgData name="Bryan Sun" userId="851caa7714272873" providerId="LiveId" clId="{C6832A34-E954-4048-AEAC-44542278B57B}" dt="2023-10-20T11:33:22.185" v="900" actId="2696"/>
          <pc:sldLayoutMkLst>
            <pc:docMk/>
            <pc:sldMasterMk cId="3378982090" sldId="2147483648"/>
            <pc:sldLayoutMk cId="2885667885" sldId="2147483649"/>
          </pc:sldLayoutMkLst>
        </pc:sldLayoutChg>
        <pc:sldLayoutChg chg="del">
          <pc:chgData name="Bryan Sun" userId="851caa7714272873" providerId="LiveId" clId="{C6832A34-E954-4048-AEAC-44542278B57B}" dt="2023-10-20T11:33:22.185" v="900" actId="2696"/>
          <pc:sldLayoutMkLst>
            <pc:docMk/>
            <pc:sldMasterMk cId="3378982090" sldId="2147483648"/>
            <pc:sldLayoutMk cId="1725021490" sldId="2147483650"/>
          </pc:sldLayoutMkLst>
        </pc:sldLayoutChg>
        <pc:sldLayoutChg chg="del">
          <pc:chgData name="Bryan Sun" userId="851caa7714272873" providerId="LiveId" clId="{C6832A34-E954-4048-AEAC-44542278B57B}" dt="2023-10-20T11:33:22.185" v="900" actId="2696"/>
          <pc:sldLayoutMkLst>
            <pc:docMk/>
            <pc:sldMasterMk cId="3378982090" sldId="2147483648"/>
            <pc:sldLayoutMk cId="397695665" sldId="2147483651"/>
          </pc:sldLayoutMkLst>
        </pc:sldLayoutChg>
        <pc:sldLayoutChg chg="del">
          <pc:chgData name="Bryan Sun" userId="851caa7714272873" providerId="LiveId" clId="{C6832A34-E954-4048-AEAC-44542278B57B}" dt="2023-10-20T11:33:22.185" v="900" actId="2696"/>
          <pc:sldLayoutMkLst>
            <pc:docMk/>
            <pc:sldMasterMk cId="3378982090" sldId="2147483648"/>
            <pc:sldLayoutMk cId="63907242" sldId="2147483652"/>
          </pc:sldLayoutMkLst>
        </pc:sldLayoutChg>
        <pc:sldLayoutChg chg="del">
          <pc:chgData name="Bryan Sun" userId="851caa7714272873" providerId="LiveId" clId="{C6832A34-E954-4048-AEAC-44542278B57B}" dt="2023-10-20T11:33:22.185" v="900" actId="2696"/>
          <pc:sldLayoutMkLst>
            <pc:docMk/>
            <pc:sldMasterMk cId="3378982090" sldId="2147483648"/>
            <pc:sldLayoutMk cId="1021714249" sldId="2147483653"/>
          </pc:sldLayoutMkLst>
        </pc:sldLayoutChg>
        <pc:sldLayoutChg chg="del">
          <pc:chgData name="Bryan Sun" userId="851caa7714272873" providerId="LiveId" clId="{C6832A34-E954-4048-AEAC-44542278B57B}" dt="2023-10-20T11:33:22.185" v="900" actId="2696"/>
          <pc:sldLayoutMkLst>
            <pc:docMk/>
            <pc:sldMasterMk cId="3378982090" sldId="2147483648"/>
            <pc:sldLayoutMk cId="2402374197" sldId="2147483654"/>
          </pc:sldLayoutMkLst>
        </pc:sldLayoutChg>
        <pc:sldLayoutChg chg="del">
          <pc:chgData name="Bryan Sun" userId="851caa7714272873" providerId="LiveId" clId="{C6832A34-E954-4048-AEAC-44542278B57B}" dt="2023-10-20T11:33:22.185" v="900" actId="2696"/>
          <pc:sldLayoutMkLst>
            <pc:docMk/>
            <pc:sldMasterMk cId="3378982090" sldId="2147483648"/>
            <pc:sldLayoutMk cId="63318457" sldId="2147483655"/>
          </pc:sldLayoutMkLst>
        </pc:sldLayoutChg>
        <pc:sldLayoutChg chg="del">
          <pc:chgData name="Bryan Sun" userId="851caa7714272873" providerId="LiveId" clId="{C6832A34-E954-4048-AEAC-44542278B57B}" dt="2023-10-20T11:33:22.185" v="900" actId="2696"/>
          <pc:sldLayoutMkLst>
            <pc:docMk/>
            <pc:sldMasterMk cId="3378982090" sldId="2147483648"/>
            <pc:sldLayoutMk cId="1399276319" sldId="2147483656"/>
          </pc:sldLayoutMkLst>
        </pc:sldLayoutChg>
        <pc:sldLayoutChg chg="del">
          <pc:chgData name="Bryan Sun" userId="851caa7714272873" providerId="LiveId" clId="{C6832A34-E954-4048-AEAC-44542278B57B}" dt="2023-10-20T11:33:22.185" v="900" actId="2696"/>
          <pc:sldLayoutMkLst>
            <pc:docMk/>
            <pc:sldMasterMk cId="3378982090" sldId="2147483648"/>
            <pc:sldLayoutMk cId="1459228008" sldId="2147483657"/>
          </pc:sldLayoutMkLst>
        </pc:sldLayoutChg>
        <pc:sldLayoutChg chg="del">
          <pc:chgData name="Bryan Sun" userId="851caa7714272873" providerId="LiveId" clId="{C6832A34-E954-4048-AEAC-44542278B57B}" dt="2023-10-20T11:33:22.185" v="900" actId="2696"/>
          <pc:sldLayoutMkLst>
            <pc:docMk/>
            <pc:sldMasterMk cId="3378982090" sldId="2147483648"/>
            <pc:sldLayoutMk cId="2779413969" sldId="2147483658"/>
          </pc:sldLayoutMkLst>
        </pc:sldLayoutChg>
        <pc:sldLayoutChg chg="del">
          <pc:chgData name="Bryan Sun" userId="851caa7714272873" providerId="LiveId" clId="{C6832A34-E954-4048-AEAC-44542278B57B}" dt="2023-10-20T11:33:22.185" v="900" actId="2696"/>
          <pc:sldLayoutMkLst>
            <pc:docMk/>
            <pc:sldMasterMk cId="3378982090" sldId="2147483648"/>
            <pc:sldLayoutMk cId="2267911370" sldId="2147483659"/>
          </pc:sldLayoutMkLst>
        </pc:sldLayoutChg>
      </pc:sldMasterChg>
    </pc:docChg>
  </pc:docChgLst>
  <pc:docChgLst>
    <pc:chgData name="Bryan Sun" userId="851caa7714272873" providerId="LiveId" clId="{00DFBF40-1E15-2C44-9410-BF2BD13E38BD}"/>
    <pc:docChg chg="undo custSel modSld">
      <pc:chgData name="Bryan Sun" userId="851caa7714272873" providerId="LiveId" clId="{00DFBF40-1E15-2C44-9410-BF2BD13E38BD}" dt="2023-10-22T03:40:12.979" v="2909" actId="20577"/>
      <pc:docMkLst>
        <pc:docMk/>
      </pc:docMkLst>
      <pc:sldChg chg="modSp mod">
        <pc:chgData name="Bryan Sun" userId="851caa7714272873" providerId="LiveId" clId="{00DFBF40-1E15-2C44-9410-BF2BD13E38BD}" dt="2023-10-15T08:04:51.237" v="79" actId="108"/>
        <pc:sldMkLst>
          <pc:docMk/>
          <pc:sldMk cId="698590136" sldId="624"/>
        </pc:sldMkLst>
        <pc:spChg chg="mod">
          <ac:chgData name="Bryan Sun" userId="851caa7714272873" providerId="LiveId" clId="{00DFBF40-1E15-2C44-9410-BF2BD13E38BD}" dt="2023-10-15T08:04:51.237" v="79" actId="108"/>
          <ac:spMkLst>
            <pc:docMk/>
            <pc:sldMk cId="698590136" sldId="624"/>
            <ac:spMk id="2" creationId="{00000000-0000-0000-0000-000000000000}"/>
          </ac:spMkLst>
        </pc:spChg>
      </pc:sldChg>
      <pc:sldChg chg="modSp mod">
        <pc:chgData name="Bryan Sun" userId="851caa7714272873" providerId="LiveId" clId="{00DFBF40-1E15-2C44-9410-BF2BD13E38BD}" dt="2023-10-15T08:03:57.502" v="76" actId="20577"/>
        <pc:sldMkLst>
          <pc:docMk/>
          <pc:sldMk cId="1739425873" sldId="625"/>
        </pc:sldMkLst>
        <pc:spChg chg="mod">
          <ac:chgData name="Bryan Sun" userId="851caa7714272873" providerId="LiveId" clId="{00DFBF40-1E15-2C44-9410-BF2BD13E38BD}" dt="2023-10-15T08:03:57.502" v="76" actId="20577"/>
          <ac:spMkLst>
            <pc:docMk/>
            <pc:sldMk cId="1739425873" sldId="625"/>
            <ac:spMk id="3" creationId="{364B6489-5513-4724-81F7-F874B8C60D21}"/>
          </ac:spMkLst>
        </pc:spChg>
      </pc:sldChg>
      <pc:sldChg chg="modSp mod addAnim delAnim modAnim">
        <pc:chgData name="Bryan Sun" userId="851caa7714272873" providerId="LiveId" clId="{00DFBF40-1E15-2C44-9410-BF2BD13E38BD}" dt="2023-10-15T08:07:44.128" v="194" actId="20577"/>
        <pc:sldMkLst>
          <pc:docMk/>
          <pc:sldMk cId="3434705954" sldId="626"/>
        </pc:sldMkLst>
        <pc:spChg chg="mod">
          <ac:chgData name="Bryan Sun" userId="851caa7714272873" providerId="LiveId" clId="{00DFBF40-1E15-2C44-9410-BF2BD13E38BD}" dt="2023-10-15T08:07:44.128" v="194" actId="20577"/>
          <ac:spMkLst>
            <pc:docMk/>
            <pc:sldMk cId="3434705954" sldId="626"/>
            <ac:spMk id="3" creationId="{364B6489-5513-4724-81F7-F874B8C60D21}"/>
          </ac:spMkLst>
        </pc:spChg>
      </pc:sldChg>
      <pc:sldChg chg="modSp modAnim">
        <pc:chgData name="Bryan Sun" userId="851caa7714272873" providerId="LiveId" clId="{00DFBF40-1E15-2C44-9410-BF2BD13E38BD}" dt="2023-10-15T08:11:39.572" v="323" actId="20577"/>
        <pc:sldMkLst>
          <pc:docMk/>
          <pc:sldMk cId="2472285544" sldId="627"/>
        </pc:sldMkLst>
        <pc:spChg chg="mod">
          <ac:chgData name="Bryan Sun" userId="851caa7714272873" providerId="LiveId" clId="{00DFBF40-1E15-2C44-9410-BF2BD13E38BD}" dt="2023-10-15T08:11:39.572" v="323" actId="20577"/>
          <ac:spMkLst>
            <pc:docMk/>
            <pc:sldMk cId="2472285544" sldId="627"/>
            <ac:spMk id="3" creationId="{364B6489-5513-4724-81F7-F874B8C60D21}"/>
          </ac:spMkLst>
        </pc:spChg>
      </pc:sldChg>
      <pc:sldChg chg="modSp">
        <pc:chgData name="Bryan Sun" userId="851caa7714272873" providerId="LiveId" clId="{00DFBF40-1E15-2C44-9410-BF2BD13E38BD}" dt="2023-10-15T08:11:56.846" v="324" actId="20577"/>
        <pc:sldMkLst>
          <pc:docMk/>
          <pc:sldMk cId="2188043768" sldId="628"/>
        </pc:sldMkLst>
        <pc:spChg chg="mod">
          <ac:chgData name="Bryan Sun" userId="851caa7714272873" providerId="LiveId" clId="{00DFBF40-1E15-2C44-9410-BF2BD13E38BD}" dt="2023-10-15T08:11:56.846" v="324" actId="20577"/>
          <ac:spMkLst>
            <pc:docMk/>
            <pc:sldMk cId="2188043768" sldId="628"/>
            <ac:spMk id="3" creationId="{364B6489-5513-4724-81F7-F874B8C60D21}"/>
          </ac:spMkLst>
        </pc:spChg>
      </pc:sldChg>
      <pc:sldChg chg="modSp modAnim">
        <pc:chgData name="Bryan Sun" userId="851caa7714272873" providerId="LiveId" clId="{00DFBF40-1E15-2C44-9410-BF2BD13E38BD}" dt="2023-10-22T03:40:12.979" v="2909" actId="20577"/>
        <pc:sldMkLst>
          <pc:docMk/>
          <pc:sldMk cId="672107184" sldId="647"/>
        </pc:sldMkLst>
        <pc:spChg chg="mod">
          <ac:chgData name="Bryan Sun" userId="851caa7714272873" providerId="LiveId" clId="{00DFBF40-1E15-2C44-9410-BF2BD13E38BD}" dt="2023-10-22T03:40:12.979" v="2909" actId="20577"/>
          <ac:spMkLst>
            <pc:docMk/>
            <pc:sldMk cId="672107184" sldId="647"/>
            <ac:spMk id="3" creationId="{364B6489-5513-4724-81F7-F874B8C60D21}"/>
          </ac:spMkLst>
        </pc:spChg>
      </pc:sldChg>
      <pc:sldChg chg="modSp">
        <pc:chgData name="Bryan Sun" userId="851caa7714272873" providerId="LiveId" clId="{00DFBF40-1E15-2C44-9410-BF2BD13E38BD}" dt="2023-10-21T00:39:13.420" v="1661" actId="13926"/>
        <pc:sldMkLst>
          <pc:docMk/>
          <pc:sldMk cId="2058013266" sldId="648"/>
        </pc:sldMkLst>
        <pc:spChg chg="mod">
          <ac:chgData name="Bryan Sun" userId="851caa7714272873" providerId="LiveId" clId="{00DFBF40-1E15-2C44-9410-BF2BD13E38BD}" dt="2023-10-21T00:39:13.420" v="1661" actId="13926"/>
          <ac:spMkLst>
            <pc:docMk/>
            <pc:sldMk cId="2058013266" sldId="648"/>
            <ac:spMk id="3" creationId="{364B6489-5513-4724-81F7-F874B8C60D21}"/>
          </ac:spMkLst>
        </pc:spChg>
      </pc:sldChg>
      <pc:sldChg chg="modSp mod">
        <pc:chgData name="Bryan Sun" userId="851caa7714272873" providerId="LiveId" clId="{00DFBF40-1E15-2C44-9410-BF2BD13E38BD}" dt="2023-10-15T11:29:20.286" v="493" actId="6549"/>
        <pc:sldMkLst>
          <pc:docMk/>
          <pc:sldMk cId="1969584111" sldId="651"/>
        </pc:sldMkLst>
        <pc:spChg chg="mod">
          <ac:chgData name="Bryan Sun" userId="851caa7714272873" providerId="LiveId" clId="{00DFBF40-1E15-2C44-9410-BF2BD13E38BD}" dt="2023-10-15T11:25:54.201" v="338" actId="20577"/>
          <ac:spMkLst>
            <pc:docMk/>
            <pc:sldMk cId="1969584111" sldId="651"/>
            <ac:spMk id="2" creationId="{42D00FBD-1222-496C-8A0C-0B68A7CB6094}"/>
          </ac:spMkLst>
        </pc:spChg>
        <pc:spChg chg="mod">
          <ac:chgData name="Bryan Sun" userId="851caa7714272873" providerId="LiveId" clId="{00DFBF40-1E15-2C44-9410-BF2BD13E38BD}" dt="2023-10-15T11:29:20.286" v="493" actId="6549"/>
          <ac:spMkLst>
            <pc:docMk/>
            <pc:sldMk cId="1969584111" sldId="651"/>
            <ac:spMk id="3" creationId="{364B6489-5513-4724-81F7-F874B8C60D21}"/>
          </ac:spMkLst>
        </pc:spChg>
      </pc:sldChg>
      <pc:sldChg chg="modSp mod modAnim">
        <pc:chgData name="Bryan Sun" userId="851caa7714272873" providerId="LiveId" clId="{00DFBF40-1E15-2C44-9410-BF2BD13E38BD}" dt="2023-10-15T11:41:01.388" v="957" actId="20577"/>
        <pc:sldMkLst>
          <pc:docMk/>
          <pc:sldMk cId="3192662954" sldId="652"/>
        </pc:sldMkLst>
        <pc:spChg chg="mod">
          <ac:chgData name="Bryan Sun" userId="851caa7714272873" providerId="LiveId" clId="{00DFBF40-1E15-2C44-9410-BF2BD13E38BD}" dt="2023-10-15T11:41:01.388" v="957" actId="20577"/>
          <ac:spMkLst>
            <pc:docMk/>
            <pc:sldMk cId="3192662954" sldId="652"/>
            <ac:spMk id="2" creationId="{42D00FBD-1222-496C-8A0C-0B68A7CB6094}"/>
          </ac:spMkLst>
        </pc:spChg>
        <pc:spChg chg="mod">
          <ac:chgData name="Bryan Sun" userId="851caa7714272873" providerId="LiveId" clId="{00DFBF40-1E15-2C44-9410-BF2BD13E38BD}" dt="2023-10-15T11:40:50.547" v="955" actId="6549"/>
          <ac:spMkLst>
            <pc:docMk/>
            <pc:sldMk cId="3192662954" sldId="652"/>
            <ac:spMk id="3" creationId="{364B6489-5513-4724-81F7-F874B8C60D21}"/>
          </ac:spMkLst>
        </pc:spChg>
      </pc:sldChg>
      <pc:sldChg chg="modSp mod modAnim">
        <pc:chgData name="Bryan Sun" userId="851caa7714272873" providerId="LiveId" clId="{00DFBF40-1E15-2C44-9410-BF2BD13E38BD}" dt="2023-10-15T11:56:56.764" v="1318" actId="6549"/>
        <pc:sldMkLst>
          <pc:docMk/>
          <pc:sldMk cId="3197605325" sldId="654"/>
        </pc:sldMkLst>
        <pc:spChg chg="mod">
          <ac:chgData name="Bryan Sun" userId="851caa7714272873" providerId="LiveId" clId="{00DFBF40-1E15-2C44-9410-BF2BD13E38BD}" dt="2023-10-15T11:56:56.764" v="1318" actId="6549"/>
          <ac:spMkLst>
            <pc:docMk/>
            <pc:sldMk cId="3197605325" sldId="654"/>
            <ac:spMk id="3" creationId="{364B6489-5513-4724-81F7-F874B8C60D21}"/>
          </ac:spMkLst>
        </pc:spChg>
      </pc:sldChg>
      <pc:sldChg chg="modSp mod">
        <pc:chgData name="Bryan Sun" userId="851caa7714272873" providerId="LiveId" clId="{00DFBF40-1E15-2C44-9410-BF2BD13E38BD}" dt="2023-10-15T12:00:38.046" v="1640" actId="6549"/>
        <pc:sldMkLst>
          <pc:docMk/>
          <pc:sldMk cId="3348545642" sldId="656"/>
        </pc:sldMkLst>
        <pc:spChg chg="mod">
          <ac:chgData name="Bryan Sun" userId="851caa7714272873" providerId="LiveId" clId="{00DFBF40-1E15-2C44-9410-BF2BD13E38BD}" dt="2023-10-15T12:00:38.046" v="1640" actId="6549"/>
          <ac:spMkLst>
            <pc:docMk/>
            <pc:sldMk cId="3348545642" sldId="656"/>
            <ac:spMk id="3" creationId="{364B6489-5513-4724-81F7-F874B8C60D21}"/>
          </ac:spMkLst>
        </pc:spChg>
      </pc:sldChg>
      <pc:sldChg chg="modSp mod">
        <pc:chgData name="Bryan Sun" userId="851caa7714272873" providerId="LiveId" clId="{00DFBF40-1E15-2C44-9410-BF2BD13E38BD}" dt="2023-10-15T08:01:51.627" v="2" actId="27636"/>
        <pc:sldMkLst>
          <pc:docMk/>
          <pc:sldMk cId="1957398792" sldId="658"/>
        </pc:sldMkLst>
        <pc:spChg chg="mod">
          <ac:chgData name="Bryan Sun" userId="851caa7714272873" providerId="LiveId" clId="{00DFBF40-1E15-2C44-9410-BF2BD13E38BD}" dt="2023-10-15T08:01:51.627" v="2" actId="27636"/>
          <ac:spMkLst>
            <pc:docMk/>
            <pc:sldMk cId="1957398792" sldId="658"/>
            <ac:spMk id="3" creationId="{364B6489-5513-4724-81F7-F874B8C60D21}"/>
          </ac:spMkLst>
        </pc:spChg>
      </pc:sldChg>
      <pc:sldChg chg="modSp mod">
        <pc:chgData name="Bryan Sun" userId="851caa7714272873" providerId="LiveId" clId="{00DFBF40-1E15-2C44-9410-BF2BD13E38BD}" dt="2023-10-15T08:01:51.919" v="4" actId="27636"/>
        <pc:sldMkLst>
          <pc:docMk/>
          <pc:sldMk cId="1849388432" sldId="660"/>
        </pc:sldMkLst>
        <pc:spChg chg="mod">
          <ac:chgData name="Bryan Sun" userId="851caa7714272873" providerId="LiveId" clId="{00DFBF40-1E15-2C44-9410-BF2BD13E38BD}" dt="2023-10-15T08:01:51.919" v="4" actId="27636"/>
          <ac:spMkLst>
            <pc:docMk/>
            <pc:sldMk cId="1849388432" sldId="660"/>
            <ac:spMk id="3" creationId="{364B6489-5513-4724-81F7-F874B8C60D21}"/>
          </ac:spMkLst>
        </pc:spChg>
      </pc:sldChg>
      <pc:sldChg chg="modSp mod">
        <pc:chgData name="Bryan Sun" userId="851caa7714272873" providerId="LiveId" clId="{00DFBF40-1E15-2C44-9410-BF2BD13E38BD}" dt="2023-10-15T08:01:51.946" v="5" actId="27636"/>
        <pc:sldMkLst>
          <pc:docMk/>
          <pc:sldMk cId="3045658773" sldId="662"/>
        </pc:sldMkLst>
        <pc:spChg chg="mod">
          <ac:chgData name="Bryan Sun" userId="851caa7714272873" providerId="LiveId" clId="{00DFBF40-1E15-2C44-9410-BF2BD13E38BD}" dt="2023-10-15T08:01:51.946" v="5" actId="27636"/>
          <ac:spMkLst>
            <pc:docMk/>
            <pc:sldMk cId="3045658773" sldId="662"/>
            <ac:spMk id="3" creationId="{364B6489-5513-4724-81F7-F874B8C60D21}"/>
          </ac:spMkLst>
        </pc:spChg>
      </pc:sldChg>
      <pc:sldChg chg="modSp mod modAnim">
        <pc:chgData name="Bryan Sun" userId="851caa7714272873" providerId="LiveId" clId="{00DFBF40-1E15-2C44-9410-BF2BD13E38BD}" dt="2023-10-21T00:46:49.860" v="1866" actId="108"/>
        <pc:sldMkLst>
          <pc:docMk/>
          <pc:sldMk cId="1058591705" sldId="665"/>
        </pc:sldMkLst>
        <pc:spChg chg="mod">
          <ac:chgData name="Bryan Sun" userId="851caa7714272873" providerId="LiveId" clId="{00DFBF40-1E15-2C44-9410-BF2BD13E38BD}" dt="2023-10-21T00:46:49.860" v="1866" actId="108"/>
          <ac:spMkLst>
            <pc:docMk/>
            <pc:sldMk cId="1058591705" sldId="665"/>
            <ac:spMk id="2" creationId="{42D00FBD-1222-496C-8A0C-0B68A7CB6094}"/>
          </ac:spMkLst>
        </pc:spChg>
        <pc:spChg chg="mod">
          <ac:chgData name="Bryan Sun" userId="851caa7714272873" providerId="LiveId" clId="{00DFBF40-1E15-2C44-9410-BF2BD13E38BD}" dt="2023-10-21T00:46:33.347" v="1865" actId="20577"/>
          <ac:spMkLst>
            <pc:docMk/>
            <pc:sldMk cId="1058591705" sldId="665"/>
            <ac:spMk id="3" creationId="{364B6489-5513-4724-81F7-F874B8C60D21}"/>
          </ac:spMkLst>
        </pc:spChg>
      </pc:sldChg>
      <pc:sldChg chg="modSp mod modAnim">
        <pc:chgData name="Bryan Sun" userId="851caa7714272873" providerId="LiveId" clId="{00DFBF40-1E15-2C44-9410-BF2BD13E38BD}" dt="2023-10-21T00:55:17.758" v="2229" actId="20577"/>
        <pc:sldMkLst>
          <pc:docMk/>
          <pc:sldMk cId="3669896796" sldId="666"/>
        </pc:sldMkLst>
        <pc:spChg chg="mod">
          <ac:chgData name="Bryan Sun" userId="851caa7714272873" providerId="LiveId" clId="{00DFBF40-1E15-2C44-9410-BF2BD13E38BD}" dt="2023-10-21T00:55:17.758" v="2229" actId="20577"/>
          <ac:spMkLst>
            <pc:docMk/>
            <pc:sldMk cId="3669896796" sldId="666"/>
            <ac:spMk id="2" creationId="{42D00FBD-1222-496C-8A0C-0B68A7CB6094}"/>
          </ac:spMkLst>
        </pc:spChg>
        <pc:spChg chg="mod">
          <ac:chgData name="Bryan Sun" userId="851caa7714272873" providerId="LiveId" clId="{00DFBF40-1E15-2C44-9410-BF2BD13E38BD}" dt="2023-10-21T00:55:06.362" v="2218" actId="20577"/>
          <ac:spMkLst>
            <pc:docMk/>
            <pc:sldMk cId="3669896796" sldId="666"/>
            <ac:spMk id="3" creationId="{364B6489-5513-4724-81F7-F874B8C60D21}"/>
          </ac:spMkLst>
        </pc:spChg>
      </pc:sldChg>
      <pc:sldChg chg="modSp mod modAnim">
        <pc:chgData name="Bryan Sun" userId="851caa7714272873" providerId="LiveId" clId="{00DFBF40-1E15-2C44-9410-BF2BD13E38BD}" dt="2023-10-21T00:58:05.487" v="2265" actId="20577"/>
        <pc:sldMkLst>
          <pc:docMk/>
          <pc:sldMk cId="3502793059" sldId="667"/>
        </pc:sldMkLst>
        <pc:spChg chg="mod">
          <ac:chgData name="Bryan Sun" userId="851caa7714272873" providerId="LiveId" clId="{00DFBF40-1E15-2C44-9410-BF2BD13E38BD}" dt="2023-10-21T00:58:05.487" v="2265" actId="20577"/>
          <ac:spMkLst>
            <pc:docMk/>
            <pc:sldMk cId="3502793059" sldId="667"/>
            <ac:spMk id="3" creationId="{364B6489-5513-4724-81F7-F874B8C60D21}"/>
          </ac:spMkLst>
        </pc:spChg>
        <pc:grpChg chg="mod">
          <ac:chgData name="Bryan Sun" userId="851caa7714272873" providerId="LiveId" clId="{00DFBF40-1E15-2C44-9410-BF2BD13E38BD}" dt="2023-10-21T00:57:55.439" v="2264" actId="1076"/>
          <ac:grpSpMkLst>
            <pc:docMk/>
            <pc:sldMk cId="3502793059" sldId="667"/>
            <ac:grpSpMk id="7" creationId="{95498D0C-E4ED-9D4B-A8E4-556E5FE7B6AA}"/>
          </ac:grpSpMkLst>
        </pc:grpChg>
      </pc:sldChg>
      <pc:sldChg chg="modSp mod">
        <pc:chgData name="Bryan Sun" userId="851caa7714272873" providerId="LiveId" clId="{00DFBF40-1E15-2C44-9410-BF2BD13E38BD}" dt="2023-10-21T01:02:36.565" v="2460" actId="1035"/>
        <pc:sldMkLst>
          <pc:docMk/>
          <pc:sldMk cId="1307487217" sldId="668"/>
        </pc:sldMkLst>
        <pc:spChg chg="mod">
          <ac:chgData name="Bryan Sun" userId="851caa7714272873" providerId="LiveId" clId="{00DFBF40-1E15-2C44-9410-BF2BD13E38BD}" dt="2023-10-21T01:02:36.565" v="2460" actId="1035"/>
          <ac:spMkLst>
            <pc:docMk/>
            <pc:sldMk cId="1307487217" sldId="668"/>
            <ac:spMk id="2" creationId="{42D00FBD-1222-496C-8A0C-0B68A7CB6094}"/>
          </ac:spMkLst>
        </pc:spChg>
        <pc:spChg chg="mod">
          <ac:chgData name="Bryan Sun" userId="851caa7714272873" providerId="LiveId" clId="{00DFBF40-1E15-2C44-9410-BF2BD13E38BD}" dt="2023-10-21T01:01:58.643" v="2453" actId="20577"/>
          <ac:spMkLst>
            <pc:docMk/>
            <pc:sldMk cId="1307487217" sldId="668"/>
            <ac:spMk id="3" creationId="{364B6489-5513-4724-81F7-F874B8C60D21}"/>
          </ac:spMkLst>
        </pc:spChg>
      </pc:sldChg>
      <pc:sldChg chg="addSp delSp modSp mod modAnim">
        <pc:chgData name="Bryan Sun" userId="851caa7714272873" providerId="LiveId" clId="{00DFBF40-1E15-2C44-9410-BF2BD13E38BD}" dt="2023-10-21T05:37:29.233" v="2861" actId="20577"/>
        <pc:sldMkLst>
          <pc:docMk/>
          <pc:sldMk cId="950847543" sldId="669"/>
        </pc:sldMkLst>
        <pc:spChg chg="mod">
          <ac:chgData name="Bryan Sun" userId="851caa7714272873" providerId="LiveId" clId="{00DFBF40-1E15-2C44-9410-BF2BD13E38BD}" dt="2023-10-21T05:37:29.233" v="2861" actId="20577"/>
          <ac:spMkLst>
            <pc:docMk/>
            <pc:sldMk cId="950847543" sldId="669"/>
            <ac:spMk id="2" creationId="{42D00FBD-1222-496C-8A0C-0B68A7CB6094}"/>
          </ac:spMkLst>
        </pc:spChg>
        <pc:spChg chg="mod">
          <ac:chgData name="Bryan Sun" userId="851caa7714272873" providerId="LiveId" clId="{00DFBF40-1E15-2C44-9410-BF2BD13E38BD}" dt="2023-10-21T05:37:02.951" v="2858"/>
          <ac:spMkLst>
            <pc:docMk/>
            <pc:sldMk cId="950847543" sldId="669"/>
            <ac:spMk id="3" creationId="{364B6489-5513-4724-81F7-F874B8C60D21}"/>
          </ac:spMkLst>
        </pc:spChg>
        <pc:spChg chg="add del mod">
          <ac:chgData name="Bryan Sun" userId="851caa7714272873" providerId="LiveId" clId="{00DFBF40-1E15-2C44-9410-BF2BD13E38BD}" dt="2023-10-21T05:08:41.750" v="2472"/>
          <ac:spMkLst>
            <pc:docMk/>
            <pc:sldMk cId="950847543" sldId="669"/>
            <ac:spMk id="4" creationId="{20A926C2-7DED-2F61-A8D9-5230566E2571}"/>
          </ac:spMkLst>
        </pc:spChg>
      </pc:sldChg>
      <pc:sldChg chg="modSp mod">
        <pc:chgData name="Bryan Sun" userId="851caa7714272873" providerId="LiveId" clId="{00DFBF40-1E15-2C44-9410-BF2BD13E38BD}" dt="2023-10-21T05:57:36.585" v="2891" actId="2711"/>
        <pc:sldMkLst>
          <pc:docMk/>
          <pc:sldMk cId="1668050883" sldId="671"/>
        </pc:sldMkLst>
        <pc:spChg chg="mod">
          <ac:chgData name="Bryan Sun" userId="851caa7714272873" providerId="LiveId" clId="{00DFBF40-1E15-2C44-9410-BF2BD13E38BD}" dt="2023-10-21T05:54:54.859" v="2862" actId="108"/>
          <ac:spMkLst>
            <pc:docMk/>
            <pc:sldMk cId="1668050883" sldId="671"/>
            <ac:spMk id="2" creationId="{42D00FBD-1222-496C-8A0C-0B68A7CB6094}"/>
          </ac:spMkLst>
        </pc:spChg>
        <pc:spChg chg="mod">
          <ac:chgData name="Bryan Sun" userId="851caa7714272873" providerId="LiveId" clId="{00DFBF40-1E15-2C44-9410-BF2BD13E38BD}" dt="2023-10-21T05:57:36.585" v="2891" actId="2711"/>
          <ac:spMkLst>
            <pc:docMk/>
            <pc:sldMk cId="1668050883" sldId="671"/>
            <ac:spMk id="3" creationId="{364B6489-5513-4724-81F7-F874B8C60D21}"/>
          </ac:spMkLst>
        </pc:spChg>
      </pc:sldChg>
      <pc:sldChg chg="modSp mod">
        <pc:chgData name="Bryan Sun" userId="851caa7714272873" providerId="LiveId" clId="{00DFBF40-1E15-2C44-9410-BF2BD13E38BD}" dt="2023-10-21T05:59:12.979" v="2906" actId="20577"/>
        <pc:sldMkLst>
          <pc:docMk/>
          <pc:sldMk cId="554686132" sldId="672"/>
        </pc:sldMkLst>
        <pc:spChg chg="mod">
          <ac:chgData name="Bryan Sun" userId="851caa7714272873" providerId="LiveId" clId="{00DFBF40-1E15-2C44-9410-BF2BD13E38BD}" dt="2023-10-21T05:58:07.443" v="2897" actId="20577"/>
          <ac:spMkLst>
            <pc:docMk/>
            <pc:sldMk cId="554686132" sldId="672"/>
            <ac:spMk id="2" creationId="{42D00FBD-1222-496C-8A0C-0B68A7CB6094}"/>
          </ac:spMkLst>
        </pc:spChg>
        <pc:spChg chg="mod">
          <ac:chgData name="Bryan Sun" userId="851caa7714272873" providerId="LiveId" clId="{00DFBF40-1E15-2C44-9410-BF2BD13E38BD}" dt="2023-10-21T05:59:12.979" v="2906" actId="20577"/>
          <ac:spMkLst>
            <pc:docMk/>
            <pc:sldMk cId="554686132" sldId="672"/>
            <ac:spMk id="3" creationId="{364B6489-5513-4724-81F7-F874B8C60D21}"/>
          </ac:spMkLst>
        </pc:spChg>
      </pc:sldChg>
      <pc:sldChg chg="modSp mod">
        <pc:chgData name="Bryan Sun" userId="851caa7714272873" providerId="LiveId" clId="{00DFBF40-1E15-2C44-9410-BF2BD13E38BD}" dt="2023-10-15T08:01:52.312" v="9" actId="27636"/>
        <pc:sldMkLst>
          <pc:docMk/>
          <pc:sldMk cId="3266263703" sldId="674"/>
        </pc:sldMkLst>
        <pc:spChg chg="mod">
          <ac:chgData name="Bryan Sun" userId="851caa7714272873" providerId="LiveId" clId="{00DFBF40-1E15-2C44-9410-BF2BD13E38BD}" dt="2023-10-15T08:01:52.312" v="9" actId="27636"/>
          <ac:spMkLst>
            <pc:docMk/>
            <pc:sldMk cId="3266263703" sldId="674"/>
            <ac:spMk id="3" creationId="{364B6489-5513-4724-81F7-F874B8C60D21}"/>
          </ac:spMkLst>
        </pc:spChg>
      </pc:sldChg>
      <pc:sldChg chg="modSp mod">
        <pc:chgData name="Bryan Sun" userId="851caa7714272873" providerId="LiveId" clId="{00DFBF40-1E15-2C44-9410-BF2BD13E38BD}" dt="2023-10-15T08:13:36.242" v="334" actId="20577"/>
        <pc:sldMkLst>
          <pc:docMk/>
          <pc:sldMk cId="486032481" sldId="701"/>
        </pc:sldMkLst>
        <pc:spChg chg="mod">
          <ac:chgData name="Bryan Sun" userId="851caa7714272873" providerId="LiveId" clId="{00DFBF40-1E15-2C44-9410-BF2BD13E38BD}" dt="2023-10-15T08:13:36.242" v="334" actId="20577"/>
          <ac:spMkLst>
            <pc:docMk/>
            <pc:sldMk cId="486032481" sldId="701"/>
            <ac:spMk id="2" creationId="{42D00FBD-1222-496C-8A0C-0B68A7CB609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05310-1C9E-0644-B1A5-A09BD154BC66}" type="datetimeFigureOut">
              <a:rPr kumimoji="1" lang="zh-CN" altLang="en-US" smtClean="0"/>
              <a:t>2023/10/22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E6D263-9D34-9D47-8500-C37830DD9296}" type="slidenum">
              <a:rPr kumimoji="1" lang="zh-CN" altLang="en-US" smtClean="0"/>
              <a:t>‹#›</a:t>
            </a:fld>
            <a:endParaRPr kumimoji="1" lang="zh-CN" altLang="en-US"/>
          </a:p>
        </p:txBody>
      </p:sp>
    </p:spTree>
    <p:extLst>
      <p:ext uri="{BB962C8B-B14F-4D97-AF65-F5344CB8AC3E}">
        <p14:creationId xmlns:p14="http://schemas.microsoft.com/office/powerpoint/2010/main" val="2317207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12244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10300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16504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6275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25461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15658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52934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13998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70127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27714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57090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10974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79035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574112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84203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00158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31373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07993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22607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07264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45144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17338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45178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53713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946654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83652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35769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99728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07319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494443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698409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386955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564365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098850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177108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338334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12192000" cy="6857999"/>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CN" altLang="en-US"/>
              <a:t>单击此处编辑母版标题样式</a:t>
            </a:r>
            <a:endParaRPr lang="en-US"/>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a:xfrm>
            <a:off x="7077511" y="5410201"/>
            <a:ext cx="2743200" cy="365125"/>
          </a:xfrm>
          <a:prstGeom prst="rect">
            <a:avLst/>
          </a:prstGeom>
        </p:spPr>
        <p:txBody>
          <a:bodyPr/>
          <a:lstStyle/>
          <a:p>
            <a:fld id="{48A87A34-81AB-432B-8DAE-1953F412C126}" type="datetimeFigureOut">
              <a:rPr lang="en-US" dirty="0"/>
              <a:t>10/22/23</a:t>
            </a:fld>
            <a:endParaRPr lang="en-US"/>
          </a:p>
        </p:txBody>
      </p:sp>
      <p:sp>
        <p:nvSpPr>
          <p:cNvPr id="5" name="Footer Placeholder 4"/>
          <p:cNvSpPr>
            <a:spLocks noGrp="1"/>
          </p:cNvSpPr>
          <p:nvPr>
            <p:ph type="ftr" sz="quarter" idx="11"/>
          </p:nvPr>
        </p:nvSpPr>
        <p:spPr>
          <a:xfrm>
            <a:off x="1876424" y="5410201"/>
            <a:ext cx="5124886"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9896911" y="5410199"/>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78241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591095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541110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141410" y="2249486"/>
            <a:ext cx="4878389"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6172200" y="2249486"/>
            <a:ext cx="4875211"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0025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41410" y="3073397"/>
            <a:ext cx="4878391"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3073397"/>
            <a:ext cx="4875210"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8" name="Footer Placeholder 7"/>
          <p:cNvSpPr>
            <a:spLocks noGrp="1"/>
          </p:cNvSpPr>
          <p:nvPr>
            <p:ph type="ftr" sz="quarter" idx="11"/>
          </p:nvPr>
        </p:nvSpPr>
        <p:spPr>
          <a:xfrm>
            <a:off x="1141411" y="5883275"/>
            <a:ext cx="6239309"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935255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597862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3" name="Footer Placeholder 2"/>
          <p:cNvSpPr>
            <a:spLocks noGrp="1"/>
          </p:cNvSpPr>
          <p:nvPr>
            <p:ph type="ftr" sz="quarter" idx="11"/>
          </p:nvPr>
        </p:nvSpPr>
        <p:spPr>
          <a:xfrm>
            <a:off x="1141411" y="5883275"/>
            <a:ext cx="6239309"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90589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5156200" y="592666"/>
            <a:ext cx="5891209" cy="5198534"/>
          </a:xfrm>
        </p:spPr>
        <p:txBody>
          <a:bodyPr anchor="ct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242298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4250481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CN" altLang="en-US"/>
              <a:t>单击图标添加图片</a:t>
            </a:r>
            <a:endParaRPr lang="en-US"/>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455721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CN" altLang="en-US"/>
              <a:t>单击此处编辑母版标题样式</a:t>
            </a:r>
            <a:endParaRPr lang="en-US"/>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97276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CN" altLang="en-US"/>
              <a:t>单击此处编辑母版标题样式</a:t>
            </a:r>
            <a:endParaRPr lang="en-US"/>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621989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CN" altLang="en-US"/>
              <a:t>单击此处编辑母版标题样式</a:t>
            </a:r>
            <a:endParaRPr lang="en-US"/>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313705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CN" altLang="en-US"/>
              <a:t>单击此处编辑母版标题样式</a:t>
            </a:r>
            <a:endParaRPr lang="en-US"/>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754016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CN" altLang="en-US"/>
              <a:t>单击此处编辑母版标题样式</a:t>
            </a:r>
            <a:endParaRPr lang="en-US"/>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950376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883189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10/22/23</a:t>
            </a:fld>
            <a:endParaRPr lang="en-US"/>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130616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130B2939-4C80-4B53-A9F0-B6A7EC450041}"/>
              </a:ext>
            </a:extLst>
          </p:cNvPr>
          <p:cNvPicPr>
            <a:picLocks noChangeAspect="1"/>
          </p:cNvPicPr>
          <p:nvPr userDrawn="1"/>
        </p:nvPicPr>
        <p:blipFill>
          <a:blip r:embed="rId19"/>
          <a:stretch>
            <a:fillRect/>
          </a:stretch>
        </p:blipFill>
        <p:spPr>
          <a:xfrm>
            <a:off x="0" y="0"/>
            <a:ext cx="12191999" cy="6858000"/>
          </a:xfrm>
          <a:prstGeom prst="rect">
            <a:avLst/>
          </a:prstGeom>
        </p:spPr>
      </p:pic>
      <p:sp>
        <p:nvSpPr>
          <p:cNvPr id="2" name="Title Placeholder 1"/>
          <p:cNvSpPr>
            <a:spLocks noGrp="1"/>
          </p:cNvSpPr>
          <p:nvPr>
            <p:ph type="title"/>
          </p:nvPr>
        </p:nvSpPr>
        <p:spPr>
          <a:xfrm>
            <a:off x="678609" y="7541"/>
            <a:ext cx="10368800"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678612" y="1486111"/>
            <a:ext cx="10368800" cy="510447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19260025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vert="horz" lIns="91440" tIns="45720" rIns="91440" bIns="45720" rtlCol="0" anchor="b">
            <a:normAutofit/>
          </a:bodyPr>
          <a:lstStyle/>
          <a:p>
            <a:r>
              <a:rPr lang="en" altLang="en-US" dirty="0"/>
              <a:t>Linear </a:t>
            </a:r>
            <a:r>
              <a:rPr lang="en" altLang="zh-CN" dirty="0"/>
              <a:t>DP</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698590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Steel bar cutting</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zh-CN">
                    <a:latin typeface="Arial" panose="020B0604020202020204" pitchFamily="34" charset="0"/>
                    <a:cs typeface="Arial" panose="020B0604020202020204" pitchFamily="34" charset="0"/>
                  </a:rPr>
                  <a:t>Company S </a:t>
                </a:r>
                <a:r>
                  <a:rPr lang="en" altLang="en-US">
                    <a:latin typeface="Arial" panose="020B0604020202020204" pitchFamily="34" charset="0"/>
                    <a:cs typeface="Arial" panose="020B0604020202020204" pitchFamily="34" charset="0"/>
                  </a:rPr>
                  <a:t>purchases long steel bars and cuts them into short steel bars for sale. The cutting process itself has no cost. Company management wants to know the best cutting options. We know that Company </a:t>
                </a:r>
                <a:r>
                  <a:rPr lang="en" altLang="zh-CN">
                    <a:latin typeface="Arial" panose="020B0604020202020204" pitchFamily="34" charset="0"/>
                    <a:cs typeface="Arial" panose="020B0604020202020204" pitchFamily="34" charset="0"/>
                  </a:rPr>
                  <a:t>S sells a steel bar of length </a:t>
                </a:r>
                <a14:m>
                  <m:oMath xmlns:m="http://schemas.openxmlformats.org/officeDocument/2006/math">
                    <m:r>
                      <a:rPr lang="en-US" altLang="zh-CN" i="1">
                        <a:latin typeface="Cambria Math" panose="02040503050406030204" pitchFamily="18" charset="0"/>
                      </a:rPr>
                      <m:t>𝑖</m:t>
                    </m:r>
                    <m:r>
                      <a:rPr lang="en-US" altLang="zh-CN" i="1">
                        <a:latin typeface="Cambria Math" panose="02040503050406030204" pitchFamily="18" charset="0"/>
                      </a:rPr>
                      <m:t> </m:t>
                    </m:r>
                  </m:oMath>
                </a14:m>
                <a:r>
                  <a:rPr lang="en" altLang="en-US">
                    <a:latin typeface="Arial" panose="020B0604020202020204" pitchFamily="34" charset="0"/>
                    <a:cs typeface="Arial" panose="020B0604020202020204" pitchFamily="34" charset="0"/>
                  </a:rPr>
                  <a:t>at the price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oMath>
                </a14:m>
                <a:r>
                  <a:rPr lang="en" altLang="en-US">
                    <a:latin typeface="Arial" panose="020B0604020202020204" pitchFamily="34" charset="0"/>
                    <a:cs typeface="Arial" panose="020B0604020202020204" pitchFamily="34" charset="0"/>
                  </a:rPr>
                  <a:t>, the lengths of the steel bars are all whole </a:t>
                </a:r>
                <a:r>
                  <a:rPr lang="en" altLang="en-US" err="1">
                    <a:latin typeface="Arial" panose="020B0604020202020204" pitchFamily="34" charset="0"/>
                    <a:cs typeface="Arial" panose="020B0604020202020204" pitchFamily="34" charset="0"/>
                  </a:rPr>
                  <a:t>metres</a:t>
                </a:r>
                <a:r>
                  <a:rPr lang="en" altLang="en-US">
                    <a:latin typeface="Arial" panose="020B0604020202020204" pitchFamily="34" charset="0"/>
                    <a:cs typeface="Arial" panose="020B0604020202020204" pitchFamily="34" charset="0"/>
                  </a:rPr>
                  <a:t>.</a:t>
                </a:r>
                <a:endParaRPr lang="en-US" altLang="zh-CN">
                  <a:latin typeface="Arial" panose="020B0604020202020204" pitchFamily="34" charset="0"/>
                  <a:cs typeface="Arial" panose="020B0604020202020204" pitchFamily="34" charset="0"/>
                </a:endParaRPr>
              </a:p>
              <a:p>
                <a:r>
                  <a:rPr lang="en" altLang="en-US">
                    <a:latin typeface="Arial" panose="020B0604020202020204" pitchFamily="34" charset="0"/>
                    <a:cs typeface="Arial" panose="020B0604020202020204" pitchFamily="34" charset="0"/>
                  </a:rPr>
                  <a:t>Here is an example:</a:t>
                </a:r>
                <a:endParaRPr lang="en-US" altLang="zh-CN">
                  <a:latin typeface="Arial" panose="020B0604020202020204" pitchFamily="34" charset="0"/>
                  <a:cs typeface="Arial" panose="020B0604020202020204" pitchFamily="34" charset="0"/>
                </a:endParaRPr>
              </a:p>
              <a:p>
                <a:endParaRPr lang="en-US" altLang="zh-CN">
                  <a:latin typeface="Arial" panose="020B0604020202020204" pitchFamily="34" charset="0"/>
                  <a:cs typeface="Arial" panose="020B0604020202020204" pitchFamily="34" charset="0"/>
                </a:endParaRPr>
              </a:p>
              <a:p>
                <a:endParaRPr lang="en-US" altLang="zh-CN">
                  <a:latin typeface="Arial" panose="020B0604020202020204" pitchFamily="34" charset="0"/>
                  <a:cs typeface="Arial" panose="020B06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r="-900"/>
                </a:stretch>
              </a:blipFill>
            </p:spPr>
            <p:txBody>
              <a:bodyPr/>
              <a:lstStyle/>
              <a:p>
                <a:r>
                  <a:rPr lang="en-AU">
                    <a:noFill/>
                  </a:rPr>
                  <a:t> </a:t>
                </a:r>
              </a:p>
            </p:txBody>
          </p:sp>
        </mc:Fallback>
      </mc:AlternateContent>
      <p:pic>
        <p:nvPicPr>
          <p:cNvPr id="5" name="图片 4">
            <a:extLst>
              <a:ext uri="{FF2B5EF4-FFF2-40B4-BE49-F238E27FC236}">
                <a16:creationId xmlns:a16="http://schemas.microsoft.com/office/drawing/2014/main" id="{108F9739-3B85-D149-B5E2-4B84774B2665}"/>
              </a:ext>
            </a:extLst>
          </p:cNvPr>
          <p:cNvPicPr>
            <a:picLocks noChangeAspect="1"/>
          </p:cNvPicPr>
          <p:nvPr/>
        </p:nvPicPr>
        <p:blipFill>
          <a:blip r:embed="rId4"/>
          <a:stretch>
            <a:fillRect/>
          </a:stretch>
        </p:blipFill>
        <p:spPr>
          <a:xfrm>
            <a:off x="1117885" y="4912684"/>
            <a:ext cx="9490247" cy="918411"/>
          </a:xfrm>
          <a:prstGeom prst="rect">
            <a:avLst/>
          </a:prstGeom>
        </p:spPr>
      </p:pic>
    </p:spTree>
    <p:extLst>
      <p:ext uri="{BB962C8B-B14F-4D97-AF65-F5344CB8AC3E}">
        <p14:creationId xmlns:p14="http://schemas.microsoft.com/office/powerpoint/2010/main" val="173942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Steel bar cutting</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Consider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=4</m:t>
                    </m:r>
                  </m:oMath>
                </a14:m>
                <a:r>
                  <a:rPr lang="en" altLang="en-US" dirty="0">
                    <a:latin typeface="+mn-ea"/>
                  </a:rPr>
                  <a:t>, the following are all possible cutting options of a </a:t>
                </a:r>
                <a14:m>
                  <m:oMath xmlns:m="http://schemas.openxmlformats.org/officeDocument/2006/math">
                    <m:r>
                      <a:rPr lang="en-US" altLang="zh-CN" i="1">
                        <a:latin typeface="Cambria Math" panose="02040503050406030204" pitchFamily="18" charset="0"/>
                      </a:rPr>
                      <m:t>4 </m:t>
                    </m:r>
                  </m:oMath>
                </a14:m>
                <a:r>
                  <a:rPr lang="en" altLang="en-US" dirty="0">
                    <a:latin typeface="+mn-ea"/>
                  </a:rPr>
                  <a:t>metre steel bar, including not cutting at all. We found that cutting a </a:t>
                </a:r>
                <a14:m>
                  <m:oMath xmlns:m="http://schemas.openxmlformats.org/officeDocument/2006/math">
                    <m:r>
                      <a:rPr lang="en-US" altLang="zh-CN" i="1">
                        <a:latin typeface="Cambria Math" panose="02040503050406030204" pitchFamily="18" charset="0"/>
                      </a:rPr>
                      <m:t>4</m:t>
                    </m:r>
                  </m:oMath>
                </a14:m>
                <a:r>
                  <a:rPr lang="en" altLang="en-US" dirty="0">
                    <a:latin typeface="+mn-ea"/>
                  </a:rPr>
                  <a:t> metre long steel bar into two sections of </a:t>
                </a:r>
                <a14:m>
                  <m:oMath xmlns:m="http://schemas.openxmlformats.org/officeDocument/2006/math">
                    <m:r>
                      <a:rPr lang="en-US" altLang="zh-CN" i="1">
                        <a:latin typeface="Cambria Math" panose="02040503050406030204" pitchFamily="18" charset="0"/>
                      </a:rPr>
                      <m:t>2</m:t>
                    </m:r>
                  </m:oMath>
                </a14:m>
                <a:r>
                  <a:rPr lang="en" altLang="en-US" dirty="0">
                    <a:latin typeface="+mn-ea"/>
                  </a:rPr>
                  <a:t> metre long steel bars will generate revenue of </a:t>
                </a:r>
                <a14:m>
                  <m:oMath xmlns:m="http://schemas.openxmlformats.org/officeDocument/2006/math">
                    <m:r>
                      <a:rPr lang="en-US" altLang="zh-CN" b="0" i="1" smtClean="0">
                        <a:latin typeface="Cambria Math" panose="02040503050406030204" pitchFamily="18" charset="0"/>
                      </a:rPr>
                      <m:t>5+5=10</m:t>
                    </m:r>
                  </m:oMath>
                </a14:m>
                <a:r>
                  <a:rPr lang="en" altLang="en-US" dirty="0">
                    <a:latin typeface="+mn-ea"/>
                  </a:rPr>
                  <a:t>, which is the optimal solution.</a:t>
                </a:r>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zh-CN" altLang="en-US"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r="-1069"/>
                </a:stretch>
              </a:blipFill>
            </p:spPr>
            <p:txBody>
              <a:bodyPr/>
              <a:lstStyle/>
              <a:p>
                <a:r>
                  <a:rPr lang="en-AU">
                    <a:noFill/>
                  </a:rPr>
                  <a:t> </a:t>
                </a:r>
              </a:p>
            </p:txBody>
          </p:sp>
        </mc:Fallback>
      </mc:AlternateContent>
      <p:pic>
        <p:nvPicPr>
          <p:cNvPr id="6" name="图片 5">
            <a:extLst>
              <a:ext uri="{FF2B5EF4-FFF2-40B4-BE49-F238E27FC236}">
                <a16:creationId xmlns:a16="http://schemas.microsoft.com/office/drawing/2014/main" id="{A19763C9-F7F2-254A-A00C-43297F3652C4}"/>
              </a:ext>
            </a:extLst>
          </p:cNvPr>
          <p:cNvPicPr>
            <a:picLocks noChangeAspect="1"/>
          </p:cNvPicPr>
          <p:nvPr/>
        </p:nvPicPr>
        <p:blipFill>
          <a:blip r:embed="rId4"/>
          <a:stretch>
            <a:fillRect/>
          </a:stretch>
        </p:blipFill>
        <p:spPr>
          <a:xfrm>
            <a:off x="2023978" y="4068702"/>
            <a:ext cx="7905385" cy="2043341"/>
          </a:xfrm>
          <a:prstGeom prst="rect">
            <a:avLst/>
          </a:prstGeom>
        </p:spPr>
      </p:pic>
    </p:spTree>
    <p:extLst>
      <p:ext uri="{BB962C8B-B14F-4D97-AF65-F5344CB8AC3E}">
        <p14:creationId xmlns:p14="http://schemas.microsoft.com/office/powerpoint/2010/main" val="3434705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Steel bar cutting</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zh-CN">
                    <a:latin typeface="Arial" panose="020B0604020202020204" pitchFamily="34" charset="0"/>
                    <a:cs typeface="Arial" panose="020B0604020202020204" pitchFamily="34" charset="0"/>
                  </a:rPr>
                  <a:t>Determining states </a:t>
                </a:r>
                <a:r>
                  <a:rPr lang="en" altLang="en-US">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e>
                    </m:d>
                  </m:oMath>
                </a14:m>
                <a:r>
                  <a:rPr lang="en" altLang="en-US">
                    <a:latin typeface="Arial" panose="020B0604020202020204" pitchFamily="34" charset="0"/>
                    <a:cs typeface="Arial" panose="020B0604020202020204" pitchFamily="34" charset="0"/>
                  </a:rPr>
                  <a:t> is the maximum revenue by cutting an </a:t>
                </a:r>
                <a14:m>
                  <m:oMath xmlns:m="http://schemas.openxmlformats.org/officeDocument/2006/math">
                    <m:r>
                      <a:rPr lang="en-US" altLang="zh-CN" b="0" i="1" smtClean="0">
                        <a:latin typeface="Cambria Math" panose="02040503050406030204" pitchFamily="18" charset="0"/>
                      </a:rPr>
                      <m:t>𝑖</m:t>
                    </m:r>
                  </m:oMath>
                </a14:m>
                <a:r>
                  <a:rPr lang="en" altLang="en-US">
                    <a:latin typeface="Arial" panose="020B0604020202020204" pitchFamily="34" charset="0"/>
                    <a:cs typeface="Arial" panose="020B0604020202020204" pitchFamily="34" charset="0"/>
                  </a:rPr>
                  <a:t> </a:t>
                </a:r>
                <a:r>
                  <a:rPr lang="en" altLang="en-US" err="1">
                    <a:latin typeface="Arial" panose="020B0604020202020204" pitchFamily="34" charset="0"/>
                    <a:cs typeface="Arial" panose="020B0604020202020204" pitchFamily="34" charset="0"/>
                  </a:rPr>
                  <a:t>metre</a:t>
                </a:r>
                <a:r>
                  <a:rPr lang="en" altLang="en-US">
                    <a:latin typeface="Arial" panose="020B0604020202020204" pitchFamily="34" charset="0"/>
                    <a:cs typeface="Arial" panose="020B0604020202020204" pitchFamily="34" charset="0"/>
                  </a:rPr>
                  <a:t> long steel bar.</a:t>
                </a:r>
                <a:endParaRPr lang="en-US" altLang="zh-CN">
                  <a:latin typeface="Arial" panose="020B0604020202020204" pitchFamily="34" charset="0"/>
                  <a:cs typeface="Arial" panose="020B0604020202020204" pitchFamily="34" charset="0"/>
                </a:endParaRPr>
              </a:p>
              <a:p>
                <a:r>
                  <a:rPr lang="en" altLang="en-US">
                    <a:latin typeface="Arial" panose="020B0604020202020204" pitchFamily="34" charset="0"/>
                    <a:cs typeface="Arial" panose="020B0604020202020204" pitchFamily="34" charset="0"/>
                  </a:rPr>
                  <a:t>Each steel bar has a length. </a:t>
                </a:r>
                <a:r>
                  <a:rPr lang="en" altLang="en-US">
                    <a:solidFill>
                      <a:srgbClr val="FF0000"/>
                    </a:solidFill>
                    <a:latin typeface="Arial" panose="020B0604020202020204" pitchFamily="34" charset="0"/>
                    <a:cs typeface="Arial" panose="020B0604020202020204" pitchFamily="34" charset="0"/>
                  </a:rPr>
                  <a:t>The current state </a:t>
                </a:r>
                <a:r>
                  <a:rPr lang="en" altLang="en-US">
                    <a:latin typeface="Arial" panose="020B0604020202020204" pitchFamily="34" charset="0"/>
                    <a:cs typeface="Arial" panose="020B0604020202020204" pitchFamily="34" charset="0"/>
                  </a:rPr>
                  <a:t>is the </a:t>
                </a:r>
                <a14:m>
                  <m:oMath xmlns:m="http://schemas.openxmlformats.org/officeDocument/2006/math">
                    <m:r>
                      <a:rPr lang="en-US" altLang="zh-CN" i="1">
                        <a:latin typeface="Cambria Math" panose="02040503050406030204" pitchFamily="18" charset="0"/>
                      </a:rPr>
                      <m:t>𝑖</m:t>
                    </m:r>
                  </m:oMath>
                </a14:m>
                <a:r>
                  <a:rPr lang="en" altLang="en-US">
                    <a:latin typeface="Arial" panose="020B0604020202020204" pitchFamily="34" charset="0"/>
                    <a:cs typeface="Arial" panose="020B0604020202020204" pitchFamily="34" charset="0"/>
                  </a:rPr>
                  <a:t> </a:t>
                </a:r>
                <a:r>
                  <a:rPr lang="en" altLang="en-US" err="1">
                    <a:latin typeface="Arial" panose="020B0604020202020204" pitchFamily="34" charset="0"/>
                    <a:cs typeface="Arial" panose="020B0604020202020204" pitchFamily="34" charset="0"/>
                  </a:rPr>
                  <a:t>metre</a:t>
                </a:r>
                <a:r>
                  <a:rPr lang="en" altLang="en-US">
                    <a:latin typeface="Arial" panose="020B0604020202020204" pitchFamily="34" charset="0"/>
                    <a:cs typeface="Arial" panose="020B0604020202020204" pitchFamily="34" charset="0"/>
                  </a:rPr>
                  <a:t> long steel bar, </a:t>
                </a:r>
                <a:r>
                  <a:rPr lang="en" altLang="en-US">
                    <a:solidFill>
                      <a:srgbClr val="FF0000"/>
                    </a:solidFill>
                    <a:latin typeface="Arial" panose="020B0604020202020204" pitchFamily="34" charset="0"/>
                    <a:cs typeface="Arial" panose="020B0604020202020204" pitchFamily="34" charset="0"/>
                  </a:rPr>
                  <a:t>the previous state </a:t>
                </a:r>
                <a:r>
                  <a:rPr lang="en" altLang="en-US">
                    <a:latin typeface="Arial" panose="020B0604020202020204" pitchFamily="34" charset="0"/>
                    <a:cs typeface="Arial" panose="020B0604020202020204" pitchFamily="34" charset="0"/>
                  </a:rPr>
                  <a:t>is the steel bar before the last cutting.</a:t>
                </a:r>
                <a:endParaRPr lang="en-US" altLang="zh-CN">
                  <a:latin typeface="Arial" panose="020B0604020202020204" pitchFamily="34" charset="0"/>
                  <a:cs typeface="Arial" panose="020B0604020202020204" pitchFamily="34" charset="0"/>
                </a:endParaRPr>
              </a:p>
              <a:p>
                <a:r>
                  <a:rPr lang="en" altLang="en-US">
                    <a:latin typeface="Arial" panose="020B0604020202020204" pitchFamily="34" charset="0"/>
                    <a:cs typeface="Arial" panose="020B0604020202020204" pitchFamily="34" charset="0"/>
                  </a:rPr>
                  <a:t>State </a:t>
                </a:r>
                <a:r>
                  <a:rPr lang="en" altLang="zh-CN">
                    <a:latin typeface="Arial" panose="020B0604020202020204" pitchFamily="34" charset="0"/>
                    <a:cs typeface="Arial" panose="020B0604020202020204" pitchFamily="34" charset="0"/>
                  </a:rPr>
                  <a:t>transition equation</a:t>
                </a:r>
                <a:r>
                  <a:rPr lang="en" altLang="en-US">
                    <a:latin typeface="Arial" panose="020B0604020202020204" pitchFamily="34" charset="0"/>
                    <a:cs typeface="Arial" panose="020B0604020202020204" pitchFamily="34" charset="0"/>
                  </a:rPr>
                  <a:t>:</a:t>
                </a:r>
                <a:endParaRPr lang="en-US" altLang="zh-CN">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e>
                      </m:d>
                      <m:r>
                        <a:rPr lang="en-US" altLang="zh-CN">
                          <a:latin typeface="Cambria Math" panose="02040503050406030204" pitchFamily="18" charset="0"/>
                        </a:rPr>
                        <m:t>=</m:t>
                      </m:r>
                      <m:r>
                        <m:rPr>
                          <m:sty m:val="p"/>
                        </m:rPr>
                        <a:rPr lang="en-US" altLang="zh-CN">
                          <a:latin typeface="Cambria Math" panose="02040503050406030204" pitchFamily="18" charset="0"/>
                        </a:rPr>
                        <m:t>max</m:t>
                      </m:r>
                      <m:r>
                        <a:rPr lang="en-US" altLang="zh-CN" b="0" i="0" smtClean="0">
                          <a:latin typeface="Cambria Math" panose="02040503050406030204" pitchFamily="18" charset="0"/>
                        </a:rPr>
                        <m:t> </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 </m:t>
                          </m:r>
                          <m:r>
                            <a:rPr lang="en-US" altLang="zh-CN" b="0" i="1" smtClean="0">
                              <a:latin typeface="Cambria Math" panose="02040503050406030204" pitchFamily="18" charset="0"/>
                            </a:rPr>
                            <m:t>𝑃</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𝐹</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𝐹</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−2</m:t>
                              </m:r>
                            </m:e>
                          </m:d>
                          <m:r>
                            <a:rPr lang="en-US" altLang="zh-CN">
                              <a:latin typeface="Cambria Math" panose="02040503050406030204" pitchFamily="18" charset="0"/>
                            </a:rPr>
                            <m:t>,</m:t>
                          </m:r>
                          <m:r>
                            <a:rPr lang="en-US" altLang="zh-CN" b="0" i="0" smtClean="0">
                              <a:latin typeface="Cambria Math" panose="02040503050406030204" pitchFamily="18" charset="0"/>
                            </a:rPr>
                            <m:t>…,</m:t>
                          </m:r>
                          <m:r>
                            <a:rPr lang="en-US" altLang="zh-CN" i="1">
                              <a:latin typeface="Cambria Math" panose="02040503050406030204" pitchFamily="18" charset="0"/>
                            </a:rPr>
                            <m:t>𝐹</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e>
                      </m:d>
                    </m:oMath>
                  </m:oMathPara>
                </a14:m>
                <a:endParaRPr lang="en-US" altLang="zh-CN">
                  <a:latin typeface="Arial" panose="020B0604020202020204" pitchFamily="34" charset="0"/>
                  <a:cs typeface="Arial" panose="020B0604020202020204" pitchFamily="34" charset="0"/>
                </a:endParaRPr>
              </a:p>
              <a:p>
                <a:r>
                  <a:rPr lang="en" altLang="en-US">
                    <a:latin typeface="Arial" panose="020B0604020202020204" pitchFamily="34" charset="0"/>
                    <a:cs typeface="Arial" panose="020B0604020202020204" pitchFamily="34" charset="0"/>
                  </a:rPr>
                  <a:t>Let </a:t>
                </a:r>
                <a14:m>
                  <m:oMath xmlns:m="http://schemas.openxmlformats.org/officeDocument/2006/math">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=0</m:t>
                    </m:r>
                  </m:oMath>
                </a14:m>
                <a:r>
                  <a:rPr lang="en" altLang="en-US">
                    <a:latin typeface="Arial" panose="020B0604020202020204" pitchFamily="34" charset="0"/>
                    <a:cs typeface="Arial" panose="020B0604020202020204" pitchFamily="34" charset="0"/>
                  </a:rPr>
                  <a:t>, then:</a:t>
                </a:r>
                <a:endParaRPr lang="en-US" altLang="zh-CN">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e>
                      </m:d>
                      <m:r>
                        <a:rPr lang="en-US" altLang="zh-CN">
                          <a:latin typeface="Cambria Math" panose="02040503050406030204" pitchFamily="18" charset="0"/>
                        </a:rPr>
                        <m:t>=</m:t>
                      </m:r>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max</m:t>
                              </m:r>
                            </m:e>
                            <m:lim>
                              <m:r>
                                <a:rPr lang="en-US" altLang="zh-CN" b="0" i="1" smtClean="0">
                                  <a:latin typeface="Cambria Math" panose="02040503050406030204" pitchFamily="18" charset="0"/>
                                </a:rPr>
                                <m:t>1≤</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lim>
                          </m:limLow>
                        </m:fName>
                        <m:e>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e>
                      </m:func>
                    </m:oMath>
                  </m:oMathPara>
                </a14:m>
                <a:endParaRPr lang="en-US" altLang="zh-CN">
                  <a:latin typeface="Arial" panose="020B0604020202020204" pitchFamily="34" charset="0"/>
                  <a:cs typeface="Arial" panose="020B0604020202020204" pitchFamily="34" charset="0"/>
                </a:endParaRPr>
              </a:p>
              <a:p>
                <a:endParaRPr lang="zh-CN" altLang="en-US">
                  <a:latin typeface="Arial" panose="020B0604020202020204" pitchFamily="34" charset="0"/>
                  <a:cs typeface="Arial" panose="020B06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r="-1125"/>
                </a:stretch>
              </a:blipFill>
            </p:spPr>
            <p:txBody>
              <a:bodyPr/>
              <a:lstStyle/>
              <a:p>
                <a:r>
                  <a:rPr lang="en-AU">
                    <a:noFill/>
                  </a:rPr>
                  <a:t> </a:t>
                </a:r>
              </a:p>
            </p:txBody>
          </p:sp>
        </mc:Fallback>
      </mc:AlternateContent>
    </p:spTree>
    <p:extLst>
      <p:ext uri="{BB962C8B-B14F-4D97-AF65-F5344CB8AC3E}">
        <p14:creationId xmlns:p14="http://schemas.microsoft.com/office/powerpoint/2010/main" val="247228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Steel bar cutting</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err="1">
                <a:latin typeface="+mn-ea"/>
              </a:rPr>
              <a:t>Memoised</a:t>
            </a:r>
            <a:r>
              <a:rPr lang="en" altLang="en-US">
                <a:latin typeface="+mn-ea"/>
              </a:rPr>
              <a:t> search:</a:t>
            </a:r>
            <a:endParaRPr lang="en-US" altLang="zh-CN">
              <a:latin typeface="+mn-ea"/>
            </a:endParaRPr>
          </a:p>
          <a:p>
            <a:endParaRPr lang="en-US" altLang="zh-CN">
              <a:latin typeface="+mn-ea"/>
            </a:endParaRPr>
          </a:p>
          <a:p>
            <a:endParaRPr lang="en-US" altLang="zh-CN">
              <a:latin typeface="+mn-ea"/>
            </a:endParaRPr>
          </a:p>
          <a:p>
            <a:endParaRPr lang="en-US" altLang="zh-CN">
              <a:latin typeface="+mn-ea"/>
            </a:endParaRPr>
          </a:p>
          <a:p>
            <a:endParaRPr lang="en-US" altLang="zh-CN">
              <a:latin typeface="+mn-ea"/>
            </a:endParaRPr>
          </a:p>
          <a:p>
            <a:endParaRPr lang="en-US" altLang="zh-CN">
              <a:latin typeface="+mn-ea"/>
            </a:endParaRPr>
          </a:p>
          <a:p>
            <a:endParaRPr lang="en-US" altLang="zh-CN">
              <a:latin typeface="+mn-ea"/>
            </a:endParaRPr>
          </a:p>
          <a:p>
            <a:endParaRPr lang="en-US" altLang="zh-CN">
              <a:latin typeface="+mn-ea"/>
            </a:endParaRPr>
          </a:p>
          <a:p>
            <a:endParaRPr lang="en-US" altLang="zh-CN">
              <a:latin typeface="+mn-ea"/>
            </a:endParaRPr>
          </a:p>
        </p:txBody>
      </p:sp>
      <p:pic>
        <p:nvPicPr>
          <p:cNvPr id="5" name="图片 4">
            <a:extLst>
              <a:ext uri="{FF2B5EF4-FFF2-40B4-BE49-F238E27FC236}">
                <a16:creationId xmlns:a16="http://schemas.microsoft.com/office/drawing/2014/main" id="{16DE2541-EECE-744D-A651-8BDED0D55E5A}"/>
              </a:ext>
            </a:extLst>
          </p:cNvPr>
          <p:cNvPicPr>
            <a:picLocks noChangeAspect="1"/>
          </p:cNvPicPr>
          <p:nvPr/>
        </p:nvPicPr>
        <p:blipFill>
          <a:blip r:embed="rId3"/>
          <a:stretch>
            <a:fillRect/>
          </a:stretch>
        </p:blipFill>
        <p:spPr>
          <a:xfrm>
            <a:off x="678609" y="2155779"/>
            <a:ext cx="10569311" cy="4702221"/>
          </a:xfrm>
          <a:prstGeom prst="rect">
            <a:avLst/>
          </a:prstGeom>
        </p:spPr>
      </p:pic>
    </p:spTree>
    <p:extLst>
      <p:ext uri="{BB962C8B-B14F-4D97-AF65-F5344CB8AC3E}">
        <p14:creationId xmlns:p14="http://schemas.microsoft.com/office/powerpoint/2010/main" val="218804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Recurrence code</a:t>
            </a:r>
          </a:p>
        </p:txBody>
      </p:sp>
      <p:pic>
        <p:nvPicPr>
          <p:cNvPr id="6" name="内容占位符 5">
            <a:extLst>
              <a:ext uri="{FF2B5EF4-FFF2-40B4-BE49-F238E27FC236}">
                <a16:creationId xmlns:a16="http://schemas.microsoft.com/office/drawing/2014/main" id="{BF7F92F2-C8D2-8145-9748-0AEEDE43089A}"/>
              </a:ext>
            </a:extLst>
          </p:cNvPr>
          <p:cNvPicPr>
            <a:picLocks noGrp="1" noChangeAspect="1"/>
          </p:cNvPicPr>
          <p:nvPr>
            <p:ph idx="1"/>
          </p:nvPr>
        </p:nvPicPr>
        <p:blipFill>
          <a:blip r:embed="rId3"/>
          <a:stretch>
            <a:fillRect/>
          </a:stretch>
        </p:blipFill>
        <p:spPr>
          <a:xfrm>
            <a:off x="678609" y="2155190"/>
            <a:ext cx="9728294" cy="3879850"/>
          </a:xfrm>
          <a:prstGeom prst="rect">
            <a:avLst/>
          </a:prstGeom>
        </p:spPr>
      </p:pic>
    </p:spTree>
    <p:extLst>
      <p:ext uri="{BB962C8B-B14F-4D97-AF65-F5344CB8AC3E}">
        <p14:creationId xmlns:p14="http://schemas.microsoft.com/office/powerpoint/2010/main" val="486032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vert="horz" lIns="91440" tIns="45720" rIns="91440" bIns="45720" rtlCol="0" anchor="ctr">
            <a:normAutofit/>
          </a:bodyPr>
          <a:lstStyle/>
          <a:p>
            <a:r>
              <a:rPr lang="en" altLang="en-US">
                <a:solidFill>
                  <a:schemeClr val="bg1"/>
                </a:solidFill>
              </a:rPr>
              <a:t>Missile Interceptor ( </a:t>
            </a:r>
            <a:r>
              <a:rPr lang="en" altLang="zh-CN">
                <a:solidFill>
                  <a:schemeClr val="bg1"/>
                </a:solidFill>
              </a:rPr>
              <a:t>NOIP</a:t>
            </a:r>
            <a:r>
              <a:rPr lang="en" altLang="en-US">
                <a:solidFill>
                  <a:schemeClr val="bg1"/>
                </a:solidFill>
              </a:rPr>
              <a:t> </a:t>
            </a:r>
            <a:r>
              <a:rPr lang="en" altLang="zh-CN">
                <a:solidFill>
                  <a:schemeClr val="bg1"/>
                </a:solidFill>
              </a:rPr>
              <a:t>1999 </a:t>
            </a:r>
            <a:r>
              <a:rPr lang="en" altLang="en-US">
                <a:solidFill>
                  <a:schemeClr val="bg1"/>
                </a:solidFill>
              </a:rPr>
              <a:t>)</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a:latin typeface="+mn-ea"/>
              </a:rPr>
              <a:t>In order to defend against enemy missile attacks, a country developed a missile interception system. But this system has a flaw: although its first shell can reach any height, each subsequent shell cannot reach higher than the  previous one. One day, the radar detected incoming missiles from an enemy country. Since there is only one functional system, it may not be able to intercept all missiles.</a:t>
            </a:r>
            <a:endParaRPr lang="en-US" altLang="zh-CN">
              <a:latin typeface="+mn-ea"/>
            </a:endParaRPr>
          </a:p>
          <a:p>
            <a:r>
              <a:rPr lang="en" altLang="en-US">
                <a:latin typeface="+mn-ea"/>
              </a:rPr>
              <a:t>Provided the height at which each missile fly, calculate the maximum number of missiles this system can intercept.</a:t>
            </a:r>
          </a:p>
        </p:txBody>
      </p:sp>
    </p:spTree>
    <p:extLst>
      <p:ext uri="{BB962C8B-B14F-4D97-AF65-F5344CB8AC3E}">
        <p14:creationId xmlns:p14="http://schemas.microsoft.com/office/powerpoint/2010/main" val="196958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determining states</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endParaRPr lang="en-US" altLang="zh-CN" dirty="0">
                  <a:latin typeface="Arial" panose="020B0604020202020204" pitchFamily="34" charset="0"/>
                  <a:cs typeface="Arial" panose="020B0604020202020204" pitchFamily="34" charset="0"/>
                </a:endParaRPr>
              </a:p>
              <a:p>
                <a:pPr>
                  <a:lnSpc>
                    <a:spcPct val="90000"/>
                  </a:lnSpc>
                </a:pPr>
                <a:r>
                  <a:rPr lang="en" altLang="en-US" dirty="0">
                    <a:latin typeface="Arial" panose="020B0604020202020204" pitchFamily="34" charset="0"/>
                    <a:cs typeface="Arial" panose="020B0604020202020204" pitchFamily="34" charset="0"/>
                  </a:rPr>
                  <a:t>State: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is the maximum number of missiles among the first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missiles that can be intercepted, provided the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-th missile </a:t>
                </a:r>
                <a:r>
                  <a:rPr lang="en" altLang="en-US" dirty="0">
                    <a:solidFill>
                      <a:srgbClr val="FF0000"/>
                    </a:solidFill>
                    <a:latin typeface="Arial" panose="020B0604020202020204" pitchFamily="34" charset="0"/>
                    <a:cs typeface="Arial" panose="020B0604020202020204" pitchFamily="34" charset="0"/>
                  </a:rPr>
                  <a:t>must be intercepted.</a:t>
                </a:r>
              </a:p>
              <a:p>
                <a:pPr>
                  <a:lnSpc>
                    <a:spcPct val="90000"/>
                  </a:lnSpc>
                </a:pPr>
                <a:r>
                  <a:rPr lang="en" altLang="en-US" dirty="0">
                    <a:latin typeface="Arial" panose="020B0604020202020204" pitchFamily="34" charset="0"/>
                    <a:cs typeface="Arial" panose="020B0604020202020204" pitchFamily="34" charset="0"/>
                  </a:rPr>
                  <a:t>Each missile has a height.  The </a:t>
                </a:r>
                <a:r>
                  <a:rPr lang="en" altLang="en-US" dirty="0">
                    <a:solidFill>
                      <a:srgbClr val="FF0000"/>
                    </a:solidFill>
                    <a:latin typeface="Arial" panose="020B0604020202020204" pitchFamily="34" charset="0"/>
                    <a:cs typeface="Arial" panose="020B0604020202020204" pitchFamily="34" charset="0"/>
                  </a:rPr>
                  <a:t>current state </a:t>
                </a:r>
                <a:r>
                  <a:rPr lang="en" altLang="en-US" dirty="0">
                    <a:latin typeface="Arial" panose="020B0604020202020204" pitchFamily="34" charset="0"/>
                    <a:cs typeface="Arial" panose="020B0604020202020204" pitchFamily="34" charset="0"/>
                  </a:rPr>
                  <a:t>is one where the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-th missile is the last intercepted missile. The </a:t>
                </a:r>
                <a:r>
                  <a:rPr lang="en" altLang="en-US" dirty="0">
                    <a:solidFill>
                      <a:srgbClr val="FF0000"/>
                    </a:solidFill>
                    <a:latin typeface="Arial" panose="020B0604020202020204" pitchFamily="34" charset="0"/>
                    <a:cs typeface="Arial" panose="020B0604020202020204" pitchFamily="34" charset="0"/>
                  </a:rPr>
                  <a:t>previous state </a:t>
                </a:r>
                <a:r>
                  <a:rPr lang="en" altLang="en-US" dirty="0">
                    <a:latin typeface="Arial" panose="020B0604020202020204" pitchFamily="34" charset="0"/>
                    <a:cs typeface="Arial" panose="020B0604020202020204" pitchFamily="34" charset="0"/>
                  </a:rPr>
                  <a:t>is one with the missile intercepted before this missile.</a:t>
                </a:r>
                <a:endParaRPr lang="en-US" altLang="zh-CN" dirty="0">
                  <a:latin typeface="Arial" panose="020B0604020202020204" pitchFamily="34" charset="0"/>
                  <a:cs typeface="Arial" panose="020B0604020202020204" pitchFamily="34" charset="0"/>
                </a:endParaRPr>
              </a:p>
              <a:p>
                <a:pPr>
                  <a:lnSpc>
                    <a:spcPct val="90000"/>
                  </a:lnSpc>
                </a:pPr>
                <a:r>
                  <a:rPr lang="en" altLang="en-US" dirty="0">
                    <a:latin typeface="Arial" panose="020B0604020202020204" pitchFamily="34" charset="0"/>
                    <a:cs typeface="Arial" panose="020B0604020202020204" pitchFamily="34" charset="0"/>
                  </a:rPr>
                  <a:t>State transitioning: for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we examine all the</a:t>
                </a:r>
                <a:r>
                  <a:rPr lang="en" altLang="zh-CN" dirty="0">
                    <a:latin typeface="Arial" panose="020B0604020202020204" pitchFamily="34" charset="0"/>
                    <a:cs typeface="Arial" panose="020B0604020202020204" pitchFamily="34" charset="0"/>
                  </a:rPr>
                  <a:t> missiles before the </a:t>
                </a:r>
                <a14:m>
                  <m:oMath xmlns:m="http://schemas.openxmlformats.org/officeDocument/2006/math">
                    <m:r>
                      <a:rPr lang="en-US" altLang="zh-CN" b="0" i="1" smtClean="0">
                        <a:latin typeface="Cambria Math" panose="02040503050406030204" pitchFamily="18" charset="0"/>
                      </a:rPr>
                      <m:t>𝑖</m:t>
                    </m:r>
                  </m:oMath>
                </a14:m>
                <a:r>
                  <a:rPr lang="en" altLang="zh-CN" dirty="0">
                    <a:latin typeface="Arial" panose="020B0604020202020204" pitchFamily="34" charset="0"/>
                    <a:cs typeface="Arial" panose="020B0604020202020204" pitchFamily="34" charset="0"/>
                  </a:rPr>
                  <a:t>-th</a:t>
                </a:r>
                <a:r>
                  <a:rPr lang="en" altLang="en-US" dirty="0">
                    <a:latin typeface="Arial" panose="020B0604020202020204" pitchFamily="34" charset="0"/>
                    <a:cs typeface="Arial" panose="020B0604020202020204" pitchFamily="34" charset="0"/>
                  </a:rPr>
                  <a:t>, identify all those </a:t>
                </a:r>
                <a:r>
                  <a:rPr lang="en" altLang="en-US" dirty="0">
                    <a:solidFill>
                      <a:srgbClr val="FF0000"/>
                    </a:solidFill>
                    <a:latin typeface="Arial" panose="020B0604020202020204" pitchFamily="34" charset="0"/>
                    <a:cs typeface="Arial" panose="020B0604020202020204" pitchFamily="34" charset="0"/>
                  </a:rPr>
                  <a:t>missiles </a:t>
                </a:r>
                <a14:m>
                  <m:oMath xmlns:m="http://schemas.openxmlformats.org/officeDocument/2006/math">
                    <m:r>
                      <a:rPr lang="en-US" altLang="zh-CN" i="1">
                        <a:solidFill>
                          <a:srgbClr val="FF0000"/>
                        </a:solidFill>
                        <a:latin typeface="Cambria Math" panose="02040503050406030204" pitchFamily="18" charset="0"/>
                      </a:rPr>
                      <m:t>𝑗</m:t>
                    </m:r>
                    <m:r>
                      <a:rPr lang="en-US" altLang="zh-CN" i="1">
                        <a:solidFill>
                          <a:srgbClr val="FF0000"/>
                        </a:solidFill>
                        <a:latin typeface="Cambria Math" panose="02040503050406030204" pitchFamily="18" charset="0"/>
                      </a:rPr>
                      <m:t> </m:t>
                    </m:r>
                  </m:oMath>
                </a14:m>
                <a:r>
                  <a:rPr lang="en" altLang="en-US" dirty="0">
                    <a:solidFill>
                      <a:srgbClr val="FF0000"/>
                    </a:solidFill>
                    <a:latin typeface="Arial" panose="020B0604020202020204" pitchFamily="34" charset="0"/>
                    <a:cs typeface="Arial" panose="020B0604020202020204" pitchFamily="34" charset="0"/>
                  </a:rPr>
                  <a:t>that can be connected</a:t>
                </a:r>
                <a:r>
                  <a:rPr lang="en" altLang="zh-CN" dirty="0">
                    <a:solidFill>
                      <a:srgbClr val="FF0000"/>
                    </a:solidFill>
                    <a:latin typeface="Arial" panose="020B0604020202020204" pitchFamily="34" charset="0"/>
                    <a:cs typeface="Arial" panose="020B0604020202020204" pitchFamily="34" charset="0"/>
                  </a:rPr>
                  <a:t> </a:t>
                </a:r>
                <a:r>
                  <a:rPr lang="en" altLang="en-US" dirty="0">
                    <a:solidFill>
                      <a:srgbClr val="FF0000"/>
                    </a:solidFill>
                    <a:latin typeface="Arial" panose="020B0604020202020204" pitchFamily="34" charset="0"/>
                    <a:cs typeface="Arial" panose="020B0604020202020204" pitchFamily="34" charset="0"/>
                  </a:rPr>
                  <a:t>(i.e., its height greater than or equal to</a:t>
                </a:r>
                <a:r>
                  <a:rPr lang="en" altLang="zh-CN" dirty="0">
                    <a:solidFill>
                      <a:srgbClr val="FF0000"/>
                    </a:solidFill>
                    <a:latin typeface="Arial" panose="020B0604020202020204" pitchFamily="34" charset="0"/>
                    <a:cs typeface="Arial" panose="020B0604020202020204" pitchFamily="34" charset="0"/>
                  </a:rPr>
                  <a:t> </a:t>
                </a:r>
                <a:r>
                  <a:rPr lang="en" altLang="en-US" dirty="0">
                    <a:solidFill>
                      <a:srgbClr val="FF0000"/>
                    </a:solidFill>
                    <a:latin typeface="Arial" panose="020B0604020202020204" pitchFamily="34" charset="0"/>
                    <a:cs typeface="Arial" panose="020B0604020202020204" pitchFamily="34" charset="0"/>
                  </a:rPr>
                  <a:t>missile </a:t>
                </a:r>
                <a14:m>
                  <m:oMath xmlns:m="http://schemas.openxmlformats.org/officeDocument/2006/math">
                    <m:r>
                      <a:rPr lang="en-US" altLang="zh-CN" i="1">
                        <a:solidFill>
                          <a:srgbClr val="FF0000"/>
                        </a:solidFill>
                        <a:latin typeface="Cambria Math" panose="02040503050406030204" pitchFamily="18" charset="0"/>
                      </a:rPr>
                      <m:t>𝑖</m:t>
                    </m:r>
                  </m:oMath>
                </a14:m>
                <a:r>
                  <a:rPr lang="en" altLang="en-US" dirty="0">
                    <a:solidFill>
                      <a:srgbClr val="FF0000"/>
                    </a:solidFill>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 choose one with </a:t>
                </a:r>
                <a:r>
                  <a:rPr lang="en" altLang="en-US" dirty="0">
                    <a:solidFill>
                      <a:srgbClr val="FF0000"/>
                    </a:solidFill>
                    <a:latin typeface="Arial" panose="020B0604020202020204" pitchFamily="34" charset="0"/>
                    <a:cs typeface="Arial" panose="020B0604020202020204" pitchFamily="34" charset="0"/>
                  </a:rPr>
                  <a:t>the largest</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𝑗</m:t>
                        </m:r>
                      </m:e>
                    </m:d>
                  </m:oMath>
                </a14:m>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value,</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 If no such </a:t>
                </a:r>
                <a14:m>
                  <m:oMath xmlns:m="http://schemas.openxmlformats.org/officeDocument/2006/math">
                    <m:r>
                      <a:rPr lang="en-US" altLang="zh-CN" i="1">
                        <a:latin typeface="Cambria Math" panose="02040503050406030204" pitchFamily="18" charset="0"/>
                      </a:rPr>
                      <m:t>𝑗</m:t>
                    </m:r>
                    <m:r>
                      <a:rPr lang="en-US" altLang="zh-CN" i="1">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found,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a:t>
                </a:r>
              </a:p>
              <a:p>
                <a:pPr>
                  <a:lnSpc>
                    <a:spcPct val="90000"/>
                  </a:lnSpc>
                </a:pPr>
                <a:r>
                  <a:rPr lang="en" altLang="en-US" dirty="0">
                    <a:latin typeface="Arial" panose="020B0604020202020204" pitchFamily="34" charset="0"/>
                    <a:cs typeface="Arial" panose="020B0604020202020204" pitchFamily="34" charset="0"/>
                  </a:rPr>
                  <a:t>This is a classic example of </a:t>
                </a:r>
                <a:r>
                  <a:rPr lang="en" altLang="en-US" dirty="0">
                    <a:solidFill>
                      <a:srgbClr val="3B1D15"/>
                    </a:solidFill>
                    <a:latin typeface="Arial" panose="020B0604020202020204" pitchFamily="34" charset="0"/>
                    <a:cs typeface="Arial" panose="020B0604020202020204" pitchFamily="34" charset="0"/>
                  </a:rPr>
                  <a:t>linear dynamic programming .</a:t>
                </a: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r="-844"/>
                </a:stretch>
              </a:blipFill>
            </p:spPr>
            <p:txBody>
              <a:bodyPr/>
              <a:lstStyle/>
              <a:p>
                <a:r>
                  <a:rPr lang="en-AU">
                    <a:noFill/>
                  </a:rPr>
                  <a:t> </a:t>
                </a:r>
              </a:p>
            </p:txBody>
          </p:sp>
        </mc:Fallback>
      </mc:AlternateContent>
    </p:spTree>
    <p:extLst>
      <p:ext uri="{BB962C8B-B14F-4D97-AF65-F5344CB8AC3E}">
        <p14:creationId xmlns:p14="http://schemas.microsoft.com/office/powerpoint/2010/main" val="3192662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code</a:t>
            </a:r>
          </a:p>
        </p:txBody>
      </p:sp>
      <p:pic>
        <p:nvPicPr>
          <p:cNvPr id="4" name="图片 3">
            <a:extLst>
              <a:ext uri="{FF2B5EF4-FFF2-40B4-BE49-F238E27FC236}">
                <a16:creationId xmlns:a16="http://schemas.microsoft.com/office/drawing/2014/main" id="{EFF9826C-BE51-AE48-A516-DCCEFF813ACC}"/>
              </a:ext>
            </a:extLst>
          </p:cNvPr>
          <p:cNvPicPr>
            <a:picLocks noChangeAspect="1"/>
          </p:cNvPicPr>
          <p:nvPr/>
        </p:nvPicPr>
        <p:blipFill>
          <a:blip r:embed="rId3"/>
          <a:stretch>
            <a:fillRect/>
          </a:stretch>
        </p:blipFill>
        <p:spPr>
          <a:xfrm>
            <a:off x="678609" y="2027890"/>
            <a:ext cx="8243221" cy="3956049"/>
          </a:xfrm>
          <a:prstGeom prst="rect">
            <a:avLst/>
          </a:prstGeom>
        </p:spPr>
      </p:pic>
    </p:spTree>
    <p:extLst>
      <p:ext uri="{BB962C8B-B14F-4D97-AF65-F5344CB8AC3E}">
        <p14:creationId xmlns:p14="http://schemas.microsoft.com/office/powerpoint/2010/main" val="1062097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minimum toll</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zh-CN" dirty="0">
                    <a:latin typeface="Arial" panose="020B0604020202020204" pitchFamily="34" charset="0"/>
                    <a:cs typeface="Arial" panose="020B0604020202020204" pitchFamily="34" charset="0"/>
                  </a:rPr>
                  <a:t>A businessman travels through a </a:t>
                </a:r>
                <a14:m>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(1≤</m:t>
                    </m:r>
                    <m:r>
                      <a:rPr lang="en-US" altLang="zh-CN" b="0" i="1" smtClean="0">
                        <a:latin typeface="Cambria Math" panose="02040503050406030204" pitchFamily="18" charset="0"/>
                      </a:rPr>
                      <m:t>𝑁</m:t>
                    </m:r>
                    <m:r>
                      <a:rPr lang="en-US" altLang="zh-CN" b="0" i="1" smtClean="0">
                        <a:latin typeface="Cambria Math" panose="02040503050406030204" pitchFamily="18" charset="0"/>
                      </a:rPr>
                      <m:t>≤100)</m:t>
                    </m:r>
                  </m:oMath>
                </a14:m>
                <a:r>
                  <a:rPr lang="en" altLang="zh-CN" dirty="0">
                    <a:latin typeface="Arial" panose="020B0604020202020204" pitchFamily="34" charset="0"/>
                    <a:cs typeface="Arial" panose="020B0604020202020204" pitchFamily="34" charset="0"/>
                  </a:rPr>
                  <a:t> square grid to attend a very important business event. He wants to enter from the upper left corner of the grid and exit from the lower right corner. Passing through a cell in the grid costs him 1 time unit. The businessman must complete the tip in </a:t>
                </a:r>
                <a14:m>
                  <m:oMath xmlns:m="http://schemas.openxmlformats.org/officeDocument/2006/math">
                    <m:r>
                      <a:rPr lang="en-US" altLang="zh-CN" b="0" i="1" smtClean="0">
                        <a:latin typeface="Cambria Math" panose="02040503050406030204" pitchFamily="18" charset="0"/>
                      </a:rPr>
                      <m:t>2</m:t>
                    </m:r>
                    <m:r>
                      <a:rPr lang="en-US" altLang="zh-CN" b="0" i="1" smtClean="0">
                        <a:latin typeface="Cambria Math" panose="02040503050406030204" pitchFamily="18" charset="0"/>
                      </a:rPr>
                      <m:t>𝑁</m:t>
                    </m:r>
                    <m:r>
                      <a:rPr lang="en-US" altLang="zh-CN" b="0" i="1" smtClean="0">
                        <a:latin typeface="Cambria Math" panose="02040503050406030204" pitchFamily="18" charset="0"/>
                      </a:rPr>
                      <m:t>−1</m:t>
                    </m:r>
                  </m:oMath>
                </a14:m>
                <a:r>
                  <a:rPr lang="en" altLang="zh-CN" dirty="0">
                    <a:latin typeface="Arial" panose="020B0604020202020204" pitchFamily="34" charset="0"/>
                    <a:cs typeface="Arial" panose="020B0604020202020204" pitchFamily="34" charset="0"/>
                  </a:rPr>
                  <a:t> time units. Each time he passes a cell he needs to pay a fee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 </m:t>
                    </m:r>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sub>
                    </m:sSub>
                    <m:r>
                      <a:rPr lang="en-US" altLang="zh-CN" i="1">
                        <a:latin typeface="Cambria Math" panose="02040503050406030204" pitchFamily="18" charset="0"/>
                      </a:rPr>
                      <m:t>≤100)</m:t>
                    </m:r>
                  </m:oMath>
                </a14:m>
                <a:r>
                  <a:rPr lang="en" altLang="zh-CN" dirty="0">
                    <a:latin typeface="Arial" panose="020B0604020202020204" pitchFamily="34" charset="0"/>
                    <a:cs typeface="Arial" panose="020B0604020202020204" pitchFamily="34" charset="0"/>
                  </a:rPr>
                  <a:t>.</a:t>
                </a:r>
              </a:p>
              <a:p>
                <a:r>
                  <a:rPr lang="en" altLang="zh-CN" dirty="0">
                    <a:latin typeface="Arial" panose="020B0604020202020204" pitchFamily="34" charset="0"/>
                    <a:cs typeface="Arial" panose="020B0604020202020204" pitchFamily="34" charset="0"/>
                  </a:rPr>
                  <a:t>The businessman hopes to complete the trip within the specified time and at the minimum cost. What is the minimum cost?</a:t>
                </a:r>
              </a:p>
              <a:p>
                <a:r>
                  <a:rPr lang="en" altLang="zh-CN" dirty="0">
                    <a:latin typeface="Arial" panose="020B0604020202020204" pitchFamily="34" charset="0"/>
                    <a:cs typeface="Arial" panose="020B0604020202020204" pitchFamily="34" charset="0"/>
                  </a:rPr>
                  <a:t>Note: You cannot cross cells diagonally (i.e., you can only move up, down, left, and right and cannot leave the grid).</a:t>
                </a:r>
                <a:endParaRPr lang="zh-CN" altLang="zh-CN" dirty="0">
                  <a:latin typeface="Arial" panose="020B0604020202020204" pitchFamily="34" charset="0"/>
                  <a:cs typeface="Arial" panose="020B0604020202020204" pitchFamily="34" charset="0"/>
                </a:endParaRPr>
              </a:p>
              <a:p>
                <a:endParaRPr lang="zh-CN" altLang="en-US" dirty="0">
                  <a:latin typeface="Arial" panose="020B0604020202020204" pitchFamily="34" charset="0"/>
                  <a:cs typeface="Arial" panose="020B06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t="-1732" r="-957"/>
                </a:stretch>
              </a:blipFill>
            </p:spPr>
            <p:txBody>
              <a:bodyPr/>
              <a:lstStyle/>
              <a:p>
                <a:r>
                  <a:rPr lang="en-AU">
                    <a:noFill/>
                  </a:rPr>
                  <a:t> </a:t>
                </a:r>
              </a:p>
            </p:txBody>
          </p:sp>
        </mc:Fallback>
      </mc:AlternateContent>
    </p:spTree>
    <p:extLst>
      <p:ext uri="{BB962C8B-B14F-4D97-AF65-F5344CB8AC3E}">
        <p14:creationId xmlns:p14="http://schemas.microsoft.com/office/powerpoint/2010/main" val="319760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minimum toll</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fontScale="92500"/>
              </a:bodyPr>
              <a:lstStyle/>
              <a:p>
                <a:endParaRPr lang="en-US" altLang="zh-CN">
                  <a:latin typeface="Arial" panose="020B0604020202020204" pitchFamily="34" charset="0"/>
                  <a:cs typeface="Arial" panose="020B0604020202020204" pitchFamily="34" charset="0"/>
                </a:endParaRPr>
              </a:p>
              <a:p>
                <a:r>
                  <a:rPr lang="en" altLang="en-US">
                    <a:latin typeface="Arial" panose="020B0604020202020204" pitchFamily="34" charset="0"/>
                    <a:cs typeface="Arial" panose="020B0604020202020204" pitchFamily="34" charset="0"/>
                  </a:rPr>
                  <a:t>The key to this problem is to </a:t>
                </a:r>
                <a:r>
                  <a:rPr lang="en" altLang="en-US" err="1">
                    <a:latin typeface="Arial" panose="020B0604020202020204" pitchFamily="34" charset="0"/>
                    <a:cs typeface="Arial" panose="020B0604020202020204" pitchFamily="34" charset="0"/>
                  </a:rPr>
                  <a:t>realise</a:t>
                </a:r>
                <a:r>
                  <a:rPr lang="en" altLang="en-US">
                    <a:latin typeface="Arial" panose="020B0604020202020204" pitchFamily="34" charset="0"/>
                    <a:cs typeface="Arial" panose="020B0604020202020204" pitchFamily="34" charset="0"/>
                  </a:rPr>
                  <a:t> the constraints on the direction of movement: since he must complete the trip within</a:t>
                </a:r>
                <a:r>
                  <a:rPr lang="en" altLang="zh-CN">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2</m:t>
                    </m:r>
                    <m:r>
                      <a:rPr lang="en-US" altLang="zh-CN" i="1">
                        <a:latin typeface="Cambria Math" panose="02040503050406030204" pitchFamily="18" charset="0"/>
                      </a:rPr>
                      <m:t>𝑁</m:t>
                    </m:r>
                    <m:r>
                      <a:rPr lang="en-US" altLang="zh-CN" i="1">
                        <a:latin typeface="Cambria Math" panose="02040503050406030204" pitchFamily="18" charset="0"/>
                      </a:rPr>
                      <m:t>−1</m:t>
                    </m:r>
                  </m:oMath>
                </a14:m>
                <a:r>
                  <a:rPr lang="en" altLang="zh-CN">
                    <a:latin typeface="Arial" panose="020B0604020202020204" pitchFamily="34" charset="0"/>
                    <a:cs typeface="Arial" panose="020B0604020202020204" pitchFamily="34" charset="0"/>
                  </a:rPr>
                  <a:t> </a:t>
                </a:r>
                <a:r>
                  <a:rPr lang="en" altLang="en-US">
                    <a:latin typeface="Arial" panose="020B0604020202020204" pitchFamily="34" charset="0"/>
                    <a:cs typeface="Arial" panose="020B0604020202020204" pitchFamily="34" charset="0"/>
                  </a:rPr>
                  <a:t>time units, he can only move down or to the right.</a:t>
                </a:r>
              </a:p>
              <a:p>
                <a:r>
                  <a:rPr lang="en" altLang="en-US">
                    <a:latin typeface="Arial" panose="020B0604020202020204" pitchFamily="34" charset="0"/>
                    <a:cs typeface="Arial" panose="020B0604020202020204" pitchFamily="34" charset="0"/>
                  </a:rPr>
                  <a:t>When the movement direction is constrained, it is not difficult to see this problem is a variant of the number tower problem, so it can be efficiently solved with dynamic programming.</a:t>
                </a:r>
                <a:endParaRPr lang="en-US" altLang="zh-CN">
                  <a:latin typeface="Arial" panose="020B0604020202020204" pitchFamily="34" charset="0"/>
                  <a:cs typeface="Arial" panose="020B0604020202020204" pitchFamily="34" charset="0"/>
                </a:endParaRPr>
              </a:p>
              <a:p>
                <a:endParaRPr lang="en-US" altLang="zh-CN">
                  <a:latin typeface="Arial" panose="020B0604020202020204" pitchFamily="34" charset="0"/>
                  <a:cs typeface="Arial" panose="020B0604020202020204" pitchFamily="34" charset="0"/>
                </a:endParaRPr>
              </a:p>
              <a:p>
                <a:r>
                  <a:rPr lang="en" altLang="en-US">
                    <a:latin typeface="Arial" panose="020B0604020202020204" pitchFamily="34" charset="0"/>
                    <a:cs typeface="Arial" panose="020B0604020202020204" pitchFamily="34" charset="0"/>
                  </a:rPr>
                  <a:t>Let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r>
                  <a:rPr lang="en" altLang="en-US">
                    <a:latin typeface="Arial" panose="020B0604020202020204" pitchFamily="34" charset="0"/>
                    <a:cs typeface="Arial" panose="020B0604020202020204" pitchFamily="34" charset="0"/>
                  </a:rPr>
                  <a:t> be the minimum cost from the upper left conner to row </a:t>
                </a:r>
                <a14:m>
                  <m:oMath xmlns:m="http://schemas.openxmlformats.org/officeDocument/2006/math">
                    <m:r>
                      <a:rPr lang="en-US" altLang="zh-CN" i="1">
                        <a:latin typeface="Cambria Math" panose="02040503050406030204" pitchFamily="18" charset="0"/>
                      </a:rPr>
                      <m:t>𝑖</m:t>
                    </m:r>
                  </m:oMath>
                </a14:m>
                <a:r>
                  <a:rPr lang="en" altLang="en-US">
                    <a:latin typeface="Arial" panose="020B0604020202020204" pitchFamily="34" charset="0"/>
                    <a:cs typeface="Arial" panose="020B0604020202020204" pitchFamily="34" charset="0"/>
                  </a:rPr>
                  <a:t> column </a:t>
                </a:r>
                <a14:m>
                  <m:oMath xmlns:m="http://schemas.openxmlformats.org/officeDocument/2006/math">
                    <m:r>
                      <a:rPr lang="en-US" altLang="zh-CN" b="0" i="1" smtClean="0">
                        <a:latin typeface="Cambria Math" panose="02040503050406030204" pitchFamily="18" charset="0"/>
                      </a:rPr>
                      <m:t>𝑗</m:t>
                    </m:r>
                  </m:oMath>
                </a14:m>
                <a:r>
                  <a:rPr lang="en" altLang="en-US">
                    <a:latin typeface="Arial" panose="020B0604020202020204" pitchFamily="34" charset="0"/>
                    <a:cs typeface="Arial" panose="020B0604020202020204" pitchFamily="34" charset="0"/>
                  </a:rPr>
                  <a:t>, then:</a:t>
                </a:r>
                <a:endParaRPr lang="en-US" altLang="zh-CN">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𝑗</m:t>
                          </m:r>
                        </m:e>
                      </m:d>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min</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 </m:t>
                          </m:r>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𝑎</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m:oMathPara>
                </a14:m>
                <a:endParaRPr lang="zh-CN" altLang="en-US" i="1">
                  <a:latin typeface="Arial" panose="020B0604020202020204" pitchFamily="34" charset="0"/>
                  <a:cs typeface="Arial" panose="020B0604020202020204" pitchFamily="34" charset="0"/>
                </a:endParaRPr>
              </a:p>
              <a:p>
                <a:pPr>
                  <a:lnSpc>
                    <a:spcPct val="90000"/>
                  </a:lnSpc>
                </a:pPr>
                <a:r>
                  <a:rPr lang="en" altLang="en-US">
                    <a:latin typeface="Arial" panose="020B0604020202020204" pitchFamily="34" charset="0"/>
                    <a:cs typeface="Arial" panose="020B0604020202020204" pitchFamily="34" charset="0"/>
                  </a:rPr>
                  <a:t>the answer is</a:t>
                </a:r>
                <a:r>
                  <a:rPr lang="en" altLang="zh-CN">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𝑛</m:t>
                        </m:r>
                      </m:e>
                    </m:d>
                    <m:r>
                      <a:rPr lang="en-US" altLang="zh-CN" i="1">
                        <a:latin typeface="Cambria Math" panose="02040503050406030204" pitchFamily="18" charset="0"/>
                      </a:rPr>
                      <m:t>[</m:t>
                    </m:r>
                    <m:r>
                      <a:rPr lang="en-US" altLang="zh-CN" b="0" i="1" smtClean="0">
                        <a:latin typeface="Cambria Math" panose="02040503050406030204" pitchFamily="18" charset="0"/>
                      </a:rPr>
                      <m:t>𝑛</m:t>
                    </m:r>
                    <m:r>
                      <a:rPr lang="en-US" altLang="zh-CN" i="1">
                        <a:latin typeface="Cambria Math" panose="02040503050406030204" pitchFamily="18" charset="0"/>
                      </a:rPr>
                      <m:t>]</m:t>
                    </m:r>
                  </m:oMath>
                </a14:m>
                <a:r>
                  <a:rPr lang="en" altLang="zh-CN">
                    <a:latin typeface="Arial" panose="020B0604020202020204" pitchFamily="34" charset="0"/>
                    <a:cs typeface="Arial" panose="020B0604020202020204" pitchFamily="34" charset="0"/>
                  </a:rPr>
                  <a:t>;</a:t>
                </a:r>
                <a:endParaRPr lang="zh-CN" altLang="en-US">
                  <a:latin typeface="Arial" panose="020B0604020202020204" pitchFamily="34" charset="0"/>
                  <a:cs typeface="Arial" panose="020B06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013" r="-281" b="-924"/>
                </a:stretch>
              </a:blipFill>
            </p:spPr>
            <p:txBody>
              <a:bodyPr/>
              <a:lstStyle/>
              <a:p>
                <a:r>
                  <a:rPr lang="en-AU">
                    <a:noFill/>
                  </a:rPr>
                  <a:t> </a:t>
                </a:r>
              </a:p>
            </p:txBody>
          </p:sp>
        </mc:Fallback>
      </mc:AlternateContent>
    </p:spTree>
    <p:extLst>
      <p:ext uri="{BB962C8B-B14F-4D97-AF65-F5344CB8AC3E}">
        <p14:creationId xmlns:p14="http://schemas.microsoft.com/office/powerpoint/2010/main" val="334854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code</a:t>
            </a:r>
          </a:p>
        </p:txBody>
      </p:sp>
      <p:pic>
        <p:nvPicPr>
          <p:cNvPr id="9" name="内容占位符 8">
            <a:extLst>
              <a:ext uri="{FF2B5EF4-FFF2-40B4-BE49-F238E27FC236}">
                <a16:creationId xmlns:a16="http://schemas.microsoft.com/office/drawing/2014/main" id="{85B8F151-17F8-3D49-B3CE-193C3B9A7BF0}"/>
              </a:ext>
            </a:extLst>
          </p:cNvPr>
          <p:cNvPicPr>
            <a:picLocks noGrp="1" noChangeAspect="1"/>
          </p:cNvPicPr>
          <p:nvPr>
            <p:ph idx="1"/>
          </p:nvPr>
        </p:nvPicPr>
        <p:blipFill>
          <a:blip r:embed="rId3"/>
          <a:stretch>
            <a:fillRect/>
          </a:stretch>
        </p:blipFill>
        <p:spPr>
          <a:xfrm>
            <a:off x="678609" y="1925320"/>
            <a:ext cx="10081657" cy="4109720"/>
          </a:xfrm>
          <a:prstGeom prst="rect">
            <a:avLst/>
          </a:prstGeom>
        </p:spPr>
      </p:pic>
    </p:spTree>
    <p:extLst>
      <p:ext uri="{BB962C8B-B14F-4D97-AF65-F5344CB8AC3E}">
        <p14:creationId xmlns:p14="http://schemas.microsoft.com/office/powerpoint/2010/main" val="201363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Maximum product</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pPr>
              <a:lnSpc>
                <a:spcPct val="80000"/>
              </a:lnSpc>
            </a:pPr>
            <a:r>
              <a:rPr lang="en-US" altLang="zh-CN" dirty="0">
                <a:latin typeface="Arial" panose="020B0604020202020204" pitchFamily="34" charset="0"/>
                <a:cs typeface="Arial" panose="020B0604020202020204" pitchFamily="34" charset="0"/>
              </a:rPr>
              <a:t>There is a string of N( N ≤ 40 ) number digits.  You are required to use M ( M ≤ 6 ) multiplication signs to divide them into M + 1 numbers, find a such a way of dividing that </a:t>
            </a:r>
            <a:r>
              <a:rPr lang="en-US" altLang="zh-CN" dirty="0" err="1">
                <a:latin typeface="Arial" panose="020B0604020202020204" pitchFamily="34" charset="0"/>
                <a:cs typeface="Arial" panose="020B0604020202020204" pitchFamily="34" charset="0"/>
              </a:rPr>
              <a:t>maximises</a:t>
            </a:r>
            <a:r>
              <a:rPr lang="en-US" altLang="zh-CN" dirty="0">
                <a:latin typeface="Arial" panose="020B0604020202020204" pitchFamily="34" charset="0"/>
                <a:cs typeface="Arial" panose="020B0604020202020204" pitchFamily="34" charset="0"/>
              </a:rPr>
              <a:t> the product of these M + 1 numbers.</a:t>
            </a:r>
          </a:p>
          <a:p>
            <a:pPr>
              <a:lnSpc>
                <a:spcPct val="80000"/>
              </a:lnSpc>
            </a:pPr>
            <a:r>
              <a:rPr lang="en-US" altLang="zh-CN" dirty="0">
                <a:latin typeface="Arial" panose="020B0604020202020204" pitchFamily="34" charset="0"/>
                <a:cs typeface="Arial" panose="020B0604020202020204" pitchFamily="34" charset="0"/>
              </a:rPr>
              <a:t>Example:</a:t>
            </a:r>
          </a:p>
          <a:p>
            <a:pPr>
              <a:lnSpc>
                <a:spcPct val="80000"/>
              </a:lnSpc>
            </a:pPr>
            <a:r>
              <a:rPr lang="en-US" altLang="zh-CN" dirty="0">
                <a:latin typeface="Arial" panose="020B0604020202020204" pitchFamily="34" charset="0"/>
                <a:cs typeface="Arial" panose="020B0604020202020204" pitchFamily="34" charset="0"/>
              </a:rPr>
              <a:t>There is a string of 312. when N = 3, M = 1, there are two ways:</a:t>
            </a:r>
          </a:p>
          <a:p>
            <a:pPr marL="457200" lvl="1" indent="0">
              <a:lnSpc>
                <a:spcPct val="80000"/>
              </a:lnSpc>
              <a:buNone/>
            </a:pPr>
            <a:r>
              <a:rPr lang="en-US" altLang="zh-CN" sz="2100" dirty="0">
                <a:latin typeface="Arial" panose="020B0604020202020204" pitchFamily="34" charset="0"/>
                <a:cs typeface="Arial" panose="020B0604020202020204" pitchFamily="34" charset="0"/>
              </a:rPr>
              <a:t>⑴ 3 × 12 = 36</a:t>
            </a:r>
          </a:p>
          <a:p>
            <a:pPr marL="457200" lvl="1" indent="0">
              <a:lnSpc>
                <a:spcPct val="80000"/>
              </a:lnSpc>
              <a:buNone/>
            </a:pPr>
            <a:r>
              <a:rPr lang="en-US" altLang="zh-CN" sz="2100" dirty="0">
                <a:latin typeface="Arial" panose="020B0604020202020204" pitchFamily="34" charset="0"/>
                <a:cs typeface="Arial" panose="020B0604020202020204" pitchFamily="34" charset="0"/>
              </a:rPr>
              <a:t>⑵ 31 × 2 = 62</a:t>
            </a:r>
          </a:p>
          <a:p>
            <a:pPr>
              <a:lnSpc>
                <a:spcPct val="80000"/>
              </a:lnSpc>
            </a:pPr>
            <a:r>
              <a:rPr lang="en-US" altLang="zh-CN" dirty="0">
                <a:latin typeface="Arial" panose="020B0604020202020204" pitchFamily="34" charset="0"/>
                <a:cs typeface="Arial" panose="020B0604020202020204" pitchFamily="34" charset="0"/>
              </a:rPr>
              <a:t>The result is: 31 × 2 = 62.  Please help your friend XZ design a program to find the correct answer.</a:t>
            </a:r>
          </a:p>
          <a:p>
            <a:pPr>
              <a:lnSpc>
                <a:spcPct val="80000"/>
              </a:lnSpc>
            </a:pP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739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analysis</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Arial" panose="020B0604020202020204" pitchFamily="34" charset="0"/>
                    <a:cs typeface="Arial" panose="020B0604020202020204" pitchFamily="34" charset="0"/>
                  </a:rPr>
                  <a:t>Since the maximum number of digits is </a:t>
                </a:r>
                <a14:m>
                  <m:oMath xmlns:m="http://schemas.openxmlformats.org/officeDocument/2006/math">
                    <m:r>
                      <a:rPr lang="en-US" altLang="zh-CN" b="0" i="1" smtClean="0">
                        <a:latin typeface="Cambria Math" panose="02040503050406030204" pitchFamily="18" charset="0"/>
                      </a:rPr>
                      <m:t>40</m:t>
                    </m:r>
                  </m:oMath>
                </a14:m>
                <a:r>
                  <a:rPr lang="en" altLang="en-US" dirty="0">
                    <a:latin typeface="Arial" panose="020B0604020202020204" pitchFamily="34" charset="0"/>
                    <a:cs typeface="Arial" panose="020B0604020202020204" pitchFamily="34" charset="0"/>
                  </a:rPr>
                  <a:t>, and the maximum number of multiplication signs is</a:t>
                </a:r>
                <a14:m>
                  <m:oMath xmlns:m="http://schemas.openxmlformats.org/officeDocument/2006/math">
                    <m:r>
                      <a:rPr lang="en-AU" altLang="zh-CN" b="0" i="0" smtClean="0">
                        <a:latin typeface="Cambria Math" panose="02040503050406030204" pitchFamily="18" charset="0"/>
                      </a:rPr>
                      <m:t> </m:t>
                    </m:r>
                    <m:r>
                      <a:rPr lang="en-US" altLang="zh-CN" i="1">
                        <a:latin typeface="Cambria Math" panose="02040503050406030204" pitchFamily="18" charset="0"/>
                      </a:rPr>
                      <m:t>6</m:t>
                    </m:r>
                  </m:oMath>
                </a14:m>
                <a:r>
                  <a:rPr lang="en" altLang="en-US" dirty="0">
                    <a:latin typeface="Arial" panose="020B0604020202020204" pitchFamily="34" charset="0"/>
                    <a:cs typeface="Arial" panose="020B0604020202020204" pitchFamily="34" charset="0"/>
                  </a:rPr>
                  <a:t>, the </a:t>
                </a:r>
                <a:r>
                  <a:rPr lang="en-US" altLang="zh-CN" dirty="0">
                    <a:latin typeface="Arial" panose="020B0604020202020204" pitchFamily="34" charset="0"/>
                    <a:cs typeface="Arial" panose="020B0604020202020204" pitchFamily="34" charset="0"/>
                  </a:rPr>
                  <a:t>product can have as much as </a:t>
                </a:r>
                <a:r>
                  <a:rPr lang="en" altLang="en-US" dirty="0">
                    <a:latin typeface="Arial" panose="020B0604020202020204" pitchFamily="34" charset="0"/>
                    <a:cs typeface="Arial" panose="020B0604020202020204" pitchFamily="34" charset="0"/>
                  </a:rPr>
                  <a:t>42 digits. Obviously, no integer type can accommodate such a large number, we can only use </a:t>
                </a:r>
                <a:r>
                  <a:rPr lang="en-AU" altLang="en-US" dirty="0">
                    <a:latin typeface="Arial" panose="020B0604020202020204" pitchFamily="34" charset="0"/>
                    <a:cs typeface="Arial" panose="020B0604020202020204" pitchFamily="34" charset="0"/>
                  </a:rPr>
                  <a:t>Arbitrary-</a:t>
                </a:r>
                <a:r>
                  <a:rPr lang="en-AU" altLang="en-US" dirty="0" err="1">
                    <a:latin typeface="Arial" panose="020B0604020202020204" pitchFamily="34" charset="0"/>
                    <a:cs typeface="Arial" panose="020B0604020202020204" pitchFamily="34" charset="0"/>
                  </a:rPr>
                  <a:t>Pecision</a:t>
                </a:r>
                <a:r>
                  <a:rPr lang="en-AU" altLang="en-US" dirty="0">
                    <a:latin typeface="Arial" panose="020B0604020202020204" pitchFamily="34" charset="0"/>
                    <a:cs typeface="Arial" panose="020B0604020202020204" pitchFamily="34" charset="0"/>
                  </a:rPr>
                  <a:t> Arithmetic (</a:t>
                </a:r>
                <a:r>
                  <a:rPr lang="en-AU" altLang="en-US" dirty="0" err="1">
                    <a:latin typeface="Arial" panose="020B0604020202020204" pitchFamily="34" charset="0"/>
                    <a:cs typeface="Arial" panose="020B0604020202020204" pitchFamily="34" charset="0"/>
                  </a:rPr>
                  <a:t>Bignum</a:t>
                </a:r>
                <a:r>
                  <a:rPr lang="en-AU" altLang="en-US" dirty="0">
                    <a:latin typeface="Arial" panose="020B0604020202020204" pitchFamily="34" charset="0"/>
                    <a:cs typeface="Arial" panose="020B0604020202020204" pitchFamily="34" charset="0"/>
                  </a:rPr>
                  <a:t>)</a:t>
                </a:r>
                <a:r>
                  <a:rPr lang="en" altLang="en-US" dirty="0">
                    <a:latin typeface="Arial" panose="020B0604020202020204" pitchFamily="34" charset="0"/>
                    <a:cs typeface="Arial" panose="020B0604020202020204" pitchFamily="34" charset="0"/>
                  </a:rPr>
                  <a:t>. We are not elaborating Bignum operations here, but only discuss the optimal way of inserting multiplication signs.</a:t>
                </a:r>
              </a:p>
              <a:p>
                <a:r>
                  <a:rPr lang="en-US" altLang="zh-CN" dirty="0">
                    <a:latin typeface="Arial" panose="020B0604020202020204" pitchFamily="34" charset="0"/>
                    <a:cs typeface="Arial" panose="020B0604020202020204" pitchFamily="34" charset="0"/>
                  </a:rPr>
                  <a:t>Let’s insert </a:t>
                </a:r>
                <a14:m>
                  <m:oMath xmlns:m="http://schemas.openxmlformats.org/officeDocument/2006/math">
                    <m:r>
                      <a:rPr lang="en-US" altLang="zh-CN" i="1">
                        <a:latin typeface="Cambria Math" panose="02040503050406030204" pitchFamily="18" charset="0"/>
                      </a:rPr>
                      <m:t>𝑗</m:t>
                    </m:r>
                  </m:oMath>
                </a14:m>
                <a:r>
                  <a:rPr lang="en" altLang="en-US" dirty="0">
                    <a:latin typeface="Arial" panose="020B0604020202020204" pitchFamily="34" charset="0"/>
                    <a:cs typeface="Arial" panose="020B0604020202020204" pitchFamily="34" charset="0"/>
                  </a:rPr>
                  <a:t> multiplication signs in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 (2≤</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among which </a:t>
                </a:r>
                <a14:m>
                  <m:oMath xmlns:m="http://schemas.openxmlformats.org/officeDocument/2006/math">
                    <m:r>
                      <a:rPr lang="en-US" altLang="zh-CN" i="1">
                        <a:latin typeface="Cambria Math" panose="02040503050406030204" pitchFamily="18" charset="0"/>
                      </a:rPr>
                      <m:t>𝑗</m:t>
                    </m:r>
                    <m:r>
                      <a:rPr lang="en-AU" altLang="zh-CN" b="0" i="1" smtClean="0">
                        <a:latin typeface="Cambria Math" panose="02040503050406030204" pitchFamily="18" charset="0"/>
                      </a:rPr>
                      <m:t>−</m:t>
                    </m:r>
                    <m:r>
                      <a:rPr lang="en-US" altLang="zh-CN" i="1">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 multiplication signs are inserted in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r>
                          <a:rPr lang="en-US" altLang="zh-CN" b="0" i="1" smtClean="0">
                            <a:latin typeface="Cambria Math" panose="02040503050406030204" pitchFamily="18" charset="0"/>
                          </a:rPr>
                          <m:t>&lt;</m:t>
                        </m:r>
                        <m:r>
                          <a:rPr lang="en-US" altLang="zh-CN" b="0" i="1" smtClean="0">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Hence, the </a:t>
                </a:r>
                <a14:m>
                  <m:oMath xmlns:m="http://schemas.openxmlformats.org/officeDocument/2006/math">
                    <m:r>
                      <a:rPr lang="en-US" altLang="zh-CN" i="1">
                        <a:latin typeface="Cambria Math" panose="02040503050406030204" pitchFamily="18" charset="0"/>
                      </a:rPr>
                      <m:t>𝑗</m:t>
                    </m:r>
                    <m:r>
                      <a:rPr lang="en-US" altLang="zh-CN" b="0" i="1" smtClean="0">
                        <a:latin typeface="Cambria Math" panose="02040503050406030204" pitchFamily="18" charset="0"/>
                      </a:rPr>
                      <m:t>+</m:t>
                    </m:r>
                    <m:r>
                      <a:rPr lang="en-US" altLang="zh-CN" i="1">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-th term in the multiplication expression is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𝑖</m:t>
                        </m:r>
                      </m:sub>
                    </m:sSub>
                    <m:r>
                      <a:rPr lang="en-US" altLang="zh-CN" i="1">
                        <a:latin typeface="Cambria Math" panose="02040503050406030204" pitchFamily="18" charset="0"/>
                      </a:rPr>
                      <m:t> (</m:t>
                    </m:r>
                    <m:r>
                      <a:rPr lang="en-US" altLang="zh-CN" b="0" i="1" smtClean="0">
                        <a:latin typeface="Cambria Math" panose="02040503050406030204" pitchFamily="18" charset="0"/>
                      </a:rPr>
                      <m:t>𝑗</m:t>
                    </m:r>
                    <m:r>
                      <a:rPr lang="en-US" altLang="zh-CN" i="1">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&lt;</m:t>
                    </m:r>
                    <m:r>
                      <a:rPr lang="en-US" altLang="zh-CN" b="0" i="1" smtClean="0">
                        <a:latin typeface="Cambria Math" panose="02040503050406030204" pitchFamily="18" charset="0"/>
                      </a:rPr>
                      <m:t>𝑖</m:t>
                    </m:r>
                    <m:r>
                      <a:rPr lang="en-US" altLang="zh-CN" i="1">
                        <a:latin typeface="Cambria Math" panose="02040503050406030204" pitchFamily="18"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a:stretch>
              </a:blipFill>
            </p:spPr>
            <p:txBody>
              <a:bodyPr/>
              <a:lstStyle/>
              <a:p>
                <a:r>
                  <a:rPr lang="en-AU">
                    <a:noFill/>
                  </a:rPr>
                  <a:t> </a:t>
                </a:r>
              </a:p>
            </p:txBody>
          </p:sp>
        </mc:Fallback>
      </mc:AlternateContent>
    </p:spTree>
    <p:extLst>
      <p:ext uri="{BB962C8B-B14F-4D97-AF65-F5344CB8AC3E}">
        <p14:creationId xmlns:p14="http://schemas.microsoft.com/office/powerpoint/2010/main" val="307507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AU" altLang="en-US">
                <a:solidFill>
                  <a:schemeClr val="bg1"/>
                </a:solidFill>
              </a:rPr>
              <a:t>D</a:t>
            </a:r>
            <a:r>
              <a:rPr lang="en" altLang="en-US">
                <a:solidFill>
                  <a:schemeClr val="bg1"/>
                </a:solidFill>
              </a:rPr>
              <a:t>etermining states</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fontScale="92500" lnSpcReduction="20000"/>
              </a:bodyPr>
              <a:lstStyle/>
              <a:p>
                <a:r>
                  <a:rPr lang="en" altLang="en-US" dirty="0">
                    <a:latin typeface="Arial" panose="020B0604020202020204" pitchFamily="34" charset="0"/>
                    <a:cs typeface="Arial" panose="020B0604020202020204" pitchFamily="34" charset="0"/>
                  </a:rPr>
                  <a:t>Let </a:t>
                </a:r>
                <a14:m>
                  <m:oMath xmlns:m="http://schemas.openxmlformats.org/officeDocument/2006/math">
                    <m:r>
                      <a:rPr lang="en-US" altLang="zh-CN" b="0" i="1" smtClean="0">
                        <a:latin typeface="Cambria Math" panose="02040503050406030204" pitchFamily="18" charset="0"/>
                      </a:rPr>
                      <m:t>𝑑𝑝</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oMath>
                </a14:m>
                <a:r>
                  <a:rPr lang="en" altLang="zh-CN" dirty="0">
                    <a:latin typeface="Arial" panose="020B0604020202020204" pitchFamily="34" charset="0"/>
                    <a:cs typeface="Arial" panose="020B0604020202020204" pitchFamily="34" charset="0"/>
                  </a:rPr>
                  <a:t> be t</a:t>
                </a:r>
                <a:r>
                  <a:rPr lang="en" altLang="en-US" dirty="0">
                    <a:latin typeface="Arial" panose="020B0604020202020204" pitchFamily="34" charset="0"/>
                    <a:cs typeface="Arial" panose="020B0604020202020204" pitchFamily="34" charset="0"/>
                  </a:rPr>
                  <a:t>he maximum product by inserting </a:t>
                </a:r>
                <a14:m>
                  <m:oMath xmlns:m="http://schemas.openxmlformats.org/officeDocument/2006/math">
                    <m:r>
                      <a:rPr lang="en-US" altLang="zh-CN" i="1">
                        <a:latin typeface="Cambria Math" panose="02040503050406030204" pitchFamily="18" charset="0"/>
                      </a:rPr>
                      <m:t>𝑗</m:t>
                    </m:r>
                    <m:r>
                      <a:rPr lang="en-US" altLang="zh-CN" i="1">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multiplication signs into a number string of length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Obviously:</a:t>
                </a:r>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rPr>
                      <m:t>𝑑𝑝</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𝑖</m:t>
                        </m:r>
                      </m:sub>
                    </m:sSub>
                  </m:oMath>
                </a14:m>
                <a:endParaRPr lang="zh-CN" altLang="en-US" dirty="0">
                  <a:latin typeface="Arial" panose="020B0604020202020204" pitchFamily="34"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rPr>
                      <m:t>𝑑𝑝</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𝑗</m:t>
                        </m:r>
                      </m:e>
                    </m:d>
                    <m:r>
                      <a:rPr lang="en-US" altLang="zh-CN" i="1">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 </m:t>
                            </m:r>
                            <m:r>
                              <a:rPr lang="en-US" altLang="zh-CN" b="0" i="1" smtClean="0">
                                <a:latin typeface="Cambria Math" panose="02040503050406030204" pitchFamily="18" charset="0"/>
                              </a:rPr>
                              <m:t>𝑑𝑝</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𝑘</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𝑖</m:t>
                                    </m:r>
                                  </m:sub>
                                </m:sSub>
                              </m:e>
                            </m:d>
                            <m:r>
                              <a:rPr lang="en-US" altLang="zh-CN" b="0" i="1" smtClean="0">
                                <a:latin typeface="Cambria Math" panose="02040503050406030204" pitchFamily="18" charset="0"/>
                              </a:rPr>
                              <m:t> </m:t>
                            </m:r>
                          </m:e>
                        </m:d>
                      </m:e>
                    </m:func>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min</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𝑀</m:t>
                                </m:r>
                              </m:e>
                            </m:d>
                          </m:e>
                        </m:func>
                        <m:r>
                          <a:rPr lang="en-US" altLang="zh-CN" b="0" i="1" smtClean="0">
                            <a:latin typeface="Cambria Math" panose="02040503050406030204" pitchFamily="18" charset="0"/>
                          </a:rPr>
                          <m:t>, </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&lt;</m:t>
                        </m:r>
                        <m:r>
                          <a:rPr lang="en-US" altLang="zh-CN" b="0" i="1" smtClean="0">
                            <a:latin typeface="Cambria Math" panose="02040503050406030204" pitchFamily="18" charset="0"/>
                          </a:rPr>
                          <m:t>𝑖</m:t>
                        </m:r>
                      </m:e>
                    </m:d>
                  </m:oMath>
                </a14:m>
                <a:endParaRPr lang="en-US" altLang="zh-CN" b="0" i="1"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The answer is:</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𝑑𝑝</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𝑁</m:t>
                        </m:r>
                      </m:e>
                    </m:d>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𝑀</m:t>
                        </m:r>
                      </m:e>
                    </m:d>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Since the </a:t>
                </a:r>
                <a14:m>
                  <m:oMath xmlns:m="http://schemas.openxmlformats.org/officeDocument/2006/math">
                    <m:r>
                      <a:rPr lang="en-US" altLang="zh-CN" i="1">
                        <a:latin typeface="Cambria Math" panose="02040503050406030204" pitchFamily="18" charset="0"/>
                      </a:rPr>
                      <m:t>𝑗</m:t>
                    </m:r>
                    <m:r>
                      <a:rPr lang="en-AU" altLang="zh-CN" b="0" i="1" smtClean="0">
                        <a:latin typeface="Cambria Math" panose="02040503050406030204" pitchFamily="18" charset="0"/>
                      </a:rPr>
                      <m:t>+</m:t>
                    </m:r>
                    <m:r>
                      <a:rPr lang="en-US" altLang="zh-CN" i="1">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th</a:t>
                </a:r>
                <a:r>
                  <a:rPr lang="en-US" altLang="zh-CN" dirty="0">
                    <a:latin typeface="Arial" panose="020B0604020202020204" pitchFamily="34" charset="0"/>
                    <a:cs typeface="Arial" panose="020B0604020202020204" pitchFamily="34" charset="0"/>
                  </a:rPr>
                  <a:t> term in</a:t>
                </a:r>
                <a:r>
                  <a:rPr lang="en" altLang="en-US" dirty="0">
                    <a:latin typeface="Arial" panose="020B0604020202020204" pitchFamily="34" charset="0"/>
                    <a:cs typeface="Arial" panose="020B0604020202020204" pitchFamily="34" charset="0"/>
                  </a:rPr>
                  <a:t> the multiplication,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𝑘</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𝑖</m:t>
                        </m:r>
                      </m:sub>
                    </m:sSub>
                  </m:oMath>
                </a14:m>
                <a:r>
                  <a:rPr lang="en" altLang="en-US" dirty="0">
                    <a:latin typeface="Arial" panose="020B0604020202020204" pitchFamily="34" charset="0"/>
                    <a:cs typeface="Arial" panose="020B0604020202020204" pitchFamily="34" charset="0"/>
                  </a:rPr>
                  <a:t>, is a constant, in order to maximise </a:t>
                </a:r>
                <a14:m>
                  <m:oMath xmlns:m="http://schemas.openxmlformats.org/officeDocument/2006/math">
                    <m:r>
                      <a:rPr lang="en-US" altLang="zh-CN" b="0" i="1" smtClean="0">
                        <a:latin typeface="Cambria Math" panose="02040503050406030204" pitchFamily="18" charset="0"/>
                      </a:rPr>
                      <m:t>𝑑𝑝</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𝑗</m:t>
                        </m:r>
                      </m:e>
                    </m:d>
                  </m:oMath>
                </a14:m>
                <a:r>
                  <a:rPr lang="en" altLang="en-US" dirty="0">
                    <a:latin typeface="Arial" panose="020B0604020202020204" pitchFamily="34" charset="0"/>
                    <a:cs typeface="Arial" panose="020B0604020202020204" pitchFamily="34" charset="0"/>
                  </a:rPr>
                  <a:t>, the product by inserting </a:t>
                </a:r>
                <a14:m>
                  <m:oMath xmlns:m="http://schemas.openxmlformats.org/officeDocument/2006/math">
                    <m:r>
                      <a:rPr lang="en-US" altLang="zh-CN" i="1">
                        <a:latin typeface="Cambria Math" panose="02040503050406030204" pitchFamily="18" charset="0"/>
                      </a:rPr>
                      <m:t>𝑗</m:t>
                    </m:r>
                    <m:r>
                      <a:rPr lang="en-US" altLang="zh-CN" i="1">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 multiplication signs into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𝑘</m:t>
                        </m:r>
                      </m:sub>
                    </m:sSub>
                  </m:oMath>
                </a14:m>
                <a:r>
                  <a:rPr lang="en" altLang="zh-CN" dirty="0">
                    <a:latin typeface="Arial" panose="020B0604020202020204" pitchFamily="34" charset="0"/>
                    <a:cs typeface="Arial" panose="020B0604020202020204" pitchFamily="34" charset="0"/>
                  </a:rPr>
                  <a:t> must be maximum</a:t>
                </a:r>
                <a:r>
                  <a:rPr lang="en" altLang="en-US" dirty="0">
                    <a:latin typeface="Arial" panose="020B0604020202020204" pitchFamily="34" charset="0"/>
                    <a:cs typeface="Arial" panose="020B0604020202020204" pitchFamily="34" charset="0"/>
                  </a:rPr>
                  <a:t>; similarly, in order to find the best position to insert the</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𝑖</m:t>
                    </m:r>
                  </m:oMath>
                </a14:m>
                <a:r>
                  <a:rPr lang="en" altLang="zh-CN" dirty="0">
                    <a:latin typeface="Arial" panose="020B0604020202020204" pitchFamily="34" charset="0"/>
                    <a:cs typeface="Arial" panose="020B0604020202020204" pitchFamily="34" charset="0"/>
                  </a:rPr>
                  <a:t>-th </a:t>
                </a:r>
                <a:r>
                  <a:rPr lang="en" altLang="en-US" dirty="0">
                    <a:latin typeface="Arial" panose="020B0604020202020204" pitchFamily="34" charset="0"/>
                    <a:cs typeface="Arial" panose="020B0604020202020204" pitchFamily="34" charset="0"/>
                  </a:rPr>
                  <a:t>multiplication sign, you must examine solutions to each of the  sub-problems </a:t>
                </a:r>
                <a14:m>
                  <m:oMath xmlns:m="http://schemas.openxmlformats.org/officeDocument/2006/math">
                    <m:r>
                      <a:rPr lang="en-US" altLang="zh-CN" i="1">
                        <a:latin typeface="Cambria Math" panose="02040503050406030204" pitchFamily="18" charset="0"/>
                      </a:rPr>
                      <m:t>𝑑𝑝</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𝑗</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𝑗</m:t>
                        </m:r>
                        <m:r>
                          <a:rPr lang="en-US" altLang="zh-CN" i="1">
                            <a:latin typeface="Cambria Math" panose="02040503050406030204" pitchFamily="18" charset="0"/>
                          </a:rPr>
                          <m:t>−1</m:t>
                        </m:r>
                      </m:e>
                    </m:d>
                    <m:r>
                      <a:rPr lang="en-US" altLang="zh-CN" i="1">
                        <a:latin typeface="Cambria Math" panose="02040503050406030204" pitchFamily="18" charset="0"/>
                      </a:rPr>
                      <m:t>…</m:t>
                    </m:r>
                    <m:r>
                      <a:rPr lang="en-US" altLang="zh-CN" i="1">
                        <a:latin typeface="Cambria Math" panose="02040503050406030204" pitchFamily="18" charset="0"/>
                      </a:rPr>
                      <m:t>𝑑𝑝</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𝑗</m:t>
                        </m:r>
                        <m:r>
                          <a:rPr lang="en-US" altLang="zh-CN" i="1">
                            <a:latin typeface="Cambria Math" panose="02040503050406030204" pitchFamily="18" charset="0"/>
                          </a:rPr>
                          <m:t>−1</m:t>
                        </m:r>
                      </m:e>
                    </m:d>
                  </m:oMath>
                </a14:m>
                <a:r>
                  <a:rPr lang="en" altLang="en-US" dirty="0">
                    <a:latin typeface="Arial" panose="020B0604020202020204" pitchFamily="34" charset="0"/>
                    <a:cs typeface="Arial" panose="020B0604020202020204" pitchFamily="34" charset="0"/>
                  </a:rPr>
                  <a:t>.</a:t>
                </a:r>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Obviously, this problem has the characteristics of no aftereffects and optimal substructures, which makes it a good fit for dynamic programming methods.</a:t>
                </a: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013" t="-1270" b="-1848"/>
                </a:stretch>
              </a:blipFill>
            </p:spPr>
            <p:txBody>
              <a:bodyPr/>
              <a:lstStyle/>
              <a:p>
                <a:r>
                  <a:rPr lang="en-AU">
                    <a:noFill/>
                  </a:rPr>
                  <a:t> </a:t>
                </a:r>
              </a:p>
            </p:txBody>
          </p:sp>
        </mc:Fallback>
      </mc:AlternateContent>
    </p:spTree>
    <p:extLst>
      <p:ext uri="{BB962C8B-B14F-4D97-AF65-F5344CB8AC3E}">
        <p14:creationId xmlns:p14="http://schemas.microsoft.com/office/powerpoint/2010/main" val="1849388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pseudocode</a:t>
            </a:r>
          </a:p>
        </p:txBody>
      </p:sp>
      <p:pic>
        <p:nvPicPr>
          <p:cNvPr id="3" name="图片 2">
            <a:extLst>
              <a:ext uri="{FF2B5EF4-FFF2-40B4-BE49-F238E27FC236}">
                <a16:creationId xmlns:a16="http://schemas.microsoft.com/office/drawing/2014/main" id="{B4933428-3FDE-D942-8076-53E1F92DAF30}"/>
              </a:ext>
            </a:extLst>
          </p:cNvPr>
          <p:cNvPicPr>
            <a:picLocks noChangeAspect="1"/>
          </p:cNvPicPr>
          <p:nvPr/>
        </p:nvPicPr>
        <p:blipFill>
          <a:blip r:embed="rId3"/>
          <a:stretch>
            <a:fillRect/>
          </a:stretch>
        </p:blipFill>
        <p:spPr>
          <a:xfrm>
            <a:off x="678609" y="2127080"/>
            <a:ext cx="9956800" cy="3505200"/>
          </a:xfrm>
          <a:prstGeom prst="rect">
            <a:avLst/>
          </a:prstGeom>
        </p:spPr>
      </p:pic>
    </p:spTree>
    <p:extLst>
      <p:ext uri="{BB962C8B-B14F-4D97-AF65-F5344CB8AC3E}">
        <p14:creationId xmlns:p14="http://schemas.microsoft.com/office/powerpoint/2010/main" val="1611636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crossing the river</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lnSpcReduction="10000"/>
              </a:bodyPr>
              <a:lstStyle/>
              <a:p>
                <a:endParaRPr lang="en-US" altLang="zh-CN" dirty="0">
                  <a:latin typeface="+mn-ea"/>
                </a:endParaRPr>
              </a:p>
              <a:p>
                <a:pPr>
                  <a:lnSpc>
                    <a:spcPct val="80000"/>
                  </a:lnSpc>
                </a:pPr>
                <a:r>
                  <a:rPr lang="en" altLang="en-US" dirty="0">
                    <a:latin typeface="+mn-ea"/>
                  </a:rPr>
                  <a:t>There is a single-plank bridge over the river. A frog wants to jump from one side of the river to the other along the bridge. There are some pebbles on the bridge. The frog hates stepping on these stones.</a:t>
                </a:r>
                <a:endParaRPr lang="en-US" altLang="zh-CN" dirty="0">
                  <a:latin typeface="+mn-ea"/>
                </a:endParaRPr>
              </a:p>
              <a:p>
                <a:pPr>
                  <a:lnSpc>
                    <a:spcPct val="80000"/>
                  </a:lnSpc>
                </a:pPr>
                <a:r>
                  <a:rPr lang="en" altLang="en-US" dirty="0">
                    <a:latin typeface="+mn-ea"/>
                  </a:rPr>
                  <a:t>Since the length of the bridge and the distance the frog jumps at one time are both positive integers, we can treat all the possible points where the frog can land on the bridge as a series of integers on the number axis: </a:t>
                </a:r>
                <a14:m>
                  <m:oMath xmlns:m="http://schemas.openxmlformats.org/officeDocument/2006/math">
                    <m:r>
                      <a:rPr lang="en-US" altLang="zh-CN" b="0" i="1" smtClean="0">
                        <a:latin typeface="Cambria Math" panose="02040503050406030204" pitchFamily="18" charset="0"/>
                      </a:rPr>
                      <m:t>0,1,…,</m:t>
                    </m:r>
                    <m:r>
                      <a:rPr lang="en-US" altLang="zh-CN" b="0" i="1" smtClean="0">
                        <a:latin typeface="Cambria Math" panose="02040503050406030204" pitchFamily="18" charset="0"/>
                      </a:rPr>
                      <m:t>𝐿</m:t>
                    </m:r>
                  </m:oMath>
                </a14:m>
                <a:r>
                  <a:rPr lang="en" altLang="en-US" dirty="0">
                    <a:latin typeface="+mn-ea"/>
                  </a:rPr>
                  <a:t>, where</a:t>
                </a:r>
                <a:r>
                  <a:rPr lang="en" altLang="zh-CN" dirty="0">
                    <a:latin typeface="+mn-ea"/>
                  </a:rPr>
                  <a:t> </a:t>
                </a:r>
                <a14:m>
                  <m:oMath xmlns:m="http://schemas.openxmlformats.org/officeDocument/2006/math">
                    <m:r>
                      <a:rPr lang="en-US" altLang="zh-CN" i="1">
                        <a:latin typeface="Cambria Math" panose="02040503050406030204" pitchFamily="18" charset="0"/>
                      </a:rPr>
                      <m:t>𝐿</m:t>
                    </m:r>
                  </m:oMath>
                </a14:m>
                <a:r>
                  <a:rPr lang="en" altLang="zh-CN" dirty="0">
                    <a:latin typeface="+mn-ea"/>
                  </a:rPr>
                  <a:t> </a:t>
                </a:r>
                <a:r>
                  <a:rPr lang="en" altLang="en-US" dirty="0">
                    <a:latin typeface="+mn-ea"/>
                  </a:rPr>
                  <a:t>is the length of the bridge. Point </a:t>
                </a:r>
                <a14:m>
                  <m:oMath xmlns:m="http://schemas.openxmlformats.org/officeDocument/2006/math">
                    <m:r>
                      <a:rPr lang="en-US" altLang="zh-CN" i="1">
                        <a:latin typeface="Cambria Math" panose="02040503050406030204" pitchFamily="18" charset="0"/>
                      </a:rPr>
                      <m:t>0</m:t>
                    </m:r>
                    <m:r>
                      <a:rPr lang="en-AU" altLang="zh-CN" b="0" i="0" smtClean="0">
                        <a:latin typeface="Cambria Math" panose="02040503050406030204" pitchFamily="18" charset="0"/>
                      </a:rPr>
                      <m:t> </m:t>
                    </m:r>
                  </m:oMath>
                </a14:m>
                <a:r>
                  <a:rPr lang="en" altLang="en-US" dirty="0">
                    <a:latin typeface="+mn-ea"/>
                  </a:rPr>
                  <a:t>represents the starting point of the bridge, and point </a:t>
                </a:r>
                <a14:m>
                  <m:oMath xmlns:m="http://schemas.openxmlformats.org/officeDocument/2006/math">
                    <m:r>
                      <a:rPr lang="en-US" altLang="zh-CN" i="1" smtClean="0">
                        <a:latin typeface="Cambria Math" panose="02040503050406030204" pitchFamily="18" charset="0"/>
                      </a:rPr>
                      <m:t>𝐿</m:t>
                    </m:r>
                  </m:oMath>
                </a14:m>
                <a:r>
                  <a:rPr lang="en" altLang="zh-CN" dirty="0">
                    <a:latin typeface="+mn-ea"/>
                  </a:rPr>
                  <a:t> </a:t>
                </a:r>
                <a:r>
                  <a:rPr lang="en" altLang="en-US" dirty="0">
                    <a:latin typeface="+mn-ea"/>
                  </a:rPr>
                  <a:t>the end of the bridge.</a:t>
                </a:r>
                <a:endParaRPr lang="en-US" altLang="zh-CN" dirty="0">
                  <a:latin typeface="+mn-ea"/>
                </a:endParaRPr>
              </a:p>
              <a:p>
                <a:pPr>
                  <a:lnSpc>
                    <a:spcPct val="80000"/>
                  </a:lnSpc>
                </a:pPr>
                <a:r>
                  <a:rPr lang="en" altLang="en-US" dirty="0">
                    <a:latin typeface="+mn-ea"/>
                  </a:rPr>
                  <a:t>The frog starts from point 0 and keeps jumping towards the end. The distance of a jump is</a:t>
                </a:r>
                <a:r>
                  <a:rPr lang="en" altLang="zh-CN" dirty="0">
                    <a:latin typeface="+mn-ea"/>
                  </a:rPr>
                  <a:t> </a:t>
                </a:r>
                <a:r>
                  <a:rPr lang="en" altLang="en-US" dirty="0">
                    <a:solidFill>
                      <a:srgbClr val="FF0000"/>
                    </a:solidFill>
                    <a:latin typeface="+mn-ea"/>
                  </a:rPr>
                  <a:t>any positive integer between </a:t>
                </a:r>
                <a14:m>
                  <m:oMath xmlns:m="http://schemas.openxmlformats.org/officeDocument/2006/math">
                    <m:r>
                      <a:rPr lang="en-US" altLang="zh-CN" i="1" smtClean="0">
                        <a:solidFill>
                          <a:srgbClr val="FF0000"/>
                        </a:solidFill>
                        <a:latin typeface="Cambria Math" panose="02040503050406030204" pitchFamily="18" charset="0"/>
                      </a:rPr>
                      <m:t>𝑆</m:t>
                    </m:r>
                  </m:oMath>
                </a14:m>
                <a:r>
                  <a:rPr lang="en" altLang="zh-CN" dirty="0">
                    <a:solidFill>
                      <a:srgbClr val="FF0000"/>
                    </a:solidFill>
                    <a:latin typeface="+mn-ea"/>
                  </a:rPr>
                  <a:t> </a:t>
                </a:r>
                <a:r>
                  <a:rPr lang="en" altLang="en-US" dirty="0">
                    <a:solidFill>
                      <a:srgbClr val="FF0000"/>
                    </a:solidFill>
                    <a:latin typeface="+mn-ea"/>
                  </a:rPr>
                  <a:t>and</a:t>
                </a:r>
                <a:r>
                  <a:rPr lang="en" altLang="zh-CN" dirty="0">
                    <a:solidFill>
                      <a:srgbClr val="FF0000"/>
                    </a:solidFill>
                    <a:latin typeface="+mn-ea"/>
                  </a:rPr>
                  <a:t> </a:t>
                </a:r>
                <a14:m>
                  <m:oMath xmlns:m="http://schemas.openxmlformats.org/officeDocument/2006/math">
                    <m:r>
                      <a:rPr lang="en-US" altLang="zh-CN" b="0" i="1" smtClean="0">
                        <a:solidFill>
                          <a:srgbClr val="FF0000"/>
                        </a:solidFill>
                        <a:latin typeface="Cambria Math" panose="02040503050406030204" pitchFamily="18" charset="0"/>
                      </a:rPr>
                      <m:t>𝑇</m:t>
                    </m:r>
                  </m:oMath>
                </a14:m>
                <a:r>
                  <a:rPr lang="en" altLang="zh-CN" dirty="0">
                    <a:solidFill>
                      <a:srgbClr val="FF0000"/>
                    </a:solidFill>
                    <a:latin typeface="+mn-ea"/>
                  </a:rPr>
                  <a:t> </a:t>
                </a:r>
                <a:r>
                  <a:rPr lang="en" altLang="en-US" dirty="0">
                    <a:latin typeface="+mn-ea"/>
                  </a:rPr>
                  <a:t>(</a:t>
                </a:r>
                <a14:m>
                  <m:oMath xmlns:m="http://schemas.openxmlformats.org/officeDocument/2006/math">
                    <m:r>
                      <a:rPr lang="en-US" altLang="zh-CN" i="1" smtClean="0">
                        <a:latin typeface="Cambria Math" panose="02040503050406030204" pitchFamily="18" charset="0"/>
                      </a:rPr>
                      <m:t>𝑆</m:t>
                    </m:r>
                    <m:r>
                      <a:rPr lang="en-US" altLang="zh-CN" i="1" smtClean="0">
                        <a:latin typeface="Cambria Math" panose="02040503050406030204" pitchFamily="18" charset="0"/>
                      </a:rPr>
                      <m:t>,</m:t>
                    </m:r>
                    <m:r>
                      <a:rPr lang="en-US" altLang="zh-CN" i="1" smtClean="0">
                        <a:latin typeface="Cambria Math" panose="02040503050406030204" pitchFamily="18" charset="0"/>
                      </a:rPr>
                      <m:t>𝑇</m:t>
                    </m:r>
                  </m:oMath>
                </a14:m>
                <a:r>
                  <a:rPr lang="en" altLang="en-US" dirty="0">
                    <a:latin typeface="+mn-ea"/>
                  </a:rPr>
                  <a:t> included). When the frog lands on or beyond point</a:t>
                </a:r>
                <a:r>
                  <a:rPr lang="en" altLang="zh-CN" dirty="0">
                    <a:latin typeface="+mn-ea"/>
                  </a:rPr>
                  <a:t> </a:t>
                </a:r>
                <a14:m>
                  <m:oMath xmlns:m="http://schemas.openxmlformats.org/officeDocument/2006/math">
                    <m:r>
                      <a:rPr lang="en-US" altLang="zh-CN" i="1">
                        <a:latin typeface="Cambria Math" panose="02040503050406030204" pitchFamily="18" charset="0"/>
                      </a:rPr>
                      <m:t>𝐿</m:t>
                    </m:r>
                  </m:oMath>
                </a14:m>
                <a:r>
                  <a:rPr lang="en" altLang="en-US" dirty="0">
                    <a:latin typeface="+mn-ea"/>
                  </a:rPr>
                  <a:t>, the frog has finish crossing the river.</a:t>
                </a:r>
                <a:endParaRPr lang="en-US" altLang="zh-CN" dirty="0">
                  <a:latin typeface="+mn-ea"/>
                </a:endParaRPr>
              </a:p>
              <a:p>
                <a:pPr>
                  <a:lnSpc>
                    <a:spcPct val="80000"/>
                  </a:lnSpc>
                </a:pPr>
                <a:r>
                  <a:rPr lang="en" altLang="en-US" dirty="0">
                    <a:latin typeface="+mn-ea"/>
                  </a:rPr>
                  <a:t>Given the length of the bridge</a:t>
                </a:r>
                <a:r>
                  <a:rPr lang="en" altLang="zh-CN" dirty="0">
                    <a:latin typeface="+mn-ea"/>
                  </a:rPr>
                  <a:t> </a:t>
                </a:r>
                <a14:m>
                  <m:oMath xmlns:m="http://schemas.openxmlformats.org/officeDocument/2006/math">
                    <m:r>
                      <a:rPr lang="en-US" altLang="zh-CN" i="1">
                        <a:latin typeface="Cambria Math" panose="02040503050406030204" pitchFamily="18" charset="0"/>
                      </a:rPr>
                      <m:t>𝐿</m:t>
                    </m:r>
                  </m:oMath>
                </a14:m>
                <a:r>
                  <a:rPr lang="en" altLang="en-US" dirty="0">
                    <a:latin typeface="+mn-ea"/>
                  </a:rPr>
                  <a:t>, the range of distance of each jump </a:t>
                </a:r>
                <a14:m>
                  <m:oMath xmlns:m="http://schemas.openxmlformats.org/officeDocument/2006/math">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oMath>
                </a14:m>
                <a:r>
                  <a:rPr lang="en" altLang="en-US" dirty="0">
                    <a:latin typeface="+mn-ea"/>
                  </a:rPr>
                  <a:t>, the locations of the pebbles on the bridge, find </a:t>
                </a:r>
                <a:r>
                  <a:rPr lang="en" altLang="en-US" dirty="0">
                    <a:solidFill>
                      <a:srgbClr val="FF0000"/>
                    </a:solidFill>
                    <a:latin typeface="+mn-ea"/>
                  </a:rPr>
                  <a:t>the minimum number of pebbles the frog had to step on</a:t>
                </a:r>
                <a:r>
                  <a:rPr lang="en" altLang="en-US" dirty="0">
                    <a:latin typeface="+mn-ea"/>
                  </a:rPr>
                  <a:t> in order to cross the river</a:t>
                </a:r>
                <a:r>
                  <a:rPr lang="en" altLang="en-US" dirty="0">
                    <a:solidFill>
                      <a:srgbClr val="FF0000"/>
                    </a:solidFill>
                    <a:latin typeface="+mn-ea"/>
                  </a:rPr>
                  <a:t>.</a:t>
                </a:r>
                <a:r>
                  <a:rPr lang="en" altLang="en-US" dirty="0">
                    <a:solidFill>
                      <a:srgbClr val="FFFF00"/>
                    </a:solidFill>
                    <a:latin typeface="+mn-ea"/>
                  </a:rPr>
                  <a:t> </a:t>
                </a:r>
              </a:p>
              <a:p>
                <a:endParaRPr lang="zh-CN" altLang="en-US"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r="-1294"/>
                </a:stretch>
              </a:blipFill>
            </p:spPr>
            <p:txBody>
              <a:bodyPr/>
              <a:lstStyle/>
              <a:p>
                <a:r>
                  <a:rPr lang="en-AU">
                    <a:noFill/>
                  </a:rPr>
                  <a:t> </a:t>
                </a:r>
              </a:p>
            </p:txBody>
          </p:sp>
        </mc:Fallback>
      </mc:AlternateContent>
    </p:spTree>
    <p:extLst>
      <p:ext uri="{BB962C8B-B14F-4D97-AF65-F5344CB8AC3E}">
        <p14:creationId xmlns:p14="http://schemas.microsoft.com/office/powerpoint/2010/main" val="3045658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analysis</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Thinking forward, this is a search problem, where you need to consider all points the frog can possibly jump to from the current point.</a:t>
                </a:r>
                <a:endParaRPr lang="en-US" altLang="zh-CN" dirty="0">
                  <a:latin typeface="+mn-ea"/>
                </a:endParaRPr>
              </a:p>
              <a:p>
                <a:r>
                  <a:rPr lang="en" altLang="en-US" dirty="0">
                    <a:latin typeface="+mn-ea"/>
                  </a:rPr>
                  <a:t>If we think </a:t>
                </a:r>
                <a:r>
                  <a:rPr lang="en" altLang="en-US" dirty="0">
                    <a:solidFill>
                      <a:srgbClr val="FF0000"/>
                    </a:solidFill>
                    <a:latin typeface="+mn-ea"/>
                  </a:rPr>
                  <a:t>backwards</a:t>
                </a:r>
                <a:r>
                  <a:rPr lang="en" altLang="en-US" dirty="0">
                    <a:latin typeface="+mn-ea"/>
                  </a:rPr>
                  <a:t>, we only need to consider those points that can reach the current point with one jump, and find the one among them with the minimum number of pebbles already stepped upon.</a:t>
                </a:r>
                <a:endParaRPr lang="en-US" altLang="zh-CN" dirty="0">
                  <a:latin typeface="+mn-ea"/>
                </a:endParaRPr>
              </a:p>
              <a:p>
                <a:r>
                  <a:rPr lang="en" altLang="en-US" dirty="0">
                    <a:latin typeface="+mn-ea"/>
                  </a:rPr>
                  <a:t>That is: </a:t>
                </a:r>
                <a14:m>
                  <m:oMath xmlns:m="http://schemas.openxmlformats.org/officeDocument/2006/math">
                    <m:r>
                      <a:rPr lang="en-US" altLang="zh-CN" b="0" i="1" smtClean="0">
                        <a:latin typeface="Cambria Math" panose="02040503050406030204" pitchFamily="18" charset="0"/>
                      </a:rPr>
                      <m:t>𝑜𝑝𝑡</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m:t>
                        </m:r>
                        <m:r>
                          <m:rPr>
                            <m:sty m:val="p"/>
                          </m:rPr>
                          <a:rPr lang="en-US" altLang="zh-CN" b="0" i="0" smtClean="0">
                            <a:latin typeface="Cambria Math" panose="02040503050406030204" pitchFamily="18" charset="0"/>
                          </a:rPr>
                          <m:t>in</m:t>
                        </m:r>
                      </m:fNa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 </m:t>
                            </m:r>
                            <m:r>
                              <a:rPr lang="en-US" altLang="zh-CN" b="0" i="1" smtClean="0">
                                <a:latin typeface="Cambria Math" panose="02040503050406030204" pitchFamily="18" charset="0"/>
                              </a:rPr>
                              <m:t>𝑜𝑝𝑡</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𝑘</m:t>
                                </m:r>
                              </m:e>
                            </m:d>
                            <m:r>
                              <a:rPr lang="en-US" altLang="zh-CN" b="0" i="1" smtClean="0">
                                <a:latin typeface="Cambria Math" panose="02040503050406030204" pitchFamily="18" charset="0"/>
                              </a:rPr>
                              <m:t> |</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d>
                              </m:e>
                            </m:func>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 </m:t>
                            </m:r>
                          </m:e>
                        </m:d>
                      </m:e>
                    </m:func>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oMath>
                </a14:m>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a:stretch>
              </a:blipFill>
            </p:spPr>
            <p:txBody>
              <a:bodyPr/>
              <a:lstStyle/>
              <a:p>
                <a:r>
                  <a:rPr lang="en-AU">
                    <a:noFill/>
                  </a:rPr>
                  <a:t> </a:t>
                </a:r>
              </a:p>
            </p:txBody>
          </p:sp>
        </mc:Fallback>
      </mc:AlternateContent>
    </p:spTree>
    <p:extLst>
      <p:ext uri="{BB962C8B-B14F-4D97-AF65-F5344CB8AC3E}">
        <p14:creationId xmlns:p14="http://schemas.microsoft.com/office/powerpoint/2010/main" val="427015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code</a:t>
            </a:r>
          </a:p>
        </p:txBody>
      </p:sp>
      <p:pic>
        <p:nvPicPr>
          <p:cNvPr id="6" name="内容占位符 5">
            <a:extLst>
              <a:ext uri="{FF2B5EF4-FFF2-40B4-BE49-F238E27FC236}">
                <a16:creationId xmlns:a16="http://schemas.microsoft.com/office/drawing/2014/main" id="{71C14C5E-F9AD-054E-A5D5-08A22929913A}"/>
              </a:ext>
            </a:extLst>
          </p:cNvPr>
          <p:cNvPicPr>
            <a:picLocks noGrp="1" noChangeAspect="1"/>
          </p:cNvPicPr>
          <p:nvPr>
            <p:ph idx="1"/>
          </p:nvPr>
        </p:nvPicPr>
        <p:blipFill>
          <a:blip r:embed="rId3"/>
          <a:stretch>
            <a:fillRect/>
          </a:stretch>
        </p:blipFill>
        <p:spPr>
          <a:xfrm>
            <a:off x="678609" y="1958340"/>
            <a:ext cx="9427497" cy="3985260"/>
          </a:xfrm>
          <a:prstGeom prst="rect">
            <a:avLst/>
          </a:prstGeom>
        </p:spPr>
      </p:pic>
    </p:spTree>
    <p:extLst>
      <p:ext uri="{BB962C8B-B14F-4D97-AF65-F5344CB8AC3E}">
        <p14:creationId xmlns:p14="http://schemas.microsoft.com/office/powerpoint/2010/main" val="1183799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longest common subsequence</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Given two sequences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𝑚</m:t>
                        </m:r>
                      </m:sub>
                    </m:sSub>
                  </m:oMath>
                </a14:m>
                <a:r>
                  <a:rPr lang="en" altLang="zh-CN" dirty="0">
                    <a:latin typeface="+mn-ea"/>
                  </a:rPr>
                  <a:t> </a:t>
                </a:r>
                <a:r>
                  <a:rPr lang="en" altLang="en-US" dirty="0">
                    <a:latin typeface="+mn-ea"/>
                  </a:rPr>
                  <a:t>and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𝑛</m:t>
                        </m:r>
                      </m:sub>
                    </m:sSub>
                  </m:oMath>
                </a14:m>
                <a:r>
                  <a:rPr lang="en" altLang="en-US" dirty="0">
                    <a:latin typeface="+mn-ea"/>
                  </a:rPr>
                  <a:t>, find the longest common subsequence of these two sequences, marked as </a:t>
                </a:r>
                <a14:m>
                  <m:oMath xmlns:m="http://schemas.openxmlformats.org/officeDocument/2006/math">
                    <m:r>
                      <a:rPr lang="en-US" altLang="zh-CN" b="0" i="1" smtClean="0">
                        <a:latin typeface="Cambria Math" panose="02040503050406030204" pitchFamily="18" charset="0"/>
                      </a:rPr>
                      <m:t>𝐿𝐶𝑆</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en" altLang="en-US" dirty="0">
                    <a:latin typeface="+mn-ea"/>
                  </a:rPr>
                  <a:t>, the length </a:t>
                </a:r>
                <a14:m>
                  <m:oMath xmlns:m="http://schemas.openxmlformats.org/officeDocument/2006/math">
                    <m:r>
                      <a:rPr lang="en-US" altLang="zh-CN" dirty="0">
                        <a:latin typeface="Cambria Math" panose="02040503050406030204" pitchFamily="18" charset="0"/>
                      </a:rPr>
                      <m:t>|</m:t>
                    </m:r>
                    <m:r>
                      <a:rPr lang="en-US" altLang="zh-CN" i="1">
                        <a:latin typeface="Cambria Math" panose="02040503050406030204" pitchFamily="18" charset="0"/>
                      </a:rPr>
                      <m:t>𝐿𝐶𝑆</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b="0" i="1" smtClean="0">
                        <a:latin typeface="Cambria Math" panose="02040503050406030204" pitchFamily="18" charset="0"/>
                      </a:rPr>
                      <m:t>|</m:t>
                    </m:r>
                  </m:oMath>
                </a14:m>
                <a:r>
                  <a:rPr lang="en" altLang="en-US" dirty="0">
                    <a:latin typeface="+mn-ea"/>
                  </a:rPr>
                  <a:t>.</a:t>
                </a:r>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r="-1013"/>
                </a:stretch>
              </a:blipFill>
            </p:spPr>
            <p:txBody>
              <a:bodyPr/>
              <a:lstStyle/>
              <a:p>
                <a:r>
                  <a:rPr lang="en-AU">
                    <a:noFill/>
                  </a:rPr>
                  <a:t> </a:t>
                </a:r>
              </a:p>
            </p:txBody>
          </p:sp>
        </mc:Fallback>
      </mc:AlternateContent>
      <p:pic>
        <p:nvPicPr>
          <p:cNvPr id="4" name="图片 3">
            <a:extLst>
              <a:ext uri="{FF2B5EF4-FFF2-40B4-BE49-F238E27FC236}">
                <a16:creationId xmlns:a16="http://schemas.microsoft.com/office/drawing/2014/main" id="{6AA7D7B9-BE07-8045-87B5-71BE2FF8DBD5}"/>
              </a:ext>
            </a:extLst>
          </p:cNvPr>
          <p:cNvPicPr>
            <a:picLocks noChangeAspect="1"/>
          </p:cNvPicPr>
          <p:nvPr/>
        </p:nvPicPr>
        <p:blipFill>
          <a:blip r:embed="rId4"/>
          <a:stretch>
            <a:fillRect/>
          </a:stretch>
        </p:blipFill>
        <p:spPr>
          <a:xfrm>
            <a:off x="3037259" y="4127484"/>
            <a:ext cx="5651500" cy="1663700"/>
          </a:xfrm>
          <a:prstGeom prst="rect">
            <a:avLst/>
          </a:prstGeom>
        </p:spPr>
      </p:pic>
    </p:spTree>
    <p:extLst>
      <p:ext uri="{BB962C8B-B14F-4D97-AF65-F5344CB8AC3E}">
        <p14:creationId xmlns:p14="http://schemas.microsoft.com/office/powerpoint/2010/main" val="100696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longest common subsequence</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Let </a:t>
                </a:r>
                <a14:m>
                  <m:oMath xmlns:m="http://schemas.openxmlformats.org/officeDocument/2006/math">
                    <m:r>
                      <a:rPr lang="en-US" altLang="zh-CN" b="0" i="1" smtClean="0">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oMath>
                </a14:m>
                <a:r>
                  <a:rPr lang="en" altLang="zh-CN" dirty="0">
                    <a:latin typeface="+mn-ea"/>
                  </a:rPr>
                  <a:t> </a:t>
                </a:r>
                <a:r>
                  <a:rPr lang="en" altLang="en-US" dirty="0">
                    <a:latin typeface="+mn-ea"/>
                  </a:rPr>
                  <a:t>be the </a:t>
                </a:r>
                <a14:m>
                  <m:oMath xmlns:m="http://schemas.openxmlformats.org/officeDocument/2006/math">
                    <m:r>
                      <a:rPr lang="en-US" altLang="zh-CN">
                        <a:latin typeface="Cambria Math" panose="02040503050406030204" pitchFamily="18" charset="0"/>
                      </a:rPr>
                      <m:t>|</m:t>
                    </m:r>
                    <m:r>
                      <a:rPr lang="en-US" altLang="zh-CN" i="1">
                        <a:latin typeface="Cambria Math" panose="02040503050406030204" pitchFamily="18" charset="0"/>
                      </a:rPr>
                      <m:t>𝐿𝐶𝑆</m:t>
                    </m:r>
                    <m:r>
                      <a:rPr lang="en-US" altLang="zh-CN" i="1">
                        <a:latin typeface="Cambria Math" panose="02040503050406030204" pitchFamily="18" charset="0"/>
                      </a:rPr>
                      <m:t>|</m:t>
                    </m:r>
                  </m:oMath>
                </a14:m>
                <a:r>
                  <a:rPr lang="en" altLang="en-US" dirty="0">
                    <a:latin typeface="+mn-ea"/>
                  </a:rPr>
                  <a:t> of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𝑖</m:t>
                        </m:r>
                      </m:sub>
                    </m:sSub>
                  </m:oMath>
                </a14:m>
                <a:r>
                  <a:rPr lang="en" altLang="zh-CN" dirty="0">
                    <a:latin typeface="+mn-ea"/>
                  </a:rPr>
                  <a:t> </a:t>
                </a:r>
                <a:r>
                  <a:rPr lang="en" altLang="en-US" dirty="0">
                    <a:latin typeface="+mn-ea"/>
                  </a:rPr>
                  <a:t>and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b="0" i="1" smtClean="0">
                            <a:latin typeface="Cambria Math" panose="02040503050406030204" pitchFamily="18" charset="0"/>
                          </a:rPr>
                          <m:t>𝑗</m:t>
                        </m:r>
                      </m:sub>
                    </m:sSub>
                  </m:oMath>
                </a14:m>
                <a:r>
                  <a:rPr lang="en" altLang="en-US" dirty="0">
                    <a:latin typeface="+mn-ea"/>
                  </a:rPr>
                  <a:t>, the state transition equation is:</a:t>
                </a:r>
                <a:endParaRPr lang="en-US" altLang="zh-CN" dirty="0">
                  <a:latin typeface="+mn-ea"/>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+1                       </m:t>
                              </m:r>
                              <m:r>
                                <a:rPr lang="en-US" altLang="zh-CN" b="0" i="1" smtClean="0">
                                  <a:latin typeface="Cambria Math" panose="02040503050406030204" pitchFamily="18" charset="0"/>
                                </a:rPr>
                                <m:t>𝑖𝑓</m:t>
                              </m:r>
                              <m:r>
                                <a:rPr lang="en-US" altLang="zh-CN" b="0" i="1" smtClean="0">
                                  <a:latin typeface="Cambria Math" panose="02040503050406030204" pitchFamily="18" charset="0"/>
                                </a:rPr>
                                <m:t> </m:t>
                              </m:r>
                              <m:r>
                                <a:rPr lang="en-US" altLang="zh-CN" b="0" i="1" smtClean="0">
                                  <a:latin typeface="Cambria Math" panose="02040503050406030204" pitchFamily="18" charset="0"/>
                                </a:rPr>
                                <m:t>𝑥</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e>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 </m:t>
                                      </m:r>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 </m:t>
                                      </m:r>
                                    </m:e>
                                  </m:d>
                                </m:e>
                              </m:func>
                              <m:r>
                                <a:rPr lang="en-US" altLang="zh-CN" b="0" i="1" smtClean="0">
                                  <a:latin typeface="Cambria Math" panose="02040503050406030204" pitchFamily="18" charset="0"/>
                                </a:rPr>
                                <m:t>                        </m:t>
                              </m:r>
                              <m:r>
                                <a:rPr lang="en-US" altLang="zh-CN" b="0" i="1" smtClean="0">
                                  <a:latin typeface="Cambria Math" panose="02040503050406030204" pitchFamily="18" charset="0"/>
                                </a:rPr>
                                <m:t>𝑒𝑙𝑠𝑒</m:t>
                              </m:r>
                            </m:e>
                          </m:eqArr>
                        </m:e>
                      </m:d>
                    </m:oMath>
                  </m:oMathPara>
                </a14:m>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zh-CN" altLang="en-US"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a:stretch>
              </a:blipFill>
            </p:spPr>
            <p:txBody>
              <a:bodyPr/>
              <a:lstStyle/>
              <a:p>
                <a:r>
                  <a:rPr lang="en-AU">
                    <a:noFill/>
                  </a:rPr>
                  <a:t> </a:t>
                </a:r>
              </a:p>
            </p:txBody>
          </p:sp>
        </mc:Fallback>
      </mc:AlternateContent>
      <p:pic>
        <p:nvPicPr>
          <p:cNvPr id="5" name="图片 4">
            <a:extLst>
              <a:ext uri="{FF2B5EF4-FFF2-40B4-BE49-F238E27FC236}">
                <a16:creationId xmlns:a16="http://schemas.microsoft.com/office/drawing/2014/main" id="{E5B36337-81BA-CB4B-80CC-22FBCF363C5C}"/>
              </a:ext>
            </a:extLst>
          </p:cNvPr>
          <p:cNvPicPr>
            <a:picLocks noChangeAspect="1"/>
          </p:cNvPicPr>
          <p:nvPr/>
        </p:nvPicPr>
        <p:blipFill>
          <a:blip r:embed="rId4"/>
          <a:stretch>
            <a:fillRect/>
          </a:stretch>
        </p:blipFill>
        <p:spPr>
          <a:xfrm>
            <a:off x="2598463" y="4311410"/>
            <a:ext cx="6995073" cy="1841560"/>
          </a:xfrm>
          <a:prstGeom prst="rect">
            <a:avLst/>
          </a:prstGeom>
        </p:spPr>
      </p:pic>
    </p:spTree>
    <p:extLst>
      <p:ext uri="{BB962C8B-B14F-4D97-AF65-F5344CB8AC3E}">
        <p14:creationId xmlns:p14="http://schemas.microsoft.com/office/powerpoint/2010/main" val="283250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longest common subsequence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Overlapping subproblems: A recursive solution contains many independent subproblems that require repeated calculations.</a:t>
            </a:r>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p:txBody>
      </p:sp>
      <p:pic>
        <p:nvPicPr>
          <p:cNvPr id="5" name="图片 4">
            <a:extLst>
              <a:ext uri="{FF2B5EF4-FFF2-40B4-BE49-F238E27FC236}">
                <a16:creationId xmlns:a16="http://schemas.microsoft.com/office/drawing/2014/main" id="{B4953333-B6FD-0D4F-BD03-CAEA7F0CB5D5}"/>
              </a:ext>
            </a:extLst>
          </p:cNvPr>
          <p:cNvPicPr>
            <a:picLocks noChangeAspect="1"/>
          </p:cNvPicPr>
          <p:nvPr/>
        </p:nvPicPr>
        <p:blipFill>
          <a:blip r:embed="rId3"/>
          <a:stretch>
            <a:fillRect/>
          </a:stretch>
        </p:blipFill>
        <p:spPr>
          <a:xfrm>
            <a:off x="3330407" y="3255359"/>
            <a:ext cx="6070117" cy="3098143"/>
          </a:xfrm>
          <a:prstGeom prst="rect">
            <a:avLst/>
          </a:prstGeom>
        </p:spPr>
      </p:pic>
    </p:spTree>
    <p:extLst>
      <p:ext uri="{BB962C8B-B14F-4D97-AF65-F5344CB8AC3E}">
        <p14:creationId xmlns:p14="http://schemas.microsoft.com/office/powerpoint/2010/main" val="372291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Memoized search</a:t>
            </a:r>
          </a:p>
        </p:txBody>
      </p:sp>
      <p:pic>
        <p:nvPicPr>
          <p:cNvPr id="4" name="内容占位符 3">
            <a:extLst>
              <a:ext uri="{FF2B5EF4-FFF2-40B4-BE49-F238E27FC236}">
                <a16:creationId xmlns:a16="http://schemas.microsoft.com/office/drawing/2014/main" id="{8363F090-525A-314A-8081-6528D86C0C31}"/>
              </a:ext>
            </a:extLst>
          </p:cNvPr>
          <p:cNvPicPr>
            <a:picLocks noGrp="1" noChangeAspect="1"/>
          </p:cNvPicPr>
          <p:nvPr>
            <p:ph idx="1"/>
          </p:nvPr>
        </p:nvPicPr>
        <p:blipFill>
          <a:blip r:embed="rId3"/>
          <a:stretch>
            <a:fillRect/>
          </a:stretch>
        </p:blipFill>
        <p:spPr>
          <a:xfrm>
            <a:off x="678609" y="1734820"/>
            <a:ext cx="9175870" cy="4681220"/>
          </a:xfrm>
          <a:prstGeom prst="rect">
            <a:avLst/>
          </a:prstGeom>
        </p:spPr>
      </p:pic>
    </p:spTree>
    <p:extLst>
      <p:ext uri="{BB962C8B-B14F-4D97-AF65-F5344CB8AC3E}">
        <p14:creationId xmlns:p14="http://schemas.microsoft.com/office/powerpoint/2010/main" val="3407467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Recurrence</a:t>
            </a:r>
          </a:p>
        </p:txBody>
      </p:sp>
      <p:pic>
        <p:nvPicPr>
          <p:cNvPr id="5" name="内容占位符 4">
            <a:extLst>
              <a:ext uri="{FF2B5EF4-FFF2-40B4-BE49-F238E27FC236}">
                <a16:creationId xmlns:a16="http://schemas.microsoft.com/office/drawing/2014/main" id="{9B33452C-D1FD-0F42-BC1B-C5474D6207D5}"/>
              </a:ext>
            </a:extLst>
          </p:cNvPr>
          <p:cNvPicPr>
            <a:picLocks noGrp="1" noChangeAspect="1"/>
          </p:cNvPicPr>
          <p:nvPr>
            <p:ph idx="1"/>
          </p:nvPr>
        </p:nvPicPr>
        <p:blipFill>
          <a:blip r:embed="rId3"/>
          <a:stretch>
            <a:fillRect/>
          </a:stretch>
        </p:blipFill>
        <p:spPr>
          <a:xfrm>
            <a:off x="3240881" y="1625600"/>
            <a:ext cx="5676900" cy="5003800"/>
          </a:xfrm>
          <a:prstGeom prst="rect">
            <a:avLst/>
          </a:prstGeom>
        </p:spPr>
      </p:pic>
    </p:spTree>
    <p:extLst>
      <p:ext uri="{BB962C8B-B14F-4D97-AF65-F5344CB8AC3E}">
        <p14:creationId xmlns:p14="http://schemas.microsoft.com/office/powerpoint/2010/main" val="1787399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Recurrence</a:t>
            </a:r>
          </a:p>
        </p:txBody>
      </p:sp>
      <p:pic>
        <p:nvPicPr>
          <p:cNvPr id="4" name="内容占位符 3">
            <a:extLst>
              <a:ext uri="{FF2B5EF4-FFF2-40B4-BE49-F238E27FC236}">
                <a16:creationId xmlns:a16="http://schemas.microsoft.com/office/drawing/2014/main" id="{758E8AAE-B24F-DB4B-BAC5-4C2337B9EE40}"/>
              </a:ext>
            </a:extLst>
          </p:cNvPr>
          <p:cNvPicPr>
            <a:picLocks noGrp="1" noChangeAspect="1"/>
          </p:cNvPicPr>
          <p:nvPr>
            <p:ph idx="1"/>
          </p:nvPr>
        </p:nvPicPr>
        <p:blipFill>
          <a:blip r:embed="rId3"/>
          <a:stretch>
            <a:fillRect/>
          </a:stretch>
        </p:blipFill>
        <p:spPr>
          <a:xfrm>
            <a:off x="678609" y="1808480"/>
            <a:ext cx="10151786" cy="4424680"/>
          </a:xfrm>
          <a:prstGeom prst="rect">
            <a:avLst/>
          </a:prstGeom>
        </p:spPr>
      </p:pic>
    </p:spTree>
    <p:extLst>
      <p:ext uri="{BB962C8B-B14F-4D97-AF65-F5344CB8AC3E}">
        <p14:creationId xmlns:p14="http://schemas.microsoft.com/office/powerpoint/2010/main" val="2825890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Recurrence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Using rolling array to optimise space</a:t>
            </a:r>
            <a:endParaRPr lang="en-US" altLang="zh-CN" dirty="0">
              <a:latin typeface="+mn-ea"/>
            </a:endParaRPr>
          </a:p>
          <a:p>
            <a:r>
              <a:rPr lang="en" altLang="en-US" dirty="0">
                <a:latin typeface="+mn-ea"/>
              </a:rPr>
              <a:t>Can further optimise to a one-dimensional array</a:t>
            </a:r>
            <a:endParaRPr lang="en-US" altLang="zh-CN" dirty="0">
              <a:latin typeface="+mn-ea"/>
            </a:endParaRPr>
          </a:p>
        </p:txBody>
      </p:sp>
    </p:spTree>
    <p:extLst>
      <p:ext uri="{BB962C8B-B14F-4D97-AF65-F5344CB8AC3E}">
        <p14:creationId xmlns:p14="http://schemas.microsoft.com/office/powerpoint/2010/main" val="312275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AU" altLang="en-US" dirty="0">
                <a:solidFill>
                  <a:schemeClr val="bg1"/>
                </a:solidFill>
              </a:rPr>
              <a:t>F</a:t>
            </a:r>
            <a:r>
              <a:rPr lang="en" altLang="en-US" dirty="0">
                <a:solidFill>
                  <a:schemeClr val="bg1"/>
                </a:solidFill>
              </a:rPr>
              <a:t>urther optimisation?</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zh-CN" dirty="0">
                    <a:latin typeface="+mn-ea"/>
                  </a:rPr>
                  <a:t>Knuth </a:t>
                </a:r>
                <a:r>
                  <a:rPr lang="en" altLang="en-US" dirty="0">
                    <a:latin typeface="+mn-ea"/>
                  </a:rPr>
                  <a:t>initiated a discussion on whether there is a sub-n</a:t>
                </a:r>
                <a:r>
                  <a:rPr lang="en" altLang="en-US" baseline="30000" dirty="0">
                    <a:latin typeface="+mn-ea"/>
                  </a:rPr>
                  <a:t>2</a:t>
                </a:r>
                <a:r>
                  <a:rPr lang="en" altLang="en-US" dirty="0">
                    <a:latin typeface="+mn-ea"/>
                  </a:rPr>
                  <a:t> time algorithm for the </a:t>
                </a:r>
                <a:r>
                  <a:rPr lang="en" altLang="zh-CN" dirty="0">
                    <a:latin typeface="+mn-ea"/>
                  </a:rPr>
                  <a:t>LCS </a:t>
                </a:r>
                <a:r>
                  <a:rPr lang="en" altLang="en-US" dirty="0">
                    <a:latin typeface="+mn-ea"/>
                  </a:rPr>
                  <a:t>problem.</a:t>
                </a:r>
                <a:endParaRPr lang="en-US" altLang="zh-CN" dirty="0">
                  <a:latin typeface="+mn-ea"/>
                </a:endParaRPr>
              </a:p>
              <a:p>
                <a:r>
                  <a:rPr lang="en" altLang="zh-CN" dirty="0">
                    <a:latin typeface="+mn-ea"/>
                  </a:rPr>
                  <a:t>Masek </a:t>
                </a:r>
                <a:r>
                  <a:rPr lang="en" altLang="en-US" dirty="0">
                    <a:latin typeface="+mn-ea"/>
                  </a:rPr>
                  <a:t>and </a:t>
                </a:r>
                <a:r>
                  <a:rPr lang="en" altLang="zh-CN" dirty="0">
                    <a:latin typeface="+mn-ea"/>
                  </a:rPr>
                  <a:t>Paterson </a:t>
                </a:r>
                <a:r>
                  <a:rPr lang="en" altLang="en-US" dirty="0">
                    <a:latin typeface="+mn-ea"/>
                  </a:rPr>
                  <a:t>provided an affirmative answer.  They suggested an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𝑚𝑛</m:t>
                        </m:r>
                      </m:num>
                      <m:den>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b="0" i="1" smtClean="0">
                                <a:latin typeface="Cambria Math" panose="02040503050406030204" pitchFamily="18" charset="0"/>
                              </a:rPr>
                              <m:t>𝑛</m:t>
                            </m:r>
                          </m:e>
                        </m:func>
                      </m:den>
                    </m:f>
                    <m:r>
                      <a:rPr lang="en-US" altLang="zh-CN" b="0" i="1" smtClean="0">
                        <a:latin typeface="Cambria Math" panose="02040503050406030204" pitchFamily="18" charset="0"/>
                      </a:rPr>
                      <m:t>)</m:t>
                    </m:r>
                  </m:oMath>
                </a14:m>
                <a:r>
                  <a:rPr lang="en" altLang="zh-CN" dirty="0">
                    <a:latin typeface="+mn-ea"/>
                  </a:rPr>
                  <a:t> </a:t>
                </a:r>
                <a:r>
                  <a:rPr lang="en" altLang="en-US" dirty="0">
                    <a:latin typeface="+mn-ea"/>
                  </a:rPr>
                  <a:t>time algorithm, where</a:t>
                </a:r>
                <a:r>
                  <a:rPr lang="en" altLang="zh-CN" dirty="0">
                    <a:latin typeface="+mn-ea"/>
                  </a:rPr>
                  <a:t>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oMath>
                </a14:m>
                <a:r>
                  <a:rPr lang="en" altLang="zh-CN" dirty="0">
                    <a:latin typeface="+mn-ea"/>
                  </a:rPr>
                  <a:t>,</a:t>
                </a:r>
                <a:r>
                  <a:rPr lang="en" altLang="en-US" dirty="0">
                    <a:latin typeface="+mn-ea"/>
                  </a:rPr>
                  <a:t>and the sequence is selected from a finite set.</a:t>
                </a:r>
                <a:endParaRPr lang="en-US" altLang="zh-CN" dirty="0">
                  <a:latin typeface="+mn-ea"/>
                </a:endParaRPr>
              </a:p>
              <a:p>
                <a:r>
                  <a:rPr lang="en" altLang="en-US" dirty="0">
                    <a:latin typeface="+mn-ea"/>
                  </a:rPr>
                  <a:t>For the special case where elements do not appear repeatedly in an input sequence, </a:t>
                </a:r>
                <a:r>
                  <a:rPr lang="en" altLang="zh-CN" dirty="0">
                    <a:latin typeface="+mn-ea"/>
                  </a:rPr>
                  <a:t>Szymanski </a:t>
                </a:r>
                <a:r>
                  <a:rPr lang="en" altLang="en-US" dirty="0">
                    <a:latin typeface="+mn-ea"/>
                  </a:rPr>
                  <a:t>suggested an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e>
                    </m:d>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b="0" i="1" smtClean="0">
                            <a:latin typeface="Cambria Math" panose="02040503050406030204" pitchFamily="18" charset="0"/>
                          </a:rPr>
                          <m:t>(</m:t>
                        </m:r>
                        <m:r>
                          <a:rPr lang="en-US" altLang="zh-CN" i="1">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e>
                    </m:func>
                    <m:r>
                      <a:rPr lang="en-US" altLang="zh-CN" b="0" i="1" smtClean="0">
                        <a:latin typeface="Cambria Math" panose="02040503050406030204" pitchFamily="18" charset="0"/>
                      </a:rPr>
                      <m:t>)</m:t>
                    </m:r>
                  </m:oMath>
                </a14:m>
                <a:r>
                  <a:rPr lang="en" altLang="zh-CN" dirty="0">
                    <a:latin typeface="+mn-ea"/>
                  </a:rPr>
                  <a:t> </a:t>
                </a:r>
                <a:r>
                  <a:rPr lang="en" altLang="en-US" dirty="0">
                    <a:latin typeface="+mn-ea"/>
                  </a:rPr>
                  <a:t>time algorithm.</a:t>
                </a:r>
                <a:endParaRPr lang="en-US" altLang="zh-CN" dirty="0">
                  <a:latin typeface="+mn-ea"/>
                </a:endParaRPr>
              </a:p>
              <a:p>
                <a:r>
                  <a:rPr lang="en" altLang="en-US" dirty="0">
                    <a:latin typeface="+mn-ea"/>
                  </a:rPr>
                  <a:t>Many of such results can be extended to the string edit distance problems.</a:t>
                </a:r>
                <a:endParaRPr lang="zh-CN" altLang="en-US" dirty="0">
                  <a:effectLst/>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a:stretch>
              </a:blipFill>
            </p:spPr>
            <p:txBody>
              <a:bodyPr/>
              <a:lstStyle/>
              <a:p>
                <a:r>
                  <a:rPr lang="en-AU">
                    <a:noFill/>
                  </a:rPr>
                  <a:t> </a:t>
                </a:r>
              </a:p>
            </p:txBody>
          </p:sp>
        </mc:Fallback>
      </mc:AlternateContent>
    </p:spTree>
    <p:extLst>
      <p:ext uri="{BB962C8B-B14F-4D97-AF65-F5344CB8AC3E}">
        <p14:creationId xmlns:p14="http://schemas.microsoft.com/office/powerpoint/2010/main" val="5413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longest common substring</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Given two sequences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𝑚</m:t>
                        </m:r>
                      </m:sub>
                    </m:sSub>
                  </m:oMath>
                </a14:m>
                <a:r>
                  <a:rPr lang="en" altLang="zh-CN" dirty="0">
                    <a:latin typeface="+mn-ea"/>
                  </a:rPr>
                  <a:t> </a:t>
                </a:r>
                <a:r>
                  <a:rPr lang="en" altLang="en-US" dirty="0">
                    <a:latin typeface="+mn-ea"/>
                  </a:rPr>
                  <a:t>and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𝑛</m:t>
                        </m:r>
                      </m:sub>
                    </m:sSub>
                  </m:oMath>
                </a14:m>
                <a:r>
                  <a:rPr lang="en" altLang="en-US" dirty="0">
                    <a:latin typeface="+mn-ea"/>
                  </a:rPr>
                  <a:t>, find the longest common subsequence.</a:t>
                </a:r>
                <a:endParaRPr lang="en-US" altLang="zh-CN" dirty="0">
                  <a:latin typeface="+mn-ea"/>
                </a:endParaRPr>
              </a:p>
              <a:p>
                <a:r>
                  <a:rPr lang="en" altLang="en-US" dirty="0">
                    <a:latin typeface="+mn-ea"/>
                  </a:rPr>
                  <a:t>Constraint: The subsequence must be continuous</a:t>
                </a:r>
                <a:endParaRPr lang="en-US" altLang="zh-CN" dirty="0">
                  <a:latin typeface="+mn-ea"/>
                </a:endParaRPr>
              </a:p>
              <a:p>
                <a:r>
                  <a:rPr lang="en" altLang="en-US" dirty="0">
                    <a:latin typeface="+mn-ea"/>
                  </a:rPr>
                  <a:t>Let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oMath>
                </a14:m>
                <a:r>
                  <a:rPr lang="en" altLang="zh-CN" dirty="0">
                    <a:latin typeface="+mn-ea"/>
                  </a:rPr>
                  <a:t> </a:t>
                </a:r>
                <a:r>
                  <a:rPr lang="en" altLang="en-US" dirty="0">
                    <a:latin typeface="+mn-ea"/>
                  </a:rPr>
                  <a:t>be length of a common subsequence of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en" altLang="zh-CN" dirty="0">
                    <a:latin typeface="+mn-ea"/>
                  </a:rPr>
                  <a:t> </a:t>
                </a:r>
                <a:r>
                  <a:rPr lang="en" altLang="en-US" dirty="0">
                    <a:latin typeface="+mn-ea"/>
                  </a:rPr>
                  <a:t>and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oMath>
                </a14:m>
                <a:r>
                  <a:rPr lang="en" altLang="zh-CN" dirty="0">
                    <a:latin typeface="+mn-ea"/>
                  </a:rPr>
                  <a:t> </a:t>
                </a:r>
                <a:r>
                  <a:rPr lang="en" altLang="en-US" dirty="0">
                    <a:latin typeface="+mn-ea"/>
                  </a:rPr>
                  <a:t>when it ends with</a:t>
                </a:r>
                <a:r>
                  <a:rPr lang="en" altLang="zh-CN" dirty="0">
                    <a:latin typeface="+mn-ea"/>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𝑗</m:t>
                        </m:r>
                      </m:sub>
                    </m:sSub>
                  </m:oMath>
                </a14:m>
                <a:r>
                  <a:rPr lang="en" altLang="zh-CN" dirty="0">
                    <a:latin typeface="+mn-ea"/>
                  </a:rPr>
                  <a:t>. </a:t>
                </a:r>
                <a:r>
                  <a:rPr lang="en" altLang="en-US" dirty="0">
                    <a:latin typeface="+mn-ea"/>
                  </a:rPr>
                  <a:t>The state transition equation is:</a:t>
                </a:r>
                <a:endParaRPr lang="en-US" altLang="zh-CN" dirty="0">
                  <a:latin typeface="+mn-ea"/>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𝑗</m:t>
                                  </m:r>
                                  <m:r>
                                    <a:rPr lang="en-US" altLang="zh-CN" i="1">
                                      <a:latin typeface="Cambria Math" panose="02040503050406030204" pitchFamily="18" charset="0"/>
                                    </a:rPr>
                                    <m:t>−1</m:t>
                                  </m:r>
                                </m:e>
                              </m:d>
                              <m:r>
                                <a:rPr lang="en-US" altLang="zh-CN" i="1">
                                  <a:latin typeface="Cambria Math" panose="02040503050406030204" pitchFamily="18" charset="0"/>
                                </a:rPr>
                                <m:t>+1                    </m:t>
                              </m:r>
                              <m:r>
                                <a:rPr lang="en-US" altLang="zh-CN" i="1">
                                  <a:latin typeface="Cambria Math" panose="02040503050406030204" pitchFamily="18" charset="0"/>
                                </a:rPr>
                                <m:t>𝑖𝑓</m:t>
                              </m:r>
                              <m:r>
                                <a:rPr lang="en-US" altLang="zh-CN" i="1">
                                  <a:latin typeface="Cambria Math" panose="02040503050406030204" pitchFamily="18" charset="0"/>
                                </a:rPr>
                                <m:t> </m:t>
                              </m:r>
                              <m:r>
                                <a:rPr lang="en-US" altLang="zh-CN" i="1">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𝑗</m:t>
                              </m:r>
                              <m:r>
                                <a:rPr lang="en-US" altLang="zh-CN" i="1">
                                  <a:latin typeface="Cambria Math" panose="02040503050406030204" pitchFamily="18" charset="0"/>
                                </a:rPr>
                                <m:t>]</m:t>
                              </m:r>
                            </m:e>
                            <m:e>
                              <m:r>
                                <a:rPr lang="en-US" altLang="zh-CN" b="0" i="1" smtClean="0">
                                  <a:latin typeface="Cambria Math" panose="02040503050406030204" pitchFamily="18" charset="0"/>
                                </a:rPr>
                                <m:t>0</m:t>
                              </m:r>
                              <m:r>
                                <a:rPr lang="zh-CN" altLang="en-US" b="0" i="1" smtClean="0">
                                  <a:latin typeface="Cambria Math" panose="02040503050406030204" pitchFamily="18" charset="0"/>
                                </a:rPr>
                                <m:t>    </m:t>
                              </m:r>
                              <m:r>
                                <a:rPr lang="en-US" altLang="zh-CN" i="1">
                                  <a:latin typeface="Cambria Math" panose="02040503050406030204" pitchFamily="18" charset="0"/>
                                </a:rPr>
                                <m:t>      </m:t>
                              </m:r>
                              <m:r>
                                <a:rPr lang="zh-CN" altLang="en-US" b="0" i="1" smtClean="0">
                                  <a:latin typeface="Cambria Math" panose="02040503050406030204" pitchFamily="18" charset="0"/>
                                </a:rPr>
                                <m:t>       </m:t>
                              </m:r>
                              <m:r>
                                <a:rPr lang="en-US" altLang="zh-CN" i="1">
                                  <a:latin typeface="Cambria Math" panose="02040503050406030204" pitchFamily="18" charset="0"/>
                                </a:rPr>
                                <m:t>                  </m:t>
                              </m:r>
                              <m:r>
                                <a:rPr lang="en-US" altLang="zh-CN" i="1">
                                  <a:latin typeface="Cambria Math" panose="02040503050406030204" pitchFamily="18" charset="0"/>
                                </a:rPr>
                                <m:t>𝑒𝑙𝑠𝑒</m:t>
                              </m:r>
                            </m:e>
                          </m:eqArr>
                        </m:e>
                      </m:d>
                    </m:oMath>
                  </m:oMathPara>
                </a14:m>
                <a:endParaRPr lang="en-US" altLang="zh-CN" dirty="0">
                  <a:latin typeface="+mn-ea"/>
                </a:endParaRPr>
              </a:p>
              <a:p>
                <a:r>
                  <a:rPr lang="en" altLang="en-US" dirty="0">
                    <a:latin typeface="+mn-ea"/>
                  </a:rPr>
                  <a:t>The answer is:</a:t>
                </a:r>
                <a:r>
                  <a:rPr lang="en" altLang="zh-CN" dirty="0"/>
                  <a:t> </a:t>
                </a:r>
                <a14:m>
                  <m:oMath xmlns:m="http://schemas.openxmlformats.org/officeDocument/2006/math">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 </m:t>
                    </m:r>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 }</m:t>
                    </m:r>
                  </m:oMath>
                </a14:m>
                <a:endParaRPr lang="en-US" altLang="zh-CN" i="1" dirty="0">
                  <a:latin typeface="+mn-ea"/>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71" r="-937" b="-29567"/>
                </a:stretch>
              </a:blipFill>
            </p:spPr>
            <p:txBody>
              <a:bodyPr/>
              <a:lstStyle/>
              <a:p>
                <a:r>
                  <a:rPr lang="en-AU">
                    <a:noFill/>
                  </a:rPr>
                  <a:t> </a:t>
                </a:r>
              </a:p>
            </p:txBody>
          </p:sp>
        </mc:Fallback>
      </mc:AlternateContent>
    </p:spTree>
    <p:extLst>
      <p:ext uri="{BB962C8B-B14F-4D97-AF65-F5344CB8AC3E}">
        <p14:creationId xmlns:p14="http://schemas.microsoft.com/office/powerpoint/2010/main" val="67210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palindrome</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fontScale="92500"/>
          </a:bodyPr>
          <a:lstStyle/>
          <a:p>
            <a:r>
              <a:rPr lang="en" altLang="en-US" dirty="0">
                <a:latin typeface="Arial" panose="020B0604020202020204" pitchFamily="34" charset="0"/>
                <a:cs typeface="Arial" panose="020B0604020202020204" pitchFamily="34" charset="0"/>
              </a:rPr>
              <a:t>Given a character string </a:t>
            </a:r>
            <a:r>
              <a:rPr lang="en" altLang="zh-CN" dirty="0">
                <a:latin typeface="Arial" panose="020B0604020202020204" pitchFamily="34" charset="0"/>
                <a:cs typeface="Arial" panose="020B0604020202020204" pitchFamily="34" charset="0"/>
              </a:rPr>
              <a:t>A</a:t>
            </a:r>
            <a:r>
              <a:rPr lang="en" altLang="en-US" dirty="0">
                <a:latin typeface="Arial" panose="020B0604020202020204" pitchFamily="34" charset="0"/>
                <a:cs typeface="Arial" panose="020B0604020202020204" pitchFamily="34" charset="0"/>
              </a:rPr>
              <a:t>, keeping the order of the original characters unchanged, at least how many characters must be added to turn it into a palindrome?</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Example :</a:t>
            </a:r>
            <a:r>
              <a:rPr lang="en" altLang="zh-CN" dirty="0">
                <a:latin typeface="Arial" panose="020B0604020202020204" pitchFamily="34" charset="0"/>
                <a:cs typeface="Arial" panose="020B0604020202020204" pitchFamily="34" charset="0"/>
              </a:rPr>
              <a:t> abfcbfa</a:t>
            </a:r>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-&gt;</a:t>
            </a:r>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a</a:t>
            </a:r>
            <a:r>
              <a:rPr lang="en" altLang="zh-CN" dirty="0">
                <a:solidFill>
                  <a:srgbClr val="FF0000"/>
                </a:solidFill>
                <a:latin typeface="Arial" panose="020B0604020202020204" pitchFamily="34" charset="0"/>
                <a:cs typeface="Arial" panose="020B0604020202020204" pitchFamily="34" charset="0"/>
              </a:rPr>
              <a:t>f</a:t>
            </a:r>
            <a:r>
              <a:rPr lang="en" altLang="zh-CN" dirty="0">
                <a:latin typeface="Arial" panose="020B0604020202020204" pitchFamily="34" charset="0"/>
                <a:cs typeface="Arial" panose="020B0604020202020204" pitchFamily="34" charset="0"/>
              </a:rPr>
              <a:t>b</a:t>
            </a:r>
            <a:r>
              <a:rPr lang="en" altLang="zh-CN" dirty="0">
                <a:solidFill>
                  <a:srgbClr val="FF0000"/>
                </a:solidFill>
                <a:latin typeface="Arial" panose="020B0604020202020204" pitchFamily="34" charset="0"/>
                <a:cs typeface="Arial" panose="020B0604020202020204" pitchFamily="34" charset="0"/>
              </a:rPr>
              <a:t>c</a:t>
            </a:r>
            <a:r>
              <a:rPr lang="en" altLang="zh-CN" dirty="0">
                <a:latin typeface="Arial" panose="020B0604020202020204" pitchFamily="34" charset="0"/>
                <a:cs typeface="Arial" panose="020B0604020202020204" pitchFamily="34" charset="0"/>
              </a:rPr>
              <a:t>fcbfa</a:t>
            </a: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Red and green characters represent originals, white represent new characters.</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Obviously, it's impossible to be ‘white’ both in the original and reverse strings (otherwise it’s not neces</a:t>
            </a:r>
            <a:r>
              <a:rPr lang="en-AU" altLang="en-US" dirty="0">
                <a:latin typeface="Arial" panose="020B0604020202020204" pitchFamily="34" charset="0"/>
                <a:cs typeface="Arial" panose="020B0604020202020204" pitchFamily="34" charset="0"/>
              </a:rPr>
              <a:t>s</a:t>
            </a:r>
            <a:r>
              <a:rPr lang="en" altLang="en-US" dirty="0">
                <a:latin typeface="Arial" panose="020B0604020202020204" pitchFamily="34" charset="0"/>
                <a:cs typeface="Arial" panose="020B0604020202020204" pitchFamily="34" charset="0"/>
              </a:rPr>
              <a:t>ary to add that character in the first place)</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There should be as many red characters as possible! This is equivalent to finding </a:t>
            </a:r>
            <a:r>
              <a:rPr lang="en" altLang="zh-CN" dirty="0">
                <a:latin typeface="Arial" panose="020B0604020202020204" pitchFamily="34" charset="0"/>
                <a:cs typeface="Arial" panose="020B0604020202020204" pitchFamily="34" charset="0"/>
              </a:rPr>
              <a:t>the LCS </a:t>
            </a:r>
            <a:r>
              <a:rPr lang="en" altLang="en-US" dirty="0">
                <a:latin typeface="Arial" panose="020B0604020202020204" pitchFamily="34" charset="0"/>
                <a:cs typeface="Arial" panose="020B0604020202020204" pitchFamily="34" charset="0"/>
              </a:rPr>
              <a:t>of a string and its reverse string .</a:t>
            </a:r>
          </a:p>
        </p:txBody>
      </p:sp>
      <p:pic>
        <p:nvPicPr>
          <p:cNvPr id="4" name="图片 3">
            <a:extLst>
              <a:ext uri="{FF2B5EF4-FFF2-40B4-BE49-F238E27FC236}">
                <a16:creationId xmlns:a16="http://schemas.microsoft.com/office/drawing/2014/main" id="{5CBA6F3F-6D63-9648-B7B6-B4F067FF6472}"/>
              </a:ext>
            </a:extLst>
          </p:cNvPr>
          <p:cNvPicPr>
            <a:picLocks noChangeAspect="1"/>
          </p:cNvPicPr>
          <p:nvPr/>
        </p:nvPicPr>
        <p:blipFill>
          <a:blip r:embed="rId3"/>
          <a:stretch>
            <a:fillRect/>
          </a:stretch>
        </p:blipFill>
        <p:spPr>
          <a:xfrm>
            <a:off x="2559269" y="3269674"/>
            <a:ext cx="6096000" cy="1003300"/>
          </a:xfrm>
          <a:prstGeom prst="rect">
            <a:avLst/>
          </a:prstGeom>
        </p:spPr>
      </p:pic>
    </p:spTree>
    <p:extLst>
      <p:ext uri="{BB962C8B-B14F-4D97-AF65-F5344CB8AC3E}">
        <p14:creationId xmlns:p14="http://schemas.microsoft.com/office/powerpoint/2010/main" val="205801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Longest increasing subsequence ( LIS )</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lnSpcReduction="10000"/>
              </a:bodyPr>
              <a:lstStyle/>
              <a:p>
                <a:r>
                  <a:rPr lang="en" altLang="en-US" dirty="0">
                    <a:latin typeface="+mn-ea"/>
                  </a:rPr>
                  <a:t>Given a sequence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oMath>
                </a14:m>
                <a:r>
                  <a:rPr lang="en" altLang="en-US" dirty="0">
                    <a:latin typeface="+mn-ea"/>
                  </a:rPr>
                  <a:t>, find an increasing subsequence of it so that it has the maximum number of elements. The increasing subsequence with the largest number of elements is called the longest increasing subsequence ( LIS ).</a:t>
                </a:r>
                <a:endParaRPr lang="en-US" altLang="zh-CN" dirty="0">
                  <a:latin typeface="+mn-ea"/>
                </a:endParaRPr>
              </a:p>
              <a:p>
                <a:r>
                  <a:rPr lang="en" altLang="en-US" dirty="0">
                    <a:latin typeface="+mn-ea"/>
                  </a:rPr>
                  <a:t>Example: The longest increasing subsequence of </a:t>
                </a:r>
                <a:r>
                  <a:rPr lang="en" altLang="zh-CN" dirty="0">
                    <a:solidFill>
                      <a:srgbClr val="FF0000"/>
                    </a:solidFill>
                    <a:latin typeface="+mn-ea"/>
                  </a:rPr>
                  <a:t>1</a:t>
                </a:r>
                <a:r>
                  <a:rPr lang="en" altLang="en-US" dirty="0">
                    <a:latin typeface="+mn-ea"/>
                  </a:rPr>
                  <a:t> </a:t>
                </a:r>
                <a:r>
                  <a:rPr lang="en" altLang="zh-CN" dirty="0">
                    <a:latin typeface="+mn-ea"/>
                  </a:rPr>
                  <a:t>6</a:t>
                </a:r>
                <a:r>
                  <a:rPr lang="en" altLang="en-US" dirty="0">
                    <a:latin typeface="+mn-ea"/>
                  </a:rPr>
                  <a:t> </a:t>
                </a:r>
                <a:r>
                  <a:rPr lang="en" altLang="zh-CN" dirty="0">
                    <a:solidFill>
                      <a:srgbClr val="FF0000"/>
                    </a:solidFill>
                    <a:latin typeface="+mn-ea"/>
                  </a:rPr>
                  <a:t>2</a:t>
                </a:r>
                <a:r>
                  <a:rPr lang="en" altLang="en-US" dirty="0">
                    <a:latin typeface="+mn-ea"/>
                  </a:rPr>
                  <a:t> </a:t>
                </a:r>
                <a:r>
                  <a:rPr lang="en" altLang="zh-CN" dirty="0">
                    <a:solidFill>
                      <a:srgbClr val="FF0000"/>
                    </a:solidFill>
                    <a:latin typeface="+mn-ea"/>
                  </a:rPr>
                  <a:t>5</a:t>
                </a:r>
                <a:r>
                  <a:rPr lang="en" altLang="en-US" dirty="0">
                    <a:latin typeface="+mn-ea"/>
                  </a:rPr>
                  <a:t> </a:t>
                </a:r>
                <a:r>
                  <a:rPr lang="en" altLang="zh-CN" dirty="0">
                    <a:latin typeface="+mn-ea"/>
                  </a:rPr>
                  <a:t>4</a:t>
                </a:r>
                <a:r>
                  <a:rPr lang="en" altLang="en-US" dirty="0">
                    <a:latin typeface="+mn-ea"/>
                  </a:rPr>
                  <a:t> </a:t>
                </a:r>
                <a:r>
                  <a:rPr lang="en" altLang="zh-CN" dirty="0">
                    <a:solidFill>
                      <a:srgbClr val="FF0000"/>
                    </a:solidFill>
                    <a:latin typeface="+mn-ea"/>
                  </a:rPr>
                  <a:t>7</a:t>
                </a:r>
                <a:r>
                  <a:rPr lang="en" altLang="zh-CN" dirty="0">
                    <a:latin typeface="+mn-ea"/>
                  </a:rPr>
                  <a:t> </a:t>
                </a:r>
                <a:r>
                  <a:rPr lang="en" altLang="zh-CN" dirty="0">
                    <a:latin typeface="Arial" panose="020B0604020202020204" pitchFamily="34" charset="0"/>
                    <a:cs typeface="Arial" panose="020B0604020202020204" pitchFamily="34" charset="0"/>
                  </a:rPr>
                  <a:t>is </a:t>
                </a:r>
                <a:r>
                  <a:rPr lang="en" altLang="zh-CN" dirty="0">
                    <a:latin typeface="+mn-ea"/>
                  </a:rPr>
                  <a:t>1 2 5 7</a:t>
                </a:r>
                <a:r>
                  <a:rPr lang="en" altLang="en-US" dirty="0">
                    <a:latin typeface="+mn-ea"/>
                  </a:rPr>
                  <a:t>. (In this example the</a:t>
                </a:r>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LIS </a:t>
                </a:r>
                <a:r>
                  <a:rPr lang="en" altLang="en-US" dirty="0">
                    <a:latin typeface="+mn-ea"/>
                  </a:rPr>
                  <a:t>is not unique)</a:t>
                </a:r>
                <a:endParaRPr lang="en-US" altLang="zh-CN" dirty="0">
                  <a:latin typeface="+mn-ea"/>
                </a:endParaRPr>
              </a:p>
              <a:p>
                <a:endParaRPr lang="en-US" altLang="zh-CN" dirty="0">
                  <a:latin typeface="+mn-ea"/>
                </a:endParaRPr>
              </a:p>
              <a:p>
                <a:r>
                  <a:rPr lang="en" altLang="en-US" dirty="0">
                    <a:latin typeface="+mn-ea"/>
                  </a:rPr>
                  <a:t>Let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oMath>
                </a14:m>
                <a:r>
                  <a:rPr lang="en" altLang="zh-CN" dirty="0">
                    <a:latin typeface="+mn-ea"/>
                  </a:rPr>
                  <a:t> </a:t>
                </a:r>
                <a:r>
                  <a:rPr lang="en" altLang="en-US" dirty="0">
                    <a:latin typeface="+mn-ea"/>
                  </a:rPr>
                  <a:t>be the length of the LIS ending with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en" altLang="en-US" dirty="0">
                    <a:latin typeface="+mn-ea"/>
                  </a:rPr>
                  <a:t>. The state transition equation is:</a:t>
                </a:r>
                <a:endParaRPr lang="en-US" altLang="zh-CN" dirty="0">
                  <a:latin typeface="+mn-ea"/>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r>
                                <a:rPr lang="en-US" altLang="zh-CN" b="0" i="1" smtClean="0">
                                  <a:latin typeface="Cambria Math" panose="02040503050406030204" pitchFamily="18" charset="0"/>
                                </a:rPr>
                                <m:t>𝑘</m:t>
                              </m:r>
                              <m:r>
                                <a:rPr lang="en-US" altLang="zh-CN" b="0" i="1" smtClean="0">
                                  <a:latin typeface="Cambria Math" panose="02040503050406030204" pitchFamily="18" charset="0"/>
                                </a:rPr>
                                <m:t>&lt;</m:t>
                              </m:r>
                              <m:r>
                                <a:rPr lang="en-US" altLang="zh-CN" b="0" i="1" smtClean="0">
                                  <a:latin typeface="Cambria Math" panose="02040503050406030204" pitchFamily="18" charset="0"/>
                                </a:rPr>
                                <m:t>𝑖</m:t>
                              </m:r>
                              <m:r>
                                <a:rPr lang="en-US" altLang="zh-CN" b="0" i="1" smtClean="0">
                                  <a:latin typeface="Cambria Math" panose="02040503050406030204" pitchFamily="18" charset="0"/>
                                </a:rPr>
                                <m:t> </m:t>
                              </m:r>
                              <m:r>
                                <a:rPr lang="en-US" altLang="zh-CN" b="0" i="1" smtClean="0">
                                  <a:latin typeface="Cambria Math" panose="02040503050406030204" pitchFamily="18" charset="0"/>
                                </a:rPr>
                                <m:t>𝑎𝑛𝑑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𝑎</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e>
                              </m:d>
                              <m:r>
                                <a:rPr lang="en-US" altLang="zh-CN" b="0" i="1" smtClean="0">
                                  <a:latin typeface="Cambria Math" panose="02040503050406030204" pitchFamily="18" charset="0"/>
                                </a:rPr>
                                <m:t>&lt;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lim>
                          </m:limLow>
                        </m:fName>
                        <m:e>
                          <m:r>
                            <a:rPr lang="en-US" altLang="zh-CN" i="1">
                              <a:latin typeface="Cambria Math" panose="02040503050406030204" pitchFamily="18" charset="0"/>
                            </a:rPr>
                            <m:t>{</m:t>
                          </m:r>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𝑘</m:t>
                              </m:r>
                            </m:e>
                          </m:d>
                          <m:r>
                            <a:rPr lang="en-US" altLang="zh-CN" i="1">
                              <a:latin typeface="Cambria Math" panose="02040503050406030204" pitchFamily="18" charset="0"/>
                            </a:rPr>
                            <m:t>+1}</m:t>
                          </m:r>
                        </m:e>
                      </m:func>
                    </m:oMath>
                  </m:oMathPara>
                </a14:m>
                <a:endParaRPr lang="en-US" altLang="zh-CN" b="0" dirty="0">
                  <a:latin typeface="+mn-ea"/>
                </a:endParaRPr>
              </a:p>
              <a:p>
                <a:r>
                  <a:rPr lang="en" altLang="en-US" dirty="0">
                    <a:latin typeface="+mn-ea"/>
                  </a:rPr>
                  <a:t>The complexity is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oMath>
                </a14:m>
                <a:r>
                  <a:rPr lang="en" altLang="en-US" dirty="0">
                    <a:latin typeface="+mn-ea"/>
                  </a:rPr>
                  <a:t>.</a:t>
                </a:r>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t="-1501" r="-1351" b="-3002"/>
                </a:stretch>
              </a:blipFill>
            </p:spPr>
            <p:txBody>
              <a:bodyPr/>
              <a:lstStyle/>
              <a:p>
                <a:r>
                  <a:rPr lang="en-AU">
                    <a:noFill/>
                  </a:rPr>
                  <a:t> </a:t>
                </a:r>
              </a:p>
            </p:txBody>
          </p:sp>
        </mc:Fallback>
      </mc:AlternateContent>
    </p:spTree>
    <p:extLst>
      <p:ext uri="{BB962C8B-B14F-4D97-AF65-F5344CB8AC3E}">
        <p14:creationId xmlns:p14="http://schemas.microsoft.com/office/powerpoint/2010/main" val="105859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Longest increasing subsequence ( </a:t>
            </a:r>
            <a:r>
              <a:rPr lang="en" altLang="zh-CN" dirty="0">
                <a:solidFill>
                  <a:schemeClr val="bg1"/>
                </a:solidFill>
              </a:rPr>
              <a:t>LIS </a:t>
            </a:r>
            <a:r>
              <a:rPr lang="en" altLang="en-US" dirty="0">
                <a:solidFill>
                  <a:schemeClr val="bg1"/>
                </a:solidFill>
              </a:rPr>
              <a:t>)</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Arial" panose="020B0604020202020204" pitchFamily="34" charset="0"/>
                    <a:cs typeface="Arial" panose="020B0604020202020204" pitchFamily="34" charset="0"/>
                  </a:rPr>
                  <a:t>Let’s look for ways to </a:t>
                </a:r>
                <a:r>
                  <a:rPr lang="en" altLang="en-US" dirty="0" err="1">
                    <a:latin typeface="Arial" panose="020B0604020202020204" pitchFamily="34" charset="0"/>
                    <a:cs typeface="Arial" panose="020B0604020202020204" pitchFamily="34" charset="0"/>
                  </a:rPr>
                  <a:t>optimise</a:t>
                </a:r>
                <a:r>
                  <a:rPr lang="en" altLang="en-US" dirty="0">
                    <a:latin typeface="Arial" panose="020B0604020202020204" pitchFamily="34" charset="0"/>
                    <a:cs typeface="Arial" panose="020B0604020202020204" pitchFamily="34" charset="0"/>
                  </a:rPr>
                  <a:t> to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i="1">
                        <a:latin typeface="Cambria Math" panose="02040503050406030204" pitchFamily="18" charset="0"/>
                      </a:rPr>
                      <m:t>𝑛</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𝑛</m:t>
                        </m:r>
                      </m:e>
                    </m:func>
                    <m:r>
                      <a:rPr lang="en-US" altLang="zh-CN" i="1">
                        <a:latin typeface="Cambria Math" panose="02040503050406030204" pitchFamily="18" charset="0"/>
                      </a:rPr>
                      <m:t>)</m:t>
                    </m:r>
                  </m:oMath>
                </a14:m>
                <a:r>
                  <a:rPr lang="en" altLang="en-US" dirty="0">
                    <a:latin typeface="Arial" panose="020B0604020202020204" pitchFamily="34" charset="0"/>
                    <a:cs typeface="Arial" panose="020B0604020202020204" pitchFamily="34" charset="0"/>
                  </a:rPr>
                  <a:t>. </a:t>
                </a:r>
                <a:endParaRPr lang="en-US" altLang="zh-CN" dirty="0">
                  <a:latin typeface="Arial" panose="020B0604020202020204" pitchFamily="34" charset="0"/>
                  <a:cs typeface="Arial" panose="020B0604020202020204" pitchFamily="34" charset="0"/>
                </a:endParaRPr>
              </a:p>
              <a:p>
                <a:r>
                  <a:rPr lang="en-US" altLang="zh-CN" b="0" dirty="0">
                    <a:latin typeface="Arial" panose="020B0604020202020204" pitchFamily="34" charset="0"/>
                    <a:cs typeface="Arial" panose="020B0604020202020204" pitchFamily="34" charset="0"/>
                  </a:rPr>
                  <a:t>Among all </a:t>
                </a:r>
                <a14:m>
                  <m:oMath xmlns:m="http://schemas.openxmlformats.org/officeDocument/2006/math">
                    <m:r>
                      <a:rPr lang="en-US" altLang="zh-CN" i="1">
                        <a:latin typeface="Cambria Math" panose="02040503050406030204" pitchFamily="18" charset="0"/>
                      </a:rPr>
                      <m:t>𝑥</m:t>
                    </m:r>
                  </m:oMath>
                </a14:m>
                <a:r>
                  <a:rPr lang="en-US" altLang="zh-CN" b="0" dirty="0">
                    <a:latin typeface="Arial" panose="020B0604020202020204" pitchFamily="34" charset="0"/>
                    <a:cs typeface="Arial" panose="020B0604020202020204" pitchFamily="34" charset="0"/>
                  </a:rPr>
                  <a:t> with the same </a:t>
                </a:r>
                <a14:m>
                  <m:oMath xmlns:m="http://schemas.openxmlformats.org/officeDocument/2006/math">
                    <m:r>
                      <a:rPr lang="en-US" altLang="zh-CN" b="0" i="1" smtClean="0">
                        <a:latin typeface="Cambria Math" panose="02040503050406030204" pitchFamily="18" charset="0"/>
                      </a:rPr>
                      <m:t>𝑓</m:t>
                    </m:r>
                  </m:oMath>
                </a14:m>
                <a:r>
                  <a:rPr lang="en" altLang="en-US" dirty="0">
                    <a:latin typeface="Arial" panose="020B0604020202020204" pitchFamily="34" charset="0"/>
                    <a:cs typeface="Arial" panose="020B0604020202020204" pitchFamily="34" charset="0"/>
                  </a:rPr>
                  <a:t> value, only the smallest needs to be kept, so we use an array </a:t>
                </a:r>
                <a14:m>
                  <m:oMath xmlns:m="http://schemas.openxmlformats.org/officeDocument/2006/math">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oMath>
                </a14:m>
                <a:r>
                  <a:rPr lang="en" altLang="zh-CN" dirty="0">
                    <a:latin typeface="Arial" panose="020B0604020202020204" pitchFamily="34" charset="0"/>
                    <a:cs typeface="Arial" panose="020B0604020202020204" pitchFamily="34" charset="0"/>
                  </a:rPr>
                  <a:t> to store the minimum values of </a:t>
                </a:r>
                <a14:m>
                  <m:oMath xmlns:m="http://schemas.openxmlformats.org/officeDocument/2006/math">
                    <m:r>
                      <a:rPr lang="en-US" altLang="zh-CN" i="1">
                        <a:latin typeface="Cambria Math" panose="02040503050406030204" pitchFamily="18" charset="0"/>
                      </a:rPr>
                      <m:t>𝑥</m:t>
                    </m:r>
                  </m:oMath>
                </a14:m>
                <a:r>
                  <a:rPr lang="en" altLang="en-US" dirty="0">
                    <a:latin typeface="Arial" panose="020B0604020202020204" pitchFamily="34" charset="0"/>
                    <a:cs typeface="Arial" panose="020B0604020202020204" pitchFamily="34" charset="0"/>
                  </a:rPr>
                  <a:t> whose </a:t>
                </a:r>
                <a14:m>
                  <m:oMath xmlns:m="http://schemas.openxmlformats.org/officeDocument/2006/math">
                    <m:r>
                      <a:rPr lang="en-US" altLang="zh-CN" b="0" i="1" smtClean="0">
                        <a:latin typeface="Cambria Math" panose="02040503050406030204" pitchFamily="18" charset="0"/>
                      </a:rPr>
                      <m:t>𝑓</m:t>
                    </m:r>
                  </m:oMath>
                </a14:m>
                <a:r>
                  <a:rPr lang="en" altLang="zh-CN" dirty="0">
                    <a:latin typeface="Arial" panose="020B0604020202020204" pitchFamily="34" charset="0"/>
                    <a:cs typeface="Arial" panose="020B0604020202020204" pitchFamily="34" charset="0"/>
                  </a:rPr>
                  <a:t> value equals </a:t>
                </a:r>
                <a14:m>
                  <m:oMath xmlns:m="http://schemas.openxmlformats.org/officeDocument/2006/math">
                    <m:r>
                      <a:rPr lang="en-US" altLang="zh-CN" b="0" i="1" smtClean="0">
                        <a:latin typeface="Cambria Math" panose="02040503050406030204" pitchFamily="18" charset="0"/>
                      </a:rPr>
                      <m:t>𝑖</m:t>
                    </m:r>
                  </m:oMath>
                </a14:m>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Obviously</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𝑔</m:t>
                    </m:r>
                  </m:oMath>
                </a14:m>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is monotonically increasing.</a:t>
                </a:r>
              </a:p>
              <a:p>
                <a:r>
                  <a:rPr lang="en" altLang="en-US" b="1" dirty="0">
                    <a:latin typeface="Arial" panose="020B0604020202020204" pitchFamily="34" charset="0"/>
                    <a:cs typeface="Arial" panose="020B0604020202020204" pitchFamily="34" charset="0"/>
                  </a:rPr>
                  <a:t>Calculate</a:t>
                </a:r>
                <a:r>
                  <a:rPr lang="en" altLang="zh-CN" b="1" dirty="0">
                    <a:latin typeface="Arial" panose="020B0604020202020204" pitchFamily="34" charset="0"/>
                    <a:cs typeface="Arial" panose="020B0604020202020204" pitchFamily="34" charset="0"/>
                  </a:rPr>
                  <a:t> </a:t>
                </a:r>
                <a14:m>
                  <m:oMath xmlns:m="http://schemas.openxmlformats.org/officeDocument/2006/math">
                    <m:r>
                      <a:rPr lang="en-US" altLang="zh-CN" b="1" i="1" smtClean="0">
                        <a:latin typeface="Cambria Math" panose="02040503050406030204" pitchFamily="18" charset="0"/>
                      </a:rPr>
                      <m:t>𝒇</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r>
                      <a:rPr lang="en-US" altLang="zh-CN" b="1" i="1" smtClean="0">
                        <a:latin typeface="Cambria Math" panose="02040503050406030204" pitchFamily="18" charset="0"/>
                      </a:rPr>
                      <m:t>]</m:t>
                    </m:r>
                  </m:oMath>
                </a14:m>
                <a:r>
                  <a:rPr lang="en" altLang="zh-CN" b="1" dirty="0">
                    <a:latin typeface="Arial" panose="020B0604020202020204" pitchFamily="34" charset="0"/>
                    <a:cs typeface="Arial" panose="020B0604020202020204" pitchFamily="34" charset="0"/>
                  </a:rPr>
                  <a:t> </a:t>
                </a:r>
                <a:r>
                  <a:rPr lang="en" altLang="en" b="1"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We need to find the first value </a:t>
                </a:r>
                <a14:m>
                  <m:oMath xmlns:m="http://schemas.openxmlformats.org/officeDocument/2006/math">
                    <m:r>
                      <a:rPr lang="en-US" altLang="zh-CN" i="1">
                        <a:latin typeface="Cambria Math" panose="02040503050406030204" pitchFamily="18" charset="0"/>
                      </a:rPr>
                      <m:t>𝑗</m:t>
                    </m:r>
                  </m:oMath>
                </a14:m>
                <a:r>
                  <a:rPr lang="en" altLang="en-US" dirty="0">
                    <a:latin typeface="Arial" panose="020B0604020202020204" pitchFamily="34" charset="0"/>
                    <a:cs typeface="Arial" panose="020B0604020202020204" pitchFamily="34" charset="0"/>
                  </a:rPr>
                  <a:t> in</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𝑔</m:t>
                    </m:r>
                  </m:oMath>
                </a14:m>
                <a:r>
                  <a:rPr lang="en" altLang="zh-CN" dirty="0">
                    <a:latin typeface="Arial" panose="020B0604020202020204" pitchFamily="34" charset="0"/>
                    <a:cs typeface="Arial" panose="020B0604020202020204" pitchFamily="34" charset="0"/>
                  </a:rPr>
                  <a:t> that’s </a:t>
                </a:r>
                <a:r>
                  <a:rPr lang="en" altLang="en-US" dirty="0">
                    <a:latin typeface="Arial" panose="020B0604020202020204" pitchFamily="34" charset="0"/>
                    <a:cs typeface="Arial" panose="020B0604020202020204" pitchFamily="34" charset="0"/>
                  </a:rPr>
                  <a:t>greater than or equal to</a:t>
                </a:r>
                <a:r>
                  <a:rPr lang="en" altLang="zh-CN"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𝑖</m:t>
                        </m:r>
                      </m:sub>
                    </m:sSub>
                  </m:oMath>
                </a14:m>
                <a:r>
                  <a:rPr lang="en" altLang="zh-CN" dirty="0">
                    <a:latin typeface="Arial" panose="020B0604020202020204" pitchFamily="34" charset="0"/>
                    <a:cs typeface="Arial" panose="020B0604020202020204" pitchFamily="34" charset="0"/>
                  </a:rPr>
                  <a:t>, then we have </a:t>
                </a:r>
                <a14:m>
                  <m:oMath xmlns:m="http://schemas.openxmlformats.org/officeDocument/2006/math">
                    <m:r>
                      <a:rPr lang="en-US" altLang="zh-CN" i="1">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𝑗</m:t>
                    </m:r>
                  </m:oMath>
                </a14:m>
                <a:r>
                  <a:rPr lang="en" altLang="en" dirty="0">
                    <a:latin typeface="Arial" panose="020B0604020202020204" pitchFamily="34" charset="0"/>
                    <a:cs typeface="Arial" panose="020B0604020202020204" pitchFamily="34" charset="0"/>
                  </a:rPr>
                  <a:t>.</a:t>
                </a:r>
              </a:p>
              <a:p>
                <a:r>
                  <a:rPr lang="en" altLang="en-US" b="1" dirty="0">
                    <a:latin typeface="Arial" panose="020B0604020202020204" pitchFamily="34" charset="0"/>
                    <a:cs typeface="Arial" panose="020B0604020202020204" pitchFamily="34" charset="0"/>
                  </a:rPr>
                  <a:t>Update</a:t>
                </a:r>
                <a:r>
                  <a:rPr lang="en" altLang="zh-CN" b="1" dirty="0">
                    <a:latin typeface="Arial" panose="020B0604020202020204" pitchFamily="34" charset="0"/>
                    <a:cs typeface="Arial" panose="020B0604020202020204" pitchFamily="34" charset="0"/>
                  </a:rPr>
                  <a:t> </a:t>
                </a:r>
                <a14:m>
                  <m:oMath xmlns:m="http://schemas.openxmlformats.org/officeDocument/2006/math">
                    <m:r>
                      <a:rPr lang="en-US" altLang="zh-CN" b="1" i="1" smtClean="0">
                        <a:latin typeface="Cambria Math" panose="02040503050406030204" pitchFamily="18" charset="0"/>
                      </a:rPr>
                      <m:t>𝒈</m:t>
                    </m:r>
                  </m:oMath>
                </a14:m>
                <a:r>
                  <a:rPr lang="en" altLang="en" b="1"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Since </a:t>
                </a:r>
                <a14:m>
                  <m:oMath xmlns:m="http://schemas.openxmlformats.org/officeDocument/2006/math">
                    <m:r>
                      <a:rPr lang="en-US" altLang="zh-CN" b="0" i="1" smtClean="0">
                        <a:latin typeface="Cambria Math" panose="02040503050406030204" pitchFamily="18" charset="0"/>
                      </a:rPr>
                      <m:t>𝑔</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en" altLang="en" dirty="0">
                    <a:latin typeface="Arial" panose="020B0604020202020204" pitchFamily="34" charset="0"/>
                    <a:cs typeface="Arial" panose="020B0604020202020204" pitchFamily="34" charset="0"/>
                  </a:rPr>
                  <a:t>, let’s </a:t>
                </a:r>
                <a:r>
                  <a:rPr lang="en" altLang="en-US" dirty="0">
                    <a:latin typeface="Arial" panose="020B0604020202020204" pitchFamily="34" charset="0"/>
                    <a:cs typeface="Arial" panose="020B0604020202020204" pitchFamily="34" charset="0"/>
                  </a:rPr>
                  <a:t>update</a:t>
                </a:r>
                <a:r>
                  <a:rPr lang="en" altLang="zh-CN" dirty="0">
                    <a:latin typeface="Arial" panose="020B0604020202020204" pitchFamily="34" charset="0"/>
                    <a:cs typeface="Arial" panose="020B0604020202020204" pitchFamily="34" charset="0"/>
                  </a:rPr>
                  <a:t> </a:t>
                </a:r>
                <a:r>
                  <a:rPr lang="en" altLang="zh-CN" dirty="0" err="1">
                    <a:latin typeface="Arial" panose="020B0604020202020204" pitchFamily="34" charset="0"/>
                    <a:cs typeface="Arial" panose="020B0604020202020204" pitchFamily="34" charset="0"/>
                  </a:rPr>
                  <a:t>t</a:t>
                </a:r>
                <a:r>
                  <a:rPr lang="en" altLang="zh-CN" dirty="0">
                    <a:latin typeface="Arial" panose="020B0604020202020204" pitchFamily="34" charset="0"/>
                    <a:cs typeface="Arial" panose="020B0604020202020204" pitchFamily="34" charset="0"/>
                  </a:rPr>
                  <a:t>he value of </a:t>
                </a:r>
                <a14:m>
                  <m:oMath xmlns:m="http://schemas.openxmlformats.org/officeDocument/2006/math">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to</a:t>
                </a:r>
                <a:r>
                  <a:rPr lang="en" altLang="zh-CN"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en" altLang="e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Code: Find the first number greater than or equal to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oMath>
                </a14:m>
                <a:r>
                  <a:rPr lang="en" altLang="zh-CN" dirty="0">
                    <a:latin typeface="Arial" panose="020B0604020202020204" pitchFamily="34" charset="0"/>
                    <a:cs typeface="Arial" panose="020B0604020202020204" pitchFamily="34" charset="0"/>
                  </a:rPr>
                  <a:t>. Applying</a:t>
                </a:r>
                <a:r>
                  <a:rPr lang="en" altLang="en-US" dirty="0">
                    <a:latin typeface="Arial" panose="020B0604020202020204" pitchFamily="34" charset="0"/>
                    <a:cs typeface="Arial" panose="020B0604020202020204" pitchFamily="34" charset="0"/>
                  </a:rPr>
                  <a:t> binary search, each transition time is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𝑛</m:t>
                        </m:r>
                      </m:e>
                    </m:func>
                    <m:r>
                      <a:rPr lang="en-US" altLang="zh-CN" i="1">
                        <a:latin typeface="Cambria Math" panose="02040503050406030204" pitchFamily="18" charset="0"/>
                      </a:rPr>
                      <m:t>)</m:t>
                    </m:r>
                  </m:oMath>
                </a14:m>
                <a:r>
                  <a:rPr lang="en" altLang="en-US" dirty="0">
                    <a:latin typeface="Arial" panose="020B0604020202020204" pitchFamily="34" charset="0"/>
                    <a:cs typeface="Arial" panose="020B0604020202020204" pitchFamily="34" charset="0"/>
                  </a:rPr>
                  <a:t>, total time is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i="1">
                        <a:latin typeface="Cambria Math" panose="02040503050406030204" pitchFamily="18" charset="0"/>
                      </a:rPr>
                      <m:t>𝑛</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𝑛</m:t>
                        </m:r>
                      </m:e>
                    </m:func>
                    <m:r>
                      <a:rPr lang="en-US" altLang="zh-CN" i="1">
                        <a:latin typeface="Cambria Math" panose="02040503050406030204" pitchFamily="18" charset="0"/>
                      </a:rPr>
                      <m:t>)</m:t>
                    </m:r>
                  </m:oMath>
                </a14:m>
                <a:r>
                  <a:rPr lang="e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We can use </a:t>
                </a:r>
                <a:r>
                  <a:rPr lang="en" altLang="zh-CN" dirty="0" err="1">
                    <a:latin typeface="Arial" panose="020B0604020202020204" pitchFamily="34" charset="0"/>
                    <a:cs typeface="Arial" panose="020B0604020202020204" pitchFamily="34" charset="0"/>
                  </a:rPr>
                  <a:t>lower_bound</a:t>
                </a:r>
                <a:r>
                  <a:rPr lang="en" altLang="zh-CN" dirty="0">
                    <a:latin typeface="Arial" panose="020B0604020202020204" pitchFamily="34" charset="0"/>
                    <a:cs typeface="Arial" panose="020B0604020202020204" pitchFamily="34" charset="0"/>
                  </a:rPr>
                  <a:t> in STL</a:t>
                </a:r>
                <a:r>
                  <a:rPr lang="en" altLang="en-US" dirty="0">
                    <a:latin typeface="Arial" panose="020B0604020202020204" pitchFamily="34" charset="0"/>
                    <a:cs typeface="Arial" panose="020B0604020202020204" pitchFamily="34" charset="0"/>
                  </a:rPr>
                  <a:t>.</a:t>
                </a: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r="-1407" b="-1501"/>
                </a:stretch>
              </a:blipFill>
            </p:spPr>
            <p:txBody>
              <a:bodyPr/>
              <a:lstStyle/>
              <a:p>
                <a:r>
                  <a:rPr lang="en-AU">
                    <a:noFill/>
                  </a:rPr>
                  <a:t> </a:t>
                </a:r>
              </a:p>
            </p:txBody>
          </p:sp>
        </mc:Fallback>
      </mc:AlternateContent>
    </p:spTree>
    <p:extLst>
      <p:ext uri="{BB962C8B-B14F-4D97-AF65-F5344CB8AC3E}">
        <p14:creationId xmlns:p14="http://schemas.microsoft.com/office/powerpoint/2010/main" val="3669896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a:solidFill>
                  <a:schemeClr val="bg1"/>
                </a:solidFill>
              </a:rPr>
              <a:t>route problem</a:t>
            </a:r>
            <a:endParaRPr lang="zh-CN" altLang="en-US">
              <a:solidFill>
                <a:schemeClr val="bg1"/>
              </a:solidFill>
              <a:latin typeface="+mn-ea"/>
              <a:ea typeface="+mn-ea"/>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There are two rows of dots, </a:t>
                </a:r>
                <a14:m>
                  <m:oMath xmlns:m="http://schemas.openxmlformats.org/officeDocument/2006/math">
                    <m:r>
                      <a:rPr lang="en-US" altLang="zh-CN" i="1">
                        <a:latin typeface="Cambria Math" panose="02040503050406030204" pitchFamily="18" charset="0"/>
                      </a:rPr>
                      <m:t>𝑛</m:t>
                    </m:r>
                  </m:oMath>
                </a14:m>
                <a:r>
                  <a:rPr lang="en" altLang="en-US" dirty="0">
                    <a:latin typeface="+mn-ea"/>
                  </a:rPr>
                  <a:t> per row. </a:t>
                </a:r>
                <a:r>
                  <a:rPr lang="en-US" altLang="en-US" dirty="0">
                    <a:latin typeface="+mn-ea"/>
                  </a:rPr>
                  <a:t>Dots on different rows are connected with lines in pairs in a 1-to-1 fashion, as shown in the figure below.</a:t>
                </a:r>
                <a:endParaRPr lang="en-US" altLang="zh-CN" dirty="0">
                  <a:latin typeface="+mn-ea"/>
                </a:endParaRPr>
              </a:p>
              <a:p>
                <a:endParaRPr lang="en-US" altLang="zh-CN" dirty="0">
                  <a:latin typeface="+mn-ea"/>
                </a:endParaRPr>
              </a:p>
              <a:p>
                <a:endParaRPr lang="en-US" altLang="zh-CN" dirty="0">
                  <a:latin typeface="+mn-ea"/>
                </a:endParaRPr>
              </a:p>
              <a:p>
                <a:endParaRPr lang="zh-CN" altLang="en-US" dirty="0">
                  <a:latin typeface="+mn-ea"/>
                </a:endParaRPr>
              </a:p>
              <a:p>
                <a:r>
                  <a:rPr lang="en-US" altLang="en-US" dirty="0">
                    <a:latin typeface="+mn-ea"/>
                  </a:rPr>
                  <a:t>Select as many lines as possible from those connecting the dots in pairs without crossing each other. </a:t>
                </a: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71"/>
                </a:stretch>
              </a:blipFill>
            </p:spPr>
            <p:txBody>
              <a:bodyPr/>
              <a:lstStyle/>
              <a:p>
                <a:r>
                  <a:rPr lang="en-AU">
                    <a:noFill/>
                  </a:rPr>
                  <a:t> </a:t>
                </a:r>
              </a:p>
            </p:txBody>
          </p:sp>
        </mc:Fallback>
      </mc:AlternateContent>
      <p:grpSp>
        <p:nvGrpSpPr>
          <p:cNvPr id="7" name="组合 6">
            <a:extLst>
              <a:ext uri="{FF2B5EF4-FFF2-40B4-BE49-F238E27FC236}">
                <a16:creationId xmlns:a16="http://schemas.microsoft.com/office/drawing/2014/main" id="{95498D0C-E4ED-9D4B-A8E4-556E5FE7B6AA}"/>
              </a:ext>
            </a:extLst>
          </p:cNvPr>
          <p:cNvGrpSpPr/>
          <p:nvPr/>
        </p:nvGrpSpPr>
        <p:grpSpPr>
          <a:xfrm>
            <a:off x="3337910" y="3400141"/>
            <a:ext cx="4318000" cy="1436400"/>
            <a:chOff x="3337910" y="3429000"/>
            <a:chExt cx="4318000" cy="1435100"/>
          </a:xfrm>
        </p:grpSpPr>
        <p:pic>
          <p:nvPicPr>
            <p:cNvPr id="4" name="图片 3">
              <a:extLst>
                <a:ext uri="{FF2B5EF4-FFF2-40B4-BE49-F238E27FC236}">
                  <a16:creationId xmlns:a16="http://schemas.microsoft.com/office/drawing/2014/main" id="{37EF04FC-2A68-5246-B175-B6231D36BED3}"/>
                </a:ext>
              </a:extLst>
            </p:cNvPr>
            <p:cNvPicPr>
              <a:picLocks noChangeAspect="1"/>
            </p:cNvPicPr>
            <p:nvPr/>
          </p:nvPicPr>
          <p:blipFill>
            <a:blip r:embed="rId4"/>
            <a:stretch>
              <a:fillRect/>
            </a:stretch>
          </p:blipFill>
          <p:spPr>
            <a:xfrm>
              <a:off x="3337910" y="3429000"/>
              <a:ext cx="4318000" cy="1435100"/>
            </a:xfrm>
            <a:prstGeom prst="rect">
              <a:avLst/>
            </a:prstGeom>
          </p:spPr>
        </p:pic>
        <p:sp>
          <p:nvSpPr>
            <p:cNvPr id="5" name="矩形 4">
              <a:extLst>
                <a:ext uri="{FF2B5EF4-FFF2-40B4-BE49-F238E27FC236}">
                  <a16:creationId xmlns:a16="http://schemas.microsoft.com/office/drawing/2014/main" id="{DA727C9A-6670-384F-A0B2-909FF609F789}"/>
                </a:ext>
              </a:extLst>
            </p:cNvPr>
            <p:cNvSpPr/>
            <p:nvPr/>
          </p:nvSpPr>
          <p:spPr>
            <a:xfrm>
              <a:off x="7476566" y="3621181"/>
              <a:ext cx="80682" cy="10507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Tw Cen MT" panose="020B0602020104020603"/>
                <a:ea typeface="宋体" panose="02010600030101010101" pitchFamily="2" charset="-122"/>
                <a:cs typeface="+mn-cs"/>
              </a:endParaRPr>
            </a:p>
          </p:txBody>
        </p:sp>
        <p:sp>
          <p:nvSpPr>
            <p:cNvPr id="6" name="矩形 5">
              <a:extLst>
                <a:ext uri="{FF2B5EF4-FFF2-40B4-BE49-F238E27FC236}">
                  <a16:creationId xmlns:a16="http://schemas.microsoft.com/office/drawing/2014/main" id="{9BAD1C54-2B19-8E45-AAB0-F58A38F42FF8}"/>
                </a:ext>
              </a:extLst>
            </p:cNvPr>
            <p:cNvSpPr/>
            <p:nvPr/>
          </p:nvSpPr>
          <p:spPr>
            <a:xfrm>
              <a:off x="3409679" y="3620418"/>
              <a:ext cx="80682" cy="10507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Tw Cen MT" panose="020B0602020104020603"/>
                <a:ea typeface="宋体" panose="02010600030101010101" pitchFamily="2" charset="-122"/>
                <a:cs typeface="+mn-cs"/>
              </a:endParaRPr>
            </a:p>
          </p:txBody>
        </p:sp>
      </p:grpSp>
    </p:spTree>
    <p:extLst>
      <p:ext uri="{BB962C8B-B14F-4D97-AF65-F5344CB8AC3E}">
        <p14:creationId xmlns:p14="http://schemas.microsoft.com/office/powerpoint/2010/main" val="350279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analysis</a:t>
            </a:r>
            <a:endParaRPr lang="zh-CN" altLang="en-US" dirty="0">
              <a:solidFill>
                <a:schemeClr val="bg1"/>
              </a:solidFill>
              <a:latin typeface="+mn-ea"/>
              <a:ea typeface="+mn-ea"/>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Let </a:t>
                </a:r>
                <a14:m>
                  <m:oMath xmlns:m="http://schemas.openxmlformats.org/officeDocument/2006/math">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 </m:t>
                    </m:r>
                  </m:oMath>
                </a14:m>
                <a:r>
                  <a:rPr lang="en" altLang="en-US" dirty="0">
                    <a:latin typeface="+mn-ea"/>
                  </a:rPr>
                  <a:t>be the dot on row 2 that connects with dot </a:t>
                </a:r>
                <a14:m>
                  <m:oMath xmlns:m="http://schemas.openxmlformats.org/officeDocument/2006/math">
                    <m:r>
                      <a:rPr lang="en-US" altLang="zh-CN" b="0" i="1" smtClean="0">
                        <a:latin typeface="Cambria Math" panose="02040503050406030204" pitchFamily="18" charset="0"/>
                      </a:rPr>
                      <m:t>𝑖</m:t>
                    </m:r>
                  </m:oMath>
                </a14:m>
                <a:r>
                  <a:rPr lang="en" altLang="zh-CN" dirty="0">
                    <a:latin typeface="+mn-ea"/>
                  </a:rPr>
                  <a:t> </a:t>
                </a:r>
                <a:r>
                  <a:rPr lang="en" altLang="en-US" dirty="0">
                    <a:latin typeface="+mn-ea"/>
                  </a:rPr>
                  <a:t>on row 1.</a:t>
                </a:r>
              </a:p>
              <a:p>
                <a:r>
                  <a:rPr lang="en" altLang="en-US" dirty="0">
                    <a:latin typeface="+mn-ea"/>
                  </a:rPr>
                  <a:t>Assuming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&lt;</m:t>
                    </m:r>
                    <m:r>
                      <a:rPr lang="en-US" altLang="zh-CN" b="0" i="1" smtClean="0">
                        <a:latin typeface="Cambria Math" panose="02040503050406030204" pitchFamily="18" charset="0"/>
                      </a:rPr>
                      <m:t>𝑗</m:t>
                    </m:r>
                  </m:oMath>
                </a14:m>
                <a:r>
                  <a:rPr lang="en" altLang="zh-CN" dirty="0">
                    <a:latin typeface="+mn-ea"/>
                  </a:rPr>
                  <a:t>, </a:t>
                </a:r>
                <a:r>
                  <a:rPr lang="en" altLang="en-US" dirty="0">
                    <a:latin typeface="+mn-ea"/>
                  </a:rPr>
                  <a:t>the necessary and sufficient condition that two lines</a:t>
                </a:r>
                <a:r>
                  <a:rPr lang="en" altLang="zh-CN" dirty="0">
                    <a:latin typeface="+mn-ea"/>
                  </a:rPr>
                  <a:t>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oMath>
                </a14:m>
                <a:r>
                  <a:rPr lang="en" altLang="zh-CN" dirty="0">
                    <a:latin typeface="+mn-ea"/>
                  </a:rPr>
                  <a:t> </a:t>
                </a:r>
                <a:r>
                  <a:rPr lang="en" altLang="en-US" dirty="0">
                    <a:latin typeface="+mn-ea"/>
                  </a:rPr>
                  <a:t>and</a:t>
                </a:r>
                <a:r>
                  <a:rPr lang="en" altLang="zh-CN" dirty="0">
                    <a:latin typeface="+mn-ea"/>
                  </a:rPr>
                  <a:t>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oMath>
                </a14:m>
                <a:r>
                  <a:rPr lang="en" altLang="zh-CN" dirty="0">
                    <a:latin typeface="+mn-ea"/>
                  </a:rPr>
                  <a:t> </a:t>
                </a:r>
                <a:r>
                  <a:rPr lang="en" altLang="en-US" dirty="0">
                    <a:latin typeface="+mn-ea"/>
                  </a:rPr>
                  <a:t>don’t cross is </a:t>
                </a:r>
                <a14:m>
                  <m:oMath xmlns:m="http://schemas.openxmlformats.org/officeDocument/2006/math">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&lt;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endParaRPr lang="en-US" altLang="zh-CN" dirty="0">
                  <a:latin typeface="+mn-ea"/>
                </a:endParaRPr>
              </a:p>
              <a:p>
                <a:r>
                  <a:rPr lang="en" altLang="en-US" dirty="0">
                    <a:latin typeface="+mn-ea"/>
                  </a:rPr>
                  <a:t>So the problems becomes: find the longest increasing subsequence of</a:t>
                </a:r>
                <a:r>
                  <a:rPr lang="en" altLang="zh-CN" dirty="0">
                    <a:latin typeface="+mn-ea"/>
                  </a:rPr>
                  <a:t> </a:t>
                </a:r>
                <a14:m>
                  <m:oMath xmlns:m="http://schemas.openxmlformats.org/officeDocument/2006/math">
                    <m:r>
                      <a:rPr lang="en-US" altLang="zh-CN" b="0" i="1" smtClean="0">
                        <a:latin typeface="Cambria Math" panose="02040503050406030204" pitchFamily="18" charset="0"/>
                      </a:rPr>
                      <m:t>𝑓</m:t>
                    </m:r>
                  </m:oMath>
                </a14:m>
                <a:endParaRPr lang="en" altLang="en-US" dirty="0">
                  <a:latin typeface="+mn-ea"/>
                </a:endParaRPr>
              </a:p>
              <a:p>
                <a:r>
                  <a:rPr lang="en" altLang="en-US" dirty="0">
                    <a:latin typeface="+mn-ea"/>
                  </a:rPr>
                  <a:t>The time complexity is</a:t>
                </a:r>
                <a:r>
                  <a:rPr lang="en" altLang="zh-CN" dirty="0">
                    <a:latin typeface="+mn-ea"/>
                  </a:rPr>
                  <a:t>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𝑛</m:t>
                        </m:r>
                      </m:e>
                    </m:func>
                    <m:r>
                      <a:rPr lang="en-US" altLang="zh-CN" b="0" i="1" smtClean="0">
                        <a:latin typeface="Cambria Math" panose="02040503050406030204" pitchFamily="18" charset="0"/>
                      </a:rPr>
                      <m:t>)</m:t>
                    </m:r>
                  </m:oMath>
                </a14:m>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71" r="-351"/>
                </a:stretch>
              </a:blipFill>
            </p:spPr>
            <p:txBody>
              <a:bodyPr/>
              <a:lstStyle/>
              <a:p>
                <a:r>
                  <a:rPr lang="en-AU">
                    <a:noFill/>
                  </a:rPr>
                  <a:t> </a:t>
                </a:r>
              </a:p>
            </p:txBody>
          </p:sp>
        </mc:Fallback>
      </mc:AlternateContent>
    </p:spTree>
    <p:extLst>
      <p:ext uri="{BB962C8B-B14F-4D97-AF65-F5344CB8AC3E}">
        <p14:creationId xmlns:p14="http://schemas.microsoft.com/office/powerpoint/2010/main" val="130748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vert="horz" lIns="91440" tIns="45720" rIns="91440" bIns="45720" rtlCol="0" anchor="ctr">
            <a:normAutofit/>
          </a:bodyPr>
          <a:lstStyle/>
          <a:p>
            <a:r>
              <a:rPr lang="en" altLang="en-US" dirty="0">
                <a:solidFill>
                  <a:schemeClr val="bg1"/>
                </a:solidFill>
              </a:rPr>
              <a:t>LCS of Two permutations</a:t>
            </a:r>
            <a:endParaRPr lang="zh-CN" altLang="en-US" dirty="0">
              <a:solidFill>
                <a:schemeClr val="bg1"/>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fontScale="92500" lnSpcReduction="20000"/>
              </a:bodyPr>
              <a:lstStyle/>
              <a:p>
                <a:r>
                  <a:rPr lang="en" altLang="en-US" dirty="0">
                    <a:latin typeface="Arial" panose="020B0604020202020204" pitchFamily="34" charset="0"/>
                    <a:cs typeface="Arial" panose="020B0604020202020204" pitchFamily="34" charset="0"/>
                  </a:rPr>
                  <a:t>Given two permutations </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2 </m:t>
                    </m:r>
                  </m:oMath>
                </a14:m>
                <a:r>
                  <a:rPr lang="en" altLang="en-US" dirty="0">
                    <a:latin typeface="Arial" panose="020B0604020202020204" pitchFamily="34" charset="0"/>
                    <a:cs typeface="Arial" panose="020B0604020202020204" pitchFamily="34" charset="0"/>
                  </a:rPr>
                  <a:t>of </a:t>
                </a:r>
                <a14:m>
                  <m:oMath xmlns:m="http://schemas.openxmlformats.org/officeDocument/2006/math">
                    <m:r>
                      <a:rPr lang="en-US" altLang="zh-CN" b="0" i="1" smtClean="0">
                        <a:latin typeface="Cambria Math" panose="02040503050406030204" pitchFamily="18" charset="0"/>
                      </a:rPr>
                      <m:t>1−</m:t>
                    </m:r>
                    <m:r>
                      <a:rPr lang="en-US" altLang="zh-CN" b="0" i="1" smtClean="0">
                        <a:latin typeface="Cambria Math" panose="02040503050406030204" pitchFamily="18" charset="0"/>
                      </a:rPr>
                      <m:t>𝑛</m:t>
                    </m:r>
                  </m:oMath>
                </a14:m>
                <a:r>
                  <a:rPr lang="en" altLang="en-US" dirty="0">
                    <a:latin typeface="Arial" panose="020B0604020202020204" pitchFamily="34" charset="0"/>
                    <a:cs typeface="Arial" panose="020B0604020202020204" pitchFamily="34" charset="0"/>
                  </a:rPr>
                  <a:t>, find the longest common subsequence of </a:t>
                </a:r>
                <a14:m>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1</m:t>
                    </m:r>
                  </m:oMath>
                </a14:m>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and</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2</m:t>
                    </m:r>
                  </m:oMath>
                </a14:m>
                <a:r>
                  <a:rPr lang="e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Example: </a:t>
                </a:r>
                <a:r>
                  <a:rPr lang="en" altLang="zh-CN" dirty="0">
                    <a:latin typeface="Arial" panose="020B0604020202020204" pitchFamily="34" charset="0"/>
                    <a:cs typeface="Arial" panose="020B0604020202020204" pitchFamily="34" charset="0"/>
                  </a:rPr>
                  <a:t>1</a:t>
                </a:r>
                <a:r>
                  <a:rPr lang="en" altLang="en-US"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5</a:t>
                </a:r>
                <a:r>
                  <a:rPr lang="en" altLang="en-US"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3</a:t>
                </a:r>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2</a:t>
                </a:r>
                <a:r>
                  <a:rPr lang="en" altLang="en-US"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4</a:t>
                </a:r>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&lt;-&gt; </a:t>
                </a:r>
                <a:r>
                  <a:rPr lang="en" altLang="zh-CN" dirty="0">
                    <a:solidFill>
                      <a:srgbClr val="FF0000"/>
                    </a:solidFill>
                    <a:latin typeface="Arial" panose="020B0604020202020204" pitchFamily="34" charset="0"/>
                    <a:cs typeface="Arial" panose="020B0604020202020204" pitchFamily="34" charset="0"/>
                  </a:rPr>
                  <a:t>5</a:t>
                </a:r>
                <a:r>
                  <a:rPr lang="en" altLang="zh-CN"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3</a:t>
                </a:r>
                <a:r>
                  <a:rPr lang="en" altLang="zh-CN"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4 </a:t>
                </a:r>
                <a:r>
                  <a:rPr lang="en" altLang="zh-CN" dirty="0">
                    <a:latin typeface="Arial" panose="020B0604020202020204" pitchFamily="34" charset="0"/>
                    <a:cs typeface="Arial" panose="020B0604020202020204" pitchFamily="34" charset="0"/>
                  </a:rPr>
                  <a:t>2 1</a:t>
                </a:r>
              </a:p>
              <a:p>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Algorithm 1: Apply </a:t>
                </a:r>
                <a:r>
                  <a:rPr lang="en" altLang="zh-CN" dirty="0">
                    <a:latin typeface="Arial" panose="020B0604020202020204" pitchFamily="34" charset="0"/>
                    <a:cs typeface="Arial" panose="020B0604020202020204" pitchFamily="34" charset="0"/>
                  </a:rPr>
                  <a:t>LCS directly</a:t>
                </a:r>
                <a:r>
                  <a:rPr lang="en" altLang="en-US" dirty="0">
                    <a:latin typeface="Arial" panose="020B0604020202020204" pitchFamily="34" charset="0"/>
                    <a:cs typeface="Arial" panose="020B0604020202020204" pitchFamily="34" charset="0"/>
                  </a:rPr>
                  <a:t>, complexity</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oMath>
                </a14:m>
                <a:endParaRPr lang="en-US" altLang="zh-CN" dirty="0">
                  <a:latin typeface="Arial" panose="020B0604020202020204" pitchFamily="34" charset="0"/>
                  <a:cs typeface="Arial" panose="020B0604020202020204" pitchFamily="34" charset="0"/>
                </a:endParaRPr>
              </a:p>
              <a:p>
                <a:r>
                  <a:rPr lang="en" altLang="zh-CN" dirty="0">
                    <a:latin typeface="Arial" panose="020B0604020202020204" pitchFamily="34" charset="0"/>
                    <a:cs typeface="Arial" panose="020B0604020202020204" pitchFamily="34" charset="0"/>
                  </a:rPr>
                  <a:t>Algorithm 2: Note that the LCS remains unchanged </a:t>
                </a:r>
                <a:r>
                  <a:rPr lang="en" altLang="en-US" dirty="0">
                    <a:latin typeface="Arial" panose="020B0604020202020204" pitchFamily="34" charset="0"/>
                    <a:cs typeface="Arial" panose="020B0604020202020204" pitchFamily="34" charset="0"/>
                  </a:rPr>
                  <a:t>if the </a:t>
                </a:r>
                <a:r>
                  <a:rPr lang="en" altLang="en-US" dirty="0">
                    <a:solidFill>
                      <a:srgbClr val="FF0000"/>
                    </a:solidFill>
                    <a:latin typeface="Arial" panose="020B0604020202020204" pitchFamily="34" charset="0"/>
                    <a:cs typeface="Arial" panose="020B0604020202020204" pitchFamily="34" charset="0"/>
                  </a:rPr>
                  <a:t>same set of transpositions is applied</a:t>
                </a:r>
                <a:r>
                  <a:rPr lang="en" altLang="en-US" dirty="0">
                    <a:latin typeface="Arial" panose="020B0604020202020204" pitchFamily="34" charset="0"/>
                    <a:cs typeface="Arial" panose="020B0604020202020204" pitchFamily="34" charset="0"/>
                  </a:rPr>
                  <a:t> to both permutations.</a:t>
                </a:r>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1 5 3 2 4 -&gt; 1 2 3 4 5 </a:t>
                </a:r>
                <a:r>
                  <a:rPr lang="en" altLang="en-US" dirty="0">
                    <a:latin typeface="Arial" panose="020B0604020202020204" pitchFamily="34" charset="0"/>
                    <a:cs typeface="Arial" panose="020B0604020202020204" pitchFamily="34" charset="0"/>
                  </a:rPr>
                  <a:t>is with transpositions: </a:t>
                </a:r>
                <a:r>
                  <a:rPr lang="en" altLang="zh-CN" dirty="0">
                    <a:latin typeface="Arial" panose="020B0604020202020204" pitchFamily="34" charset="0"/>
                    <a:cs typeface="Arial" panose="020B0604020202020204" pitchFamily="34" charset="0"/>
                  </a:rPr>
                  <a:t>5&lt;-&gt;2 </a:t>
                </a:r>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4&lt;-&gt;5</a:t>
                </a:r>
              </a:p>
              <a:p>
                <a:r>
                  <a:rPr lang="en-US" altLang="zh-CN" dirty="0">
                    <a:latin typeface="Arial" panose="020B0604020202020204" pitchFamily="34" charset="0"/>
                    <a:cs typeface="Arial" panose="020B0604020202020204" pitchFamily="34" charset="0"/>
                  </a:rPr>
                  <a:t>Apply the same set of transpositions to  </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2</m:t>
                    </m:r>
                  </m:oMath>
                </a14:m>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5 3 4 2 1 -&gt; 2 3 5 4 1</a:t>
                </a:r>
              </a:p>
              <a:p>
                <a:r>
                  <a:rPr lang="en" altLang="en-US" dirty="0">
                    <a:latin typeface="Arial" panose="020B0604020202020204" pitchFamily="34" charset="0"/>
                    <a:cs typeface="Arial" panose="020B0604020202020204" pitchFamily="34" charset="0"/>
                  </a:rPr>
                  <a:t>You can first apply a series of transpositions to rearrange </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1</m:t>
                    </m:r>
                  </m:oMath>
                </a14:m>
                <a:r>
                  <a:rPr lang="en" altLang="en-US" dirty="0">
                    <a:latin typeface="Arial" panose="020B0604020202020204" pitchFamily="34" charset="0"/>
                    <a:cs typeface="Arial" panose="020B0604020202020204" pitchFamily="34" charset="0"/>
                  </a:rPr>
                  <a:t> into </a:t>
                </a:r>
                <a14:m>
                  <m:oMath xmlns:m="http://schemas.openxmlformats.org/officeDocument/2006/math">
                    <m:r>
                      <a:rPr lang="en-US" altLang="zh-CN" i="1">
                        <a:latin typeface="Cambria Math" panose="02040503050406030204" pitchFamily="18" charset="0"/>
                      </a:rPr>
                      <m:t>1</m:t>
                    </m:r>
                    <m:r>
                      <a:rPr lang="en-US" altLang="zh-CN" b="0" i="1" smtClean="0">
                        <a:latin typeface="Cambria Math" panose="02040503050406030204" pitchFamily="18" charset="0"/>
                      </a:rPr>
                      <m:t>,2,…,</m:t>
                    </m:r>
                    <m:r>
                      <a:rPr lang="en-US" altLang="zh-CN" b="0" i="1" smtClean="0">
                        <a:latin typeface="Cambria Math" panose="02040503050406030204" pitchFamily="18" charset="0"/>
                      </a:rPr>
                      <m:t>𝑛</m:t>
                    </m:r>
                  </m:oMath>
                </a14:m>
                <a:r>
                  <a:rPr lang="en" altLang="en-US" dirty="0">
                    <a:latin typeface="Arial" panose="020B0604020202020204" pitchFamily="34" charset="0"/>
                    <a:cs typeface="Arial" panose="020B0604020202020204" pitchFamily="34" charset="0"/>
                  </a:rPr>
                  <a:t>, then apply the same transpositions to </a:t>
                </a:r>
                <a14:m>
                  <m:oMath xmlns:m="http://schemas.openxmlformats.org/officeDocument/2006/math">
                    <m:r>
                      <a:rPr lang="en-US" altLang="zh-CN" i="1">
                        <a:latin typeface="Cambria Math" panose="02040503050406030204" pitchFamily="18" charset="0"/>
                      </a:rPr>
                      <m:t>𝑝</m:t>
                    </m:r>
                    <m:r>
                      <a:rPr lang="en-US" altLang="zh-CN" b="0" i="1" smtClean="0">
                        <a:latin typeface="Cambria Math" panose="02040503050406030204" pitchFamily="18" charset="0"/>
                      </a:rPr>
                      <m:t>2</m:t>
                    </m:r>
                  </m:oMath>
                </a14:m>
                <a:r>
                  <a:rPr lang="en" altLang="en-US" dirty="0">
                    <a:latin typeface="Arial" panose="020B0604020202020204" pitchFamily="34" charset="0"/>
                    <a:cs typeface="Arial" panose="020B0604020202020204" pitchFamily="34" charset="0"/>
                  </a:rPr>
                  <a:t>. The LCS with </a:t>
                </a:r>
                <a14:m>
                  <m:oMath xmlns:m="http://schemas.openxmlformats.org/officeDocument/2006/math">
                    <m:r>
                      <a:rPr lang="en-US" altLang="zh-CN" i="1">
                        <a:latin typeface="Cambria Math" panose="02040503050406030204" pitchFamily="18" charset="0"/>
                      </a:rPr>
                      <m:t>1,2,…,</m:t>
                    </m:r>
                    <m:r>
                      <a:rPr lang="en-US" altLang="zh-CN" i="1">
                        <a:latin typeface="Cambria Math" panose="02040503050406030204" pitchFamily="18" charset="0"/>
                      </a:rPr>
                      <m:t>𝑛</m:t>
                    </m:r>
                  </m:oMath>
                </a14:m>
                <a:r>
                  <a:rPr lang="en" altLang="zh-CN" dirty="0">
                    <a:latin typeface="Arial" panose="020B0604020202020204" pitchFamily="34" charset="0"/>
                    <a:cs typeface="Arial" panose="020B0604020202020204" pitchFamily="34" charset="0"/>
                  </a:rPr>
                  <a:t> is obviously the LIS of the new </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2</m:t>
                    </m:r>
                  </m:oMath>
                </a14:m>
                <a:r>
                  <a:rPr lang="en" altLang="zh-CN" dirty="0">
                    <a:latin typeface="Arial" panose="020B0604020202020204" pitchFamily="34" charset="0"/>
                    <a:cs typeface="Arial" panose="020B0604020202020204" pitchFamily="34" charset="0"/>
                  </a:rPr>
                  <a:t>. </a:t>
                </a:r>
                <a:r>
                  <a:rPr lang="en" altLang="en-US" dirty="0">
                    <a:latin typeface="Arial" panose="020B0604020202020204" pitchFamily="34" charset="0"/>
                    <a:cs typeface="Arial" panose="020B0604020202020204" pitchFamily="34" charset="0"/>
                  </a:rPr>
                  <a:t>Time reduces to</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r>
                          <a:rPr lang="en-US" altLang="zh-CN" i="1">
                            <a:latin typeface="Cambria Math" panose="02040503050406030204" pitchFamily="18" charset="0"/>
                          </a:rPr>
                          <m:t>𝑛</m:t>
                        </m:r>
                      </m:e>
                    </m:func>
                    <m:r>
                      <a:rPr lang="en-US" altLang="zh-CN" b="0" i="1" smtClean="0">
                        <a:latin typeface="Cambria Math" panose="02040503050406030204" pitchFamily="18" charset="0"/>
                      </a:rPr>
                      <m:t>)</m:t>
                    </m:r>
                  </m:oMath>
                </a14:m>
                <a:r>
                  <a:rPr lang="en" altLang="en-US" dirty="0">
                    <a:latin typeface="Arial" panose="020B0604020202020204" pitchFamily="34" charset="0"/>
                    <a:cs typeface="Arial" panose="020B0604020202020204" pitchFamily="34" charset="0"/>
                  </a:rPr>
                  <a:t>.</a:t>
                </a: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054" r="-703"/>
                </a:stretch>
              </a:blipFill>
            </p:spPr>
            <p:txBody>
              <a:bodyPr/>
              <a:lstStyle/>
              <a:p>
                <a:r>
                  <a:rPr lang="en-AU">
                    <a:noFill/>
                  </a:rPr>
                  <a:t> </a:t>
                </a:r>
              </a:p>
            </p:txBody>
          </p:sp>
        </mc:Fallback>
      </mc:AlternateContent>
    </p:spTree>
    <p:extLst>
      <p:ext uri="{BB962C8B-B14F-4D97-AF65-F5344CB8AC3E}">
        <p14:creationId xmlns:p14="http://schemas.microsoft.com/office/powerpoint/2010/main" val="95084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vert="horz" lIns="91440" tIns="45720" rIns="91440" bIns="45720" rtlCol="0" anchor="ctr">
            <a:normAutofit/>
          </a:bodyPr>
          <a:lstStyle/>
          <a:p>
            <a:r>
              <a:rPr lang="en" altLang="en-US" dirty="0">
                <a:solidFill>
                  <a:schemeClr val="bg1"/>
                </a:solidFill>
              </a:rPr>
              <a:t>Maximum sum of </a:t>
            </a:r>
            <a:r>
              <a:rPr lang="en" altLang="zh-CN" dirty="0">
                <a:solidFill>
                  <a:schemeClr val="bg1"/>
                </a:solidFill>
              </a:rPr>
              <a:t>m </a:t>
            </a:r>
            <a:r>
              <a:rPr lang="en" altLang="en-US" dirty="0">
                <a:solidFill>
                  <a:schemeClr val="bg1"/>
                </a:solidFill>
              </a:rPr>
              <a:t>sub-segments</a:t>
            </a:r>
            <a:endParaRPr lang="zh-CN" altLang="en-US" dirty="0">
              <a:solidFill>
                <a:schemeClr val="bg1"/>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Arial" panose="020B0604020202020204" pitchFamily="34" charset="0"/>
                    <a:cs typeface="Arial" panose="020B0604020202020204" pitchFamily="34" charset="0"/>
                  </a:rPr>
                  <a:t>Given a sequence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oMath>
                </a14:m>
                <a:r>
                  <a:rPr lang="en" altLang="en-US" dirty="0">
                    <a:latin typeface="Arial" panose="020B0604020202020204" pitchFamily="34" charset="0"/>
                    <a:cs typeface="Arial" panose="020B0604020202020204" pitchFamily="34" charset="0"/>
                  </a:rPr>
                  <a:t>, find </a:t>
                </a:r>
                <a14:m>
                  <m:oMath xmlns:m="http://schemas.openxmlformats.org/officeDocument/2006/math">
                    <m:r>
                      <a:rPr lang="en-US" altLang="zh-CN" b="0" i="1" smtClean="0">
                        <a:latin typeface="Cambria Math" panose="02040503050406030204" pitchFamily="18" charset="0"/>
                      </a:rPr>
                      <m:t>𝑚</m:t>
                    </m:r>
                  </m:oMath>
                </a14:m>
                <a:r>
                  <a:rPr lang="en" altLang="en-US" dirty="0">
                    <a:latin typeface="Arial" panose="020B0604020202020204" pitchFamily="34" charset="0"/>
                    <a:cs typeface="Arial" panose="020B0604020202020204" pitchFamily="34" charset="0"/>
                  </a:rPr>
                  <a:t> non-overlapping (can be adjacent) continuous subsequences with the largest sum.</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For example:</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i="1" smtClean="0">
                        <a:latin typeface="Cambria Math" panose="02040503050406030204" pitchFamily="18" charset="0"/>
                      </a:rPr>
                      <m:t>𝑚</m:t>
                    </m:r>
                    <m:r>
                      <a:rPr lang="en-US" altLang="zh-CN" b="0" i="1" smtClean="0">
                        <a:latin typeface="Cambria Math" panose="02040503050406030204" pitchFamily="18" charset="0"/>
                      </a:rPr>
                      <m:t>=2</m:t>
                    </m:r>
                  </m:oMath>
                </a14:m>
                <a:r>
                  <a:rPr lang="en" altLang="en-US"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1</a:t>
                </a:r>
                <a:r>
                  <a:rPr lang="en" altLang="en-US"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2</a:t>
                </a:r>
                <a:r>
                  <a:rPr lang="en" altLang="en-US" dirty="0">
                    <a:solidFill>
                      <a:srgbClr val="FF0000"/>
                    </a:solidFill>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-3</a:t>
                </a:r>
                <a:r>
                  <a:rPr lang="en" altLang="en-US" dirty="0">
                    <a:solidFill>
                      <a:srgbClr val="FF0000"/>
                    </a:solidFill>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4</a:t>
                </a:r>
                <a:r>
                  <a:rPr lang="en" altLang="en-US"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5</a:t>
                </a:r>
                <a:r>
                  <a:rPr lang="en" altLang="en-US" dirty="0">
                    <a:latin typeface="Arial" panose="020B0604020202020204" pitchFamily="34" charset="0"/>
                    <a:cs typeface="Arial" panose="020B0604020202020204" pitchFamily="34" charset="0"/>
                  </a:rPr>
                  <a:t> </a:t>
                </a:r>
                <a:r>
                  <a:rPr lang="en" altLang="zh-CN" dirty="0">
                    <a:latin typeface="Arial" panose="020B0604020202020204" pitchFamily="34" charset="0"/>
                    <a:cs typeface="Arial" panose="020B0604020202020204" pitchFamily="34" charset="0"/>
                  </a:rPr>
                  <a:t>-6</a:t>
                </a:r>
                <a:r>
                  <a:rPr lang="en" altLang="en-US" dirty="0">
                    <a:latin typeface="Arial" panose="020B0604020202020204" pitchFamily="34" charset="0"/>
                    <a:cs typeface="Arial" panose="020B0604020202020204" pitchFamily="34" charset="0"/>
                  </a:rPr>
                  <a:t> </a:t>
                </a:r>
                <a:r>
                  <a:rPr lang="en" altLang="zh-CN" dirty="0">
                    <a:solidFill>
                      <a:srgbClr val="FF0000"/>
                    </a:solidFill>
                    <a:latin typeface="Arial" panose="020B0604020202020204" pitchFamily="34" charset="0"/>
                    <a:cs typeface="Arial" panose="020B0604020202020204" pitchFamily="34" charset="0"/>
                  </a:rPr>
                  <a:t>7</a:t>
                </a:r>
                <a:endParaRPr lang="en-US" altLang="zh-CN" dirty="0">
                  <a:latin typeface="Arial" panose="020B0604020202020204" pitchFamily="34" charset="0"/>
                  <a:cs typeface="Arial" panose="020B0604020202020204" pitchFamily="34" charset="0"/>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71"/>
                </a:stretch>
              </a:blipFill>
            </p:spPr>
            <p:txBody>
              <a:bodyPr/>
              <a:lstStyle/>
              <a:p>
                <a:r>
                  <a:rPr lang="en-AU">
                    <a:noFill/>
                  </a:rPr>
                  <a:t> </a:t>
                </a:r>
              </a:p>
            </p:txBody>
          </p:sp>
        </mc:Fallback>
      </mc:AlternateContent>
    </p:spTree>
    <p:extLst>
      <p:ext uri="{BB962C8B-B14F-4D97-AF65-F5344CB8AC3E}">
        <p14:creationId xmlns:p14="http://schemas.microsoft.com/office/powerpoint/2010/main" val="166805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vert="horz" lIns="91440" tIns="45720" rIns="91440" bIns="45720" rtlCol="0" anchor="ctr">
            <a:normAutofit/>
          </a:bodyPr>
          <a:lstStyle/>
          <a:p>
            <a:r>
              <a:rPr lang="en" altLang="en-US" dirty="0">
                <a:solidFill>
                  <a:schemeClr val="bg1"/>
                </a:solidFill>
              </a:rPr>
              <a:t>analysis</a:t>
            </a:r>
            <a:endParaRPr lang="zh-CN" altLang="en-US" dirty="0">
              <a:solidFill>
                <a:schemeClr val="bg1"/>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a:bodyPr>
              <a:lstStyle/>
              <a:p>
                <a:r>
                  <a:rPr lang="en" altLang="en-US" dirty="0">
                    <a:latin typeface="+mn-ea"/>
                  </a:rPr>
                  <a:t>Let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i="1">
                        <a:latin typeface="Cambria Math" panose="02040503050406030204" pitchFamily="18" charset="0"/>
                      </a:rPr>
                      <m:t>[</m:t>
                    </m:r>
                    <m:r>
                      <a:rPr lang="en-US" altLang="zh-CN" i="1">
                        <a:latin typeface="Cambria Math" panose="02040503050406030204" pitchFamily="18" charset="0"/>
                      </a:rPr>
                      <m:t>𝑗</m:t>
                    </m:r>
                    <m:r>
                      <a:rPr lang="en-US" altLang="zh-CN" i="1">
                        <a:latin typeface="Cambria Math" panose="02040503050406030204" pitchFamily="18" charset="0"/>
                      </a:rPr>
                      <m:t>]</m:t>
                    </m:r>
                  </m:oMath>
                </a14:m>
                <a:r>
                  <a:rPr lang="en" altLang="en-US" dirty="0">
                    <a:latin typeface="+mn-ea"/>
                  </a:rPr>
                  <a:t> be the maximum sum of the </a:t>
                </a:r>
                <a14:m>
                  <m:oMath xmlns:m="http://schemas.openxmlformats.org/officeDocument/2006/math">
                    <m:r>
                      <a:rPr lang="en-US" altLang="zh-CN" i="1">
                        <a:latin typeface="Cambria Math" panose="02040503050406030204" pitchFamily="18" charset="0"/>
                      </a:rPr>
                      <m:t>𝑖</m:t>
                    </m:r>
                    <m:r>
                      <a:rPr lang="en-US" altLang="zh-CN" i="1">
                        <a:latin typeface="Cambria Math" panose="02040503050406030204" pitchFamily="18" charset="0"/>
                      </a:rPr>
                      <m:t> </m:t>
                    </m:r>
                  </m:oMath>
                </a14:m>
                <a:r>
                  <a:rPr lang="en" altLang="en-US" dirty="0">
                    <a:latin typeface="+mn-ea"/>
                  </a:rPr>
                  <a:t>segments that end with item </a:t>
                </a:r>
                <a14:m>
                  <m:oMath xmlns:m="http://schemas.openxmlformats.org/officeDocument/2006/math">
                    <m:r>
                      <a:rPr lang="en-US" altLang="zh-CN" i="1">
                        <a:latin typeface="Cambria Math" panose="02040503050406030204" pitchFamily="18" charset="0"/>
                      </a:rPr>
                      <m:t>𝑗</m:t>
                    </m:r>
                  </m:oMath>
                </a14:m>
                <a:r>
                  <a:rPr lang="en" altLang="en-US" dirty="0">
                    <a:latin typeface="+mn-ea"/>
                  </a:rPr>
                  <a:t>, you will need to enumerate all the </a:t>
                </a:r>
                <a14:m>
                  <m:oMath xmlns:m="http://schemas.openxmlformats.org/officeDocument/2006/math">
                    <m:r>
                      <a:rPr lang="en-US" altLang="zh-CN" i="1">
                        <a:latin typeface="Cambria Math" panose="02040503050406030204" pitchFamily="18" charset="0"/>
                      </a:rPr>
                      <m:t>𝑦</m:t>
                    </m:r>
                  </m:oMath>
                </a14:m>
                <a:r>
                  <a:rPr lang="en" altLang="en-US" dirty="0">
                    <a:latin typeface="+mn-ea"/>
                  </a:rPr>
                  <a:t> that’s the beginning of this segment, and all the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 </m:t>
                    </m:r>
                  </m:oMath>
                </a14:m>
                <a:r>
                  <a:rPr lang="en" altLang="en-US" dirty="0">
                    <a:latin typeface="+mn-ea"/>
                  </a:rPr>
                  <a:t>that’s the end of the previous segment, that is;</a:t>
                </a:r>
                <a:endParaRPr lang="en-US" altLang="zh-CN" dirty="0">
                  <a:latin typeface="+mn-ea"/>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𝑗</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𝑚𝑎𝑥</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sub>
                        <m:sup>
                          <m:r>
                            <a:rPr lang="en-US" altLang="zh-CN" b="0" i="1" smtClean="0">
                              <a:latin typeface="Cambria Math" panose="02040503050406030204" pitchFamily="18" charset="0"/>
                            </a:rPr>
                            <m:t>𝑗</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𝑘</m:t>
                              </m:r>
                            </m:sub>
                          </m:sSub>
                        </m:e>
                      </m:nary>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&lt;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m:oMathPara>
                </a14:m>
                <a:endParaRPr lang="en-US" altLang="zh-CN" i="1" dirty="0">
                  <a:latin typeface="+mn-ea"/>
                </a:endParaRPr>
              </a:p>
              <a:p>
                <a:r>
                  <a:rPr lang="en" altLang="en-US" dirty="0">
                    <a:latin typeface="+mn-ea"/>
                  </a:rPr>
                  <a:t>Each time enumerating </a:t>
                </a:r>
                <a14:m>
                  <m:oMath xmlns:m="http://schemas.openxmlformats.org/officeDocument/2006/math">
                    <m:r>
                      <a:rPr lang="en-US" altLang="zh-CN" i="1">
                        <a:latin typeface="Cambria Math" panose="02040503050406030204" pitchFamily="18" charset="0"/>
                      </a:rPr>
                      <m:t>𝑥</m:t>
                    </m:r>
                    <m:r>
                      <a:rPr lang="en-US" altLang="zh-CN" b="0" i="1" smtClean="0">
                        <a:latin typeface="Cambria Math" panose="02040503050406030204" pitchFamily="18" charset="0"/>
                      </a:rPr>
                      <m:t>&lt;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oMath>
                </a14:m>
                <a:r>
                  <a:rPr lang="en" altLang="en-US" dirty="0">
                    <a:latin typeface="+mn-ea"/>
                  </a:rPr>
                  <a:t>, number of decisions is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i="1">
                            <a:latin typeface="Cambria Math" panose="02040503050406030204" pitchFamily="18" charset="0"/>
                          </a:rPr>
                          <m:t>2</m:t>
                        </m:r>
                      </m:sup>
                    </m:sSup>
                    <m:r>
                      <a:rPr lang="en-US" altLang="zh-CN" i="1">
                        <a:latin typeface="Cambria Math" panose="02040503050406030204" pitchFamily="18" charset="0"/>
                      </a:rPr>
                      <m:t>)</m:t>
                    </m:r>
                  </m:oMath>
                </a14:m>
                <a:r>
                  <a:rPr lang="en" altLang="en-US" dirty="0">
                    <a:latin typeface="+mn-ea"/>
                  </a:rPr>
                  <a:t>, and the overall time complexity is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b="0" i="1" smtClean="0">
                            <a:latin typeface="Cambria Math" panose="02040503050406030204" pitchFamily="18" charset="0"/>
                          </a:rPr>
                          <m:t>3</m:t>
                        </m:r>
                      </m:sup>
                    </m:sSup>
                    <m:r>
                      <a:rPr lang="en-US" altLang="zh-CN" b="0" i="1" smtClean="0">
                        <a:latin typeface="Cambria Math" panose="02040503050406030204" pitchFamily="18" charset="0"/>
                      </a:rPr>
                      <m:t>𝑚</m:t>
                    </m:r>
                    <m:r>
                      <a:rPr lang="en-US" altLang="zh-CN" i="1">
                        <a:latin typeface="Cambria Math" panose="02040503050406030204" pitchFamily="18" charset="0"/>
                      </a:rPr>
                      <m:t>)</m:t>
                    </m:r>
                  </m:oMath>
                </a14:m>
                <a:r>
                  <a:rPr lang="en" altLang="en-US" dirty="0">
                    <a:latin typeface="+mn-ea"/>
                  </a:rPr>
                  <a:t>.</a:t>
                </a:r>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1182"/>
                </a:stretch>
              </a:blipFill>
            </p:spPr>
            <p:txBody>
              <a:bodyPr/>
              <a:lstStyle/>
              <a:p>
                <a:r>
                  <a:rPr lang="en-AU">
                    <a:noFill/>
                  </a:rPr>
                  <a:t> </a:t>
                </a:r>
              </a:p>
            </p:txBody>
          </p:sp>
        </mc:Fallback>
      </mc:AlternateContent>
    </p:spTree>
    <p:extLst>
      <p:ext uri="{BB962C8B-B14F-4D97-AF65-F5344CB8AC3E}">
        <p14:creationId xmlns:p14="http://schemas.microsoft.com/office/powerpoint/2010/main" val="554686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vert="horz" lIns="91440" tIns="45720" rIns="91440" bIns="45720" rtlCol="0" anchor="ctr">
            <a:normAutofit/>
          </a:bodyPr>
          <a:lstStyle/>
          <a:p>
            <a:r>
              <a:rPr lang="en" altLang="en-US" dirty="0">
                <a:solidFill>
                  <a:schemeClr val="bg1"/>
                </a:solidFill>
              </a:rPr>
              <a:t>optimisation</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62569" y="1486110"/>
                <a:ext cx="10834779" cy="5282749"/>
              </a:xfrm>
            </p:spPr>
            <p:txBody>
              <a:bodyPr anchor="ctr" anchorCtr="0">
                <a:normAutofit fontScale="85000" lnSpcReduction="20000"/>
              </a:bodyPr>
              <a:lstStyle/>
              <a:p>
                <a:r>
                  <a:rPr lang="en" altLang="en-US" dirty="0">
                    <a:latin typeface="+mn-ea"/>
                  </a:rPr>
                  <a:t>Note that if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Sub>
                  </m:oMath>
                </a14:m>
                <a:r>
                  <a:rPr lang="en" altLang="en-US" dirty="0">
                    <a:latin typeface="+mn-ea"/>
                  </a:rPr>
                  <a:t> also belongs to the current segment, the answer becomes </a:t>
                </a:r>
                <a14:m>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oMath>
                </a14:m>
                <a:r>
                  <a:rPr lang="en"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oMath>
                </a14:m>
                <a:r>
                  <a:rPr lang="en" altLang="en-US" dirty="0">
                    <a:latin typeface="+mn-ea"/>
                  </a:rPr>
                  <a:t>, the equation is optimised as:</a:t>
                </a:r>
                <a:endParaRPr lang="en-US" altLang="zh-CN" dirty="0">
                  <a:latin typeface="+mn-ea"/>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𝑗</m:t>
                          </m:r>
                        </m:e>
                      </m:d>
                      <m:r>
                        <a:rPr lang="en-US" altLang="zh-CN" i="1">
                          <a:latin typeface="Cambria Math" panose="02040503050406030204" pitchFamily="18" charset="0"/>
                        </a:rPr>
                        <m:t>=</m:t>
                      </m:r>
                      <m:r>
                        <a:rPr lang="en-US" altLang="zh-CN" i="1">
                          <a:latin typeface="Cambria Math" panose="02040503050406030204" pitchFamily="18" charset="0"/>
                        </a:rPr>
                        <m:t>𝑚𝑎𝑥</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r>
                            <a:rPr lang="en-US" altLang="zh-CN" b="0" i="1" smtClean="0">
                              <a:latin typeface="Cambria Math" panose="02040503050406030204" pitchFamily="18" charset="0"/>
                            </a:rPr>
                            <m:t>,</m:t>
                          </m:r>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e>
                        <m:e>
                          <m:r>
                            <a:rPr lang="en-US" altLang="zh-CN" i="1">
                              <a:latin typeface="Cambria Math" panose="02040503050406030204" pitchFamily="18" charset="0"/>
                            </a:rPr>
                            <m:t>𝑥</m:t>
                          </m:r>
                          <m:r>
                            <a:rPr lang="en-US" altLang="zh-CN" i="1">
                              <a:latin typeface="Cambria Math" panose="02040503050406030204" pitchFamily="18" charset="0"/>
                            </a:rPr>
                            <m:t>&lt;</m:t>
                          </m:r>
                          <m:r>
                            <a:rPr lang="en-US" altLang="zh-CN" i="1">
                              <a:latin typeface="Cambria Math" panose="02040503050406030204" pitchFamily="18" charset="0"/>
                            </a:rPr>
                            <m:t>𝑗</m:t>
                          </m:r>
                        </m:e>
                      </m:d>
                    </m:oMath>
                  </m:oMathPara>
                </a14:m>
                <a:endParaRPr lang="en-US" altLang="zh-CN" dirty="0">
                  <a:latin typeface="+mn-ea"/>
                </a:endParaRPr>
              </a:p>
              <a:p>
                <a:r>
                  <a:rPr lang="en" altLang="en-US" dirty="0">
                    <a:latin typeface="+mn-ea"/>
                  </a:rPr>
                  <a:t>After optimisation, the states are still two-dimensional, decisions are reduced to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b="0" i="1" smtClean="0">
                        <a:latin typeface="Cambria Math" panose="02040503050406030204" pitchFamily="18" charset="0"/>
                      </a:rPr>
                      <m:t>𝑛</m:t>
                    </m:r>
                    <m:r>
                      <a:rPr lang="en-US" altLang="zh-CN" i="1">
                        <a:latin typeface="Cambria Math" panose="02040503050406030204" pitchFamily="18" charset="0"/>
                      </a:rPr>
                      <m:t>)</m:t>
                    </m:r>
                  </m:oMath>
                </a14:m>
                <a:r>
                  <a:rPr lang="en" altLang="en-US" dirty="0">
                    <a:latin typeface="+mn-ea"/>
                  </a:rPr>
                  <a:t>, and the overall time complexity is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i="1">
                        <a:latin typeface="Cambria Math" panose="02040503050406030204" pitchFamily="18" charset="0"/>
                      </a:rPr>
                      <m:t>𝑚</m:t>
                    </m:r>
                    <m:r>
                      <a:rPr lang="en-US" altLang="zh-CN" i="1">
                        <a:latin typeface="Cambria Math" panose="02040503050406030204" pitchFamily="18" charset="0"/>
                      </a:rPr>
                      <m:t>) </m:t>
                    </m:r>
                  </m:oMath>
                </a14:m>
                <a:r>
                  <a:rPr lang="en" altLang="en-US" dirty="0">
                    <a:latin typeface="+mn-ea"/>
                  </a:rPr>
                  <a:t>.</a:t>
                </a:r>
                <a:endParaRPr lang="en-US" altLang="zh-CN" dirty="0">
                  <a:latin typeface="+mn-ea"/>
                </a:endParaRPr>
              </a:p>
              <a:p>
                <a:endParaRPr lang="en-US" altLang="zh-CN" dirty="0">
                  <a:latin typeface="+mn-ea"/>
                </a:endParaRPr>
              </a:p>
              <a:p>
                <a:r>
                  <a:rPr lang="en" altLang="en-US" dirty="0">
                    <a:latin typeface="+mn-ea"/>
                  </a:rPr>
                  <a:t>Lets continue: Note that time is mainly spent on enumerating </a:t>
                </a:r>
                <a14:m>
                  <m:oMath xmlns:m="http://schemas.openxmlformats.org/officeDocument/2006/math">
                    <m:r>
                      <a:rPr lang="en-US" altLang="zh-CN" i="1">
                        <a:latin typeface="Cambria Math" panose="02040503050406030204" pitchFamily="18" charset="0"/>
                      </a:rPr>
                      <m:t>𝑥</m:t>
                    </m:r>
                  </m:oMath>
                </a14:m>
                <a:r>
                  <a:rPr lang="en" altLang="en-US" dirty="0">
                    <a:latin typeface="+mn-ea"/>
                  </a:rPr>
                  <a:t>, i.e., calculating </a:t>
                </a:r>
                <a14:m>
                  <m:oMath xmlns:m="http://schemas.openxmlformats.org/officeDocument/2006/math">
                    <m:r>
                      <a:rPr lang="en-US" altLang="zh-CN" i="1">
                        <a:latin typeface="Cambria Math" panose="02040503050406030204" pitchFamily="18" charset="0"/>
                      </a:rPr>
                      <m:t>𝑚𝑎𝑥</m:t>
                    </m:r>
                    <m:r>
                      <a:rPr lang="en-US" altLang="zh-CN">
                        <a:latin typeface="Cambria Math" panose="02040503050406030204" pitchFamily="18" charset="0"/>
                      </a:rPr>
                      <m:t>{</m:t>
                    </m:r>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e>
                    </m:d>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a:latin typeface="Cambria Math" panose="02040503050406030204" pitchFamily="18" charset="0"/>
                      </a:rPr>
                      <m:t>}</m:t>
                    </m:r>
                  </m:oMath>
                </a14:m>
                <a:r>
                  <a:rPr lang="en" altLang="en-US" dirty="0">
                    <a:latin typeface="+mn-ea"/>
                  </a:rPr>
                  <a:t>.</a:t>
                </a:r>
                <a:endParaRPr lang="en-US" altLang="zh-CN" dirty="0">
                  <a:latin typeface="+mn-ea"/>
                </a:endParaRPr>
              </a:p>
              <a:p>
                <a:r>
                  <a:rPr lang="en" altLang="en-US" dirty="0">
                    <a:latin typeface="+mn-ea"/>
                  </a:rPr>
                  <a:t>Let’s call the first dimension of </a:t>
                </a:r>
                <a14:m>
                  <m:oMath xmlns:m="http://schemas.openxmlformats.org/officeDocument/2006/math">
                    <m:r>
                      <a:rPr lang="en-US" altLang="zh-CN" i="1">
                        <a:latin typeface="Cambria Math" panose="02040503050406030204" pitchFamily="18" charset="0"/>
                      </a:rPr>
                      <m:t>𝑓</m:t>
                    </m:r>
                  </m:oMath>
                </a14:m>
                <a:r>
                  <a:rPr lang="en" altLang="en-US" dirty="0">
                    <a:latin typeface="+mn-ea"/>
                  </a:rPr>
                  <a:t> "stages", this problem is a typical multi-stage decision-making problem.</a:t>
                </a:r>
                <a:endParaRPr lang="en-US" altLang="zh-CN" dirty="0">
                  <a:latin typeface="+mn-ea"/>
                </a:endParaRPr>
              </a:p>
              <a:p>
                <a:r>
                  <a:rPr lang="en" altLang="en-US" dirty="0">
                    <a:latin typeface="+mn-ea"/>
                  </a:rPr>
                  <a:t>When working out one stage</a:t>
                </a:r>
                <a:r>
                  <a:rPr lang="en" altLang="zh-CN" dirty="0">
                    <a:latin typeface="+mn-ea"/>
                  </a:rPr>
                  <a:t>, </a:t>
                </a:r>
                <a:r>
                  <a:rPr lang="en" altLang="en-US" dirty="0">
                    <a:latin typeface="+mn-ea"/>
                  </a:rPr>
                  <a:t>record the maximum value of this stage.</a:t>
                </a:r>
              </a:p>
              <a:p>
                <a:r>
                  <a:rPr lang="en" altLang="en-US" dirty="0">
                    <a:latin typeface="+mn-ea"/>
                  </a:rPr>
                  <a:t>Only keep two adjacent stages ( rolling array )</a:t>
                </a:r>
                <a:endParaRPr lang="en" altLang="zh-CN" dirty="0">
                  <a:latin typeface="+mn-ea"/>
                </a:endParaRPr>
              </a:p>
              <a:p>
                <a:r>
                  <a:rPr lang="en" altLang="en-US" dirty="0">
                    <a:latin typeface="+mn-ea"/>
                  </a:rPr>
                  <a:t>Time reduces to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i="1">
                        <a:latin typeface="Cambria Math" panose="02040503050406030204" pitchFamily="18" charset="0"/>
                      </a:rPr>
                      <m:t>𝑛𝑚</m:t>
                    </m:r>
                    <m:r>
                      <a:rPr lang="en-US" altLang="zh-CN" i="1">
                        <a:latin typeface="Cambria Math" panose="02040503050406030204" pitchFamily="18" charset="0"/>
                      </a:rPr>
                      <m:t>)</m:t>
                    </m:r>
                  </m:oMath>
                </a14:m>
                <a:r>
                  <a:rPr lang="en" altLang="en-US" dirty="0">
                    <a:latin typeface="+mn-ea"/>
                  </a:rPr>
                  <a:t>, space reduces to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oMath>
                </a14:m>
                <a:r>
                  <a:rPr lang="en" altLang="en-US" dirty="0">
                    <a:latin typeface="+mn-ea"/>
                  </a:rPr>
                  <a:t>.</a:t>
                </a:r>
                <a:endParaRPr lang="en-US" altLang="zh-CN" dirty="0">
                  <a:latin typeface="+mn-ea"/>
                </a:endParaRPr>
              </a:p>
            </p:txBody>
          </p:sp>
        </mc:Choice>
        <mc:Fallback xmlns="">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62569" y="1486110"/>
                <a:ext cx="10834779" cy="5282749"/>
              </a:xfrm>
              <a:blipFill>
                <a:blip r:embed="rId3"/>
                <a:stretch>
                  <a:fillRect l="-844" b="-924"/>
                </a:stretch>
              </a:blipFill>
            </p:spPr>
            <p:txBody>
              <a:bodyPr/>
              <a:lstStyle/>
              <a:p>
                <a:r>
                  <a:rPr lang="en-AU">
                    <a:noFill/>
                  </a:rPr>
                  <a:t> </a:t>
                </a:r>
              </a:p>
            </p:txBody>
          </p:sp>
        </mc:Fallback>
      </mc:AlternateContent>
    </p:spTree>
    <p:extLst>
      <p:ext uri="{BB962C8B-B14F-4D97-AF65-F5344CB8AC3E}">
        <p14:creationId xmlns:p14="http://schemas.microsoft.com/office/powerpoint/2010/main" val="326626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电路">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659</TotalTime>
  <Words>2721</Words>
  <Application>Microsoft Macintosh PowerPoint</Application>
  <PresentationFormat>宽屏</PresentationFormat>
  <Paragraphs>204</Paragraphs>
  <Slides>37</Slides>
  <Notes>36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等线</vt:lpstr>
      <vt:lpstr>宋体</vt:lpstr>
      <vt:lpstr>Arial</vt:lpstr>
      <vt:lpstr>Cambria Math</vt:lpstr>
      <vt:lpstr>Tw Cen MT</vt:lpstr>
      <vt:lpstr>电路</vt:lpstr>
      <vt:lpstr>Linear DP</vt:lpstr>
      <vt:lpstr>Steel bar cutting</vt:lpstr>
      <vt:lpstr>Steel bar cutting</vt:lpstr>
      <vt:lpstr>Steel bar cutting</vt:lpstr>
      <vt:lpstr>Steel bar cutting</vt:lpstr>
      <vt:lpstr>Recurrence code</vt:lpstr>
      <vt:lpstr>Missile Interceptor ( NOIP 1999 )</vt:lpstr>
      <vt:lpstr>determining states</vt:lpstr>
      <vt:lpstr>code</vt:lpstr>
      <vt:lpstr>minimum toll</vt:lpstr>
      <vt:lpstr>minimum toll</vt:lpstr>
      <vt:lpstr>code</vt:lpstr>
      <vt:lpstr>Maximum product</vt:lpstr>
      <vt:lpstr>analysis</vt:lpstr>
      <vt:lpstr>Determining states</vt:lpstr>
      <vt:lpstr>pseudocode</vt:lpstr>
      <vt:lpstr>crossing the river</vt:lpstr>
      <vt:lpstr>analysis</vt:lpstr>
      <vt:lpstr>code</vt:lpstr>
      <vt:lpstr>longest common subsequence</vt:lpstr>
      <vt:lpstr>longest common subsequence</vt:lpstr>
      <vt:lpstr>longest common subsequence</vt:lpstr>
      <vt:lpstr>Memoized search</vt:lpstr>
      <vt:lpstr>Recurrence</vt:lpstr>
      <vt:lpstr>Recurrence</vt:lpstr>
      <vt:lpstr>Recurrence</vt:lpstr>
      <vt:lpstr>Further optimisation?</vt:lpstr>
      <vt:lpstr>longest common substring</vt:lpstr>
      <vt:lpstr>palindrome</vt:lpstr>
      <vt:lpstr>Longest increasing subsequence ( LIS )</vt:lpstr>
      <vt:lpstr>Longest increasing subsequence ( LIS )</vt:lpstr>
      <vt:lpstr>route problem</vt:lpstr>
      <vt:lpstr>analysis</vt:lpstr>
      <vt:lpstr>LCS of Two permutations</vt:lpstr>
      <vt:lpstr>Maximum sum of m sub-segments</vt:lpstr>
      <vt:lpstr>analysis</vt:lpstr>
      <vt:lpstr>optimisation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Bryan Sun</dc:creator>
  <cp:lastModifiedBy>Bryan Sun</cp:lastModifiedBy>
  <cp:revision>1</cp:revision>
  <dcterms:created xsi:type="dcterms:W3CDTF">2023-10-06T11:36:30Z</dcterms:created>
  <dcterms:modified xsi:type="dcterms:W3CDTF">2023-10-22T03:40:19Z</dcterms:modified>
</cp:coreProperties>
</file>