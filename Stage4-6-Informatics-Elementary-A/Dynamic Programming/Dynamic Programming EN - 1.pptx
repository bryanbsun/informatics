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7"/>
  </p:notesMasterIdLst>
  <p:sldIdLst>
    <p:sldId id="281" r:id="rId3"/>
    <p:sldId id="341" r:id="rId4"/>
    <p:sldId id="570" r:id="rId5"/>
    <p:sldId id="489" r:id="rId6"/>
    <p:sldId id="571" r:id="rId7"/>
    <p:sldId id="572" r:id="rId8"/>
    <p:sldId id="573" r:id="rId9"/>
    <p:sldId id="574" r:id="rId10"/>
    <p:sldId id="575" r:id="rId11"/>
    <p:sldId id="576" r:id="rId12"/>
    <p:sldId id="577" r:id="rId13"/>
    <p:sldId id="578" r:id="rId14"/>
    <p:sldId id="580" r:id="rId15"/>
    <p:sldId id="582" r:id="rId16"/>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0E7222-C0AE-4524-B20D-F0EA36E58E5A}" v="1096" dt="2023-10-10T10:07:08.5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7644" autoAdjust="0"/>
    <p:restoredTop sz="96327"/>
  </p:normalViewPr>
  <p:slideViewPr>
    <p:cSldViewPr snapToGrid="0">
      <p:cViewPr varScale="1">
        <p:scale>
          <a:sx n="69" d="100"/>
          <a:sy n="69" d="100"/>
        </p:scale>
        <p:origin x="57" y="15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Sun" userId="851caa7714272873" providerId="LiveId" clId="{9F5D2C46-1975-3C44-BD70-ED581448239D}"/>
    <pc:docChg chg="undo custSel modSld">
      <pc:chgData name="Bryan Sun" userId="851caa7714272873" providerId="LiveId" clId="{9F5D2C46-1975-3C44-BD70-ED581448239D}" dt="2023-10-06T11:45:51.260" v="31" actId="27636"/>
      <pc:docMkLst>
        <pc:docMk/>
      </pc:docMkLst>
      <pc:sldChg chg="modSp mod">
        <pc:chgData name="Bryan Sun" userId="851caa7714272873" providerId="LiveId" clId="{9F5D2C46-1975-3C44-BD70-ED581448239D}" dt="2023-10-06T11:43:05.111" v="12" actId="20577"/>
        <pc:sldMkLst>
          <pc:docMk/>
          <pc:sldMk cId="948786294" sldId="281"/>
        </pc:sldMkLst>
        <pc:spChg chg="mod">
          <ac:chgData name="Bryan Sun" userId="851caa7714272873" providerId="LiveId" clId="{9F5D2C46-1975-3C44-BD70-ED581448239D}" dt="2023-10-06T11:43:05.111" v="12" actId="20577"/>
          <ac:spMkLst>
            <pc:docMk/>
            <pc:sldMk cId="948786294" sldId="281"/>
            <ac:spMk id="2" creationId="{00000000-0000-0000-0000-000000000000}"/>
          </ac:spMkLst>
        </pc:spChg>
      </pc:sldChg>
      <pc:sldChg chg="modSp mod">
        <pc:chgData name="Bryan Sun" userId="851caa7714272873" providerId="LiveId" clId="{9F5D2C46-1975-3C44-BD70-ED581448239D}" dt="2023-10-06T11:45:51.260" v="31" actId="27636"/>
        <pc:sldMkLst>
          <pc:docMk/>
          <pc:sldMk cId="1727142192" sldId="341"/>
        </pc:sldMkLst>
        <pc:spChg chg="mod">
          <ac:chgData name="Bryan Sun" userId="851caa7714272873" providerId="LiveId" clId="{9F5D2C46-1975-3C44-BD70-ED581448239D}" dt="2023-10-06T11:45:51.260" v="31" actId="27636"/>
          <ac:spMkLst>
            <pc:docMk/>
            <pc:sldMk cId="1727142192" sldId="341"/>
            <ac:spMk id="3" creationId="{364B6489-5513-4724-81F7-F874B8C60D21}"/>
          </ac:spMkLst>
        </pc:spChg>
      </pc:sldChg>
      <pc:sldChg chg="modSp mod">
        <pc:chgData name="Bryan Sun" userId="851caa7714272873" providerId="LiveId" clId="{9F5D2C46-1975-3C44-BD70-ED581448239D}" dt="2023-10-06T11:44:36.563" v="24" actId="27636"/>
        <pc:sldMkLst>
          <pc:docMk/>
          <pc:sldMk cId="3341486634" sldId="573"/>
        </pc:sldMkLst>
        <pc:spChg chg="mod">
          <ac:chgData name="Bryan Sun" userId="851caa7714272873" providerId="LiveId" clId="{9F5D2C46-1975-3C44-BD70-ED581448239D}" dt="2023-10-06T11:44:36.563" v="24" actId="27636"/>
          <ac:spMkLst>
            <pc:docMk/>
            <pc:sldMk cId="3341486634" sldId="573"/>
            <ac:spMk id="3" creationId="{364B6489-5513-4724-81F7-F874B8C60D21}"/>
          </ac:spMkLst>
        </pc:spChg>
      </pc:sldChg>
      <pc:sldChg chg="modSp mod">
        <pc:chgData name="Bryan Sun" userId="851caa7714272873" providerId="LiveId" clId="{9F5D2C46-1975-3C44-BD70-ED581448239D}" dt="2023-10-06T11:44:36.583" v="25" actId="27636"/>
        <pc:sldMkLst>
          <pc:docMk/>
          <pc:sldMk cId="3419663236" sldId="576"/>
        </pc:sldMkLst>
        <pc:spChg chg="mod">
          <ac:chgData name="Bryan Sun" userId="851caa7714272873" providerId="LiveId" clId="{9F5D2C46-1975-3C44-BD70-ED581448239D}" dt="2023-10-06T11:44:36.583" v="25" actId="27636"/>
          <ac:spMkLst>
            <pc:docMk/>
            <pc:sldMk cId="3419663236" sldId="576"/>
            <ac:spMk id="3" creationId="{364B6489-5513-4724-81F7-F874B8C60D21}"/>
          </ac:spMkLst>
        </pc:spChg>
      </pc:sldChg>
      <pc:sldChg chg="modSp mod">
        <pc:chgData name="Bryan Sun" userId="851caa7714272873" providerId="LiveId" clId="{9F5D2C46-1975-3C44-BD70-ED581448239D}" dt="2023-10-06T11:44:36.752" v="26" actId="27636"/>
        <pc:sldMkLst>
          <pc:docMk/>
          <pc:sldMk cId="424415588" sldId="580"/>
        </pc:sldMkLst>
        <pc:spChg chg="mod">
          <ac:chgData name="Bryan Sun" userId="851caa7714272873" providerId="LiveId" clId="{9F5D2C46-1975-3C44-BD70-ED581448239D}" dt="2023-10-06T11:44:36.752" v="26" actId="27636"/>
          <ac:spMkLst>
            <pc:docMk/>
            <pc:sldMk cId="424415588" sldId="580"/>
            <ac:spMk id="3" creationId="{364B6489-5513-4724-81F7-F874B8C60D21}"/>
          </ac:spMkLst>
        </pc:spChg>
      </pc:sldChg>
    </pc:docChg>
  </pc:docChgLst>
  <pc:docChgLst>
    <pc:chgData name="Bryan Sun" userId="851caa7714272873" providerId="LiveId" clId="{B50E7222-C0AE-4524-B20D-F0EA36E58E5A}"/>
    <pc:docChg chg="custSel modSld">
      <pc:chgData name="Bryan Sun" userId="851caa7714272873" providerId="LiveId" clId="{B50E7222-C0AE-4524-B20D-F0EA36E58E5A}" dt="2023-10-10T10:07:08.574" v="1247" actId="6549"/>
      <pc:docMkLst>
        <pc:docMk/>
      </pc:docMkLst>
      <pc:sldChg chg="modSp mod">
        <pc:chgData name="Bryan Sun" userId="851caa7714272873" providerId="LiveId" clId="{B50E7222-C0AE-4524-B20D-F0EA36E58E5A}" dt="2023-10-09T11:43:47.592" v="96" actId="20577"/>
        <pc:sldMkLst>
          <pc:docMk/>
          <pc:sldMk cId="948786294" sldId="281"/>
        </pc:sldMkLst>
        <pc:spChg chg="mod">
          <ac:chgData name="Bryan Sun" userId="851caa7714272873" providerId="LiveId" clId="{B50E7222-C0AE-4524-B20D-F0EA36E58E5A}" dt="2023-10-09T11:43:47.592" v="96" actId="20577"/>
          <ac:spMkLst>
            <pc:docMk/>
            <pc:sldMk cId="948786294" sldId="281"/>
            <ac:spMk id="2" creationId="{00000000-0000-0000-0000-000000000000}"/>
          </ac:spMkLst>
        </pc:spChg>
      </pc:sldChg>
      <pc:sldChg chg="modSp">
        <pc:chgData name="Bryan Sun" userId="851caa7714272873" providerId="LiveId" clId="{B50E7222-C0AE-4524-B20D-F0EA36E58E5A}" dt="2023-10-09T11:44:24.183" v="98"/>
        <pc:sldMkLst>
          <pc:docMk/>
          <pc:sldMk cId="1727142192" sldId="341"/>
        </pc:sldMkLst>
        <pc:spChg chg="mod">
          <ac:chgData name="Bryan Sun" userId="851caa7714272873" providerId="LiveId" clId="{B50E7222-C0AE-4524-B20D-F0EA36E58E5A}" dt="2023-10-09T11:44:24.183" v="98"/>
          <ac:spMkLst>
            <pc:docMk/>
            <pc:sldMk cId="1727142192" sldId="341"/>
            <ac:spMk id="2" creationId="{42D00FBD-1222-496C-8A0C-0B68A7CB6094}"/>
          </ac:spMkLst>
        </pc:spChg>
        <pc:spChg chg="mod">
          <ac:chgData name="Bryan Sun" userId="851caa7714272873" providerId="LiveId" clId="{B50E7222-C0AE-4524-B20D-F0EA36E58E5A}" dt="2023-10-09T11:44:24.183" v="98"/>
          <ac:spMkLst>
            <pc:docMk/>
            <pc:sldMk cId="1727142192" sldId="341"/>
            <ac:spMk id="3" creationId="{364B6489-5513-4724-81F7-F874B8C60D21}"/>
          </ac:spMkLst>
        </pc:spChg>
      </pc:sldChg>
      <pc:sldChg chg="modSp modAnim">
        <pc:chgData name="Bryan Sun" userId="851caa7714272873" providerId="LiveId" clId="{B50E7222-C0AE-4524-B20D-F0EA36E58E5A}" dt="2023-10-10T09:58:54.830" v="1026" actId="20577"/>
        <pc:sldMkLst>
          <pc:docMk/>
          <pc:sldMk cId="4104230442" sldId="489"/>
        </pc:sldMkLst>
        <pc:spChg chg="mod">
          <ac:chgData name="Bryan Sun" userId="851caa7714272873" providerId="LiveId" clId="{B50E7222-C0AE-4524-B20D-F0EA36E58E5A}" dt="2023-10-10T09:58:54.830" v="1026" actId="20577"/>
          <ac:spMkLst>
            <pc:docMk/>
            <pc:sldMk cId="4104230442" sldId="489"/>
            <ac:spMk id="3" creationId="{364B6489-5513-4724-81F7-F874B8C60D21}"/>
          </ac:spMkLst>
        </pc:spChg>
      </pc:sldChg>
      <pc:sldChg chg="modSp">
        <pc:chgData name="Bryan Sun" userId="851caa7714272873" providerId="LiveId" clId="{B50E7222-C0AE-4524-B20D-F0EA36E58E5A}" dt="2023-10-09T11:44:24.183" v="98"/>
        <pc:sldMkLst>
          <pc:docMk/>
          <pc:sldMk cId="2317524128" sldId="570"/>
        </pc:sldMkLst>
        <pc:spChg chg="mod">
          <ac:chgData name="Bryan Sun" userId="851caa7714272873" providerId="LiveId" clId="{B50E7222-C0AE-4524-B20D-F0EA36E58E5A}" dt="2023-10-09T11:44:24.183" v="98"/>
          <ac:spMkLst>
            <pc:docMk/>
            <pc:sldMk cId="2317524128" sldId="570"/>
            <ac:spMk id="2" creationId="{42D00FBD-1222-496C-8A0C-0B68A7CB6094}"/>
          </ac:spMkLst>
        </pc:spChg>
        <pc:spChg chg="mod">
          <ac:chgData name="Bryan Sun" userId="851caa7714272873" providerId="LiveId" clId="{B50E7222-C0AE-4524-B20D-F0EA36E58E5A}" dt="2023-10-09T11:44:15.915" v="97"/>
          <ac:spMkLst>
            <pc:docMk/>
            <pc:sldMk cId="2317524128" sldId="570"/>
            <ac:spMk id="3" creationId="{364B6489-5513-4724-81F7-F874B8C60D21}"/>
          </ac:spMkLst>
        </pc:spChg>
      </pc:sldChg>
      <pc:sldChg chg="modSp mod modAnim">
        <pc:chgData name="Bryan Sun" userId="851caa7714272873" providerId="LiveId" clId="{B50E7222-C0AE-4524-B20D-F0EA36E58E5A}" dt="2023-10-10T09:59:03.105" v="1037" actId="20577"/>
        <pc:sldMkLst>
          <pc:docMk/>
          <pc:sldMk cId="2895807733" sldId="571"/>
        </pc:sldMkLst>
        <pc:spChg chg="mod">
          <ac:chgData name="Bryan Sun" userId="851caa7714272873" providerId="LiveId" clId="{B50E7222-C0AE-4524-B20D-F0EA36E58E5A}" dt="2023-10-10T09:59:03.105" v="1037" actId="20577"/>
          <ac:spMkLst>
            <pc:docMk/>
            <pc:sldMk cId="2895807733" sldId="571"/>
            <ac:spMk id="3" creationId="{364B6489-5513-4724-81F7-F874B8C60D21}"/>
          </ac:spMkLst>
        </pc:spChg>
        <pc:graphicFrameChg chg="modGraphic">
          <ac:chgData name="Bryan Sun" userId="851caa7714272873" providerId="LiveId" clId="{B50E7222-C0AE-4524-B20D-F0EA36E58E5A}" dt="2023-10-09T11:47:32.554" v="108" actId="20577"/>
          <ac:graphicFrameMkLst>
            <pc:docMk/>
            <pc:sldMk cId="2895807733" sldId="571"/>
            <ac:graphicFrameMk id="4" creationId="{41F5C63D-9E5D-6648-B58C-5C959BDE19F0}"/>
          </ac:graphicFrameMkLst>
        </pc:graphicFrameChg>
      </pc:sldChg>
      <pc:sldChg chg="modSp mod modAnim">
        <pc:chgData name="Bryan Sun" userId="851caa7714272873" providerId="LiveId" clId="{B50E7222-C0AE-4524-B20D-F0EA36E58E5A}" dt="2023-10-10T09:59:10.777" v="1046" actId="20577"/>
        <pc:sldMkLst>
          <pc:docMk/>
          <pc:sldMk cId="3404122733" sldId="572"/>
        </pc:sldMkLst>
        <pc:spChg chg="mod">
          <ac:chgData name="Bryan Sun" userId="851caa7714272873" providerId="LiveId" clId="{B50E7222-C0AE-4524-B20D-F0EA36E58E5A}" dt="2023-10-10T09:59:10.777" v="1046" actId="20577"/>
          <ac:spMkLst>
            <pc:docMk/>
            <pc:sldMk cId="3404122733" sldId="572"/>
            <ac:spMk id="3" creationId="{364B6489-5513-4724-81F7-F874B8C60D21}"/>
          </ac:spMkLst>
        </pc:spChg>
      </pc:sldChg>
      <pc:sldChg chg="modSp mod modAnim">
        <pc:chgData name="Bryan Sun" userId="851caa7714272873" providerId="LiveId" clId="{B50E7222-C0AE-4524-B20D-F0EA36E58E5A}" dt="2023-10-10T09:00:11.580" v="447" actId="20577"/>
        <pc:sldMkLst>
          <pc:docMk/>
          <pc:sldMk cId="3341486634" sldId="573"/>
        </pc:sldMkLst>
        <pc:spChg chg="mod">
          <ac:chgData name="Bryan Sun" userId="851caa7714272873" providerId="LiveId" clId="{B50E7222-C0AE-4524-B20D-F0EA36E58E5A}" dt="2023-10-10T09:00:11.580" v="447" actId="20577"/>
          <ac:spMkLst>
            <pc:docMk/>
            <pc:sldMk cId="3341486634" sldId="573"/>
            <ac:spMk id="3" creationId="{364B6489-5513-4724-81F7-F874B8C60D21}"/>
          </ac:spMkLst>
        </pc:spChg>
      </pc:sldChg>
      <pc:sldChg chg="modSp modAnim">
        <pc:chgData name="Bryan Sun" userId="851caa7714272873" providerId="LiveId" clId="{B50E7222-C0AE-4524-B20D-F0EA36E58E5A}" dt="2023-10-10T09:59:21.662" v="1055" actId="20577"/>
        <pc:sldMkLst>
          <pc:docMk/>
          <pc:sldMk cId="2241449613" sldId="574"/>
        </pc:sldMkLst>
        <pc:spChg chg="mod">
          <ac:chgData name="Bryan Sun" userId="851caa7714272873" providerId="LiveId" clId="{B50E7222-C0AE-4524-B20D-F0EA36E58E5A}" dt="2023-10-10T09:59:21.662" v="1055" actId="20577"/>
          <ac:spMkLst>
            <pc:docMk/>
            <pc:sldMk cId="2241449613" sldId="574"/>
            <ac:spMk id="3" creationId="{364B6489-5513-4724-81F7-F874B8C60D21}"/>
          </ac:spMkLst>
        </pc:spChg>
      </pc:sldChg>
      <pc:sldChg chg="modSp mod modAnim">
        <pc:chgData name="Bryan Sun" userId="851caa7714272873" providerId="LiveId" clId="{B50E7222-C0AE-4524-B20D-F0EA36E58E5A}" dt="2023-10-10T09:04:49.228" v="614" actId="14100"/>
        <pc:sldMkLst>
          <pc:docMk/>
          <pc:sldMk cId="1867613805" sldId="575"/>
        </pc:sldMkLst>
        <pc:spChg chg="mod">
          <ac:chgData name="Bryan Sun" userId="851caa7714272873" providerId="LiveId" clId="{B50E7222-C0AE-4524-B20D-F0EA36E58E5A}" dt="2023-10-10T09:02:08.281" v="483" actId="20577"/>
          <ac:spMkLst>
            <pc:docMk/>
            <pc:sldMk cId="1867613805" sldId="575"/>
            <ac:spMk id="2" creationId="{42D00FBD-1222-496C-8A0C-0B68A7CB6094}"/>
          </ac:spMkLst>
        </pc:spChg>
        <pc:spChg chg="mod">
          <ac:chgData name="Bryan Sun" userId="851caa7714272873" providerId="LiveId" clId="{B50E7222-C0AE-4524-B20D-F0EA36E58E5A}" dt="2023-10-10T09:04:41.491" v="612"/>
          <ac:spMkLst>
            <pc:docMk/>
            <pc:sldMk cId="1867613805" sldId="575"/>
            <ac:spMk id="3" creationId="{364B6489-5513-4724-81F7-F874B8C60D21}"/>
          </ac:spMkLst>
        </pc:spChg>
        <pc:picChg chg="mod">
          <ac:chgData name="Bryan Sun" userId="851caa7714272873" providerId="LiveId" clId="{B50E7222-C0AE-4524-B20D-F0EA36E58E5A}" dt="2023-10-10T09:04:49.228" v="614" actId="14100"/>
          <ac:picMkLst>
            <pc:docMk/>
            <pc:sldMk cId="1867613805" sldId="575"/>
            <ac:picMk id="5" creationId="{D94E7C73-66EF-E84F-8EFC-693D774E23E9}"/>
          </ac:picMkLst>
        </pc:picChg>
      </pc:sldChg>
      <pc:sldChg chg="modSp mod">
        <pc:chgData name="Bryan Sun" userId="851caa7714272873" providerId="LiveId" clId="{B50E7222-C0AE-4524-B20D-F0EA36E58E5A}" dt="2023-10-10T09:07:16.742" v="722" actId="6549"/>
        <pc:sldMkLst>
          <pc:docMk/>
          <pc:sldMk cId="3419663236" sldId="576"/>
        </pc:sldMkLst>
        <pc:spChg chg="mod">
          <ac:chgData name="Bryan Sun" userId="851caa7714272873" providerId="LiveId" clId="{B50E7222-C0AE-4524-B20D-F0EA36E58E5A}" dt="2023-10-10T09:07:16.742" v="722" actId="6549"/>
          <ac:spMkLst>
            <pc:docMk/>
            <pc:sldMk cId="3419663236" sldId="576"/>
            <ac:spMk id="3" creationId="{364B6489-5513-4724-81F7-F874B8C60D21}"/>
          </ac:spMkLst>
        </pc:spChg>
      </pc:sldChg>
      <pc:sldChg chg="modSp modAnim">
        <pc:chgData name="Bryan Sun" userId="851caa7714272873" providerId="LiveId" clId="{B50E7222-C0AE-4524-B20D-F0EA36E58E5A}" dt="2023-10-10T09:10:10.146" v="838" actId="20577"/>
        <pc:sldMkLst>
          <pc:docMk/>
          <pc:sldMk cId="1749811325" sldId="577"/>
        </pc:sldMkLst>
        <pc:spChg chg="mod">
          <ac:chgData name="Bryan Sun" userId="851caa7714272873" providerId="LiveId" clId="{B50E7222-C0AE-4524-B20D-F0EA36E58E5A}" dt="2023-10-10T09:10:10.146" v="838" actId="20577"/>
          <ac:spMkLst>
            <pc:docMk/>
            <pc:sldMk cId="1749811325" sldId="577"/>
            <ac:spMk id="3" creationId="{364B6489-5513-4724-81F7-F874B8C60D21}"/>
          </ac:spMkLst>
        </pc:spChg>
      </pc:sldChg>
      <pc:sldChg chg="modSp modAnim">
        <pc:chgData name="Bryan Sun" userId="851caa7714272873" providerId="LiveId" clId="{B50E7222-C0AE-4524-B20D-F0EA36E58E5A}" dt="2023-10-10T09:13:38.609" v="953" actId="6549"/>
        <pc:sldMkLst>
          <pc:docMk/>
          <pc:sldMk cId="1586143717" sldId="578"/>
        </pc:sldMkLst>
        <pc:spChg chg="mod">
          <ac:chgData name="Bryan Sun" userId="851caa7714272873" providerId="LiveId" clId="{B50E7222-C0AE-4524-B20D-F0EA36E58E5A}" dt="2023-10-10T09:13:38.609" v="953" actId="6549"/>
          <ac:spMkLst>
            <pc:docMk/>
            <pc:sldMk cId="1586143717" sldId="578"/>
            <ac:spMk id="3" creationId="{364B6489-5513-4724-81F7-F874B8C60D21}"/>
          </ac:spMkLst>
        </pc:spChg>
      </pc:sldChg>
      <pc:sldChg chg="modSp mod modAnim">
        <pc:chgData name="Bryan Sun" userId="851caa7714272873" providerId="LiveId" clId="{B50E7222-C0AE-4524-B20D-F0EA36E58E5A}" dt="2023-10-10T10:01:58.021" v="1139" actId="20577"/>
        <pc:sldMkLst>
          <pc:docMk/>
          <pc:sldMk cId="424415588" sldId="580"/>
        </pc:sldMkLst>
        <pc:spChg chg="mod">
          <ac:chgData name="Bryan Sun" userId="851caa7714272873" providerId="LiveId" clId="{B50E7222-C0AE-4524-B20D-F0EA36E58E5A}" dt="2023-10-09T11:44:24.183" v="98"/>
          <ac:spMkLst>
            <pc:docMk/>
            <pc:sldMk cId="424415588" sldId="580"/>
            <ac:spMk id="2" creationId="{42D00FBD-1222-496C-8A0C-0B68A7CB6094}"/>
          </ac:spMkLst>
        </pc:spChg>
        <pc:spChg chg="mod">
          <ac:chgData name="Bryan Sun" userId="851caa7714272873" providerId="LiveId" clId="{B50E7222-C0AE-4524-B20D-F0EA36E58E5A}" dt="2023-10-10T10:01:58.021" v="1139" actId="20577"/>
          <ac:spMkLst>
            <pc:docMk/>
            <pc:sldMk cId="424415588" sldId="580"/>
            <ac:spMk id="3" creationId="{364B6489-5513-4724-81F7-F874B8C60D21}"/>
          </ac:spMkLst>
        </pc:spChg>
      </pc:sldChg>
      <pc:sldChg chg="modSp modAnim">
        <pc:chgData name="Bryan Sun" userId="851caa7714272873" providerId="LiveId" clId="{B50E7222-C0AE-4524-B20D-F0EA36E58E5A}" dt="2023-10-10T10:07:08.574" v="1247" actId="6549"/>
        <pc:sldMkLst>
          <pc:docMk/>
          <pc:sldMk cId="2143892705" sldId="582"/>
        </pc:sldMkLst>
        <pc:spChg chg="mod">
          <ac:chgData name="Bryan Sun" userId="851caa7714272873" providerId="LiveId" clId="{B50E7222-C0AE-4524-B20D-F0EA36E58E5A}" dt="2023-10-09T11:44:24.183" v="98"/>
          <ac:spMkLst>
            <pc:docMk/>
            <pc:sldMk cId="2143892705" sldId="582"/>
            <ac:spMk id="2" creationId="{42D00FBD-1222-496C-8A0C-0B68A7CB6094}"/>
          </ac:spMkLst>
        </pc:spChg>
        <pc:spChg chg="mod">
          <ac:chgData name="Bryan Sun" userId="851caa7714272873" providerId="LiveId" clId="{B50E7222-C0AE-4524-B20D-F0EA36E58E5A}" dt="2023-10-10T10:07:08.574" v="1247" actId="6549"/>
          <ac:spMkLst>
            <pc:docMk/>
            <pc:sldMk cId="2143892705" sldId="582"/>
            <ac:spMk id="3" creationId="{364B6489-5513-4724-81F7-F874B8C60D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5F96D6-FA55-624D-B44D-F8DE87DB0979}" type="datetimeFigureOut">
              <a:rPr kumimoji="1" lang="zh-CN" altLang="en-US" smtClean="0"/>
              <a:t>2023/10/10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8AB3B4-3F1A-0842-9D05-D5B8D8723857}" type="slidenum">
              <a:rPr kumimoji="1" lang="zh-CN" altLang="en-US" smtClean="0"/>
              <a:t>‹#›</a:t>
            </a:fld>
            <a:endParaRPr kumimoji="1" lang="zh-CN" altLang="en-US"/>
          </a:p>
        </p:txBody>
      </p:sp>
    </p:spTree>
    <p:extLst>
      <p:ext uri="{BB962C8B-B14F-4D97-AF65-F5344CB8AC3E}">
        <p14:creationId xmlns:p14="http://schemas.microsoft.com/office/powerpoint/2010/main" val="3053608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49452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65450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72006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27508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07592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22180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96705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850194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75253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28250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87974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7800893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75255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5EF4864-2078-5446-9B10-2A811AD52316}"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91433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2CBF5D-5712-C245-2D68-D3294260CB96}"/>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6758C58A-01BD-4F2C-9C48-B528841C47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5EE2E13-AE84-B311-2E67-F78AAC630751}"/>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5" name="页脚占位符 4">
            <a:extLst>
              <a:ext uri="{FF2B5EF4-FFF2-40B4-BE49-F238E27FC236}">
                <a16:creationId xmlns:a16="http://schemas.microsoft.com/office/drawing/2014/main" id="{20AD96E3-7C1E-A0F4-130F-49D49AC3C67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110565B-F0AE-3B25-EFE6-A3B3708A665F}"/>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1773496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DF81FB-4717-4487-A39F-59252A075F9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1724D9F-20F1-9E5A-4A70-BB74E31BD823}"/>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B9C2E82-155D-6226-5536-214A836AC334}"/>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5" name="页脚占位符 4">
            <a:extLst>
              <a:ext uri="{FF2B5EF4-FFF2-40B4-BE49-F238E27FC236}">
                <a16:creationId xmlns:a16="http://schemas.microsoft.com/office/drawing/2014/main" id="{D7FB443E-C5B9-852A-498B-F217603DA77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D9D2D93-794B-253C-9329-C96D1D836F93}"/>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576735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A3E49F-0CCF-9075-4C74-001819C199B3}"/>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7FBCE97B-8A8F-0BAD-CF13-4DB64B7F3B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540B592-0561-B49B-A330-4B9BF3AB69AC}"/>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5" name="页脚占位符 4">
            <a:extLst>
              <a:ext uri="{FF2B5EF4-FFF2-40B4-BE49-F238E27FC236}">
                <a16:creationId xmlns:a16="http://schemas.microsoft.com/office/drawing/2014/main" id="{E82F15A8-F3BD-A6E5-C1C1-9B451D8459F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0BC8C0E-74C9-62AA-FDE2-562F71BF77CF}"/>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2941040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3FF488-6AF8-D6A4-7A08-2F5EF7D47DA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55ADE5A-D8C5-F76E-7192-60971141F432}"/>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B0B1C8EE-9F50-4FDF-D4F3-FC41F0AE48A2}"/>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D74CCFC7-5884-05B2-CAFA-9BA68226729C}"/>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6" name="页脚占位符 5">
            <a:extLst>
              <a:ext uri="{FF2B5EF4-FFF2-40B4-BE49-F238E27FC236}">
                <a16:creationId xmlns:a16="http://schemas.microsoft.com/office/drawing/2014/main" id="{B5AC44B0-224B-FEB1-7FF6-9749A518BC6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BC39657-A82C-9E0D-0038-F479DA2F9F7A}"/>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22682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5599D-1AD7-0367-4CEA-D6CE21BDED0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B2B38FC-C570-5F53-0E4A-08D7F5B1E9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6E1264E6-191C-8694-B269-1A46909A163B}"/>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1508AD82-9CB0-EE5A-11D1-61A9C05A53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C0C2640-C6AA-39A7-56DF-29A92BBCD75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1043227F-E113-5233-6A45-C553E987B562}"/>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8" name="页脚占位符 7">
            <a:extLst>
              <a:ext uri="{FF2B5EF4-FFF2-40B4-BE49-F238E27FC236}">
                <a16:creationId xmlns:a16="http://schemas.microsoft.com/office/drawing/2014/main" id="{061AF47E-ADA7-65FF-C1BE-F5BD4648538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3DA3F732-F3E7-7C60-6F96-C91C3124F22E}"/>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519556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B6B3A0-C241-95CE-1D71-5F5354887E01}"/>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1D6AE272-F188-8853-7E17-A6828534269B}"/>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4" name="页脚占位符 3">
            <a:extLst>
              <a:ext uri="{FF2B5EF4-FFF2-40B4-BE49-F238E27FC236}">
                <a16:creationId xmlns:a16="http://schemas.microsoft.com/office/drawing/2014/main" id="{58AE130B-9609-C06A-3988-0E4C27BC13AD}"/>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BF3810CA-9AD7-867D-427D-1E6F23B406F2}"/>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1565759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38A3E65-8A4B-F402-ED9B-EC0EF4B4D44D}"/>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3" name="页脚占位符 2">
            <a:extLst>
              <a:ext uri="{FF2B5EF4-FFF2-40B4-BE49-F238E27FC236}">
                <a16:creationId xmlns:a16="http://schemas.microsoft.com/office/drawing/2014/main" id="{B8DB2F3A-2ED6-B227-39B1-F9AF1EA1E2A1}"/>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6520F23-F438-1AFE-01C5-22155807D131}"/>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2087263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16995E-550E-E16F-6FC0-E898E8552041}"/>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3834BD8-8A1D-DFE1-B9A0-A4EC5C482E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CF790A7F-3BBB-89D1-FC1E-BCA6351936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16B7953-CA3E-360C-CF65-4C9BFE07BDDD}"/>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6" name="页脚占位符 5">
            <a:extLst>
              <a:ext uri="{FF2B5EF4-FFF2-40B4-BE49-F238E27FC236}">
                <a16:creationId xmlns:a16="http://schemas.microsoft.com/office/drawing/2014/main" id="{8CC147EF-4902-EFA7-3F8B-5A1B762D330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D7C30EE-1507-262B-5CF2-3062359BF181}"/>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3961415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F222FA-A05B-FADB-E05C-89A8EA1EAAF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B5B1FDAF-B99A-C55E-13CB-96C44C3706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36A38F07-5712-B1FA-A11B-BC4C7F677B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80EE79CC-4E02-1723-769A-5818613BD427}"/>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6" name="页脚占位符 5">
            <a:extLst>
              <a:ext uri="{FF2B5EF4-FFF2-40B4-BE49-F238E27FC236}">
                <a16:creationId xmlns:a16="http://schemas.microsoft.com/office/drawing/2014/main" id="{E128C627-367E-E0F0-8238-907531C312E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C665A89-203C-2D21-0E23-38F99466B6E1}"/>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3020305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CAB1F9-EED6-31F6-5A2F-5A67D5FD263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6AA4C0B-BF3F-F75E-F170-B4A768D0E1A3}"/>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A701DF0-D61D-72D9-110B-C9B38D1C87C3}"/>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5" name="页脚占位符 4">
            <a:extLst>
              <a:ext uri="{FF2B5EF4-FFF2-40B4-BE49-F238E27FC236}">
                <a16:creationId xmlns:a16="http://schemas.microsoft.com/office/drawing/2014/main" id="{438D6285-C015-120F-2B0B-1E2B18B27D7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C1F1995-E8CB-E160-0D7F-A45B403ED795}"/>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1373657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D9D9D23-513F-AA4E-7345-100A8F588483}"/>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B7A6248-5360-FE0B-F9EE-018130996A9D}"/>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16FE4E2-BE89-3316-0889-BDE692A50E18}"/>
              </a:ext>
            </a:extLst>
          </p:cNvPr>
          <p:cNvSpPr>
            <a:spLocks noGrp="1"/>
          </p:cNvSpPr>
          <p:nvPr>
            <p:ph type="dt" sz="half" idx="10"/>
          </p:nvPr>
        </p:nvSpPr>
        <p:spPr/>
        <p:txBody>
          <a:bodyPr/>
          <a:lstStyle/>
          <a:p>
            <a:fld id="{1B4595F3-21DE-EF42-B7E2-323A4C201D08}" type="datetimeFigureOut">
              <a:rPr kumimoji="1" lang="zh-CN" altLang="en-US" smtClean="0"/>
              <a:t>2023/10/10</a:t>
            </a:fld>
            <a:endParaRPr kumimoji="1" lang="zh-CN" altLang="en-US"/>
          </a:p>
        </p:txBody>
      </p:sp>
      <p:sp>
        <p:nvSpPr>
          <p:cNvPr id="5" name="页脚占位符 4">
            <a:extLst>
              <a:ext uri="{FF2B5EF4-FFF2-40B4-BE49-F238E27FC236}">
                <a16:creationId xmlns:a16="http://schemas.microsoft.com/office/drawing/2014/main" id="{3CBA0BB7-0370-89D0-324D-5962D2AA4CF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3D47817-F82F-A28B-F621-8C59E2795778}"/>
              </a:ext>
            </a:extLst>
          </p:cNvPr>
          <p:cNvSpPr>
            <a:spLocks noGrp="1"/>
          </p:cNvSpPr>
          <p:nvPr>
            <p:ph type="sldNum" sz="quarter" idx="12"/>
          </p:nvPr>
        </p:nvSpPr>
        <p:spPr/>
        <p:txBody>
          <a:body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2873001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12192000" cy="6857999"/>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077511" y="5410201"/>
            <a:ext cx="2743200" cy="365125"/>
          </a:xfrm>
          <a:prstGeom prst="rect">
            <a:avLst/>
          </a:prstGeom>
        </p:spPr>
        <p:txBody>
          <a:bodyPr/>
          <a:lstStyle/>
          <a:p>
            <a:fld id="{48A87A34-81AB-432B-8DAE-1953F412C126}" type="datetimeFigureOut">
              <a:rPr lang="en-US" dirty="0"/>
              <a:t>10/10/2023</a:t>
            </a:fld>
            <a:endParaRPr lang="en-US" dirty="0"/>
          </a:p>
        </p:txBody>
      </p:sp>
      <p:sp>
        <p:nvSpPr>
          <p:cNvPr id="5" name="Footer Placeholder 4"/>
          <p:cNvSpPr>
            <a:spLocks noGrp="1"/>
          </p:cNvSpPr>
          <p:nvPr>
            <p:ph type="ftr" sz="quarter" idx="11"/>
          </p:nvPr>
        </p:nvSpPr>
        <p:spPr>
          <a:xfrm>
            <a:off x="1876424" y="5410201"/>
            <a:ext cx="5124886"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5884418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60159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1453058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48169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41410" y="3073397"/>
            <a:ext cx="4878391"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3073397"/>
            <a:ext cx="4875210" cy="2717801"/>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8" name="Footer Placeholder 7"/>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471662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92663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3" name="Footer Placeholder 2"/>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3844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946218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493705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CN" altLang="en-US"/>
              <a:t>单击图标添加图片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3912983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348531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CN" altLang="en-US"/>
              <a:t>单击此处编辑母版标题样式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58347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6" name="Footer Placeholder 5"/>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8220221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栏">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CN" altLang="en-US"/>
              <a:t>单击此处编辑母版标题样式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2467221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图片栏">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CN" altLang="en-US"/>
              <a:t>单击此处编辑母版标题样式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CN" altLang="en-US"/>
              <a:t>单击图标添加图片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3" name="Date Placeholder 2"/>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4" name="Footer Placeholder 3"/>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9575651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2034203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7456921" y="5883276"/>
            <a:ext cx="2743200" cy="365125"/>
          </a:xfrm>
          <a:prstGeom prst="rect">
            <a:avLst/>
          </a:prstGeom>
        </p:spPr>
        <p:txBody>
          <a:bodyPr/>
          <a:lstStyle/>
          <a:p>
            <a:fld id="{48A87A34-81AB-432B-8DAE-1953F412C126}" type="datetimeFigureOut">
              <a:rPr lang="en-US" dirty="0"/>
              <a:t>10/10/2023</a:t>
            </a:fld>
            <a:endParaRPr lang="en-US" dirty="0"/>
          </a:p>
        </p:txBody>
      </p:sp>
      <p:sp>
        <p:nvSpPr>
          <p:cNvPr id="5" name="Footer Placeholder 4"/>
          <p:cNvSpPr>
            <a:spLocks noGrp="1"/>
          </p:cNvSpPr>
          <p:nvPr>
            <p:ph type="ftr" sz="quarter" idx="11"/>
          </p:nvPr>
        </p:nvSpPr>
        <p:spPr>
          <a:xfrm>
            <a:off x="1141411" y="5883275"/>
            <a:ext cx="6239309"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10276321" y="5883274"/>
            <a:ext cx="771089" cy="365125"/>
          </a:xfrm>
          <a:prstGeom prst="rect">
            <a:avLst/>
          </a:prstGeo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991836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1E3259F-E556-4AB5-DAD8-60E5AA2ACB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AD65FB3E-70E6-23B6-E8FD-B0AA78A1D0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15D4BBA1-9B71-DEAC-B401-CE514ECDC1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4595F3-21DE-EF42-B7E2-323A4C201D08}" type="datetimeFigureOut">
              <a:rPr kumimoji="1" lang="zh-CN" altLang="en-US" smtClean="0"/>
              <a:t>2023/10/10</a:t>
            </a:fld>
            <a:endParaRPr kumimoji="1" lang="zh-CN" altLang="en-US"/>
          </a:p>
        </p:txBody>
      </p:sp>
      <p:sp>
        <p:nvSpPr>
          <p:cNvPr id="5" name="页脚占位符 4">
            <a:extLst>
              <a:ext uri="{FF2B5EF4-FFF2-40B4-BE49-F238E27FC236}">
                <a16:creationId xmlns:a16="http://schemas.microsoft.com/office/drawing/2014/main" id="{AB98F3FE-FB43-7A72-63F4-A4954C87AC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43FC03CA-889A-0112-8EFB-A3AC8FC2D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57D8AE-6180-3D4B-A004-B8C9F5CC5E82}" type="slidenum">
              <a:rPr kumimoji="1" lang="zh-CN" altLang="en-US" smtClean="0"/>
              <a:t>‹#›</a:t>
            </a:fld>
            <a:endParaRPr kumimoji="1" lang="zh-CN" altLang="en-US"/>
          </a:p>
        </p:txBody>
      </p:sp>
    </p:spTree>
    <p:extLst>
      <p:ext uri="{BB962C8B-B14F-4D97-AF65-F5344CB8AC3E}">
        <p14:creationId xmlns:p14="http://schemas.microsoft.com/office/powerpoint/2010/main" val="26758318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130B2939-4C80-4B53-A9F0-B6A7EC450041}"/>
              </a:ext>
            </a:extLst>
          </p:cNvPr>
          <p:cNvPicPr>
            <a:picLocks noChangeAspect="1"/>
          </p:cNvPicPr>
          <p:nvPr userDrawn="1"/>
        </p:nvPicPr>
        <p:blipFill>
          <a:blip r:embed="rId19"/>
          <a:stretch>
            <a:fillRect/>
          </a:stretch>
        </p:blipFill>
        <p:spPr>
          <a:xfrm>
            <a:off x="0" y="0"/>
            <a:ext cx="12191999" cy="6858000"/>
          </a:xfrm>
          <a:prstGeom prst="rect">
            <a:avLst/>
          </a:prstGeom>
        </p:spPr>
      </p:pic>
      <p:sp>
        <p:nvSpPr>
          <p:cNvPr id="2" name="Title Placeholder 1"/>
          <p:cNvSpPr>
            <a:spLocks noGrp="1"/>
          </p:cNvSpPr>
          <p:nvPr>
            <p:ph type="title"/>
          </p:nvPr>
        </p:nvSpPr>
        <p:spPr>
          <a:xfrm>
            <a:off x="678609" y="7541"/>
            <a:ext cx="10368800"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678612" y="1486111"/>
            <a:ext cx="10368800" cy="510447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16832406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bg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bg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AU" altLang="en-US" dirty="0"/>
              <a:t>Recurrence</a:t>
            </a:r>
            <a:endParaRPr lang="en" altLang="en-US" dirty="0"/>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948786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AU" altLang="en-US" dirty="0">
                <a:solidFill>
                  <a:schemeClr val="bg1"/>
                </a:solidFill>
              </a:rPr>
              <a:t>Recurrence</a:t>
            </a:r>
            <a:endParaRPr lang="en" altLang="en-US" dirty="0">
              <a:solidFill>
                <a:schemeClr val="bg1"/>
              </a:solidFill>
            </a:endParaRP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r>
              <a:rPr lang="en" altLang="en-US" dirty="0">
                <a:latin typeface="Arial" panose="020B0604020202020204" pitchFamily="34" charset="0"/>
                <a:cs typeface="Arial" panose="020B0604020202020204" pitchFamily="34" charset="0"/>
              </a:rPr>
              <a:t>A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algorithm is a method of describing complex problems using a number of repeatable operations.</a:t>
            </a:r>
            <a:endParaRPr lang="en-US" altLang="zh-CN" dirty="0">
              <a:latin typeface="Arial" panose="020B0604020202020204" pitchFamily="34" charset="0"/>
              <a:cs typeface="Arial" panose="020B0604020202020204" pitchFamily="34" charset="0"/>
            </a:endParaRPr>
          </a:p>
          <a:p>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is a commonly used algorithm in sequence calculations, usually by calculating some previous items to obtain the value of a specified item in the sequence.</a:t>
            </a:r>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The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algorithm is a simple algorithm, that is, an algorithm that uses specific relationships to draw intermediate inferences through known conditions until the result is obtained.</a:t>
            </a:r>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There are two types of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algorithms: forward and reverse.</a:t>
            </a:r>
            <a:endParaRPr lang="en-US" altLang="zh-C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714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p:txBody>
          <a:bodyPr/>
          <a:lstStyle/>
          <a:p>
            <a:r>
              <a:rPr lang="en" altLang="en-US" dirty="0">
                <a:solidFill>
                  <a:schemeClr val="bg1"/>
                </a:solidFill>
              </a:rPr>
              <a:t>Two elements of the </a:t>
            </a:r>
            <a:r>
              <a:rPr lang="en-AU" altLang="en-US" dirty="0">
                <a:solidFill>
                  <a:schemeClr val="bg1"/>
                </a:solidFill>
              </a:rPr>
              <a:t>Recurrence</a:t>
            </a:r>
            <a:r>
              <a:rPr lang="en" altLang="en-US" dirty="0">
                <a:solidFill>
                  <a:schemeClr val="bg1"/>
                </a:solidFill>
              </a:rPr>
              <a:t> algorithm</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r>
              <a:rPr lang="en" altLang="en-US" dirty="0">
                <a:latin typeface="+mn-ea"/>
              </a:rPr>
              <a:t>Analyse the problem and derive the </a:t>
            </a:r>
            <a:r>
              <a:rPr lang="en-AU" altLang="en-US" dirty="0">
                <a:latin typeface="+mn-ea"/>
              </a:rPr>
              <a:t>Recurrence</a:t>
            </a:r>
            <a:r>
              <a:rPr lang="en" altLang="en-US" dirty="0">
                <a:latin typeface="+mn-ea"/>
              </a:rPr>
              <a:t> relationship (</a:t>
            </a:r>
            <a:r>
              <a:rPr lang="en-AU" altLang="en-US" dirty="0">
                <a:latin typeface="+mn-ea"/>
              </a:rPr>
              <a:t>Recurrence</a:t>
            </a:r>
            <a:r>
              <a:rPr lang="en" altLang="en-US" dirty="0">
                <a:latin typeface="+mn-ea"/>
              </a:rPr>
              <a:t> equation) and initial values.</a:t>
            </a:r>
            <a:endParaRPr lang="en-US" altLang="zh-CN" dirty="0">
              <a:latin typeface="+mn-ea"/>
            </a:endParaRPr>
          </a:p>
          <a:p>
            <a:r>
              <a:rPr lang="en" altLang="en-US" dirty="0">
                <a:latin typeface="+mn-ea"/>
              </a:rPr>
              <a:t>Determine the order of </a:t>
            </a:r>
            <a:r>
              <a:rPr lang="en-AU" altLang="en-US" dirty="0">
                <a:latin typeface="+mn-ea"/>
              </a:rPr>
              <a:t>Recurrence</a:t>
            </a:r>
            <a:r>
              <a:rPr lang="en" altLang="en-US" dirty="0">
                <a:latin typeface="+mn-ea"/>
              </a:rPr>
              <a:t>.</a:t>
            </a:r>
            <a:endParaRPr lang="en-US" altLang="zh-CN" dirty="0">
              <a:latin typeface="+mn-ea"/>
            </a:endParaRPr>
          </a:p>
        </p:txBody>
      </p:sp>
    </p:spTree>
    <p:extLst>
      <p:ext uri="{BB962C8B-B14F-4D97-AF65-F5344CB8AC3E}">
        <p14:creationId xmlns:p14="http://schemas.microsoft.com/office/powerpoint/2010/main" val="231752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Fibonacci Sequence</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14:m>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is the </a:t>
                </a:r>
                <a14:m>
                  <m:oMath xmlns:m="http://schemas.openxmlformats.org/officeDocument/2006/math">
                    <m:r>
                      <a:rPr lang="en-US" altLang="zh-CN">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-th Fibonacci number, the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relationship and initial values are as follows:</a:t>
                </a:r>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=0</m:t>
                      </m:r>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=1</m:t>
                      </m:r>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−2)</m:t>
                      </m:r>
                    </m:oMath>
                  </m:oMathPara>
                </a14:m>
                <a:endParaRPr lang="en-US" altLang="zh-CN" b="0"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order: </a:t>
                </a:r>
                <a14:m>
                  <m:oMath xmlns:m="http://schemas.openxmlformats.org/officeDocument/2006/math">
                    <m:r>
                      <a:rPr lang="en-US" altLang="zh-CN" i="1">
                        <a:latin typeface="Cambria Math" panose="02040503050406030204" pitchFamily="18" charset="0"/>
                      </a:rPr>
                      <m:t>𝑖</m:t>
                    </m:r>
                    <m:r>
                      <a:rPr lang="en-AU" altLang="zh-CN" b="0" i="1" smtClean="0">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ascending</a:t>
                </a:r>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nvGraphicFramePr>
            <p:xfrm>
              <a:off x="2032000" y="4682064"/>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mn-ea"/>
                                  </a:rPr>
                                  <m:t>𝒊</m:t>
                                </m:r>
                              </m:oMath>
                            </m:oMathPara>
                          </a14:m>
                          <a:endParaRPr lang="zh-CN" altLang="en-US" dirty="0">
                            <a:solidFill>
                              <a:schemeClr val="bg1"/>
                            </a:solidFill>
                            <a:latin typeface="+mn-ea"/>
                            <a:ea typeface="+mn-ea"/>
                          </a:endParaRPr>
                        </a:p>
                      </a:txBody>
                      <a:tcPr/>
                    </a:tc>
                    <a:tc>
                      <a:txBody>
                        <a:bodyPr/>
                        <a:lstStyle/>
                        <a:p>
                          <a:pPr algn="ctr"/>
                          <a:r>
                            <a:rPr lang="en" altLang="zh-CN" dirty="0">
                              <a:latin typeface="+mn-ea"/>
                              <a:ea typeface="+mn-ea"/>
                            </a:rPr>
                            <a:t>0</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3</a:t>
                          </a:r>
                          <a:endParaRPr lang="zh-CN" altLang="en-US" dirty="0">
                            <a:latin typeface="+mn-ea"/>
                            <a:ea typeface="+mn-ea"/>
                          </a:endParaRPr>
                        </a:p>
                      </a:txBody>
                      <a:tcPr/>
                    </a:tc>
                    <a:tc>
                      <a:txBody>
                        <a:bodyPr/>
                        <a:lstStyle/>
                        <a:p>
                          <a:pPr algn="ctr"/>
                          <a:r>
                            <a:rPr lang="en" altLang="zh-CN" dirty="0">
                              <a:latin typeface="+mn-ea"/>
                              <a:ea typeface="+mn-ea"/>
                            </a:rPr>
                            <a:t>4</a:t>
                          </a:r>
                          <a:endParaRPr lang="zh-CN" altLang="en-US" dirty="0">
                            <a:latin typeface="+mn-ea"/>
                            <a:ea typeface="+mn-ea"/>
                          </a:endParaRPr>
                        </a:p>
                      </a:txBody>
                      <a:tcPr/>
                    </a:tc>
                    <a:tc>
                      <a:txBody>
                        <a:bodyPr/>
                        <a:lstStyle/>
                        <a:p>
                          <a:pPr algn="ctr"/>
                          <a:r>
                            <a:rPr lang="en" altLang="zh-CN" dirty="0">
                              <a:latin typeface="+mn-ea"/>
                              <a:ea typeface="+mn-ea"/>
                            </a:rPr>
                            <a:t>5</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n-ea"/>
                                  </a:rPr>
                                  <m:t>𝑓</m:t>
                                </m:r>
                                <m:d>
                                  <m:dPr>
                                    <m:ctrlPr>
                                      <a:rPr lang="en-US" altLang="zh-CN" i="1">
                                        <a:latin typeface="Cambria Math" panose="02040503050406030204" pitchFamily="18" charset="0"/>
                                        <a:ea typeface="+mn-ea"/>
                                      </a:rPr>
                                    </m:ctrlPr>
                                  </m:dPr>
                                  <m:e>
                                    <m:r>
                                      <a:rPr lang="en-US" altLang="zh-CN" i="1">
                                        <a:latin typeface="Cambria Math" panose="02040503050406030204" pitchFamily="18" charset="0"/>
                                        <a:ea typeface="+mn-ea"/>
                                      </a:rPr>
                                      <m:t>𝑖</m:t>
                                    </m:r>
                                  </m:e>
                                </m:d>
                              </m:oMath>
                            </m:oMathPara>
                          </a14:m>
                          <a:endParaRPr lang="zh-CN" altLang="en-US" dirty="0">
                            <a:latin typeface="+mn-ea"/>
                            <a:ea typeface="+mn-ea"/>
                          </a:endParaRPr>
                        </a:p>
                      </a:txBody>
                      <a:tcPr/>
                    </a:tc>
                    <a:tc>
                      <a:txBody>
                        <a:bodyPr/>
                        <a:lstStyle/>
                        <a:p>
                          <a:pPr algn="ctr"/>
                          <a:r>
                            <a:rPr lang="en" altLang="zh-CN" dirty="0">
                              <a:latin typeface="+mn-ea"/>
                              <a:ea typeface="+mn-ea"/>
                            </a:rPr>
                            <a:t>0</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3</a:t>
                          </a:r>
                          <a:endParaRPr lang="zh-CN" altLang="en-US" dirty="0">
                            <a:latin typeface="+mn-ea"/>
                            <a:ea typeface="+mn-ea"/>
                          </a:endParaRPr>
                        </a:p>
                      </a:txBody>
                      <a:tcPr/>
                    </a:tc>
                    <a:tc>
                      <a:txBody>
                        <a:bodyPr/>
                        <a:lstStyle/>
                        <a:p>
                          <a:pPr algn="ctr"/>
                          <a:r>
                            <a:rPr lang="en" altLang="zh-CN" dirty="0">
                              <a:latin typeface="+mn-ea"/>
                              <a:ea typeface="+mn-ea"/>
                            </a:rPr>
                            <a:t>5</a:t>
                          </a:r>
                          <a:endParaRPr lang="zh-CN" altLang="en-US" dirty="0">
                            <a:latin typeface="+mn-ea"/>
                            <a:ea typeface="+mn-ea"/>
                          </a:endParaRPr>
                        </a:p>
                      </a:txBody>
                      <a:tcPr/>
                    </a:tc>
                    <a:tc>
                      <a:txBody>
                        <a:bodyPr/>
                        <a:lstStyle/>
                        <a:p>
                          <a:pPr algn="ctr"/>
                          <a:r>
                            <a:rPr lang="en" altLang="zh-CN" dirty="0">
                              <a:latin typeface="+mn-ea"/>
                              <a:ea typeface="+mn-ea"/>
                            </a:rPr>
                            <a:t>8</a:t>
                          </a:r>
                          <a:endParaRPr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Choice>
        <mc:Fallback xmlns="">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extLst>
                  <p:ext uri="{D42A27DB-BD31-4B8C-83A1-F6EECF244321}">
                    <p14:modId xmlns:p14="http://schemas.microsoft.com/office/powerpoint/2010/main" val="1938923670"/>
                  </p:ext>
                </p:extLst>
              </p:nvPr>
            </p:nvGraphicFramePr>
            <p:xfrm>
              <a:off x="2032000" y="4682064"/>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endParaRPr lang="zh-CN"/>
                        </a:p>
                      </a:txBody>
                      <a:tcPr>
                        <a:blipFill>
                          <a:blip r:embed="rId4"/>
                          <a:stretch>
                            <a:fillRect l="-1250" t="-6667" r="-701250" b="-120000"/>
                          </a:stretch>
                        </a:blipFill>
                      </a:tcPr>
                    </a:tc>
                    <a:tc>
                      <a:txBody>
                        <a:bodyPr/>
                        <a:lstStyle/>
                        <a:p>
                          <a:pPr xmlns:a="http://schemas.openxmlformats.org/drawingml/2006/main" algn="ctr"/>
                          <a:r xmlns:a="http://schemas.openxmlformats.org/drawingml/2006/main">
                            <a:rPr lang="en" altLang="zh-CN" dirty="0">
                              <a:latin typeface="+mn-ea"/>
                              <a:ea typeface="+mn-ea"/>
                            </a:rPr>
                            <a:t>0</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2</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3</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4</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5</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6</a:t>
                          </a:r>
                          <a:endParaRPr xmlns:a="http://schemas.openxmlformats.org/drawingml/2006/main"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endParaRPr lang="zh-CN"/>
                        </a:p>
                      </a:txBody>
                      <a:tcPr>
                        <a:blipFill>
                          <a:blip r:embed="rId4"/>
                          <a:stretch>
                            <a:fillRect l="-1250" t="-106667" r="-701250" b="-20000"/>
                          </a:stretch>
                        </a:blipFill>
                      </a:tcPr>
                    </a:tc>
                    <a:tc>
                      <a:txBody>
                        <a:bodyPr/>
                        <a:lstStyle/>
                        <a:p>
                          <a:pPr xmlns:a="http://schemas.openxmlformats.org/drawingml/2006/main" algn="ctr"/>
                          <a:r xmlns:a="http://schemas.openxmlformats.org/drawingml/2006/main">
                            <a:rPr lang="en" altLang="zh-CN" dirty="0">
                              <a:latin typeface="+mn-ea"/>
                              <a:ea typeface="+mn-ea"/>
                            </a:rPr>
                            <a:t>0</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2</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3</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5</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8</a:t>
                          </a:r>
                          <a:endParaRPr xmlns:a="http://schemas.openxmlformats.org/drawingml/2006/main"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Fallback>
      </mc:AlternateContent>
    </p:spTree>
    <p:extLst>
      <p:ext uri="{BB962C8B-B14F-4D97-AF65-F5344CB8AC3E}">
        <p14:creationId xmlns:p14="http://schemas.microsoft.com/office/powerpoint/2010/main" val="4104230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factorial</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14:m>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is the factorial of </a:t>
                </a:r>
                <a14:m>
                  <m:oMath xmlns:m="http://schemas.openxmlformats.org/officeDocument/2006/math">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relation and initial value:</a:t>
                </a:r>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=1</m:t>
                      </m:r>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oMath>
                  </m:oMathPara>
                </a14:m>
                <a:endParaRPr lang="en-US" altLang="zh-CN" b="0"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order: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ascending</a:t>
                </a:r>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extLst>
                  <p:ext uri="{D42A27DB-BD31-4B8C-83A1-F6EECF244321}">
                    <p14:modId xmlns:p14="http://schemas.microsoft.com/office/powerpoint/2010/main" val="976972300"/>
                  </p:ext>
                </p:extLst>
              </p:nvPr>
            </p:nvGraphicFramePr>
            <p:xfrm>
              <a:off x="2032000" y="4489560"/>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mn-ea"/>
                                  </a:rPr>
                                  <m:t>𝒊</m:t>
                                </m:r>
                              </m:oMath>
                            </m:oMathPara>
                          </a14:m>
                          <a:endParaRPr lang="zh-CN" altLang="en-US" dirty="0">
                            <a:solidFill>
                              <a:schemeClr val="bg1"/>
                            </a:solidFill>
                            <a:latin typeface="+mn-ea"/>
                            <a:ea typeface="+mn-ea"/>
                          </a:endParaRPr>
                        </a:p>
                      </a:txBody>
                      <a:tcPr/>
                    </a:tc>
                    <a:tc>
                      <a:txBody>
                        <a:bodyPr/>
                        <a:lstStyle/>
                        <a:p>
                          <a:pPr algn="ctr"/>
                          <a:r>
                            <a:rPr lang="en" altLang="zh-CN" dirty="0">
                              <a:latin typeface="+mn-ea"/>
                              <a:ea typeface="+mn-ea"/>
                            </a:rPr>
                            <a:t>0</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3</a:t>
                          </a:r>
                          <a:endParaRPr lang="zh-CN" altLang="en-US" dirty="0">
                            <a:latin typeface="+mn-ea"/>
                            <a:ea typeface="+mn-ea"/>
                          </a:endParaRPr>
                        </a:p>
                      </a:txBody>
                      <a:tcPr/>
                    </a:tc>
                    <a:tc>
                      <a:txBody>
                        <a:bodyPr/>
                        <a:lstStyle/>
                        <a:p>
                          <a:pPr algn="ctr"/>
                          <a:r>
                            <a:rPr lang="en" altLang="zh-CN" dirty="0">
                              <a:latin typeface="+mn-ea"/>
                              <a:ea typeface="+mn-ea"/>
                            </a:rPr>
                            <a:t>4</a:t>
                          </a:r>
                          <a:endParaRPr lang="zh-CN" altLang="en-US" dirty="0">
                            <a:latin typeface="+mn-ea"/>
                            <a:ea typeface="+mn-ea"/>
                          </a:endParaRPr>
                        </a:p>
                      </a:txBody>
                      <a:tcPr/>
                    </a:tc>
                    <a:tc>
                      <a:txBody>
                        <a:bodyPr/>
                        <a:lstStyle/>
                        <a:p>
                          <a:pPr algn="ctr"/>
                          <a:r>
                            <a:rPr lang="en" altLang="zh-CN" dirty="0">
                              <a:latin typeface="+mn-ea"/>
                              <a:ea typeface="+mn-ea"/>
                            </a:rPr>
                            <a:t>5</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n-ea"/>
                                  </a:rPr>
                                  <m:t>𝑓</m:t>
                                </m:r>
                                <m:d>
                                  <m:dPr>
                                    <m:ctrlPr>
                                      <a:rPr lang="en-US" altLang="zh-CN" i="1">
                                        <a:latin typeface="Cambria Math" panose="02040503050406030204" pitchFamily="18" charset="0"/>
                                        <a:ea typeface="+mn-ea"/>
                                      </a:rPr>
                                    </m:ctrlPr>
                                  </m:dPr>
                                  <m:e>
                                    <m:r>
                                      <a:rPr lang="en-US" altLang="zh-CN" i="1">
                                        <a:latin typeface="Cambria Math" panose="02040503050406030204" pitchFamily="18" charset="0"/>
                                        <a:ea typeface="+mn-ea"/>
                                      </a:rPr>
                                      <m:t>𝑖</m:t>
                                    </m:r>
                                  </m:e>
                                </m:d>
                              </m:oMath>
                            </m:oMathPara>
                          </a14:m>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tc>
                      <a:txBody>
                        <a:bodyPr/>
                        <a:lstStyle/>
                        <a:p>
                          <a:pPr algn="ctr"/>
                          <a:r>
                            <a:rPr lang="en" altLang="zh-CN" dirty="0">
                              <a:latin typeface="+mn-ea"/>
                              <a:ea typeface="+mn-ea"/>
                            </a:rPr>
                            <a:t>24</a:t>
                          </a:r>
                          <a:endParaRPr lang="zh-CN" altLang="en-US" dirty="0">
                            <a:latin typeface="+mn-ea"/>
                            <a:ea typeface="+mn-ea"/>
                          </a:endParaRPr>
                        </a:p>
                      </a:txBody>
                      <a:tcPr/>
                    </a:tc>
                    <a:tc>
                      <a:txBody>
                        <a:bodyPr/>
                        <a:lstStyle/>
                        <a:p>
                          <a:pPr algn="ctr"/>
                          <a:r>
                            <a:rPr lang="en" altLang="zh-CN" dirty="0">
                              <a:latin typeface="+mn-ea"/>
                              <a:ea typeface="+mn-ea"/>
                            </a:rPr>
                            <a:t>120</a:t>
                          </a:r>
                          <a:endParaRPr lang="zh-CN" altLang="en-US" dirty="0">
                            <a:latin typeface="+mn-ea"/>
                            <a:ea typeface="+mn-ea"/>
                          </a:endParaRPr>
                        </a:p>
                      </a:txBody>
                      <a:tcPr/>
                    </a:tc>
                    <a:tc>
                      <a:txBody>
                        <a:bodyPr/>
                        <a:lstStyle/>
                        <a:p>
                          <a:pPr algn="ctr"/>
                          <a:r>
                            <a:rPr lang="en" altLang="zh-CN" dirty="0">
                              <a:latin typeface="+mn-ea"/>
                              <a:ea typeface="+mn-ea"/>
                            </a:rPr>
                            <a:t>720</a:t>
                          </a:r>
                          <a:endParaRPr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Choice>
        <mc:Fallback xmlns="">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extLst>
                  <p:ext uri="{D42A27DB-BD31-4B8C-83A1-F6EECF244321}">
                    <p14:modId xmlns:p14="http://schemas.microsoft.com/office/powerpoint/2010/main" val="976972300"/>
                  </p:ext>
                </p:extLst>
              </p:nvPr>
            </p:nvGraphicFramePr>
            <p:xfrm>
              <a:off x="2032000" y="4489560"/>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endParaRPr lang="en-US"/>
                        </a:p>
                      </a:txBody>
                      <a:tcPr>
                        <a:blipFill>
                          <a:blip r:embed="rId4"/>
                          <a:stretch>
                            <a:fillRect l="-599" t="-8065" r="-700000" b="-120968"/>
                          </a:stretch>
                        </a:blipFill>
                      </a:tcPr>
                    </a:tc>
                    <a:tc>
                      <a:txBody>
                        <a:bodyPr/>
                        <a:lstStyle/>
                        <a:p>
                          <a:pPr algn="ctr"/>
                          <a:r>
                            <a:rPr lang="en" altLang="zh-CN" dirty="0">
                              <a:latin typeface="+mn-ea"/>
                              <a:ea typeface="+mn-ea"/>
                            </a:rPr>
                            <a:t>0</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3</a:t>
                          </a:r>
                          <a:endParaRPr lang="zh-CN" altLang="en-US" dirty="0">
                            <a:latin typeface="+mn-ea"/>
                            <a:ea typeface="+mn-ea"/>
                          </a:endParaRPr>
                        </a:p>
                      </a:txBody>
                      <a:tcPr/>
                    </a:tc>
                    <a:tc>
                      <a:txBody>
                        <a:bodyPr/>
                        <a:lstStyle/>
                        <a:p>
                          <a:pPr algn="ctr"/>
                          <a:r>
                            <a:rPr lang="en" altLang="zh-CN" dirty="0">
                              <a:latin typeface="+mn-ea"/>
                              <a:ea typeface="+mn-ea"/>
                            </a:rPr>
                            <a:t>4</a:t>
                          </a:r>
                          <a:endParaRPr lang="zh-CN" altLang="en-US" dirty="0">
                            <a:latin typeface="+mn-ea"/>
                            <a:ea typeface="+mn-ea"/>
                          </a:endParaRPr>
                        </a:p>
                      </a:txBody>
                      <a:tcPr/>
                    </a:tc>
                    <a:tc>
                      <a:txBody>
                        <a:bodyPr/>
                        <a:lstStyle/>
                        <a:p>
                          <a:pPr algn="ctr"/>
                          <a:r>
                            <a:rPr lang="en" altLang="zh-CN" dirty="0">
                              <a:latin typeface="+mn-ea"/>
                              <a:ea typeface="+mn-ea"/>
                            </a:rPr>
                            <a:t>5</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endParaRPr lang="en-US"/>
                        </a:p>
                      </a:txBody>
                      <a:tcPr>
                        <a:blipFill>
                          <a:blip r:embed="rId4"/>
                          <a:stretch>
                            <a:fillRect l="-599" t="-109836" r="-700000" b="-22951"/>
                          </a:stretch>
                        </a:blipFill>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tc>
                      <a:txBody>
                        <a:bodyPr/>
                        <a:lstStyle/>
                        <a:p>
                          <a:pPr algn="ctr"/>
                          <a:r>
                            <a:rPr lang="en" altLang="zh-CN" dirty="0">
                              <a:latin typeface="+mn-ea"/>
                              <a:ea typeface="+mn-ea"/>
                            </a:rPr>
                            <a:t>24</a:t>
                          </a:r>
                          <a:endParaRPr lang="zh-CN" altLang="en-US" dirty="0">
                            <a:latin typeface="+mn-ea"/>
                            <a:ea typeface="+mn-ea"/>
                          </a:endParaRPr>
                        </a:p>
                      </a:txBody>
                      <a:tcPr/>
                    </a:tc>
                    <a:tc>
                      <a:txBody>
                        <a:bodyPr/>
                        <a:lstStyle/>
                        <a:p>
                          <a:pPr algn="ctr"/>
                          <a:r>
                            <a:rPr lang="en" altLang="zh-CN" dirty="0">
                              <a:latin typeface="+mn-ea"/>
                              <a:ea typeface="+mn-ea"/>
                            </a:rPr>
                            <a:t>120</a:t>
                          </a:r>
                          <a:endParaRPr lang="zh-CN" altLang="en-US" dirty="0">
                            <a:latin typeface="+mn-ea"/>
                            <a:ea typeface="+mn-ea"/>
                          </a:endParaRPr>
                        </a:p>
                      </a:txBody>
                      <a:tcPr/>
                    </a:tc>
                    <a:tc>
                      <a:txBody>
                        <a:bodyPr/>
                        <a:lstStyle/>
                        <a:p>
                          <a:pPr algn="ctr"/>
                          <a:r>
                            <a:rPr lang="en" altLang="zh-CN" dirty="0">
                              <a:latin typeface="+mn-ea"/>
                              <a:ea typeface="+mn-ea"/>
                            </a:rPr>
                            <a:t>720</a:t>
                          </a:r>
                          <a:endParaRPr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Fallback>
      </mc:AlternateContent>
    </p:spTree>
    <p:extLst>
      <p:ext uri="{BB962C8B-B14F-4D97-AF65-F5344CB8AC3E}">
        <p14:creationId xmlns:p14="http://schemas.microsoft.com/office/powerpoint/2010/main" val="289580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Tower of Hanoi</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14:m>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is</a:t>
                </a:r>
                <a14:m>
                  <m:oMath xmlns:m="http://schemas.openxmlformats.org/officeDocument/2006/math">
                    <m:r>
                      <a:rPr lang="en-AU" altLang="zh-CN" b="0" i="0" smtClean="0">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the number of moves needed for moving a Tower of </a:t>
                </a:r>
                <a14:m>
                  <m:oMath xmlns:m="http://schemas.openxmlformats.org/officeDocument/2006/math">
                    <m:r>
                      <a:rPr lang="en-US" altLang="zh-CN" i="1">
                        <a:latin typeface="Cambria Math" panose="02040503050406030204" pitchFamily="18" charset="0"/>
                      </a:rPr>
                      <m:t>𝑖</m:t>
                    </m:r>
                    <m:r>
                      <a:rPr lang="en-US" altLang="zh-CN" i="1">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discs:</a:t>
                </a:r>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i="1">
                          <a:latin typeface="Cambria Math" panose="02040503050406030204" pitchFamily="18" charset="0"/>
                        </a:rPr>
                        <m:t>=</m:t>
                      </m:r>
                      <m:r>
                        <a:rPr lang="en-US" altLang="zh-CN" b="0" i="1" smtClean="0">
                          <a:latin typeface="Cambria Math" panose="02040503050406030204" pitchFamily="18" charset="0"/>
                        </a:rPr>
                        <m:t>0</m:t>
                      </m:r>
                    </m:oMath>
                  </m:oMathPara>
                </a14:m>
                <a:endParaRPr lang="en-US" altLang="zh-CN" i="1"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=1</m:t>
                      </m:r>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=2∗</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r>
                        <a:rPr lang="en-US" altLang="zh-CN" b="0" i="1" smtClean="0">
                          <a:latin typeface="Cambria Math" panose="02040503050406030204" pitchFamily="18" charset="0"/>
                        </a:rPr>
                        <m:t>+1</m:t>
                      </m:r>
                    </m:oMath>
                  </m:oMathPara>
                </a14:m>
                <a:endParaRPr lang="en-US" altLang="zh-CN" b="0"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order: </a:t>
                </a:r>
                <a14:m>
                  <m:oMath xmlns:m="http://schemas.openxmlformats.org/officeDocument/2006/math">
                    <m:r>
                      <a:rPr lang="en-US" altLang="zh-CN" i="1">
                        <a:latin typeface="Cambria Math" panose="02040503050406030204" pitchFamily="18" charset="0"/>
                      </a:rPr>
                      <m:t>𝑖</m:t>
                    </m:r>
                    <m:r>
                      <a:rPr lang="en-AU" altLang="zh-CN" b="0" i="1" smtClean="0">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ascending</a:t>
                </a:r>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nvGraphicFramePr>
            <p:xfrm>
              <a:off x="2032000" y="4649980"/>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mn-ea"/>
                                  </a:rPr>
                                  <m:t>𝒊</m:t>
                                </m:r>
                              </m:oMath>
                            </m:oMathPara>
                          </a14:m>
                          <a:endParaRPr lang="zh-CN" altLang="en-US" dirty="0">
                            <a:solidFill>
                              <a:schemeClr val="bg1"/>
                            </a:solidFill>
                            <a:latin typeface="+mn-ea"/>
                            <a:ea typeface="+mn-ea"/>
                          </a:endParaRPr>
                        </a:p>
                      </a:txBody>
                      <a:tcPr/>
                    </a:tc>
                    <a:tc>
                      <a:txBody>
                        <a:bodyPr/>
                        <a:lstStyle/>
                        <a:p>
                          <a:pPr algn="ctr"/>
                          <a:r>
                            <a:rPr lang="en" altLang="zh-CN" dirty="0">
                              <a:latin typeface="+mn-ea"/>
                              <a:ea typeface="+mn-ea"/>
                            </a:rPr>
                            <a:t>0</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3</a:t>
                          </a:r>
                          <a:endParaRPr lang="zh-CN" altLang="en-US" dirty="0">
                            <a:latin typeface="+mn-ea"/>
                            <a:ea typeface="+mn-ea"/>
                          </a:endParaRPr>
                        </a:p>
                      </a:txBody>
                      <a:tcPr/>
                    </a:tc>
                    <a:tc>
                      <a:txBody>
                        <a:bodyPr/>
                        <a:lstStyle/>
                        <a:p>
                          <a:pPr algn="ctr"/>
                          <a:r>
                            <a:rPr lang="en" altLang="zh-CN" dirty="0">
                              <a:latin typeface="+mn-ea"/>
                              <a:ea typeface="+mn-ea"/>
                            </a:rPr>
                            <a:t>4</a:t>
                          </a:r>
                          <a:endParaRPr lang="zh-CN" altLang="en-US" dirty="0">
                            <a:latin typeface="+mn-ea"/>
                            <a:ea typeface="+mn-ea"/>
                          </a:endParaRPr>
                        </a:p>
                      </a:txBody>
                      <a:tcPr/>
                    </a:tc>
                    <a:tc>
                      <a:txBody>
                        <a:bodyPr/>
                        <a:lstStyle/>
                        <a:p>
                          <a:pPr algn="ctr"/>
                          <a:r>
                            <a:rPr lang="en" altLang="zh-CN" dirty="0">
                              <a:latin typeface="+mn-ea"/>
                              <a:ea typeface="+mn-ea"/>
                            </a:rPr>
                            <a:t>5</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n-ea"/>
                                  </a:rPr>
                                  <m:t>𝑓</m:t>
                                </m:r>
                                <m:d>
                                  <m:dPr>
                                    <m:ctrlPr>
                                      <a:rPr lang="en-US" altLang="zh-CN" i="1">
                                        <a:latin typeface="Cambria Math" panose="02040503050406030204" pitchFamily="18" charset="0"/>
                                        <a:ea typeface="+mn-ea"/>
                                      </a:rPr>
                                    </m:ctrlPr>
                                  </m:dPr>
                                  <m:e>
                                    <m:r>
                                      <a:rPr lang="en-US" altLang="zh-CN" i="1">
                                        <a:latin typeface="Cambria Math" panose="02040503050406030204" pitchFamily="18" charset="0"/>
                                        <a:ea typeface="+mn-ea"/>
                                      </a:rPr>
                                      <m:t>𝑖</m:t>
                                    </m:r>
                                  </m:e>
                                </m:d>
                              </m:oMath>
                            </m:oMathPara>
                          </a14:m>
                          <a:endParaRPr lang="zh-CN" altLang="en-US" dirty="0">
                            <a:latin typeface="+mn-ea"/>
                            <a:ea typeface="+mn-ea"/>
                          </a:endParaRPr>
                        </a:p>
                      </a:txBody>
                      <a:tcPr/>
                    </a:tc>
                    <a:tc>
                      <a:txBody>
                        <a:bodyPr/>
                        <a:lstStyle/>
                        <a:p>
                          <a:pPr algn="ctr"/>
                          <a:r>
                            <a:rPr lang="en" altLang="zh-CN" dirty="0">
                              <a:latin typeface="+mn-ea"/>
                              <a:ea typeface="+mn-ea"/>
                            </a:rPr>
                            <a:t>0</a:t>
                          </a:r>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3</a:t>
                          </a:r>
                          <a:endParaRPr lang="zh-CN" altLang="en-US" dirty="0">
                            <a:latin typeface="+mn-ea"/>
                            <a:ea typeface="+mn-ea"/>
                          </a:endParaRPr>
                        </a:p>
                      </a:txBody>
                      <a:tcPr/>
                    </a:tc>
                    <a:tc>
                      <a:txBody>
                        <a:bodyPr/>
                        <a:lstStyle/>
                        <a:p>
                          <a:pPr algn="ctr"/>
                          <a:r>
                            <a:rPr lang="en" altLang="zh-CN" dirty="0">
                              <a:latin typeface="+mn-ea"/>
                              <a:ea typeface="+mn-ea"/>
                            </a:rPr>
                            <a:t>7</a:t>
                          </a:r>
                          <a:endParaRPr lang="zh-CN" altLang="en-US" dirty="0">
                            <a:latin typeface="+mn-ea"/>
                            <a:ea typeface="+mn-ea"/>
                          </a:endParaRPr>
                        </a:p>
                      </a:txBody>
                      <a:tcPr/>
                    </a:tc>
                    <a:tc>
                      <a:txBody>
                        <a:bodyPr/>
                        <a:lstStyle/>
                        <a:p>
                          <a:pPr algn="ctr"/>
                          <a:r>
                            <a:rPr lang="en" altLang="zh-CN" dirty="0">
                              <a:latin typeface="+mn-ea"/>
                              <a:ea typeface="+mn-ea"/>
                            </a:rPr>
                            <a:t>15</a:t>
                          </a:r>
                          <a:endParaRPr lang="zh-CN" altLang="en-US" dirty="0">
                            <a:latin typeface="+mn-ea"/>
                            <a:ea typeface="+mn-ea"/>
                          </a:endParaRPr>
                        </a:p>
                      </a:txBody>
                      <a:tcPr/>
                    </a:tc>
                    <a:tc>
                      <a:txBody>
                        <a:bodyPr/>
                        <a:lstStyle/>
                        <a:p>
                          <a:pPr algn="ctr"/>
                          <a:r>
                            <a:rPr lang="en" altLang="zh-CN" dirty="0">
                              <a:latin typeface="+mn-ea"/>
                              <a:ea typeface="+mn-ea"/>
                            </a:rPr>
                            <a:t>31</a:t>
                          </a:r>
                          <a:endParaRPr lang="zh-CN" altLang="en-US" dirty="0">
                            <a:latin typeface="+mn-ea"/>
                            <a:ea typeface="+mn-ea"/>
                          </a:endParaRPr>
                        </a:p>
                      </a:txBody>
                      <a:tcPr/>
                    </a:tc>
                    <a:tc>
                      <a:txBody>
                        <a:bodyPr/>
                        <a:lstStyle/>
                        <a:p>
                          <a:pPr algn="ctr"/>
                          <a:r>
                            <a:rPr lang="en" altLang="zh-CN" dirty="0">
                              <a:latin typeface="+mn-ea"/>
                              <a:ea typeface="+mn-ea"/>
                            </a:rPr>
                            <a:t>63</a:t>
                          </a:r>
                          <a:endParaRPr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Choice>
        <mc:Fallback xmlns="">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extLst>
                  <p:ext uri="{D42A27DB-BD31-4B8C-83A1-F6EECF244321}">
                    <p14:modId xmlns:p14="http://schemas.microsoft.com/office/powerpoint/2010/main" val="3850241445"/>
                  </p:ext>
                </p:extLst>
              </p:nvPr>
            </p:nvGraphicFramePr>
            <p:xfrm>
              <a:off x="2032000" y="4649980"/>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endParaRPr lang="zh-CN"/>
                        </a:p>
                      </a:txBody>
                      <a:tcPr>
                        <a:blipFill>
                          <a:blip r:embed="rId4"/>
                          <a:stretch>
                            <a:fillRect l="-1250" t="-10000" r="-701250" b="-120000"/>
                          </a:stretch>
                        </a:blipFill>
                      </a:tcPr>
                    </a:tc>
                    <a:tc>
                      <a:txBody>
                        <a:bodyPr/>
                        <a:lstStyle/>
                        <a:p>
                          <a:pPr xmlns:a="http://schemas.openxmlformats.org/drawingml/2006/main" algn="ctr"/>
                          <a:r xmlns:a="http://schemas.openxmlformats.org/drawingml/2006/main">
                            <a:rPr lang="en" altLang="zh-CN" dirty="0">
                              <a:latin typeface="+mn-ea"/>
                              <a:ea typeface="+mn-ea"/>
                            </a:rPr>
                            <a:t>0</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2</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3</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4</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5</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6</a:t>
                          </a:r>
                          <a:endParaRPr xmlns:a="http://schemas.openxmlformats.org/drawingml/2006/main"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endParaRPr lang="zh-CN"/>
                        </a:p>
                      </a:txBody>
                      <a:tcPr>
                        <a:blipFill>
                          <a:blip r:embed="rId4"/>
                          <a:stretch>
                            <a:fillRect l="-1250" t="-113793" r="-701250" b="-24138"/>
                          </a:stretch>
                        </a:blipFill>
                      </a:tcPr>
                    </a:tc>
                    <a:tc>
                      <a:txBody>
                        <a:bodyPr/>
                        <a:lstStyle/>
                        <a:p>
                          <a:pPr xmlns:a="http://schemas.openxmlformats.org/drawingml/2006/main" algn="ctr"/>
                          <a:r xmlns:a="http://schemas.openxmlformats.org/drawingml/2006/main">
                            <a:rPr lang="en" altLang="zh-CN" dirty="0">
                              <a:latin typeface="+mn-ea"/>
                              <a:ea typeface="+mn-ea"/>
                            </a:rPr>
                            <a:t>0</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3</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7</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15</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31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63</a:t>
                          </a:r>
                          <a:endParaRPr xmlns:a="http://schemas.openxmlformats.org/drawingml/2006/main"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Fallback>
      </mc:AlternateContent>
    </p:spTree>
    <p:extLst>
      <p:ext uri="{BB962C8B-B14F-4D97-AF65-F5344CB8AC3E}">
        <p14:creationId xmlns:p14="http://schemas.microsoft.com/office/powerpoint/2010/main" val="340412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counting of numbers</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r>
                  <a:rPr lang="en" altLang="en-US" dirty="0">
                    <a:latin typeface="Arial" panose="020B0604020202020204" pitchFamily="34" charset="0"/>
                    <a:cs typeface="Arial" panose="020B0604020202020204" pitchFamily="34" charset="0"/>
                  </a:rPr>
                  <a:t>We want to find the numbers with the following properties (including the input </a:t>
                </a:r>
                <a14:m>
                  <m:oMath xmlns:m="http://schemas.openxmlformats.org/officeDocument/2006/math">
                    <m:r>
                      <a:rPr lang="en-US" altLang="zh-CN" i="1">
                        <a:latin typeface="Cambria Math" panose="02040503050406030204" pitchFamily="18" charset="0"/>
                      </a:rPr>
                      <m:t>𝑛</m:t>
                    </m:r>
                  </m:oMath>
                </a14:m>
                <a:r>
                  <a:rPr lang="en" altLang="en-US" dirty="0">
                    <a:latin typeface="Arial" panose="020B0604020202020204" pitchFamily="34" charset="0"/>
                    <a:cs typeface="Arial" panose="020B0604020202020204" pitchFamily="34" charset="0"/>
                  </a:rPr>
                  <a:t>):</a:t>
                </a:r>
              </a:p>
              <a:p>
                <a:r>
                  <a:rPr lang="en" altLang="en-US" dirty="0">
                    <a:latin typeface="Arial" panose="020B0604020202020204" pitchFamily="34" charset="0"/>
                    <a:cs typeface="Arial" panose="020B0604020202020204" pitchFamily="34" charset="0"/>
                  </a:rPr>
                  <a:t>First input a natural number </a:t>
                </a:r>
                <a14:m>
                  <m:oMath xmlns:m="http://schemas.openxmlformats.org/officeDocument/2006/math">
                    <m:r>
                      <a:rPr lang="en-US" altLang="zh-CN" b="0" i="1" smtClean="0">
                        <a:latin typeface="Cambria Math" panose="02040503050406030204" pitchFamily="18" charset="0"/>
                      </a:rPr>
                      <m:t>𝑛</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≤1000</m:t>
                        </m:r>
                      </m:e>
                    </m:d>
                    <m:r>
                      <a:rPr lang="zh-CN" altLang="en-US" b="0" i="0" smtClean="0">
                        <a:latin typeface="Cambria Math" panose="02040503050406030204" pitchFamily="18" charset="0"/>
                      </a:rPr>
                      <m:t>，</m:t>
                    </m:r>
                  </m:oMath>
                </a14:m>
                <a:r>
                  <a:rPr lang="en" altLang="en-US" dirty="0">
                    <a:latin typeface="Arial" panose="020B0604020202020204" pitchFamily="34" charset="0"/>
                    <a:cs typeface="Arial" panose="020B0604020202020204" pitchFamily="34" charset="0"/>
                  </a:rPr>
                  <a:t>and then process it as follows:</a:t>
                </a:r>
              </a:p>
              <a:p>
                <a:pPr marL="0" indent="0">
                  <a:buNone/>
                </a:pPr>
                <a:r>
                  <a:rPr lang="en" altLang="zh-CN" dirty="0">
                    <a:latin typeface="Arial" panose="020B0604020202020204" pitchFamily="34" charset="0"/>
                    <a:cs typeface="Arial" panose="020B0604020202020204" pitchFamily="34" charset="0"/>
                  </a:rPr>
                  <a:t>1. Do nothing</a:t>
                </a:r>
                <a:r>
                  <a:rPr lang="en" altLang="en-US" dirty="0">
                    <a:latin typeface="Arial" panose="020B0604020202020204" pitchFamily="34" charset="0"/>
                    <a:cs typeface="Arial" panose="020B0604020202020204" pitchFamily="34" charset="0"/>
                  </a:rPr>
                  <a:t>;</a:t>
                </a:r>
                <a:r>
                  <a:rPr lang="en" altLang="zh-CN" dirty="0">
                    <a:latin typeface="Arial" panose="020B0604020202020204" pitchFamily="34" charset="0"/>
                    <a:cs typeface="Arial" panose="020B0604020202020204" pitchFamily="34" charset="0"/>
                  </a:rPr>
                  <a:t> </a:t>
                </a:r>
                <a:endParaRPr lang="zh-CN" altLang="en-US" dirty="0">
                  <a:latin typeface="Arial" panose="020B0604020202020204" pitchFamily="34" charset="0"/>
                  <a:cs typeface="Arial" panose="020B0604020202020204" pitchFamily="34" charset="0"/>
                </a:endParaRPr>
              </a:p>
              <a:p>
                <a:pPr marL="0" indent="0">
                  <a:buNone/>
                </a:pPr>
                <a:r>
                  <a:rPr lang="en" altLang="zh-CN" dirty="0">
                    <a:latin typeface="Arial" panose="020B0604020202020204" pitchFamily="34" charset="0"/>
                    <a:cs typeface="Arial" panose="020B0604020202020204" pitchFamily="34" charset="0"/>
                  </a:rPr>
                  <a:t>2. </a:t>
                </a:r>
                <a:r>
                  <a:rPr lang="en" altLang="en-US" dirty="0">
                    <a:latin typeface="Arial" panose="020B0604020202020204" pitchFamily="34" charset="0"/>
                    <a:cs typeface="Arial" panose="020B0604020202020204" pitchFamily="34" charset="0"/>
                  </a:rPr>
                  <a:t>Attach a digit of natural number to its left, not exceeding half of the leftmost digit of the original number;</a:t>
                </a:r>
              </a:p>
              <a:p>
                <a:pPr marL="0" indent="0">
                  <a:buNone/>
                </a:pPr>
                <a:r>
                  <a:rPr lang="en" altLang="zh-CN" dirty="0">
                    <a:latin typeface="Arial" panose="020B0604020202020204" pitchFamily="34" charset="0"/>
                    <a:cs typeface="Arial" panose="020B0604020202020204" pitchFamily="34" charset="0"/>
                  </a:rPr>
                  <a:t>3. </a:t>
                </a:r>
                <a:r>
                  <a:rPr lang="en" altLang="en-US" dirty="0">
                    <a:latin typeface="Arial" panose="020B0604020202020204" pitchFamily="34" charset="0"/>
                    <a:cs typeface="Arial" panose="020B0604020202020204" pitchFamily="34" charset="0"/>
                  </a:rPr>
                  <a:t>After adding the digit, continue to process according to this rule until no more natural number digit can be added.</a:t>
                </a:r>
              </a:p>
              <a:p>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rPr>
                      <m:t>𝑛</m:t>
                    </m:r>
                    <m:r>
                      <a:rPr lang="en-US" altLang="zh-CN" b="0" i="1" smtClean="0">
                        <a:latin typeface="Cambria Math" panose="02040503050406030204" pitchFamily="18" charset="0"/>
                      </a:rPr>
                      <m:t>=6:</m:t>
                    </m:r>
                    <m:r>
                      <a:rPr lang="en-AU" altLang="zh-CN" b="0" i="0" smtClean="0">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the answer is </a:t>
                </a:r>
                <a14:m>
                  <m:oMath xmlns:m="http://schemas.openxmlformats.org/officeDocument/2006/math">
                    <m:r>
                      <a:rPr lang="en-US" altLang="zh-CN" b="0" i="1" smtClean="0">
                        <a:latin typeface="Cambria Math" panose="02040503050406030204" pitchFamily="18" charset="0"/>
                      </a:rPr>
                      <m:t>6</m:t>
                    </m:r>
                  </m:oMath>
                </a14:m>
                <a:r>
                  <a:rPr lang="en" altLang="en-US" dirty="0">
                    <a:latin typeface="Arial" panose="020B0604020202020204" pitchFamily="34" charset="0"/>
                    <a:cs typeface="Arial" panose="020B0604020202020204" pitchFamily="34" charset="0"/>
                  </a:rPr>
                  <a:t>, all the numbers are:</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6, 16, 26, 126, 36, 136</m:t>
                    </m:r>
                  </m:oMath>
                </a14:m>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t="-808" r="-353" b="-2656"/>
                </a:stretch>
              </a:blipFill>
            </p:spPr>
            <p:txBody>
              <a:bodyPr/>
              <a:lstStyle/>
              <a:p>
                <a:r>
                  <a:rPr lang="en-AU">
                    <a:noFill/>
                  </a:rPr>
                  <a:t> </a:t>
                </a:r>
              </a:p>
            </p:txBody>
          </p:sp>
        </mc:Fallback>
      </mc:AlternateContent>
    </p:spTree>
    <p:extLst>
      <p:ext uri="{BB962C8B-B14F-4D97-AF65-F5344CB8AC3E}">
        <p14:creationId xmlns:p14="http://schemas.microsoft.com/office/powerpoint/2010/main" val="334148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counting of numbers</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14:m>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𝑖</m:t>
                        </m:r>
                      </m:e>
                    </m:d>
                  </m:oMath>
                </a14:m>
                <a:r>
                  <a:rPr lang="en" altLang="en-US" dirty="0">
                    <a:latin typeface="Arial" panose="020B0604020202020204" pitchFamily="34" charset="0"/>
                    <a:cs typeface="Arial" panose="020B0604020202020204" pitchFamily="34" charset="0"/>
                  </a:rPr>
                  <a:t> is the answer when </a:t>
                </a:r>
                <a14:m>
                  <m:oMath xmlns:m="http://schemas.openxmlformats.org/officeDocument/2006/math">
                    <m:r>
                      <a:rPr lang="en-AU" altLang="zh-CN" b="0" i="1" smtClean="0">
                        <a:latin typeface="Cambria Math" panose="02040503050406030204" pitchFamily="18" charset="0"/>
                      </a:rPr>
                      <m:t>𝑛</m:t>
                    </m:r>
                    <m:r>
                      <a:rPr lang="en-AU" altLang="zh-CN" b="0" i="0" smtClean="0">
                        <a:latin typeface="Cambria Math" panose="02040503050406030204" pitchFamily="18" charset="0"/>
                      </a:rPr>
                      <m:t>= </m:t>
                    </m:r>
                    <m:r>
                      <a:rPr lang="en-US" altLang="zh-CN" i="1">
                        <a:latin typeface="Cambria Math" panose="02040503050406030204" pitchFamily="18" charset="0"/>
                      </a:rPr>
                      <m:t>𝑖</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=1</m:t>
                      </m:r>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e>
                      </m:d>
                      <m:r>
                        <a:rPr lang="en-US" altLang="zh-CN" b="0" i="1" smtClean="0">
                          <a:latin typeface="Cambria Math" panose="02040503050406030204" pitchFamily="18" charset="0"/>
                        </a:rPr>
                        <m:t>=1+</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/2</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/2−1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e>
                      </m:d>
                      <m:r>
                        <a:rPr lang="en-US" altLang="zh-CN" b="0" i="1" smtClean="0">
                          <a:latin typeface="Cambria Math" panose="02040503050406030204" pitchFamily="18" charset="0"/>
                        </a:rPr>
                        <m:t>=1+</m:t>
                      </m:r>
                      <m:nary>
                        <m:naryPr>
                          <m:chr m:val="∑"/>
                          <m:ctrlPr>
                            <a:rPr lang="en-US"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𝑖</m:t>
                          </m:r>
                          <m:r>
                            <a:rPr lang="en-US" altLang="zh-CN" b="0" i="1" smtClean="0">
                              <a:latin typeface="Cambria Math" panose="02040503050406030204" pitchFamily="18" charset="0"/>
                            </a:rPr>
                            <m:t>/2</m:t>
                          </m:r>
                        </m:sup>
                        <m:e>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e>
                      </m:nary>
                    </m:oMath>
                  </m:oMathPara>
                </a14:m>
                <a:endParaRPr lang="en-US" altLang="zh-CN" b="0"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order: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ascending</a:t>
                </a:r>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nvGraphicFramePr>
            <p:xfrm>
              <a:off x="1871580" y="4906652"/>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ea typeface="+mn-ea"/>
                                  </a:rPr>
                                  <m:t>𝒊</m:t>
                                </m:r>
                              </m:oMath>
                            </m:oMathPara>
                          </a14:m>
                          <a:endParaRPr lang="zh-CN" altLang="en-US" dirty="0">
                            <a:solidFill>
                              <a:schemeClr val="bg1"/>
                            </a:solidFill>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3</a:t>
                          </a:r>
                          <a:endParaRPr lang="zh-CN" altLang="en-US" dirty="0">
                            <a:latin typeface="+mn-ea"/>
                            <a:ea typeface="+mn-ea"/>
                          </a:endParaRPr>
                        </a:p>
                      </a:txBody>
                      <a:tcPr/>
                    </a:tc>
                    <a:tc>
                      <a:txBody>
                        <a:bodyPr/>
                        <a:lstStyle/>
                        <a:p>
                          <a:pPr algn="ctr"/>
                          <a:r>
                            <a:rPr lang="en" altLang="zh-CN" dirty="0">
                              <a:latin typeface="+mn-ea"/>
                              <a:ea typeface="+mn-ea"/>
                            </a:rPr>
                            <a:t>4</a:t>
                          </a:r>
                          <a:endParaRPr lang="zh-CN" altLang="en-US" dirty="0">
                            <a:latin typeface="+mn-ea"/>
                            <a:ea typeface="+mn-ea"/>
                          </a:endParaRPr>
                        </a:p>
                      </a:txBody>
                      <a:tcPr/>
                    </a:tc>
                    <a:tc>
                      <a:txBody>
                        <a:bodyPr/>
                        <a:lstStyle/>
                        <a:p>
                          <a:pPr algn="ctr"/>
                          <a:r>
                            <a:rPr lang="en" altLang="zh-CN" dirty="0">
                              <a:latin typeface="+mn-ea"/>
                              <a:ea typeface="+mn-ea"/>
                            </a:rPr>
                            <a:t>5</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tc>
                      <a:txBody>
                        <a:bodyPr/>
                        <a:lstStyle/>
                        <a:p>
                          <a:pPr algn="ctr"/>
                          <a:r>
                            <a:rPr lang="en" altLang="zh-CN" dirty="0">
                              <a:latin typeface="+mn-ea"/>
                              <a:ea typeface="+mn-ea"/>
                            </a:rPr>
                            <a:t>7</a:t>
                          </a:r>
                          <a:endParaRPr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mn-ea"/>
                                  </a:rPr>
                                  <m:t>𝑓</m:t>
                                </m:r>
                                <m:d>
                                  <m:dPr>
                                    <m:ctrlPr>
                                      <a:rPr lang="en-US" altLang="zh-CN" i="1">
                                        <a:latin typeface="Cambria Math" panose="02040503050406030204" pitchFamily="18" charset="0"/>
                                        <a:ea typeface="+mn-ea"/>
                                      </a:rPr>
                                    </m:ctrlPr>
                                  </m:dPr>
                                  <m:e>
                                    <m:r>
                                      <a:rPr lang="en-US" altLang="zh-CN" i="1">
                                        <a:latin typeface="Cambria Math" panose="02040503050406030204" pitchFamily="18" charset="0"/>
                                        <a:ea typeface="+mn-ea"/>
                                      </a:rPr>
                                      <m:t>𝑖</m:t>
                                    </m:r>
                                  </m:e>
                                </m:d>
                              </m:oMath>
                            </m:oMathPara>
                          </a14:m>
                          <a:endParaRPr lang="zh-CN" altLang="en-US" dirty="0">
                            <a:latin typeface="+mn-ea"/>
                            <a:ea typeface="+mn-ea"/>
                          </a:endParaRPr>
                        </a:p>
                      </a:txBody>
                      <a:tcPr/>
                    </a:tc>
                    <a:tc>
                      <a:txBody>
                        <a:bodyPr/>
                        <a:lstStyle/>
                        <a:p>
                          <a:pPr algn="ctr"/>
                          <a:r>
                            <a:rPr lang="en" altLang="zh-CN" dirty="0">
                              <a:latin typeface="+mn-ea"/>
                              <a:ea typeface="+mn-ea"/>
                            </a:rPr>
                            <a:t>1</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2</a:t>
                          </a:r>
                          <a:endParaRPr lang="zh-CN" altLang="en-US" dirty="0">
                            <a:latin typeface="+mn-ea"/>
                            <a:ea typeface="+mn-ea"/>
                          </a:endParaRPr>
                        </a:p>
                      </a:txBody>
                      <a:tcPr/>
                    </a:tc>
                    <a:tc>
                      <a:txBody>
                        <a:bodyPr/>
                        <a:lstStyle/>
                        <a:p>
                          <a:pPr algn="ctr"/>
                          <a:r>
                            <a:rPr lang="en" altLang="zh-CN" dirty="0">
                              <a:latin typeface="+mn-ea"/>
                              <a:ea typeface="+mn-ea"/>
                            </a:rPr>
                            <a:t>4</a:t>
                          </a:r>
                          <a:endParaRPr lang="zh-CN" altLang="en-US" dirty="0">
                            <a:latin typeface="+mn-ea"/>
                            <a:ea typeface="+mn-ea"/>
                          </a:endParaRPr>
                        </a:p>
                      </a:txBody>
                      <a:tcPr/>
                    </a:tc>
                    <a:tc>
                      <a:txBody>
                        <a:bodyPr/>
                        <a:lstStyle/>
                        <a:p>
                          <a:pPr algn="ctr"/>
                          <a:r>
                            <a:rPr lang="en" altLang="zh-CN" dirty="0">
                              <a:latin typeface="+mn-ea"/>
                              <a:ea typeface="+mn-ea"/>
                            </a:rPr>
                            <a:t>4</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tc>
                      <a:txBody>
                        <a:bodyPr/>
                        <a:lstStyle/>
                        <a:p>
                          <a:pPr algn="ctr"/>
                          <a:r>
                            <a:rPr lang="en" altLang="zh-CN" dirty="0">
                              <a:latin typeface="+mn-ea"/>
                              <a:ea typeface="+mn-ea"/>
                            </a:rPr>
                            <a:t>6</a:t>
                          </a:r>
                          <a:endParaRPr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Choice>
        <mc:Fallback xmlns="">
          <p:graphicFrame>
            <p:nvGraphicFramePr>
              <p:cNvPr id="4" name="表格 3">
                <a:extLst>
                  <a:ext uri="{FF2B5EF4-FFF2-40B4-BE49-F238E27FC236}">
                    <a16:creationId xmlns:a16="http://schemas.microsoft.com/office/drawing/2014/main" id="{41F5C63D-9E5D-6648-B58C-5C959BDE19F0}"/>
                  </a:ext>
                </a:extLst>
              </p:cNvPr>
              <p:cNvGraphicFramePr>
                <a:graphicFrameLocks noGrp="1"/>
              </p:cNvGraphicFramePr>
              <p:nvPr>
                <p:extLst>
                  <p:ext uri="{D42A27DB-BD31-4B8C-83A1-F6EECF244321}">
                    <p14:modId xmlns:p14="http://schemas.microsoft.com/office/powerpoint/2010/main" val="115106959"/>
                  </p:ext>
                </p:extLst>
              </p:nvPr>
            </p:nvGraphicFramePr>
            <p:xfrm>
              <a:off x="1871580" y="4906652"/>
              <a:ext cx="8128000" cy="741680"/>
            </p:xfrm>
            <a:graphic>
              <a:graphicData uri="http://schemas.openxmlformats.org/drawingml/2006/table">
                <a:tbl>
                  <a:tblPr firstRow="1" bandRow="1">
                    <a:tableStyleId>{22838BEF-8BB2-4498-84A7-C5851F593DF1}</a:tableStyleId>
                  </a:tblPr>
                  <a:tblGrid>
                    <a:gridCol w="1016000">
                      <a:extLst>
                        <a:ext uri="{9D8B030D-6E8A-4147-A177-3AD203B41FA5}">
                          <a16:colId xmlns:a16="http://schemas.microsoft.com/office/drawing/2014/main" val="2045687425"/>
                        </a:ext>
                      </a:extLst>
                    </a:gridCol>
                    <a:gridCol w="1016000">
                      <a:extLst>
                        <a:ext uri="{9D8B030D-6E8A-4147-A177-3AD203B41FA5}">
                          <a16:colId xmlns:a16="http://schemas.microsoft.com/office/drawing/2014/main" val="3404109781"/>
                        </a:ext>
                      </a:extLst>
                    </a:gridCol>
                    <a:gridCol w="1016000">
                      <a:extLst>
                        <a:ext uri="{9D8B030D-6E8A-4147-A177-3AD203B41FA5}">
                          <a16:colId xmlns:a16="http://schemas.microsoft.com/office/drawing/2014/main" val="726794819"/>
                        </a:ext>
                      </a:extLst>
                    </a:gridCol>
                    <a:gridCol w="1016000">
                      <a:extLst>
                        <a:ext uri="{9D8B030D-6E8A-4147-A177-3AD203B41FA5}">
                          <a16:colId xmlns:a16="http://schemas.microsoft.com/office/drawing/2014/main" val="1165513870"/>
                        </a:ext>
                      </a:extLst>
                    </a:gridCol>
                    <a:gridCol w="1016000">
                      <a:extLst>
                        <a:ext uri="{9D8B030D-6E8A-4147-A177-3AD203B41FA5}">
                          <a16:colId xmlns:a16="http://schemas.microsoft.com/office/drawing/2014/main" val="3169615323"/>
                        </a:ext>
                      </a:extLst>
                    </a:gridCol>
                    <a:gridCol w="1016000">
                      <a:extLst>
                        <a:ext uri="{9D8B030D-6E8A-4147-A177-3AD203B41FA5}">
                          <a16:colId xmlns:a16="http://schemas.microsoft.com/office/drawing/2014/main" val="195016175"/>
                        </a:ext>
                      </a:extLst>
                    </a:gridCol>
                    <a:gridCol w="1016000">
                      <a:extLst>
                        <a:ext uri="{9D8B030D-6E8A-4147-A177-3AD203B41FA5}">
                          <a16:colId xmlns:a16="http://schemas.microsoft.com/office/drawing/2014/main" val="3566535504"/>
                        </a:ext>
                      </a:extLst>
                    </a:gridCol>
                    <a:gridCol w="1016000">
                      <a:extLst>
                        <a:ext uri="{9D8B030D-6E8A-4147-A177-3AD203B41FA5}">
                          <a16:colId xmlns:a16="http://schemas.microsoft.com/office/drawing/2014/main" val="131337798"/>
                        </a:ext>
                      </a:extLst>
                    </a:gridCol>
                  </a:tblGrid>
                  <a:tr h="370840">
                    <a:tc>
                      <a:txBody>
                        <a:bodyPr/>
                        <a:lstStyle/>
                        <a:p>
                          <a:endParaRPr lang="zh-CN"/>
                        </a:p>
                      </a:txBody>
                      <a:tcPr>
                        <a:blipFill>
                          <a:blip r:embed="rId4"/>
                          <a:stretch>
                            <a:fillRect l="-1250" t="-6667" r="-701250" b="-120000"/>
                          </a:stretch>
                        </a:blipFill>
                      </a:tcPr>
                    </a:tc>
                    <a:tc>
                      <a:txBody>
                        <a:bodyPr/>
                        <a:lstStyle/>
                        <a:p>
                          <a:pPr xmlns:a="http://schemas.openxmlformats.org/drawingml/2006/main" algn="ctr"/>
                          <a:r xmlns:a="http://schemas.openxmlformats.org/drawingml/2006/main">
                            <a:rPr lang="en" altLang="zh-CN" dirty="0">
                              <a:latin typeface="+mn-ea"/>
                              <a:ea typeface="+mn-ea"/>
                            </a:rPr>
                            <a:t>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2</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3</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4</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5</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6</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7</a:t>
                          </a:r>
                          <a:endParaRPr xmlns:a="http://schemas.openxmlformats.org/drawingml/2006/main" lang="zh-CN" altLang="en-US" dirty="0">
                            <a:latin typeface="+mn-ea"/>
                            <a:ea typeface="+mn-ea"/>
                          </a:endParaRPr>
                        </a:p>
                      </a:txBody>
                      <a:tcPr/>
                    </a:tc>
                    <a:extLst>
                      <a:ext uri="{0D108BD9-81ED-4DB2-BD59-A6C34878D82A}">
                        <a16:rowId xmlns:a16="http://schemas.microsoft.com/office/drawing/2014/main" val="1441056383"/>
                      </a:ext>
                    </a:extLst>
                  </a:tr>
                  <a:tr h="370840">
                    <a:tc>
                      <a:txBody>
                        <a:bodyPr/>
                        <a:lstStyle/>
                        <a:p>
                          <a:endParaRPr lang="zh-CN"/>
                        </a:p>
                      </a:txBody>
                      <a:tcPr>
                        <a:blipFill>
                          <a:blip r:embed="rId4"/>
                          <a:stretch>
                            <a:fillRect l="-1250" t="-110345" r="-701250" b="-24138"/>
                          </a:stretch>
                        </a:blipFill>
                      </a:tcPr>
                    </a:tc>
                    <a:tc>
                      <a:txBody>
                        <a:bodyPr/>
                        <a:lstStyle/>
                        <a:p>
                          <a:pPr xmlns:a="http://schemas.openxmlformats.org/drawingml/2006/main" algn="ctr"/>
                          <a:r xmlns:a="http://schemas.openxmlformats.org/drawingml/2006/main">
                            <a:rPr lang="en" altLang="zh-CN" dirty="0">
                              <a:latin typeface="+mn-ea"/>
                              <a:ea typeface="+mn-ea"/>
                            </a:rPr>
                            <a:t>1</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2</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2</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4</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4</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6</a:t>
                          </a:r>
                          <a:endParaRPr xmlns:a="http://schemas.openxmlformats.org/drawingml/2006/main" lang="zh-CN" altLang="en-US" dirty="0">
                            <a:latin typeface="+mn-ea"/>
                            <a:ea typeface="+mn-ea"/>
                          </a:endParaRPr>
                        </a:p>
                      </a:txBody>
                      <a:tcPr/>
                    </a:tc>
                    <a:tc>
                      <a:txBody>
                        <a:bodyPr/>
                        <a:lstStyle/>
                        <a:p>
                          <a:pPr xmlns:a="http://schemas.openxmlformats.org/drawingml/2006/main" algn="ctr"/>
                          <a:r xmlns:a="http://schemas.openxmlformats.org/drawingml/2006/main">
                            <a:rPr lang="en" altLang="zh-CN" dirty="0">
                              <a:latin typeface="+mn-ea"/>
                              <a:ea typeface="+mn-ea"/>
                            </a:rPr>
                            <a:t>6</a:t>
                          </a:r>
                          <a:endParaRPr xmlns:a="http://schemas.openxmlformats.org/drawingml/2006/main" lang="zh-CN" altLang="en-US" dirty="0">
                            <a:latin typeface="+mn-ea"/>
                            <a:ea typeface="+mn-ea"/>
                          </a:endParaRPr>
                        </a:p>
                      </a:txBody>
                      <a:tcPr/>
                    </a:tc>
                    <a:extLst>
                      <a:ext uri="{0D108BD9-81ED-4DB2-BD59-A6C34878D82A}">
                        <a16:rowId xmlns:a16="http://schemas.microsoft.com/office/drawing/2014/main" val="2201355568"/>
                      </a:ext>
                    </a:extLst>
                  </a:tr>
                </a:tbl>
              </a:graphicData>
            </a:graphic>
          </p:graphicFrame>
        </mc:Fallback>
      </mc:AlternateContent>
    </p:spTree>
    <p:extLst>
      <p:ext uri="{BB962C8B-B14F-4D97-AF65-F5344CB8AC3E}">
        <p14:creationId xmlns:p14="http://schemas.microsoft.com/office/powerpoint/2010/main" val="224144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Pascal’s triangle</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09" y="1486110"/>
                <a:ext cx="10368803" cy="5282749"/>
              </a:xfrm>
            </p:spPr>
            <p:txBody>
              <a:bodyPr anchor="ctr" anchorCtr="0">
                <a:normAutofit/>
              </a:bodyPr>
              <a:lstStyle/>
              <a:p>
                <a:r>
                  <a:rPr lang="en" altLang="en-US" dirty="0">
                    <a:latin typeface="Arial" panose="020B0604020202020204" pitchFamily="34" charset="0"/>
                    <a:cs typeface="Arial" panose="020B0604020202020204" pitchFamily="34" charset="0"/>
                  </a:rPr>
                  <a:t>The Pascal’s triangle is as shown on the right. Find the number on row </a:t>
                </a:r>
                <a14:m>
                  <m:oMath xmlns:m="http://schemas.openxmlformats.org/officeDocument/2006/math">
                    <m:r>
                      <a:rPr lang="en-US" altLang="zh-CN" i="1">
                        <a:latin typeface="Cambria Math" panose="02040503050406030204" pitchFamily="18" charset="0"/>
                      </a:rPr>
                      <m:t>𝑛</m:t>
                    </m:r>
                  </m:oMath>
                </a14:m>
                <a:r>
                  <a:rPr lang="en" altLang="en-US" dirty="0">
                    <a:latin typeface="Arial" panose="020B0604020202020204" pitchFamily="34" charset="0"/>
                    <a:cs typeface="Arial" panose="020B0604020202020204" pitchFamily="34" charset="0"/>
                  </a:rPr>
                  <a:t> and column </a:t>
                </a:r>
                <a14:m>
                  <m:oMath xmlns:m="http://schemas.openxmlformats.org/officeDocument/2006/math">
                    <m:r>
                      <a:rPr lang="en-US" altLang="zh-CN" b="0" i="1" smtClean="0">
                        <a:latin typeface="Cambria Math" panose="02040503050406030204" pitchFamily="18" charset="0"/>
                      </a:rPr>
                      <m:t>𝑚</m:t>
                    </m:r>
                  </m:oMath>
                </a14:m>
                <a:r>
                  <a:rPr lang="en" altLang="en-US" dirty="0">
                    <a:latin typeface="Arial" panose="020B0604020202020204" pitchFamily="34" charset="0"/>
                    <a:cs typeface="Arial" panose="020B0604020202020204" pitchFamily="34" charset="0"/>
                  </a:rPr>
                  <a:t>.</a:t>
                </a:r>
              </a:p>
              <a:p>
                <a:endParaRPr lang="en-US" altLang="zh-CN" i="1" dirty="0">
                  <a:latin typeface="Arial" panose="020B0604020202020204" pitchFamily="34" charset="0"/>
                  <a:cs typeface="Arial" panose="020B0604020202020204" pitchFamily="34" charset="0"/>
                </a:endParaRPr>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oMath>
                </a14:m>
                <a:r>
                  <a:rPr lang="en" altLang="en-US" dirty="0">
                    <a:latin typeface="Arial" panose="020B0604020202020204" pitchFamily="34" charset="0"/>
                    <a:cs typeface="Arial" panose="020B0604020202020204" pitchFamily="34" charset="0"/>
                  </a:rPr>
                  <a:t> is the number on row </a:t>
                </a:r>
                <a14:m>
                  <m:oMath xmlns:m="http://schemas.openxmlformats.org/officeDocument/2006/math">
                    <m:r>
                      <a:rPr lang="en-US" altLang="zh-CN" b="0" i="1" smtClean="0">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column </a:t>
                </a:r>
                <a14:m>
                  <m:oMath xmlns:m="http://schemas.openxmlformats.org/officeDocument/2006/math">
                    <m:r>
                      <a:rPr lang="en-US" altLang="zh-CN" i="1">
                        <a:latin typeface="Cambria Math" panose="02040503050406030204" pitchFamily="18" charset="0"/>
                      </a:rPr>
                      <m:t>𝑗</m:t>
                    </m:r>
                  </m:oMath>
                </a14:m>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d>
                    <m:r>
                      <a:rPr lang="en-US" altLang="zh-CN" b="0" i="1" smtClean="0">
                        <a:latin typeface="Cambria Math" panose="02040503050406030204" pitchFamily="18" charset="0"/>
                      </a:rPr>
                      <m:t>=1</m:t>
                    </m:r>
                  </m:oMath>
                </a14:m>
                <a:endParaRPr lang="en-US" altLang="zh-CN" b="0" dirty="0">
                  <a:latin typeface="Arial" panose="020B0604020202020204" pitchFamily="34" charset="0"/>
                  <a:cs typeface="Arial" panose="020B0604020202020204" pitchFamily="34" charset="0"/>
                </a:endParaRPr>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order: top to bottom (, left to right)</a:t>
                </a:r>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09" y="1486110"/>
                <a:ext cx="10368803" cy="5282749"/>
              </a:xfrm>
              <a:blipFill>
                <a:blip r:embed="rId3"/>
                <a:stretch>
                  <a:fillRect l="-1176"/>
                </a:stretch>
              </a:blipFill>
            </p:spPr>
            <p:txBody>
              <a:bodyPr/>
              <a:lstStyle/>
              <a:p>
                <a:r>
                  <a:rPr lang="en-AU">
                    <a:noFill/>
                  </a:rPr>
                  <a:t> </a:t>
                </a:r>
              </a:p>
            </p:txBody>
          </p:sp>
        </mc:Fallback>
      </mc:AlternateContent>
      <p:pic>
        <p:nvPicPr>
          <p:cNvPr id="5" name="图片 4">
            <a:extLst>
              <a:ext uri="{FF2B5EF4-FFF2-40B4-BE49-F238E27FC236}">
                <a16:creationId xmlns:a16="http://schemas.microsoft.com/office/drawing/2014/main" id="{D94E7C73-66EF-E84F-8EFC-693D774E23E9}"/>
              </a:ext>
            </a:extLst>
          </p:cNvPr>
          <p:cNvPicPr>
            <a:picLocks noChangeAspect="1"/>
          </p:cNvPicPr>
          <p:nvPr/>
        </p:nvPicPr>
        <p:blipFill>
          <a:blip r:embed="rId4"/>
          <a:stretch>
            <a:fillRect/>
          </a:stretch>
        </p:blipFill>
        <p:spPr>
          <a:xfrm>
            <a:off x="6276110" y="2922337"/>
            <a:ext cx="5500254" cy="3098800"/>
          </a:xfrm>
          <a:prstGeom prst="rect">
            <a:avLst/>
          </a:prstGeom>
        </p:spPr>
      </p:pic>
    </p:spTree>
    <p:extLst>
      <p:ext uri="{BB962C8B-B14F-4D97-AF65-F5344CB8AC3E}">
        <p14:creationId xmlns:p14="http://schemas.microsoft.com/office/powerpoint/2010/main" val="186761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bowling</a:t>
            </a:r>
          </a:p>
        </p:txBody>
      </p:sp>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fontScale="92500"/>
          </a:bodyPr>
          <a:lstStyle/>
          <a:p>
            <a:r>
              <a:rPr lang="en" altLang="en-US" dirty="0">
                <a:latin typeface="+mn-ea"/>
              </a:rPr>
              <a:t>Some bowling pins are arranged in the shape of an equilateral triangle (as shown in the figure below), </a:t>
            </a:r>
            <a:r>
              <a:rPr lang="en" altLang="zh-CN" dirty="0">
                <a:latin typeface="+mn-ea"/>
              </a:rPr>
              <a:t>N </a:t>
            </a:r>
            <a:r>
              <a:rPr lang="en" altLang="en-US" dirty="0">
                <a:latin typeface="+mn-ea"/>
              </a:rPr>
              <a:t>rows high.  Each pin is marked with a positive number ( </a:t>
            </a:r>
            <a:r>
              <a:rPr lang="en" altLang="zh-CN" dirty="0">
                <a:latin typeface="+mn-ea"/>
              </a:rPr>
              <a:t>1-99 </a:t>
            </a:r>
            <a:r>
              <a:rPr lang="en" altLang="en-US" dirty="0">
                <a:latin typeface="+mn-ea"/>
              </a:rPr>
              <a:t>). Now start from the top and push down the bowling pins. The rule is that after each pin falls, it brings down the adjacent left or right bottle on the next layer until you reach the bottom layer.</a:t>
            </a:r>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endParaRPr lang="en-US" altLang="zh-CN" dirty="0">
              <a:latin typeface="+mn-ea"/>
            </a:endParaRPr>
          </a:p>
          <a:p>
            <a:r>
              <a:rPr lang="en" altLang="en-US" dirty="0">
                <a:latin typeface="+mn-ea"/>
              </a:rPr>
              <a:t>Find the maximum possible value of the sum of the integers on all the bottles that have fallen down.</a:t>
            </a:r>
            <a:endParaRPr lang="en-US" altLang="zh-CN" dirty="0">
              <a:latin typeface="+mn-ea"/>
            </a:endParaRPr>
          </a:p>
        </p:txBody>
      </p:sp>
      <p:pic>
        <p:nvPicPr>
          <p:cNvPr id="10" name="图片 9">
            <a:extLst>
              <a:ext uri="{FF2B5EF4-FFF2-40B4-BE49-F238E27FC236}">
                <a16:creationId xmlns:a16="http://schemas.microsoft.com/office/drawing/2014/main" id="{78C6A939-5BD5-DA4B-B168-78EC7FF1BEFC}"/>
              </a:ext>
            </a:extLst>
          </p:cNvPr>
          <p:cNvPicPr>
            <a:picLocks noChangeAspect="1"/>
          </p:cNvPicPr>
          <p:nvPr/>
        </p:nvPicPr>
        <p:blipFill>
          <a:blip r:embed="rId3"/>
          <a:stretch>
            <a:fillRect/>
          </a:stretch>
        </p:blipFill>
        <p:spPr>
          <a:xfrm>
            <a:off x="4127788" y="3551111"/>
            <a:ext cx="2540000" cy="2362200"/>
          </a:xfrm>
          <a:prstGeom prst="rect">
            <a:avLst/>
          </a:prstGeom>
        </p:spPr>
      </p:pic>
    </p:spTree>
    <p:extLst>
      <p:ext uri="{BB962C8B-B14F-4D97-AF65-F5344CB8AC3E}">
        <p14:creationId xmlns:p14="http://schemas.microsoft.com/office/powerpoint/2010/main" val="3419663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bowling</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r>
                  <a:rPr lang="en" altLang="en-US" dirty="0">
                    <a:latin typeface="Arial" panose="020B0604020202020204" pitchFamily="34" charset="0"/>
                    <a:cs typeface="Arial" panose="020B0604020202020204" pitchFamily="34" charset="0"/>
                  </a:rPr>
                  <a:t>Forward recurrence:</a:t>
                </a:r>
                <a:endParaRPr lang="en-US" altLang="zh-CN" i="1" dirty="0">
                  <a:latin typeface="Arial" panose="020B0604020202020204" pitchFamily="34"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rPr>
                      <m:t>𝑎</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oMath>
                </a14:m>
                <a:r>
                  <a:rPr lang="en" altLang="en-US" dirty="0">
                    <a:latin typeface="Arial" panose="020B0604020202020204" pitchFamily="34" charset="0"/>
                    <a:cs typeface="Arial" panose="020B0604020202020204" pitchFamily="34" charset="0"/>
                  </a:rPr>
                  <a:t> is the number on the bowling pin on row</a:t>
                </a:r>
                <a:r>
                  <a:rPr lang="en-US" altLang="zh-CN" dirty="0"/>
                  <a:t>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t>
                </a:r>
                <a:r>
                  <a:rPr lang="en-AU" altLang="en-US" dirty="0">
                    <a:latin typeface="Arial" panose="020B0604020202020204" pitchFamily="34" charset="0"/>
                    <a:cs typeface="Arial" panose="020B0604020202020204" pitchFamily="34" charset="0"/>
                  </a:rPr>
                  <a:t>column</a:t>
                </a:r>
                <a:r>
                  <a:rPr lang="en" altLang="en-US"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𝑗</m:t>
                    </m:r>
                  </m:oMath>
                </a14:m>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oMath>
                </a14:m>
                <a:r>
                  <a:rPr lang="en" altLang="en-US" dirty="0">
                    <a:latin typeface="Arial" panose="020B0604020202020204" pitchFamily="34" charset="0"/>
                    <a:cs typeface="Arial" panose="020B0604020202020204" pitchFamily="34" charset="0"/>
                  </a:rPr>
                  <a:t> is the maximum sum of the numbers on the pins that have fallen down up to row</a:t>
                </a:r>
                <a:r>
                  <a:rPr lang="en-US" altLang="zh-CN" dirty="0"/>
                  <a:t>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t>
                </a:r>
                <a:r>
                  <a:rPr lang="en-AU" altLang="en-US" dirty="0">
                    <a:latin typeface="Arial" panose="020B0604020202020204" pitchFamily="34" charset="0"/>
                    <a:cs typeface="Arial" panose="020B0604020202020204" pitchFamily="34" charset="0"/>
                  </a:rPr>
                  <a:t>column</a:t>
                </a:r>
                <a:r>
                  <a:rPr lang="en" altLang="en-US"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𝑗</m:t>
                    </m:r>
                  </m:oMath>
                </a14:m>
                <a:r>
                  <a:rPr lang="en" altLang="en-US" dirty="0">
                    <a:latin typeface="Arial" panose="020B0604020202020204" pitchFamily="34" charset="0"/>
                    <a:cs typeface="Arial" panose="020B0604020202020204" pitchFamily="34" charset="0"/>
                  </a:rPr>
                  <a:t>  </a:t>
                </a:r>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r>
                            <a:rPr lang="en-US" altLang="zh-CN" i="1">
                              <a:latin typeface="Cambria Math" panose="02040503050406030204" pitchFamily="18" charset="0"/>
                            </a:rPr>
                            <m:t>,</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1,1</m:t>
                          </m:r>
                        </m:e>
                      </m:d>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−1,</m:t>
                          </m:r>
                          <m:r>
                            <a:rPr lang="en-US" altLang="zh-CN" b="0" i="1" smtClean="0">
                              <a:latin typeface="Cambria Math" panose="02040503050406030204" pitchFamily="18" charset="0"/>
                            </a:rPr>
                            <m:t>𝑖</m:t>
                          </m:r>
                          <m:r>
                            <a:rPr lang="en-US" altLang="zh-CN" b="0" i="1" smtClean="0">
                              <a:latin typeface="Cambria Math" panose="02040503050406030204" pitchFamily="18" charset="0"/>
                            </a:rPr>
                            <m:t>−1</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r>
                            <a:rPr lang="en-US" altLang="zh-CN" i="1">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𝑗</m:t>
                              </m:r>
                              <m:r>
                                <a:rPr lang="en-US" altLang="zh-CN" i="1">
                                  <a:latin typeface="Cambria Math" panose="02040503050406030204" pitchFamily="18" charset="0"/>
                                </a:rPr>
                                <m:t>−1</m:t>
                              </m:r>
                            </m:e>
                          </m:d>
                          <m:r>
                            <a:rPr lang="en-US" altLang="zh-CN" i="1">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𝑗</m:t>
                              </m:r>
                            </m:e>
                          </m:d>
                          <m:r>
                            <a:rPr lang="en-US" altLang="zh-CN" b="0" i="1" smtClean="0">
                              <a:latin typeface="Cambria Math" panose="02040503050406030204" pitchFamily="18" charset="0"/>
                            </a:rPr>
                            <m:t>}</m:t>
                          </m:r>
                        </m:e>
                      </m:func>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m:oMathPara>
                </a14:m>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the answer is:</a:t>
                </a:r>
                <a:r>
                  <a:rPr lang="en" altLang="zh-CN" dirty="0">
                    <a:latin typeface="Arial" panose="020B0604020202020204" pitchFamily="34" charset="0"/>
                    <a:cs typeface="Arial" panose="020B0604020202020204" pitchFamily="34" charset="0"/>
                  </a:rPr>
                  <a:t> </a:t>
                </a:r>
                <a14:m>
                  <m:oMath xmlns:m="http://schemas.openxmlformats.org/officeDocument/2006/math">
                    <m:func>
                      <m:funcPr>
                        <m:ctrlPr>
                          <a:rPr lang="en-US" altLang="zh-CN" i="1">
                            <a:latin typeface="Cambria Math" panose="02040503050406030204" pitchFamily="18" charset="0"/>
                          </a:rPr>
                        </m:ctrlPr>
                      </m:funcPr>
                      <m:fName>
                        <m:r>
                          <m:rPr>
                            <m:sty m:val="p"/>
                          </m:rPr>
                          <a:rPr lang="en-US" altLang="zh-CN" i="0">
                            <a:latin typeface="Cambria Math" panose="02040503050406030204" pitchFamily="18" charset="0"/>
                          </a:rPr>
                          <m:t>max</m:t>
                        </m:r>
                      </m:fName>
                      <m:e>
                        <m:r>
                          <a:rPr lang="en-US" altLang="zh-CN" b="0" i="1" smtClean="0">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𝑖</m:t>
                            </m:r>
                          </m:e>
                        </m:d>
                        <m:r>
                          <a:rPr lang="en-US" altLang="zh-CN" b="0" i="1" smtClean="0">
                            <a:latin typeface="Cambria Math" panose="02040503050406030204" pitchFamily="18" charset="0"/>
                          </a:rPr>
                          <m:t>}</m:t>
                        </m:r>
                      </m:e>
                    </m:func>
                  </m:oMath>
                </a14:m>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a:stretch>
              </a:blipFill>
            </p:spPr>
            <p:txBody>
              <a:bodyPr/>
              <a:lstStyle/>
              <a:p>
                <a:r>
                  <a:rPr lang="en-AU">
                    <a:noFill/>
                  </a:rPr>
                  <a:t> </a:t>
                </a:r>
              </a:p>
            </p:txBody>
          </p:sp>
        </mc:Fallback>
      </mc:AlternateContent>
    </p:spTree>
    <p:extLst>
      <p:ext uri="{BB962C8B-B14F-4D97-AF65-F5344CB8AC3E}">
        <p14:creationId xmlns:p14="http://schemas.microsoft.com/office/powerpoint/2010/main" val="1749811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bowling</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r>
                  <a:rPr lang="en" altLang="en-US" dirty="0">
                    <a:latin typeface="Arial" panose="020B0604020202020204" pitchFamily="34" charset="0"/>
                    <a:cs typeface="Arial" panose="020B0604020202020204" pitchFamily="34" charset="0"/>
                  </a:rPr>
                  <a:t>Reverse recurrence:</a:t>
                </a:r>
                <a:endParaRPr lang="en-US" altLang="zh-CN" i="1" dirty="0">
                  <a:latin typeface="Arial" panose="020B0604020202020204" pitchFamily="34" charset="0"/>
                  <a:cs typeface="Arial" panose="020B0604020202020204" pitchFamily="34" charset="0"/>
                </a:endParaRPr>
              </a:p>
              <a:p>
                <a14:m>
                  <m:oMath xmlns:m="http://schemas.openxmlformats.org/officeDocument/2006/math">
                    <m:r>
                      <a:rPr lang="en-US" altLang="zh-CN" b="0" i="1" smtClean="0">
                        <a:latin typeface="Cambria Math" panose="02040503050406030204" pitchFamily="18" charset="0"/>
                      </a:rPr>
                      <m:t>𝑎</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oMath>
                </a14:m>
                <a:r>
                  <a:rPr lang="en" altLang="en-US" dirty="0">
                    <a:latin typeface="Arial" panose="020B0604020202020204" pitchFamily="34" charset="0"/>
                    <a:cs typeface="Arial" panose="020B0604020202020204" pitchFamily="34" charset="0"/>
                  </a:rPr>
                  <a:t> is the number on the bowling pin on row</a:t>
                </a:r>
                <a:r>
                  <a:rPr lang="en-US" altLang="zh-CN" dirty="0"/>
                  <a:t>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t>
                </a:r>
                <a:r>
                  <a:rPr lang="en-AU" altLang="en-US" dirty="0">
                    <a:latin typeface="Arial" panose="020B0604020202020204" pitchFamily="34" charset="0"/>
                    <a:cs typeface="Arial" panose="020B0604020202020204" pitchFamily="34" charset="0"/>
                  </a:rPr>
                  <a:t>column</a:t>
                </a:r>
                <a:r>
                  <a:rPr lang="en" altLang="en-US"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𝑗</m:t>
                    </m:r>
                  </m:oMath>
                </a14:m>
                <a:endParaRPr lang="en-US" altLang="zh-CN" dirty="0">
                  <a:latin typeface="Arial" panose="020B0604020202020204" pitchFamily="34" charset="0"/>
                  <a:cs typeface="Arial" panose="020B0604020202020204" pitchFamily="34" charset="0"/>
                </a:endParaRPr>
              </a:p>
              <a:p>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oMath>
                </a14:m>
                <a:r>
                  <a:rPr lang="en" altLang="en-US" dirty="0">
                    <a:latin typeface="Arial" panose="020B0604020202020204" pitchFamily="34" charset="0"/>
                    <a:cs typeface="Arial" panose="020B0604020202020204" pitchFamily="34" charset="0"/>
                  </a:rPr>
                  <a:t> is the maximum sum of numbers on pins that fall down from row</a:t>
                </a:r>
                <a:r>
                  <a:rPr lang="en-US" altLang="zh-CN" dirty="0"/>
                  <a:t>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t>
                </a:r>
                <a:r>
                  <a:rPr lang="en-AU" altLang="en-US" dirty="0">
                    <a:latin typeface="Arial" panose="020B0604020202020204" pitchFamily="34" charset="0"/>
                    <a:cs typeface="Arial" panose="020B0604020202020204" pitchFamily="34" charset="0"/>
                  </a:rPr>
                  <a:t>column</a:t>
                </a:r>
                <a:r>
                  <a:rPr lang="en" altLang="en-US"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𝑗</m:t>
                    </m:r>
                  </m:oMath>
                </a14:m>
                <a:r>
                  <a:rPr lang="en" altLang="en-US" dirty="0">
                    <a:latin typeface="Arial" panose="020B0604020202020204" pitchFamily="34" charset="0"/>
                    <a:cs typeface="Arial" panose="020B0604020202020204" pitchFamily="34" charset="0"/>
                  </a:rPr>
                  <a:t> to the bottom row</a:t>
                </a:r>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𝑛</m:t>
                          </m:r>
                          <m:r>
                            <a:rPr lang="en-US" altLang="zh-CN" i="1">
                              <a:latin typeface="Cambria Math" panose="02040503050406030204" pitchFamily="18" charset="0"/>
                            </a:rPr>
                            <m:t>,</m:t>
                          </m:r>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𝑎</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d>
                    </m:oMath>
                  </m:oMathPara>
                </a14:m>
                <a:endParaRPr lang="en-US" altLang="zh-CN" b="0"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𝑗</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max</m:t>
                          </m:r>
                        </m:fName>
                        <m:e>
                          <m:r>
                            <a:rPr lang="en-US" altLang="zh-CN" b="0" i="1" smtClean="0">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𝑗</m:t>
                              </m:r>
                            </m:e>
                          </m:d>
                          <m:r>
                            <a:rPr lang="en-US" altLang="zh-CN" i="1">
                              <a:latin typeface="Cambria Math" panose="02040503050406030204" pitchFamily="18" charset="0"/>
                            </a:rPr>
                            <m:t>,</m:t>
                          </m:r>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𝑗</m:t>
                              </m:r>
                              <m:r>
                                <a:rPr lang="en-US" altLang="zh-CN" i="1">
                                  <a:latin typeface="Cambria Math" panose="02040503050406030204" pitchFamily="18" charset="0"/>
                                </a:rPr>
                                <m:t>+1</m:t>
                              </m:r>
                            </m:e>
                          </m:d>
                          <m:r>
                            <a:rPr lang="en-US" altLang="zh-CN" b="0" i="1" smtClean="0">
                              <a:latin typeface="Cambria Math" panose="02040503050406030204" pitchFamily="18" charset="0"/>
                            </a:rPr>
                            <m:t>}</m:t>
                          </m:r>
                        </m:e>
                      </m:func>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oMath>
                  </m:oMathPara>
                </a14:m>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the answer is:</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𝑓</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r>
                          <a:rPr lang="en-US" altLang="zh-CN" i="1">
                            <a:latin typeface="Cambria Math" panose="02040503050406030204" pitchFamily="18" charset="0"/>
                          </a:rPr>
                          <m:t>,</m:t>
                        </m:r>
                        <m:r>
                          <a:rPr lang="en-US" altLang="zh-CN" b="0" i="1" smtClean="0">
                            <a:latin typeface="Cambria Math" panose="02040503050406030204" pitchFamily="18" charset="0"/>
                          </a:rPr>
                          <m:t>1</m:t>
                        </m:r>
                      </m:e>
                    </m:d>
                  </m:oMath>
                </a14:m>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a:stretch>
              </a:blipFill>
            </p:spPr>
            <p:txBody>
              <a:bodyPr/>
              <a:lstStyle/>
              <a:p>
                <a:r>
                  <a:rPr lang="en-AU">
                    <a:noFill/>
                  </a:rPr>
                  <a:t> </a:t>
                </a:r>
              </a:p>
            </p:txBody>
          </p:sp>
        </mc:Fallback>
      </mc:AlternateContent>
    </p:spTree>
    <p:extLst>
      <p:ext uri="{BB962C8B-B14F-4D97-AF65-F5344CB8AC3E}">
        <p14:creationId xmlns:p14="http://schemas.microsoft.com/office/powerpoint/2010/main" val="158614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Write a program based on the </a:t>
            </a:r>
            <a:r>
              <a:rPr lang="en-AU" altLang="en-US" dirty="0">
                <a:solidFill>
                  <a:schemeClr val="bg1"/>
                </a:solidFill>
              </a:rPr>
              <a:t>Recurrence</a:t>
            </a:r>
            <a:r>
              <a:rPr lang="en" altLang="en-US" dirty="0">
                <a:solidFill>
                  <a:schemeClr val="bg1"/>
                </a:solidFill>
              </a:rPr>
              <a:t> formula</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r>
                  <a:rPr lang="en" altLang="en-US" dirty="0">
                    <a:latin typeface="Arial" panose="020B0604020202020204" pitchFamily="34" charset="0"/>
                    <a:cs typeface="Arial" panose="020B0604020202020204" pitchFamily="34" charset="0"/>
                  </a:rPr>
                  <a:t>Determine the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order according to the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formula, and then program according to the </a:t>
                </a:r>
                <a:r>
                  <a:rPr lang="en-AU" altLang="en-US" dirty="0">
                    <a:latin typeface="Arial" panose="020B0604020202020204" pitchFamily="34" charset="0"/>
                    <a:cs typeface="Arial" panose="020B0604020202020204" pitchFamily="34" charset="0"/>
                  </a:rPr>
                  <a:t>Recurrence</a:t>
                </a:r>
                <a:r>
                  <a:rPr lang="en" altLang="en-US" dirty="0">
                    <a:latin typeface="Arial" panose="020B0604020202020204" pitchFamily="34" charset="0"/>
                    <a:cs typeface="Arial" panose="020B0604020202020204" pitchFamily="34" charset="0"/>
                  </a:rPr>
                  <a:t> order</a:t>
                </a:r>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Example </a:t>
                </a:r>
                <a:r>
                  <a:rPr lang="en" altLang="zh-CN" dirty="0">
                    <a:latin typeface="Arial" panose="020B0604020202020204" pitchFamily="34" charset="0"/>
                    <a:cs typeface="Arial" panose="020B0604020202020204" pitchFamily="34" charset="0"/>
                  </a:rPr>
                  <a:t>1 </a:t>
                </a:r>
                <a:r>
                  <a:rPr lang="en" altLang="en-US" dirty="0">
                    <a:latin typeface="Arial" panose="020B0604020202020204" pitchFamily="34" charset="0"/>
                    <a:cs typeface="Arial" panose="020B0604020202020204" pitchFamily="34" charset="0"/>
                  </a:rPr>
                  <a:t>:</a:t>
                </a:r>
                <a:endParaRPr lang="en-US" altLang="zh-CN" i="1"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a:latin typeface="Cambria Math" panose="02040503050406030204" pitchFamily="18" charset="0"/>
                        </a:rPr>
                        <m:t>=</m:t>
                      </m:r>
                      <m:r>
                        <m:rPr>
                          <m:sty m:val="p"/>
                        </m:rPr>
                        <a:rPr lang="en-US" altLang="zh-CN" i="0">
                          <a:latin typeface="Cambria Math" panose="02040503050406030204" pitchFamily="18" charset="0"/>
                        </a:rPr>
                        <m:t>max</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𝑣</m:t>
                              </m:r>
                            </m:e>
                          </m:d>
                          <m:r>
                            <a:rPr lang="en-US" altLang="zh-CN">
                              <a:latin typeface="Cambria Math" panose="02040503050406030204" pitchFamily="18" charset="0"/>
                            </a:rPr>
                            <m:t>,</m:t>
                          </m:r>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𝑣</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sub>
                              </m:sSub>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𝑖</m:t>
                              </m:r>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𝑁</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r>
                        <a:rPr lang="en-US" altLang="zh-CN" b="0" i="1" smtClean="0">
                          <a:latin typeface="Cambria Math" panose="02040503050406030204" pitchFamily="18" charset="0"/>
                          <a:ea typeface="Cambria Math" panose="02040503050406030204" pitchFamily="18" charset="0"/>
                        </a:rPr>
                        <m:t>∈[1,</m:t>
                      </m:r>
                      <m:r>
                        <a:rPr lang="en-US" altLang="zh-CN" b="0" i="1" smtClean="0">
                          <a:latin typeface="Cambria Math" panose="02040503050406030204" pitchFamily="18" charset="0"/>
                          <a:ea typeface="Cambria Math" panose="02040503050406030204" pitchFamily="18" charset="0"/>
                        </a:rPr>
                        <m:t>𝑉</m:t>
                      </m:r>
                      <m:r>
                        <a:rPr lang="en-US" altLang="zh-CN" b="0" i="1" smtClean="0">
                          <a:latin typeface="Cambria Math" panose="02040503050406030204" pitchFamily="18" charset="0"/>
                          <a:ea typeface="Cambria Math" panose="02040503050406030204" pitchFamily="18" charset="0"/>
                        </a:rPr>
                        <m:t>]</m:t>
                      </m:r>
                    </m:oMath>
                  </m:oMathPara>
                </a14:m>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Order: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ascending,</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b="0" i="1" smtClean="0">
                        <a:latin typeface="Cambria Math" panose="02040503050406030204" pitchFamily="18" charset="0"/>
                      </a:rPr>
                      <m:t>𝑣</m:t>
                    </m:r>
                  </m:oMath>
                </a14:m>
                <a:r>
                  <a:rPr lang="en" altLang="en-US" dirty="0">
                    <a:latin typeface="Arial" panose="020B0604020202020204" pitchFamily="34" charset="0"/>
                    <a:cs typeface="Arial" panose="020B0604020202020204" pitchFamily="34" charset="0"/>
                  </a:rPr>
                  <a:t> ascending, </a:t>
                </a:r>
                <a14:m>
                  <m:oMath xmlns:m="http://schemas.openxmlformats.org/officeDocument/2006/math">
                    <m:r>
                      <a:rPr lang="en-US" altLang="zh-CN" i="1">
                        <a:latin typeface="Cambria Math" panose="02040503050406030204" pitchFamily="18" charset="0"/>
                      </a:rPr>
                      <m:t>𝑖</m:t>
                    </m:r>
                    <m:r>
                      <a:rPr lang="en-US" altLang="zh-CN" i="1">
                        <a:latin typeface="Cambria Math" panose="02040503050406030204" pitchFamily="18" charset="0"/>
                      </a:rPr>
                      <m:t> </m:t>
                    </m:r>
                  </m:oMath>
                </a14:m>
                <a:r>
                  <a:rPr lang="en" altLang="en-US" dirty="0">
                    <a:latin typeface="Arial" panose="020B0604020202020204" pitchFamily="34" charset="0"/>
                    <a:cs typeface="Arial" panose="020B0604020202020204" pitchFamily="34" charset="0"/>
                  </a:rPr>
                  <a:t>before </a:t>
                </a:r>
                <a14:m>
                  <m:oMath xmlns:m="http://schemas.openxmlformats.org/officeDocument/2006/math">
                    <m:r>
                      <a:rPr lang="en-US" altLang="zh-CN" i="1">
                        <a:latin typeface="Cambria Math" panose="02040503050406030204" pitchFamily="18" charset="0"/>
                        <a:ea typeface="Cambria Math" panose="02040503050406030204" pitchFamily="18" charset="0"/>
                      </a:rPr>
                      <m:t>𝑣</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Example </a:t>
                </a:r>
                <a:r>
                  <a:rPr lang="en" altLang="zh-CN" dirty="0">
                    <a:latin typeface="Arial" panose="020B0604020202020204" pitchFamily="34" charset="0"/>
                    <a:cs typeface="Arial" panose="020B0604020202020204" pitchFamily="34" charset="0"/>
                  </a:rPr>
                  <a:t>2 </a:t>
                </a:r>
                <a:r>
                  <a:rPr lang="e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𝑣</m:t>
                          </m:r>
                        </m:e>
                      </m:d>
                      <m:r>
                        <a:rPr lang="en-US" altLang="zh-CN">
                          <a:latin typeface="Cambria Math" panose="02040503050406030204" pitchFamily="18" charset="0"/>
                        </a:rPr>
                        <m:t>=</m:t>
                      </m:r>
                      <m:r>
                        <m:rPr>
                          <m:sty m:val="p"/>
                        </m:rPr>
                        <a:rPr lang="en-US" altLang="zh-CN" i="0">
                          <a:latin typeface="Cambria Math" panose="02040503050406030204" pitchFamily="18" charset="0"/>
                        </a:rPr>
                        <m:t>max</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−1,</m:t>
                              </m:r>
                              <m:r>
                                <a:rPr lang="en-US" altLang="zh-CN" i="1">
                                  <a:latin typeface="Cambria Math" panose="02040503050406030204" pitchFamily="18" charset="0"/>
                                </a:rPr>
                                <m:t>𝑣</m:t>
                              </m:r>
                              <m:r>
                                <a:rPr lang="en-US" altLang="zh-CN" i="1">
                                  <a:latin typeface="Cambria Math" panose="02040503050406030204" pitchFamily="18" charset="0"/>
                                </a:rPr>
                                <m:t>−</m:t>
                              </m:r>
                              <m:r>
                                <a:rPr lang="en-US" altLang="zh-CN" i="1">
                                  <a:latin typeface="Cambria Math" panose="02040503050406030204" pitchFamily="18" charset="0"/>
                                </a:rPr>
                                <m:t>𝑘</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sub>
                              </m:sSub>
                            </m:e>
                          </m:d>
                          <m:r>
                            <a:rPr lang="en-US" altLang="zh-CN" i="1">
                              <a:latin typeface="Cambria Math" panose="02040503050406030204" pitchFamily="18" charset="0"/>
                            </a:rPr>
                            <m:t>+</m:t>
                          </m:r>
                          <m:r>
                            <a:rPr lang="en-US" altLang="zh-CN" i="1">
                              <a:latin typeface="Cambria Math" panose="02040503050406030204" pitchFamily="18" charset="0"/>
                            </a:rPr>
                            <m:t>𝑘</m:t>
                          </m:r>
                          <m:sSub>
                            <m:sSubPr>
                              <m:ctrlPr>
                                <a:rPr lang="en-US" altLang="zh-CN" i="1">
                                  <a:latin typeface="Cambria Math" panose="02040503050406030204" pitchFamily="18" charset="0"/>
                                </a:rPr>
                              </m:ctrlPr>
                            </m:sSubPr>
                            <m:e>
                              <m:r>
                                <a:rPr lang="en-US" altLang="zh-CN" i="1">
                                  <a:latin typeface="Cambria Math" panose="02040503050406030204" pitchFamily="18" charset="0"/>
                                </a:rPr>
                                <m:t>𝑊</m:t>
                              </m:r>
                            </m:e>
                            <m:sub>
                              <m:r>
                                <a:rPr lang="en-US" altLang="zh-CN" i="1">
                                  <a:latin typeface="Cambria Math" panose="02040503050406030204" pitchFamily="18" charset="0"/>
                                </a:rPr>
                                <m:t>𝑖</m:t>
                              </m:r>
                            </m:sub>
                          </m:sSub>
                          <m:r>
                            <a:rPr lang="en-US" altLang="zh-CN" i="1">
                              <a:latin typeface="Cambria Math" panose="02040503050406030204" pitchFamily="18" charset="0"/>
                            </a:rPr>
                            <m:t> </m:t>
                          </m:r>
                        </m:e>
                      </m:d>
                      <m:r>
                        <a:rPr lang="en-US" altLang="zh-CN" i="1">
                          <a:latin typeface="Cambria Math" panose="02040503050406030204" pitchFamily="18" charset="0"/>
                        </a:rPr>
                        <m:t> 0≤</m:t>
                      </m:r>
                      <m:r>
                        <a:rPr lang="en-US" altLang="zh-CN" i="1">
                          <a:latin typeface="Cambria Math" panose="02040503050406030204" pitchFamily="18" charset="0"/>
                        </a:rPr>
                        <m:t>𝑘</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𝑣</m:t>
                      </m:r>
                      <m:r>
                        <a:rPr lang="en-US" altLang="zh-CN" i="1">
                          <a:latin typeface="Cambria Math" panose="02040503050406030204" pitchFamily="18" charset="0"/>
                        </a:rPr>
                        <m:t>}</m:t>
                      </m:r>
                    </m:oMath>
                  </m:oMathPara>
                </a14:m>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Order :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ascending,</a:t>
                </a:r>
                <a:r>
                  <a:rPr lang="en" altLang="zh-CN" dirty="0">
                    <a:latin typeface="Arial" panose="020B0604020202020204" pitchFamily="34" charset="0"/>
                    <a:cs typeface="Arial" panose="020B0604020202020204" pitchFamily="34" charset="0"/>
                  </a:rPr>
                  <a:t> </a:t>
                </a:r>
                <a14:m>
                  <m:oMath xmlns:m="http://schemas.openxmlformats.org/officeDocument/2006/math">
                    <m:r>
                      <a:rPr lang="en-US" altLang="zh-CN" i="1">
                        <a:latin typeface="Cambria Math" panose="02040503050406030204" pitchFamily="18" charset="0"/>
                      </a:rPr>
                      <m:t>𝑣</m:t>
                    </m:r>
                  </m:oMath>
                </a14:m>
                <a:r>
                  <a:rPr lang="en" altLang="en-US" dirty="0">
                    <a:latin typeface="Arial" panose="020B0604020202020204" pitchFamily="34" charset="0"/>
                    <a:cs typeface="Arial" panose="020B0604020202020204" pitchFamily="34" charset="0"/>
                  </a:rPr>
                  <a:t> ascending,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before </a:t>
                </a:r>
                <a14:m>
                  <m:oMath xmlns:m="http://schemas.openxmlformats.org/officeDocument/2006/math">
                    <m:r>
                      <a:rPr lang="en-US" altLang="zh-CN" i="1">
                        <a:latin typeface="Cambria Math" panose="02040503050406030204" pitchFamily="18" charset="0"/>
                      </a:rPr>
                      <m:t>𝑣</m:t>
                    </m:r>
                  </m:oMath>
                </a14:m>
                <a:r>
                  <a:rPr lang="en" altLang="en-US" dirty="0">
                    <a:latin typeface="Arial" panose="020B0604020202020204" pitchFamily="34" charset="0"/>
                    <a:cs typeface="Arial" panose="020B0604020202020204" pitchFamily="34" charset="0"/>
                  </a:rPr>
                  <a:t>, enumerate </a:t>
                </a:r>
                <a14:m>
                  <m:oMath xmlns:m="http://schemas.openxmlformats.org/officeDocument/2006/math">
                    <m:r>
                      <a:rPr lang="en-US" altLang="zh-CN" b="0" i="1" smtClean="0">
                        <a:latin typeface="Cambria Math" panose="02040503050406030204" pitchFamily="18" charset="0"/>
                      </a:rPr>
                      <m:t>𝑘</m:t>
                    </m:r>
                  </m:oMath>
                </a14:m>
                <a:r>
                  <a:rPr lang="e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t="-808" b="-2656"/>
                </a:stretch>
              </a:blipFill>
            </p:spPr>
            <p:txBody>
              <a:bodyPr/>
              <a:lstStyle/>
              <a:p>
                <a:r>
                  <a:rPr lang="en-AU">
                    <a:noFill/>
                  </a:rPr>
                  <a:t> </a:t>
                </a:r>
              </a:p>
            </p:txBody>
          </p:sp>
        </mc:Fallback>
      </mc:AlternateContent>
    </p:spTree>
    <p:extLst>
      <p:ext uri="{BB962C8B-B14F-4D97-AF65-F5344CB8AC3E}">
        <p14:creationId xmlns:p14="http://schemas.microsoft.com/office/powerpoint/2010/main" val="42441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D00FBD-1222-496C-8A0C-0B68A7CB6094}"/>
              </a:ext>
            </a:extLst>
          </p:cNvPr>
          <p:cNvSpPr>
            <a:spLocks noGrp="1"/>
          </p:cNvSpPr>
          <p:nvPr>
            <p:ph type="title"/>
          </p:nvPr>
        </p:nvSpPr>
        <p:spPr>
          <a:xfrm>
            <a:off x="678609" y="7541"/>
            <a:ext cx="10368800" cy="1478570"/>
          </a:xfrm>
        </p:spPr>
        <p:txBody>
          <a:bodyPr/>
          <a:lstStyle/>
          <a:p>
            <a:r>
              <a:rPr lang="en" altLang="en-US" dirty="0">
                <a:solidFill>
                  <a:schemeClr val="bg1"/>
                </a:solidFill>
              </a:rPr>
              <a:t>Write a program based on the </a:t>
            </a:r>
            <a:r>
              <a:rPr lang="en-AU" altLang="en-US" dirty="0">
                <a:solidFill>
                  <a:schemeClr val="bg1"/>
                </a:solidFill>
              </a:rPr>
              <a:t>Recurrence</a:t>
            </a:r>
            <a:r>
              <a:rPr lang="en" altLang="en-US" dirty="0">
                <a:solidFill>
                  <a:schemeClr val="bg1"/>
                </a:solidFill>
              </a:rPr>
              <a:t> formula</a:t>
            </a:r>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364B6489-5513-4724-81F7-F874B8C60D21}"/>
                  </a:ext>
                </a:extLst>
              </p:cNvPr>
              <p:cNvSpPr>
                <a:spLocks noGrp="1"/>
              </p:cNvSpPr>
              <p:nvPr>
                <p:ph idx="1"/>
              </p:nvPr>
            </p:nvSpPr>
            <p:spPr>
              <a:xfrm>
                <a:off x="678612" y="1486110"/>
                <a:ext cx="10368800" cy="5282749"/>
              </a:xfrm>
            </p:spPr>
            <p:txBody>
              <a:bodyPr anchor="ctr" anchorCtr="0">
                <a:normAutofit/>
              </a:bodyPr>
              <a:lstStyle/>
              <a:p>
                <a:r>
                  <a:rPr lang="en" altLang="en-US" dirty="0">
                    <a:latin typeface="Arial" panose="020B0604020202020204" pitchFamily="34" charset="0"/>
                    <a:cs typeface="Arial" panose="020B0604020202020204" pitchFamily="34" charset="0"/>
                  </a:rPr>
                  <a:t>Example </a:t>
                </a:r>
                <a:r>
                  <a:rPr lang="en" altLang="zh-CN" dirty="0">
                    <a:latin typeface="Arial" panose="020B0604020202020204" pitchFamily="34" charset="0"/>
                    <a:cs typeface="Arial" panose="020B0604020202020204" pitchFamily="34" charset="0"/>
                  </a:rPr>
                  <a:t>3 </a:t>
                </a:r>
                <a:r>
                  <a:rPr lang="e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𝑓</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𝑛</m:t>
                          </m:r>
                        </m:e>
                      </m:d>
                      <m:r>
                        <a:rPr lang="en-US" altLang="zh-CN" b="0" i="1" smtClean="0">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i="0">
                                  <a:latin typeface="Cambria Math" panose="02040503050406030204" pitchFamily="18" charset="0"/>
                                </a:rPr>
                                <m:t>max</m:t>
                              </m:r>
                            </m:e>
                            <m:lim>
                              <m:r>
                                <a:rPr lang="en-US" altLang="zh-CN" i="1">
                                  <a:latin typeface="Cambria Math" panose="02040503050406030204" pitchFamily="18" charset="0"/>
                                </a:rPr>
                                <m:t>1≤</m:t>
                              </m:r>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𝑛</m:t>
                              </m:r>
                            </m:lim>
                          </m:limLow>
                        </m:fName>
                        <m:e>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sub>
                          </m:sSub>
                          <m:r>
                            <a:rPr lang="en-US" altLang="zh-CN" i="1">
                              <a:latin typeface="Cambria Math" panose="02040503050406030204" pitchFamily="18" charset="0"/>
                            </a:rPr>
                            <m:t>+</m:t>
                          </m:r>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𝑛</m:t>
                              </m:r>
                              <m:r>
                                <a:rPr lang="en-US" altLang="zh-CN" i="1">
                                  <a:latin typeface="Cambria Math" panose="02040503050406030204" pitchFamily="18" charset="0"/>
                                </a:rPr>
                                <m:t>−</m:t>
                              </m:r>
                              <m:r>
                                <a:rPr lang="en-US" altLang="zh-CN" i="1">
                                  <a:latin typeface="Cambria Math" panose="02040503050406030204" pitchFamily="18" charset="0"/>
                                </a:rPr>
                                <m:t>𝑖</m:t>
                              </m:r>
                            </m:e>
                          </m:d>
                          <m:r>
                            <a:rPr lang="en-US" altLang="zh-CN" i="1">
                              <a:latin typeface="Cambria Math" panose="02040503050406030204" pitchFamily="18" charset="0"/>
                            </a:rPr>
                            <m:t>)</m:t>
                          </m:r>
                        </m:e>
                      </m:func>
                      <m:r>
                        <m:rPr>
                          <m:nor/>
                        </m:rPr>
                        <a:rPr lang="zh-CN" altLang="en-US" dirty="0">
                          <a:latin typeface="Arial" panose="020B0604020202020204" pitchFamily="34" charset="0"/>
                          <a:cs typeface="Arial" panose="020B0604020202020204" pitchFamily="34" charset="0"/>
                        </a:rPr>
                        <m:t>，</m:t>
                      </m:r>
                      <m:r>
                        <a:rPr lang="en-US" altLang="zh-CN" i="1">
                          <a:latin typeface="Cambria Math" panose="02040503050406030204" pitchFamily="18" charset="0"/>
                        </a:rPr>
                        <m:t>𝑓</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0</m:t>
                          </m:r>
                        </m:e>
                      </m:d>
                      <m:r>
                        <a:rPr lang="en-US" altLang="zh-CN" b="0" i="1" smtClean="0">
                          <a:latin typeface="Cambria Math" panose="02040503050406030204" pitchFamily="18" charset="0"/>
                        </a:rPr>
                        <m:t>=0</m:t>
                      </m:r>
                    </m:oMath>
                  </m:oMathPara>
                </a14:m>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Order: </a:t>
                </a:r>
                <a14:m>
                  <m:oMath xmlns:m="http://schemas.openxmlformats.org/officeDocument/2006/math">
                    <m:r>
                      <a:rPr lang="en-US" altLang="zh-CN" b="0" i="1" smtClean="0">
                        <a:latin typeface="Cambria Math" panose="02040503050406030204" pitchFamily="18" charset="0"/>
                      </a:rPr>
                      <m:t>𝑛</m:t>
                    </m:r>
                  </m:oMath>
                </a14:m>
                <a:r>
                  <a:rPr lang="en" altLang="en-US" dirty="0">
                    <a:latin typeface="Arial" panose="020B0604020202020204" pitchFamily="34" charset="0"/>
                    <a:cs typeface="Arial" panose="020B0604020202020204" pitchFamily="34" charset="0"/>
                  </a:rPr>
                  <a:t> ascending, enumerate </a:t>
                </a:r>
                <a14:m>
                  <m:oMath xmlns:m="http://schemas.openxmlformats.org/officeDocument/2006/math">
                    <m:r>
                      <a:rPr lang="en-US" altLang="zh-CN" i="1">
                        <a:latin typeface="Cambria Math" panose="02040503050406030204" pitchFamily="18" charset="0"/>
                      </a:rPr>
                      <m:t>𝑖</m:t>
                    </m:r>
                  </m:oMath>
                </a14:m>
                <a:endParaRPr lang="en-US" altLang="zh-CN" dirty="0">
                  <a:latin typeface="Arial" panose="020B0604020202020204" pitchFamily="34" charset="0"/>
                  <a:cs typeface="Arial" panose="020B0604020202020204" pitchFamily="34" charset="0"/>
                </a:endParaRPr>
              </a:p>
              <a:p>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Example </a:t>
                </a:r>
                <a:r>
                  <a:rPr lang="en" altLang="zh-CN" dirty="0">
                    <a:latin typeface="Arial" panose="020B0604020202020204" pitchFamily="34" charset="0"/>
                    <a:cs typeface="Arial" panose="020B0604020202020204" pitchFamily="34" charset="0"/>
                  </a:rPr>
                  <a:t>4 </a:t>
                </a:r>
                <a:r>
                  <a:rPr lang="e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pPr marL="0" indent="0">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e>
                      </m:d>
                      <m:r>
                        <a:rPr lang="en-US" altLang="zh-CN" smtClean="0">
                          <a:latin typeface="Cambria Math" panose="02040503050406030204" pitchFamily="18" charset="0"/>
                        </a:rPr>
                        <m:t>=</m:t>
                      </m:r>
                      <m:r>
                        <m:rPr>
                          <m:sty m:val="p"/>
                        </m:rPr>
                        <a:rPr lang="en-US" altLang="zh-CN" i="0">
                          <a:latin typeface="Cambria Math" panose="02040503050406030204" pitchFamily="18" charset="0"/>
                        </a:rPr>
                        <m:t>max</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𝑘</m:t>
                              </m:r>
                            </m:e>
                          </m:d>
                          <m:r>
                            <a:rPr lang="en-US" altLang="zh-CN" i="1">
                              <a:latin typeface="Cambria Math" panose="02040503050406030204" pitchFamily="18" charset="0"/>
                            </a:rPr>
                            <m:t>+</m:t>
                          </m:r>
                          <m:r>
                            <a:rPr lang="en-US" altLang="zh-CN" b="0" i="1" smtClean="0">
                              <a:latin typeface="Cambria Math" panose="02040503050406030204" pitchFamily="18" charset="0"/>
                            </a:rPr>
                            <m:t>𝐹</m:t>
                          </m:r>
                          <m:d>
                            <m:dPr>
                              <m:begChr m:val="["/>
                              <m:endChr m:val="]"/>
                              <m:ctrlPr>
                                <a:rPr lang="en-US" altLang="zh-CN" b="0" i="1" smtClean="0">
                                  <a:latin typeface="Cambria Math" panose="02040503050406030204" pitchFamily="18" charset="0"/>
                                </a:rPr>
                              </m:ctrlPr>
                            </m:dPr>
                            <m:e>
                              <m:r>
                                <a:rPr lang="en-US" altLang="zh-CN" i="1">
                                  <a:latin typeface="Cambria Math" panose="02040503050406030204" pitchFamily="18" charset="0"/>
                                </a:rPr>
                                <m:t>𝑘</m:t>
                              </m:r>
                              <m:r>
                                <a:rPr lang="en-US" altLang="zh-CN" b="0" i="1" smtClean="0">
                                  <a:latin typeface="Cambria Math" panose="02040503050406030204" pitchFamily="18" charset="0"/>
                                </a:rPr>
                                <m:t>+1,</m:t>
                              </m:r>
                              <m:r>
                                <a:rPr lang="en-US" altLang="zh-CN" b="0" i="1" smtClean="0">
                                  <a:latin typeface="Cambria Math" panose="02040503050406030204" pitchFamily="18" charset="0"/>
                                </a:rPr>
                                <m:t>𝑗</m:t>
                              </m:r>
                            </m:e>
                          </m:d>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sub>
                          </m:sSub>
                        </m:e>
                      </m:d>
                      <m:r>
                        <a:rPr lang="en-US" altLang="zh-CN" i="1">
                          <a:latin typeface="Cambria Math" panose="02040503050406030204" pitchFamily="18" charset="0"/>
                        </a:rPr>
                        <m:t> </m:t>
                      </m:r>
                      <m:r>
                        <a:rPr lang="en-US" altLang="zh-CN" b="0" i="1" smtClean="0">
                          <a:latin typeface="Cambria Math" panose="02040503050406030204" pitchFamily="18" charset="0"/>
                        </a:rPr>
                        <m:t>𝑖</m:t>
                      </m:r>
                      <m:r>
                        <a:rPr lang="en-US" altLang="zh-CN" i="1">
                          <a:latin typeface="Cambria Math" panose="02040503050406030204" pitchFamily="18" charset="0"/>
                        </a:rPr>
                        <m:t>≤</m:t>
                      </m:r>
                      <m:r>
                        <a:rPr lang="en-US" altLang="zh-CN" i="1">
                          <a:latin typeface="Cambria Math" panose="02040503050406030204" pitchFamily="18" charset="0"/>
                        </a:rPr>
                        <m:t>𝑘</m:t>
                      </m:r>
                      <m:r>
                        <a:rPr lang="en-US" altLang="zh-CN" b="0" i="1" smtClean="0">
                          <a:latin typeface="Cambria Math" panose="02040503050406030204" pitchFamily="18" charset="0"/>
                        </a:rPr>
                        <m:t>&lt;</m:t>
                      </m:r>
                      <m:r>
                        <a:rPr lang="en-US" altLang="zh-CN" b="0" i="1" smtClean="0">
                          <a:latin typeface="Cambria Math" panose="02040503050406030204" pitchFamily="18" charset="0"/>
                        </a:rPr>
                        <m:t>𝑗</m:t>
                      </m:r>
                      <m:r>
                        <a:rPr lang="en-US" altLang="zh-CN" b="0" i="1" smtClean="0">
                          <a:latin typeface="Cambria Math" panose="02040503050406030204" pitchFamily="18" charset="0"/>
                        </a:rPr>
                        <m:t> }</m:t>
                      </m:r>
                      <m:r>
                        <m:rPr>
                          <m:nor/>
                        </m:rPr>
                        <a:rPr lang="zh-CN" altLang="en-US" dirty="0">
                          <a:latin typeface="Arial" panose="020B0604020202020204" pitchFamily="34" charset="0"/>
                          <a:cs typeface="Arial" panose="020B0604020202020204" pitchFamily="34" charset="0"/>
                        </a:rPr>
                        <m:t>，</m:t>
                      </m:r>
                      <m:r>
                        <a:rPr lang="en-US" altLang="zh-CN" b="0" i="1" smtClean="0">
                          <a:latin typeface="Cambria Math" panose="02040503050406030204" pitchFamily="18" charset="0"/>
                        </a:rPr>
                        <m:t>𝐹</m:t>
                      </m:r>
                      <m:d>
                        <m:dPr>
                          <m:begChr m:val="["/>
                          <m:endChr m:val="]"/>
                          <m:ctrlPr>
                            <a:rPr lang="en-US" altLang="zh-CN" i="1">
                              <a:latin typeface="Cambria Math" panose="02040503050406030204" pitchFamily="18" charset="0"/>
                            </a:rPr>
                          </m:ctrlPr>
                        </m:dPr>
                        <m:e>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i="1">
                              <a:latin typeface="Cambria Math" panose="02040503050406030204" pitchFamily="18" charset="0"/>
                            </a:rPr>
                            <m:t>𝑖</m:t>
                          </m:r>
                        </m:sub>
                      </m:sSub>
                    </m:oMath>
                  </m:oMathPara>
                </a14:m>
                <a:endParaRPr lang="en-US" altLang="zh-CN" dirty="0">
                  <a:latin typeface="Arial" panose="020B0604020202020204" pitchFamily="34" charset="0"/>
                  <a:cs typeface="Arial" panose="020B0604020202020204" pitchFamily="34" charset="0"/>
                </a:endParaRPr>
              </a:p>
              <a:p>
                <a:r>
                  <a:rPr lang="en" altLang="en-US" dirty="0">
                    <a:latin typeface="Arial" panose="020B0604020202020204" pitchFamily="34" charset="0"/>
                    <a:cs typeface="Arial" panose="020B0604020202020204" pitchFamily="34" charset="0"/>
                  </a:rPr>
                  <a:t>Order : interval size ascending, enumeration starting </a:t>
                </a:r>
                <a14:m>
                  <m:oMath xmlns:m="http://schemas.openxmlformats.org/officeDocument/2006/math">
                    <m:r>
                      <a:rPr lang="en-US" altLang="zh-CN" i="1">
                        <a:latin typeface="Cambria Math" panose="02040503050406030204" pitchFamily="18" charset="0"/>
                      </a:rPr>
                      <m:t>𝑖</m:t>
                    </m:r>
                  </m:oMath>
                </a14:m>
                <a:r>
                  <a:rPr lang="en" altLang="en-US" dirty="0">
                    <a:latin typeface="Arial" panose="020B0604020202020204" pitchFamily="34" charset="0"/>
                    <a:cs typeface="Arial" panose="020B0604020202020204" pitchFamily="34" charset="0"/>
                  </a:rPr>
                  <a:t> ending </a:t>
                </a:r>
                <a14:m>
                  <m:oMath xmlns:m="http://schemas.openxmlformats.org/officeDocument/2006/math">
                    <m:r>
                      <a:rPr lang="en-US" altLang="zh-CN" b="0" i="1" smtClean="0">
                        <a:latin typeface="Cambria Math" panose="02040503050406030204" pitchFamily="18" charset="0"/>
                      </a:rPr>
                      <m:t>𝑗</m:t>
                    </m:r>
                    <m:r>
                      <a:rPr lang="en-AU" altLang="zh-CN" b="0" i="1" smtClean="0">
                        <a:latin typeface="Cambria Math" panose="02040503050406030204" pitchFamily="18" charset="0"/>
                      </a:rPr>
                      <m:t>,</m:t>
                    </m:r>
                  </m:oMath>
                </a14:m>
                <a:r>
                  <a:rPr lang="en" altLang="en-US" dirty="0">
                    <a:latin typeface="Arial" panose="020B0604020202020204" pitchFamily="34" charset="0"/>
                    <a:cs typeface="Arial" panose="020B0604020202020204" pitchFamily="34" charset="0"/>
                  </a:rPr>
                  <a:t> enumerate intermediate points </a:t>
                </a:r>
                <a14:m>
                  <m:oMath xmlns:m="http://schemas.openxmlformats.org/officeDocument/2006/math">
                    <m:r>
                      <a:rPr lang="en-US" altLang="zh-CN" b="0" i="1" smtClean="0">
                        <a:latin typeface="Cambria Math" panose="02040503050406030204" pitchFamily="18" charset="0"/>
                      </a:rPr>
                      <m:t>𝑘</m:t>
                    </m:r>
                  </m:oMath>
                </a14:m>
                <a:r>
                  <a:rPr lang="en" altLang="en-US"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p:txBody>
          </p:sp>
        </mc:Choice>
        <mc:Fallback>
          <p:sp>
            <p:nvSpPr>
              <p:cNvPr id="3" name="内容占位符 2">
                <a:extLst>
                  <a:ext uri="{FF2B5EF4-FFF2-40B4-BE49-F238E27FC236}">
                    <a16:creationId xmlns:a16="http://schemas.microsoft.com/office/drawing/2014/main" id="{364B6489-5513-4724-81F7-F874B8C60D21}"/>
                  </a:ext>
                </a:extLst>
              </p:cNvPr>
              <p:cNvSpPr>
                <a:spLocks noGrp="1" noRot="1" noChangeAspect="1" noMove="1" noResize="1" noEditPoints="1" noAdjustHandles="1" noChangeArrowheads="1" noChangeShapeType="1" noTextEdit="1"/>
              </p:cNvSpPr>
              <p:nvPr>
                <p:ph idx="1"/>
              </p:nvPr>
            </p:nvSpPr>
            <p:spPr>
              <a:xfrm>
                <a:off x="678612" y="1486110"/>
                <a:ext cx="10368800" cy="5282749"/>
              </a:xfrm>
              <a:blipFill>
                <a:blip r:embed="rId3"/>
                <a:stretch>
                  <a:fillRect l="-1176"/>
                </a:stretch>
              </a:blipFill>
            </p:spPr>
            <p:txBody>
              <a:bodyPr/>
              <a:lstStyle/>
              <a:p>
                <a:r>
                  <a:rPr lang="en-AU">
                    <a:noFill/>
                  </a:rPr>
                  <a:t> </a:t>
                </a:r>
              </a:p>
            </p:txBody>
          </p:sp>
        </mc:Fallback>
      </mc:AlternateContent>
    </p:spTree>
    <p:extLst>
      <p:ext uri="{BB962C8B-B14F-4D97-AF65-F5344CB8AC3E}">
        <p14:creationId xmlns:p14="http://schemas.microsoft.com/office/powerpoint/2010/main" val="214389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电路">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921</Words>
  <Application>Microsoft Office PowerPoint</Application>
  <PresentationFormat>Widescreen</PresentationFormat>
  <Paragraphs>179</Paragraphs>
  <Slides>14</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等线</vt:lpstr>
      <vt:lpstr>等线 Light</vt:lpstr>
      <vt:lpstr>宋体</vt:lpstr>
      <vt:lpstr>Arial</vt:lpstr>
      <vt:lpstr>Cambria Math</vt:lpstr>
      <vt:lpstr>Tw Cen MT</vt:lpstr>
      <vt:lpstr>Office 主题​​</vt:lpstr>
      <vt:lpstr>电路</vt:lpstr>
      <vt:lpstr>Recurrence</vt:lpstr>
      <vt:lpstr>Recurrence</vt:lpstr>
      <vt:lpstr>Two elements of the Recurrence algorithm</vt:lpstr>
      <vt:lpstr>Fibonacci Sequence</vt:lpstr>
      <vt:lpstr>factorial</vt:lpstr>
      <vt:lpstr>Tower of Hanoi</vt:lpstr>
      <vt:lpstr>counting of numbers</vt:lpstr>
      <vt:lpstr>counting of numbers</vt:lpstr>
      <vt:lpstr>Pascal’s triangle</vt:lpstr>
      <vt:lpstr>bowling</vt:lpstr>
      <vt:lpstr>bowling</vt:lpstr>
      <vt:lpstr>bowling</vt:lpstr>
      <vt:lpstr>Write a program based on the Recurrence formula</vt:lpstr>
      <vt:lpstr>Write a program based on the Recurrence formula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递推</dc:title>
  <dc:creator>Bryan Sun</dc:creator>
  <cp:lastModifiedBy>Bryan Sun</cp:lastModifiedBy>
  <cp:revision>1</cp:revision>
  <dcterms:created xsi:type="dcterms:W3CDTF">2023-10-06T11:34:25Z</dcterms:created>
  <dcterms:modified xsi:type="dcterms:W3CDTF">2023-10-10T10:07:18Z</dcterms:modified>
</cp:coreProperties>
</file>