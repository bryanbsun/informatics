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9"/>
  </p:notesMasterIdLst>
  <p:sldIdLst>
    <p:sldId id="624" r:id="rId2"/>
    <p:sldId id="625" r:id="rId3"/>
    <p:sldId id="626" r:id="rId4"/>
    <p:sldId id="627" r:id="rId5"/>
    <p:sldId id="628" r:id="rId6"/>
    <p:sldId id="701" r:id="rId7"/>
    <p:sldId id="651" r:id="rId8"/>
    <p:sldId id="652" r:id="rId9"/>
    <p:sldId id="653" r:id="rId10"/>
    <p:sldId id="654" r:id="rId11"/>
    <p:sldId id="656" r:id="rId12"/>
    <p:sldId id="657" r:id="rId13"/>
    <p:sldId id="658" r:id="rId14"/>
    <p:sldId id="659" r:id="rId15"/>
    <p:sldId id="660" r:id="rId16"/>
    <p:sldId id="661" r:id="rId17"/>
    <p:sldId id="662" r:id="rId18"/>
    <p:sldId id="663" r:id="rId19"/>
    <p:sldId id="664" r:id="rId20"/>
    <p:sldId id="639" r:id="rId21"/>
    <p:sldId id="645" r:id="rId22"/>
    <p:sldId id="640" r:id="rId23"/>
    <p:sldId id="641" r:id="rId24"/>
    <p:sldId id="644" r:id="rId25"/>
    <p:sldId id="643" r:id="rId26"/>
    <p:sldId id="642" r:id="rId27"/>
    <p:sldId id="646" r:id="rId28"/>
    <p:sldId id="647" r:id="rId29"/>
    <p:sldId id="648" r:id="rId30"/>
    <p:sldId id="665" r:id="rId31"/>
    <p:sldId id="666" r:id="rId32"/>
    <p:sldId id="667" r:id="rId33"/>
    <p:sldId id="668" r:id="rId34"/>
    <p:sldId id="669" r:id="rId35"/>
    <p:sldId id="671" r:id="rId36"/>
    <p:sldId id="672" r:id="rId37"/>
    <p:sldId id="674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1C46F6-EEFD-E846-BB2E-1D9A73297BA2}" v="2" dt="2023-10-21T05:45:07.9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9372" autoAdjust="0"/>
    <p:restoredTop sz="94703"/>
  </p:normalViewPr>
  <p:slideViewPr>
    <p:cSldViewPr snapToGrid="0">
      <p:cViewPr varScale="1">
        <p:scale>
          <a:sx n="71" d="100"/>
          <a:sy n="71" d="100"/>
        </p:scale>
        <p:origin x="176" y="1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9C32AA9A-7A03-4E7C-A3A3-47C9801ED0B4}"/>
    <pc:docChg chg="delSld modSld delMainMaster">
      <pc:chgData name="Bryan Sun" userId="851caa7714272873" providerId="LiveId" clId="{9C32AA9A-7A03-4E7C-A3A3-47C9801ED0B4}" dt="2023-10-20T11:33:33.378" v="2" actId="2696"/>
      <pc:docMkLst>
        <pc:docMk/>
      </pc:docMkLst>
      <pc:sldChg chg="del">
        <pc:chgData name="Bryan Sun" userId="851caa7714272873" providerId="LiveId" clId="{9C32AA9A-7A03-4E7C-A3A3-47C9801ED0B4}" dt="2023-10-20T11:33:33.378" v="2" actId="2696"/>
        <pc:sldMkLst>
          <pc:docMk/>
          <pc:sldMk cId="4109550427" sldId="256"/>
        </pc:sldMkLst>
      </pc:sldChg>
      <pc:sldChg chg="modSp modAnim">
        <pc:chgData name="Bryan Sun" userId="851caa7714272873" providerId="LiveId" clId="{9C32AA9A-7A03-4E7C-A3A3-47C9801ED0B4}" dt="2023-10-17T10:38:39.731" v="1" actId="5793"/>
        <pc:sldMkLst>
          <pc:docMk/>
          <pc:sldMk cId="1957398792" sldId="658"/>
        </pc:sldMkLst>
        <pc:spChg chg="mod">
          <ac:chgData name="Bryan Sun" userId="851caa7714272873" providerId="LiveId" clId="{9C32AA9A-7A03-4E7C-A3A3-47C9801ED0B4}" dt="2023-10-17T10:38:39.731" v="1" actId="5793"/>
          <ac:spMkLst>
            <pc:docMk/>
            <pc:sldMk cId="1957398792" sldId="658"/>
            <ac:spMk id="3" creationId="{364B6489-5513-4724-81F7-F874B8C60D21}"/>
          </ac:spMkLst>
        </pc:spChg>
      </pc:sldChg>
      <pc:sldMasterChg chg="del delSldLayout">
        <pc:chgData name="Bryan Sun" userId="851caa7714272873" providerId="LiveId" clId="{9C32AA9A-7A03-4E7C-A3A3-47C9801ED0B4}" dt="2023-10-20T11:33:33.378" v="2" actId="2696"/>
        <pc:sldMasterMkLst>
          <pc:docMk/>
          <pc:sldMasterMk cId="3378982090" sldId="2147483648"/>
        </pc:sldMasterMkLst>
        <pc:sldLayoutChg chg="del">
          <pc:chgData name="Bryan Sun" userId="851caa7714272873" providerId="LiveId" clId="{9C32AA9A-7A03-4E7C-A3A3-47C9801ED0B4}" dt="2023-10-20T11:33:33.378" v="2" actId="2696"/>
          <pc:sldLayoutMkLst>
            <pc:docMk/>
            <pc:sldMasterMk cId="3378982090" sldId="2147483648"/>
            <pc:sldLayoutMk cId="2885667885" sldId="2147483649"/>
          </pc:sldLayoutMkLst>
        </pc:sldLayoutChg>
        <pc:sldLayoutChg chg="del">
          <pc:chgData name="Bryan Sun" userId="851caa7714272873" providerId="LiveId" clId="{9C32AA9A-7A03-4E7C-A3A3-47C9801ED0B4}" dt="2023-10-20T11:33:33.378" v="2" actId="2696"/>
          <pc:sldLayoutMkLst>
            <pc:docMk/>
            <pc:sldMasterMk cId="3378982090" sldId="2147483648"/>
            <pc:sldLayoutMk cId="1725021490" sldId="2147483650"/>
          </pc:sldLayoutMkLst>
        </pc:sldLayoutChg>
        <pc:sldLayoutChg chg="del">
          <pc:chgData name="Bryan Sun" userId="851caa7714272873" providerId="LiveId" clId="{9C32AA9A-7A03-4E7C-A3A3-47C9801ED0B4}" dt="2023-10-20T11:33:33.378" v="2" actId="2696"/>
          <pc:sldLayoutMkLst>
            <pc:docMk/>
            <pc:sldMasterMk cId="3378982090" sldId="2147483648"/>
            <pc:sldLayoutMk cId="397695665" sldId="2147483651"/>
          </pc:sldLayoutMkLst>
        </pc:sldLayoutChg>
        <pc:sldLayoutChg chg="del">
          <pc:chgData name="Bryan Sun" userId="851caa7714272873" providerId="LiveId" clId="{9C32AA9A-7A03-4E7C-A3A3-47C9801ED0B4}" dt="2023-10-20T11:33:33.378" v="2" actId="2696"/>
          <pc:sldLayoutMkLst>
            <pc:docMk/>
            <pc:sldMasterMk cId="3378982090" sldId="2147483648"/>
            <pc:sldLayoutMk cId="63907242" sldId="2147483652"/>
          </pc:sldLayoutMkLst>
        </pc:sldLayoutChg>
        <pc:sldLayoutChg chg="del">
          <pc:chgData name="Bryan Sun" userId="851caa7714272873" providerId="LiveId" clId="{9C32AA9A-7A03-4E7C-A3A3-47C9801ED0B4}" dt="2023-10-20T11:33:33.378" v="2" actId="2696"/>
          <pc:sldLayoutMkLst>
            <pc:docMk/>
            <pc:sldMasterMk cId="3378982090" sldId="2147483648"/>
            <pc:sldLayoutMk cId="1021714249" sldId="2147483653"/>
          </pc:sldLayoutMkLst>
        </pc:sldLayoutChg>
        <pc:sldLayoutChg chg="del">
          <pc:chgData name="Bryan Sun" userId="851caa7714272873" providerId="LiveId" clId="{9C32AA9A-7A03-4E7C-A3A3-47C9801ED0B4}" dt="2023-10-20T11:33:33.378" v="2" actId="2696"/>
          <pc:sldLayoutMkLst>
            <pc:docMk/>
            <pc:sldMasterMk cId="3378982090" sldId="2147483648"/>
            <pc:sldLayoutMk cId="2402374197" sldId="2147483654"/>
          </pc:sldLayoutMkLst>
        </pc:sldLayoutChg>
        <pc:sldLayoutChg chg="del">
          <pc:chgData name="Bryan Sun" userId="851caa7714272873" providerId="LiveId" clId="{9C32AA9A-7A03-4E7C-A3A3-47C9801ED0B4}" dt="2023-10-20T11:33:33.378" v="2" actId="2696"/>
          <pc:sldLayoutMkLst>
            <pc:docMk/>
            <pc:sldMasterMk cId="3378982090" sldId="2147483648"/>
            <pc:sldLayoutMk cId="63318457" sldId="2147483655"/>
          </pc:sldLayoutMkLst>
        </pc:sldLayoutChg>
        <pc:sldLayoutChg chg="del">
          <pc:chgData name="Bryan Sun" userId="851caa7714272873" providerId="LiveId" clId="{9C32AA9A-7A03-4E7C-A3A3-47C9801ED0B4}" dt="2023-10-20T11:33:33.378" v="2" actId="2696"/>
          <pc:sldLayoutMkLst>
            <pc:docMk/>
            <pc:sldMasterMk cId="3378982090" sldId="2147483648"/>
            <pc:sldLayoutMk cId="1399276319" sldId="2147483656"/>
          </pc:sldLayoutMkLst>
        </pc:sldLayoutChg>
        <pc:sldLayoutChg chg="del">
          <pc:chgData name="Bryan Sun" userId="851caa7714272873" providerId="LiveId" clId="{9C32AA9A-7A03-4E7C-A3A3-47C9801ED0B4}" dt="2023-10-20T11:33:33.378" v="2" actId="2696"/>
          <pc:sldLayoutMkLst>
            <pc:docMk/>
            <pc:sldMasterMk cId="3378982090" sldId="2147483648"/>
            <pc:sldLayoutMk cId="1459228008" sldId="2147483657"/>
          </pc:sldLayoutMkLst>
        </pc:sldLayoutChg>
        <pc:sldLayoutChg chg="del">
          <pc:chgData name="Bryan Sun" userId="851caa7714272873" providerId="LiveId" clId="{9C32AA9A-7A03-4E7C-A3A3-47C9801ED0B4}" dt="2023-10-20T11:33:33.378" v="2" actId="2696"/>
          <pc:sldLayoutMkLst>
            <pc:docMk/>
            <pc:sldMasterMk cId="3378982090" sldId="2147483648"/>
            <pc:sldLayoutMk cId="2779413969" sldId="2147483658"/>
          </pc:sldLayoutMkLst>
        </pc:sldLayoutChg>
        <pc:sldLayoutChg chg="del">
          <pc:chgData name="Bryan Sun" userId="851caa7714272873" providerId="LiveId" clId="{9C32AA9A-7A03-4E7C-A3A3-47C9801ED0B4}" dt="2023-10-20T11:33:33.378" v="2" actId="2696"/>
          <pc:sldLayoutMkLst>
            <pc:docMk/>
            <pc:sldMasterMk cId="3378982090" sldId="2147483648"/>
            <pc:sldLayoutMk cId="2267911370" sldId="2147483659"/>
          </pc:sldLayoutMkLst>
        </pc:sldLayoutChg>
      </pc:sldMasterChg>
    </pc:docChg>
  </pc:docChgLst>
  <pc:docChgLst>
    <pc:chgData name="Bryan Sun" userId="851caa7714272873" providerId="LiveId" clId="{C61C46F6-EEFD-E846-BB2E-1D9A73297BA2}"/>
    <pc:docChg chg="modSld">
      <pc:chgData name="Bryan Sun" userId="851caa7714272873" providerId="LiveId" clId="{C61C46F6-EEFD-E846-BB2E-1D9A73297BA2}" dt="2023-10-21T05:45:07.944" v="1" actId="13926"/>
      <pc:docMkLst>
        <pc:docMk/>
      </pc:docMkLst>
      <pc:sldChg chg="modSp">
        <pc:chgData name="Bryan Sun" userId="851caa7714272873" providerId="LiveId" clId="{C61C46F6-EEFD-E846-BB2E-1D9A73297BA2}" dt="2023-10-21T05:45:07.944" v="1" actId="13926"/>
        <pc:sldMkLst>
          <pc:docMk/>
          <pc:sldMk cId="2058013266" sldId="648"/>
        </pc:sldMkLst>
        <pc:spChg chg="mod">
          <ac:chgData name="Bryan Sun" userId="851caa7714272873" providerId="LiveId" clId="{C61C46F6-EEFD-E846-BB2E-1D9A73297BA2}" dt="2023-10-21T05:45:07.944" v="1" actId="13926"/>
          <ac:spMkLst>
            <pc:docMk/>
            <pc:sldMk cId="2058013266" sldId="648"/>
            <ac:spMk id="3" creationId="{364B6489-5513-4724-81F7-F874B8C60D21}"/>
          </ac:spMkLst>
        </pc:spChg>
      </pc:sldChg>
      <pc:sldChg chg="modSp">
        <pc:chgData name="Bryan Sun" userId="851caa7714272873" providerId="LiveId" clId="{C61C46F6-EEFD-E846-BB2E-1D9A73297BA2}" dt="2023-10-21T05:27:10.412" v="0" actId="13926"/>
        <pc:sldMkLst>
          <pc:docMk/>
          <pc:sldMk cId="950847543" sldId="669"/>
        </pc:sldMkLst>
        <pc:spChg chg="mod">
          <ac:chgData name="Bryan Sun" userId="851caa7714272873" providerId="LiveId" clId="{C61C46F6-EEFD-E846-BB2E-1D9A73297BA2}" dt="2023-10-21T05:27:10.412" v="0" actId="13926"/>
          <ac:spMkLst>
            <pc:docMk/>
            <pc:sldMk cId="950847543" sldId="669"/>
            <ac:spMk id="3" creationId="{364B6489-5513-4724-81F7-F874B8C60D2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05310-1C9E-0644-B1A5-A09BD154BC66}" type="datetimeFigureOut">
              <a:rPr kumimoji="1" lang="zh-CN" altLang="en-US" smtClean="0"/>
              <a:t>2023/10/21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E6D263-9D34-9D47-8500-C37830DD929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7207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2244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0300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6504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6275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54613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5658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29345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39985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01272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77140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70900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09742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90359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74112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42035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01587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13733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79935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26077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72645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51444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73383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5178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37137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46654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36527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57692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97283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73194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94443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98409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86955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64365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98850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77108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F4864-2078-5446-9B10-2A811AD5231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3833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41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95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110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5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10/21/23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255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10/21/23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862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10/21/23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894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98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81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21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76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21989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054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10/21/23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16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10/21/23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376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189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10/21/23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61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0025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latin typeface="+mn-ea"/>
                <a:ea typeface="+mn-ea"/>
              </a:rPr>
              <a:t>线性</a:t>
            </a:r>
            <a:r>
              <a:rPr lang="en-US" altLang="zh-CN">
                <a:latin typeface="+mn-ea"/>
                <a:ea typeface="+mn-ea"/>
              </a:rPr>
              <a:t>DP</a:t>
            </a:r>
            <a:endParaRPr lang="zh-CN" altLang="en-US">
              <a:latin typeface="+mn-ea"/>
              <a:ea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590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钢条切割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en-US" altLang="zh-CN">
                    <a:latin typeface="+mn-ea"/>
                  </a:rPr>
                  <a:t>S</a:t>
                </a:r>
                <a:r>
                  <a:rPr lang="zh-CN" altLang="en-US">
                    <a:latin typeface="+mn-ea"/>
                  </a:rPr>
                  <a:t> 公司购买长钢条，将其切割为短钢条出售。切割工序本身没有成本支出。公司管理层希望知道最佳的切割方案。假定我们知道</a:t>
                </a:r>
                <a:r>
                  <a:rPr lang="en-US" altLang="zh-CN">
                    <a:latin typeface="+mn-ea"/>
                  </a:rPr>
                  <a:t> S </a:t>
                </a:r>
                <a:r>
                  <a:rPr lang="zh-CN" altLang="en-US">
                    <a:latin typeface="+mn-ea"/>
                  </a:rPr>
                  <a:t>公司出售一段长度为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米的钢条的价格为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，钢条的长度均为整数米。</a:t>
                </a:r>
                <a:endParaRPr lang="en-US" altLang="zh-CN">
                  <a:latin typeface="+mn-ea"/>
                </a:endParaRPr>
              </a:p>
              <a:p>
                <a:r>
                  <a:rPr lang="zh-CN" altLang="en-US">
                    <a:latin typeface="+mn-ea"/>
                  </a:rPr>
                  <a:t>以下为一个样例：</a:t>
                </a:r>
                <a:endParaRPr lang="en-US" altLang="zh-CN">
                  <a:latin typeface="+mn-ea"/>
                </a:endParaRPr>
              </a:p>
              <a:p>
                <a:endParaRPr lang="en-US" altLang="zh-CN">
                  <a:latin typeface="+mn-ea"/>
                </a:endParaRPr>
              </a:p>
              <a:p>
                <a:endParaRPr lang="en-US" altLang="zh-CN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  <a:blipFill>
                <a:blip r:embed="rId3"/>
                <a:stretch>
                  <a:fillRect l="-1182" r="-3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108F9739-3B85-D149-B5E2-4B84774B2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885" y="4912684"/>
            <a:ext cx="9490247" cy="91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25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钢条切割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>
                    <a:latin typeface="+mn-ea"/>
                  </a:rPr>
                  <a:t>考虑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zh-CN" altLang="en-US">
                    <a:latin typeface="+mn-ea"/>
                  </a:rPr>
                  <a:t> 的情形，以下是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zh-CN" altLang="en-US">
                    <a:latin typeface="+mn-ea"/>
                  </a:rPr>
                  <a:t> 米钢条所有可能的切割方案，包括根本不切割的方案，我们发现，将长度为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zh-CN" altLang="en-US">
                    <a:latin typeface="+mn-ea"/>
                  </a:rPr>
                  <a:t> 米的钢条切割为两段各长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>
                    <a:latin typeface="+mn-ea"/>
                  </a:rPr>
                  <a:t> 米的钢条，将产生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5+5=10</m:t>
                    </m:r>
                  </m:oMath>
                </a14:m>
                <a:r>
                  <a:rPr lang="zh-CN" altLang="en-US">
                    <a:latin typeface="+mn-ea"/>
                  </a:rPr>
                  <a:t> 的收益，为最优解。</a:t>
                </a:r>
                <a:endParaRPr lang="en-US" altLang="zh-CN">
                  <a:latin typeface="+mn-ea"/>
                </a:endParaRPr>
              </a:p>
              <a:p>
                <a:endParaRPr lang="en-US" altLang="zh-CN">
                  <a:latin typeface="+mn-ea"/>
                </a:endParaRPr>
              </a:p>
              <a:p>
                <a:endParaRPr lang="en-US" altLang="zh-CN">
                  <a:latin typeface="+mn-ea"/>
                </a:endParaRPr>
              </a:p>
              <a:p>
                <a:endParaRPr lang="en-US" altLang="zh-CN">
                  <a:latin typeface="+mn-ea"/>
                </a:endParaRPr>
              </a:p>
              <a:p>
                <a:endParaRPr lang="zh-CN" altLang="en-US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  <a:blipFill>
                <a:blip r:embed="rId3"/>
                <a:stretch>
                  <a:fillRect l="-1182" r="-6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A19763C9-F7F2-254A-A00C-43297F3652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3978" y="4068702"/>
            <a:ext cx="7905385" cy="204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70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钢条切割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>
                    <a:latin typeface="+mn-ea"/>
                  </a:rPr>
                  <a:t>状态的确定 </a:t>
                </a:r>
                <a:r>
                  <a:rPr lang="en-US" altLang="zh-CN"/>
                  <a:t>——</a:t>
                </a:r>
                <a:r>
                  <a:rPr lang="zh-CN" altLang="en-US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CN" altLang="en-US"/>
                  <a:t>，表示长度是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/>
                  <a:t> 的钢条可以获得的最大价值。</a:t>
                </a:r>
                <a:endParaRPr lang="en-US" altLang="zh-CN"/>
              </a:p>
              <a:p>
                <a:r>
                  <a:rPr lang="zh-CN" altLang="en-US">
                    <a:latin typeface="+mn-ea"/>
                  </a:rPr>
                  <a:t>每根钢条都有长度，</a:t>
                </a:r>
                <a:r>
                  <a:rPr lang="zh-CN" altLang="en-US">
                    <a:solidFill>
                      <a:srgbClr val="FF0000"/>
                    </a:solidFill>
                  </a:rPr>
                  <a:t>当前状态</a:t>
                </a:r>
                <a:r>
                  <a:rPr lang="zh-CN" altLang="en-US"/>
                  <a:t>就是长度为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/>
                  <a:t> 的钢条，</a:t>
                </a:r>
                <a:r>
                  <a:rPr lang="zh-CN" altLang="en-US">
                    <a:solidFill>
                      <a:srgbClr val="FF0000"/>
                    </a:solidFill>
                  </a:rPr>
                  <a:t>以前状态</a:t>
                </a:r>
                <a:r>
                  <a:rPr lang="zh-CN" altLang="en-US"/>
                  <a:t>就是最后一次切割之前的那根钢条。</a:t>
                </a:r>
                <a:endParaRPr lang="en-US" altLang="zh-CN">
                  <a:latin typeface="+mn-ea"/>
                </a:endParaRPr>
              </a:p>
              <a:p>
                <a:r>
                  <a:rPr lang="zh-CN" altLang="en-US">
                    <a:latin typeface="+mn-ea"/>
                  </a:rPr>
                  <a:t>状态转移 </a:t>
                </a:r>
                <a:r>
                  <a:rPr lang="en-US" altLang="zh-CN"/>
                  <a:t>——</a:t>
                </a:r>
                <a:r>
                  <a:rPr lang="zh-CN" altLang="en-US"/>
                  <a:t> </a:t>
                </a:r>
                <a:r>
                  <a:rPr lang="zh-CN" altLang="en-US">
                    <a:latin typeface="+mn-ea"/>
                  </a:rPr>
                  <a:t>用公式来表示：</a:t>
                </a:r>
                <a:endParaRPr lang="en-US" altLang="zh-CN">
                  <a:latin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…,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altLang="zh-CN">
                  <a:latin typeface="+mn-ea"/>
                </a:endParaRPr>
              </a:p>
              <a:p>
                <a:r>
                  <a:rPr lang="zh-CN" altLang="en-US">
                    <a:latin typeface="+mn-ea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>
                    <a:latin typeface="+mn-ea"/>
                  </a:rPr>
                  <a:t>，则：</a:t>
                </a:r>
                <a:endParaRPr lang="en-US" altLang="zh-CN">
                  <a:latin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])</m:t>
                          </m:r>
                        </m:e>
                      </m:func>
                    </m:oMath>
                  </m:oMathPara>
                </a14:m>
                <a:endParaRPr lang="en-US" altLang="zh-CN">
                  <a:latin typeface="+mn-ea"/>
                </a:endParaRPr>
              </a:p>
              <a:p>
                <a:endParaRPr lang="zh-CN" altLang="en-US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  <a:blipFill>
                <a:blip r:embed="rId3"/>
                <a:stretch>
                  <a:fillRect l="-1182" r="-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2285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钢条切割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569" y="1486110"/>
            <a:ext cx="10834779" cy="5282749"/>
          </a:xfrm>
        </p:spPr>
        <p:txBody>
          <a:bodyPr anchor="ctr" anchorCtr="0">
            <a:normAutofit/>
          </a:bodyPr>
          <a:lstStyle/>
          <a:p>
            <a:r>
              <a:rPr lang="zh-CN" altLang="en-US">
                <a:latin typeface="+mn-ea"/>
              </a:rPr>
              <a:t>记忆化搜索：</a:t>
            </a:r>
            <a:endParaRPr lang="en-US" altLang="zh-CN">
              <a:latin typeface="+mn-ea"/>
            </a:endParaRPr>
          </a:p>
          <a:p>
            <a:endParaRPr lang="en-US" altLang="zh-CN">
              <a:latin typeface="+mn-ea"/>
            </a:endParaRPr>
          </a:p>
          <a:p>
            <a:endParaRPr lang="en-US" altLang="zh-CN">
              <a:latin typeface="+mn-ea"/>
            </a:endParaRPr>
          </a:p>
          <a:p>
            <a:endParaRPr lang="en-US" altLang="zh-CN">
              <a:latin typeface="+mn-ea"/>
            </a:endParaRPr>
          </a:p>
          <a:p>
            <a:endParaRPr lang="en-US" altLang="zh-CN">
              <a:latin typeface="+mn-ea"/>
            </a:endParaRPr>
          </a:p>
          <a:p>
            <a:endParaRPr lang="en-US" altLang="zh-CN">
              <a:latin typeface="+mn-ea"/>
            </a:endParaRPr>
          </a:p>
          <a:p>
            <a:endParaRPr lang="en-US" altLang="zh-CN">
              <a:latin typeface="+mn-ea"/>
            </a:endParaRPr>
          </a:p>
          <a:p>
            <a:endParaRPr lang="en-US" altLang="zh-CN">
              <a:latin typeface="+mn-ea"/>
            </a:endParaRPr>
          </a:p>
          <a:p>
            <a:endParaRPr lang="en-US" altLang="zh-CN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6DE2541-EECE-744D-A651-8BDED0D55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09" y="2155779"/>
            <a:ext cx="10569311" cy="470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043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递推代码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F7F92F2-C8D2-8145-9748-0AEEDE4308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8609" y="2155190"/>
            <a:ext cx="9728294" cy="387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032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  <a:latin typeface="+mn-ea"/>
                <a:ea typeface="+mn-ea"/>
              </a:rPr>
              <a:t>导弹拦截（</a:t>
            </a:r>
            <a:r>
              <a:rPr lang="en-US" altLang="zh-CN">
                <a:solidFill>
                  <a:schemeClr val="bg1"/>
                </a:solidFill>
                <a:latin typeface="+mn-ea"/>
                <a:ea typeface="+mn-ea"/>
              </a:rPr>
              <a:t>NOIP</a:t>
            </a:r>
            <a:r>
              <a:rPr lang="zh-CN" altLang="en-US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en-US" altLang="zh-CN">
                <a:solidFill>
                  <a:schemeClr val="bg1"/>
                </a:solidFill>
                <a:latin typeface="+mn-ea"/>
                <a:ea typeface="+mn-ea"/>
              </a:rPr>
              <a:t>1999</a:t>
            </a:r>
            <a:r>
              <a:rPr lang="zh-CN" altLang="en-US">
                <a:solidFill>
                  <a:schemeClr val="bg1"/>
                </a:solidFill>
                <a:latin typeface="+mn-ea"/>
                <a:ea typeface="+mn-ea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569" y="1486110"/>
            <a:ext cx="10834779" cy="5282749"/>
          </a:xfrm>
        </p:spPr>
        <p:txBody>
          <a:bodyPr anchor="ctr" anchorCtr="0">
            <a:normAutofit/>
          </a:bodyPr>
          <a:lstStyle/>
          <a:p>
            <a:r>
              <a:rPr lang="zh-CN" altLang="en-US">
                <a:latin typeface="+mn-ea"/>
              </a:rPr>
              <a:t>某国为了防御敌国的导弹袭击，发展出一种导弹拦截系统。但是这种导弹拦截系统有一个缺陷：虽然它的第一发炮弹能够到达任意的高度，但是以后每一发炮弹都不能高于前一发的高度。 某天，雷达捕捉到敌国的导弹来袭。由于该系统还在试用阶段，所以只有一套系统，因此有可能不能拦截所有的导弹。</a:t>
            </a:r>
            <a:endParaRPr lang="en-US" altLang="zh-CN">
              <a:latin typeface="+mn-ea"/>
            </a:endParaRPr>
          </a:p>
          <a:p>
            <a:r>
              <a:rPr lang="zh-CN" altLang="en-US">
                <a:latin typeface="+mn-ea"/>
              </a:rPr>
              <a:t>输入导弹依次飞来的高度，计算这套系统最多能拦截多少导弹。</a:t>
            </a:r>
          </a:p>
        </p:txBody>
      </p:sp>
    </p:spTree>
    <p:extLst>
      <p:ext uri="{BB962C8B-B14F-4D97-AF65-F5344CB8AC3E}">
        <p14:creationId xmlns:p14="http://schemas.microsoft.com/office/powerpoint/2010/main" val="1969584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状态的确定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</p:spPr>
            <p:txBody>
              <a:bodyPr anchor="ctr" anchorCtr="0">
                <a:normAutofit/>
              </a:bodyPr>
              <a:lstStyle/>
              <a:p>
                <a:endParaRPr lang="en-US" altLang="zh-CN">
                  <a:latin typeface="+mn-ea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zh-CN" altLang="en-US"/>
                  <a:t>状态的表示 </a:t>
                </a:r>
                <a:r>
                  <a:rPr lang="en-US" altLang="zh-CN"/>
                  <a:t>——</a:t>
                </a:r>
                <a:r>
                  <a:rPr lang="zh-CN" altLang="en-US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CN" altLang="en-US"/>
                  <a:t>，表示当第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/>
                  <a:t> 个导弹</a:t>
                </a:r>
                <a:r>
                  <a:rPr lang="zh-CN" altLang="en-US">
                    <a:solidFill>
                      <a:srgbClr val="FF0000"/>
                    </a:solidFill>
                  </a:rPr>
                  <a:t>必须拦截</a:t>
                </a:r>
                <a:r>
                  <a:rPr lang="zh-CN" altLang="en-US"/>
                  <a:t>时，前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/>
                  <a:t> 个导弹中最多能拦截多少。</a:t>
                </a:r>
              </a:p>
              <a:p>
                <a:pPr>
                  <a:lnSpc>
                    <a:spcPct val="90000"/>
                  </a:lnSpc>
                </a:pPr>
                <a:r>
                  <a:rPr lang="zh-CN" altLang="en-US"/>
                  <a:t>每个导弹有一定的高度，</a:t>
                </a:r>
                <a:r>
                  <a:rPr lang="zh-CN" altLang="en-US">
                    <a:solidFill>
                      <a:srgbClr val="FF0000"/>
                    </a:solidFill>
                  </a:rPr>
                  <a:t>当前状态</a:t>
                </a:r>
                <a:r>
                  <a:rPr lang="zh-CN" altLang="en-US"/>
                  <a:t>就是以第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/>
                  <a:t> 个导弹为最后一个拦截的导弹。</a:t>
                </a:r>
                <a:r>
                  <a:rPr lang="zh-CN" altLang="en-US">
                    <a:solidFill>
                      <a:srgbClr val="FF0000"/>
                    </a:solidFill>
                  </a:rPr>
                  <a:t>以前状态</a:t>
                </a:r>
                <a:r>
                  <a:rPr lang="zh-CN" altLang="en-US"/>
                  <a:t>就是在这个导弹之前拦截的那个导弹。</a:t>
                </a:r>
                <a:endParaRPr lang="en-US" altLang="zh-CN"/>
              </a:p>
              <a:p>
                <a:pPr>
                  <a:lnSpc>
                    <a:spcPct val="90000"/>
                  </a:lnSpc>
                </a:pPr>
                <a:r>
                  <a:rPr lang="zh-CN" altLang="en-US"/>
                  <a:t>状态转移 </a:t>
                </a:r>
                <a:r>
                  <a:rPr lang="en-US" altLang="zh-CN"/>
                  <a:t>——</a:t>
                </a:r>
                <a:r>
                  <a:rPr lang="zh-CN" altLang="en-US"/>
                  <a:t> 对于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CN" altLang="en-US"/>
                  <a:t>，我们考察在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之前位置的导弹，找到所有</a:t>
                </a:r>
                <a:r>
                  <a:rPr lang="zh-CN" altLang="en-US">
                    <a:solidFill>
                      <a:srgbClr val="FF0000"/>
                    </a:solidFill>
                  </a:rPr>
                  <a:t>可以连接上的导弹</a:t>
                </a:r>
                <a:r>
                  <a:rPr lang="en-US" altLang="zh-CN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>
                    <a:solidFill>
                      <a:srgbClr val="FF0000"/>
                    </a:solidFill>
                  </a:rPr>
                  <a:t> </a:t>
                </a:r>
                <a:r>
                  <a:rPr lang="zh-CN" altLang="en-US">
                    <a:solidFill>
                      <a:srgbClr val="FF0000"/>
                    </a:solidFill>
                  </a:rPr>
                  <a:t>（即满足其高度大于等于第</a:t>
                </a:r>
                <a:r>
                  <a:rPr lang="en-US" altLang="zh-CN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>
                    <a:solidFill>
                      <a:srgbClr val="FF0000"/>
                    </a:solidFill>
                  </a:rPr>
                  <a:t> </a:t>
                </a:r>
                <a:r>
                  <a:rPr lang="zh-CN" altLang="en-US">
                    <a:solidFill>
                      <a:srgbClr val="FF0000"/>
                    </a:solidFill>
                  </a:rPr>
                  <a:t>个导弹）</a:t>
                </a:r>
                <a:r>
                  <a:rPr lang="zh-CN" altLang="en-US"/>
                  <a:t>，选择其中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值</a:t>
                </a:r>
                <a:r>
                  <a:rPr lang="zh-CN" altLang="en-US">
                    <a:solidFill>
                      <a:srgbClr val="FF0000"/>
                    </a:solidFill>
                  </a:rPr>
                  <a:t>最大</a:t>
                </a:r>
                <a:r>
                  <a:rPr lang="zh-CN" altLang="en-US"/>
                  <a:t>的一个，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]+1</m:t>
                    </m:r>
                  </m:oMath>
                </a14:m>
                <a:r>
                  <a:rPr lang="zh-CN" altLang="en-US"/>
                  <a:t>；如果没有满足条件的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/>
                  <a:t>，则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/>
                  <a:t>。</a:t>
                </a:r>
              </a:p>
              <a:p>
                <a:pPr>
                  <a:lnSpc>
                    <a:spcPct val="90000"/>
                  </a:lnSpc>
                </a:pPr>
                <a:r>
                  <a:rPr lang="zh-CN" altLang="en-US"/>
                  <a:t>这是</a:t>
                </a:r>
                <a:r>
                  <a:rPr lang="zh-CN" altLang="en-US">
                    <a:solidFill>
                      <a:srgbClr val="3B1D15"/>
                    </a:solidFill>
                  </a:rPr>
                  <a:t>线性动态规划</a:t>
                </a:r>
                <a:r>
                  <a:rPr lang="zh-CN" altLang="en-US"/>
                  <a:t>的经典例题。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  <a:blipFill>
                <a:blip r:embed="rId3"/>
                <a:stretch>
                  <a:fillRect l="-1182" r="-45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2662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代码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FF9826C-BE51-AE48-A516-DCCEFF813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09" y="2027890"/>
            <a:ext cx="8243221" cy="395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097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最低通行费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zh-CN">
                    <a:latin typeface="+mn-ea"/>
                  </a:rPr>
                  <a:t>一个商人穿过一个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(1≤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≤100)</m:t>
                    </m:r>
                  </m:oMath>
                </a14:m>
                <a:r>
                  <a:rPr lang="zh-CN" altLang="zh-CN">
                    <a:latin typeface="+mn-ea"/>
                  </a:rPr>
                  <a:t> 的正方形的网格，去参加一个非常重要的商务活动。他要从网格的左上角进，右下角出。每穿越中间</a:t>
                </a:r>
                <a:r>
                  <a:rPr lang="en-US" altLang="zh-CN">
                    <a:latin typeface="+mn-ea"/>
                  </a:rPr>
                  <a:t> </a:t>
                </a:r>
                <a:r>
                  <a:rPr lang="zh-CN" altLang="zh-CN">
                    <a:latin typeface="+mn-ea"/>
                  </a:rPr>
                  <a:t>1</a:t>
                </a:r>
                <a:r>
                  <a:rPr lang="en-US" altLang="zh-CN">
                    <a:latin typeface="+mn-ea"/>
                  </a:rPr>
                  <a:t> </a:t>
                </a:r>
                <a:r>
                  <a:rPr lang="zh-CN" altLang="zh-CN">
                    <a:latin typeface="+mn-ea"/>
                  </a:rPr>
                  <a:t>个小方格，都要花费</a:t>
                </a:r>
                <a:r>
                  <a:rPr lang="en-US" altLang="zh-CN">
                    <a:latin typeface="+mn-ea"/>
                  </a:rPr>
                  <a:t> </a:t>
                </a:r>
                <a:r>
                  <a:rPr lang="zh-CN" altLang="zh-CN">
                    <a:latin typeface="+mn-ea"/>
                  </a:rPr>
                  <a:t>1</a:t>
                </a:r>
                <a:r>
                  <a:rPr lang="en-US" altLang="zh-CN">
                    <a:latin typeface="+mn-ea"/>
                  </a:rPr>
                  <a:t> </a:t>
                </a:r>
                <a:r>
                  <a:rPr lang="zh-CN" altLang="zh-CN">
                    <a:latin typeface="+mn-ea"/>
                  </a:rPr>
                  <a:t>个单位时间。商人必须在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zh-CN">
                    <a:latin typeface="+mn-ea"/>
                  </a:rPr>
                  <a:t>个单位时间穿越出去。而在经过中间的每个小方格时，都需要缴纳一定的费用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(1≤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≤100)</m:t>
                    </m:r>
                  </m:oMath>
                </a14:m>
                <a:r>
                  <a:rPr lang="zh-CN" altLang="zh-CN">
                    <a:latin typeface="+mn-ea"/>
                  </a:rPr>
                  <a:t>。</a:t>
                </a:r>
              </a:p>
              <a:p>
                <a:r>
                  <a:rPr lang="zh-CN" altLang="zh-CN">
                    <a:latin typeface="+mn-ea"/>
                  </a:rPr>
                  <a:t>这个商人期望在规定时间内用最少费用穿越出去。请问至少需要多少费用？</a:t>
                </a:r>
              </a:p>
              <a:p>
                <a:r>
                  <a:rPr lang="zh-CN" altLang="zh-CN">
                    <a:latin typeface="+mn-ea"/>
                  </a:rPr>
                  <a:t>注意：不能对角穿越各个小方格（即，只能向上下左右四个方向移动且不能离开网格）。</a:t>
                </a:r>
                <a:endParaRPr lang="zh-CN" altLang="en-US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  <a:blipFill>
                <a:blip r:embed="rId3"/>
                <a:stretch>
                  <a:fillRect l="-1182" r="-17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7605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最低通行费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</p:spPr>
            <p:txBody>
              <a:bodyPr anchor="ctr" anchorCtr="0">
                <a:normAutofit/>
              </a:bodyPr>
              <a:lstStyle/>
              <a:p>
                <a:endParaRPr lang="en-US" altLang="zh-CN">
                  <a:latin typeface="+mn-ea"/>
                </a:endParaRPr>
              </a:p>
              <a:p>
                <a:r>
                  <a:rPr lang="zh-CN" altLang="en-US">
                    <a:latin typeface="+mn-ea"/>
                  </a:rPr>
                  <a:t>这个问题的关键在于发现对移动方向的限制：即由于必须在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单位时间内完成移动，因此仅能向下或者向右移动。</a:t>
                </a:r>
              </a:p>
              <a:p>
                <a:r>
                  <a:rPr lang="zh-CN" altLang="en-US">
                    <a:latin typeface="+mn-ea"/>
                  </a:rPr>
                  <a:t>当移动方向限定后，不难看出这个问题就是变形的数塔问题，于是可以借助动态规划高效解决。</a:t>
                </a:r>
                <a:endParaRPr lang="en-US" altLang="zh-CN">
                  <a:latin typeface="+mn-ea"/>
                </a:endParaRPr>
              </a:p>
              <a:p>
                <a:endParaRPr lang="en-US" altLang="zh-CN">
                  <a:latin typeface="+mn-ea"/>
                </a:endParaRPr>
              </a:p>
              <a:p>
                <a:r>
                  <a:rPr lang="zh-CN" altLang="en-US">
                    <a:latin typeface="+mn-ea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>
                    <a:latin typeface="+mn-ea"/>
                  </a:rPr>
                  <a:t> 表示从左上角</a:t>
                </a:r>
                <a:r>
                  <a:rPr lang="zh-CN" altLang="en-US"/>
                  <a:t>入口移动到第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/>
                  <a:t> 行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列的最小代价，则：</a:t>
                </a:r>
                <a:endParaRPr lang="en-US" altLang="zh-CN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i="1"/>
              </a:p>
              <a:p>
                <a:pPr>
                  <a:lnSpc>
                    <a:spcPct val="90000"/>
                  </a:lnSpc>
                </a:pPr>
                <a:r>
                  <a:rPr lang="zh-CN" altLang="en-US"/>
                  <a:t>答案是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fr-FR" altLang="zh-CN"/>
                  <a:t>;</a:t>
                </a:r>
                <a:endParaRPr lang="zh-CN" altLang="en-US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  <a:blipFill>
                <a:blip r:embed="rId3"/>
                <a:stretch>
                  <a:fillRect l="-1182" r="-50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8545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代码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85B8F151-17F8-3D49-B3CE-193C3B9A7B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8609" y="1925320"/>
            <a:ext cx="10081657" cy="410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63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乘积最大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</p:spPr>
            <p:txBody>
              <a:bodyPr anchor="ctr" anchorCtr="0">
                <a:norm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zh-CN" altLang="en-US">
                    <a:latin typeface="+mn-ea"/>
                  </a:rPr>
                  <a:t>设有一个长度为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>
                    <a:latin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≤40</m:t>
                    </m:r>
                  </m:oMath>
                </a14:m>
                <a:r>
                  <a:rPr lang="en-US" altLang="zh-CN">
                    <a:latin typeface="+mn-ea"/>
                  </a:rPr>
                  <a:t>)</a:t>
                </a:r>
                <a:r>
                  <a:rPr lang="zh-CN" altLang="en-US">
                    <a:latin typeface="+mn-ea"/>
                  </a:rPr>
                  <a:t>的数字串，要求选手使用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CN">
                    <a:latin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≤6</m:t>
                    </m:r>
                  </m:oMath>
                </a14:m>
                <a:r>
                  <a:rPr lang="en-US" altLang="zh-CN">
                    <a:latin typeface="+mn-ea"/>
                  </a:rPr>
                  <a:t>)</a:t>
                </a:r>
                <a:r>
                  <a:rPr lang="zh-CN" altLang="en-US">
                    <a:latin typeface="+mn-ea"/>
                  </a:rPr>
                  <a:t>个乘号将它分成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个部分，找出一种分法，使得这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个部分的乘积最大。</a:t>
                </a:r>
              </a:p>
              <a:p>
                <a:pPr>
                  <a:lnSpc>
                    <a:spcPct val="80000"/>
                  </a:lnSpc>
                </a:pPr>
                <a:r>
                  <a:rPr lang="zh-CN" altLang="en-US">
                    <a:latin typeface="+mn-ea"/>
                  </a:rPr>
                  <a:t>同时，为了帮助选手能够理解题意，主持人还举了如下一个例子：</a:t>
                </a:r>
              </a:p>
              <a:p>
                <a:pPr>
                  <a:lnSpc>
                    <a:spcPct val="80000"/>
                  </a:lnSpc>
                </a:pPr>
                <a:r>
                  <a:rPr lang="zh-CN" altLang="en-US">
                    <a:latin typeface="+mn-ea"/>
                  </a:rPr>
                  <a:t>有一个数字串：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312</m:t>
                    </m:r>
                  </m:oMath>
                </a14:m>
                <a:r>
                  <a:rPr lang="zh-CN" altLang="en-US">
                    <a:latin typeface="+mn-ea"/>
                  </a:rPr>
                  <a:t>，当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=3,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时会有两种分法：</a:t>
                </a:r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altLang="zh-CN">
                    <a:latin typeface="+mn-ea"/>
                  </a:rPr>
                  <a:t>	</a:t>
                </a:r>
                <a:r>
                  <a:rPr lang="zh-CN" altLang="en-US">
                    <a:latin typeface="+mn-ea"/>
                  </a:rPr>
                  <a:t>⑴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3∗12=36</m:t>
                    </m:r>
                  </m:oMath>
                </a14:m>
                <a:endParaRPr lang="zh-CN" altLang="en-US">
                  <a:latin typeface="+mn-ea"/>
                </a:endParaRPr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altLang="zh-CN">
                    <a:latin typeface="+mn-ea"/>
                  </a:rPr>
                  <a:t>	</a:t>
                </a:r>
                <a:r>
                  <a:rPr lang="zh-CN" altLang="en-US">
                    <a:latin typeface="+mn-ea"/>
                  </a:rPr>
                  <a:t>⑵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31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2=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62</m:t>
                    </m:r>
                  </m:oMath>
                </a14:m>
                <a:endParaRPr lang="zh-CN" altLang="en-US">
                  <a:latin typeface="+mn-ea"/>
                </a:endParaRPr>
              </a:p>
              <a:p>
                <a:pPr>
                  <a:lnSpc>
                    <a:spcPct val="80000"/>
                  </a:lnSpc>
                </a:pPr>
                <a:r>
                  <a:rPr lang="zh-CN" altLang="en-US">
                    <a:latin typeface="+mn-ea"/>
                  </a:rPr>
                  <a:t>这时，符合题目要求的结果是：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31∗2=62</m:t>
                    </m:r>
                  </m:oMath>
                </a14:m>
                <a:r>
                  <a:rPr lang="zh-CN" altLang="en-US">
                    <a:latin typeface="+mn-ea"/>
                  </a:rPr>
                  <a:t>。现在，请你帮助你的好朋友</a:t>
                </a:r>
                <a:r>
                  <a:rPr lang="en-US" altLang="zh-CN">
                    <a:latin typeface="+mn-ea"/>
                  </a:rPr>
                  <a:t> XZ </a:t>
                </a:r>
                <a:r>
                  <a:rPr lang="zh-CN" altLang="en-US">
                    <a:latin typeface="+mn-ea"/>
                  </a:rPr>
                  <a:t>设计一个程序，求得正确的答案。</a:t>
                </a:r>
                <a:endParaRPr lang="en-US" altLang="zh-CN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  <a:blipFill>
                <a:blip r:embed="rId3"/>
                <a:stretch>
                  <a:fillRect l="-1182" r="-2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7398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>
                    <a:latin typeface="+mn-ea"/>
                  </a:rPr>
                  <a:t>由于自然数位数的上限为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lang="zh-CN" altLang="en-US">
                    <a:latin typeface="+mn-ea"/>
                  </a:rPr>
                  <a:t>，乘号数的上限为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zh-CN" altLang="en-US">
                    <a:latin typeface="+mn-ea"/>
                  </a:rPr>
                  <a:t>，因此最大乘积位数的上限接近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位。显然，运算任何整数类型都无法容纳如此之大的数据，只能采用高精度运算，限于篇幅，对于高精度的加法运算、乘法运算和比较大小的运算，这里不作介绍，只是对的乘号最佳插入方式进行探讨：</a:t>
                </a:r>
              </a:p>
              <a:p>
                <a:r>
                  <a:rPr lang="zh-CN" altLang="en-US">
                    <a:latin typeface="+mn-ea"/>
                  </a:rPr>
                  <a:t>假设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(2≤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中插入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>
                    <a:latin typeface="+mn-ea"/>
                  </a:rPr>
                  <a:t> 个乘号，其中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中插入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>
                    <a:latin typeface="+mn-ea"/>
                  </a:rPr>
                  <a:t> 个乘号，即乘式中的第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>
                    <a:latin typeface="+mn-ea"/>
                  </a:rPr>
                  <a:t> 项为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  <a:blipFill>
                <a:blip r:embed="rId3"/>
                <a:stretch>
                  <a:fillRect l="-1182" r="-3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5070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状态的确定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/>
                  <a:t>设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𝑑𝑝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表示长度为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/>
                  <a:t> 的数串中插入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/>
                  <a:t> 个乘号的最大乘积。显然：</a:t>
                </a:r>
                <a:endParaRPr lang="en-US" altLang="zh-CN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𝑑𝑝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zh-CN" altLang="en-US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𝑑𝑝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𝑑𝑝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func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1≤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−1,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func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endParaRPr lang="en-US" altLang="zh-CN" b="0" i="1"/>
              </a:p>
              <a:p>
                <a:r>
                  <a:rPr lang="zh-CN" altLang="en-US"/>
                  <a:t>答案为：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𝑑𝑝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endParaRPr lang="en-US" altLang="zh-CN"/>
              </a:p>
              <a:p>
                <a:endParaRPr lang="en-US" altLang="zh-CN"/>
              </a:p>
              <a:p>
                <a:r>
                  <a:rPr lang="zh-CN" altLang="en-US"/>
                  <a:t>由于乘式中第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/>
                  <a:t> 为常量，因此要使得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𝑑𝑝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最大，则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中插入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个乘号的乘积必须最大；同样，为了寻找第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个乘号的最佳插入位置，必须一一查阅子问题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𝑑𝑝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𝑑𝑝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的解。显然该问题具备无后效性、最优子结构的特征，适用于动态规划方法。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  <a:blipFill>
                <a:blip r:embed="rId3"/>
                <a:stretch>
                  <a:fillRect l="-11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9388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伪代码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4933428-3FDE-D942-8076-53E1F92DA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09" y="2120153"/>
            <a:ext cx="99568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636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过河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</p:spPr>
            <p:txBody>
              <a:bodyPr anchor="ctr" anchorCtr="0">
                <a:normAutofit/>
              </a:bodyPr>
              <a:lstStyle/>
              <a:p>
                <a:endParaRPr lang="en-US" altLang="zh-CN">
                  <a:latin typeface="+mn-ea"/>
                </a:endParaRPr>
              </a:p>
              <a:p>
                <a:pPr>
                  <a:lnSpc>
                    <a:spcPct val="80000"/>
                  </a:lnSpc>
                </a:pPr>
                <a:r>
                  <a:rPr lang="zh-CN" altLang="en-US">
                    <a:latin typeface="+mn-ea"/>
                  </a:rPr>
                  <a:t>在河上有一座独木桥，一只青蛙想沿着独木桥从河的一侧跳到另一侧。在桥上有一些石子，青蛙很讨厌踩在这些石子上。</a:t>
                </a:r>
                <a:endParaRPr lang="en-US" altLang="zh-CN">
                  <a:latin typeface="+mn-ea"/>
                </a:endParaRPr>
              </a:p>
              <a:p>
                <a:pPr>
                  <a:lnSpc>
                    <a:spcPct val="80000"/>
                  </a:lnSpc>
                </a:pPr>
                <a:r>
                  <a:rPr lang="zh-CN" altLang="en-US">
                    <a:latin typeface="+mn-ea"/>
                  </a:rPr>
                  <a:t>由于桥的长度和青蛙一次跳过的距离都是正整数，我们可以把独木桥上青蛙可能到达的点看成数轴上的一串整点：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0,1,…,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>
                    <a:latin typeface="+mn-ea"/>
                  </a:rPr>
                  <a:t>（其中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是桥的长度）。坐标为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的点表示桥的起点，坐标为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的点表示桥的终点。</a:t>
                </a:r>
                <a:endParaRPr lang="en-US" altLang="zh-CN">
                  <a:latin typeface="+mn-ea"/>
                </a:endParaRPr>
              </a:p>
              <a:p>
                <a:pPr>
                  <a:lnSpc>
                    <a:spcPct val="80000"/>
                  </a:lnSpc>
                </a:pPr>
                <a:r>
                  <a:rPr lang="zh-CN" altLang="en-US">
                    <a:latin typeface="+mn-ea"/>
                  </a:rPr>
                  <a:t>青蛙从桥的起点开始，不停的向终点方向跳跃。一次跳跃的距离是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>
                    <a:solidFill>
                      <a:srgbClr val="FF0000"/>
                    </a:solidFill>
                    <a:latin typeface="+mn-ea"/>
                  </a:rPr>
                  <a:t> </a:t>
                </a:r>
                <a:r>
                  <a:rPr lang="zh-CN" altLang="en-US">
                    <a:solidFill>
                      <a:srgbClr val="FF0000"/>
                    </a:solidFill>
                    <a:latin typeface="+mn-ea"/>
                  </a:rPr>
                  <a:t>到</a:t>
                </a:r>
                <a:r>
                  <a:rPr lang="en-US" altLang="zh-CN">
                    <a:solidFill>
                      <a:srgbClr val="FF0000"/>
                    </a:solidFill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CN">
                    <a:solidFill>
                      <a:srgbClr val="FF0000"/>
                    </a:solidFill>
                    <a:latin typeface="+mn-ea"/>
                  </a:rPr>
                  <a:t> </a:t>
                </a:r>
                <a:r>
                  <a:rPr lang="zh-CN" altLang="en-US">
                    <a:solidFill>
                      <a:srgbClr val="FF0000"/>
                    </a:solidFill>
                    <a:latin typeface="+mn-ea"/>
                  </a:rPr>
                  <a:t>之间的任意正整数</a:t>
                </a:r>
                <a:r>
                  <a:rPr lang="zh-CN" altLang="en-US">
                    <a:latin typeface="+mn-ea"/>
                  </a:rPr>
                  <a:t>（包括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>
                    <a:latin typeface="+mn-ea"/>
                  </a:rPr>
                  <a:t>）。当青蛙跳到或跳过坐标为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的点时，就算青蛙已经跳出了独木桥。</a:t>
                </a:r>
                <a:endParaRPr lang="en-US" altLang="zh-CN">
                  <a:latin typeface="+mn-ea"/>
                </a:endParaRPr>
              </a:p>
              <a:p>
                <a:pPr>
                  <a:lnSpc>
                    <a:spcPct val="80000"/>
                  </a:lnSpc>
                </a:pPr>
                <a:r>
                  <a:rPr lang="zh-CN" altLang="en-US">
                    <a:latin typeface="+mn-ea"/>
                  </a:rPr>
                  <a:t>题目给出独木桥的长度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>
                    <a:latin typeface="+mn-ea"/>
                  </a:rPr>
                  <a:t>，青蛙跳跃的距离范围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>
                    <a:latin typeface="+mn-ea"/>
                  </a:rPr>
                  <a:t>，桥上石子的位置。你的任务是确定青蛙要想过河，</a:t>
                </a:r>
                <a:r>
                  <a:rPr lang="zh-CN" altLang="en-US">
                    <a:solidFill>
                      <a:srgbClr val="FF0000"/>
                    </a:solidFill>
                    <a:latin typeface="+mn-ea"/>
                  </a:rPr>
                  <a:t>最少需要踩到的石子数。</a:t>
                </a:r>
                <a:r>
                  <a:rPr lang="zh-CN" altLang="en-US">
                    <a:solidFill>
                      <a:srgbClr val="FFFF00"/>
                    </a:solidFill>
                    <a:latin typeface="+mn-ea"/>
                  </a:rPr>
                  <a:t> </a:t>
                </a:r>
              </a:p>
              <a:p>
                <a:endParaRPr lang="zh-CN" altLang="en-US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  <a:blipFill>
                <a:blip r:embed="rId3"/>
                <a:stretch>
                  <a:fillRect l="-1182" r="-8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658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>
                    <a:latin typeface="+mn-ea"/>
                  </a:rPr>
                  <a:t>从正面来考虑的话，这个问题是一个搜索性的问题，需要考虑从当前点出发可以跳到的所有点。</a:t>
                </a:r>
                <a:endParaRPr lang="en-US" altLang="zh-CN">
                  <a:latin typeface="+mn-ea"/>
                </a:endParaRPr>
              </a:p>
              <a:p>
                <a:r>
                  <a:rPr lang="zh-CN" altLang="en-US">
                    <a:latin typeface="+mn-ea"/>
                  </a:rPr>
                  <a:t>然而从</a:t>
                </a:r>
                <a:r>
                  <a:rPr lang="zh-CN" altLang="en-US">
                    <a:solidFill>
                      <a:srgbClr val="FF0000"/>
                    </a:solidFill>
                    <a:latin typeface="+mn-ea"/>
                  </a:rPr>
                  <a:t>反面考虑</a:t>
                </a:r>
                <a:r>
                  <a:rPr lang="zh-CN" altLang="en-US">
                    <a:latin typeface="+mn-ea"/>
                  </a:rPr>
                  <a:t>的话，我们只需要考虑那些能到用一步到达当前点的所有点中，踩到石头数最小的那个。</a:t>
                </a:r>
                <a:endParaRPr lang="en-US" altLang="zh-CN">
                  <a:latin typeface="+mn-ea"/>
                </a:endParaRPr>
              </a:p>
              <a:p>
                <a:r>
                  <a:rPr lang="zh-CN" altLang="en-US">
                    <a:latin typeface="+mn-ea"/>
                  </a:rPr>
                  <a:t>即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𝑜𝑝𝑡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𝑜𝑝𝑡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|</m:t>
                            </m:r>
                            <m:func>
                              <m:func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fName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0,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  <a:blipFill>
                <a:blip r:embed="rId3"/>
                <a:stretch>
                  <a:fillRect l="-1182" r="-3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0151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代码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1C14C5E-F9AD-054E-A5D5-08A2292991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8609" y="1958340"/>
            <a:ext cx="9427497" cy="398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799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最长公共子序列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>
                    <a:latin typeface="+mn-ea"/>
                  </a:rPr>
                  <a:t>给定两个序列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>
                    <a:latin typeface="+mn-ea"/>
                  </a:rPr>
                  <a:t>，求这两个序列的公共子序列中长度最大的那个，记为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𝐿𝐶𝑆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>
                    <a:latin typeface="+mn-ea"/>
                  </a:rPr>
                  <a:t>，其长度为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𝐿𝐶𝑆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zh-CN" altLang="en-US">
                    <a:latin typeface="+mn-ea"/>
                  </a:rPr>
                  <a:t>。</a:t>
                </a:r>
                <a:endParaRPr lang="en-US" altLang="zh-CN">
                  <a:latin typeface="+mn-ea"/>
                </a:endParaRPr>
              </a:p>
              <a:p>
                <a:endParaRPr lang="en-US" altLang="zh-CN">
                  <a:latin typeface="+mn-ea"/>
                </a:endParaRPr>
              </a:p>
              <a:p>
                <a:endParaRPr lang="en-US" altLang="zh-CN">
                  <a:latin typeface="+mn-ea"/>
                </a:endParaRPr>
              </a:p>
              <a:p>
                <a:endParaRPr lang="en-US" altLang="zh-CN">
                  <a:latin typeface="+mn-ea"/>
                </a:endParaRPr>
              </a:p>
              <a:p>
                <a:endParaRPr lang="en-US" altLang="zh-CN">
                  <a:latin typeface="+mn-ea"/>
                </a:endParaRPr>
              </a:p>
              <a:p>
                <a:endParaRPr lang="en-US" altLang="zh-CN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  <a:blipFill>
                <a:blip r:embed="rId3"/>
                <a:stretch>
                  <a:fillRect l="-11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6AA7D7B9-BE07-8045-87B5-71BE2FF8D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7259" y="4127484"/>
            <a:ext cx="5651500" cy="16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962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最长公共子序列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>
                    <a:latin typeface="+mn-ea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表示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的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𝐿𝐶𝑆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zh-CN" altLang="en-US">
                    <a:latin typeface="+mn-ea"/>
                  </a:rPr>
                  <a:t>，状态转移方程为：</a:t>
                </a:r>
                <a:endParaRPr lang="en-US" altLang="zh-CN">
                  <a:latin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+1                       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−1,</m:t>
                                          </m:r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</m:d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𝑒𝑙𝑠𝑒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>
                  <a:latin typeface="+mn-ea"/>
                </a:endParaRPr>
              </a:p>
              <a:p>
                <a:endParaRPr lang="en-US" altLang="zh-CN">
                  <a:latin typeface="+mn-ea"/>
                </a:endParaRPr>
              </a:p>
              <a:p>
                <a:endParaRPr lang="en-US" altLang="zh-CN">
                  <a:latin typeface="+mn-ea"/>
                </a:endParaRPr>
              </a:p>
              <a:p>
                <a:endParaRPr lang="en-US" altLang="zh-CN">
                  <a:latin typeface="+mn-ea"/>
                </a:endParaRPr>
              </a:p>
              <a:p>
                <a:endParaRPr lang="zh-CN" altLang="en-US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  <a:blipFill>
                <a:blip r:embed="rId3"/>
                <a:stretch>
                  <a:fillRect l="-11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E5B36337-81BA-CB4B-80CC-22FBCF363C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8463" y="4311410"/>
            <a:ext cx="6995073" cy="184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505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最长公共子序列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569" y="1486110"/>
            <a:ext cx="10834779" cy="5282749"/>
          </a:xfrm>
        </p:spPr>
        <p:txBody>
          <a:bodyPr anchor="ctr" anchorCtr="0">
            <a:normAutofit/>
          </a:bodyPr>
          <a:lstStyle/>
          <a:p>
            <a:r>
              <a:rPr lang="zh-CN" altLang="en-US">
                <a:latin typeface="+mn-ea"/>
              </a:rPr>
              <a:t>重叠子问题：在一个递归的解法里包含了很多需要重复计算的独立子问题。</a:t>
            </a:r>
            <a:endParaRPr lang="en-US" altLang="zh-CN">
              <a:latin typeface="+mn-ea"/>
            </a:endParaRPr>
          </a:p>
          <a:p>
            <a:endParaRPr lang="en-US" altLang="zh-CN">
              <a:latin typeface="+mn-ea"/>
            </a:endParaRPr>
          </a:p>
          <a:p>
            <a:endParaRPr lang="en-US" altLang="zh-CN">
              <a:latin typeface="+mn-ea"/>
            </a:endParaRPr>
          </a:p>
          <a:p>
            <a:endParaRPr lang="en-US" altLang="zh-CN">
              <a:latin typeface="+mn-ea"/>
            </a:endParaRPr>
          </a:p>
          <a:p>
            <a:endParaRPr lang="en-US" altLang="zh-CN">
              <a:latin typeface="+mn-ea"/>
            </a:endParaRPr>
          </a:p>
          <a:p>
            <a:endParaRPr lang="en-US" altLang="zh-CN">
              <a:latin typeface="+mn-ea"/>
            </a:endParaRPr>
          </a:p>
          <a:p>
            <a:endParaRPr lang="en-US" altLang="zh-CN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4953333-B6FD-0D4F-BD03-CAEA7F0CB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407" y="3255359"/>
            <a:ext cx="6070117" cy="309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918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记忆化搜索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8363F090-525A-314A-8081-6528D86C0C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8609" y="1734820"/>
            <a:ext cx="9175870" cy="468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4679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递推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B33452C-D1FD-0F42-BC1B-C5474D6207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40881" y="1625600"/>
            <a:ext cx="5676900" cy="500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3990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递推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758E8AAE-B24F-DB4B-BAC5-4C2337B9EE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8609" y="1808480"/>
            <a:ext cx="10151786" cy="442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8905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递推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569" y="1486110"/>
            <a:ext cx="10834779" cy="5282749"/>
          </a:xfrm>
        </p:spPr>
        <p:txBody>
          <a:bodyPr anchor="ctr" anchorCtr="0">
            <a:normAutofit/>
          </a:bodyPr>
          <a:lstStyle/>
          <a:p>
            <a:r>
              <a:rPr lang="zh-CN" altLang="en-US">
                <a:latin typeface="+mn-ea"/>
              </a:rPr>
              <a:t>滚动数组优化空间</a:t>
            </a:r>
            <a:endParaRPr lang="en-US" altLang="zh-CN">
              <a:latin typeface="+mn-ea"/>
            </a:endParaRPr>
          </a:p>
          <a:p>
            <a:r>
              <a:rPr lang="zh-CN" altLang="en-US">
                <a:latin typeface="+mn-ea"/>
              </a:rPr>
              <a:t>可进一步优化到一维数组</a:t>
            </a:r>
            <a:endParaRPr lang="en-US" altLang="zh-CN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22757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更优化的方法？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en-US" altLang="zh-CN">
                    <a:latin typeface="+mn-ea"/>
                  </a:rPr>
                  <a:t>Knuth</a:t>
                </a:r>
                <a:r>
                  <a:rPr lang="zh-CN" altLang="en-US">
                    <a:latin typeface="+mn-ea"/>
                  </a:rPr>
                  <a:t> 提出了 </a:t>
                </a:r>
                <a:r>
                  <a:rPr lang="en-US" altLang="zh-CN">
                    <a:latin typeface="+mn-ea"/>
                  </a:rPr>
                  <a:t>LCS</a:t>
                </a:r>
                <a:r>
                  <a:rPr lang="zh-CN" altLang="en-US">
                    <a:latin typeface="+mn-ea"/>
                  </a:rPr>
                  <a:t> 问题是否存在次平方时间算法的讨论。</a:t>
                </a:r>
                <a:endParaRPr lang="en-US" altLang="zh-CN">
                  <a:latin typeface="+mn-ea"/>
                </a:endParaRPr>
              </a:p>
              <a:p>
                <a:r>
                  <a:rPr lang="en-US" altLang="zh-CN" err="1">
                    <a:latin typeface="+mn-ea"/>
                  </a:rPr>
                  <a:t>Masek</a:t>
                </a:r>
                <a:r>
                  <a:rPr lang="zh-CN" altLang="en-US">
                    <a:latin typeface="+mn-ea"/>
                  </a:rPr>
                  <a:t> 和 </a:t>
                </a:r>
                <a:r>
                  <a:rPr lang="en-US" altLang="zh-CN">
                    <a:latin typeface="+mn-ea"/>
                  </a:rPr>
                  <a:t>Paterson</a:t>
                </a:r>
                <a:r>
                  <a:rPr lang="zh-CN" altLang="en-US">
                    <a:latin typeface="+mn-ea"/>
                  </a:rPr>
                  <a:t> 给出了肯定的答案，他们给出了一个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𝑚𝑛</m:t>
                        </m:r>
                      </m:num>
                      <m:den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时间的算法，其中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且序列是从一个有限集中选取的。</a:t>
                </a:r>
                <a:endParaRPr lang="en-US" altLang="zh-CN">
                  <a:latin typeface="+mn-ea"/>
                </a:endParaRPr>
              </a:p>
              <a:p>
                <a:r>
                  <a:rPr lang="zh-CN" altLang="en-US">
                    <a:latin typeface="+mn-ea"/>
                  </a:rPr>
                  <a:t>对于元素不会在一个输入序列中重复出现的特殊情况，</a:t>
                </a:r>
                <a:r>
                  <a:rPr lang="en-US" altLang="zh-CN">
                    <a:latin typeface="+mn-ea"/>
                  </a:rPr>
                  <a:t>Szymanski </a:t>
                </a:r>
                <a:r>
                  <a:rPr lang="zh-CN" altLang="en-US">
                    <a:latin typeface="+mn-ea"/>
                  </a:rPr>
                  <a:t>给出了一个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时间的算法。</a:t>
                </a:r>
                <a:endParaRPr lang="en-US" altLang="zh-CN">
                  <a:latin typeface="+mn-ea"/>
                </a:endParaRPr>
              </a:p>
              <a:p>
                <a:r>
                  <a:rPr lang="zh-CN" altLang="en-US">
                    <a:latin typeface="+mn-ea"/>
                  </a:rPr>
                  <a:t>很多这种结果都可以扩展到字符串编辑距离问题。</a:t>
                </a:r>
                <a:endParaRPr lang="zh-CN" altLang="en-US">
                  <a:effectLst/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  <a:blipFill>
                <a:blip r:embed="rId3"/>
                <a:stretch>
                  <a:fillRect l="-1182" r="-3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138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最长公共子串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>
                    <a:latin typeface="+mn-ea"/>
                  </a:rPr>
                  <a:t>给定两个序列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>
                    <a:latin typeface="+mn-ea"/>
                  </a:rPr>
                  <a:t>，求这两个序列的公共子串中长度最大的那个。</a:t>
                </a:r>
                <a:endParaRPr lang="en-US" altLang="zh-CN">
                  <a:latin typeface="+mn-ea"/>
                </a:endParaRPr>
              </a:p>
              <a:p>
                <a:r>
                  <a:rPr lang="zh-CN" altLang="en-US">
                    <a:latin typeface="+mn-ea"/>
                  </a:rPr>
                  <a:t>差别：子串要求是连续的</a:t>
                </a:r>
                <a:endParaRPr lang="en-US" altLang="zh-CN">
                  <a:latin typeface="+mn-ea"/>
                </a:endParaRPr>
              </a:p>
              <a:p>
                <a:r>
                  <a:rPr lang="zh-CN" altLang="en-US">
                    <a:latin typeface="+mn-ea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表示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的公共子串以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结尾时的最大长度，状态转移方程为：</a:t>
                </a:r>
                <a:endParaRPr lang="en-US" altLang="zh-CN">
                  <a:latin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+1                    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𝑒𝑙𝑠𝑒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>
                  <a:latin typeface="+mn-ea"/>
                </a:endParaRPr>
              </a:p>
              <a:p>
                <a:r>
                  <a:rPr lang="zh-CN" altLang="en-US">
                    <a:latin typeface="+mn-ea"/>
                  </a:rPr>
                  <a:t>答案是：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{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endParaRPr lang="en-US" altLang="zh-CN" i="1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  <a:blipFill>
                <a:blip r:embed="rId3"/>
                <a:stretch>
                  <a:fillRect l="-1182" r="-78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2107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回文词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569" y="1486110"/>
            <a:ext cx="10834779" cy="5282749"/>
          </a:xfrm>
        </p:spPr>
        <p:txBody>
          <a:bodyPr anchor="ctr" anchorCtr="0">
            <a:normAutofit/>
          </a:bodyPr>
          <a:lstStyle/>
          <a:p>
            <a:r>
              <a:rPr lang="zh-CN" altLang="en-US" dirty="0">
                <a:latin typeface="+mn-ea"/>
              </a:rPr>
              <a:t>给一个字符串</a:t>
            </a:r>
            <a:r>
              <a:rPr lang="en-US" altLang="zh-CN" dirty="0">
                <a:latin typeface="+mn-ea"/>
              </a:rPr>
              <a:t>A</a:t>
            </a:r>
            <a:r>
              <a:rPr lang="zh-CN" altLang="en-US" dirty="0">
                <a:latin typeface="+mn-ea"/>
              </a:rPr>
              <a:t>，保持原字符的顺序不变，</a:t>
            </a:r>
            <a:r>
              <a:rPr lang="zh-CN" altLang="en-US" dirty="0"/>
              <a:t>至少要加几个字符才能变成回文词？</a:t>
            </a:r>
            <a:endParaRPr lang="en-US" altLang="zh-CN" dirty="0"/>
          </a:p>
          <a:p>
            <a:r>
              <a:rPr lang="zh-CN" altLang="en-US" dirty="0"/>
              <a:t>例如</a:t>
            </a:r>
            <a:r>
              <a:rPr lang="zh-CN" altLang="en-US" dirty="0">
                <a:latin typeface="+mn-ea"/>
              </a:rPr>
              <a:t>：</a:t>
            </a:r>
            <a:r>
              <a:rPr lang="en" altLang="zh-CN" dirty="0">
                <a:latin typeface="+mn-ea"/>
              </a:rPr>
              <a:t> </a:t>
            </a:r>
            <a:r>
              <a:rPr lang="en" altLang="zh-CN" dirty="0" err="1">
                <a:latin typeface="+mn-ea"/>
              </a:rPr>
              <a:t>abfcbfa</a:t>
            </a:r>
            <a:r>
              <a:rPr lang="zh-CN" altLang="en-US" dirty="0">
                <a:latin typeface="+mn-ea"/>
              </a:rPr>
              <a:t> </a:t>
            </a:r>
            <a:r>
              <a:rPr lang="en" altLang="zh-CN" dirty="0">
                <a:latin typeface="+mn-ea"/>
              </a:rPr>
              <a:t>-&gt;</a:t>
            </a:r>
            <a:r>
              <a:rPr lang="zh-CN" altLang="en-US" dirty="0">
                <a:latin typeface="+mn-ea"/>
              </a:rPr>
              <a:t> </a:t>
            </a:r>
            <a:r>
              <a:rPr lang="en" altLang="zh-CN" dirty="0" err="1">
                <a:latin typeface="+mn-ea"/>
              </a:rPr>
              <a:t>a</a:t>
            </a:r>
            <a:r>
              <a:rPr lang="en" altLang="zh-CN" dirty="0" err="1">
                <a:solidFill>
                  <a:srgbClr val="FF0000"/>
                </a:solidFill>
                <a:latin typeface="+mn-ea"/>
              </a:rPr>
              <a:t>f</a:t>
            </a:r>
            <a:r>
              <a:rPr lang="en" altLang="zh-CN" dirty="0" err="1">
                <a:latin typeface="+mn-ea"/>
              </a:rPr>
              <a:t>b</a:t>
            </a:r>
            <a:r>
              <a:rPr lang="en" altLang="zh-CN" dirty="0" err="1">
                <a:solidFill>
                  <a:srgbClr val="FF0000"/>
                </a:solidFill>
                <a:latin typeface="+mn-ea"/>
              </a:rPr>
              <a:t>c</a:t>
            </a:r>
            <a:r>
              <a:rPr lang="en" altLang="zh-CN" dirty="0" err="1">
                <a:latin typeface="+mn-ea"/>
              </a:rPr>
              <a:t>fcbfa</a:t>
            </a:r>
            <a:endParaRPr lang="en" altLang="zh-CN" dirty="0">
              <a:latin typeface="+mn-ea"/>
            </a:endParaRP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红、绿色字符表示原有的字符，白色为新增字符</a:t>
            </a:r>
            <a:endParaRPr lang="en-US" altLang="zh-CN" dirty="0"/>
          </a:p>
          <a:p>
            <a:r>
              <a:rPr lang="zh-CN" altLang="en-US" dirty="0">
                <a:highlight>
                  <a:srgbClr val="FFFF00"/>
                </a:highlight>
              </a:rPr>
              <a:t>显然，任何位置不可能都是白色（不需要增加那个字符）</a:t>
            </a:r>
            <a:endParaRPr lang="en-US" altLang="zh-CN" dirty="0">
              <a:highlight>
                <a:srgbClr val="FFFF00"/>
              </a:highlight>
            </a:endParaRPr>
          </a:p>
          <a:p>
            <a:r>
              <a:rPr lang="zh-CN" altLang="en-US" dirty="0"/>
              <a:t>应该让红色字符尽量多！相当于求字符串和其逆序字符串</a:t>
            </a:r>
            <a:r>
              <a:rPr lang="zh-CN" altLang="en-US" dirty="0">
                <a:latin typeface="+mn-ea"/>
              </a:rPr>
              <a:t>的 </a:t>
            </a:r>
            <a:r>
              <a:rPr lang="en-US" altLang="zh-CN" dirty="0">
                <a:latin typeface="+mn-ea"/>
              </a:rPr>
              <a:t>LCS</a:t>
            </a:r>
            <a:r>
              <a:rPr lang="zh-CN" altLang="en-US" dirty="0">
                <a:latin typeface="+mn-ea"/>
              </a:rPr>
              <a:t>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CBA6F3F-6D63-9648-B7B6-B4F067FF6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269" y="3429000"/>
            <a:ext cx="60960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013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最长上升子序列</a:t>
            </a:r>
            <a:r>
              <a:rPr lang="zh-CN" altLang="en-US">
                <a:solidFill>
                  <a:schemeClr val="bg1"/>
                </a:solidFill>
                <a:latin typeface="+mn-ea"/>
                <a:ea typeface="+mn-ea"/>
              </a:rPr>
              <a:t>（</a:t>
            </a:r>
            <a:r>
              <a:rPr lang="en-US" altLang="zh-CN">
                <a:solidFill>
                  <a:schemeClr val="bg1"/>
                </a:solidFill>
                <a:latin typeface="+mn-ea"/>
                <a:ea typeface="+mn-ea"/>
              </a:rPr>
              <a:t>LIS</a:t>
            </a:r>
            <a:r>
              <a:rPr lang="zh-CN" altLang="en-US">
                <a:solidFill>
                  <a:schemeClr val="bg1"/>
                </a:solidFill>
                <a:latin typeface="+mn-ea"/>
                <a:ea typeface="+mn-ea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>
                    <a:latin typeface="+mn-ea"/>
                  </a:rPr>
                  <a:t>给定一个序列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>
                    <a:latin typeface="+mn-ea"/>
                  </a:rPr>
                  <a:t>，求它的一个递增子序列，使它的元素个数尽量多。元素个数最多的那个递增子序列称为最长上升子序列（</a:t>
                </a:r>
                <a:r>
                  <a:rPr lang="en-US" altLang="zh-CN">
                    <a:latin typeface="+mn-ea"/>
                  </a:rPr>
                  <a:t>Longest</a:t>
                </a:r>
                <a:r>
                  <a:rPr lang="zh-CN" altLang="en-US">
                    <a:latin typeface="+mn-ea"/>
                  </a:rPr>
                  <a:t> </a:t>
                </a:r>
                <a:r>
                  <a:rPr lang="en-US" altLang="zh-CN">
                    <a:latin typeface="+mn-ea"/>
                  </a:rPr>
                  <a:t>Incremental Sequence</a:t>
                </a:r>
                <a:r>
                  <a:rPr lang="zh-CN" altLang="en-US">
                    <a:latin typeface="+mn-ea"/>
                  </a:rPr>
                  <a:t>，</a:t>
                </a:r>
                <a:r>
                  <a:rPr lang="en-US" altLang="zh-CN">
                    <a:latin typeface="+mn-ea"/>
                  </a:rPr>
                  <a:t>LIS</a:t>
                </a:r>
                <a:r>
                  <a:rPr lang="zh-CN" altLang="en-US">
                    <a:latin typeface="+mn-ea"/>
                  </a:rPr>
                  <a:t>）</a:t>
                </a:r>
                <a:endParaRPr lang="en-US" altLang="zh-CN">
                  <a:latin typeface="+mn-ea"/>
                </a:endParaRPr>
              </a:p>
              <a:p>
                <a:r>
                  <a:rPr lang="zh-CN" altLang="en-US">
                    <a:latin typeface="+mn-ea"/>
                  </a:rPr>
                  <a:t>例如：</a:t>
                </a:r>
                <a:r>
                  <a:rPr lang="en-US" altLang="zh-CN">
                    <a:solidFill>
                      <a:srgbClr val="FF0000"/>
                    </a:solidFill>
                    <a:latin typeface="+mn-ea"/>
                  </a:rPr>
                  <a:t>1</a:t>
                </a:r>
                <a:r>
                  <a:rPr lang="zh-CN" altLang="en-US">
                    <a:latin typeface="+mn-ea"/>
                  </a:rPr>
                  <a:t> </a:t>
                </a:r>
                <a:r>
                  <a:rPr lang="en-US" altLang="zh-CN">
                    <a:latin typeface="+mn-ea"/>
                  </a:rPr>
                  <a:t>6</a:t>
                </a:r>
                <a:r>
                  <a:rPr lang="zh-CN" altLang="en-US">
                    <a:latin typeface="+mn-ea"/>
                  </a:rPr>
                  <a:t> </a:t>
                </a:r>
                <a:r>
                  <a:rPr lang="en-US" altLang="zh-CN">
                    <a:solidFill>
                      <a:srgbClr val="FF0000"/>
                    </a:solidFill>
                    <a:latin typeface="+mn-ea"/>
                  </a:rPr>
                  <a:t>2</a:t>
                </a:r>
                <a:r>
                  <a:rPr lang="zh-CN" altLang="en-US">
                    <a:latin typeface="+mn-ea"/>
                  </a:rPr>
                  <a:t> </a:t>
                </a:r>
                <a:r>
                  <a:rPr lang="en-US" altLang="zh-CN">
                    <a:solidFill>
                      <a:srgbClr val="FF0000"/>
                    </a:solidFill>
                    <a:latin typeface="+mn-ea"/>
                  </a:rPr>
                  <a:t>5</a:t>
                </a:r>
                <a:r>
                  <a:rPr lang="zh-CN" altLang="en-US">
                    <a:latin typeface="+mn-ea"/>
                  </a:rPr>
                  <a:t> </a:t>
                </a:r>
                <a:r>
                  <a:rPr lang="en-US" altLang="zh-CN">
                    <a:latin typeface="+mn-ea"/>
                  </a:rPr>
                  <a:t>4</a:t>
                </a:r>
                <a:r>
                  <a:rPr lang="zh-CN" altLang="en-US">
                    <a:latin typeface="+mn-ea"/>
                  </a:rPr>
                  <a:t> </a:t>
                </a:r>
                <a:r>
                  <a:rPr lang="en-US" altLang="zh-CN">
                    <a:solidFill>
                      <a:srgbClr val="FF0000"/>
                    </a:solidFill>
                    <a:latin typeface="+mn-ea"/>
                  </a:rPr>
                  <a:t>7</a:t>
                </a:r>
                <a:r>
                  <a:rPr lang="zh-CN" altLang="en-US">
                    <a:latin typeface="+mn-ea"/>
                  </a:rPr>
                  <a:t> 的最长上升子序列是 </a:t>
                </a:r>
                <a:r>
                  <a:rPr lang="en-US" altLang="zh-CN">
                    <a:latin typeface="+mn-ea"/>
                  </a:rPr>
                  <a:t>1 2 5 7</a:t>
                </a:r>
                <a:r>
                  <a:rPr lang="zh-CN" altLang="en-US">
                    <a:latin typeface="+mn-ea"/>
                  </a:rPr>
                  <a:t>。（此例 </a:t>
                </a:r>
                <a:r>
                  <a:rPr lang="en-US" altLang="zh-CN">
                    <a:latin typeface="+mn-ea"/>
                  </a:rPr>
                  <a:t>LIS</a:t>
                </a:r>
                <a:r>
                  <a:rPr lang="zh-CN" altLang="en-US">
                    <a:latin typeface="+mn-ea"/>
                  </a:rPr>
                  <a:t> 不唯一）</a:t>
                </a:r>
                <a:endParaRPr lang="en-US" altLang="zh-CN">
                  <a:latin typeface="+mn-ea"/>
                </a:endParaRPr>
              </a:p>
              <a:p>
                <a:endParaRPr lang="en-US" altLang="zh-CN">
                  <a:latin typeface="+mn-ea"/>
                </a:endParaRPr>
              </a:p>
              <a:p>
                <a:r>
                  <a:rPr lang="zh-CN" altLang="en-US">
                    <a:latin typeface="+mn-ea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表示以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结尾的最长上升子序列的长度。状态转移方程为：</a:t>
                </a:r>
                <a:endParaRPr lang="en-US" altLang="zh-CN">
                  <a:latin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𝑎𝑛𝑑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+1}</m:t>
                          </m:r>
                        </m:e>
                      </m:func>
                    </m:oMath>
                  </m:oMathPara>
                </a14:m>
                <a:endParaRPr lang="en-US" altLang="zh-CN" b="0">
                  <a:latin typeface="+mn-ea"/>
                </a:endParaRPr>
              </a:p>
              <a:p>
                <a:r>
                  <a:rPr lang="zh-CN" altLang="en-US">
                    <a:latin typeface="+mn-ea"/>
                  </a:rPr>
                  <a:t>直接做的复杂度为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>
                    <a:latin typeface="+mn-ea"/>
                  </a:rPr>
                  <a:t>。</a:t>
                </a:r>
                <a:endParaRPr lang="en-US" altLang="zh-CN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  <a:blipFill>
                <a:blip r:embed="rId3"/>
                <a:stretch>
                  <a:fillRect l="-1182" r="-36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859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最长上升子序列</a:t>
            </a:r>
            <a:r>
              <a:rPr lang="zh-CN" altLang="en-US">
                <a:solidFill>
                  <a:schemeClr val="bg1"/>
                </a:solidFill>
                <a:latin typeface="+mn-ea"/>
                <a:ea typeface="+mn-ea"/>
              </a:rPr>
              <a:t>（</a:t>
            </a:r>
            <a:r>
              <a:rPr lang="en-US" altLang="zh-CN">
                <a:solidFill>
                  <a:schemeClr val="bg1"/>
                </a:solidFill>
                <a:latin typeface="+mn-ea"/>
                <a:ea typeface="+mn-ea"/>
              </a:rPr>
              <a:t>LIS</a:t>
            </a:r>
            <a:r>
              <a:rPr lang="zh-CN" altLang="en-US">
                <a:solidFill>
                  <a:schemeClr val="bg1"/>
                </a:solidFill>
                <a:latin typeface="+mn-ea"/>
                <a:ea typeface="+mn-ea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 dirty="0">
                    <a:latin typeface="+mn-ea"/>
                  </a:rPr>
                  <a:t>寻找可以优化到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 的方法。</a:t>
                </a:r>
                <a:endParaRPr lang="en-US" altLang="zh-CN" dirty="0">
                  <a:latin typeface="+mn-ea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>
                    <a:latin typeface="+mn-ea"/>
                  </a:rPr>
                  <a:t> 值相同的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>
                    <a:latin typeface="+mn-ea"/>
                  </a:rPr>
                  <a:t> 值只需要保留最小的，</a:t>
                </a:r>
                <a:r>
                  <a:rPr lang="zh-CN" altLang="en-US" dirty="0"/>
                  <a:t>因此用数组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表示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值为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的数的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最小值，显然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是单调递增的。</a:t>
                </a:r>
              </a:p>
              <a:p>
                <a:r>
                  <a:rPr lang="zh-CN" altLang="en-US" b="1" dirty="0">
                    <a:latin typeface="Cambria Math" panose="02040503050406030204" pitchFamily="18" charset="0"/>
                  </a:rPr>
                  <a:t>计算</a:t>
                </a:r>
                <a:r>
                  <a:rPr lang="en-US" altLang="zh-CN" b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" altLang="zh-CN" b="1" dirty="0">
                    <a:latin typeface="Cambria Math" panose="02040503050406030204" pitchFamily="18" charset="0"/>
                  </a:rPr>
                  <a:t> </a:t>
                </a:r>
                <a:r>
                  <a:rPr lang="zh-CN" altLang="en" b="1" dirty="0">
                    <a:latin typeface="Cambria Math" panose="02040503050406030204" pitchFamily="18" charset="0"/>
                  </a:rPr>
                  <a:t>：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需要在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" altLang="zh-CN" dirty="0">
                    <a:latin typeface="Cambria Math" panose="02040503050406030204" pitchFamily="18" charset="0"/>
                  </a:rPr>
                  <a:t> 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中找到大于等于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" altLang="zh-CN" dirty="0">
                    <a:latin typeface="Cambria Math" panose="02040503050406030204" pitchFamily="18" charset="0"/>
                  </a:rPr>
                  <a:t> 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的第一个数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" dirty="0">
                    <a:latin typeface="Cambria Math" panose="02040503050406030204" pitchFamily="18" charset="0"/>
                  </a:rPr>
                  <a:t>，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则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" dirty="0">
                    <a:latin typeface="Cambria Math" panose="02040503050406030204" pitchFamily="18" charset="0"/>
                  </a:rPr>
                  <a:t>。</a:t>
                </a:r>
              </a:p>
              <a:p>
                <a:r>
                  <a:rPr lang="zh-CN" altLang="en-US" b="1" dirty="0">
                    <a:latin typeface="Cambria Math" panose="02040503050406030204" pitchFamily="18" charset="0"/>
                  </a:rPr>
                  <a:t>更新</a:t>
                </a:r>
                <a:r>
                  <a:rPr lang="en-US" altLang="zh-CN" b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zh-CN" altLang="en" b="1" dirty="0">
                    <a:latin typeface="Cambria Math" panose="02040503050406030204" pitchFamily="18" charset="0"/>
                  </a:rPr>
                  <a:t>：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由于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" dirty="0">
                    <a:latin typeface="Cambria Math" panose="02040503050406030204" pitchFamily="18" charset="0"/>
                  </a:rPr>
                  <a:t>，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需要更新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" altLang="zh-CN" dirty="0">
                    <a:latin typeface="Cambria Math" panose="02040503050406030204" pitchFamily="18" charset="0"/>
                  </a:rPr>
                  <a:t> 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为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" dirty="0">
                    <a:latin typeface="Cambria Math" panose="02040503050406030204" pitchFamily="18" charset="0"/>
                  </a:rPr>
                  <a:t>。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r>
                  <a:rPr lang="zh-CN" altLang="en-US" dirty="0">
                    <a:latin typeface="+mn-ea"/>
                  </a:rPr>
                  <a:t>代码：求出第一个大于等于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的数，用二分查找实现，每次转移时间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，总时间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可以使用 </a:t>
                </a:r>
                <a:r>
                  <a:rPr lang="en-US" altLang="zh-CN" dirty="0">
                    <a:latin typeface="+mn-ea"/>
                  </a:rPr>
                  <a:t>STL</a:t>
                </a:r>
                <a:r>
                  <a:rPr lang="zh-CN" altLang="en-US" dirty="0">
                    <a:latin typeface="+mn-ea"/>
                  </a:rPr>
                  <a:t> 的 </a:t>
                </a:r>
                <a:r>
                  <a:rPr lang="en-US" altLang="zh-CN" dirty="0" err="1">
                    <a:latin typeface="+mn-ea"/>
                  </a:rPr>
                  <a:t>lower_bound</a:t>
                </a:r>
                <a:r>
                  <a:rPr lang="zh-CN" altLang="en-US" dirty="0">
                    <a:latin typeface="+mn-ea"/>
                  </a:rPr>
                  <a:t>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  <a:blipFill>
                <a:blip r:embed="rId3"/>
                <a:stretch>
                  <a:fillRect l="-11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9896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航线问题</a:t>
            </a:r>
            <a:endParaRPr lang="zh-CN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>
                    <a:latin typeface="+mn-ea"/>
                  </a:rPr>
                  <a:t>有两行点，每行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>
                    <a:latin typeface="+mn-ea"/>
                  </a:rPr>
                  <a:t> 个。第一行点和第二行点是一一对应的，有线连接，如下图所示。</a:t>
                </a:r>
                <a:endParaRPr lang="en-US" altLang="zh-CN">
                  <a:latin typeface="+mn-ea"/>
                </a:endParaRPr>
              </a:p>
              <a:p>
                <a:endParaRPr lang="en-US" altLang="zh-CN">
                  <a:latin typeface="+mn-ea"/>
                </a:endParaRPr>
              </a:p>
              <a:p>
                <a:endParaRPr lang="en-US" altLang="zh-CN">
                  <a:latin typeface="+mn-ea"/>
                </a:endParaRPr>
              </a:p>
              <a:p>
                <a:endParaRPr lang="zh-CN" altLang="en-US">
                  <a:latin typeface="+mn-ea"/>
                </a:endParaRPr>
              </a:p>
              <a:p>
                <a:r>
                  <a:rPr lang="zh-CN" altLang="en-US">
                    <a:latin typeface="+mn-ea"/>
                  </a:rPr>
                  <a:t>选择尽量多的线，两两不交叉。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  <a:blipFill>
                <a:blip r:embed="rId3"/>
                <a:stretch>
                  <a:fillRect l="-11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95498D0C-E4ED-9D4B-A8E4-556E5FE7B6AA}"/>
              </a:ext>
            </a:extLst>
          </p:cNvPr>
          <p:cNvGrpSpPr/>
          <p:nvPr/>
        </p:nvGrpSpPr>
        <p:grpSpPr>
          <a:xfrm>
            <a:off x="3337910" y="3429000"/>
            <a:ext cx="4318000" cy="1435100"/>
            <a:chOff x="3337910" y="3429000"/>
            <a:chExt cx="4318000" cy="1435100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37EF04FC-2A68-5246-B175-B6231D36B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7910" y="3429000"/>
              <a:ext cx="4318000" cy="1435100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A727C9A-6670-384F-A0B2-909FF609F789}"/>
                </a:ext>
              </a:extLst>
            </p:cNvPr>
            <p:cNvSpPr/>
            <p:nvPr/>
          </p:nvSpPr>
          <p:spPr>
            <a:xfrm>
              <a:off x="7476566" y="3621181"/>
              <a:ext cx="80682" cy="105073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BAD1C54-2B19-8E45-AAB0-F58A38F42FF8}"/>
                </a:ext>
              </a:extLst>
            </p:cNvPr>
            <p:cNvSpPr/>
            <p:nvPr/>
          </p:nvSpPr>
          <p:spPr>
            <a:xfrm>
              <a:off x="3409679" y="3620418"/>
              <a:ext cx="80682" cy="105073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2793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分析</a:t>
            </a:r>
            <a:endParaRPr lang="zh-CN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>
                    <a:latin typeface="+mn-ea"/>
                  </a:rPr>
                  <a:t>设与第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>
                    <a:latin typeface="+mn-ea"/>
                  </a:rPr>
                  <a:t> 行第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个点对应的是第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行第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个点</a:t>
                </a:r>
              </a:p>
              <a:p>
                <a:r>
                  <a:rPr lang="zh-CN" altLang="en-US">
                    <a:latin typeface="+mn-ea"/>
                  </a:rPr>
                  <a:t>假设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>
                    <a:latin typeface="+mn-ea"/>
                  </a:rPr>
                  <a:t>, </a:t>
                </a:r>
                <a:r>
                  <a:rPr lang="zh-CN" altLang="en-US">
                    <a:latin typeface="+mn-ea"/>
                  </a:rPr>
                  <a:t>两条线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和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不相交的充要条件是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>
                  <a:latin typeface="+mn-ea"/>
                </a:endParaRPr>
              </a:p>
              <a:p>
                <a:r>
                  <a:rPr lang="zh-CN" altLang="en-US">
                    <a:latin typeface="+mn-ea"/>
                  </a:rPr>
                  <a:t>因此问题变成了：求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>
                    <a:latin typeface="+mn-ea"/>
                  </a:rPr>
                  <a:t> </a:t>
                </a:r>
                <a:r>
                  <a:rPr lang="zh-CN" altLang="en-US">
                    <a:latin typeface="+mn-ea"/>
                  </a:rPr>
                  <a:t>的最长上升子序列</a:t>
                </a:r>
              </a:p>
              <a:p>
                <a:r>
                  <a:rPr lang="zh-CN" altLang="en-US">
                    <a:latin typeface="+mn-ea"/>
                  </a:rPr>
                  <a:t>时间复杂度为</a:t>
                </a:r>
                <a:r>
                  <a:rPr lang="en-US" altLang="zh-CN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  <a:blipFill>
                <a:blip r:embed="rId3"/>
                <a:stretch>
                  <a:fillRect l="-11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7487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  <a:latin typeface="+mn-ea"/>
                <a:ea typeface="+mn-ea"/>
              </a:rPr>
              <a:t>两个排列的</a:t>
            </a:r>
            <a:r>
              <a:rPr lang="en-US" altLang="zh-CN">
                <a:solidFill>
                  <a:schemeClr val="bg1"/>
                </a:solidFill>
                <a:latin typeface="+mn-ea"/>
                <a:ea typeface="+mn-ea"/>
              </a:rPr>
              <a:t>LCS</a:t>
            </a:r>
            <a:endParaRPr lang="zh-CN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 dirty="0">
                    <a:latin typeface="+mn-ea"/>
                  </a:rPr>
                  <a:t>给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的两个排列</a:t>
                </a:r>
                <a:r>
                  <a:rPr lang="en-US" altLang="zh-CN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>
                    <a:latin typeface="+mn-ea"/>
                  </a:rPr>
                  <a:t>、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dirty="0">
                    <a:latin typeface="+mn-ea"/>
                  </a:rPr>
                  <a:t>，求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和</a:t>
                </a:r>
                <a:r>
                  <a:rPr lang="en-US" altLang="zh-CN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的最长公共子序列。</a:t>
                </a:r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例：</a:t>
                </a:r>
                <a:r>
                  <a:rPr lang="en-US" altLang="zh-CN" dirty="0">
                    <a:latin typeface="+mn-ea"/>
                  </a:rPr>
                  <a:t>1</a:t>
                </a:r>
                <a:r>
                  <a:rPr lang="zh-CN" altLang="en-US" dirty="0">
                    <a:latin typeface="+mn-ea"/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  <a:latin typeface="+mn-ea"/>
                  </a:rPr>
                  <a:t>5</a:t>
                </a:r>
                <a:r>
                  <a:rPr lang="zh-CN" altLang="en-US" dirty="0">
                    <a:latin typeface="+mn-ea"/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  <a:latin typeface="+mn-ea"/>
                  </a:rPr>
                  <a:t>3</a:t>
                </a:r>
                <a:r>
                  <a:rPr lang="zh-CN" altLang="en-US" dirty="0">
                    <a:latin typeface="+mn-ea"/>
                  </a:rPr>
                  <a:t> </a:t>
                </a:r>
                <a:r>
                  <a:rPr lang="en-US" altLang="zh-CN" dirty="0">
                    <a:latin typeface="+mn-ea"/>
                  </a:rPr>
                  <a:t>2</a:t>
                </a:r>
                <a:r>
                  <a:rPr lang="zh-CN" altLang="en-US" dirty="0">
                    <a:latin typeface="+mn-ea"/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  <a:latin typeface="+mn-ea"/>
                  </a:rPr>
                  <a:t>4</a:t>
                </a:r>
                <a:r>
                  <a:rPr lang="zh-CN" altLang="en-US" dirty="0">
                    <a:latin typeface="+mn-ea"/>
                  </a:rPr>
                  <a:t> </a:t>
                </a:r>
                <a:r>
                  <a:rPr lang="en-US" altLang="zh-CN" dirty="0">
                    <a:latin typeface="+mn-ea"/>
                  </a:rPr>
                  <a:t>&lt;-&gt; </a:t>
                </a:r>
                <a:r>
                  <a:rPr lang="en-US" altLang="zh-CN" dirty="0">
                    <a:solidFill>
                      <a:srgbClr val="FF0000"/>
                    </a:solidFill>
                    <a:latin typeface="+mn-ea"/>
                  </a:rPr>
                  <a:t>5</a:t>
                </a:r>
                <a:r>
                  <a:rPr lang="en-US" altLang="zh-CN" dirty="0">
                    <a:latin typeface="+mn-ea"/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  <a:latin typeface="+mn-ea"/>
                  </a:rPr>
                  <a:t>3</a:t>
                </a:r>
                <a:r>
                  <a:rPr lang="en-US" altLang="zh-CN" dirty="0">
                    <a:latin typeface="+mn-ea"/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  <a:latin typeface="+mn-ea"/>
                  </a:rPr>
                  <a:t>4</a:t>
                </a:r>
                <a:r>
                  <a:rPr lang="en-US" altLang="zh-CN" dirty="0">
                    <a:latin typeface="+mn-ea"/>
                  </a:rPr>
                  <a:t> 2 1</a:t>
                </a:r>
              </a:p>
              <a:p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算法一：直接套用 </a:t>
                </a:r>
                <a:r>
                  <a:rPr lang="en-US" altLang="zh-CN" dirty="0">
                    <a:latin typeface="+mn-ea"/>
                  </a:rPr>
                  <a:t>LCS</a:t>
                </a:r>
                <a:r>
                  <a:rPr lang="zh-CN" altLang="en-US" dirty="0">
                    <a:latin typeface="+mn-ea"/>
                  </a:rPr>
                  <a:t>，复杂度</a:t>
                </a:r>
                <a:r>
                  <a:rPr lang="en-US" altLang="zh-CN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算法二：注意到把两个排列做</a:t>
                </a:r>
                <a:r>
                  <a:rPr lang="zh-CN" altLang="en-US" dirty="0">
                    <a:solidFill>
                      <a:srgbClr val="FF0000"/>
                    </a:solidFill>
                    <a:latin typeface="+mn-ea"/>
                  </a:rPr>
                  <a:t>相同的</a:t>
                </a:r>
                <a:r>
                  <a:rPr lang="zh-CN" altLang="en-US" dirty="0">
                    <a:solidFill>
                      <a:srgbClr val="FF0000"/>
                    </a:solidFill>
                    <a:highlight>
                      <a:srgbClr val="FFFF00"/>
                    </a:highlight>
                    <a:latin typeface="+mn-ea"/>
                  </a:rPr>
                  <a:t>置换</a:t>
                </a:r>
                <a:r>
                  <a:rPr lang="zh-CN" altLang="en-US" dirty="0">
                    <a:latin typeface="+mn-ea"/>
                  </a:rPr>
                  <a:t>，</a:t>
                </a:r>
                <a:r>
                  <a:rPr lang="en-US" altLang="zh-CN" dirty="0">
                    <a:latin typeface="+mn-ea"/>
                  </a:rPr>
                  <a:t>LCS</a:t>
                </a:r>
                <a:r>
                  <a:rPr lang="zh-CN" altLang="en-US" dirty="0">
                    <a:latin typeface="+mn-ea"/>
                  </a:rPr>
                  <a:t> 不变。</a:t>
                </a:r>
                <a:endParaRPr lang="en-US" altLang="zh-CN" dirty="0">
                  <a:latin typeface="+mn-ea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>
                    <a:latin typeface="+mn-ea"/>
                  </a:rPr>
                  <a:t>：</a:t>
                </a:r>
                <a:r>
                  <a:rPr lang="en-US" altLang="zh-CN" dirty="0">
                    <a:latin typeface="+mn-ea"/>
                  </a:rPr>
                  <a:t>1 5 3 2 4 -&gt; 1 2 3 4 5 </a:t>
                </a:r>
                <a:r>
                  <a:rPr lang="zh-CN" altLang="en-US" dirty="0">
                    <a:latin typeface="+mn-ea"/>
                  </a:rPr>
                  <a:t>即做置换：</a:t>
                </a:r>
                <a:r>
                  <a:rPr lang="en-US" altLang="zh-CN" dirty="0">
                    <a:latin typeface="+mn-ea"/>
                  </a:rPr>
                  <a:t>5&lt;-&gt;2</a:t>
                </a:r>
                <a:r>
                  <a:rPr lang="zh-CN" altLang="en-US" dirty="0">
                    <a:latin typeface="+mn-ea"/>
                  </a:rPr>
                  <a:t>，</a:t>
                </a:r>
                <a:r>
                  <a:rPr lang="en-US" altLang="zh-CN" dirty="0">
                    <a:latin typeface="+mn-ea"/>
                  </a:rPr>
                  <a:t>4&lt;-&gt;5</a:t>
                </a:r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dirty="0">
                    <a:latin typeface="+mn-ea"/>
                  </a:rPr>
                  <a:t> 做同样的置换 </a:t>
                </a:r>
                <a:r>
                  <a:rPr lang="en-US" altLang="zh-CN" dirty="0">
                    <a:latin typeface="+mn-ea"/>
                  </a:rPr>
                  <a:t>5 3 4 2 1 -&gt; 2 3 5 4 1</a:t>
                </a:r>
              </a:p>
              <a:p>
                <a:r>
                  <a:rPr lang="zh-CN" altLang="en-US" dirty="0">
                    <a:latin typeface="+mn-ea"/>
                  </a:rPr>
                  <a:t>可以先把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>
                    <a:latin typeface="+mn-ea"/>
                  </a:rPr>
                  <a:t> 排列为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,2,…,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dirty="0">
                    <a:latin typeface="+mn-ea"/>
                  </a:rPr>
                  <a:t> 也做同样的置换。与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1,2,…,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的 </a:t>
                </a:r>
                <a:r>
                  <a:rPr lang="en-US" altLang="zh-CN" dirty="0">
                    <a:latin typeface="+mn-ea"/>
                  </a:rPr>
                  <a:t>LCS</a:t>
                </a:r>
                <a:r>
                  <a:rPr lang="zh-CN" altLang="en-US" dirty="0">
                    <a:latin typeface="+mn-ea"/>
                  </a:rPr>
                  <a:t> 显然是最长上升子序列，时间降为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  <a:blipFill>
                <a:blip r:embed="rId3"/>
                <a:stretch>
                  <a:fillRect l="-11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0847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  <a:latin typeface="+mn-ea"/>
              </a:rPr>
              <a:t>最大</a:t>
            </a:r>
            <a:r>
              <a:rPr lang="en-US" altLang="zh-CN">
                <a:solidFill>
                  <a:schemeClr val="bg1"/>
                </a:solidFill>
                <a:latin typeface="+mn-ea"/>
              </a:rPr>
              <a:t>m</a:t>
            </a:r>
            <a:r>
              <a:rPr lang="zh-CN" altLang="en-US">
                <a:solidFill>
                  <a:schemeClr val="bg1"/>
                </a:solidFill>
                <a:latin typeface="+mn-ea"/>
              </a:rPr>
              <a:t>子段和</a:t>
            </a:r>
            <a:endParaRPr lang="zh-CN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>
                    <a:latin typeface="+mn-ea"/>
                  </a:rPr>
                  <a:t>给定一个序列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>
                    <a:latin typeface="+mn-ea"/>
                  </a:rPr>
                  <a:t>，求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>
                    <a:latin typeface="+mn-ea"/>
                  </a:rPr>
                  <a:t> 个不相交（可以相连）的连续子序列，总和最大。</a:t>
                </a:r>
                <a:endParaRPr lang="en-US" altLang="zh-CN">
                  <a:latin typeface="+mn-ea"/>
                </a:endParaRPr>
              </a:p>
              <a:p>
                <a:r>
                  <a:rPr lang="zh-CN" altLang="en-US">
                    <a:latin typeface="+mn-ea"/>
                  </a:rPr>
                  <a:t>例如：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>
                    <a:latin typeface="+mn-ea"/>
                  </a:rPr>
                  <a:t>，</a:t>
                </a:r>
                <a:r>
                  <a:rPr lang="en-US" altLang="zh-CN">
                    <a:solidFill>
                      <a:srgbClr val="FF0000"/>
                    </a:solidFill>
                    <a:latin typeface="+mn-ea"/>
                  </a:rPr>
                  <a:t>1</a:t>
                </a:r>
                <a:r>
                  <a:rPr lang="zh-CN" altLang="en-US">
                    <a:latin typeface="+mn-ea"/>
                  </a:rPr>
                  <a:t> </a:t>
                </a:r>
                <a:r>
                  <a:rPr lang="en-US" altLang="zh-CN">
                    <a:solidFill>
                      <a:srgbClr val="FF0000"/>
                    </a:solidFill>
                    <a:latin typeface="+mn-ea"/>
                  </a:rPr>
                  <a:t>2</a:t>
                </a:r>
                <a:r>
                  <a:rPr lang="zh-CN" altLang="en-US">
                    <a:solidFill>
                      <a:srgbClr val="FF0000"/>
                    </a:solidFill>
                    <a:latin typeface="+mn-ea"/>
                  </a:rPr>
                  <a:t> </a:t>
                </a:r>
                <a:r>
                  <a:rPr lang="en-US" altLang="zh-CN">
                    <a:solidFill>
                      <a:srgbClr val="FF0000"/>
                    </a:solidFill>
                    <a:latin typeface="+mn-ea"/>
                  </a:rPr>
                  <a:t>-3</a:t>
                </a:r>
                <a:r>
                  <a:rPr lang="zh-CN" altLang="en-US">
                    <a:solidFill>
                      <a:srgbClr val="FF0000"/>
                    </a:solidFill>
                    <a:latin typeface="+mn-ea"/>
                  </a:rPr>
                  <a:t> </a:t>
                </a:r>
                <a:r>
                  <a:rPr lang="en-US" altLang="zh-CN">
                    <a:solidFill>
                      <a:srgbClr val="FF0000"/>
                    </a:solidFill>
                    <a:latin typeface="+mn-ea"/>
                  </a:rPr>
                  <a:t>4</a:t>
                </a:r>
                <a:r>
                  <a:rPr lang="zh-CN" altLang="en-US">
                    <a:latin typeface="+mn-ea"/>
                  </a:rPr>
                  <a:t> </a:t>
                </a:r>
                <a:r>
                  <a:rPr lang="en-US" altLang="zh-CN">
                    <a:solidFill>
                      <a:srgbClr val="FF0000"/>
                    </a:solidFill>
                    <a:latin typeface="+mn-ea"/>
                  </a:rPr>
                  <a:t>5</a:t>
                </a:r>
                <a:r>
                  <a:rPr lang="zh-CN" altLang="en-US">
                    <a:latin typeface="+mn-ea"/>
                  </a:rPr>
                  <a:t> </a:t>
                </a:r>
                <a:r>
                  <a:rPr lang="en-US" altLang="zh-CN">
                    <a:latin typeface="+mn-ea"/>
                  </a:rPr>
                  <a:t>-6</a:t>
                </a:r>
                <a:r>
                  <a:rPr lang="zh-CN" altLang="en-US">
                    <a:latin typeface="+mn-ea"/>
                  </a:rPr>
                  <a:t> </a:t>
                </a:r>
                <a:r>
                  <a:rPr lang="en-US" altLang="zh-CN">
                    <a:solidFill>
                      <a:srgbClr val="FF0000"/>
                    </a:solidFill>
                    <a:latin typeface="+mn-ea"/>
                  </a:rPr>
                  <a:t>7</a:t>
                </a:r>
                <a:endParaRPr lang="en-US" altLang="zh-CN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  <a:blipFill>
                <a:blip r:embed="rId3"/>
                <a:stretch>
                  <a:fillRect l="-11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8050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  <a:latin typeface="+mn-ea"/>
              </a:rPr>
              <a:t>分析</a:t>
            </a:r>
            <a:endParaRPr lang="zh-CN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>
                    <a:latin typeface="+mn-ea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>
                    <a:latin typeface="+mn-ea"/>
                  </a:rPr>
                  <a:t> 表示第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>
                    <a:latin typeface="+mn-ea"/>
                  </a:rPr>
                  <a:t> 项结尾的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>
                    <a:latin typeface="+mn-ea"/>
                  </a:rPr>
                  <a:t> 段和的最大值，则需要枚举此段开头的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>
                    <a:latin typeface="+mn-ea"/>
                  </a:rPr>
                  <a:t> 和上一段结尾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>
                    <a:latin typeface="+mn-ea"/>
                  </a:rPr>
                  <a:t>，即；</a:t>
                </a:r>
                <a:endParaRPr lang="en-US" altLang="zh-CN">
                  <a:latin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i="1">
                  <a:latin typeface="+mn-ea"/>
                </a:endParaRPr>
              </a:p>
              <a:p>
                <a:r>
                  <a:rPr lang="zh-CN" altLang="en-US">
                    <a:latin typeface="+mn-ea"/>
                  </a:rPr>
                  <a:t>每次需要枚举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>
                    <a:latin typeface="+mn-ea"/>
                  </a:rPr>
                  <a:t>，决策量为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>
                    <a:latin typeface="+mn-ea"/>
                  </a:rPr>
                  <a:t>，总体时间复杂度为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>
                    <a:latin typeface="+mn-ea"/>
                  </a:rPr>
                  <a:t>。</a:t>
                </a:r>
                <a:endParaRPr lang="en-US" altLang="zh-CN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  <a:blipFill>
                <a:blip r:embed="rId3"/>
                <a:stretch>
                  <a:fillRect l="-1182" r="-3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4686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  <a:latin typeface="+mn-ea"/>
                <a:ea typeface="+mn-ea"/>
              </a:rPr>
              <a:t>优化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>
                    <a:latin typeface="+mn-ea"/>
                  </a:rPr>
                  <a:t>注意到如果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>
                    <a:latin typeface="+mn-ea"/>
                  </a:rPr>
                  <a:t>也是本段的，答案变成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>
                    <a:latin typeface="+mn-ea"/>
                  </a:rPr>
                  <a:t>，方程优化为：</a:t>
                </a:r>
                <a:endParaRPr lang="en-US" altLang="zh-CN">
                  <a:latin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altLang="zh-CN">
                  <a:latin typeface="+mn-ea"/>
                </a:endParaRPr>
              </a:p>
              <a:p>
                <a:r>
                  <a:rPr lang="zh-CN" altLang="en-US">
                    <a:latin typeface="+mn-ea"/>
                  </a:rPr>
                  <a:t>优化后状态仍然是二维的，决策减少为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>
                    <a:latin typeface="+mn-ea"/>
                  </a:rPr>
                  <a:t>，总体时间复杂度为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>
                    <a:latin typeface="+mn-ea"/>
                  </a:rPr>
                  <a:t>。</a:t>
                </a:r>
                <a:endParaRPr lang="en-US" altLang="zh-CN">
                  <a:latin typeface="+mn-ea"/>
                </a:endParaRPr>
              </a:p>
              <a:p>
                <a:endParaRPr lang="en-US" altLang="zh-CN">
                  <a:latin typeface="+mn-ea"/>
                </a:endParaRPr>
              </a:p>
              <a:p>
                <a:r>
                  <a:rPr lang="zh-CN" altLang="en-US">
                    <a:latin typeface="+mn-ea"/>
                  </a:rPr>
                  <a:t>继续优化：注意到时间主要耗费在对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>
                    <a:latin typeface="+mn-ea"/>
                  </a:rPr>
                  <a:t> 的枚举上，即计算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𝑚𝑎𝑥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>
                    <a:latin typeface="+mn-ea"/>
                  </a:rPr>
                  <a:t>。</a:t>
                </a:r>
                <a:endParaRPr lang="en-US" altLang="zh-CN">
                  <a:latin typeface="+mn-ea"/>
                </a:endParaRPr>
              </a:p>
              <a:p>
                <a:r>
                  <a:rPr lang="zh-CN" altLang="en-US">
                    <a:latin typeface="+mn-ea"/>
                  </a:rPr>
                  <a:t>我们把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>
                    <a:latin typeface="+mn-ea"/>
                  </a:rPr>
                  <a:t> 的第一维称为“阶段”，则本题是典型的多阶段决策问题。</a:t>
                </a:r>
                <a:endParaRPr lang="en-US" altLang="zh-CN">
                  <a:latin typeface="+mn-ea"/>
                </a:endParaRPr>
              </a:p>
              <a:p>
                <a:r>
                  <a:rPr lang="zh-CN" altLang="en-US">
                    <a:latin typeface="+mn-ea"/>
                  </a:rPr>
                  <a:t>计算一个阶段时</a:t>
                </a:r>
                <a:r>
                  <a:rPr lang="en-US" altLang="zh-CN">
                    <a:latin typeface="+mn-ea"/>
                  </a:rPr>
                  <a:t>, </a:t>
                </a:r>
                <a:r>
                  <a:rPr lang="zh-CN" altLang="en-US">
                    <a:latin typeface="+mn-ea"/>
                  </a:rPr>
                  <a:t>顺便记录本阶段最大值</a:t>
                </a:r>
              </a:p>
              <a:p>
                <a:r>
                  <a:rPr lang="zh-CN" altLang="en-US">
                    <a:latin typeface="+mn-ea"/>
                  </a:rPr>
                  <a:t>只保留相邻两个阶段</a:t>
                </a:r>
                <a:r>
                  <a:rPr lang="en-US" altLang="zh-CN">
                    <a:latin typeface="+mn-ea"/>
                  </a:rPr>
                  <a:t>(</a:t>
                </a:r>
                <a:r>
                  <a:rPr lang="zh-CN" altLang="en-US">
                    <a:latin typeface="+mn-ea"/>
                  </a:rPr>
                  <a:t>滚动数组</a:t>
                </a:r>
                <a:r>
                  <a:rPr lang="en-US" altLang="zh-CN">
                    <a:latin typeface="+mn-ea"/>
                  </a:rPr>
                  <a:t>)</a:t>
                </a:r>
              </a:p>
              <a:p>
                <a:r>
                  <a:rPr lang="zh-CN" altLang="en-US">
                    <a:latin typeface="+mn-ea"/>
                  </a:rPr>
                  <a:t>则时间降为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>
                    <a:latin typeface="+mn-ea"/>
                  </a:rPr>
                  <a:t>, </a:t>
                </a:r>
                <a:r>
                  <a:rPr lang="zh-CN" altLang="en-US">
                    <a:latin typeface="+mn-ea"/>
                  </a:rPr>
                  <a:t>空间降为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>
                    <a:latin typeface="+mn-ea"/>
                  </a:rPr>
                  <a:t>。</a:t>
                </a:r>
                <a:endParaRPr lang="en-US" altLang="zh-CN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2569" y="1486110"/>
                <a:ext cx="10834779" cy="5282749"/>
              </a:xfrm>
              <a:blipFill>
                <a:blip r:embed="rId3"/>
                <a:stretch>
                  <a:fillRect l="-1182" r="-113" b="-8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6263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2685</Words>
  <Application>Microsoft Macintosh PowerPoint</Application>
  <PresentationFormat>宽屏</PresentationFormat>
  <Paragraphs>204</Paragraphs>
  <Slides>37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3" baseType="lpstr">
      <vt:lpstr>等线</vt:lpstr>
      <vt:lpstr>宋体</vt:lpstr>
      <vt:lpstr>Arial</vt:lpstr>
      <vt:lpstr>Cambria Math</vt:lpstr>
      <vt:lpstr>Tw Cen MT</vt:lpstr>
      <vt:lpstr>电路</vt:lpstr>
      <vt:lpstr>线性DP</vt:lpstr>
      <vt:lpstr>钢条切割</vt:lpstr>
      <vt:lpstr>钢条切割</vt:lpstr>
      <vt:lpstr>钢条切割</vt:lpstr>
      <vt:lpstr>钢条切割</vt:lpstr>
      <vt:lpstr>递推代码</vt:lpstr>
      <vt:lpstr>导弹拦截（NOIP 1999）</vt:lpstr>
      <vt:lpstr>状态的确定</vt:lpstr>
      <vt:lpstr>代码</vt:lpstr>
      <vt:lpstr>最低通行费</vt:lpstr>
      <vt:lpstr>最低通行费</vt:lpstr>
      <vt:lpstr>代码</vt:lpstr>
      <vt:lpstr>乘积最大</vt:lpstr>
      <vt:lpstr>分析</vt:lpstr>
      <vt:lpstr>状态的确定</vt:lpstr>
      <vt:lpstr>伪代码</vt:lpstr>
      <vt:lpstr>过河</vt:lpstr>
      <vt:lpstr>分析</vt:lpstr>
      <vt:lpstr>代码</vt:lpstr>
      <vt:lpstr>最长公共子序列</vt:lpstr>
      <vt:lpstr>最长公共子序列</vt:lpstr>
      <vt:lpstr>最长公共子序列</vt:lpstr>
      <vt:lpstr>记忆化搜索</vt:lpstr>
      <vt:lpstr>递推</vt:lpstr>
      <vt:lpstr>递推</vt:lpstr>
      <vt:lpstr>递推</vt:lpstr>
      <vt:lpstr>更优化的方法？</vt:lpstr>
      <vt:lpstr>最长公共子串</vt:lpstr>
      <vt:lpstr>回文词</vt:lpstr>
      <vt:lpstr>最长上升子序列（LIS）</vt:lpstr>
      <vt:lpstr>最长上升子序列（LIS）</vt:lpstr>
      <vt:lpstr>航线问题</vt:lpstr>
      <vt:lpstr>分析</vt:lpstr>
      <vt:lpstr>两个排列的LCS</vt:lpstr>
      <vt:lpstr>最大m子段和</vt:lpstr>
      <vt:lpstr>分析</vt:lpstr>
      <vt:lpstr>优化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Bryan Sun</dc:creator>
  <cp:lastModifiedBy>Bryan Sun</cp:lastModifiedBy>
  <cp:revision>1</cp:revision>
  <dcterms:created xsi:type="dcterms:W3CDTF">2023-10-06T11:36:30Z</dcterms:created>
  <dcterms:modified xsi:type="dcterms:W3CDTF">2023-10-21T05:45:19Z</dcterms:modified>
</cp:coreProperties>
</file>