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81" r:id="rId2"/>
    <p:sldId id="559" r:id="rId3"/>
    <p:sldId id="560" r:id="rId4"/>
    <p:sldId id="561" r:id="rId5"/>
    <p:sldId id="549" r:id="rId6"/>
    <p:sldId id="563" r:id="rId7"/>
    <p:sldId id="564" r:id="rId8"/>
    <p:sldId id="552" r:id="rId9"/>
    <p:sldId id="553" r:id="rId10"/>
    <p:sldId id="554" r:id="rId11"/>
    <p:sldId id="566" r:id="rId12"/>
    <p:sldId id="555" r:id="rId13"/>
    <p:sldId id="556" r:id="rId14"/>
    <p:sldId id="557" r:id="rId15"/>
    <p:sldId id="558" r:id="rId16"/>
    <p:sldId id="565" r:id="rId17"/>
    <p:sldId id="815" r:id="rId18"/>
    <p:sldId id="26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2" autoAdjust="0"/>
    <p:restoredTop sz="84219"/>
  </p:normalViewPr>
  <p:slideViewPr>
    <p:cSldViewPr snapToGrid="0">
      <p:cViewPr varScale="1">
        <p:scale>
          <a:sx n="95" d="100"/>
          <a:sy n="95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6F088-375B-584E-8E71-49740F8C8116}" type="datetimeFigureOut">
              <a:rPr kumimoji="1" lang="zh-CN" altLang="en-US" smtClean="0"/>
              <a:t>2023/2/3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F4864-2078-5446-9B10-2A811AD523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051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-US" altLang="zh-CN" dirty="0">
                <a:latin typeface="+mn-ea"/>
              </a:rPr>
              <a:t>void </a:t>
            </a:r>
            <a:r>
              <a:rPr lang="en-US" altLang="zh-CN" dirty="0" err="1">
                <a:latin typeface="+mn-ea"/>
              </a:rPr>
              <a:t>del_v</a:t>
            </a:r>
            <a:r>
              <a:rPr lang="en-US" altLang="zh-CN" dirty="0">
                <a:latin typeface="+mn-ea"/>
              </a:rPr>
              <a:t>(int x) { //</a:t>
            </a:r>
            <a:r>
              <a:rPr lang="zh-CN" altLang="en-US" dirty="0">
                <a:latin typeface="+mn-ea"/>
              </a:rPr>
              <a:t>删除一个值为</a:t>
            </a:r>
            <a:r>
              <a:rPr lang="en-US" altLang="zh-CN" dirty="0">
                <a:latin typeface="+mn-ea"/>
              </a:rPr>
              <a:t> x </a:t>
            </a:r>
            <a:r>
              <a:rPr lang="zh-CN" altLang="en-US" dirty="0">
                <a:latin typeface="+mn-ea"/>
              </a:rPr>
              <a:t>的元素</a:t>
            </a:r>
            <a:endParaRPr lang="en-US" altLang="zh-CN" dirty="0">
              <a:latin typeface="+mn-ea"/>
            </a:endParaRPr>
          </a:p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-US" altLang="zh-CN" dirty="0">
                <a:latin typeface="+mn-ea"/>
              </a:rPr>
              <a:t>    int pos = find(x);</a:t>
            </a:r>
          </a:p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-US" altLang="zh-CN" dirty="0">
                <a:latin typeface="+mn-ea"/>
              </a:rPr>
              <a:t>    if (pos) del(pos);</a:t>
            </a:r>
          </a:p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-US" altLang="zh-CN" dirty="0">
                <a:latin typeface="+mn-ea"/>
              </a:rPr>
              <a:t>}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694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二叉堆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问题：动态数据求最值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写一种数据结构，完成以下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种操作：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操作的总次数不超过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100000</m:t>
                    </m:r>
                  </m:oMath>
                </a14:m>
                <a:r>
                  <a:rPr lang="en-US" altLang="zh-CN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  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、插入一个数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  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en-US" dirty="0">
                    <a:latin typeface="+mn-ea"/>
                  </a:rPr>
                  <a:t>、询问最小值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  </a:t>
                </a:r>
                <a:r>
                  <a:rPr lang="en-US" altLang="zh-CN" dirty="0">
                    <a:latin typeface="+mn-ea"/>
                  </a:rPr>
                  <a:t>3</a:t>
                </a:r>
                <a:r>
                  <a:rPr lang="zh-CN" altLang="en-US" dirty="0">
                    <a:latin typeface="+mn-ea"/>
                  </a:rPr>
                  <a:t>、删除最小值</a:t>
                </a:r>
              </a:p>
              <a:p>
                <a:endParaRPr lang="zh-CN" altLang="en-US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要求是这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种操作都要快。。。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74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输入输出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10657259" cy="5282749"/>
              </a:xfrm>
            </p:spPr>
            <p:txBody>
              <a:bodyPr anchor="ctr" anchorCtr="0">
                <a:normAutofit fontScale="92500"/>
              </a:bodyPr>
              <a:lstStyle/>
              <a:p>
                <a:r>
                  <a:rPr lang="zh-CN" altLang="en-US" dirty="0">
                    <a:latin typeface="+mn-ea"/>
                  </a:rPr>
                  <a:t>输入</a:t>
                </a:r>
                <a:endParaRPr lang="en-US" altLang="zh-CN" dirty="0">
                  <a:latin typeface="+mn-ea"/>
                </a:endParaRPr>
              </a:p>
              <a:p>
                <a:pPr>
                  <a:buNone/>
                </a:pPr>
                <a:r>
                  <a:rPr lang="en-US" altLang="zh-CN" dirty="0">
                    <a:latin typeface="+mn-ea"/>
                  </a:rPr>
                  <a:t>	</a:t>
                </a:r>
                <a:r>
                  <a:rPr lang="zh-CN" altLang="en-US" dirty="0">
                    <a:latin typeface="+mn-ea"/>
                  </a:rPr>
                  <a:t>每行一次操作，有如下三种：</a:t>
                </a:r>
              </a:p>
              <a:p>
                <a:pPr>
                  <a:buNone/>
                </a:pPr>
                <a:r>
                  <a:rPr lang="en-US" altLang="zh-CN" dirty="0">
                    <a:latin typeface="+mn-ea"/>
                  </a:rPr>
                  <a:t>	1 x</a:t>
                </a:r>
                <a:r>
                  <a:rPr lang="zh-CN" altLang="en-US" dirty="0">
                    <a:latin typeface="+mn-ea"/>
                  </a:rPr>
                  <a:t>：表示插入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这个数</a:t>
                </a:r>
              </a:p>
              <a:p>
                <a:pPr>
                  <a:buNone/>
                </a:pPr>
                <a:r>
                  <a:rPr lang="en-US" altLang="zh-CN" dirty="0">
                    <a:latin typeface="+mn-ea"/>
                  </a:rPr>
                  <a:t>	2</a:t>
                </a:r>
                <a:r>
                  <a:rPr lang="zh-CN" altLang="en-US" dirty="0">
                    <a:latin typeface="+mn-ea"/>
                  </a:rPr>
                  <a:t>：</a:t>
                </a:r>
                <a:r>
                  <a:rPr lang="en-US" altLang="zh-CN" dirty="0">
                    <a:latin typeface="+mn-ea"/>
                  </a:rPr>
                  <a:t>  </a:t>
                </a:r>
                <a:r>
                  <a:rPr lang="zh-CN" altLang="en-US" dirty="0">
                    <a:latin typeface="+mn-ea"/>
                  </a:rPr>
                  <a:t>表示询问当前最小值</a:t>
                </a:r>
              </a:p>
              <a:p>
                <a:pPr>
                  <a:buNone/>
                </a:pPr>
                <a:r>
                  <a:rPr lang="en-US" altLang="zh-CN" dirty="0">
                    <a:latin typeface="+mn-ea"/>
                  </a:rPr>
                  <a:t>	3</a:t>
                </a:r>
                <a:r>
                  <a:rPr lang="zh-CN" altLang="en-US" dirty="0">
                    <a:latin typeface="+mn-ea"/>
                  </a:rPr>
                  <a:t>：</a:t>
                </a:r>
                <a:r>
                  <a:rPr lang="en-US" altLang="zh-CN" dirty="0">
                    <a:latin typeface="+mn-ea"/>
                  </a:rPr>
                  <a:t>  </a:t>
                </a:r>
                <a:r>
                  <a:rPr lang="zh-CN" altLang="en-US" dirty="0">
                    <a:latin typeface="+mn-ea"/>
                  </a:rPr>
                  <a:t>表示删除最小值</a:t>
                </a: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输出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    对于每个询问最小值操作，输出一行，每行仅一个数，表示当前的最小值。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10657259" cy="5282749"/>
              </a:xfrm>
              <a:blipFill>
                <a:blip r:embed="rId2"/>
                <a:stretch>
                  <a:fillRect l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5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样例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7E407-084A-9347-8FD2-B8BF5B7D1FE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95500" y="1571625"/>
            <a:ext cx="4038600" cy="485775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</a:rPr>
              <a:t>输入：</a:t>
            </a:r>
            <a:endParaRPr lang="en-US" altLang="zh-CN" dirty="0">
              <a:latin typeface="+mn-ea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9     -----    9</a:t>
            </a:r>
            <a:r>
              <a:rPr lang="zh-CN" altLang="en-US" dirty="0">
                <a:latin typeface="+mn-ea"/>
              </a:rPr>
              <a:t>次操作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1 20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2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1 30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1 10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2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3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2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3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8B8C27-2055-3646-9F2C-0FA51E04FF2A}"/>
              </a:ext>
            </a:extLst>
          </p:cNvPr>
          <p:cNvSpPr txBox="1">
            <a:spLocks noChangeArrowheads="1"/>
          </p:cNvSpPr>
          <p:nvPr/>
        </p:nvSpPr>
        <p:spPr>
          <a:xfrm>
            <a:off x="6453188" y="1500188"/>
            <a:ext cx="2571750" cy="45259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+mn-ea"/>
              </a:rPr>
              <a:t>输出：</a:t>
            </a:r>
            <a:endParaRPr lang="en-US" altLang="zh-CN">
              <a:latin typeface="+mn-ea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+mn-ea"/>
              </a:rPr>
              <a:t>20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+mn-ea"/>
              </a:rPr>
              <a:t>10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+mn-ea"/>
              </a:rPr>
              <a:t>20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+mn-ea"/>
              </a:rPr>
              <a:t>30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924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51737AAD-5A06-DE44-962F-9EEB26EE6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用线性表作为数据结构</a:t>
            </a:r>
            <a:endParaRPr lang="zh-CN" altLang="zh-C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907" name="Rectangle 3">
                <a:extLst>
                  <a:ext uri="{FF2B5EF4-FFF2-40B4-BE49-F238E27FC236}">
                    <a16:creationId xmlns:a16="http://schemas.microsoft.com/office/drawing/2014/main" id="{7B367025-C0A3-854F-B961-35C657B61E9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zh-CN" altLang="en-US" dirty="0"/>
                  <a:t>无序表：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插入操作       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lvl="1"/>
                <a:r>
                  <a:rPr lang="zh-CN" altLang="en-US" dirty="0"/>
                  <a:t>询问最小值 </a:t>
                </a: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lvl="1"/>
                <a:r>
                  <a:rPr lang="zh-CN" altLang="en-US" dirty="0"/>
                  <a:t>删除最小值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r>
                  <a:rPr lang="zh-CN" altLang="en-US" dirty="0"/>
                  <a:t>有序表：</a:t>
                </a:r>
              </a:p>
              <a:p>
                <a:pPr lvl="1"/>
                <a:r>
                  <a:rPr lang="zh-CN" altLang="en-US" dirty="0"/>
                  <a:t>插入操作 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lvl="1"/>
                <a:r>
                  <a:rPr lang="zh-CN" altLang="en-US" dirty="0"/>
                  <a:t>询问最小值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lvl="1"/>
                <a:r>
                  <a:rPr lang="zh-CN" altLang="en-US" dirty="0"/>
                  <a:t>删除最小值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3907" name="Rectangle 3">
                <a:extLst>
                  <a:ext uri="{FF2B5EF4-FFF2-40B4-BE49-F238E27FC236}">
                    <a16:creationId xmlns:a16="http://schemas.microsoft.com/office/drawing/2014/main" id="{7B367025-C0A3-854F-B961-35C657B61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0" t="-1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908" name="Picture 5" descr="j0286034">
            <a:extLst>
              <a:ext uri="{FF2B5EF4-FFF2-40B4-BE49-F238E27FC236}">
                <a16:creationId xmlns:a16="http://schemas.microsoft.com/office/drawing/2014/main" id="{14F7322D-F668-4144-A502-5FD505513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2276476"/>
            <a:ext cx="576262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52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二叉堆（优先队列）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/>
                  <a:t>定义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 堆是一棵完全二叉树，对于每一个非叶子结点，它的权值都不大于（或不小于）左右孩子的权值，我们称这样的堆为小根堆（或大根堆）。 </a:t>
                </a:r>
                <a:r>
                  <a:rPr lang="en-US" altLang="zh-CN" dirty="0"/>
                  <a:t>	</a:t>
                </a:r>
                <a:endParaRPr lang="zh-CN" altLang="en-US" dirty="0"/>
              </a:p>
              <a:p>
                <a:r>
                  <a:rPr lang="zh-CN" altLang="en-US" dirty="0"/>
                  <a:t>描述如下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 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个元素的序列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，当且仅当满足</a:t>
                </a:r>
              </a:p>
              <a:p>
                <a:pPr>
                  <a:buNone/>
                </a:pPr>
                <a:r>
                  <a:rPr lang="zh-CN" altLang="en-US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并且 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或者</a:t>
                </a:r>
              </a:p>
              <a:p>
                <a:pPr>
                  <a:buNone/>
                </a:pPr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并且 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二叉堆肯定</a:t>
                </a:r>
                <a:r>
                  <a:rPr lang="zh-CN" altLang="en-US"/>
                  <a:t>是一棵完全</a:t>
                </a:r>
                <a:r>
                  <a:rPr lang="zh-CN" altLang="en-US" dirty="0"/>
                  <a:t>二叉树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84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>
                <a:solidFill>
                  <a:schemeClr val="bg1"/>
                </a:solidFill>
                <a:latin typeface="+mn-ea"/>
                <a:ea typeface="+mn-ea"/>
              </a:rPr>
              <a:t>在堆中插入元素 </a:t>
            </a:r>
            <a:r>
              <a:rPr lang="en-US" altLang="zh-CN" cap="none" dirty="0">
                <a:solidFill>
                  <a:schemeClr val="bg1"/>
                </a:solidFill>
                <a:latin typeface="+mn-ea"/>
                <a:ea typeface="+mn-ea"/>
              </a:rPr>
              <a:t>x</a:t>
            </a:r>
            <a:endParaRPr lang="zh-CN" altLang="en-US" cap="none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堆的定义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int h[MAXN], n;</a:t>
                </a:r>
              </a:p>
              <a:p>
                <a:pPr marL="0" indent="0">
                  <a:buNone/>
                </a:pPr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插入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    </a:t>
                </a:r>
                <a:r>
                  <a:rPr lang="zh-CN" altLang="en-US" dirty="0">
                    <a:latin typeface="+mn-ea"/>
                  </a:rPr>
                  <a:t>首先将元素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放到堆中的最后一个位置（即最底层最右边的位置），然后不断地把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往上调整，直到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调不动为止（即大于它现在的父亲，或者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处于根结点）。</a:t>
                </a:r>
                <a:r>
                  <a:rPr lang="zh-CN" altLang="en-US" b="1" dirty="0">
                    <a:latin typeface="+mn-ea"/>
                  </a:rPr>
                  <a:t> </a:t>
                </a:r>
                <a:endParaRPr lang="zh-CN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r="-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90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8" name="Group 4">
            <a:extLst>
              <a:ext uri="{FF2B5EF4-FFF2-40B4-BE49-F238E27FC236}">
                <a16:creationId xmlns:a16="http://schemas.microsoft.com/office/drawing/2014/main" id="{BBBC7418-3BBE-0F4B-94B1-97B5FDE023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79650" y="260350"/>
            <a:ext cx="7920038" cy="6523038"/>
            <a:chOff x="1830" y="3794"/>
            <a:chExt cx="8280" cy="6240"/>
          </a:xfrm>
        </p:grpSpPr>
        <p:sp>
          <p:nvSpPr>
            <p:cNvPr id="126979" name="AutoShape 5">
              <a:extLst>
                <a:ext uri="{FF2B5EF4-FFF2-40B4-BE49-F238E27FC236}">
                  <a16:creationId xmlns:a16="http://schemas.microsoft.com/office/drawing/2014/main" id="{8FCAD6EF-CD44-7E40-AB7F-E1B96D22A3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0" y="3794"/>
              <a:ext cx="8280" cy="62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0" name="Oval 6">
              <a:extLst>
                <a:ext uri="{FF2B5EF4-FFF2-40B4-BE49-F238E27FC236}">
                  <a16:creationId xmlns:a16="http://schemas.microsoft.com/office/drawing/2014/main" id="{48E8CA17-45A9-D84B-ADD8-85A5FE6E2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" y="3950"/>
              <a:ext cx="540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1" name="Text Box 7">
              <a:extLst>
                <a:ext uri="{FF2B5EF4-FFF2-40B4-BE49-F238E27FC236}">
                  <a16:creationId xmlns:a16="http://schemas.microsoft.com/office/drawing/2014/main" id="{D890CB3E-17B7-AF43-819A-4500A4702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3950"/>
              <a:ext cx="719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2" name="Oval 8">
              <a:extLst>
                <a:ext uri="{FF2B5EF4-FFF2-40B4-BE49-F238E27FC236}">
                  <a16:creationId xmlns:a16="http://schemas.microsoft.com/office/drawing/2014/main" id="{4AB5D17D-57AE-EE4F-9590-93A413D8E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4574"/>
              <a:ext cx="539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3" name="Text Box 9">
              <a:extLst>
                <a:ext uri="{FF2B5EF4-FFF2-40B4-BE49-F238E27FC236}">
                  <a16:creationId xmlns:a16="http://schemas.microsoft.com/office/drawing/2014/main" id="{3DCD2F63-F0E3-2C45-AB47-47A20C8DD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" y="4574"/>
              <a:ext cx="717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4" name="Oval 10">
              <a:extLst>
                <a:ext uri="{FF2B5EF4-FFF2-40B4-BE49-F238E27FC236}">
                  <a16:creationId xmlns:a16="http://schemas.microsoft.com/office/drawing/2014/main" id="{4B755A75-7917-FC46-B0B8-5DA2E3FE0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4574"/>
              <a:ext cx="541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5" name="Text Box 11">
              <a:extLst>
                <a:ext uri="{FF2B5EF4-FFF2-40B4-BE49-F238E27FC236}">
                  <a16:creationId xmlns:a16="http://schemas.microsoft.com/office/drawing/2014/main" id="{2EAB0AD9-7592-664D-A920-FE5552063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0" y="4574"/>
              <a:ext cx="7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6" name="Oval 12">
              <a:extLst>
                <a:ext uri="{FF2B5EF4-FFF2-40B4-BE49-F238E27FC236}">
                  <a16:creationId xmlns:a16="http://schemas.microsoft.com/office/drawing/2014/main" id="{1B7B8EE1-1ED7-224F-8810-159943DDE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5353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7" name="Text Box 13">
              <a:extLst>
                <a:ext uri="{FF2B5EF4-FFF2-40B4-BE49-F238E27FC236}">
                  <a16:creationId xmlns:a16="http://schemas.microsoft.com/office/drawing/2014/main" id="{31407134-15BF-B142-AE5B-F95B5A13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1" y="5353"/>
              <a:ext cx="717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8" name="Oval 14">
              <a:extLst>
                <a:ext uri="{FF2B5EF4-FFF2-40B4-BE49-F238E27FC236}">
                  <a16:creationId xmlns:a16="http://schemas.microsoft.com/office/drawing/2014/main" id="{B82B0C94-062A-CD4E-9E19-084901E72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5353"/>
              <a:ext cx="540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89" name="Text Box 15">
              <a:extLst>
                <a:ext uri="{FF2B5EF4-FFF2-40B4-BE49-F238E27FC236}">
                  <a16:creationId xmlns:a16="http://schemas.microsoft.com/office/drawing/2014/main" id="{38054412-26BF-6949-AFAE-13323A8B5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5353"/>
              <a:ext cx="72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0" name="Oval 16">
              <a:extLst>
                <a:ext uri="{FF2B5EF4-FFF2-40B4-BE49-F238E27FC236}">
                  <a16:creationId xmlns:a16="http://schemas.microsoft.com/office/drawing/2014/main" id="{D4619AF6-3385-944F-AC0E-98ABE3CB0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1" name="Text Box 17">
              <a:extLst>
                <a:ext uri="{FF2B5EF4-FFF2-40B4-BE49-F238E27FC236}">
                  <a16:creationId xmlns:a16="http://schemas.microsoft.com/office/drawing/2014/main" id="{A512F9CE-BF41-C64F-8429-CCE9E40FC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0" y="535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2" name="Oval 18">
              <a:extLst>
                <a:ext uri="{FF2B5EF4-FFF2-40B4-BE49-F238E27FC236}">
                  <a16:creationId xmlns:a16="http://schemas.microsoft.com/office/drawing/2014/main" id="{29396CD1-3393-8B4F-9219-1B64EDF20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3" name="Text Box 19">
              <a:extLst>
                <a:ext uri="{FF2B5EF4-FFF2-40B4-BE49-F238E27FC236}">
                  <a16:creationId xmlns:a16="http://schemas.microsoft.com/office/drawing/2014/main" id="{768A5CC8-724C-204F-BD08-5129BB017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0" y="535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4" name="Oval 20">
              <a:extLst>
                <a:ext uri="{FF2B5EF4-FFF2-40B4-BE49-F238E27FC236}">
                  <a16:creationId xmlns:a16="http://schemas.microsoft.com/office/drawing/2014/main" id="{F78BF513-7270-094F-8BE8-AE18AECC4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" y="6134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5" name="Text Box 21">
              <a:extLst>
                <a:ext uri="{FF2B5EF4-FFF2-40B4-BE49-F238E27FC236}">
                  <a16:creationId xmlns:a16="http://schemas.microsoft.com/office/drawing/2014/main" id="{1BD849F7-3AFA-A940-8AC4-BE3B09E45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" y="6134"/>
              <a:ext cx="71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6" name="Oval 22">
              <a:extLst>
                <a:ext uri="{FF2B5EF4-FFF2-40B4-BE49-F238E27FC236}">
                  <a16:creationId xmlns:a16="http://schemas.microsoft.com/office/drawing/2014/main" id="{8CCF5FA2-54FD-234C-9CEB-AD1BDB79E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6134"/>
              <a:ext cx="540" cy="46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6997" name="Line 23">
              <a:extLst>
                <a:ext uri="{FF2B5EF4-FFF2-40B4-BE49-F238E27FC236}">
                  <a16:creationId xmlns:a16="http://schemas.microsoft.com/office/drawing/2014/main" id="{571BDFC8-B3B2-6442-B706-A17A2B4C0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0" y="4417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6998" name="Line 24">
              <a:extLst>
                <a:ext uri="{FF2B5EF4-FFF2-40B4-BE49-F238E27FC236}">
                  <a16:creationId xmlns:a16="http://schemas.microsoft.com/office/drawing/2014/main" id="{0D8DCE0C-9223-A949-A99F-CFCE11617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4417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6999" name="Line 25">
              <a:extLst>
                <a:ext uri="{FF2B5EF4-FFF2-40B4-BE49-F238E27FC236}">
                  <a16:creationId xmlns:a16="http://schemas.microsoft.com/office/drawing/2014/main" id="{8345BAB2-315A-A94D-8DB4-4696B4A38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0" y="5042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00" name="Line 26">
              <a:extLst>
                <a:ext uri="{FF2B5EF4-FFF2-40B4-BE49-F238E27FC236}">
                  <a16:creationId xmlns:a16="http://schemas.microsoft.com/office/drawing/2014/main" id="{638BD3B2-6973-1149-82B3-40B0DB2D8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01" name="Line 27">
              <a:extLst>
                <a:ext uri="{FF2B5EF4-FFF2-40B4-BE49-F238E27FC236}">
                  <a16:creationId xmlns:a16="http://schemas.microsoft.com/office/drawing/2014/main" id="{83CE0DC9-7161-6444-B529-88C9B4AB0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02" name="Line 28">
              <a:extLst>
                <a:ext uri="{FF2B5EF4-FFF2-40B4-BE49-F238E27FC236}">
                  <a16:creationId xmlns:a16="http://schemas.microsoft.com/office/drawing/2014/main" id="{D5D7DF20-423F-B148-81AA-81B153328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0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03" name="Line 29">
              <a:extLst>
                <a:ext uri="{FF2B5EF4-FFF2-40B4-BE49-F238E27FC236}">
                  <a16:creationId xmlns:a16="http://schemas.microsoft.com/office/drawing/2014/main" id="{47F8EA9E-6758-F041-B1D9-BCFE6AF0F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1" y="5822"/>
              <a:ext cx="179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04" name="Line 30">
              <a:extLst>
                <a:ext uri="{FF2B5EF4-FFF2-40B4-BE49-F238E27FC236}">
                  <a16:creationId xmlns:a16="http://schemas.microsoft.com/office/drawing/2014/main" id="{2D582FD8-E1CB-634D-BDBB-80FDD372F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" y="5822"/>
              <a:ext cx="18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05" name="Oval 31">
              <a:extLst>
                <a:ext uri="{FF2B5EF4-FFF2-40B4-BE49-F238E27FC236}">
                  <a16:creationId xmlns:a16="http://schemas.microsoft.com/office/drawing/2014/main" id="{72F639A5-324F-7347-9A6D-1A7B60820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0" y="3950"/>
              <a:ext cx="541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06" name="Text Box 32">
              <a:extLst>
                <a:ext uri="{FF2B5EF4-FFF2-40B4-BE49-F238E27FC236}">
                  <a16:creationId xmlns:a16="http://schemas.microsoft.com/office/drawing/2014/main" id="{98C35A16-C2AE-2840-98A6-ACC5743EB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0" y="3950"/>
              <a:ext cx="720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07" name="Oval 33">
              <a:extLst>
                <a:ext uri="{FF2B5EF4-FFF2-40B4-BE49-F238E27FC236}">
                  <a16:creationId xmlns:a16="http://schemas.microsoft.com/office/drawing/2014/main" id="{40F2378D-22A5-3342-AA8D-9D6CCB6E1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0" y="4574"/>
              <a:ext cx="54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08" name="Text Box 34">
              <a:extLst>
                <a:ext uri="{FF2B5EF4-FFF2-40B4-BE49-F238E27FC236}">
                  <a16:creationId xmlns:a16="http://schemas.microsoft.com/office/drawing/2014/main" id="{D638599B-C0E6-4949-867F-4CE071A39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0" y="4574"/>
              <a:ext cx="7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09" name="Oval 35">
              <a:extLst>
                <a:ext uri="{FF2B5EF4-FFF2-40B4-BE49-F238E27FC236}">
                  <a16:creationId xmlns:a16="http://schemas.microsoft.com/office/drawing/2014/main" id="{A1FF211C-73A8-224A-BF42-DAAD87F1F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3" y="4574"/>
              <a:ext cx="539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0" name="Text Box 36">
              <a:extLst>
                <a:ext uri="{FF2B5EF4-FFF2-40B4-BE49-F238E27FC236}">
                  <a16:creationId xmlns:a16="http://schemas.microsoft.com/office/drawing/2014/main" id="{EF5B99DA-E317-F64A-B81E-298687348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3" y="4574"/>
              <a:ext cx="716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1" name="Oval 37">
              <a:extLst>
                <a:ext uri="{FF2B5EF4-FFF2-40B4-BE49-F238E27FC236}">
                  <a16:creationId xmlns:a16="http://schemas.microsoft.com/office/drawing/2014/main" id="{8E4A6165-7044-A043-A1B8-464D8692D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1" y="5353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2" name="Text Box 38">
              <a:extLst>
                <a:ext uri="{FF2B5EF4-FFF2-40B4-BE49-F238E27FC236}">
                  <a16:creationId xmlns:a16="http://schemas.microsoft.com/office/drawing/2014/main" id="{7DAC742E-3BF9-7F4F-BD5B-4C1273989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1" y="5353"/>
              <a:ext cx="72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3" name="Oval 39">
              <a:extLst>
                <a:ext uri="{FF2B5EF4-FFF2-40B4-BE49-F238E27FC236}">
                  <a16:creationId xmlns:a16="http://schemas.microsoft.com/office/drawing/2014/main" id="{856CA0CA-89D2-9045-B866-A9F2DB1B3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1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4" name="Text Box 40">
              <a:extLst>
                <a:ext uri="{FF2B5EF4-FFF2-40B4-BE49-F238E27FC236}">
                  <a16:creationId xmlns:a16="http://schemas.microsoft.com/office/drawing/2014/main" id="{A1C03C4A-1479-EE49-92E8-EED00792F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1" y="535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5" name="Oval 41">
              <a:extLst>
                <a:ext uri="{FF2B5EF4-FFF2-40B4-BE49-F238E27FC236}">
                  <a16:creationId xmlns:a16="http://schemas.microsoft.com/office/drawing/2014/main" id="{0368E6E9-E14A-AF4D-9F3B-435C2802F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1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6" name="Text Box 42">
              <a:extLst>
                <a:ext uri="{FF2B5EF4-FFF2-40B4-BE49-F238E27FC236}">
                  <a16:creationId xmlns:a16="http://schemas.microsoft.com/office/drawing/2014/main" id="{87AAFAD3-A668-A14C-A9BF-941A66336D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1" y="5353"/>
              <a:ext cx="717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7" name="Oval 43">
              <a:extLst>
                <a:ext uri="{FF2B5EF4-FFF2-40B4-BE49-F238E27FC236}">
                  <a16:creationId xmlns:a16="http://schemas.microsoft.com/office/drawing/2014/main" id="{CC16B818-A11E-784F-866B-AD486524A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" y="6133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8" name="Text Box 44">
              <a:extLst>
                <a:ext uri="{FF2B5EF4-FFF2-40B4-BE49-F238E27FC236}">
                  <a16:creationId xmlns:a16="http://schemas.microsoft.com/office/drawing/2014/main" id="{0E674829-BDBC-0947-99B4-05A782DF6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2" y="613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19" name="Line 45">
              <a:extLst>
                <a:ext uri="{FF2B5EF4-FFF2-40B4-BE49-F238E27FC236}">
                  <a16:creationId xmlns:a16="http://schemas.microsoft.com/office/drawing/2014/main" id="{C4B9F803-EFB3-ED43-8618-EB178C6CD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32" y="4417"/>
              <a:ext cx="539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0" name="Line 46">
              <a:extLst>
                <a:ext uri="{FF2B5EF4-FFF2-40B4-BE49-F238E27FC236}">
                  <a16:creationId xmlns:a16="http://schemas.microsoft.com/office/drawing/2014/main" id="{437C3AAD-0665-E549-BFBF-5EEC60DE7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1" y="4417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1" name="Line 47">
              <a:extLst>
                <a:ext uri="{FF2B5EF4-FFF2-40B4-BE49-F238E27FC236}">
                  <a16:creationId xmlns:a16="http://schemas.microsoft.com/office/drawing/2014/main" id="{7271E6D2-52EF-8D45-B0D0-0CE0411BB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1" y="5042"/>
              <a:ext cx="18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2" name="Line 48">
              <a:extLst>
                <a:ext uri="{FF2B5EF4-FFF2-40B4-BE49-F238E27FC236}">
                  <a16:creationId xmlns:a16="http://schemas.microsoft.com/office/drawing/2014/main" id="{D0D7CC38-056D-3F4B-9CB8-6C300642A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31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3" name="Line 49">
              <a:extLst>
                <a:ext uri="{FF2B5EF4-FFF2-40B4-BE49-F238E27FC236}">
                  <a16:creationId xmlns:a16="http://schemas.microsoft.com/office/drawing/2014/main" id="{4E955AEA-743C-AC42-BC66-E4846845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1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4" name="Line 50">
              <a:extLst>
                <a:ext uri="{FF2B5EF4-FFF2-40B4-BE49-F238E27FC236}">
                  <a16:creationId xmlns:a16="http://schemas.microsoft.com/office/drawing/2014/main" id="{5F5A9F1C-FADB-8843-B76B-DB2F33A95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91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5" name="Line 51">
              <a:extLst>
                <a:ext uri="{FF2B5EF4-FFF2-40B4-BE49-F238E27FC236}">
                  <a16:creationId xmlns:a16="http://schemas.microsoft.com/office/drawing/2014/main" id="{1735D8FD-3947-214D-A2BE-C38677535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2" y="5822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6" name="Line 52">
              <a:extLst>
                <a:ext uri="{FF2B5EF4-FFF2-40B4-BE49-F238E27FC236}">
                  <a16:creationId xmlns:a16="http://schemas.microsoft.com/office/drawing/2014/main" id="{0E58A10C-1B50-6947-86DE-3F4748BB0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1" y="5822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27" name="Oval 53">
              <a:extLst>
                <a:ext uri="{FF2B5EF4-FFF2-40B4-BE49-F238E27FC236}">
                  <a16:creationId xmlns:a16="http://schemas.microsoft.com/office/drawing/2014/main" id="{63CA78D5-0E62-D242-A89B-DB1D57ABA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0" y="6134"/>
              <a:ext cx="538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28" name="Text Box 54">
              <a:extLst>
                <a:ext uri="{FF2B5EF4-FFF2-40B4-BE49-F238E27FC236}">
                  <a16:creationId xmlns:a16="http://schemas.microsoft.com/office/drawing/2014/main" id="{85C3FBA5-4D83-6740-81E9-2B29F80AB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" y="6134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29" name="Text Box 55">
              <a:extLst>
                <a:ext uri="{FF2B5EF4-FFF2-40B4-BE49-F238E27FC236}">
                  <a16:creationId xmlns:a16="http://schemas.microsoft.com/office/drawing/2014/main" id="{F4158FA2-050F-7745-AEB4-DF57B170A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6602"/>
              <a:ext cx="2700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(1)</a:t>
              </a:r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将新节点插到最后</a:t>
              </a:r>
              <a:endParaRPr lang="zh-CN" altLang="en-US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0" name="Text Box 56">
              <a:extLst>
                <a:ext uri="{FF2B5EF4-FFF2-40B4-BE49-F238E27FC236}">
                  <a16:creationId xmlns:a16="http://schemas.microsoft.com/office/drawing/2014/main" id="{E1765261-0717-8844-B58B-C6884BEAB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1" y="6602"/>
              <a:ext cx="2878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(2)</a:t>
              </a:r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把新节点和父亲进行交换</a:t>
              </a:r>
              <a:endParaRPr lang="zh-CN" altLang="en-US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1" name="Oval 57">
              <a:extLst>
                <a:ext uri="{FF2B5EF4-FFF2-40B4-BE49-F238E27FC236}">
                  <a16:creationId xmlns:a16="http://schemas.microsoft.com/office/drawing/2014/main" id="{C1EC34FA-1552-0248-8644-444232A8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" y="6913"/>
              <a:ext cx="541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2" name="Text Box 58">
              <a:extLst>
                <a:ext uri="{FF2B5EF4-FFF2-40B4-BE49-F238E27FC236}">
                  <a16:creationId xmlns:a16="http://schemas.microsoft.com/office/drawing/2014/main" id="{6E45D9F0-2A2A-BF4C-90A6-2727512D2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" y="6913"/>
              <a:ext cx="719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3" name="Oval 59">
              <a:extLst>
                <a:ext uri="{FF2B5EF4-FFF2-40B4-BE49-F238E27FC236}">
                  <a16:creationId xmlns:a16="http://schemas.microsoft.com/office/drawing/2014/main" id="{51270F55-05AA-D544-A787-C13675436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7538"/>
              <a:ext cx="539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4" name="Text Box 60">
              <a:extLst>
                <a:ext uri="{FF2B5EF4-FFF2-40B4-BE49-F238E27FC236}">
                  <a16:creationId xmlns:a16="http://schemas.microsoft.com/office/drawing/2014/main" id="{A40E2C9F-4D1C-3A4E-A118-092928F32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3" y="7538"/>
              <a:ext cx="716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5" name="Oval 61">
              <a:extLst>
                <a:ext uri="{FF2B5EF4-FFF2-40B4-BE49-F238E27FC236}">
                  <a16:creationId xmlns:a16="http://schemas.microsoft.com/office/drawing/2014/main" id="{B73D1EA5-F4DB-C740-BB60-09A35F672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8316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6" name="Text Box 62">
              <a:extLst>
                <a:ext uri="{FF2B5EF4-FFF2-40B4-BE49-F238E27FC236}">
                  <a16:creationId xmlns:a16="http://schemas.microsoft.com/office/drawing/2014/main" id="{3E81364F-1AD1-B440-B435-C4F132CC8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" y="8316"/>
              <a:ext cx="720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7" name="Oval 63">
              <a:extLst>
                <a:ext uri="{FF2B5EF4-FFF2-40B4-BE49-F238E27FC236}">
                  <a16:creationId xmlns:a16="http://schemas.microsoft.com/office/drawing/2014/main" id="{9438732C-A1CE-E546-A89B-48293FA73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" y="8316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8" name="Text Box 64">
              <a:extLst>
                <a:ext uri="{FF2B5EF4-FFF2-40B4-BE49-F238E27FC236}">
                  <a16:creationId xmlns:a16="http://schemas.microsoft.com/office/drawing/2014/main" id="{74600C92-5DAA-C844-BE9D-9F8754292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" y="8316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39" name="Oval 65">
              <a:extLst>
                <a:ext uri="{FF2B5EF4-FFF2-40B4-BE49-F238E27FC236}">
                  <a16:creationId xmlns:a16="http://schemas.microsoft.com/office/drawing/2014/main" id="{FD6DBB18-0508-BF46-9A77-17477C1AF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" y="8316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40" name="Text Box 66">
              <a:extLst>
                <a:ext uri="{FF2B5EF4-FFF2-40B4-BE49-F238E27FC236}">
                  <a16:creationId xmlns:a16="http://schemas.microsoft.com/office/drawing/2014/main" id="{6036C922-1625-6C4A-BE86-0FCF0FA2D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1" y="8316"/>
              <a:ext cx="717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41" name="Oval 67">
              <a:extLst>
                <a:ext uri="{FF2B5EF4-FFF2-40B4-BE49-F238E27FC236}">
                  <a16:creationId xmlns:a16="http://schemas.microsoft.com/office/drawing/2014/main" id="{5890ED79-E213-EF42-A52E-BC94DC092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9097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42" name="Text Box 68">
              <a:extLst>
                <a:ext uri="{FF2B5EF4-FFF2-40B4-BE49-F238E27FC236}">
                  <a16:creationId xmlns:a16="http://schemas.microsoft.com/office/drawing/2014/main" id="{7BA50DE8-086D-BA4D-A2C0-63EFCBB76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909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43" name="Line 69">
              <a:extLst>
                <a:ext uri="{FF2B5EF4-FFF2-40B4-BE49-F238E27FC236}">
                  <a16:creationId xmlns:a16="http://schemas.microsoft.com/office/drawing/2014/main" id="{253C5CA4-1E79-FF4A-A96E-AF164E5BC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2" y="7381"/>
              <a:ext cx="539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44" name="Line 70">
              <a:extLst>
                <a:ext uri="{FF2B5EF4-FFF2-40B4-BE49-F238E27FC236}">
                  <a16:creationId xmlns:a16="http://schemas.microsoft.com/office/drawing/2014/main" id="{549517BF-3B8D-1146-AB60-B54CA2FB3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1" y="7381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45" name="Line 71">
              <a:extLst>
                <a:ext uri="{FF2B5EF4-FFF2-40B4-BE49-F238E27FC236}">
                  <a16:creationId xmlns:a16="http://schemas.microsoft.com/office/drawing/2014/main" id="{A646F86B-18CD-2149-8577-FBF0A2D1C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" y="8005"/>
              <a:ext cx="18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46" name="Line 72">
              <a:extLst>
                <a:ext uri="{FF2B5EF4-FFF2-40B4-BE49-F238E27FC236}">
                  <a16:creationId xmlns:a16="http://schemas.microsoft.com/office/drawing/2014/main" id="{E431D3B4-3BB4-EF4A-B278-1D90385ED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1" y="8005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47" name="Line 73">
              <a:extLst>
                <a:ext uri="{FF2B5EF4-FFF2-40B4-BE49-F238E27FC236}">
                  <a16:creationId xmlns:a16="http://schemas.microsoft.com/office/drawing/2014/main" id="{DF43711E-8E82-FE48-8903-3573B51A1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1" y="8005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48" name="Line 74">
              <a:extLst>
                <a:ext uri="{FF2B5EF4-FFF2-40B4-BE49-F238E27FC236}">
                  <a16:creationId xmlns:a16="http://schemas.microsoft.com/office/drawing/2014/main" id="{57EB0E6E-FDB6-3546-8870-AEB43D44C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8005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49" name="Line 75">
              <a:extLst>
                <a:ext uri="{FF2B5EF4-FFF2-40B4-BE49-F238E27FC236}">
                  <a16:creationId xmlns:a16="http://schemas.microsoft.com/office/drawing/2014/main" id="{3EB4D4BD-BCA3-884E-AD8D-2E4A4A4A8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1" y="8786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50" name="Line 76">
              <a:extLst>
                <a:ext uri="{FF2B5EF4-FFF2-40B4-BE49-F238E27FC236}">
                  <a16:creationId xmlns:a16="http://schemas.microsoft.com/office/drawing/2014/main" id="{998F0C89-25E8-DA40-B49F-9504D3393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8786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7051" name="Oval 77">
              <a:extLst>
                <a:ext uri="{FF2B5EF4-FFF2-40B4-BE49-F238E27FC236}">
                  <a16:creationId xmlns:a16="http://schemas.microsoft.com/office/drawing/2014/main" id="{E1BCD6E9-7DED-0641-A6D8-FD112E736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" y="9097"/>
              <a:ext cx="538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52" name="Text Box 78">
              <a:extLst>
                <a:ext uri="{FF2B5EF4-FFF2-40B4-BE49-F238E27FC236}">
                  <a16:creationId xmlns:a16="http://schemas.microsoft.com/office/drawing/2014/main" id="{23D7EA8B-0EEB-B64C-B91E-65394EAE4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9097"/>
              <a:ext cx="718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53" name="Text Box 79">
              <a:extLst>
                <a:ext uri="{FF2B5EF4-FFF2-40B4-BE49-F238E27FC236}">
                  <a16:creationId xmlns:a16="http://schemas.microsoft.com/office/drawing/2014/main" id="{0E81496F-2EBF-9249-8FA3-10804CAB5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" y="9566"/>
              <a:ext cx="4139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(3)</a:t>
              </a:r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继续交换，直到重新满足堆的性质</a:t>
              </a:r>
              <a:endParaRPr lang="zh-CN" altLang="en-US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54" name="Oval 80">
              <a:extLst>
                <a:ext uri="{FF2B5EF4-FFF2-40B4-BE49-F238E27FC236}">
                  <a16:creationId xmlns:a16="http://schemas.microsoft.com/office/drawing/2014/main" id="{4857E34D-0BF0-FC41-AD38-EFDAD6F2F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8318"/>
              <a:ext cx="54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55" name="Text Box 81">
              <a:extLst>
                <a:ext uri="{FF2B5EF4-FFF2-40B4-BE49-F238E27FC236}">
                  <a16:creationId xmlns:a16="http://schemas.microsoft.com/office/drawing/2014/main" id="{2F371995-DCB8-DA45-8396-4E0585EC2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8318"/>
              <a:ext cx="7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56" name="Oval 82">
              <a:extLst>
                <a:ext uri="{FF2B5EF4-FFF2-40B4-BE49-F238E27FC236}">
                  <a16:creationId xmlns:a16="http://schemas.microsoft.com/office/drawing/2014/main" id="{573563D6-4DE4-214C-A3BB-1EEF47B47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0" y="5264"/>
              <a:ext cx="540" cy="46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7057" name="Oval 83">
              <a:extLst>
                <a:ext uri="{FF2B5EF4-FFF2-40B4-BE49-F238E27FC236}">
                  <a16:creationId xmlns:a16="http://schemas.microsoft.com/office/drawing/2014/main" id="{BE0D71E7-55E0-134F-8311-35B23143A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7523"/>
              <a:ext cx="540" cy="48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800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9A2E2C3-3408-0442-9C3B-2087B85ADFC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solidFill>
                  <a:schemeClr val="bg1"/>
                </a:solidFill>
              </a:rPr>
              <a:t>插入（实际上是不断向上调整的过程）</a:t>
            </a:r>
            <a:endParaRPr lang="en-US" altLang="zh-CN" sz="4000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095940-1672-144B-9979-4385458D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11"/>
            <a:ext cx="9045190" cy="45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3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373229-E4AC-CF49-AC7E-DB9E61CCFE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在堆中删除根结点的元素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721678B-B010-714F-9BDC-388B34D1B867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/>
        <p:txBody>
          <a:bodyPr anchor="ctr"/>
          <a:lstStyle/>
          <a:p>
            <a:pPr eaLnBrk="1" hangingPunct="1"/>
            <a:r>
              <a:rPr lang="zh-CN" altLang="en-US" dirty="0"/>
              <a:t>过程如下：</a:t>
            </a:r>
            <a:endParaRPr lang="en-US" altLang="zh-CN" dirty="0"/>
          </a:p>
          <a:p>
            <a:pPr eaLnBrk="1" hangingPunct="1"/>
            <a:r>
              <a:rPr lang="zh-CN" altLang="en-US" dirty="0"/>
              <a:t>首先把位置根结点的元素和最后一个位置的元素交换，然后删去最后一个位置，这样跟结点上的元素就被删除了。</a:t>
            </a:r>
            <a:endParaRPr lang="en-US" altLang="zh-CN" dirty="0"/>
          </a:p>
          <a:p>
            <a:pPr eaLnBrk="1" hangingPunct="1"/>
            <a:r>
              <a:rPr lang="zh-CN" altLang="en-US" dirty="0"/>
              <a:t>接着把位置根结点上的新元素不断下调，直到满足堆的性质。 </a:t>
            </a:r>
          </a:p>
        </p:txBody>
      </p:sp>
    </p:spTree>
    <p:extLst>
      <p:ext uri="{BB962C8B-B14F-4D97-AF65-F5344CB8AC3E}">
        <p14:creationId xmlns:p14="http://schemas.microsoft.com/office/powerpoint/2010/main" val="1736668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373229-E4AC-CF49-AC7E-DB9E61CCFE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在堆中删除任意一个元素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027" name="Rectangle 3">
                <a:extLst>
                  <a:ext uri="{FF2B5EF4-FFF2-40B4-BE49-F238E27FC236}">
                    <a16:creationId xmlns:a16="http://schemas.microsoft.com/office/drawing/2014/main" id="{2721678B-B010-714F-9BDC-388B34D1B867}"/>
                  </a:ext>
                </a:extLst>
              </p:cNvPr>
              <p:cNvSpPr>
                <a:spLocks noGrp="1" noRot="1" noChangeArrowheads="1"/>
              </p:cNvSpPr>
              <p:nvPr>
                <p:ph idx="1"/>
              </p:nvPr>
            </p:nvSpPr>
            <p:spPr/>
            <p:txBody>
              <a:bodyPr anchor="ctr"/>
              <a:lstStyle/>
              <a:p>
                <a:pPr eaLnBrk="1" hangingPunct="1"/>
                <a:r>
                  <a:rPr lang="zh-CN" altLang="en-US" dirty="0">
                    <a:latin typeface="Cambria Math" panose="02040503050406030204" pitchFamily="18" charset="0"/>
                  </a:rPr>
                  <a:t>这里说指的删除任意一个元素，是指在当前堆中位置为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的元素。</a:t>
                </a: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1" hangingPunct="1"/>
                <a:r>
                  <a:rPr lang="zh-CN" altLang="en-US" dirty="0">
                    <a:latin typeface="Cambria Math" panose="02040503050406030204" pitchFamily="18" charset="0"/>
                  </a:rPr>
                  <a:t>过程如下：</a:t>
                </a: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首先把位置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的元素和最后一个位置的元素交换，然后删去最后一个位置，这样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上的元素就被删除了。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eaLnBrk="1" hangingPunct="1"/>
                <a:r>
                  <a:rPr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由于操作以后，位置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的元素可能需要向上调整，也可能需要向下调整，所以分别尝试做调整即可。</a:t>
                </a: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9027" name="Rectangle 3">
                <a:extLst>
                  <a:ext uri="{FF2B5EF4-FFF2-40B4-BE49-F238E27FC236}">
                    <a16:creationId xmlns:a16="http://schemas.microsoft.com/office/drawing/2014/main" id="{2721678B-B010-714F-9BDC-388B34D1B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4" r="-3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07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50" name="Group 4">
            <a:extLst>
              <a:ext uri="{FF2B5EF4-FFF2-40B4-BE49-F238E27FC236}">
                <a16:creationId xmlns:a16="http://schemas.microsoft.com/office/drawing/2014/main" id="{EC08A61B-AAB9-014E-945E-240A878E37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19289" y="279899"/>
            <a:ext cx="8135937" cy="6588125"/>
            <a:chOff x="1800" y="1518"/>
            <a:chExt cx="8282" cy="6708"/>
          </a:xfrm>
        </p:grpSpPr>
        <p:sp>
          <p:nvSpPr>
            <p:cNvPr id="130051" name="AutoShape 5">
              <a:extLst>
                <a:ext uri="{FF2B5EF4-FFF2-40B4-BE49-F238E27FC236}">
                  <a16:creationId xmlns:a16="http://schemas.microsoft.com/office/drawing/2014/main" id="{343477A5-AEED-0C4B-B60F-C1AF1EC2C5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00" y="1518"/>
              <a:ext cx="8282" cy="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2" name="Oval 6">
              <a:extLst>
                <a:ext uri="{FF2B5EF4-FFF2-40B4-BE49-F238E27FC236}">
                  <a16:creationId xmlns:a16="http://schemas.microsoft.com/office/drawing/2014/main" id="{2023AE8A-F65E-564F-82D3-A325B57AE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1674"/>
              <a:ext cx="542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3" name="Text Box 7">
              <a:extLst>
                <a:ext uri="{FF2B5EF4-FFF2-40B4-BE49-F238E27FC236}">
                  <a16:creationId xmlns:a16="http://schemas.microsoft.com/office/drawing/2014/main" id="{8BDBEB0D-C0FE-0845-B8BF-525BCA80A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" y="1674"/>
              <a:ext cx="719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4" name="Oval 8">
              <a:extLst>
                <a:ext uri="{FF2B5EF4-FFF2-40B4-BE49-F238E27FC236}">
                  <a16:creationId xmlns:a16="http://schemas.microsoft.com/office/drawing/2014/main" id="{2FF045B0-4827-F346-805D-02FCB3C40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" y="2299"/>
              <a:ext cx="539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5" name="Text Box 9">
              <a:extLst>
                <a:ext uri="{FF2B5EF4-FFF2-40B4-BE49-F238E27FC236}">
                  <a16:creationId xmlns:a16="http://schemas.microsoft.com/office/drawing/2014/main" id="{CFB105B3-485B-244D-9C45-2AD7DADF9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2299"/>
              <a:ext cx="717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6" name="Oval 10">
              <a:extLst>
                <a:ext uri="{FF2B5EF4-FFF2-40B4-BE49-F238E27FC236}">
                  <a16:creationId xmlns:a16="http://schemas.microsoft.com/office/drawing/2014/main" id="{21340498-E159-6E42-B28F-1BFF73ACC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" y="3077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7" name="Text Box 11">
              <a:extLst>
                <a:ext uri="{FF2B5EF4-FFF2-40B4-BE49-F238E27FC236}">
                  <a16:creationId xmlns:a16="http://schemas.microsoft.com/office/drawing/2014/main" id="{D51508F6-3623-F04C-9470-558B62CE2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1" y="3077"/>
              <a:ext cx="719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8" name="Oval 12">
              <a:extLst>
                <a:ext uri="{FF2B5EF4-FFF2-40B4-BE49-F238E27FC236}">
                  <a16:creationId xmlns:a16="http://schemas.microsoft.com/office/drawing/2014/main" id="{03F1DADD-BDE9-E046-B695-1027CD9BC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" y="3077"/>
              <a:ext cx="541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59" name="Text Box 13">
              <a:extLst>
                <a:ext uri="{FF2B5EF4-FFF2-40B4-BE49-F238E27FC236}">
                  <a16:creationId xmlns:a16="http://schemas.microsoft.com/office/drawing/2014/main" id="{58638E24-D710-9A46-AF3F-DA51C2A7C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307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60" name="Oval 14">
              <a:extLst>
                <a:ext uri="{FF2B5EF4-FFF2-40B4-BE49-F238E27FC236}">
                  <a16:creationId xmlns:a16="http://schemas.microsoft.com/office/drawing/2014/main" id="{B825BB4F-DD54-CB4B-A892-AA9E57DA0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3077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61" name="Text Box 15">
              <a:extLst>
                <a:ext uri="{FF2B5EF4-FFF2-40B4-BE49-F238E27FC236}">
                  <a16:creationId xmlns:a16="http://schemas.microsoft.com/office/drawing/2014/main" id="{0B02B2D7-DB37-E241-9A64-18F1DEE9F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1" y="3077"/>
              <a:ext cx="717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62" name="Oval 16">
              <a:extLst>
                <a:ext uri="{FF2B5EF4-FFF2-40B4-BE49-F238E27FC236}">
                  <a16:creationId xmlns:a16="http://schemas.microsoft.com/office/drawing/2014/main" id="{4289265B-ABF8-E642-83DE-3931F4491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2" y="3858"/>
              <a:ext cx="538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63" name="Text Box 17">
              <a:extLst>
                <a:ext uri="{FF2B5EF4-FFF2-40B4-BE49-F238E27FC236}">
                  <a16:creationId xmlns:a16="http://schemas.microsoft.com/office/drawing/2014/main" id="{6BFC1666-5F1C-FA43-9EFA-C0F94FD7B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2" y="3858"/>
              <a:ext cx="717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64" name="Line 18">
              <a:extLst>
                <a:ext uri="{FF2B5EF4-FFF2-40B4-BE49-F238E27FC236}">
                  <a16:creationId xmlns:a16="http://schemas.microsoft.com/office/drawing/2014/main" id="{2574F6E5-74A1-9D45-BF20-62609BBE8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1" y="2143"/>
              <a:ext cx="539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65" name="Line 19">
              <a:extLst>
                <a:ext uri="{FF2B5EF4-FFF2-40B4-BE49-F238E27FC236}">
                  <a16:creationId xmlns:a16="http://schemas.microsoft.com/office/drawing/2014/main" id="{89AEFDA6-295A-9946-AA11-BF364E692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2143"/>
              <a:ext cx="541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66" name="Line 20">
              <a:extLst>
                <a:ext uri="{FF2B5EF4-FFF2-40B4-BE49-F238E27FC236}">
                  <a16:creationId xmlns:a16="http://schemas.microsoft.com/office/drawing/2014/main" id="{E0667EE4-165C-9244-BCE1-C4DDAC551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2766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67" name="Line 21">
              <a:extLst>
                <a:ext uri="{FF2B5EF4-FFF2-40B4-BE49-F238E27FC236}">
                  <a16:creationId xmlns:a16="http://schemas.microsoft.com/office/drawing/2014/main" id="{C80A778B-214E-2C48-9930-7828D7019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2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68" name="Line 22">
              <a:extLst>
                <a:ext uri="{FF2B5EF4-FFF2-40B4-BE49-F238E27FC236}">
                  <a16:creationId xmlns:a16="http://schemas.microsoft.com/office/drawing/2014/main" id="{342FD32B-F6C6-374D-A966-370810319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1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69" name="Line 23">
              <a:extLst>
                <a:ext uri="{FF2B5EF4-FFF2-40B4-BE49-F238E27FC236}">
                  <a16:creationId xmlns:a16="http://schemas.microsoft.com/office/drawing/2014/main" id="{B6673717-0375-6544-B966-C15DAFAFA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1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70" name="Line 24">
              <a:extLst>
                <a:ext uri="{FF2B5EF4-FFF2-40B4-BE49-F238E27FC236}">
                  <a16:creationId xmlns:a16="http://schemas.microsoft.com/office/drawing/2014/main" id="{B48B1843-BC56-8647-8314-66AC78FA4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1" y="354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71" name="Line 25">
              <a:extLst>
                <a:ext uri="{FF2B5EF4-FFF2-40B4-BE49-F238E27FC236}">
                  <a16:creationId xmlns:a16="http://schemas.microsoft.com/office/drawing/2014/main" id="{FA81515A-2CEC-7B4A-9530-7A5A0C7F9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1" y="354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72" name="Oval 26">
              <a:extLst>
                <a:ext uri="{FF2B5EF4-FFF2-40B4-BE49-F238E27FC236}">
                  <a16:creationId xmlns:a16="http://schemas.microsoft.com/office/drawing/2014/main" id="{262541F7-8A94-F64E-A65E-A0A44EBFC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858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3" name="Text Box 27">
              <a:extLst>
                <a:ext uri="{FF2B5EF4-FFF2-40B4-BE49-F238E27FC236}">
                  <a16:creationId xmlns:a16="http://schemas.microsoft.com/office/drawing/2014/main" id="{5BFCD2B2-ED40-F24E-952B-8802C3EFF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9" y="3858"/>
              <a:ext cx="718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4" name="Oval 28">
              <a:extLst>
                <a:ext uri="{FF2B5EF4-FFF2-40B4-BE49-F238E27FC236}">
                  <a16:creationId xmlns:a16="http://schemas.microsoft.com/office/drawing/2014/main" id="{891524B8-0BC9-0842-93AB-F297A2311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3080"/>
              <a:ext cx="540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5" name="Text Box 29">
              <a:extLst>
                <a:ext uri="{FF2B5EF4-FFF2-40B4-BE49-F238E27FC236}">
                  <a16:creationId xmlns:a16="http://schemas.microsoft.com/office/drawing/2014/main" id="{6FC151C5-528F-0E41-BFD3-34BB36934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3080"/>
              <a:ext cx="717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6" name="Oval 30">
              <a:extLst>
                <a:ext uri="{FF2B5EF4-FFF2-40B4-BE49-F238E27FC236}">
                  <a16:creationId xmlns:a16="http://schemas.microsoft.com/office/drawing/2014/main" id="{63058417-E35A-0F44-9A0B-9904015BF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" y="1674"/>
              <a:ext cx="542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7" name="Text Box 31">
              <a:extLst>
                <a:ext uri="{FF2B5EF4-FFF2-40B4-BE49-F238E27FC236}">
                  <a16:creationId xmlns:a16="http://schemas.microsoft.com/office/drawing/2014/main" id="{A2E77E96-3B8A-F140-A123-221F8BC31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0" y="1674"/>
              <a:ext cx="719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8" name="Oval 32">
              <a:extLst>
                <a:ext uri="{FF2B5EF4-FFF2-40B4-BE49-F238E27FC236}">
                  <a16:creationId xmlns:a16="http://schemas.microsoft.com/office/drawing/2014/main" id="{42C904B2-2984-314B-BBF6-6CD479DB9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" y="2299"/>
              <a:ext cx="538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79" name="Text Box 33">
              <a:extLst>
                <a:ext uri="{FF2B5EF4-FFF2-40B4-BE49-F238E27FC236}">
                  <a16:creationId xmlns:a16="http://schemas.microsoft.com/office/drawing/2014/main" id="{614DCFD0-0CF6-8949-A837-618AD0153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2" y="2299"/>
              <a:ext cx="717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0" name="Oval 34">
              <a:extLst>
                <a:ext uri="{FF2B5EF4-FFF2-40B4-BE49-F238E27FC236}">
                  <a16:creationId xmlns:a16="http://schemas.microsoft.com/office/drawing/2014/main" id="{06B158F1-9EB7-5B45-84C1-D2DCD984D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1" y="3077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1" name="Text Box 35">
              <a:extLst>
                <a:ext uri="{FF2B5EF4-FFF2-40B4-BE49-F238E27FC236}">
                  <a16:creationId xmlns:a16="http://schemas.microsoft.com/office/drawing/2014/main" id="{CC9AB698-6616-8E4C-B933-24FD44B55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1" y="3077"/>
              <a:ext cx="719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2" name="Oval 36">
              <a:extLst>
                <a:ext uri="{FF2B5EF4-FFF2-40B4-BE49-F238E27FC236}">
                  <a16:creationId xmlns:a16="http://schemas.microsoft.com/office/drawing/2014/main" id="{99B3915B-5147-8047-8CC1-D3A0530A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1" y="3077"/>
              <a:ext cx="541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3" name="Text Box 37">
              <a:extLst>
                <a:ext uri="{FF2B5EF4-FFF2-40B4-BE49-F238E27FC236}">
                  <a16:creationId xmlns:a16="http://schemas.microsoft.com/office/drawing/2014/main" id="{9BAC7F15-6678-C94C-8B14-FDA50A835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1" y="307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4" name="Oval 38">
              <a:extLst>
                <a:ext uri="{FF2B5EF4-FFF2-40B4-BE49-F238E27FC236}">
                  <a16:creationId xmlns:a16="http://schemas.microsoft.com/office/drawing/2014/main" id="{F5570480-03BD-B044-B1DF-67CBD181C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0" y="3077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5" name="Text Box 39">
              <a:extLst>
                <a:ext uri="{FF2B5EF4-FFF2-40B4-BE49-F238E27FC236}">
                  <a16:creationId xmlns:a16="http://schemas.microsoft.com/office/drawing/2014/main" id="{1F0B1DF0-04E2-5747-98D2-2F759D166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0" y="307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6" name="Oval 40">
              <a:extLst>
                <a:ext uri="{FF2B5EF4-FFF2-40B4-BE49-F238E27FC236}">
                  <a16:creationId xmlns:a16="http://schemas.microsoft.com/office/drawing/2014/main" id="{CAD43191-BE1E-7846-AB7B-6152CB773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1" y="3858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7" name="Text Box 41">
              <a:extLst>
                <a:ext uri="{FF2B5EF4-FFF2-40B4-BE49-F238E27FC236}">
                  <a16:creationId xmlns:a16="http://schemas.microsoft.com/office/drawing/2014/main" id="{8CD64E0D-3653-1147-8025-D502386B9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" y="3858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88" name="Line 42">
              <a:extLst>
                <a:ext uri="{FF2B5EF4-FFF2-40B4-BE49-F238E27FC236}">
                  <a16:creationId xmlns:a16="http://schemas.microsoft.com/office/drawing/2014/main" id="{C3505F6D-0ACA-5249-AFA0-C1D4408DC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1" y="2143"/>
              <a:ext cx="539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89" name="Line 43">
              <a:extLst>
                <a:ext uri="{FF2B5EF4-FFF2-40B4-BE49-F238E27FC236}">
                  <a16:creationId xmlns:a16="http://schemas.microsoft.com/office/drawing/2014/main" id="{19F68C36-366D-B14A-83F6-21D0C5764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1" y="2143"/>
              <a:ext cx="541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0" name="Line 44">
              <a:extLst>
                <a:ext uri="{FF2B5EF4-FFF2-40B4-BE49-F238E27FC236}">
                  <a16:creationId xmlns:a16="http://schemas.microsoft.com/office/drawing/2014/main" id="{AFEE9075-9888-4943-AB11-8B345AE6B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1" y="2766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1" name="Line 45">
              <a:extLst>
                <a:ext uri="{FF2B5EF4-FFF2-40B4-BE49-F238E27FC236}">
                  <a16:creationId xmlns:a16="http://schemas.microsoft.com/office/drawing/2014/main" id="{77A95EEF-1F3B-7946-9E75-595BB03C5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2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2" name="Line 46">
              <a:extLst>
                <a:ext uri="{FF2B5EF4-FFF2-40B4-BE49-F238E27FC236}">
                  <a16:creationId xmlns:a16="http://schemas.microsoft.com/office/drawing/2014/main" id="{B62AB839-302C-3249-9F96-F910DE93C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1" y="2766"/>
              <a:ext cx="35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3" name="Line 47">
              <a:extLst>
                <a:ext uri="{FF2B5EF4-FFF2-40B4-BE49-F238E27FC236}">
                  <a16:creationId xmlns:a16="http://schemas.microsoft.com/office/drawing/2014/main" id="{06CC7A0A-5467-ED47-BFBC-589A54170A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1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4" name="Line 48">
              <a:extLst>
                <a:ext uri="{FF2B5EF4-FFF2-40B4-BE49-F238E27FC236}">
                  <a16:creationId xmlns:a16="http://schemas.microsoft.com/office/drawing/2014/main" id="{911D5C7F-6CE9-8A45-8264-396B95D55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1" y="354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5" name="Line 49">
              <a:extLst>
                <a:ext uri="{FF2B5EF4-FFF2-40B4-BE49-F238E27FC236}">
                  <a16:creationId xmlns:a16="http://schemas.microsoft.com/office/drawing/2014/main" id="{300A0BB1-342E-4443-905B-23CF55810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1" y="3547"/>
              <a:ext cx="179" cy="31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096" name="Oval 50">
              <a:extLst>
                <a:ext uri="{FF2B5EF4-FFF2-40B4-BE49-F238E27FC236}">
                  <a16:creationId xmlns:a16="http://schemas.microsoft.com/office/drawing/2014/main" id="{7E945E7F-2B61-414A-AF07-4F7582555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2298"/>
              <a:ext cx="538" cy="470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97" name="Text Box 51">
              <a:extLst>
                <a:ext uri="{FF2B5EF4-FFF2-40B4-BE49-F238E27FC236}">
                  <a16:creationId xmlns:a16="http://schemas.microsoft.com/office/drawing/2014/main" id="{1A082D32-A215-F64B-A0FC-B50B04691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2" y="2362"/>
              <a:ext cx="719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98" name="Oval 52">
              <a:extLst>
                <a:ext uri="{FF2B5EF4-FFF2-40B4-BE49-F238E27FC236}">
                  <a16:creationId xmlns:a16="http://schemas.microsoft.com/office/drawing/2014/main" id="{242CAC08-AEB0-F84D-B542-806361070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0" y="3078"/>
              <a:ext cx="540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099" name="Text Box 53">
              <a:extLst>
                <a:ext uri="{FF2B5EF4-FFF2-40B4-BE49-F238E27FC236}">
                  <a16:creationId xmlns:a16="http://schemas.microsoft.com/office/drawing/2014/main" id="{5BABB94B-5EAF-EE48-93BA-0A416478F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" y="3078"/>
              <a:ext cx="717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0" name="Oval 54">
              <a:extLst>
                <a:ext uri="{FF2B5EF4-FFF2-40B4-BE49-F238E27FC236}">
                  <a16:creationId xmlns:a16="http://schemas.microsoft.com/office/drawing/2014/main" id="{F9CEAB60-6748-F140-993B-802063713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4794"/>
              <a:ext cx="542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1" name="Text Box 55">
              <a:extLst>
                <a:ext uri="{FF2B5EF4-FFF2-40B4-BE49-F238E27FC236}">
                  <a16:creationId xmlns:a16="http://schemas.microsoft.com/office/drawing/2014/main" id="{C807AA26-D093-FF48-BE20-9B834D7FB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" y="4794"/>
              <a:ext cx="719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2" name="Oval 56">
              <a:extLst>
                <a:ext uri="{FF2B5EF4-FFF2-40B4-BE49-F238E27FC236}">
                  <a16:creationId xmlns:a16="http://schemas.microsoft.com/office/drawing/2014/main" id="{F63789BB-BADE-F349-8D50-49444B0E9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" y="5417"/>
              <a:ext cx="537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3" name="Text Box 57">
              <a:extLst>
                <a:ext uri="{FF2B5EF4-FFF2-40B4-BE49-F238E27FC236}">
                  <a16:creationId xmlns:a16="http://schemas.microsoft.com/office/drawing/2014/main" id="{F8BE55FC-97B6-D34A-B59C-56508BB75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3" y="5417"/>
              <a:ext cx="71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4" name="Oval 58">
              <a:extLst>
                <a:ext uri="{FF2B5EF4-FFF2-40B4-BE49-F238E27FC236}">
                  <a16:creationId xmlns:a16="http://schemas.microsoft.com/office/drawing/2014/main" id="{18485510-208A-9C4A-B771-E8120A456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6197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5" name="Text Box 59">
              <a:extLst>
                <a:ext uri="{FF2B5EF4-FFF2-40B4-BE49-F238E27FC236}">
                  <a16:creationId xmlns:a16="http://schemas.microsoft.com/office/drawing/2014/main" id="{820E49E2-FC9D-A249-8435-9A8EB1231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1" y="6197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6" name="Oval 60">
              <a:extLst>
                <a:ext uri="{FF2B5EF4-FFF2-40B4-BE49-F238E27FC236}">
                  <a16:creationId xmlns:a16="http://schemas.microsoft.com/office/drawing/2014/main" id="{4F908D9A-FFEC-344D-89DB-7223C4C50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1" y="6197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7" name="Text Box 61">
              <a:extLst>
                <a:ext uri="{FF2B5EF4-FFF2-40B4-BE49-F238E27FC236}">
                  <a16:creationId xmlns:a16="http://schemas.microsoft.com/office/drawing/2014/main" id="{08E35E95-0BA5-5243-A1CE-0772CF3EE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" y="619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8" name="Oval 62">
              <a:extLst>
                <a:ext uri="{FF2B5EF4-FFF2-40B4-BE49-F238E27FC236}">
                  <a16:creationId xmlns:a16="http://schemas.microsoft.com/office/drawing/2014/main" id="{944D96CF-3997-1B46-965A-F8E66D1C6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6197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09" name="Text Box 63">
              <a:extLst>
                <a:ext uri="{FF2B5EF4-FFF2-40B4-BE49-F238E27FC236}">
                  <a16:creationId xmlns:a16="http://schemas.microsoft.com/office/drawing/2014/main" id="{437760F4-3780-CB40-804F-1C6F0FFA4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" y="619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10" name="Oval 64">
              <a:extLst>
                <a:ext uri="{FF2B5EF4-FFF2-40B4-BE49-F238E27FC236}">
                  <a16:creationId xmlns:a16="http://schemas.microsoft.com/office/drawing/2014/main" id="{AA819149-CB9D-C342-9095-E32B04874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" y="6978"/>
              <a:ext cx="538" cy="4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11" name="Text Box 65">
              <a:extLst>
                <a:ext uri="{FF2B5EF4-FFF2-40B4-BE49-F238E27FC236}">
                  <a16:creationId xmlns:a16="http://schemas.microsoft.com/office/drawing/2014/main" id="{D836F7BC-08AB-AE4E-9CC2-BF0D864D8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" y="6978"/>
              <a:ext cx="716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12" name="Line 66">
              <a:extLst>
                <a:ext uri="{FF2B5EF4-FFF2-40B4-BE49-F238E27FC236}">
                  <a16:creationId xmlns:a16="http://schemas.microsoft.com/office/drawing/2014/main" id="{6A87A7B2-3E3C-F843-A754-C8B249654E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2" y="5262"/>
              <a:ext cx="537" cy="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3" name="Line 67">
              <a:extLst>
                <a:ext uri="{FF2B5EF4-FFF2-40B4-BE49-F238E27FC236}">
                  <a16:creationId xmlns:a16="http://schemas.microsoft.com/office/drawing/2014/main" id="{2028652F-08E0-FF43-A628-FB60B9D84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1" y="5262"/>
              <a:ext cx="540" cy="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4" name="Line 68">
              <a:extLst>
                <a:ext uri="{FF2B5EF4-FFF2-40B4-BE49-F238E27FC236}">
                  <a16:creationId xmlns:a16="http://schemas.microsoft.com/office/drawing/2014/main" id="{E082B842-DE97-EF4B-B2D7-BF7FAE88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1" y="5886"/>
              <a:ext cx="18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5" name="Line 69">
              <a:extLst>
                <a:ext uri="{FF2B5EF4-FFF2-40B4-BE49-F238E27FC236}">
                  <a16:creationId xmlns:a16="http://schemas.microsoft.com/office/drawing/2014/main" id="{3B709789-C32F-5A4C-83E6-CCAA7CF3D2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2" y="5886"/>
              <a:ext cx="35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6" name="Line 70">
              <a:extLst>
                <a:ext uri="{FF2B5EF4-FFF2-40B4-BE49-F238E27FC236}">
                  <a16:creationId xmlns:a16="http://schemas.microsoft.com/office/drawing/2014/main" id="{EBCED1D4-5951-CB41-B1D5-47B4A5AC0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1" y="588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7" name="Line 71">
              <a:extLst>
                <a:ext uri="{FF2B5EF4-FFF2-40B4-BE49-F238E27FC236}">
                  <a16:creationId xmlns:a16="http://schemas.microsoft.com/office/drawing/2014/main" id="{49C650B8-35ED-4449-9ED4-53FCA741A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1" y="588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8" name="Line 72">
              <a:extLst>
                <a:ext uri="{FF2B5EF4-FFF2-40B4-BE49-F238E27FC236}">
                  <a16:creationId xmlns:a16="http://schemas.microsoft.com/office/drawing/2014/main" id="{EB7EBF9D-50D3-DD43-B64E-03D1F6F3A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1" y="666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19" name="Line 73">
              <a:extLst>
                <a:ext uri="{FF2B5EF4-FFF2-40B4-BE49-F238E27FC236}">
                  <a16:creationId xmlns:a16="http://schemas.microsoft.com/office/drawing/2014/main" id="{FA775D5A-EC60-BE49-B4E4-0DA8D0D07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6667"/>
              <a:ext cx="179" cy="31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0120" name="Oval 74">
              <a:extLst>
                <a:ext uri="{FF2B5EF4-FFF2-40B4-BE49-F238E27FC236}">
                  <a16:creationId xmlns:a16="http://schemas.microsoft.com/office/drawing/2014/main" id="{395D28B3-0027-424A-B8E0-EB3169FD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5417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1" name="Text Box 75">
              <a:extLst>
                <a:ext uri="{FF2B5EF4-FFF2-40B4-BE49-F238E27FC236}">
                  <a16:creationId xmlns:a16="http://schemas.microsoft.com/office/drawing/2014/main" id="{949E9F42-8349-754D-9DB1-B706187E2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" y="5417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2" name="Oval 76">
              <a:extLst>
                <a:ext uri="{FF2B5EF4-FFF2-40B4-BE49-F238E27FC236}">
                  <a16:creationId xmlns:a16="http://schemas.microsoft.com/office/drawing/2014/main" id="{84F8C1F1-4A23-2B43-8D2D-24251913A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6197"/>
              <a:ext cx="538" cy="471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3" name="Text Box 77">
              <a:extLst>
                <a:ext uri="{FF2B5EF4-FFF2-40B4-BE49-F238E27FC236}">
                  <a16:creationId xmlns:a16="http://schemas.microsoft.com/office/drawing/2014/main" id="{8EB0BED2-9271-744B-B685-33D771C1F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6272"/>
              <a:ext cx="719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4" name="Text Box 78">
              <a:extLst>
                <a:ext uri="{FF2B5EF4-FFF2-40B4-BE49-F238E27FC236}">
                  <a16:creationId xmlns:a16="http://schemas.microsoft.com/office/drawing/2014/main" id="{1846264C-1974-A841-BB0E-E0915580D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" y="4325"/>
              <a:ext cx="3957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(1)</a:t>
              </a:r>
              <a:r>
                <a: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当前要删除的节点是根节点的左儿子</a:t>
              </a:r>
              <a:endParaRPr lang="zh-CN" altLang="en-US" sz="16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5" name="Text Box 79">
              <a:extLst>
                <a:ext uri="{FF2B5EF4-FFF2-40B4-BE49-F238E27FC236}">
                  <a16:creationId xmlns:a16="http://schemas.microsoft.com/office/drawing/2014/main" id="{8DE6E851-60BE-8540-8EBA-A85CA63AC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" y="4325"/>
              <a:ext cx="4139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(2)</a:t>
              </a:r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将根节点的左儿子和最后一个节点交换</a:t>
              </a:r>
              <a:endParaRPr lang="zh-CN" altLang="en-US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6" name="Text Box 80">
              <a:extLst>
                <a:ext uri="{FF2B5EF4-FFF2-40B4-BE49-F238E27FC236}">
                  <a16:creationId xmlns:a16="http://schemas.microsoft.com/office/drawing/2014/main" id="{BF3E7582-FFAE-CA4B-8005-09A2746D0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7603"/>
              <a:ext cx="4499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(3)</a:t>
              </a:r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将新的节点不断下调，直到满足堆的性质</a:t>
              </a:r>
              <a:endParaRPr lang="zh-CN" altLang="en-US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7" name="Oval 81">
              <a:extLst>
                <a:ext uri="{FF2B5EF4-FFF2-40B4-BE49-F238E27FC236}">
                  <a16:creationId xmlns:a16="http://schemas.microsoft.com/office/drawing/2014/main" id="{AB2A1BC6-4F3E-5D4C-BCB5-AA40D7295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2298"/>
              <a:ext cx="540" cy="48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8" name="Oval 82">
              <a:extLst>
                <a:ext uri="{FF2B5EF4-FFF2-40B4-BE49-F238E27FC236}">
                  <a16:creationId xmlns:a16="http://schemas.microsoft.com/office/drawing/2014/main" id="{C01D1BF7-B545-F646-9111-4F5132098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" y="3858"/>
              <a:ext cx="540" cy="52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0129" name="Line 83">
              <a:extLst>
                <a:ext uri="{FF2B5EF4-FFF2-40B4-BE49-F238E27FC236}">
                  <a16:creationId xmlns:a16="http://schemas.microsoft.com/office/drawing/2014/main" id="{B722C285-76F3-EE47-B304-B0E7C0C16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5" y="3546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888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3B067B9-17C2-9245-B440-C4AD4AD441A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solidFill>
                  <a:schemeClr val="bg1"/>
                </a:solidFill>
              </a:rPr>
              <a:t>删除（实际上是不断向下调整的过程）</a:t>
            </a:r>
            <a:endParaRPr lang="en-US" altLang="zh-CN" sz="4000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810D95-9B36-CD45-B2E1-E3701E85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10"/>
            <a:ext cx="8909144" cy="50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27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99" name="Group 4">
            <a:extLst>
              <a:ext uri="{FF2B5EF4-FFF2-40B4-BE49-F238E27FC236}">
                <a16:creationId xmlns:a16="http://schemas.microsoft.com/office/drawing/2014/main" id="{919EAF12-5524-F441-AE87-D15483E3CD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79651" y="981076"/>
            <a:ext cx="7991475" cy="5572125"/>
            <a:chOff x="2357" y="1485"/>
            <a:chExt cx="7200" cy="5027"/>
          </a:xfrm>
        </p:grpSpPr>
        <p:sp>
          <p:nvSpPr>
            <p:cNvPr id="132100" name="AutoShape 5">
              <a:extLst>
                <a:ext uri="{FF2B5EF4-FFF2-40B4-BE49-F238E27FC236}">
                  <a16:creationId xmlns:a16="http://schemas.microsoft.com/office/drawing/2014/main" id="{6CE03C18-50A3-FF43-A0A6-6413AEDC8C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7" y="1485"/>
              <a:ext cx="7200" cy="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1" name="Oval 6">
              <a:extLst>
                <a:ext uri="{FF2B5EF4-FFF2-40B4-BE49-F238E27FC236}">
                  <a16:creationId xmlns:a16="http://schemas.microsoft.com/office/drawing/2014/main" id="{DF468803-93E8-5047-AD33-218A889A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1757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2" name="Text Box 7">
              <a:extLst>
                <a:ext uri="{FF2B5EF4-FFF2-40B4-BE49-F238E27FC236}">
                  <a16:creationId xmlns:a16="http://schemas.microsoft.com/office/drawing/2014/main" id="{D3659316-6104-5646-BD59-E433799C3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1757"/>
              <a:ext cx="623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3" name="Oval 8">
              <a:extLst>
                <a:ext uri="{FF2B5EF4-FFF2-40B4-BE49-F238E27FC236}">
                  <a16:creationId xmlns:a16="http://schemas.microsoft.com/office/drawing/2014/main" id="{926225E4-06E9-C340-9C39-3AF8CAE30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1757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4" name="Text Box 9">
              <a:extLst>
                <a:ext uri="{FF2B5EF4-FFF2-40B4-BE49-F238E27FC236}">
                  <a16:creationId xmlns:a16="http://schemas.microsoft.com/office/drawing/2014/main" id="{019F869D-1927-3A4B-A67F-39FB9E0EE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" y="1757"/>
              <a:ext cx="623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5" name="Oval 10">
              <a:extLst>
                <a:ext uri="{FF2B5EF4-FFF2-40B4-BE49-F238E27FC236}">
                  <a16:creationId xmlns:a16="http://schemas.microsoft.com/office/drawing/2014/main" id="{C3175A89-FA91-C441-820E-14C7ACCF2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1757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6" name="Text Box 11">
              <a:extLst>
                <a:ext uri="{FF2B5EF4-FFF2-40B4-BE49-F238E27FC236}">
                  <a16:creationId xmlns:a16="http://schemas.microsoft.com/office/drawing/2014/main" id="{165B4A27-2D2A-AA4E-A595-1B14AB64E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" y="1757"/>
              <a:ext cx="623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7" name="Oval 12">
              <a:extLst>
                <a:ext uri="{FF2B5EF4-FFF2-40B4-BE49-F238E27FC236}">
                  <a16:creationId xmlns:a16="http://schemas.microsoft.com/office/drawing/2014/main" id="{215ABE71-F1F7-9547-A7D6-9583EBF74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" y="1757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8" name="Text Box 13">
              <a:extLst>
                <a:ext uri="{FF2B5EF4-FFF2-40B4-BE49-F238E27FC236}">
                  <a16:creationId xmlns:a16="http://schemas.microsoft.com/office/drawing/2014/main" id="{6B4531B7-7319-9B43-8BA8-B5B907424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" y="1757"/>
              <a:ext cx="62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09" name="Oval 14">
              <a:extLst>
                <a:ext uri="{FF2B5EF4-FFF2-40B4-BE49-F238E27FC236}">
                  <a16:creationId xmlns:a16="http://schemas.microsoft.com/office/drawing/2014/main" id="{BFE6E664-D085-E04A-8B2A-90F5B9322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8" y="1757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0" name="Text Box 15">
              <a:extLst>
                <a:ext uri="{FF2B5EF4-FFF2-40B4-BE49-F238E27FC236}">
                  <a16:creationId xmlns:a16="http://schemas.microsoft.com/office/drawing/2014/main" id="{03B31BD3-98AA-4D4F-9736-C6129CC50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8" y="1757"/>
              <a:ext cx="62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1" name="Text Box 16">
              <a:extLst>
                <a:ext uri="{FF2B5EF4-FFF2-40B4-BE49-F238E27FC236}">
                  <a16:creationId xmlns:a16="http://schemas.microsoft.com/office/drawing/2014/main" id="{185F6079-5A7B-614E-8DBF-968EFE378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2300"/>
              <a:ext cx="3287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分别插入权为</a:t>
              </a:r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6,2,3,5,1</a:t>
              </a:r>
              <a:r>
                <a:rPr lang="zh-CN" altLang="en-US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的元素</a:t>
              </a:r>
            </a:p>
            <a:p>
              <a:pPr eaLnBrk="1" hangingPunct="1"/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2" name="Oval 17">
              <a:extLst>
                <a:ext uri="{FF2B5EF4-FFF2-40B4-BE49-F238E27FC236}">
                  <a16:creationId xmlns:a16="http://schemas.microsoft.com/office/drawing/2014/main" id="{92E046B6-1ADA-E44C-A0E8-29EFA3CF8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980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3" name="Text Box 18">
              <a:extLst>
                <a:ext uri="{FF2B5EF4-FFF2-40B4-BE49-F238E27FC236}">
                  <a16:creationId xmlns:a16="http://schemas.microsoft.com/office/drawing/2014/main" id="{0B36747B-E0CC-AF45-B7E3-09B103234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2980"/>
              <a:ext cx="62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4" name="Text Box 19">
              <a:extLst>
                <a:ext uri="{FF2B5EF4-FFF2-40B4-BE49-F238E27FC236}">
                  <a16:creationId xmlns:a16="http://schemas.microsoft.com/office/drawing/2014/main" id="{59AE6591-9FDE-3F4D-9E02-4A1ACDB1C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3387"/>
              <a:ext cx="625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(1)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5" name="Oval 20">
              <a:extLst>
                <a:ext uri="{FF2B5EF4-FFF2-40B4-BE49-F238E27FC236}">
                  <a16:creationId xmlns:a16="http://schemas.microsoft.com/office/drawing/2014/main" id="{EFCC8FF7-FED8-D84A-A73A-B889FFACD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3523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6" name="Text Box 21">
              <a:extLst>
                <a:ext uri="{FF2B5EF4-FFF2-40B4-BE49-F238E27FC236}">
                  <a16:creationId xmlns:a16="http://schemas.microsoft.com/office/drawing/2014/main" id="{81EB83D5-8E5F-B24D-96D5-2FE3E74AA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" y="3523"/>
              <a:ext cx="622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7" name="Text Box 22">
              <a:extLst>
                <a:ext uri="{FF2B5EF4-FFF2-40B4-BE49-F238E27FC236}">
                  <a16:creationId xmlns:a16="http://schemas.microsoft.com/office/drawing/2014/main" id="{E56F973C-620D-D648-B3C1-881BD464B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" y="3931"/>
              <a:ext cx="626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(2)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8" name="Oval 23">
              <a:extLst>
                <a:ext uri="{FF2B5EF4-FFF2-40B4-BE49-F238E27FC236}">
                  <a16:creationId xmlns:a16="http://schemas.microsoft.com/office/drawing/2014/main" id="{117261AA-EFC9-1F4B-ACD8-8DB7C1B88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8" y="2844"/>
              <a:ext cx="469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19" name="Text Box 24">
              <a:extLst>
                <a:ext uri="{FF2B5EF4-FFF2-40B4-BE49-F238E27FC236}">
                  <a16:creationId xmlns:a16="http://schemas.microsoft.com/office/drawing/2014/main" id="{D0891DE3-0F62-A540-9B24-EFE537FE0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" y="2844"/>
              <a:ext cx="62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0" name="Line 25">
              <a:extLst>
                <a:ext uri="{FF2B5EF4-FFF2-40B4-BE49-F238E27FC236}">
                  <a16:creationId xmlns:a16="http://schemas.microsoft.com/office/drawing/2014/main" id="{5EC81D65-EBD7-604C-9807-F6467F90D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8" y="3252"/>
              <a:ext cx="156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21" name="Oval 26">
              <a:extLst>
                <a:ext uri="{FF2B5EF4-FFF2-40B4-BE49-F238E27FC236}">
                  <a16:creationId xmlns:a16="http://schemas.microsoft.com/office/drawing/2014/main" id="{CB527E37-159C-114B-8871-69BFE0CD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3" y="3523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2" name="Text Box 27">
              <a:extLst>
                <a:ext uri="{FF2B5EF4-FFF2-40B4-BE49-F238E27FC236}">
                  <a16:creationId xmlns:a16="http://schemas.microsoft.com/office/drawing/2014/main" id="{E91C8BB6-21D3-7A4D-AF97-5B8C873BC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3" y="3523"/>
              <a:ext cx="62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3" name="Text Box 28">
              <a:extLst>
                <a:ext uri="{FF2B5EF4-FFF2-40B4-BE49-F238E27FC236}">
                  <a16:creationId xmlns:a16="http://schemas.microsoft.com/office/drawing/2014/main" id="{B67D7BD9-4AA7-EB41-8F69-64751AB00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" y="3931"/>
              <a:ext cx="62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(3)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4" name="Oval 29">
              <a:extLst>
                <a:ext uri="{FF2B5EF4-FFF2-40B4-BE49-F238E27FC236}">
                  <a16:creationId xmlns:a16="http://schemas.microsoft.com/office/drawing/2014/main" id="{69F6FCE2-CB3B-034D-96C2-A395BDD1A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" y="2844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5" name="Text Box 30">
              <a:extLst>
                <a:ext uri="{FF2B5EF4-FFF2-40B4-BE49-F238E27FC236}">
                  <a16:creationId xmlns:a16="http://schemas.microsoft.com/office/drawing/2014/main" id="{E174D4FA-9C41-B84B-96FF-AF1CF31AE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" y="2844"/>
              <a:ext cx="62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6" name="Line 31">
              <a:extLst>
                <a:ext uri="{FF2B5EF4-FFF2-40B4-BE49-F238E27FC236}">
                  <a16:creationId xmlns:a16="http://schemas.microsoft.com/office/drawing/2014/main" id="{F4AC4959-6A72-5749-BF2C-D434D35F6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66" y="3251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27" name="Oval 32">
              <a:extLst>
                <a:ext uri="{FF2B5EF4-FFF2-40B4-BE49-F238E27FC236}">
                  <a16:creationId xmlns:a16="http://schemas.microsoft.com/office/drawing/2014/main" id="{61507A0C-9598-5747-BB2B-F1EC675D8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" y="3523"/>
              <a:ext cx="470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8" name="Text Box 33">
              <a:extLst>
                <a:ext uri="{FF2B5EF4-FFF2-40B4-BE49-F238E27FC236}">
                  <a16:creationId xmlns:a16="http://schemas.microsoft.com/office/drawing/2014/main" id="{DF3A0C14-E4C7-0841-91AA-14C44D795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4" y="3523"/>
              <a:ext cx="62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29" name="Line 34">
              <a:extLst>
                <a:ext uri="{FF2B5EF4-FFF2-40B4-BE49-F238E27FC236}">
                  <a16:creationId xmlns:a16="http://schemas.microsoft.com/office/drawing/2014/main" id="{CE1624D0-19EE-5640-8A21-CAD73645F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9" y="3251"/>
              <a:ext cx="313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30" name="Oval 35">
              <a:extLst>
                <a:ext uri="{FF2B5EF4-FFF2-40B4-BE49-F238E27FC236}">
                  <a16:creationId xmlns:a16="http://schemas.microsoft.com/office/drawing/2014/main" id="{C49DA9A6-F11E-B24D-9A25-DD32F1650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5561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1" name="Text Box 36">
              <a:extLst>
                <a:ext uri="{FF2B5EF4-FFF2-40B4-BE49-F238E27FC236}">
                  <a16:creationId xmlns:a16="http://schemas.microsoft.com/office/drawing/2014/main" id="{DD436E1F-F180-934E-A7DC-10007540D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5561"/>
              <a:ext cx="621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2" name="Text Box 37">
              <a:extLst>
                <a:ext uri="{FF2B5EF4-FFF2-40B4-BE49-F238E27FC236}">
                  <a16:creationId xmlns:a16="http://schemas.microsoft.com/office/drawing/2014/main" id="{D787E544-B216-0B42-BD39-79375389D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5969"/>
              <a:ext cx="627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(4)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3" name="Oval 38">
              <a:extLst>
                <a:ext uri="{FF2B5EF4-FFF2-40B4-BE49-F238E27FC236}">
                  <a16:creationId xmlns:a16="http://schemas.microsoft.com/office/drawing/2014/main" id="{24B94302-67F7-D544-9AC4-ADD1E78EB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4203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4" name="Text Box 39">
              <a:extLst>
                <a:ext uri="{FF2B5EF4-FFF2-40B4-BE49-F238E27FC236}">
                  <a16:creationId xmlns:a16="http://schemas.microsoft.com/office/drawing/2014/main" id="{AD22DBD9-1296-6A44-9895-06B69EA80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4203"/>
              <a:ext cx="62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5" name="Line 40">
              <a:extLst>
                <a:ext uri="{FF2B5EF4-FFF2-40B4-BE49-F238E27FC236}">
                  <a16:creationId xmlns:a16="http://schemas.microsoft.com/office/drawing/2014/main" id="{69AD246B-EC40-B84E-8FA6-513E84F21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6" y="4610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36" name="Oval 41">
              <a:extLst>
                <a:ext uri="{FF2B5EF4-FFF2-40B4-BE49-F238E27FC236}">
                  <a16:creationId xmlns:a16="http://schemas.microsoft.com/office/drawing/2014/main" id="{6A847EAF-1C2F-C740-A7B7-6FA93F5CD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" y="4882"/>
              <a:ext cx="47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7" name="Text Box 42">
              <a:extLst>
                <a:ext uri="{FF2B5EF4-FFF2-40B4-BE49-F238E27FC236}">
                  <a16:creationId xmlns:a16="http://schemas.microsoft.com/office/drawing/2014/main" id="{02EA88F4-5740-314D-BAF4-AED709469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4" y="4882"/>
              <a:ext cx="626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38" name="Line 43">
              <a:extLst>
                <a:ext uri="{FF2B5EF4-FFF2-40B4-BE49-F238E27FC236}">
                  <a16:creationId xmlns:a16="http://schemas.microsoft.com/office/drawing/2014/main" id="{A52DCA82-DD0A-1048-9E20-BDCCC4D4C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4610"/>
              <a:ext cx="312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39" name="Oval 44">
              <a:extLst>
                <a:ext uri="{FF2B5EF4-FFF2-40B4-BE49-F238E27FC236}">
                  <a16:creationId xmlns:a16="http://schemas.microsoft.com/office/drawing/2014/main" id="{3D852547-E3EC-7F4E-87C1-FF507D61B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" y="4882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0" name="Text Box 45">
              <a:extLst>
                <a:ext uri="{FF2B5EF4-FFF2-40B4-BE49-F238E27FC236}">
                  <a16:creationId xmlns:a16="http://schemas.microsoft.com/office/drawing/2014/main" id="{529E63E5-AA24-704C-BC18-FE4EC96CA4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4882"/>
              <a:ext cx="62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1" name="Line 46">
              <a:extLst>
                <a:ext uri="{FF2B5EF4-FFF2-40B4-BE49-F238E27FC236}">
                  <a16:creationId xmlns:a16="http://schemas.microsoft.com/office/drawing/2014/main" id="{71FE9153-0B40-4B46-9CB6-E6B3B7696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3" y="5290"/>
              <a:ext cx="156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42" name="Oval 47">
              <a:extLst>
                <a:ext uri="{FF2B5EF4-FFF2-40B4-BE49-F238E27FC236}">
                  <a16:creationId xmlns:a16="http://schemas.microsoft.com/office/drawing/2014/main" id="{5BE42CD9-B33C-E74E-9C11-FA8268810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4" y="5697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3" name="Text Box 48">
              <a:extLst>
                <a:ext uri="{FF2B5EF4-FFF2-40B4-BE49-F238E27FC236}">
                  <a16:creationId xmlns:a16="http://schemas.microsoft.com/office/drawing/2014/main" id="{E27D2797-BFBD-CF43-A787-D98097D99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4" y="5697"/>
              <a:ext cx="62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4" name="Text Box 49">
              <a:extLst>
                <a:ext uri="{FF2B5EF4-FFF2-40B4-BE49-F238E27FC236}">
                  <a16:creationId xmlns:a16="http://schemas.microsoft.com/office/drawing/2014/main" id="{6DFA1425-B775-BB4B-838C-B45D4889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" y="6106"/>
              <a:ext cx="62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(5)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5" name="Oval 50">
              <a:extLst>
                <a:ext uri="{FF2B5EF4-FFF2-40B4-BE49-F238E27FC236}">
                  <a16:creationId xmlns:a16="http://schemas.microsoft.com/office/drawing/2014/main" id="{1663630F-1EE6-E34A-8D1E-40F7C4063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5019"/>
              <a:ext cx="468" cy="40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6" name="Text Box 51">
              <a:extLst>
                <a:ext uri="{FF2B5EF4-FFF2-40B4-BE49-F238E27FC236}">
                  <a16:creationId xmlns:a16="http://schemas.microsoft.com/office/drawing/2014/main" id="{B1167A2F-E298-F041-A170-78A19F851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7" y="5019"/>
              <a:ext cx="62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7" name="Line 52">
              <a:extLst>
                <a:ext uri="{FF2B5EF4-FFF2-40B4-BE49-F238E27FC236}">
                  <a16:creationId xmlns:a16="http://schemas.microsoft.com/office/drawing/2014/main" id="{77238F98-9701-AD4F-8E7F-37441F277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40" y="4746"/>
              <a:ext cx="156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48" name="Oval 53">
              <a:extLst>
                <a:ext uri="{FF2B5EF4-FFF2-40B4-BE49-F238E27FC236}">
                  <a16:creationId xmlns:a16="http://schemas.microsoft.com/office/drawing/2014/main" id="{D05F48A5-B1A9-7B43-845E-31408FC16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8" y="5019"/>
              <a:ext cx="470" cy="40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49" name="Text Box 54">
              <a:extLst>
                <a:ext uri="{FF2B5EF4-FFF2-40B4-BE49-F238E27FC236}">
                  <a16:creationId xmlns:a16="http://schemas.microsoft.com/office/drawing/2014/main" id="{3BBF2CE1-5F63-BA43-8101-03B643623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8" y="5019"/>
              <a:ext cx="626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50" name="Line 55">
              <a:extLst>
                <a:ext uri="{FF2B5EF4-FFF2-40B4-BE49-F238E27FC236}">
                  <a16:creationId xmlns:a16="http://schemas.microsoft.com/office/drawing/2014/main" id="{895812D7-74A5-F140-BA57-E3A7F6CDC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3" y="4746"/>
              <a:ext cx="312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51" name="Oval 56">
              <a:extLst>
                <a:ext uri="{FF2B5EF4-FFF2-40B4-BE49-F238E27FC236}">
                  <a16:creationId xmlns:a16="http://schemas.microsoft.com/office/drawing/2014/main" id="{D54AA0C2-8AAD-5641-9AD0-EF47BEC41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" y="5697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52" name="Text Box 57">
              <a:extLst>
                <a:ext uri="{FF2B5EF4-FFF2-40B4-BE49-F238E27FC236}">
                  <a16:creationId xmlns:a16="http://schemas.microsoft.com/office/drawing/2014/main" id="{510DBDF7-9497-8745-9358-886712352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" y="5697"/>
              <a:ext cx="623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53" name="Line 58">
              <a:extLst>
                <a:ext uri="{FF2B5EF4-FFF2-40B4-BE49-F238E27FC236}">
                  <a16:creationId xmlns:a16="http://schemas.microsoft.com/office/drawing/2014/main" id="{3410CE0C-190B-6647-8C23-AEE25AA7D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27" y="5425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2154" name="Oval 59">
              <a:extLst>
                <a:ext uri="{FF2B5EF4-FFF2-40B4-BE49-F238E27FC236}">
                  <a16:creationId xmlns:a16="http://schemas.microsoft.com/office/drawing/2014/main" id="{5DFEB202-FF39-5043-9720-CC6678807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" y="4338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55" name="Text Box 60">
              <a:extLst>
                <a:ext uri="{FF2B5EF4-FFF2-40B4-BE49-F238E27FC236}">
                  <a16:creationId xmlns:a16="http://schemas.microsoft.com/office/drawing/2014/main" id="{81A888E0-6C80-EB4A-AF22-8D7A862A3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" y="4338"/>
              <a:ext cx="620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2156" name="Line 61">
              <a:extLst>
                <a:ext uri="{FF2B5EF4-FFF2-40B4-BE49-F238E27FC236}">
                  <a16:creationId xmlns:a16="http://schemas.microsoft.com/office/drawing/2014/main" id="{7D05DFD0-A34E-684F-B163-7CA13BF1E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0" y="5425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61" name="Rectangle 2">
            <a:extLst>
              <a:ext uri="{FF2B5EF4-FFF2-40B4-BE49-F238E27FC236}">
                <a16:creationId xmlns:a16="http://schemas.microsoft.com/office/drawing/2014/main" id="{85B36E05-D613-2448-B7AB-76C28BAA556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solidFill>
                  <a:schemeClr val="bg1"/>
                </a:solidFill>
              </a:rPr>
              <a:t>堆的构造就是不断插入到堆的过程 </a:t>
            </a:r>
            <a:endParaRPr lang="en-US" altLang="zh-C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602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A06A062A-354D-0B46-B490-425E4FE1FC2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堆的插入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删除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5649B4-7EC9-5046-84D5-B59AC007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1402159"/>
            <a:ext cx="8864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5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373229-E4AC-CF49-AC7E-DB9E61CCFE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优先队列（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STL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） 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721678B-B010-714F-9BDC-388B34D1B867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 err="1">
                <a:latin typeface="+mn-ea"/>
              </a:rPr>
              <a:t>priority_queue</a:t>
            </a:r>
            <a:r>
              <a:rPr lang="zh-CN" altLang="en-US" dirty="0">
                <a:latin typeface="+mn-ea"/>
              </a:rPr>
              <a:t>：大顶堆</a:t>
            </a:r>
            <a:endParaRPr lang="en-US" altLang="zh-CN" dirty="0">
              <a:latin typeface="+mn-ea"/>
            </a:endParaRPr>
          </a:p>
          <a:p>
            <a:pPr eaLnBrk="1" hangingPunct="1"/>
            <a:r>
              <a:rPr lang="en-US" altLang="zh-CN" dirty="0" err="1">
                <a:latin typeface="+mn-ea"/>
              </a:rPr>
              <a:t>priority_queue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, vector&lt;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&gt;, greater&lt;</a:t>
            </a: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&gt; &gt; </a:t>
            </a:r>
            <a:r>
              <a:rPr lang="en-US" altLang="zh-CN" dirty="0" err="1">
                <a:latin typeface="+mn-ea"/>
              </a:rPr>
              <a:t>pq</a:t>
            </a:r>
            <a:r>
              <a:rPr lang="en-US" altLang="zh-CN" dirty="0">
                <a:latin typeface="+mn-ea"/>
              </a:rPr>
              <a:t>;    //</a:t>
            </a:r>
            <a:r>
              <a:rPr lang="zh-CN" altLang="en-US" dirty="0">
                <a:latin typeface="+mn-ea"/>
              </a:rPr>
              <a:t>小顶堆</a:t>
            </a:r>
            <a:endParaRPr lang="en-US" altLang="zh-CN" dirty="0">
              <a:latin typeface="+mn-ea"/>
            </a:endParaRPr>
          </a:p>
          <a:p>
            <a:pPr eaLnBrk="1" hangingPunct="1"/>
            <a:r>
              <a:rPr lang="en-US" altLang="zh-CN" dirty="0" err="1">
                <a:latin typeface="+mn-ea"/>
              </a:rPr>
              <a:t>priority_queue</a:t>
            </a:r>
            <a:r>
              <a:rPr lang="en-US" altLang="zh-CN" dirty="0">
                <a:latin typeface="+mn-ea"/>
              </a:rPr>
              <a:t>&lt;type&gt; </a:t>
            </a:r>
            <a:r>
              <a:rPr lang="en-US" altLang="zh-CN" dirty="0" err="1">
                <a:latin typeface="+mn-ea"/>
              </a:rPr>
              <a:t>pq</a:t>
            </a:r>
            <a:r>
              <a:rPr lang="en-US" altLang="zh-CN" dirty="0">
                <a:latin typeface="+mn-ea"/>
              </a:rPr>
              <a:t>; //</a:t>
            </a:r>
            <a:r>
              <a:rPr lang="zh-CN" altLang="en-US" dirty="0">
                <a:latin typeface="+mn-ea"/>
              </a:rPr>
              <a:t>自定义结构体，操作符重载</a:t>
            </a:r>
            <a:endParaRPr lang="en-US" altLang="zh-CN" dirty="0">
              <a:latin typeface="+mn-ea"/>
            </a:endParaRPr>
          </a:p>
          <a:p>
            <a:pPr eaLnBrk="1" hangingPunct="1"/>
            <a:r>
              <a:rPr lang="en-US" altLang="zh-CN" dirty="0" err="1">
                <a:latin typeface="+mn-ea"/>
              </a:rPr>
              <a:t>priority_queue</a:t>
            </a:r>
            <a:r>
              <a:rPr lang="en-US" altLang="zh-CN" dirty="0">
                <a:latin typeface="+mn-ea"/>
              </a:rPr>
              <a:t>&lt;type, vector&lt;type&gt;, </a:t>
            </a:r>
            <a:r>
              <a:rPr lang="en-US" altLang="zh-CN" dirty="0" err="1">
                <a:latin typeface="+mn-ea"/>
              </a:rPr>
              <a:t>cmp</a:t>
            </a:r>
            <a:r>
              <a:rPr lang="en-US" altLang="zh-CN" dirty="0">
                <a:latin typeface="+mn-ea"/>
              </a:rPr>
              <a:t>&gt; </a:t>
            </a:r>
            <a:r>
              <a:rPr lang="en-US" altLang="zh-CN" dirty="0" err="1">
                <a:latin typeface="+mn-ea"/>
              </a:rPr>
              <a:t>pq</a:t>
            </a:r>
            <a:r>
              <a:rPr lang="en-US" altLang="zh-CN" dirty="0">
                <a:latin typeface="+mn-ea"/>
              </a:rPr>
              <a:t>;  //</a:t>
            </a:r>
            <a:r>
              <a:rPr lang="zh-CN" altLang="en-US" dirty="0">
                <a:latin typeface="+mn-ea"/>
              </a:rPr>
              <a:t>自定义结构体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比较函数</a:t>
            </a:r>
            <a:endParaRPr lang="en-US" altLang="zh-CN" dirty="0">
              <a:latin typeface="+mn-ea"/>
            </a:endParaRPr>
          </a:p>
          <a:p>
            <a:pPr eaLnBrk="1" hangingPunct="1"/>
            <a:r>
              <a:rPr lang="zh-CN" altLang="en-US" dirty="0">
                <a:latin typeface="+mn-ea"/>
              </a:rPr>
              <a:t>只能删除堆顶元素，不能删除任意元素</a:t>
            </a:r>
          </a:p>
        </p:txBody>
      </p:sp>
    </p:spTree>
    <p:extLst>
      <p:ext uri="{BB962C8B-B14F-4D97-AF65-F5344CB8AC3E}">
        <p14:creationId xmlns:p14="http://schemas.microsoft.com/office/powerpoint/2010/main" val="311642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 dirty="0" err="1">
                <a:solidFill>
                  <a:schemeClr val="bg1"/>
                </a:solidFill>
                <a:latin typeface="Cambria Math" panose="02040503050406030204" pitchFamily="18" charset="0"/>
              </a:rPr>
              <a:t>priority_queue</a:t>
            </a:r>
            <a:endParaRPr lang="zh-CN" altLang="en-US" cap="none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大根堆</a:t>
            </a:r>
            <a:endParaRPr kumimoji="1" lang="en-US" altLang="zh-C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常见操作：</a:t>
            </a:r>
            <a:endParaRPr kumimoji="1" lang="en-US" altLang="zh-C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判断是否为空：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empty()</a:t>
            </a:r>
          </a:p>
          <a:p>
            <a:pPr lvl="1"/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元素个数：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size()</a:t>
            </a:r>
          </a:p>
          <a:p>
            <a:pPr lvl="1"/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取堆顶元素：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top()</a:t>
            </a:r>
          </a:p>
          <a:p>
            <a:pPr lvl="1"/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入堆：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push()</a:t>
            </a:r>
          </a:p>
          <a:p>
            <a:pPr lvl="1"/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出堆：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pop()</a:t>
            </a:r>
          </a:p>
          <a:p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可自定义比较函数</a:t>
            </a:r>
            <a:endParaRPr kumimoji="1" lang="en-US" altLang="zh-C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kumimoji="1" lang="zh-CN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不提供删除任意元素的接口</a:t>
            </a:r>
            <a:endParaRPr kumimoji="1" lang="en-US" altLang="zh-C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D24EAB-FE44-E94C-AC53-4D1412A4C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009" y="0"/>
            <a:ext cx="6360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1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70469</TotalTime>
  <Words>902</Words>
  <Application>Microsoft Macintosh PowerPoint</Application>
  <PresentationFormat>宽屏</PresentationFormat>
  <Paragraphs>178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等线</vt:lpstr>
      <vt:lpstr>宋体</vt:lpstr>
      <vt:lpstr>Arial</vt:lpstr>
      <vt:lpstr>Cambria Math</vt:lpstr>
      <vt:lpstr>Tahoma</vt:lpstr>
      <vt:lpstr>Times New Roman</vt:lpstr>
      <vt:lpstr>Tw Cen MT</vt:lpstr>
      <vt:lpstr>Wingdings 2</vt:lpstr>
      <vt:lpstr>电路</vt:lpstr>
      <vt:lpstr>二叉堆</vt:lpstr>
      <vt:lpstr>问题：动态数据求最值</vt:lpstr>
      <vt:lpstr>输入输出</vt:lpstr>
      <vt:lpstr>样例</vt:lpstr>
      <vt:lpstr>用线性表作为数据结构</vt:lpstr>
      <vt:lpstr>二叉堆（优先队列）</vt:lpstr>
      <vt:lpstr>在堆中插入元素 x</vt:lpstr>
      <vt:lpstr>PowerPoint 演示文稿</vt:lpstr>
      <vt:lpstr>插入（实际上是不断向上调整的过程）</vt:lpstr>
      <vt:lpstr>在堆中删除根结点的元素</vt:lpstr>
      <vt:lpstr>在堆中删除任意一个元素 </vt:lpstr>
      <vt:lpstr>PowerPoint 演示文稿</vt:lpstr>
      <vt:lpstr>删除（实际上是不断向下调整的过程）</vt:lpstr>
      <vt:lpstr>PowerPoint 演示文稿</vt:lpstr>
      <vt:lpstr>堆的插入/删除</vt:lpstr>
      <vt:lpstr>优先队列（STL） </vt:lpstr>
      <vt:lpstr>priority_queue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Hsu Ferainsa</cp:lastModifiedBy>
  <cp:revision>317</cp:revision>
  <dcterms:created xsi:type="dcterms:W3CDTF">2018-08-09T00:16:20Z</dcterms:created>
  <dcterms:modified xsi:type="dcterms:W3CDTF">2023-02-03T07:45:35Z</dcterms:modified>
</cp:coreProperties>
</file>