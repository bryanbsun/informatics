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xml" ContentType="application/inkml+xml"/>
  <Override PartName="/ppt/ink/ink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6"/>
  </p:notesMasterIdLst>
  <p:sldIdLst>
    <p:sldId id="256" r:id="rId2"/>
    <p:sldId id="281" r:id="rId3"/>
    <p:sldId id="341" r:id="rId4"/>
    <p:sldId id="342" r:id="rId5"/>
    <p:sldId id="343" r:id="rId6"/>
    <p:sldId id="344" r:id="rId7"/>
    <p:sldId id="345" r:id="rId8"/>
    <p:sldId id="346" r:id="rId9"/>
    <p:sldId id="347" r:id="rId10"/>
    <p:sldId id="348" r:id="rId11"/>
    <p:sldId id="349" r:id="rId12"/>
    <p:sldId id="382" r:id="rId13"/>
    <p:sldId id="351" r:id="rId14"/>
    <p:sldId id="352" r:id="rId15"/>
    <p:sldId id="353" r:id="rId16"/>
    <p:sldId id="356" r:id="rId17"/>
    <p:sldId id="357" r:id="rId18"/>
    <p:sldId id="359" r:id="rId19"/>
    <p:sldId id="360" r:id="rId20"/>
    <p:sldId id="361" r:id="rId21"/>
    <p:sldId id="362" r:id="rId22"/>
    <p:sldId id="383" r:id="rId23"/>
    <p:sldId id="385" r:id="rId24"/>
    <p:sldId id="384" r:id="rId25"/>
    <p:sldId id="354" r:id="rId26"/>
    <p:sldId id="355" r:id="rId27"/>
    <p:sldId id="261" r:id="rId28"/>
    <p:sldId id="386" r:id="rId29"/>
    <p:sldId id="387" r:id="rId30"/>
    <p:sldId id="388" r:id="rId31"/>
    <p:sldId id="389" r:id="rId32"/>
    <p:sldId id="390" r:id="rId33"/>
    <p:sldId id="391" r:id="rId34"/>
    <p:sldId id="392" r:id="rId35"/>
    <p:sldId id="393" r:id="rId36"/>
    <p:sldId id="394" r:id="rId37"/>
    <p:sldId id="395" r:id="rId38"/>
    <p:sldId id="396" r:id="rId39"/>
    <p:sldId id="397" r:id="rId40"/>
    <p:sldId id="398" r:id="rId41"/>
    <p:sldId id="399" r:id="rId42"/>
    <p:sldId id="400" r:id="rId43"/>
    <p:sldId id="401" r:id="rId44"/>
    <p:sldId id="402" r:id="rId45"/>
    <p:sldId id="403" r:id="rId46"/>
    <p:sldId id="404" r:id="rId47"/>
    <p:sldId id="405" r:id="rId48"/>
    <p:sldId id="406" r:id="rId49"/>
    <p:sldId id="407" r:id="rId50"/>
    <p:sldId id="408" r:id="rId51"/>
    <p:sldId id="409" r:id="rId52"/>
    <p:sldId id="410" r:id="rId53"/>
    <p:sldId id="411" r:id="rId54"/>
    <p:sldId id="412" r:id="rId55"/>
  </p:sldIdLst>
  <p:sldSz cx="12192000" cy="6858000"/>
  <p:notesSz cx="6858000" cy="9144000"/>
  <p:defaultTextStyle>
    <a:defPPr>
      <a:defRPr lang="e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E967B3-DC3E-CD4E-9A7F-353F774DFC8C}" v="493" dt="2026-02-14T23:35:56.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7" autoAdjust="0"/>
    <p:restoredTop sz="82285" autoAdjust="0"/>
  </p:normalViewPr>
  <p:slideViewPr>
    <p:cSldViewPr snapToGrid="0">
      <p:cViewPr varScale="1">
        <p:scale>
          <a:sx n="106" d="100"/>
          <a:sy n="106" d="100"/>
        </p:scale>
        <p:origin x="10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Sun" userId="851caa7714272873" providerId="LiveId" clId="{1DF0C224-3A3E-55A6-A8D1-F8F2208D385B}"/>
    <pc:docChg chg="undo redo custSel addSld modSld">
      <pc:chgData name="Bryan Sun" userId="851caa7714272873" providerId="LiveId" clId="{1DF0C224-3A3E-55A6-A8D1-F8F2208D385B}" dt="2026-03-03T02:06:37.642" v="2970" actId="121"/>
      <pc:docMkLst>
        <pc:docMk/>
      </pc:docMkLst>
      <pc:sldChg chg="modSp mod">
        <pc:chgData name="Bryan Sun" userId="851caa7714272873" providerId="LiveId" clId="{1DF0C224-3A3E-55A6-A8D1-F8F2208D385B}" dt="2026-03-03T02:06:37.642" v="2970" actId="121"/>
        <pc:sldMkLst>
          <pc:docMk/>
          <pc:sldMk cId="806275777" sldId="256"/>
        </pc:sldMkLst>
        <pc:spChg chg="mod">
          <ac:chgData name="Bryan Sun" userId="851caa7714272873" providerId="LiveId" clId="{1DF0C224-3A3E-55A6-A8D1-F8F2208D385B}" dt="2026-03-03T02:06:37.642" v="2970" actId="121"/>
          <ac:spMkLst>
            <pc:docMk/>
            <pc:sldMk cId="806275777" sldId="256"/>
            <ac:spMk id="4" creationId="{00000000-0000-0000-0000-000000000000}"/>
          </ac:spMkLst>
        </pc:spChg>
      </pc:sldChg>
      <pc:sldChg chg="addSp delSp modSp mod modAnim">
        <pc:chgData name="Bryan Sun" userId="851caa7714272873" providerId="LiveId" clId="{1DF0C224-3A3E-55A6-A8D1-F8F2208D385B}" dt="2026-02-14T03:04:26.241" v="2043"/>
        <pc:sldMkLst>
          <pc:docMk/>
          <pc:sldMk cId="1727142192" sldId="341"/>
        </pc:sldMkLst>
      </pc:sldChg>
      <pc:sldChg chg="addSp delSp modSp mod">
        <pc:chgData name="Bryan Sun" userId="851caa7714272873" providerId="LiveId" clId="{1DF0C224-3A3E-55A6-A8D1-F8F2208D385B}" dt="2026-02-14T12:14:18.372" v="2190" actId="164"/>
        <pc:sldMkLst>
          <pc:docMk/>
          <pc:sldMk cId="4024560761" sldId="345"/>
        </pc:sldMkLst>
        <pc:spChg chg="mod">
          <ac:chgData name="Bryan Sun" userId="851caa7714272873" providerId="LiveId" clId="{1DF0C224-3A3E-55A6-A8D1-F8F2208D385B}" dt="2026-02-14T12:03:02.831" v="2063" actId="20577"/>
          <ac:spMkLst>
            <pc:docMk/>
            <pc:sldMk cId="4024560761" sldId="345"/>
            <ac:spMk id="3" creationId="{364B6489-5513-4724-81F7-F874B8C60D21}"/>
          </ac:spMkLst>
        </pc:spChg>
        <pc:spChg chg="add mod">
          <ac:chgData name="Bryan Sun" userId="851caa7714272873" providerId="LiveId" clId="{1DF0C224-3A3E-55A6-A8D1-F8F2208D385B}" dt="2026-02-14T12:06:56.074" v="2116" actId="14100"/>
          <ac:spMkLst>
            <pc:docMk/>
            <pc:sldMk cId="4024560761" sldId="345"/>
            <ac:spMk id="5" creationId="{83841E43-F3A2-98BF-3D38-31BBA90A1F10}"/>
          </ac:spMkLst>
        </pc:spChg>
        <pc:spChg chg="add mod">
          <ac:chgData name="Bryan Sun" userId="851caa7714272873" providerId="LiveId" clId="{1DF0C224-3A3E-55A6-A8D1-F8F2208D385B}" dt="2026-02-14T12:07:02.113" v="2118" actId="14100"/>
          <ac:spMkLst>
            <pc:docMk/>
            <pc:sldMk cId="4024560761" sldId="345"/>
            <ac:spMk id="6" creationId="{84A61BFD-F2FA-5C97-CC97-3BE529B1D746}"/>
          </ac:spMkLst>
        </pc:spChg>
        <pc:spChg chg="mod">
          <ac:chgData name="Bryan Sun" userId="851caa7714272873" providerId="LiveId" clId="{1DF0C224-3A3E-55A6-A8D1-F8F2208D385B}" dt="2026-02-14T12:07:16.343" v="2120"/>
          <ac:spMkLst>
            <pc:docMk/>
            <pc:sldMk cId="4024560761" sldId="345"/>
            <ac:spMk id="26" creationId="{45C97BB2-980E-DFF3-4968-B76A17B84B19}"/>
          </ac:spMkLst>
        </pc:spChg>
        <pc:spChg chg="mod">
          <ac:chgData name="Bryan Sun" userId="851caa7714272873" providerId="LiveId" clId="{1DF0C224-3A3E-55A6-A8D1-F8F2208D385B}" dt="2026-02-14T12:07:16.343" v="2120"/>
          <ac:spMkLst>
            <pc:docMk/>
            <pc:sldMk cId="4024560761" sldId="345"/>
            <ac:spMk id="27" creationId="{83987FD4-3D8D-70CA-02B4-CDCD362D7285}"/>
          </ac:spMkLst>
        </pc:spChg>
        <pc:spChg chg="mod">
          <ac:chgData name="Bryan Sun" userId="851caa7714272873" providerId="LiveId" clId="{1DF0C224-3A3E-55A6-A8D1-F8F2208D385B}" dt="2026-02-14T12:07:29.354" v="2122"/>
          <ac:spMkLst>
            <pc:docMk/>
            <pc:sldMk cId="4024560761" sldId="345"/>
            <ac:spMk id="30" creationId="{D2731190-FC75-5E72-831B-3251D0776DF4}"/>
          </ac:spMkLst>
        </pc:spChg>
        <pc:spChg chg="mod">
          <ac:chgData name="Bryan Sun" userId="851caa7714272873" providerId="LiveId" clId="{1DF0C224-3A3E-55A6-A8D1-F8F2208D385B}" dt="2026-02-14T12:07:29.354" v="2122"/>
          <ac:spMkLst>
            <pc:docMk/>
            <pc:sldMk cId="4024560761" sldId="345"/>
            <ac:spMk id="31" creationId="{2A856887-1E48-5414-FE68-8109A6BAE740}"/>
          </ac:spMkLst>
        </pc:spChg>
        <pc:spChg chg="mod">
          <ac:chgData name="Bryan Sun" userId="851caa7714272873" providerId="LiveId" clId="{1DF0C224-3A3E-55A6-A8D1-F8F2208D385B}" dt="2026-02-14T12:07:55.782" v="2133" actId="20577"/>
          <ac:spMkLst>
            <pc:docMk/>
            <pc:sldMk cId="4024560761" sldId="345"/>
            <ac:spMk id="34" creationId="{0305F705-D92E-F504-9A51-5B998B30A150}"/>
          </ac:spMkLst>
        </pc:spChg>
        <pc:spChg chg="mod">
          <ac:chgData name="Bryan Sun" userId="851caa7714272873" providerId="LiveId" clId="{1DF0C224-3A3E-55A6-A8D1-F8F2208D385B}" dt="2026-02-14T12:07:41.087" v="2125"/>
          <ac:spMkLst>
            <pc:docMk/>
            <pc:sldMk cId="4024560761" sldId="345"/>
            <ac:spMk id="35" creationId="{57666189-1F9F-186C-EE53-1D14B546854E}"/>
          </ac:spMkLst>
        </pc:spChg>
        <pc:spChg chg="add mod">
          <ac:chgData name="Bryan Sun" userId="851caa7714272873" providerId="LiveId" clId="{1DF0C224-3A3E-55A6-A8D1-F8F2208D385B}" dt="2026-02-14T12:12:51.493" v="2170" actId="14100"/>
          <ac:spMkLst>
            <pc:docMk/>
            <pc:sldMk cId="4024560761" sldId="345"/>
            <ac:spMk id="53" creationId="{D914C2C7-846D-2400-8804-E1C0F882A328}"/>
          </ac:spMkLst>
        </pc:spChg>
        <pc:spChg chg="add mod">
          <ac:chgData name="Bryan Sun" userId="851caa7714272873" providerId="LiveId" clId="{1DF0C224-3A3E-55A6-A8D1-F8F2208D385B}" dt="2026-02-14T12:13:35.591" v="2185" actId="20577"/>
          <ac:spMkLst>
            <pc:docMk/>
            <pc:sldMk cId="4024560761" sldId="345"/>
            <ac:spMk id="56" creationId="{CB1614E5-E94B-863D-8907-57589AC49A02}"/>
          </ac:spMkLst>
        </pc:spChg>
        <pc:grpChg chg="add mod">
          <ac:chgData name="Bryan Sun" userId="851caa7714272873" providerId="LiveId" clId="{1DF0C224-3A3E-55A6-A8D1-F8F2208D385B}" dt="2026-02-14T12:12:28.130" v="2162" actId="1076"/>
          <ac:grpSpMkLst>
            <pc:docMk/>
            <pc:sldMk cId="4024560761" sldId="345"/>
            <ac:grpSpMk id="24" creationId="{EA29DEBF-7369-7E25-C556-8EF3E5097EB6}"/>
          </ac:grpSpMkLst>
        </pc:grpChg>
        <pc:grpChg chg="add mod">
          <ac:chgData name="Bryan Sun" userId="851caa7714272873" providerId="LiveId" clId="{1DF0C224-3A3E-55A6-A8D1-F8F2208D385B}" dt="2026-02-14T12:12:28.130" v="2162" actId="1076"/>
          <ac:grpSpMkLst>
            <pc:docMk/>
            <pc:sldMk cId="4024560761" sldId="345"/>
            <ac:grpSpMk id="25" creationId="{AA1EE357-5D20-9650-CEB2-17CAE1CBB5B6}"/>
          </ac:grpSpMkLst>
        </pc:grpChg>
        <pc:grpChg chg="add mod">
          <ac:chgData name="Bryan Sun" userId="851caa7714272873" providerId="LiveId" clId="{1DF0C224-3A3E-55A6-A8D1-F8F2208D385B}" dt="2026-02-14T12:12:28.130" v="2162" actId="1076"/>
          <ac:grpSpMkLst>
            <pc:docMk/>
            <pc:sldMk cId="4024560761" sldId="345"/>
            <ac:grpSpMk id="29" creationId="{5334007F-7AD5-8DF7-F88B-D11C75916571}"/>
          </ac:grpSpMkLst>
        </pc:grpChg>
        <pc:grpChg chg="add mod">
          <ac:chgData name="Bryan Sun" userId="851caa7714272873" providerId="LiveId" clId="{1DF0C224-3A3E-55A6-A8D1-F8F2208D385B}" dt="2026-02-14T12:12:28.130" v="2162" actId="1076"/>
          <ac:grpSpMkLst>
            <pc:docMk/>
            <pc:sldMk cId="4024560761" sldId="345"/>
            <ac:grpSpMk id="33" creationId="{1E9990BA-96AF-12F7-F8F6-722B0D0292B4}"/>
          </ac:grpSpMkLst>
        </pc:grpChg>
        <pc:grpChg chg="add">
          <ac:chgData name="Bryan Sun" userId="851caa7714272873" providerId="LiveId" clId="{1DF0C224-3A3E-55A6-A8D1-F8F2208D385B}" dt="2026-02-14T12:14:18.372" v="2190" actId="164"/>
          <ac:grpSpMkLst>
            <pc:docMk/>
            <pc:sldMk cId="4024560761" sldId="345"/>
            <ac:grpSpMk id="62" creationId="{07B534FE-384A-D51A-83EC-0F7EF8F43C9E}"/>
          </ac:grpSpMkLst>
        </pc:grpChg>
        <pc:cxnChg chg="add mod">
          <ac:chgData name="Bryan Sun" userId="851caa7714272873" providerId="LiveId" clId="{1DF0C224-3A3E-55A6-A8D1-F8F2208D385B}" dt="2026-02-14T12:06:44.576" v="2114" actId="14100"/>
          <ac:cxnSpMkLst>
            <pc:docMk/>
            <pc:sldMk cId="4024560761" sldId="345"/>
            <ac:cxnSpMk id="8" creationId="{E760A621-5E27-A29B-4DD5-B2BA58594FD1}"/>
          </ac:cxnSpMkLst>
        </pc:cxnChg>
        <pc:cxnChg chg="mod">
          <ac:chgData name="Bryan Sun" userId="851caa7714272873" providerId="LiveId" clId="{1DF0C224-3A3E-55A6-A8D1-F8F2208D385B}" dt="2026-02-14T12:07:16.343" v="2120"/>
          <ac:cxnSpMkLst>
            <pc:docMk/>
            <pc:sldMk cId="4024560761" sldId="345"/>
            <ac:cxnSpMk id="28" creationId="{E4504779-A027-4D45-B7B1-A0553CE7FC8F}"/>
          </ac:cxnSpMkLst>
        </pc:cxnChg>
        <pc:cxnChg chg="mod">
          <ac:chgData name="Bryan Sun" userId="851caa7714272873" providerId="LiveId" clId="{1DF0C224-3A3E-55A6-A8D1-F8F2208D385B}" dt="2026-02-14T12:07:29.354" v="2122"/>
          <ac:cxnSpMkLst>
            <pc:docMk/>
            <pc:sldMk cId="4024560761" sldId="345"/>
            <ac:cxnSpMk id="32" creationId="{432BA190-9BB7-3BA2-2AE3-91F72DC972A2}"/>
          </ac:cxnSpMkLst>
        </pc:cxnChg>
        <pc:cxnChg chg="mod">
          <ac:chgData name="Bryan Sun" userId="851caa7714272873" providerId="LiveId" clId="{1DF0C224-3A3E-55A6-A8D1-F8F2208D385B}" dt="2026-02-14T12:09:20.413" v="2136" actId="14100"/>
          <ac:cxnSpMkLst>
            <pc:docMk/>
            <pc:sldMk cId="4024560761" sldId="345"/>
            <ac:cxnSpMk id="36" creationId="{8A1CE874-7E66-A6BC-6EC7-3BEEA6F4DECF}"/>
          </ac:cxnSpMkLst>
        </pc:cxnChg>
        <pc:cxnChg chg="add mod">
          <ac:chgData name="Bryan Sun" userId="851caa7714272873" providerId="LiveId" clId="{1DF0C224-3A3E-55A6-A8D1-F8F2208D385B}" dt="2026-02-14T12:12:28.130" v="2162" actId="1076"/>
          <ac:cxnSpMkLst>
            <pc:docMk/>
            <pc:sldMk cId="4024560761" sldId="345"/>
            <ac:cxnSpMk id="40" creationId="{6A3CD83B-ADAC-0CB8-2B69-E7C01F09EA59}"/>
          </ac:cxnSpMkLst>
        </pc:cxnChg>
        <pc:cxnChg chg="add mod">
          <ac:chgData name="Bryan Sun" userId="851caa7714272873" providerId="LiveId" clId="{1DF0C224-3A3E-55A6-A8D1-F8F2208D385B}" dt="2026-02-14T12:12:28.130" v="2162" actId="1076"/>
          <ac:cxnSpMkLst>
            <pc:docMk/>
            <pc:sldMk cId="4024560761" sldId="345"/>
            <ac:cxnSpMk id="46" creationId="{BB18A732-2133-A9BD-ED2C-767AA7EB2666}"/>
          </ac:cxnSpMkLst>
        </pc:cxnChg>
        <pc:cxnChg chg="add mod">
          <ac:chgData name="Bryan Sun" userId="851caa7714272873" providerId="LiveId" clId="{1DF0C224-3A3E-55A6-A8D1-F8F2208D385B}" dt="2026-02-14T12:12:28.130" v="2162" actId="1076"/>
          <ac:cxnSpMkLst>
            <pc:docMk/>
            <pc:sldMk cId="4024560761" sldId="345"/>
            <ac:cxnSpMk id="47" creationId="{3E6874D8-C16A-DA9C-8B73-39E88A3ECE38}"/>
          </ac:cxnSpMkLst>
        </pc:cxnChg>
        <pc:cxnChg chg="add mod">
          <ac:chgData name="Bryan Sun" userId="851caa7714272873" providerId="LiveId" clId="{1DF0C224-3A3E-55A6-A8D1-F8F2208D385B}" dt="2026-02-14T12:12:28.130" v="2162" actId="1076"/>
          <ac:cxnSpMkLst>
            <pc:docMk/>
            <pc:sldMk cId="4024560761" sldId="345"/>
            <ac:cxnSpMk id="49" creationId="{B0EFA973-A8AC-F067-7597-8042BE2F63F5}"/>
          </ac:cxnSpMkLst>
        </pc:cxnChg>
        <pc:cxnChg chg="add mod">
          <ac:chgData name="Bryan Sun" userId="851caa7714272873" providerId="LiveId" clId="{1DF0C224-3A3E-55A6-A8D1-F8F2208D385B}" dt="2026-02-14T12:12:28.130" v="2162" actId="1076"/>
          <ac:cxnSpMkLst>
            <pc:docMk/>
            <pc:sldMk cId="4024560761" sldId="345"/>
            <ac:cxnSpMk id="50" creationId="{4C7894F1-219C-E2C5-3CD4-F876B2AF8314}"/>
          </ac:cxnSpMkLst>
        </pc:cxnChg>
        <pc:cxnChg chg="add mod">
          <ac:chgData name="Bryan Sun" userId="851caa7714272873" providerId="LiveId" clId="{1DF0C224-3A3E-55A6-A8D1-F8F2208D385B}" dt="2026-02-14T12:14:00.374" v="2188" actId="14100"/>
          <ac:cxnSpMkLst>
            <pc:docMk/>
            <pc:sldMk cId="4024560761" sldId="345"/>
            <ac:cxnSpMk id="52" creationId="{3BB7F39C-C0CB-CC59-698C-4A5BA8ED67BE}"/>
          </ac:cxnSpMkLst>
        </pc:cxnChg>
        <pc:cxnChg chg="add mod">
          <ac:chgData name="Bryan Sun" userId="851caa7714272873" providerId="LiveId" clId="{1DF0C224-3A3E-55A6-A8D1-F8F2208D385B}" dt="2026-02-14T12:13:28.014" v="2177" actId="1076"/>
          <ac:cxnSpMkLst>
            <pc:docMk/>
            <pc:sldMk cId="4024560761" sldId="345"/>
            <ac:cxnSpMk id="58" creationId="{C9D725F5-5B25-E659-91D9-2E2F34CF20EB}"/>
          </ac:cxnSpMkLst>
        </pc:cxnChg>
      </pc:sldChg>
      <pc:sldChg chg="addSp delSp modSp mod">
        <pc:chgData name="Bryan Sun" userId="851caa7714272873" providerId="LiveId" clId="{1DF0C224-3A3E-55A6-A8D1-F8F2208D385B}" dt="2026-02-14T12:28:20.072" v="2405" actId="20577"/>
        <pc:sldMkLst>
          <pc:docMk/>
          <pc:sldMk cId="4032663067" sldId="346"/>
        </pc:sldMkLst>
        <pc:spChg chg="add mod">
          <ac:chgData name="Bryan Sun" userId="851caa7714272873" providerId="LiveId" clId="{1DF0C224-3A3E-55A6-A8D1-F8F2208D385B}" dt="2026-02-14T12:21:10.598" v="2286" actId="1076"/>
          <ac:spMkLst>
            <pc:docMk/>
            <pc:sldMk cId="4032663067" sldId="346"/>
            <ac:spMk id="5" creationId="{02463690-FD4F-385A-AFC8-CD03D12EFE1B}"/>
          </ac:spMkLst>
        </pc:spChg>
        <pc:spChg chg="add mod">
          <ac:chgData name="Bryan Sun" userId="851caa7714272873" providerId="LiveId" clId="{1DF0C224-3A3E-55A6-A8D1-F8F2208D385B}" dt="2026-02-14T12:21:08.906" v="2285" actId="1076"/>
          <ac:spMkLst>
            <pc:docMk/>
            <pc:sldMk cId="4032663067" sldId="346"/>
            <ac:spMk id="6" creationId="{6FA80DD8-7FBD-742C-19E5-F5E0DC35C9B0}"/>
          </ac:spMkLst>
        </pc:spChg>
        <pc:spChg chg="add mod">
          <ac:chgData name="Bryan Sun" userId="851caa7714272873" providerId="LiveId" clId="{1DF0C224-3A3E-55A6-A8D1-F8F2208D385B}" dt="2026-02-14T12:19:26.739" v="2268" actId="1076"/>
          <ac:spMkLst>
            <pc:docMk/>
            <pc:sldMk cId="4032663067" sldId="346"/>
            <ac:spMk id="7" creationId="{ABE8E5FC-78C0-97C5-BD8B-BD206C53A8FC}"/>
          </ac:spMkLst>
        </pc:spChg>
        <pc:spChg chg="add mod">
          <ac:chgData name="Bryan Sun" userId="851caa7714272873" providerId="LiveId" clId="{1DF0C224-3A3E-55A6-A8D1-F8F2208D385B}" dt="2026-02-14T12:19:43.668" v="2270" actId="1076"/>
          <ac:spMkLst>
            <pc:docMk/>
            <pc:sldMk cId="4032663067" sldId="346"/>
            <ac:spMk id="8" creationId="{68B42F4E-059D-F9BC-F5FA-F4272AB1F454}"/>
          </ac:spMkLst>
        </pc:spChg>
        <pc:spChg chg="add mod">
          <ac:chgData name="Bryan Sun" userId="851caa7714272873" providerId="LiveId" clId="{1DF0C224-3A3E-55A6-A8D1-F8F2208D385B}" dt="2026-02-14T12:28:06.667" v="2398" actId="6549"/>
          <ac:spMkLst>
            <pc:docMk/>
            <pc:sldMk cId="4032663067" sldId="346"/>
            <ac:spMk id="9" creationId="{A36485E4-B1B5-EA56-6E53-E6A3E4D915A4}"/>
          </ac:spMkLst>
        </pc:spChg>
        <pc:spChg chg="add mod">
          <ac:chgData name="Bryan Sun" userId="851caa7714272873" providerId="LiveId" clId="{1DF0C224-3A3E-55A6-A8D1-F8F2208D385B}" dt="2026-02-14T12:28:07.862" v="2400" actId="6549"/>
          <ac:spMkLst>
            <pc:docMk/>
            <pc:sldMk cId="4032663067" sldId="346"/>
            <ac:spMk id="11" creationId="{127067CE-C5EA-9D88-F269-7D57B4A6154F}"/>
          </ac:spMkLst>
        </pc:spChg>
        <pc:spChg chg="add mod">
          <ac:chgData name="Bryan Sun" userId="851caa7714272873" providerId="LiveId" clId="{1DF0C224-3A3E-55A6-A8D1-F8F2208D385B}" dt="2026-02-14T12:28:17.810" v="2404" actId="20577"/>
          <ac:spMkLst>
            <pc:docMk/>
            <pc:sldMk cId="4032663067" sldId="346"/>
            <ac:spMk id="12" creationId="{C394CCD9-877B-2F49-86EA-EC0D2FBE39D2}"/>
          </ac:spMkLst>
        </pc:spChg>
        <pc:spChg chg="add mod">
          <ac:chgData name="Bryan Sun" userId="851caa7714272873" providerId="LiveId" clId="{1DF0C224-3A3E-55A6-A8D1-F8F2208D385B}" dt="2026-02-14T12:28:20.072" v="2405" actId="20577"/>
          <ac:spMkLst>
            <pc:docMk/>
            <pc:sldMk cId="4032663067" sldId="346"/>
            <ac:spMk id="13" creationId="{3B892B99-F5D0-1FE3-3278-CD6CA26413B2}"/>
          </ac:spMkLst>
        </pc:spChg>
        <pc:spChg chg="add mod">
          <ac:chgData name="Bryan Sun" userId="851caa7714272873" providerId="LiveId" clId="{1DF0C224-3A3E-55A6-A8D1-F8F2208D385B}" dt="2026-02-14T12:28:11.378" v="2402" actId="6549"/>
          <ac:spMkLst>
            <pc:docMk/>
            <pc:sldMk cId="4032663067" sldId="346"/>
            <ac:spMk id="14" creationId="{B53AA6AE-089B-3E04-FE4F-51374AD2AC08}"/>
          </ac:spMkLst>
        </pc:spChg>
        <pc:spChg chg="add mod">
          <ac:chgData name="Bryan Sun" userId="851caa7714272873" providerId="LiveId" clId="{1DF0C224-3A3E-55A6-A8D1-F8F2208D385B}" dt="2026-02-14T12:28:14.355" v="2403" actId="20577"/>
          <ac:spMkLst>
            <pc:docMk/>
            <pc:sldMk cId="4032663067" sldId="346"/>
            <ac:spMk id="15" creationId="{C9386634-B56E-D908-DCD0-2C3764A42C62}"/>
          </ac:spMkLst>
        </pc:spChg>
        <pc:spChg chg="add mod">
          <ac:chgData name="Bryan Sun" userId="851caa7714272873" providerId="LiveId" clId="{1DF0C224-3A3E-55A6-A8D1-F8F2208D385B}" dt="2026-02-14T12:22:18.142" v="2307" actId="1076"/>
          <ac:spMkLst>
            <pc:docMk/>
            <pc:sldMk cId="4032663067" sldId="346"/>
            <ac:spMk id="22" creationId="{512F5A4E-E21D-0EC5-48E0-900875C5A62B}"/>
          </ac:spMkLst>
        </pc:spChg>
        <pc:spChg chg="add mod">
          <ac:chgData name="Bryan Sun" userId="851caa7714272873" providerId="LiveId" clId="{1DF0C224-3A3E-55A6-A8D1-F8F2208D385B}" dt="2026-02-14T12:22:35.825" v="2317" actId="14100"/>
          <ac:spMkLst>
            <pc:docMk/>
            <pc:sldMk cId="4032663067" sldId="346"/>
            <ac:spMk id="24" creationId="{D2794CE1-5573-F49A-B1D7-1A0AAA6524D4}"/>
          </ac:spMkLst>
        </pc:spChg>
        <pc:spChg chg="add mod">
          <ac:chgData name="Bryan Sun" userId="851caa7714272873" providerId="LiveId" clId="{1DF0C224-3A3E-55A6-A8D1-F8F2208D385B}" dt="2026-02-14T12:23:32.278" v="2331" actId="1076"/>
          <ac:spMkLst>
            <pc:docMk/>
            <pc:sldMk cId="4032663067" sldId="346"/>
            <ac:spMk id="27" creationId="{17747470-71C2-3215-D134-19F330E76102}"/>
          </ac:spMkLst>
        </pc:spChg>
        <pc:spChg chg="add mod">
          <ac:chgData name="Bryan Sun" userId="851caa7714272873" providerId="LiveId" clId="{1DF0C224-3A3E-55A6-A8D1-F8F2208D385B}" dt="2026-02-14T12:23:35.573" v="2332" actId="1076"/>
          <ac:spMkLst>
            <pc:docMk/>
            <pc:sldMk cId="4032663067" sldId="346"/>
            <ac:spMk id="28" creationId="{26DF1BC3-9A75-AF80-3FAC-37329ADB3CBD}"/>
          </ac:spMkLst>
        </pc:spChg>
        <pc:spChg chg="add mod">
          <ac:chgData name="Bryan Sun" userId="851caa7714272873" providerId="LiveId" clId="{1DF0C224-3A3E-55A6-A8D1-F8F2208D385B}" dt="2026-02-14T12:23:50.819" v="2334" actId="1076"/>
          <ac:spMkLst>
            <pc:docMk/>
            <pc:sldMk cId="4032663067" sldId="346"/>
            <ac:spMk id="41" creationId="{B9E02116-767C-8C83-DA85-7BE4C7375FD8}"/>
          </ac:spMkLst>
        </pc:spChg>
        <pc:spChg chg="add mod">
          <ac:chgData name="Bryan Sun" userId="851caa7714272873" providerId="LiveId" clId="{1DF0C224-3A3E-55A6-A8D1-F8F2208D385B}" dt="2026-02-14T12:23:50.819" v="2334" actId="1076"/>
          <ac:spMkLst>
            <pc:docMk/>
            <pc:sldMk cId="4032663067" sldId="346"/>
            <ac:spMk id="42" creationId="{B3754533-F8A2-82DD-CEC6-834D1A45C734}"/>
          </ac:spMkLst>
        </pc:spChg>
        <pc:spChg chg="add mod">
          <ac:chgData name="Bryan Sun" userId="851caa7714272873" providerId="LiveId" clId="{1DF0C224-3A3E-55A6-A8D1-F8F2208D385B}" dt="2026-02-14T12:26:14.199" v="2366" actId="1035"/>
          <ac:spMkLst>
            <pc:docMk/>
            <pc:sldMk cId="4032663067" sldId="346"/>
            <ac:spMk id="45" creationId="{51478282-A42A-7788-1E85-E7B565E7D929}"/>
          </ac:spMkLst>
        </pc:spChg>
        <pc:spChg chg="add mod">
          <ac:chgData name="Bryan Sun" userId="851caa7714272873" providerId="LiveId" clId="{1DF0C224-3A3E-55A6-A8D1-F8F2208D385B}" dt="2026-02-14T12:26:14.199" v="2366" actId="1035"/>
          <ac:spMkLst>
            <pc:docMk/>
            <pc:sldMk cId="4032663067" sldId="346"/>
            <ac:spMk id="46" creationId="{856C5C5E-66F5-DA00-D5A4-42701690C9AB}"/>
          </ac:spMkLst>
        </pc:spChg>
        <pc:spChg chg="add mod">
          <ac:chgData name="Bryan Sun" userId="851caa7714272873" providerId="LiveId" clId="{1DF0C224-3A3E-55A6-A8D1-F8F2208D385B}" dt="2026-02-14T12:24:02.173" v="2338" actId="1076"/>
          <ac:spMkLst>
            <pc:docMk/>
            <pc:sldMk cId="4032663067" sldId="346"/>
            <ac:spMk id="49" creationId="{467A9B76-21DE-9779-4381-73EBF45C9A12}"/>
          </ac:spMkLst>
        </pc:spChg>
        <pc:spChg chg="add mod">
          <ac:chgData name="Bryan Sun" userId="851caa7714272873" providerId="LiveId" clId="{1DF0C224-3A3E-55A6-A8D1-F8F2208D385B}" dt="2026-02-14T12:26:51.763" v="2373" actId="1076"/>
          <ac:spMkLst>
            <pc:docMk/>
            <pc:sldMk cId="4032663067" sldId="346"/>
            <ac:spMk id="50" creationId="{FD3A29DC-54C8-619E-63CB-C35B878C2620}"/>
          </ac:spMkLst>
        </pc:spChg>
        <pc:spChg chg="add mod">
          <ac:chgData name="Bryan Sun" userId="851caa7714272873" providerId="LiveId" clId="{1DF0C224-3A3E-55A6-A8D1-F8F2208D385B}" dt="2026-02-14T12:25:37.362" v="2354" actId="1076"/>
          <ac:spMkLst>
            <pc:docMk/>
            <pc:sldMk cId="4032663067" sldId="346"/>
            <ac:spMk id="53" creationId="{9D781094-0D1D-3CB8-CB25-89472825BCDC}"/>
          </ac:spMkLst>
        </pc:spChg>
        <pc:spChg chg="add mod">
          <ac:chgData name="Bryan Sun" userId="851caa7714272873" providerId="LiveId" clId="{1DF0C224-3A3E-55A6-A8D1-F8F2208D385B}" dt="2026-02-14T12:26:23.663" v="2369" actId="1076"/>
          <ac:spMkLst>
            <pc:docMk/>
            <pc:sldMk cId="4032663067" sldId="346"/>
            <ac:spMk id="54" creationId="{D1C45A3D-88A1-30FA-EEBE-C0410178B730}"/>
          </ac:spMkLst>
        </pc:spChg>
        <pc:spChg chg="add mod">
          <ac:chgData name="Bryan Sun" userId="851caa7714272873" providerId="LiveId" clId="{1DF0C224-3A3E-55A6-A8D1-F8F2208D385B}" dt="2026-02-14T12:25:51.220" v="2357" actId="1076"/>
          <ac:spMkLst>
            <pc:docMk/>
            <pc:sldMk cId="4032663067" sldId="346"/>
            <ac:spMk id="70" creationId="{D5CE8DC3-80E7-BBEB-54B1-756F96E0C3A9}"/>
          </ac:spMkLst>
        </pc:spChg>
        <pc:spChg chg="add mod">
          <ac:chgData name="Bryan Sun" userId="851caa7714272873" providerId="LiveId" clId="{1DF0C224-3A3E-55A6-A8D1-F8F2208D385B}" dt="2026-02-14T12:25:51.220" v="2357" actId="1076"/>
          <ac:spMkLst>
            <pc:docMk/>
            <pc:sldMk cId="4032663067" sldId="346"/>
            <ac:spMk id="71" creationId="{FDB61EB9-EAD3-682A-8CD3-289218AB5816}"/>
          </ac:spMkLst>
        </pc:spChg>
        <pc:spChg chg="add mod">
          <ac:chgData name="Bryan Sun" userId="851caa7714272873" providerId="LiveId" clId="{1DF0C224-3A3E-55A6-A8D1-F8F2208D385B}" dt="2026-02-14T12:26:00.119" v="2359" actId="1076"/>
          <ac:spMkLst>
            <pc:docMk/>
            <pc:sldMk cId="4032663067" sldId="346"/>
            <ac:spMk id="74" creationId="{DC156237-BDAC-4023-4275-0F53A0C11204}"/>
          </ac:spMkLst>
        </pc:spChg>
        <pc:spChg chg="add mod">
          <ac:chgData name="Bryan Sun" userId="851caa7714272873" providerId="LiveId" clId="{1DF0C224-3A3E-55A6-A8D1-F8F2208D385B}" dt="2026-02-14T12:26:00.119" v="2359" actId="1076"/>
          <ac:spMkLst>
            <pc:docMk/>
            <pc:sldMk cId="4032663067" sldId="346"/>
            <ac:spMk id="75" creationId="{F4A4FE07-9AD5-615A-858E-CB38388CBDA0}"/>
          </ac:spMkLst>
        </pc:spChg>
        <pc:spChg chg="add mod">
          <ac:chgData name="Bryan Sun" userId="851caa7714272873" providerId="LiveId" clId="{1DF0C224-3A3E-55A6-A8D1-F8F2208D385B}" dt="2026-02-14T12:26:38.743" v="2372" actId="1076"/>
          <ac:spMkLst>
            <pc:docMk/>
            <pc:sldMk cId="4032663067" sldId="346"/>
            <ac:spMk id="82" creationId="{2F392656-E709-6158-98DD-17C544E4B43E}"/>
          </ac:spMkLst>
        </pc:spChg>
        <pc:spChg chg="add mod">
          <ac:chgData name="Bryan Sun" userId="851caa7714272873" providerId="LiveId" clId="{1DF0C224-3A3E-55A6-A8D1-F8F2208D385B}" dt="2026-02-14T12:26:38.743" v="2372" actId="1076"/>
          <ac:spMkLst>
            <pc:docMk/>
            <pc:sldMk cId="4032663067" sldId="346"/>
            <ac:spMk id="83" creationId="{BF757EA7-BFD4-195B-8AF9-22C823C9C486}"/>
          </ac:spMkLst>
        </pc:spChg>
        <pc:grpChg chg="add mod">
          <ac:chgData name="Bryan Sun" userId="851caa7714272873" providerId="LiveId" clId="{1DF0C224-3A3E-55A6-A8D1-F8F2208D385B}" dt="2026-02-14T12:28:04.353" v="2394" actId="1076"/>
          <ac:grpSpMkLst>
            <pc:docMk/>
            <pc:sldMk cId="4032663067" sldId="346"/>
            <ac:grpSpMk id="84" creationId="{B7CACDC7-DC78-6ED8-8EF5-F3B48CBB65D3}"/>
          </ac:grpSpMkLst>
        </pc:grpChg>
        <pc:cxnChg chg="add mod">
          <ac:chgData name="Bryan Sun" userId="851caa7714272873" providerId="LiveId" clId="{1DF0C224-3A3E-55A6-A8D1-F8F2208D385B}" dt="2026-02-14T12:21:14.657" v="2287" actId="14100"/>
          <ac:cxnSpMkLst>
            <pc:docMk/>
            <pc:sldMk cId="4032663067" sldId="346"/>
            <ac:cxnSpMk id="17" creationId="{1B22884D-78D7-1109-BB5B-B6C1F520F102}"/>
          </ac:cxnSpMkLst>
        </pc:cxnChg>
        <pc:cxnChg chg="add mod">
          <ac:chgData name="Bryan Sun" userId="851caa7714272873" providerId="LiveId" clId="{1DF0C224-3A3E-55A6-A8D1-F8F2208D385B}" dt="2026-02-14T12:21:31.850" v="2291" actId="14100"/>
          <ac:cxnSpMkLst>
            <pc:docMk/>
            <pc:sldMk cId="4032663067" sldId="346"/>
            <ac:cxnSpMk id="19" creationId="{24485B3E-D728-E2B3-4BC9-8567B79EF9A5}"/>
          </ac:cxnSpMkLst>
        </pc:cxnChg>
        <pc:cxnChg chg="add mod">
          <ac:chgData name="Bryan Sun" userId="851caa7714272873" providerId="LiveId" clId="{1DF0C224-3A3E-55A6-A8D1-F8F2208D385B}" dt="2026-02-14T12:23:28.360" v="2330" actId="14100"/>
          <ac:cxnSpMkLst>
            <pc:docMk/>
            <pc:sldMk cId="4032663067" sldId="346"/>
            <ac:cxnSpMk id="25" creationId="{447C449F-8EA1-0367-797F-E840A11B8704}"/>
          </ac:cxnSpMkLst>
        </pc:cxnChg>
        <pc:cxnChg chg="add mod">
          <ac:chgData name="Bryan Sun" userId="851caa7714272873" providerId="LiveId" clId="{1DF0C224-3A3E-55A6-A8D1-F8F2208D385B}" dt="2026-02-14T12:23:14.943" v="2327" actId="14100"/>
          <ac:cxnSpMkLst>
            <pc:docMk/>
            <pc:sldMk cId="4032663067" sldId="346"/>
            <ac:cxnSpMk id="26" creationId="{244D890A-8A7F-EF41-99FF-902BF1D4E811}"/>
          </ac:cxnSpMkLst>
        </pc:cxnChg>
        <pc:cxnChg chg="add mod">
          <ac:chgData name="Bryan Sun" userId="851caa7714272873" providerId="LiveId" clId="{1DF0C224-3A3E-55A6-A8D1-F8F2208D385B}" dt="2026-02-14T12:23:50.819" v="2334" actId="1076"/>
          <ac:cxnSpMkLst>
            <pc:docMk/>
            <pc:sldMk cId="4032663067" sldId="346"/>
            <ac:cxnSpMk id="39" creationId="{22AC87FB-D626-DD95-7035-A2401ECD1CC1}"/>
          </ac:cxnSpMkLst>
        </pc:cxnChg>
        <pc:cxnChg chg="add mod">
          <ac:chgData name="Bryan Sun" userId="851caa7714272873" providerId="LiveId" clId="{1DF0C224-3A3E-55A6-A8D1-F8F2208D385B}" dt="2026-02-14T12:23:50.819" v="2334" actId="1076"/>
          <ac:cxnSpMkLst>
            <pc:docMk/>
            <pc:sldMk cId="4032663067" sldId="346"/>
            <ac:cxnSpMk id="40" creationId="{220F18CA-95C8-F6CC-A669-F8F57B4D1F86}"/>
          </ac:cxnSpMkLst>
        </pc:cxnChg>
        <pc:cxnChg chg="add mod">
          <ac:chgData name="Bryan Sun" userId="851caa7714272873" providerId="LiveId" clId="{1DF0C224-3A3E-55A6-A8D1-F8F2208D385B}" dt="2026-02-14T12:26:14.199" v="2366" actId="1035"/>
          <ac:cxnSpMkLst>
            <pc:docMk/>
            <pc:sldMk cId="4032663067" sldId="346"/>
            <ac:cxnSpMk id="43" creationId="{3B57A3FE-66B3-FF8F-FF05-ABB7DAF9AB6B}"/>
          </ac:cxnSpMkLst>
        </pc:cxnChg>
        <pc:cxnChg chg="add mod">
          <ac:chgData name="Bryan Sun" userId="851caa7714272873" providerId="LiveId" clId="{1DF0C224-3A3E-55A6-A8D1-F8F2208D385B}" dt="2026-02-14T12:26:14.199" v="2366" actId="1035"/>
          <ac:cxnSpMkLst>
            <pc:docMk/>
            <pc:sldMk cId="4032663067" sldId="346"/>
            <ac:cxnSpMk id="44" creationId="{364B591D-1D79-BF72-F784-B6048EF0E0CA}"/>
          </ac:cxnSpMkLst>
        </pc:cxnChg>
        <pc:cxnChg chg="add mod">
          <ac:chgData name="Bryan Sun" userId="851caa7714272873" providerId="LiveId" clId="{1DF0C224-3A3E-55A6-A8D1-F8F2208D385B}" dt="2026-02-14T12:24:02.173" v="2338" actId="1076"/>
          <ac:cxnSpMkLst>
            <pc:docMk/>
            <pc:sldMk cId="4032663067" sldId="346"/>
            <ac:cxnSpMk id="47" creationId="{256060F1-2C4A-1297-45E9-B0EEA406C5E7}"/>
          </ac:cxnSpMkLst>
        </pc:cxnChg>
        <pc:cxnChg chg="add mod">
          <ac:chgData name="Bryan Sun" userId="851caa7714272873" providerId="LiveId" clId="{1DF0C224-3A3E-55A6-A8D1-F8F2208D385B}" dt="2026-02-14T12:24:02.173" v="2338" actId="1076"/>
          <ac:cxnSpMkLst>
            <pc:docMk/>
            <pc:sldMk cId="4032663067" sldId="346"/>
            <ac:cxnSpMk id="48" creationId="{63231392-DA29-C546-2227-5B1D61A48C0C}"/>
          </ac:cxnSpMkLst>
        </pc:cxnChg>
        <pc:cxnChg chg="add mod">
          <ac:chgData name="Bryan Sun" userId="851caa7714272873" providerId="LiveId" clId="{1DF0C224-3A3E-55A6-A8D1-F8F2208D385B}" dt="2026-02-14T12:25:20.743" v="2351" actId="14100"/>
          <ac:cxnSpMkLst>
            <pc:docMk/>
            <pc:sldMk cId="4032663067" sldId="346"/>
            <ac:cxnSpMk id="51" creationId="{5717B8CC-58FF-F485-B43B-4549D0BA1D59}"/>
          </ac:cxnSpMkLst>
        </pc:cxnChg>
        <pc:cxnChg chg="add mod">
          <ac:chgData name="Bryan Sun" userId="851caa7714272873" providerId="LiveId" clId="{1DF0C224-3A3E-55A6-A8D1-F8F2208D385B}" dt="2026-02-14T12:25:33.711" v="2353" actId="14100"/>
          <ac:cxnSpMkLst>
            <pc:docMk/>
            <pc:sldMk cId="4032663067" sldId="346"/>
            <ac:cxnSpMk id="52" creationId="{E1CE71A0-AD56-E097-2900-2EFE4AAF2AB0}"/>
          </ac:cxnSpMkLst>
        </pc:cxnChg>
        <pc:cxnChg chg="add mod">
          <ac:chgData name="Bryan Sun" userId="851caa7714272873" providerId="LiveId" clId="{1DF0C224-3A3E-55A6-A8D1-F8F2208D385B}" dt="2026-02-14T12:25:51.220" v="2357" actId="1076"/>
          <ac:cxnSpMkLst>
            <pc:docMk/>
            <pc:sldMk cId="4032663067" sldId="346"/>
            <ac:cxnSpMk id="68" creationId="{92E08FE6-EF2E-2167-B7BE-D6987A625A0F}"/>
          </ac:cxnSpMkLst>
        </pc:cxnChg>
        <pc:cxnChg chg="add mod">
          <ac:chgData name="Bryan Sun" userId="851caa7714272873" providerId="LiveId" clId="{1DF0C224-3A3E-55A6-A8D1-F8F2208D385B}" dt="2026-02-14T12:25:51.220" v="2357" actId="1076"/>
          <ac:cxnSpMkLst>
            <pc:docMk/>
            <pc:sldMk cId="4032663067" sldId="346"/>
            <ac:cxnSpMk id="69" creationId="{8E3D49B9-1DB4-1D5C-ED84-5213A99370F6}"/>
          </ac:cxnSpMkLst>
        </pc:cxnChg>
        <pc:cxnChg chg="add mod">
          <ac:chgData name="Bryan Sun" userId="851caa7714272873" providerId="LiveId" clId="{1DF0C224-3A3E-55A6-A8D1-F8F2208D385B}" dt="2026-02-14T12:26:00.119" v="2359" actId="1076"/>
          <ac:cxnSpMkLst>
            <pc:docMk/>
            <pc:sldMk cId="4032663067" sldId="346"/>
            <ac:cxnSpMk id="72" creationId="{359FEB71-7B76-6375-557C-E77ECE7978F0}"/>
          </ac:cxnSpMkLst>
        </pc:cxnChg>
        <pc:cxnChg chg="add mod">
          <ac:chgData name="Bryan Sun" userId="851caa7714272873" providerId="LiveId" clId="{1DF0C224-3A3E-55A6-A8D1-F8F2208D385B}" dt="2026-02-14T12:26:00.119" v="2359" actId="1076"/>
          <ac:cxnSpMkLst>
            <pc:docMk/>
            <pc:sldMk cId="4032663067" sldId="346"/>
            <ac:cxnSpMk id="73" creationId="{49564D37-3D17-B27E-3084-C393F0D9D47A}"/>
          </ac:cxnSpMkLst>
        </pc:cxnChg>
        <pc:cxnChg chg="add mod">
          <ac:chgData name="Bryan Sun" userId="851caa7714272873" providerId="LiveId" clId="{1DF0C224-3A3E-55A6-A8D1-F8F2208D385B}" dt="2026-02-14T12:26:38.743" v="2372" actId="1076"/>
          <ac:cxnSpMkLst>
            <pc:docMk/>
            <pc:sldMk cId="4032663067" sldId="346"/>
            <ac:cxnSpMk id="80" creationId="{A890115B-FD7E-58FC-1D66-BDF4338B77A0}"/>
          </ac:cxnSpMkLst>
        </pc:cxnChg>
        <pc:cxnChg chg="add mod">
          <ac:chgData name="Bryan Sun" userId="851caa7714272873" providerId="LiveId" clId="{1DF0C224-3A3E-55A6-A8D1-F8F2208D385B}" dt="2026-02-14T12:26:38.743" v="2372" actId="1076"/>
          <ac:cxnSpMkLst>
            <pc:docMk/>
            <pc:sldMk cId="4032663067" sldId="346"/>
            <ac:cxnSpMk id="81" creationId="{5911878F-261B-5C53-DAE8-3CC082610A1C}"/>
          </ac:cxnSpMkLst>
        </pc:cxnChg>
      </pc:sldChg>
      <pc:sldChg chg="modSp mod">
        <pc:chgData name="Bryan Sun" userId="851caa7714272873" providerId="LiveId" clId="{1DF0C224-3A3E-55A6-A8D1-F8F2208D385B}" dt="2026-02-14T12:28:42.700" v="2408" actId="1076"/>
        <pc:sldMkLst>
          <pc:docMk/>
          <pc:sldMk cId="1647250319" sldId="347"/>
        </pc:sldMkLst>
        <pc:spChg chg="mod">
          <ac:chgData name="Bryan Sun" userId="851caa7714272873" providerId="LiveId" clId="{1DF0C224-3A3E-55A6-A8D1-F8F2208D385B}" dt="2026-02-14T12:28:36.488" v="2406" actId="404"/>
          <ac:spMkLst>
            <pc:docMk/>
            <pc:sldMk cId="1647250319" sldId="347"/>
            <ac:spMk id="3" creationId="{364B6489-5513-4724-81F7-F874B8C60D21}"/>
          </ac:spMkLst>
        </pc:spChg>
        <pc:picChg chg="mod">
          <ac:chgData name="Bryan Sun" userId="851caa7714272873" providerId="LiveId" clId="{1DF0C224-3A3E-55A6-A8D1-F8F2208D385B}" dt="2026-02-14T12:28:42.700" v="2408" actId="1076"/>
          <ac:picMkLst>
            <pc:docMk/>
            <pc:sldMk cId="1647250319" sldId="347"/>
            <ac:picMk id="4" creationId="{9A179EAB-3BC4-FDD9-3E7F-4F565CCAFD25}"/>
          </ac:picMkLst>
        </pc:picChg>
      </pc:sldChg>
      <pc:sldChg chg="modSp mod">
        <pc:chgData name="Bryan Sun" userId="851caa7714272873" providerId="LiveId" clId="{1DF0C224-3A3E-55A6-A8D1-F8F2208D385B}" dt="2026-02-14T12:31:31.830" v="2412" actId="20577"/>
        <pc:sldMkLst>
          <pc:docMk/>
          <pc:sldMk cId="3415694605" sldId="351"/>
        </pc:sldMkLst>
        <pc:spChg chg="mod">
          <ac:chgData name="Bryan Sun" userId="851caa7714272873" providerId="LiveId" clId="{1DF0C224-3A3E-55A6-A8D1-F8F2208D385B}" dt="2026-02-14T12:31:31.830" v="2412" actId="20577"/>
          <ac:spMkLst>
            <pc:docMk/>
            <pc:sldMk cId="3415694605" sldId="351"/>
            <ac:spMk id="7" creationId="{2D61C9F3-5129-46A0-8929-EC4C9B3905EB}"/>
          </ac:spMkLst>
        </pc:spChg>
      </pc:sldChg>
      <pc:sldChg chg="modSp modAnim">
        <pc:chgData name="Bryan Sun" userId="851caa7714272873" providerId="LiveId" clId="{1DF0C224-3A3E-55A6-A8D1-F8F2208D385B}" dt="2026-02-14T12:41:04.605" v="2464" actId="6549"/>
        <pc:sldMkLst>
          <pc:docMk/>
          <pc:sldMk cId="557485896" sldId="353"/>
        </pc:sldMkLst>
        <pc:spChg chg="mod">
          <ac:chgData name="Bryan Sun" userId="851caa7714272873" providerId="LiveId" clId="{1DF0C224-3A3E-55A6-A8D1-F8F2208D385B}" dt="2026-02-14T12:41:04.605" v="2464" actId="6549"/>
          <ac:spMkLst>
            <pc:docMk/>
            <pc:sldMk cId="557485896" sldId="353"/>
            <ac:spMk id="6" creationId="{4B53BB9B-7F6C-4FAC-B0E3-DDCC1B520994}"/>
          </ac:spMkLst>
        </pc:spChg>
      </pc:sldChg>
      <pc:sldChg chg="modSp mod">
        <pc:chgData name="Bryan Sun" userId="851caa7714272873" providerId="LiveId" clId="{1DF0C224-3A3E-55A6-A8D1-F8F2208D385B}" dt="2026-02-14T23:35:56.390" v="2942" actId="6549"/>
        <pc:sldMkLst>
          <pc:docMk/>
          <pc:sldMk cId="3879138800" sldId="354"/>
        </pc:sldMkLst>
        <pc:spChg chg="mod">
          <ac:chgData name="Bryan Sun" userId="851caa7714272873" providerId="LiveId" clId="{1DF0C224-3A3E-55A6-A8D1-F8F2208D385B}" dt="2026-02-14T23:35:56.390" v="2942" actId="6549"/>
          <ac:spMkLst>
            <pc:docMk/>
            <pc:sldMk cId="3879138800" sldId="354"/>
            <ac:spMk id="3" creationId="{364B6489-5513-4724-81F7-F874B8C60D21}"/>
          </ac:spMkLst>
        </pc:spChg>
      </pc:sldChg>
      <pc:sldChg chg="modSp mod">
        <pc:chgData name="Bryan Sun" userId="851caa7714272873" providerId="LiveId" clId="{1DF0C224-3A3E-55A6-A8D1-F8F2208D385B}" dt="2026-02-14T12:57:34.873" v="2468" actId="20577"/>
        <pc:sldMkLst>
          <pc:docMk/>
          <pc:sldMk cId="1189761346" sldId="356"/>
        </pc:sldMkLst>
        <pc:spChg chg="mod">
          <ac:chgData name="Bryan Sun" userId="851caa7714272873" providerId="LiveId" clId="{1DF0C224-3A3E-55A6-A8D1-F8F2208D385B}" dt="2026-02-14T12:57:34.873" v="2468" actId="20577"/>
          <ac:spMkLst>
            <pc:docMk/>
            <pc:sldMk cId="1189761346" sldId="356"/>
            <ac:spMk id="2" creationId="{42D00FBD-1222-496C-8A0C-0B68A7CB6094}"/>
          </ac:spMkLst>
        </pc:spChg>
      </pc:sldChg>
      <pc:sldChg chg="modSp mod">
        <pc:chgData name="Bryan Sun" userId="851caa7714272873" providerId="LiveId" clId="{1DF0C224-3A3E-55A6-A8D1-F8F2208D385B}" dt="2026-02-15T02:08:09.445" v="2946" actId="20577"/>
        <pc:sldMkLst>
          <pc:docMk/>
          <pc:sldMk cId="289359570" sldId="357"/>
        </pc:sldMkLst>
        <pc:spChg chg="mod">
          <ac:chgData name="Bryan Sun" userId="851caa7714272873" providerId="LiveId" clId="{1DF0C224-3A3E-55A6-A8D1-F8F2208D385B}" dt="2026-02-15T02:08:09.445" v="2946" actId="20577"/>
          <ac:spMkLst>
            <pc:docMk/>
            <pc:sldMk cId="289359570" sldId="357"/>
            <ac:spMk id="2" creationId="{42D00FBD-1222-496C-8A0C-0B68A7CB6094}"/>
          </ac:spMkLst>
        </pc:spChg>
      </pc:sldChg>
      <pc:sldChg chg="modSp mod">
        <pc:chgData name="Bryan Sun" userId="851caa7714272873" providerId="LiveId" clId="{1DF0C224-3A3E-55A6-A8D1-F8F2208D385B}" dt="2026-02-15T02:17:39.958" v="2966" actId="20577"/>
        <pc:sldMkLst>
          <pc:docMk/>
          <pc:sldMk cId="3736921733" sldId="359"/>
        </pc:sldMkLst>
        <pc:spChg chg="mod">
          <ac:chgData name="Bryan Sun" userId="851caa7714272873" providerId="LiveId" clId="{1DF0C224-3A3E-55A6-A8D1-F8F2208D385B}" dt="2026-02-15T02:17:39.958" v="2966" actId="20577"/>
          <ac:spMkLst>
            <pc:docMk/>
            <pc:sldMk cId="3736921733" sldId="359"/>
            <ac:spMk id="3" creationId="{364B6489-5513-4724-81F7-F874B8C60D21}"/>
          </ac:spMkLst>
        </pc:spChg>
      </pc:sldChg>
      <pc:sldChg chg="modSp mod">
        <pc:chgData name="Bryan Sun" userId="851caa7714272873" providerId="LiveId" clId="{1DF0C224-3A3E-55A6-A8D1-F8F2208D385B}" dt="2026-02-21T23:59:49.784" v="2969" actId="6549"/>
        <pc:sldMkLst>
          <pc:docMk/>
          <pc:sldMk cId="2179446190" sldId="362"/>
        </pc:sldMkLst>
        <pc:spChg chg="mod">
          <ac:chgData name="Bryan Sun" userId="851caa7714272873" providerId="LiveId" clId="{1DF0C224-3A3E-55A6-A8D1-F8F2208D385B}" dt="2026-02-21T23:59:49.784" v="2969" actId="6549"/>
          <ac:spMkLst>
            <pc:docMk/>
            <pc:sldMk cId="2179446190" sldId="362"/>
            <ac:spMk id="2" creationId="{42D00FBD-1222-496C-8A0C-0B68A7CB6094}"/>
          </ac:spMkLst>
        </pc:spChg>
      </pc:sldChg>
    </pc:docChg>
  </pc:docChgLst>
</pc:chgInfo>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18-08-15T10:30:29.422"/>
    </inkml:context>
    <inkml:brush xml:id="br0">
      <inkml:brushProperty name="width" value="0.05292" units="cm"/>
      <inkml:brushProperty name="height" value="0.05292" units="cm"/>
      <inkml:brushProperty name="color" value="#FF0000"/>
    </inkml:brush>
  </inkml:definitions>
  <inkml:trace contextRef="#ctx0" brushRef="#br0">25241 6072 172 0,'-3'6'66'0,"3"-12"-52"0,0 12 3 16,0-12 0-16,0 6-24 16,0 0-7-16,0 0-34 15,-4 0-14-15,-3 0 4 16,-3 6 2-16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18-08-24T10:30:49.668"/>
    </inkml:context>
    <inkml:brush xml:id="br0">
      <inkml:brushProperty name="width" value="0.05292" units="cm"/>
      <inkml:brushProperty name="height" value="0.05292" units="cm"/>
      <inkml:brushProperty name="color" value="#FF0000"/>
    </inkml:brush>
  </inkml:definitions>
  <inkml:trace contextRef="#ctx0" brushRef="#br0">18715 15225 276 0,'7'4'104'0,"-4"2"-81"0,5-3-4 16,-1 3-8-16,0-3-7 15,-4 7 2-15,1-10-1 16,-1 6 0-16,1-6-3 0,-1 9-15 0,-3-9-6 16,0 0-8-16,0 0-3 15,0 0-11-15,0 0-1 16,0 0-20 0,-7-6-34-16,-10-6 25 15</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18-08-15T10:30:29.422"/>
    </inkml:context>
    <inkml:brush xml:id="br0">
      <inkml:brushProperty name="width" value="0.05292" units="cm"/>
      <inkml:brushProperty name="height" value="0.05292" units="cm"/>
      <inkml:brushProperty name="color" value="#FF0000"/>
    </inkml:brush>
  </inkml:definitions>
  <inkml:trace contextRef="#ctx0" brushRef="#br0">25241 6072 172 0,'-3'6'66'0,"3"-12"-52"0,0 12 3 16,0-12 0-16,0 6-24 16,0 0-7-16,0 0-34 15,-4 0-14-15,-3 0 4 16,-3 6 2-16</inkml:trace>
</inkml:ink>
</file>

<file path=ppt/ink/ink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18-08-24T10:30:49.668"/>
    </inkml:context>
    <inkml:brush xml:id="br0">
      <inkml:brushProperty name="width" value="0.05292" units="cm"/>
      <inkml:brushProperty name="height" value="0.05292" units="cm"/>
      <inkml:brushProperty name="color" value="#FF0000"/>
    </inkml:brush>
  </inkml:definitions>
  <inkml:trace contextRef="#ctx0" brushRef="#br0">18715 15225 276 0,'7'4'104'0,"-4"2"-81"0,5-3-4 16,-1 3-8-16,0-3-7 15,-4 7 2-15,1-10-1 16,-1 6 0-16,1-6-3 0,-1 9-15 0,-3-9-6 16,0 0-8-16,0 0-3 15,0 0-11-15,0 0-1 16,0 0-20 0,-7-6-34-16,-10-6 25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11B5F-5A72-4726-AC3F-C438D330BC78}"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0F2C92-0232-4362-81DA-2203573C8389}" type="slidenum">
              <a:rPr lang="zh-CN" altLang="en-US" smtClean="0"/>
              <a:t>‹#›</a:t>
            </a:fld>
            <a:endParaRPr lang="zh-CN" altLang="en-US"/>
          </a:p>
        </p:txBody>
      </p:sp>
    </p:spTree>
    <p:extLst>
      <p:ext uri="{BB962C8B-B14F-4D97-AF65-F5344CB8AC3E}">
        <p14:creationId xmlns:p14="http://schemas.microsoft.com/office/powerpoint/2010/main" val="4104875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a:t>
            </a:fld>
            <a:endParaRPr lang="zh-CN" altLang="en-US"/>
          </a:p>
        </p:txBody>
      </p:sp>
    </p:spTree>
    <p:extLst>
      <p:ext uri="{BB962C8B-B14F-4D97-AF65-F5344CB8AC3E}">
        <p14:creationId xmlns:p14="http://schemas.microsoft.com/office/powerpoint/2010/main" val="390353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8</a:t>
            </a:fld>
            <a:endParaRPr lang="zh-CN" altLang="en-US"/>
          </a:p>
        </p:txBody>
      </p:sp>
    </p:spTree>
    <p:extLst>
      <p:ext uri="{BB962C8B-B14F-4D97-AF65-F5344CB8AC3E}">
        <p14:creationId xmlns:p14="http://schemas.microsoft.com/office/powerpoint/2010/main" val="839604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n&gt;0</a:t>
            </a:r>
          </a:p>
          <a:p>
            <a:r>
              <a:rPr lang="en" altLang="zh-CN" dirty="0"/>
              <a:t>n/2</a:t>
            </a:r>
          </a:p>
          <a:p>
            <a:r>
              <a:rPr lang="en" altLang="zh-CN" dirty="0"/>
              <a:t>n%2</a:t>
            </a:r>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13</a:t>
            </a:fld>
            <a:endParaRPr lang="zh-CN" altLang="en-US"/>
          </a:p>
        </p:txBody>
      </p:sp>
    </p:spTree>
    <p:extLst>
      <p:ext uri="{BB962C8B-B14F-4D97-AF65-F5344CB8AC3E}">
        <p14:creationId xmlns:p14="http://schemas.microsoft.com/office/powerpoint/2010/main" val="3904344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14</a:t>
            </a:fld>
            <a:endParaRPr lang="zh-CN" altLang="en-US"/>
          </a:p>
        </p:txBody>
      </p:sp>
    </p:spTree>
    <p:extLst>
      <p:ext uri="{BB962C8B-B14F-4D97-AF65-F5344CB8AC3E}">
        <p14:creationId xmlns:p14="http://schemas.microsoft.com/office/powerpoint/2010/main" val="3412143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15</a:t>
            </a:fld>
            <a:endParaRPr lang="zh-CN" altLang="en-US"/>
          </a:p>
        </p:txBody>
      </p:sp>
    </p:spTree>
    <p:extLst>
      <p:ext uri="{BB962C8B-B14F-4D97-AF65-F5344CB8AC3E}">
        <p14:creationId xmlns:p14="http://schemas.microsoft.com/office/powerpoint/2010/main" val="124958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16</a:t>
            </a:fld>
            <a:endParaRPr lang="zh-CN" altLang="en-US"/>
          </a:p>
        </p:txBody>
      </p:sp>
    </p:spTree>
    <p:extLst>
      <p:ext uri="{BB962C8B-B14F-4D97-AF65-F5344CB8AC3E}">
        <p14:creationId xmlns:p14="http://schemas.microsoft.com/office/powerpoint/2010/main" val="3475561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17</a:t>
            </a:fld>
            <a:endParaRPr lang="zh-CN" altLang="en-US"/>
          </a:p>
        </p:txBody>
      </p:sp>
    </p:spTree>
    <p:extLst>
      <p:ext uri="{BB962C8B-B14F-4D97-AF65-F5344CB8AC3E}">
        <p14:creationId xmlns:p14="http://schemas.microsoft.com/office/powerpoint/2010/main" val="3489037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18</a:t>
            </a:fld>
            <a:endParaRPr lang="zh-CN" altLang="en-US"/>
          </a:p>
        </p:txBody>
      </p:sp>
    </p:spTree>
    <p:extLst>
      <p:ext uri="{BB962C8B-B14F-4D97-AF65-F5344CB8AC3E}">
        <p14:creationId xmlns:p14="http://schemas.microsoft.com/office/powerpoint/2010/main" val="2780834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19</a:t>
            </a:fld>
            <a:endParaRPr lang="zh-CN" altLang="en-US"/>
          </a:p>
        </p:txBody>
      </p:sp>
    </p:spTree>
    <p:extLst>
      <p:ext uri="{BB962C8B-B14F-4D97-AF65-F5344CB8AC3E}">
        <p14:creationId xmlns:p14="http://schemas.microsoft.com/office/powerpoint/2010/main" val="1114423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20</a:t>
            </a:fld>
            <a:endParaRPr lang="zh-CN" altLang="en-US"/>
          </a:p>
        </p:txBody>
      </p:sp>
    </p:spTree>
    <p:extLst>
      <p:ext uri="{BB962C8B-B14F-4D97-AF65-F5344CB8AC3E}">
        <p14:creationId xmlns:p14="http://schemas.microsoft.com/office/powerpoint/2010/main" val="113142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21</a:t>
            </a:fld>
            <a:endParaRPr lang="zh-CN" altLang="en-US"/>
          </a:p>
        </p:txBody>
      </p:sp>
    </p:spTree>
    <p:extLst>
      <p:ext uri="{BB962C8B-B14F-4D97-AF65-F5344CB8AC3E}">
        <p14:creationId xmlns:p14="http://schemas.microsoft.com/office/powerpoint/2010/main" val="2057433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25</a:t>
            </a:fld>
            <a:endParaRPr lang="zh-CN" altLang="en-US"/>
          </a:p>
        </p:txBody>
      </p:sp>
    </p:spTree>
    <p:extLst>
      <p:ext uri="{BB962C8B-B14F-4D97-AF65-F5344CB8AC3E}">
        <p14:creationId xmlns:p14="http://schemas.microsoft.com/office/powerpoint/2010/main" val="791123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n&gt;0</a:t>
            </a:r>
          </a:p>
          <a:p>
            <a:r>
              <a:rPr lang="en" altLang="zh-CN" dirty="0" err="1"/>
              <a:t>hanoi </a:t>
            </a:r>
            <a:r>
              <a:rPr lang="en" altLang="zh-CN" dirty="0"/>
              <a:t>(n-1,a,c,b)</a:t>
            </a:r>
          </a:p>
          <a:p>
            <a:r>
              <a:rPr lang="en" altLang="zh-CN" dirty="0" err="1"/>
              <a:t>hanoi </a:t>
            </a:r>
            <a:r>
              <a:rPr lang="en" altLang="zh-CN" dirty="0"/>
              <a:t>(n-1,b,a,c);</a:t>
            </a:r>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26</a:t>
            </a:fld>
            <a:endParaRPr lang="zh-CN" altLang="en-US"/>
          </a:p>
        </p:txBody>
      </p:sp>
    </p:spTree>
    <p:extLst>
      <p:ext uri="{BB962C8B-B14F-4D97-AF65-F5344CB8AC3E}">
        <p14:creationId xmlns:p14="http://schemas.microsoft.com/office/powerpoint/2010/main" val="3061865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31</a:t>
            </a:fld>
            <a:endParaRPr lang="zh-CN" altLang="en-US"/>
          </a:p>
        </p:txBody>
      </p:sp>
    </p:spTree>
    <p:extLst>
      <p:ext uri="{BB962C8B-B14F-4D97-AF65-F5344CB8AC3E}">
        <p14:creationId xmlns:p14="http://schemas.microsoft.com/office/powerpoint/2010/main" val="3903531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35</a:t>
            </a:fld>
            <a:endParaRPr lang="zh-CN" altLang="en-US"/>
          </a:p>
        </p:txBody>
      </p:sp>
    </p:spTree>
    <p:extLst>
      <p:ext uri="{BB962C8B-B14F-4D97-AF65-F5344CB8AC3E}">
        <p14:creationId xmlns:p14="http://schemas.microsoft.com/office/powerpoint/2010/main" val="839604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n&gt;0</a:t>
            </a:r>
          </a:p>
          <a:p>
            <a:r>
              <a:rPr lang="en" altLang="zh-CN" dirty="0"/>
              <a:t>n/2</a:t>
            </a:r>
          </a:p>
          <a:p>
            <a:r>
              <a:rPr lang="en" altLang="zh-CN" dirty="0"/>
              <a:t>n%2</a:t>
            </a:r>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40</a:t>
            </a:fld>
            <a:endParaRPr lang="zh-CN" altLang="en-US"/>
          </a:p>
        </p:txBody>
      </p:sp>
    </p:spTree>
    <p:extLst>
      <p:ext uri="{BB962C8B-B14F-4D97-AF65-F5344CB8AC3E}">
        <p14:creationId xmlns:p14="http://schemas.microsoft.com/office/powerpoint/2010/main" val="3904344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41</a:t>
            </a:fld>
            <a:endParaRPr lang="zh-CN" altLang="en-US"/>
          </a:p>
        </p:txBody>
      </p:sp>
    </p:spTree>
    <p:extLst>
      <p:ext uri="{BB962C8B-B14F-4D97-AF65-F5344CB8AC3E}">
        <p14:creationId xmlns:p14="http://schemas.microsoft.com/office/powerpoint/2010/main" val="3412143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42</a:t>
            </a:fld>
            <a:endParaRPr lang="zh-CN" altLang="en-US"/>
          </a:p>
        </p:txBody>
      </p:sp>
    </p:spTree>
    <p:extLst>
      <p:ext uri="{BB962C8B-B14F-4D97-AF65-F5344CB8AC3E}">
        <p14:creationId xmlns:p14="http://schemas.microsoft.com/office/powerpoint/2010/main" val="124958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43</a:t>
            </a:fld>
            <a:endParaRPr lang="zh-CN" altLang="en-US"/>
          </a:p>
        </p:txBody>
      </p:sp>
    </p:spTree>
    <p:extLst>
      <p:ext uri="{BB962C8B-B14F-4D97-AF65-F5344CB8AC3E}">
        <p14:creationId xmlns:p14="http://schemas.microsoft.com/office/powerpoint/2010/main" val="3475561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44</a:t>
            </a:fld>
            <a:endParaRPr lang="zh-CN" altLang="en-US"/>
          </a:p>
        </p:txBody>
      </p:sp>
    </p:spTree>
    <p:extLst>
      <p:ext uri="{BB962C8B-B14F-4D97-AF65-F5344CB8AC3E}">
        <p14:creationId xmlns:p14="http://schemas.microsoft.com/office/powerpoint/2010/main" val="3489037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45</a:t>
            </a:fld>
            <a:endParaRPr lang="zh-CN" altLang="en-US"/>
          </a:p>
        </p:txBody>
      </p:sp>
    </p:spTree>
    <p:extLst>
      <p:ext uri="{BB962C8B-B14F-4D97-AF65-F5344CB8AC3E}">
        <p14:creationId xmlns:p14="http://schemas.microsoft.com/office/powerpoint/2010/main" val="2780834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46</a:t>
            </a:fld>
            <a:endParaRPr lang="zh-CN" altLang="en-US"/>
          </a:p>
        </p:txBody>
      </p:sp>
    </p:spTree>
    <p:extLst>
      <p:ext uri="{BB962C8B-B14F-4D97-AF65-F5344CB8AC3E}">
        <p14:creationId xmlns:p14="http://schemas.microsoft.com/office/powerpoint/2010/main" val="1114423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47</a:t>
            </a:fld>
            <a:endParaRPr lang="zh-CN" altLang="en-US"/>
          </a:p>
        </p:txBody>
      </p:sp>
    </p:spTree>
    <p:extLst>
      <p:ext uri="{BB962C8B-B14F-4D97-AF65-F5344CB8AC3E}">
        <p14:creationId xmlns:p14="http://schemas.microsoft.com/office/powerpoint/2010/main" val="113142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48</a:t>
            </a:fld>
            <a:endParaRPr lang="zh-CN" altLang="en-US"/>
          </a:p>
        </p:txBody>
      </p:sp>
    </p:spTree>
    <p:extLst>
      <p:ext uri="{BB962C8B-B14F-4D97-AF65-F5344CB8AC3E}">
        <p14:creationId xmlns:p14="http://schemas.microsoft.com/office/powerpoint/2010/main" val="2057433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52</a:t>
            </a:fld>
            <a:endParaRPr lang="zh-CN" altLang="en-US"/>
          </a:p>
        </p:txBody>
      </p:sp>
    </p:spTree>
    <p:extLst>
      <p:ext uri="{BB962C8B-B14F-4D97-AF65-F5344CB8AC3E}">
        <p14:creationId xmlns:p14="http://schemas.microsoft.com/office/powerpoint/2010/main" val="791123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n&gt;0</a:t>
            </a:r>
          </a:p>
          <a:p>
            <a:r>
              <a:rPr lang="en" altLang="zh-CN" dirty="0" err="1"/>
              <a:t>hanoi </a:t>
            </a:r>
            <a:r>
              <a:rPr lang="en" altLang="zh-CN" dirty="0"/>
              <a:t>(n-1,a,c,b)</a:t>
            </a:r>
          </a:p>
          <a:p>
            <a:r>
              <a:rPr lang="en" altLang="zh-CN" dirty="0" err="1"/>
              <a:t>hanoi </a:t>
            </a:r>
            <a:r>
              <a:rPr lang="en" altLang="zh-CN" dirty="0"/>
              <a:t>(n-1,b,a,c);</a:t>
            </a:r>
            <a:endParaRPr lang="zh-CN" altLang="en-US" dirty="0"/>
          </a:p>
        </p:txBody>
      </p:sp>
      <p:sp>
        <p:nvSpPr>
          <p:cNvPr id="4" name="灯片编号占位符 3"/>
          <p:cNvSpPr>
            <a:spLocks noGrp="1"/>
          </p:cNvSpPr>
          <p:nvPr>
            <p:ph type="sldNum" sz="quarter" idx="5"/>
          </p:nvPr>
        </p:nvSpPr>
        <p:spPr/>
        <p:txBody>
          <a:bodyPr/>
          <a:lstStyle/>
          <a:p>
            <a:fld id="{C80F2C92-0232-4362-81DA-2203573C8389}" type="slidenum">
              <a:rPr lang="zh-CN" altLang="en-US" smtClean="0"/>
              <a:t>53</a:t>
            </a:fld>
            <a:endParaRPr lang="zh-CN" altLang="en-US"/>
          </a:p>
        </p:txBody>
      </p:sp>
    </p:spTree>
    <p:extLst>
      <p:ext uri="{BB962C8B-B14F-4D97-AF65-F5344CB8AC3E}">
        <p14:creationId xmlns:p14="http://schemas.microsoft.com/office/powerpoint/2010/main" val="30618658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2192000" cy="6857999"/>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AU"/>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AU"/>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AU"/>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AU"/>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AU"/>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077511" y="5410201"/>
            <a:ext cx="2743200" cy="365125"/>
          </a:xfrm>
          <a:prstGeom prst="rect">
            <a:avLst/>
          </a:prstGeom>
        </p:spPr>
        <p:txBody>
          <a:bodyPr/>
          <a:lstStyle/>
          <a:p>
            <a:fld id="{48A87A34-81AB-432B-8DAE-1953F412C126}" type="datetimeFigureOut">
              <a:rPr lang="en-US" dirty="0"/>
              <a:t>3/3/26</a:t>
            </a:fld>
            <a:endParaRPr lang="en-US" dirty="0"/>
          </a:p>
        </p:txBody>
      </p:sp>
      <p:sp>
        <p:nvSpPr>
          <p:cNvPr id="5" name="Footer Placeholder 4"/>
          <p:cNvSpPr>
            <a:spLocks noGrp="1"/>
          </p:cNvSpPr>
          <p:nvPr>
            <p:ph type="ftr" sz="quarter" idx="11"/>
          </p:nvPr>
        </p:nvSpPr>
        <p:spPr>
          <a:xfrm>
            <a:off x="1876424" y="5410201"/>
            <a:ext cx="5124886"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8" name="Footer Placeholder 7"/>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3" name="Footer Placeholder 2"/>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a:t>单击图标添加图片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3/3/26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130B2939-4C80-4B53-A9F0-B6A7EC450041}"/>
              </a:ext>
            </a:extLst>
          </p:cNvPr>
          <p:cNvPicPr>
            <a:picLocks noChangeAspect="1"/>
          </p:cNvPicPr>
          <p:nvPr userDrawn="1"/>
        </p:nvPicPr>
        <p:blipFill>
          <a:blip r:embed="rId19"/>
          <a:stretch>
            <a:fillRect/>
          </a:stretch>
        </p:blipFill>
        <p:spPr>
          <a:xfrm>
            <a:off x="0" y="0"/>
            <a:ext cx="12191999" cy="6858000"/>
          </a:xfrm>
          <a:prstGeom prst="rect">
            <a:avLst/>
          </a:prstGeom>
        </p:spPr>
      </p:pic>
      <p:sp>
        <p:nvSpPr>
          <p:cNvPr id="2" name="Title Placeholder 1"/>
          <p:cNvSpPr>
            <a:spLocks noGrp="1"/>
          </p:cNvSpPr>
          <p:nvPr>
            <p:ph type="title"/>
          </p:nvPr>
        </p:nvSpPr>
        <p:spPr>
          <a:xfrm>
            <a:off x="678609" y="7541"/>
            <a:ext cx="10368800"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678612" y="1486111"/>
            <a:ext cx="10368800" cy="510447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0" name="文本框 49">
            <a:extLst>
              <a:ext uri="{FF2B5EF4-FFF2-40B4-BE49-F238E27FC236}">
                <a16:creationId xmlns:a16="http://schemas.microsoft.com/office/drawing/2014/main" id="{330C60AA-6FA4-4C93-AB01-EB959B7F178F}"/>
              </a:ext>
            </a:extLst>
          </p:cNvPr>
          <p:cNvSpPr txBox="1"/>
          <p:nvPr userDrawn="1"/>
        </p:nvSpPr>
        <p:spPr>
          <a:xfrm>
            <a:off x="9212580" y="6206490"/>
            <a:ext cx="2492990" cy="369332"/>
          </a:xfrm>
          <a:prstGeom prst="rect">
            <a:avLst/>
          </a:prstGeom>
          <a:noFill/>
        </p:spPr>
        <p:txBody>
          <a:bodyPr wrap="none" rtlCol="0">
            <a:spAutoFit/>
          </a:bodyPr>
          <a:lstStyle/>
          <a:p>
            <a:r>
              <a:rPr lang="zh-CN" altLang="en-US" dirty="0">
                <a:solidFill>
                  <a:schemeClr val="bg1"/>
                </a:solidFill>
                <a:latin typeface="华文楷体" panose="02010600040101010101" pitchFamily="2" charset="-122"/>
                <a:ea typeface="华文楷体" panose="02010600040101010101" pitchFamily="2" charset="-122"/>
              </a:rPr>
              <a:t>高老师算法竞赛训练营</a:t>
            </a:r>
          </a:p>
        </p:txBody>
      </p:sp>
      <p:pic>
        <p:nvPicPr>
          <p:cNvPr id="51" name="图片 50">
            <a:extLst>
              <a:ext uri="{FF2B5EF4-FFF2-40B4-BE49-F238E27FC236}">
                <a16:creationId xmlns:a16="http://schemas.microsoft.com/office/drawing/2014/main" id="{D2271CAA-D55D-4D42-A776-E7EC3C72185F}"/>
              </a:ext>
            </a:extLst>
          </p:cNvPr>
          <p:cNvPicPr>
            <a:picLocks noChangeAspect="1"/>
          </p:cNvPicPr>
          <p:nvPr userDrawn="1"/>
        </p:nvPicPr>
        <p:blipFill>
          <a:blip r:embed="rId20"/>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customXml" Target="../ink/ink2.xml"/><Relationship Id="rId4" Type="http://schemas.openxmlformats.org/officeDocument/2006/relationships/image" Target="../media/image9.emf"/></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1.xml"/><Relationship Id="rId6" Type="http://schemas.openxmlformats.org/officeDocument/2006/relationships/image" Target="../media/image40.emf"/><Relationship Id="rId5" Type="http://schemas.openxmlformats.org/officeDocument/2006/relationships/customXml" Target="../ink/ink4.xml"/><Relationship Id="rId4" Type="http://schemas.openxmlformats.org/officeDocument/2006/relationships/image" Target="../media/image90.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http:/www.chinaschool.org/aosai/axpy/sjjg/images/0226-1.gi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 altLang="zh-CN" dirty="0"/>
              <a:t>NOIP </a:t>
            </a:r>
            <a:r>
              <a:rPr lang="en" altLang="en-US" dirty="0"/>
              <a:t>Basic Algorithms</a:t>
            </a:r>
          </a:p>
        </p:txBody>
      </p:sp>
      <p:sp>
        <p:nvSpPr>
          <p:cNvPr id="3" name="副标题 2"/>
          <p:cNvSpPr>
            <a:spLocks noGrp="1"/>
          </p:cNvSpPr>
          <p:nvPr>
            <p:ph type="subTitle" idx="1"/>
          </p:nvPr>
        </p:nvSpPr>
        <p:spPr/>
        <p:txBody>
          <a:bodyPr/>
          <a:lstStyle/>
          <a:p>
            <a:r>
              <a:rPr lang="en" altLang="zh-CN" dirty="0"/>
              <a:t>August 26 </a:t>
            </a:r>
            <a:r>
              <a:rPr lang="en" altLang="en-US" dirty="0"/>
              <a:t>, </a:t>
            </a:r>
            <a:r>
              <a:rPr lang="en" altLang="zh-CN" dirty="0"/>
              <a:t>2018</a:t>
            </a:r>
            <a:r>
              <a:rPr lang="en" altLang="en-US" dirty="0"/>
              <a:t>​​</a:t>
            </a:r>
          </a:p>
        </p:txBody>
      </p:sp>
      <p:sp>
        <p:nvSpPr>
          <p:cNvPr id="4" name="文本框 3"/>
          <p:cNvSpPr txBox="1"/>
          <p:nvPr/>
        </p:nvSpPr>
        <p:spPr>
          <a:xfrm>
            <a:off x="9212580" y="6206490"/>
            <a:ext cx="2961067" cy="646331"/>
          </a:xfrm>
          <a:prstGeom prst="rect">
            <a:avLst/>
          </a:prstGeom>
          <a:noFill/>
        </p:spPr>
        <p:txBody>
          <a:bodyPr wrap="none" rtlCol="0">
            <a:spAutoFit/>
          </a:bodyPr>
          <a:lstStyle/>
          <a:p>
            <a:pPr algn="r"/>
            <a:r>
              <a:rPr lang="en-US" altLang="zh-CN" dirty="0">
                <a:latin typeface="华文楷体" panose="02010600040101010101" pitchFamily="2" charset="-122"/>
                <a:ea typeface="华文楷体" panose="02010600040101010101" pitchFamily="2" charset="-122"/>
              </a:rPr>
              <a:t>Mr.</a:t>
            </a:r>
            <a:r>
              <a:rPr lang="en" altLang="en-US" dirty="0">
                <a:latin typeface="华文楷体" panose="02010600040101010101" pitchFamily="2" charset="-122"/>
                <a:ea typeface="华文楷体" panose="02010600040101010101" pitchFamily="2" charset="-122"/>
              </a:rPr>
              <a:t> Gao's Algorithm</a:t>
            </a:r>
          </a:p>
          <a:p>
            <a:pPr algn="r"/>
            <a:r>
              <a:rPr lang="en" altLang="en-US" dirty="0">
                <a:latin typeface="华文楷体" panose="02010600040101010101" pitchFamily="2" charset="-122"/>
                <a:ea typeface="华文楷体" panose="02010600040101010101" pitchFamily="2" charset="-122"/>
              </a:rPr>
              <a:t> Competition Training Camp</a:t>
            </a:r>
          </a:p>
        </p:txBody>
      </p:sp>
      <p:pic>
        <p:nvPicPr>
          <p:cNvPr id="5" name="图片 4"/>
          <p:cNvPicPr>
            <a:picLocks noChangeAspect="1"/>
          </p:cNvPicPr>
          <p:nvPr/>
        </p:nvPicPr>
        <p:blipFill>
          <a:blip r:embed="rId2"/>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文本框 5"/>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mc:AlternateContent xmlns:mc="http://schemas.openxmlformats.org/markup-compatibility/2006" xmlns:p14="http://schemas.microsoft.com/office/powerpoint/2010/main">
        <mc:Choice Requires="p14">
          <p:contentPart p14:bwMode="auto" r:id="rId3">
            <p14:nvContentPartPr>
              <p14:cNvPr id="7" name="墨迹 6">
                <a:extLst>
                  <a:ext uri="{FF2B5EF4-FFF2-40B4-BE49-F238E27FC236}">
                    <a16:creationId xmlns:a16="http://schemas.microsoft.com/office/drawing/2014/main" id="{51786FEA-112D-4F78-B610-560C5BCA988B}"/>
                  </a:ext>
                </a:extLst>
              </p14:cNvPr>
              <p14:cNvContentPartPr/>
              <p14:nvPr/>
            </p14:nvContentPartPr>
            <p14:xfrm>
              <a:off x="9078120" y="2185920"/>
              <a:ext cx="9000" cy="2520"/>
            </p14:xfrm>
          </p:contentPart>
        </mc:Choice>
        <mc:Fallback xmlns="">
          <p:pic>
            <p:nvPicPr>
              <p:cNvPr id="7" name="墨迹 6">
                <a:extLst>
                  <a:ext uri="{FF2B5EF4-FFF2-40B4-BE49-F238E27FC236}">
                    <a16:creationId xmlns:a16="http://schemas.microsoft.com/office/drawing/2014/main" id="{51786FEA-112D-4F78-B610-560C5BCA988B}"/>
                  </a:ext>
                </a:extLst>
              </p:cNvPr>
              <p:cNvPicPr/>
              <p:nvPr/>
            </p:nvPicPr>
            <p:blipFill>
              <a:blip r:embed="rId4"/>
              <a:stretch>
                <a:fillRect/>
              </a:stretch>
            </p:blipFill>
            <p:spPr>
              <a:xfrm>
                <a:off x="9068760" y="2176560"/>
                <a:ext cx="277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墨迹 7">
                <a:extLst>
                  <a:ext uri="{FF2B5EF4-FFF2-40B4-BE49-F238E27FC236}">
                    <a16:creationId xmlns:a16="http://schemas.microsoft.com/office/drawing/2014/main" id="{98385616-4DF9-4212-8D71-D2D287605A2C}"/>
                  </a:ext>
                </a:extLst>
              </p14:cNvPr>
              <p14:cNvContentPartPr/>
              <p14:nvPr/>
            </p14:nvContentPartPr>
            <p14:xfrm>
              <a:off x="6737400" y="5481000"/>
              <a:ext cx="18000" cy="17280"/>
            </p14:xfrm>
          </p:contentPart>
        </mc:Choice>
        <mc:Fallback xmlns="">
          <p:pic>
            <p:nvPicPr>
              <p:cNvPr id="8" name="墨迹 7">
                <a:extLst>
                  <a:ext uri="{FF2B5EF4-FFF2-40B4-BE49-F238E27FC236}">
                    <a16:creationId xmlns:a16="http://schemas.microsoft.com/office/drawing/2014/main" id="{98385616-4DF9-4212-8D71-D2D287605A2C}"/>
                  </a:ext>
                </a:extLst>
              </p:cNvPr>
              <p:cNvPicPr/>
              <p:nvPr/>
            </p:nvPicPr>
            <p:blipFill>
              <a:blip r:embed="rId6"/>
              <a:stretch>
                <a:fillRect/>
              </a:stretch>
            </p:blipFill>
            <p:spPr>
              <a:xfrm>
                <a:off x="6728040" y="5471640"/>
                <a:ext cx="36720" cy="36000"/>
              </a:xfrm>
              <a:prstGeom prst="rect">
                <a:avLst/>
              </a:prstGeom>
            </p:spPr>
          </p:pic>
        </mc:Fallback>
      </mc:AlternateContent>
    </p:spTree>
    <p:extLst>
      <p:ext uri="{BB962C8B-B14F-4D97-AF65-F5344CB8AC3E}">
        <p14:creationId xmlns:p14="http://schemas.microsoft.com/office/powerpoint/2010/main" val="806275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 altLang="en-US" dirty="0"/>
              <a:t>recursive function</a:t>
            </a:r>
            <a:r>
              <a:rPr lang="en-US" altLang="zh-CN" dirty="0"/>
              <a:t>s</a:t>
            </a:r>
            <a:endParaRPr lang="en" altLang="en-US" dirty="0"/>
          </a:p>
        </p:txBody>
      </p:sp>
      <p:sp>
        <p:nvSpPr>
          <p:cNvPr id="3" name="副标题 2"/>
          <p:cNvSpPr>
            <a:spLocks noGrp="1"/>
          </p:cNvSpPr>
          <p:nvPr>
            <p:ph type="subTitle" idx="1"/>
          </p:nvPr>
        </p:nvSpPr>
        <p:spPr/>
        <p:txBody>
          <a:bodyPr/>
          <a:lstStyle/>
          <a:p>
            <a:endParaRPr lang="zh-CN" altLang="en-US" dirty="0"/>
          </a:p>
        </p:txBody>
      </p:sp>
      <p:sp>
        <p:nvSpPr>
          <p:cNvPr id="4" name="文本框 3"/>
          <p:cNvSpPr txBox="1"/>
          <p:nvPr/>
        </p:nvSpPr>
        <p:spPr>
          <a:xfrm>
            <a:off x="9212580" y="6206490"/>
            <a:ext cx="2903359" cy="646331"/>
          </a:xfrm>
          <a:prstGeom prst="rect">
            <a:avLst/>
          </a:prstGeom>
          <a:noFill/>
        </p:spPr>
        <p:txBody>
          <a:bodyPr wrap="none" rtlCol="0">
            <a:spAutoFit/>
          </a:bodyPr>
          <a:lstStyle/>
          <a:p>
            <a:r>
              <a:rPr lang="en-US" altLang="zh-CN" dirty="0">
                <a:latin typeface="华文楷体" panose="02010600040101010101" pitchFamily="2" charset="-122"/>
                <a:ea typeface="华文楷体" panose="02010600040101010101" pitchFamily="2" charset="-122"/>
              </a:rPr>
              <a:t>Mr.</a:t>
            </a:r>
            <a:r>
              <a:rPr lang="zh-CN" altLang="en-US" dirty="0">
                <a:latin typeface="华文楷体" panose="02010600040101010101" pitchFamily="2" charset="-122"/>
                <a:ea typeface="华文楷体" panose="02010600040101010101" pitchFamily="2" charset="-122"/>
              </a:rPr>
              <a:t> </a:t>
            </a:r>
            <a:r>
              <a:rPr lang="en" altLang="en-US" dirty="0">
                <a:latin typeface="华文楷体" panose="02010600040101010101" pitchFamily="2" charset="-122"/>
                <a:ea typeface="华文楷体" panose="02010600040101010101" pitchFamily="2" charset="-122"/>
              </a:rPr>
              <a:t>Gao's Algorithm </a:t>
            </a:r>
          </a:p>
          <a:p>
            <a:r>
              <a:rPr lang="en" altLang="en-US" dirty="0">
                <a:latin typeface="华文楷体" panose="02010600040101010101" pitchFamily="2" charset="-122"/>
                <a:ea typeface="华文楷体" panose="02010600040101010101" pitchFamily="2" charset="-122"/>
              </a:rPr>
              <a:t>Competition Training Camp</a:t>
            </a:r>
          </a:p>
        </p:txBody>
      </p:sp>
      <p:pic>
        <p:nvPicPr>
          <p:cNvPr id="5" name="图片 4"/>
          <p:cNvPicPr>
            <a:picLocks noChangeAspect="1"/>
          </p:cNvPicPr>
          <p:nvPr/>
        </p:nvPicPr>
        <p:blipFill>
          <a:blip r:embed="rId2"/>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文本框 5"/>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p:spTree>
    <p:extLst>
      <p:ext uri="{BB962C8B-B14F-4D97-AF65-F5344CB8AC3E}">
        <p14:creationId xmlns:p14="http://schemas.microsoft.com/office/powerpoint/2010/main" val="948786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Recursion in daily life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ormAutofit fontScale="77500" lnSpcReduction="20000"/>
          </a:bodyPr>
          <a:lstStyle/>
          <a:p>
            <a:pPr marL="0" indent="0">
              <a:buNone/>
            </a:pPr>
            <a:r>
              <a:rPr lang="en-US" altLang="zh-CN" dirty="0">
                <a:latin typeface="Aptos Display" panose="020B0004020202020204" pitchFamily="34" charset="0"/>
              </a:rPr>
              <a:t>This is the song that doesn't end</a:t>
            </a:r>
            <a:br>
              <a:rPr lang="en-US" altLang="zh-CN" dirty="0">
                <a:latin typeface="Aptos Display" panose="020B0004020202020204" pitchFamily="34" charset="0"/>
              </a:rPr>
            </a:br>
            <a:r>
              <a:rPr lang="en-US" altLang="zh-CN" dirty="0">
                <a:latin typeface="Aptos Display" panose="020B0004020202020204" pitchFamily="34" charset="0"/>
              </a:rPr>
              <a:t>Yes, it goes on and on, my friend</a:t>
            </a:r>
            <a:br>
              <a:rPr lang="en-US" altLang="zh-CN" dirty="0">
                <a:latin typeface="Aptos Display" panose="020B0004020202020204" pitchFamily="34" charset="0"/>
              </a:rPr>
            </a:br>
            <a:r>
              <a:rPr lang="en-US" altLang="zh-CN" dirty="0">
                <a:latin typeface="Aptos Display" panose="020B0004020202020204" pitchFamily="34" charset="0"/>
              </a:rPr>
              <a:t>Some people started singing it not knowing what it was,</a:t>
            </a:r>
            <a:br>
              <a:rPr lang="en-US" altLang="zh-CN" dirty="0">
                <a:latin typeface="Aptos Display" panose="020B0004020202020204" pitchFamily="34" charset="0"/>
              </a:rPr>
            </a:br>
            <a:r>
              <a:rPr lang="en-US" altLang="zh-CN" dirty="0">
                <a:latin typeface="Aptos Display" panose="020B0004020202020204" pitchFamily="34" charset="0"/>
              </a:rPr>
              <a:t>And they’ll continue singing it forever just because…</a:t>
            </a:r>
          </a:p>
          <a:p>
            <a:pPr marL="0" indent="0">
              <a:buNone/>
            </a:pPr>
            <a:r>
              <a:rPr lang="en-US" altLang="zh-CN" dirty="0">
                <a:latin typeface="Aptos Display" panose="020B0004020202020204" pitchFamily="34" charset="0"/>
              </a:rPr>
              <a:t>This is the song that doesn't end</a:t>
            </a:r>
            <a:br>
              <a:rPr lang="en-US" altLang="zh-CN" dirty="0">
                <a:latin typeface="Aptos Display" panose="020B0004020202020204" pitchFamily="34" charset="0"/>
              </a:rPr>
            </a:br>
            <a:r>
              <a:rPr lang="en-US" altLang="zh-CN" dirty="0">
                <a:latin typeface="Aptos Display" panose="020B0004020202020204" pitchFamily="34" charset="0"/>
              </a:rPr>
              <a:t>Yes, it goes on and on, my friend</a:t>
            </a:r>
            <a:br>
              <a:rPr lang="en-US" altLang="zh-CN" dirty="0">
                <a:latin typeface="Aptos Display" panose="020B0004020202020204" pitchFamily="34" charset="0"/>
              </a:rPr>
            </a:br>
            <a:r>
              <a:rPr lang="en-US" altLang="zh-CN" dirty="0">
                <a:latin typeface="Aptos Display" panose="020B0004020202020204" pitchFamily="34" charset="0"/>
              </a:rPr>
              <a:t>Some people started singing it not knowing what it was,</a:t>
            </a:r>
            <a:br>
              <a:rPr lang="en-US" altLang="zh-CN" dirty="0">
                <a:latin typeface="Aptos Display" panose="020B0004020202020204" pitchFamily="34" charset="0"/>
              </a:rPr>
            </a:br>
            <a:r>
              <a:rPr lang="en-US" altLang="zh-CN" dirty="0">
                <a:latin typeface="Aptos Display" panose="020B0004020202020204" pitchFamily="34" charset="0"/>
              </a:rPr>
              <a:t>And they’ll continue singing it forever just because…</a:t>
            </a:r>
          </a:p>
          <a:p>
            <a:pPr marL="0" indent="0">
              <a:buNone/>
            </a:pPr>
            <a:r>
              <a:rPr lang="en-US" altLang="zh-CN" dirty="0">
                <a:latin typeface="Aptos Display" panose="020B0004020202020204" pitchFamily="34" charset="0"/>
              </a:rPr>
              <a:t>This is the song that doesn't end</a:t>
            </a:r>
            <a:br>
              <a:rPr lang="en-US" altLang="zh-CN" dirty="0">
                <a:latin typeface="Aptos Display" panose="020B0004020202020204" pitchFamily="34" charset="0"/>
              </a:rPr>
            </a:br>
            <a:r>
              <a:rPr lang="en-US" altLang="zh-CN" dirty="0">
                <a:latin typeface="Aptos Display" panose="020B0004020202020204" pitchFamily="34" charset="0"/>
              </a:rPr>
              <a:t>Yes, it goes on and on, my friend</a:t>
            </a:r>
            <a:br>
              <a:rPr lang="en-US" altLang="zh-CN" dirty="0">
                <a:latin typeface="Aptos Display" panose="020B0004020202020204" pitchFamily="34" charset="0"/>
              </a:rPr>
            </a:br>
            <a:r>
              <a:rPr lang="en-US" altLang="zh-CN" dirty="0">
                <a:latin typeface="Aptos Display" panose="020B0004020202020204" pitchFamily="34" charset="0"/>
              </a:rPr>
              <a:t>Some people started singing it not knowing what it was,</a:t>
            </a:r>
            <a:br>
              <a:rPr lang="en-US" altLang="zh-CN" dirty="0">
                <a:latin typeface="Aptos Display" panose="020B0004020202020204" pitchFamily="34" charset="0"/>
              </a:rPr>
            </a:br>
            <a:r>
              <a:rPr lang="en-US" altLang="zh-CN" dirty="0">
                <a:latin typeface="Aptos Display" panose="020B0004020202020204" pitchFamily="34" charset="0"/>
              </a:rPr>
              <a:t>And they’ll continue singing it forever just because…</a:t>
            </a:r>
          </a:p>
          <a:p>
            <a:pPr marL="0" indent="0">
              <a:buNone/>
            </a:pPr>
            <a:endParaRPr lang="en-US" altLang="zh-CN" dirty="0">
              <a:latin typeface="Aptos Display" panose="020B0004020202020204" pitchFamily="34" charset="0"/>
            </a:endParaRPr>
          </a:p>
          <a:p>
            <a:r>
              <a:rPr lang="en" altLang="en-US" dirty="0">
                <a:latin typeface="Aptos Display" panose="020B0004020202020204" pitchFamily="34" charset="0"/>
              </a:rPr>
              <a:t>What are the characteristics of this </a:t>
            </a:r>
            <a:r>
              <a:rPr lang="en-US" altLang="zh-CN" dirty="0">
                <a:latin typeface="Aptos Display" panose="020B0004020202020204" pitchFamily="34" charset="0"/>
              </a:rPr>
              <a:t>song</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When will the so</a:t>
            </a:r>
            <a:r>
              <a:rPr lang="en-US" altLang="zh-CN" dirty="0">
                <a:latin typeface="Aptos Display" panose="020B0004020202020204" pitchFamily="34" charset="0"/>
              </a:rPr>
              <a:t>ng</a:t>
            </a:r>
            <a:r>
              <a:rPr lang="en" altLang="en-US" dirty="0">
                <a:latin typeface="Aptos Display" panose="020B0004020202020204" pitchFamily="34" charset="0"/>
              </a:rPr>
              <a:t> end?</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172714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Example </a:t>
            </a:r>
            <a:r>
              <a:rPr lang="en" altLang="zh-CN" dirty="0">
                <a:solidFill>
                  <a:schemeClr val="bg1"/>
                </a:solidFill>
                <a:latin typeface="Aptos Display" panose="020B0004020202020204" pitchFamily="34" charset="0"/>
              </a:rPr>
              <a:t>1</a:t>
            </a:r>
            <a:endParaRPr lang="zh-CN" altLang="en-US" dirty="0">
              <a:solidFill>
                <a:schemeClr val="bg1"/>
              </a:solidFill>
              <a:latin typeface="Aptos Display" panose="020B0004020202020204" pitchFamily="34" charset="0"/>
            </a:endParaRPr>
          </a:p>
        </p:txBody>
      </p:sp>
      <p:sp>
        <p:nvSpPr>
          <p:cNvPr id="5" name="内容占位符 2">
            <a:extLst>
              <a:ext uri="{FF2B5EF4-FFF2-40B4-BE49-F238E27FC236}">
                <a16:creationId xmlns:a16="http://schemas.microsoft.com/office/drawing/2014/main" id="{2231FC82-4BE0-4E5A-BBF0-54D9EE976083}"/>
              </a:ext>
            </a:extLst>
          </p:cNvPr>
          <p:cNvSpPr txBox="1">
            <a:spLocks/>
          </p:cNvSpPr>
          <p:nvPr/>
        </p:nvSpPr>
        <p:spPr>
          <a:xfrm>
            <a:off x="4681118" y="1187992"/>
            <a:ext cx="2030506" cy="52827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 altLang="en-US" sz="1800" dirty="0">
                <a:latin typeface="Consolas" panose="020B0609020204030204" pitchFamily="49" charset="0"/>
                <a:cs typeface="Consolas" panose="020B0609020204030204" pitchFamily="49" charset="0"/>
              </a:rPr>
              <a:t>Output: </a:t>
            </a:r>
          </a:p>
          <a:p>
            <a:pPr marL="0" indent="0">
              <a:buFont typeface="Arial" panose="020B0604020202020204" pitchFamily="34" charset="0"/>
              <a:buNone/>
            </a:pPr>
            <a:r>
              <a:rPr lang="en" altLang="zh-CN" sz="1800" dirty="0">
                <a:latin typeface="Consolas" panose="020B0609020204030204" pitchFamily="49" charset="0"/>
                <a:cs typeface="Consolas" panose="020B0609020204030204" pitchFamily="49" charset="0"/>
              </a:rPr>
              <a:t>4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3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2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1</a:t>
            </a:r>
          </a:p>
        </p:txBody>
      </p:sp>
      <p:pic>
        <p:nvPicPr>
          <p:cNvPr id="9" name="内容占位符 8">
            <a:extLst>
              <a:ext uri="{FF2B5EF4-FFF2-40B4-BE49-F238E27FC236}">
                <a16:creationId xmlns:a16="http://schemas.microsoft.com/office/drawing/2014/main" id="{8F62D2EE-36BB-A651-38B1-70B02CDCA03D}"/>
              </a:ext>
            </a:extLst>
          </p:cNvPr>
          <p:cNvPicPr>
            <a:picLocks noGrp="1" noChangeAspect="1"/>
          </p:cNvPicPr>
          <p:nvPr>
            <p:ph idx="1"/>
          </p:nvPr>
        </p:nvPicPr>
        <p:blipFill>
          <a:blip r:embed="rId3"/>
          <a:stretch>
            <a:fillRect/>
          </a:stretch>
        </p:blipFill>
        <p:spPr>
          <a:xfrm>
            <a:off x="848129" y="1311965"/>
            <a:ext cx="2872844" cy="4790661"/>
          </a:xfrm>
          <a:prstGeom prst="rect">
            <a:avLst/>
          </a:prstGeom>
        </p:spPr>
      </p:pic>
    </p:spTree>
    <p:extLst>
      <p:ext uri="{BB962C8B-B14F-4D97-AF65-F5344CB8AC3E}">
        <p14:creationId xmlns:p14="http://schemas.microsoft.com/office/powerpoint/2010/main" val="355093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Example </a:t>
            </a:r>
            <a:r>
              <a:rPr lang="en" altLang="zh-CN" dirty="0">
                <a:solidFill>
                  <a:schemeClr val="bg1"/>
                </a:solidFill>
                <a:latin typeface="Aptos Display" panose="020B0004020202020204" pitchFamily="34" charset="0"/>
              </a:rPr>
              <a:t>1</a:t>
            </a:r>
            <a:endParaRPr lang="zh-CN" altLang="en-US" dirty="0">
              <a:solidFill>
                <a:schemeClr val="bg1"/>
              </a:solidFill>
              <a:latin typeface="Aptos Display" panose="020B0004020202020204" pitchFamily="34" charset="0"/>
            </a:endParaRPr>
          </a:p>
        </p:txBody>
      </p:sp>
      <p:sp>
        <p:nvSpPr>
          <p:cNvPr id="4" name="矩形 3">
            <a:extLst>
              <a:ext uri="{FF2B5EF4-FFF2-40B4-BE49-F238E27FC236}">
                <a16:creationId xmlns:a16="http://schemas.microsoft.com/office/drawing/2014/main" id="{1889E7B1-95F3-40AD-A88C-F603FE99EDB2}"/>
              </a:ext>
            </a:extLst>
          </p:cNvPr>
          <p:cNvSpPr/>
          <p:nvPr/>
        </p:nvSpPr>
        <p:spPr>
          <a:xfrm>
            <a:off x="5516477" y="1486110"/>
            <a:ext cx="3550023"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en-US" sz="2400" dirty="0">
                <a:solidFill>
                  <a:schemeClr val="bg1"/>
                </a:solidFill>
                <a:latin typeface="Aptos Display" panose="020B0004020202020204" pitchFamily="34" charset="0"/>
              </a:rPr>
              <a:t>When a function body contains a statement that calls itself, it is called </a:t>
            </a:r>
            <a:r>
              <a:rPr lang="en" altLang="en-US" sz="2400" dirty="0">
                <a:solidFill>
                  <a:srgbClr val="FF0000"/>
                </a:solidFill>
                <a:latin typeface="Aptos Display" panose="020B0004020202020204" pitchFamily="34" charset="0"/>
              </a:rPr>
              <a:t>recursion</a:t>
            </a:r>
            <a:r>
              <a:rPr lang="en" altLang="en-US" sz="2400" dirty="0">
                <a:solidFill>
                  <a:schemeClr val="bg1"/>
                </a:solidFill>
                <a:latin typeface="Aptos Display" panose="020B0004020202020204" pitchFamily="34" charset="0"/>
              </a:rPr>
              <a:t>.</a:t>
            </a:r>
          </a:p>
        </p:txBody>
      </p:sp>
      <p:sp>
        <p:nvSpPr>
          <p:cNvPr id="6" name="矩形 5">
            <a:extLst>
              <a:ext uri="{FF2B5EF4-FFF2-40B4-BE49-F238E27FC236}">
                <a16:creationId xmlns:a16="http://schemas.microsoft.com/office/drawing/2014/main" id="{52006918-C71E-4E1B-85FE-5154B3E46E65}"/>
              </a:ext>
            </a:extLst>
          </p:cNvPr>
          <p:cNvSpPr/>
          <p:nvPr/>
        </p:nvSpPr>
        <p:spPr>
          <a:xfrm>
            <a:off x="5516476" y="3657326"/>
            <a:ext cx="3550023" cy="10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bg1"/>
                </a:solidFill>
                <a:latin typeface="Aptos Display" panose="020B0004020202020204" pitchFamily="34" charset="0"/>
              </a:rPr>
              <a:t>How</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to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output</a:t>
            </a:r>
            <a:r>
              <a:rPr lang="zh-CN" altLang="en-US" sz="2400" dirty="0">
                <a:solidFill>
                  <a:schemeClr val="bg1"/>
                </a:solidFill>
                <a:latin typeface="Aptos Display" panose="020B0004020202020204" pitchFamily="34" charset="0"/>
              </a:rPr>
              <a:t> </a:t>
            </a:r>
            <a:r>
              <a:rPr lang="en" altLang="zh-CN" sz="2400" dirty="0">
                <a:solidFill>
                  <a:schemeClr val="bg1"/>
                </a:solidFill>
                <a:latin typeface="Consolas" panose="020B0609020204030204" pitchFamily="49" charset="0"/>
                <a:cs typeface="Consolas" panose="020B0609020204030204" pitchFamily="49" charset="0"/>
              </a:rPr>
              <a:t>1 2 3 4 </a:t>
            </a:r>
            <a:r>
              <a:rPr lang="en-US" altLang="zh-CN" sz="2400" dirty="0">
                <a:solidFill>
                  <a:schemeClr val="bg1"/>
                </a:solidFill>
                <a:latin typeface="Aptos Display" panose="020B0004020202020204" pitchFamily="34" charset="0"/>
              </a:rPr>
              <a:t>instead</a:t>
            </a:r>
            <a:r>
              <a:rPr lang="en" altLang="en-US" sz="2400" dirty="0">
                <a:solidFill>
                  <a:schemeClr val="bg1"/>
                </a:solidFill>
                <a:latin typeface="Aptos Display" panose="020B0004020202020204" pitchFamily="34" charset="0"/>
              </a:rPr>
              <a:t>?</a:t>
            </a:r>
            <a:endParaRPr lang="en-US" altLang="zh-CN" sz="2400" dirty="0">
              <a:solidFill>
                <a:schemeClr val="bg1"/>
              </a:solidFill>
              <a:latin typeface="Aptos Display" panose="020B0004020202020204" pitchFamily="34" charset="0"/>
            </a:endParaRPr>
          </a:p>
        </p:txBody>
      </p:sp>
      <p:pic>
        <p:nvPicPr>
          <p:cNvPr id="8" name="内容占位符 7">
            <a:extLst>
              <a:ext uri="{FF2B5EF4-FFF2-40B4-BE49-F238E27FC236}">
                <a16:creationId xmlns:a16="http://schemas.microsoft.com/office/drawing/2014/main" id="{70776FFE-AC93-D44E-E69D-1B792E5484A1}"/>
              </a:ext>
            </a:extLst>
          </p:cNvPr>
          <p:cNvPicPr>
            <a:picLocks noGrp="1" noChangeAspect="1"/>
          </p:cNvPicPr>
          <p:nvPr>
            <p:ph idx="1"/>
          </p:nvPr>
        </p:nvPicPr>
        <p:blipFill>
          <a:blip r:embed="rId2"/>
          <a:stretch>
            <a:fillRect/>
          </a:stretch>
        </p:blipFill>
        <p:spPr>
          <a:xfrm>
            <a:off x="678609" y="1486110"/>
            <a:ext cx="4221904" cy="3761751"/>
          </a:xfrm>
          <a:prstGeom prst="rect">
            <a:avLst/>
          </a:prstGeom>
        </p:spPr>
      </p:pic>
    </p:spTree>
    <p:extLst>
      <p:ext uri="{BB962C8B-B14F-4D97-AF65-F5344CB8AC3E}">
        <p14:creationId xmlns:p14="http://schemas.microsoft.com/office/powerpoint/2010/main" val="8562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What is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function</a:t>
            </a:r>
            <a:r>
              <a:rPr lang="zh-CN" altLang="en-US" dirty="0">
                <a:latin typeface="Aptos Display" panose="020B0004020202020204" pitchFamily="34" charset="0"/>
              </a:rPr>
              <a:t> </a:t>
            </a:r>
            <a:r>
              <a:rPr lang="en-US" altLang="zh-CN" dirty="0">
                <a:latin typeface="Aptos Display" panose="020B0004020202020204" pitchFamily="34" charset="0"/>
              </a:rPr>
              <a:t>that</a:t>
            </a:r>
            <a:r>
              <a:rPr lang="zh-CN" altLang="en-US" dirty="0">
                <a:latin typeface="Aptos Display" panose="020B0004020202020204" pitchFamily="34" charset="0"/>
              </a:rPr>
              <a:t> </a:t>
            </a:r>
            <a:r>
              <a:rPr lang="en-US" altLang="zh-CN" dirty="0">
                <a:latin typeface="Aptos Display" panose="020B0004020202020204" pitchFamily="34" charset="0"/>
              </a:rPr>
              <a:t>calls</a:t>
            </a:r>
            <a:r>
              <a:rPr lang="zh-CN" altLang="en-US" dirty="0">
                <a:latin typeface="Aptos Display" panose="020B0004020202020204" pitchFamily="34" charset="0"/>
              </a:rPr>
              <a:t> </a:t>
            </a:r>
            <a:r>
              <a:rPr lang="en-US" altLang="zh-CN" dirty="0">
                <a:latin typeface="Aptos Display" panose="020B0004020202020204" pitchFamily="34" charset="0"/>
              </a:rPr>
              <a:t>itself</a:t>
            </a:r>
            <a:r>
              <a:rPr lang="zh-CN" altLang="en-US" dirty="0">
                <a:latin typeface="Aptos Display" panose="020B0004020202020204" pitchFamily="34" charset="0"/>
              </a:rPr>
              <a:t> </a:t>
            </a:r>
            <a:r>
              <a:rPr lang="en" altLang="en-US" dirty="0">
                <a:latin typeface="Aptos Display" panose="020B0004020202020204" pitchFamily="34" charset="0"/>
              </a:rPr>
              <a:t>directly or indirectly.</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r>
              <a:rPr lang="en" altLang="en-US" dirty="0">
                <a:latin typeface="Aptos Display" panose="020B0004020202020204" pitchFamily="34" charset="0"/>
              </a:rPr>
              <a:t>The two main elements of a recursive function:</a:t>
            </a:r>
            <a:endParaRPr lang="en-US" altLang="zh-CN" dirty="0">
              <a:latin typeface="Aptos Display" panose="020B0004020202020204" pitchFamily="34" charset="0"/>
            </a:endParaRPr>
          </a:p>
          <a:p>
            <a:pPr lvl="1"/>
            <a:r>
              <a:rPr lang="en-US" altLang="zh-CN" dirty="0">
                <a:latin typeface="Aptos Display" panose="020B0004020202020204" pitchFamily="34" charset="0"/>
              </a:rPr>
              <a:t>Recursive</a:t>
            </a:r>
            <a:r>
              <a:rPr lang="zh-CN" altLang="en-US" dirty="0">
                <a:latin typeface="Aptos Display" panose="020B0004020202020204" pitchFamily="34" charset="0"/>
              </a:rPr>
              <a:t> </a:t>
            </a:r>
            <a:r>
              <a:rPr lang="en-US" altLang="zh-CN" dirty="0">
                <a:latin typeface="Aptos Display" panose="020B0004020202020204" pitchFamily="34" charset="0"/>
              </a:rPr>
              <a:t>case(s)</a:t>
            </a:r>
            <a:r>
              <a:rPr lang="en" altLang="en-US" dirty="0">
                <a:latin typeface="Aptos Display" panose="020B0004020202020204" pitchFamily="34" charset="0"/>
              </a:rPr>
              <a:t>: A description of a problem in a recursive form.</a:t>
            </a:r>
            <a:endParaRPr lang="en-US" altLang="zh-CN" dirty="0">
              <a:latin typeface="Aptos Display" panose="020B0004020202020204" pitchFamily="34" charset="0"/>
            </a:endParaRPr>
          </a:p>
          <a:p>
            <a:pPr lvl="1"/>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case(s):</a:t>
            </a:r>
            <a:r>
              <a:rPr lang="zh-CN" altLang="en-US" dirty="0">
                <a:latin typeface="Aptos Display" panose="020B0004020202020204" pitchFamily="34" charset="0"/>
              </a:rPr>
              <a:t> </a:t>
            </a:r>
            <a:r>
              <a:rPr lang="en" altLang="en-US" dirty="0">
                <a:latin typeface="Aptos Display" panose="020B0004020202020204" pitchFamily="34" charset="0"/>
              </a:rPr>
              <a:t>should be treated as a special case, rather than using the recursive </a:t>
            </a:r>
            <a:r>
              <a:rPr lang="en-US" altLang="zh-CN" dirty="0">
                <a:latin typeface="Aptos Display" panose="020B0004020202020204" pitchFamily="34" charset="0"/>
              </a:rPr>
              <a:t>case</a:t>
            </a:r>
            <a:r>
              <a:rPr lang="en" altLang="en-US" dirty="0">
                <a:latin typeface="Aptos Display" panose="020B0004020202020204" pitchFamily="34" charset="0"/>
              </a:rPr>
              <a:t>.</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r>
              <a:rPr lang="en-US" altLang="zh-CN" dirty="0">
                <a:latin typeface="Aptos Display" panose="020B0004020202020204" pitchFamily="34" charset="0"/>
              </a:rPr>
              <a:t>Two</a:t>
            </a:r>
            <a:r>
              <a:rPr lang="zh-CN" altLang="en-US" dirty="0">
                <a:latin typeface="Aptos Display" panose="020B0004020202020204" pitchFamily="34" charset="0"/>
              </a:rPr>
              <a:t> </a:t>
            </a:r>
            <a:r>
              <a:rPr lang="en-US" altLang="zh-CN" dirty="0">
                <a:latin typeface="Aptos Display" panose="020B0004020202020204" pitchFamily="34" charset="0"/>
              </a:rPr>
              <a:t>pre-requisites</a:t>
            </a:r>
            <a:r>
              <a:rPr lang="zh-CN" altLang="en-US" dirty="0">
                <a:latin typeface="Aptos Display" panose="020B0004020202020204" pitchFamily="34" charset="0"/>
              </a:rPr>
              <a:t> </a:t>
            </a:r>
            <a:r>
              <a:rPr lang="en-US" altLang="zh-CN" dirty="0">
                <a:latin typeface="Aptos Display" panose="020B0004020202020204" pitchFamily="34" charset="0"/>
              </a:rPr>
              <a:t>for</a:t>
            </a:r>
            <a:r>
              <a:rPr lang="zh-CN" altLang="en-US" dirty="0">
                <a:latin typeface="Aptos Display" panose="020B0004020202020204" pitchFamily="34" charset="0"/>
              </a:rPr>
              <a:t> </a:t>
            </a:r>
            <a:r>
              <a:rPr lang="en-US" altLang="zh-CN" dirty="0">
                <a:latin typeface="Aptos Display" panose="020B0004020202020204" pitchFamily="34" charset="0"/>
              </a:rPr>
              <a:t>p</a:t>
            </a:r>
            <a:r>
              <a:rPr lang="en" altLang="en-US" dirty="0" err="1">
                <a:latin typeface="Aptos Display" panose="020B0004020202020204" pitchFamily="34" charset="0"/>
              </a:rPr>
              <a:t>roblems</a:t>
            </a:r>
            <a:r>
              <a:rPr lang="e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be</a:t>
            </a:r>
            <a:r>
              <a:rPr lang="en" altLang="en-US" dirty="0">
                <a:latin typeface="Aptos Display" panose="020B0004020202020204" pitchFamily="34" charset="0"/>
              </a:rPr>
              <a:t> solved recursively:</a:t>
            </a:r>
            <a:endParaRPr lang="en-US" altLang="zh-CN" dirty="0">
              <a:latin typeface="Aptos Display" panose="020B0004020202020204" pitchFamily="34" charset="0"/>
            </a:endParaRPr>
          </a:p>
          <a:p>
            <a:pPr lvl="1"/>
            <a:r>
              <a:rPr lang="en" altLang="en-US" dirty="0">
                <a:latin typeface="Aptos Display" panose="020B0004020202020204" pitchFamily="34" charset="0"/>
              </a:rPr>
              <a:t>It is possible to transform </a:t>
            </a:r>
            <a:r>
              <a:rPr lang="en-US" altLang="zh-CN" dirty="0">
                <a:latin typeface="Aptos Display" panose="020B0004020202020204" pitchFamily="34" charset="0"/>
              </a:rPr>
              <a:t>the</a:t>
            </a:r>
            <a:r>
              <a:rPr lang="en" altLang="en-US" dirty="0">
                <a:latin typeface="Aptos Display" panose="020B0004020202020204" pitchFamily="34" charset="0"/>
              </a:rPr>
              <a:t> problem into a new problem, and the solution to the new problem is exactly the same as </a:t>
            </a:r>
            <a:r>
              <a:rPr lang="en-US" altLang="zh-CN" dirty="0">
                <a:latin typeface="Aptos Display" panose="020B0004020202020204" pitchFamily="34" charset="0"/>
              </a:rPr>
              <a:t>that</a:t>
            </a:r>
            <a:r>
              <a:rPr lang="zh-CN" altLang="en-US" dirty="0">
                <a:latin typeface="Aptos Display" panose="020B0004020202020204" pitchFamily="34" charset="0"/>
              </a:rPr>
              <a:t> </a:t>
            </a:r>
            <a:r>
              <a:rPr lang="en" altLang="en-US" dirty="0">
                <a:latin typeface="Aptos Display" panose="020B0004020202020204" pitchFamily="34" charset="0"/>
              </a:rPr>
              <a:t>to the original, only the </a:t>
            </a:r>
            <a:r>
              <a:rPr lang="en-US" altLang="zh-CN" dirty="0">
                <a:latin typeface="Aptos Display" panose="020B0004020202020204" pitchFamily="34" charset="0"/>
              </a:rPr>
              <a:t>size</a:t>
            </a:r>
            <a:r>
              <a:rPr lang="en" altLang="en-US" dirty="0">
                <a:latin typeface="Aptos Display" panose="020B0004020202020204" pitchFamily="34" charset="0"/>
              </a:rPr>
              <a:t> of the </a:t>
            </a:r>
            <a:r>
              <a:rPr lang="en-US" altLang="zh-CN" dirty="0">
                <a:latin typeface="Aptos Display" panose="020B0004020202020204" pitchFamily="34" charset="0"/>
              </a:rPr>
              <a:t>input</a:t>
            </a:r>
            <a:r>
              <a:rPr lang="en" altLang="en-US" dirty="0">
                <a:latin typeface="Aptos Display" panose="020B0004020202020204" pitchFamily="34" charset="0"/>
              </a:rPr>
              <a:t> different.</a:t>
            </a:r>
          </a:p>
          <a:p>
            <a:pPr lvl="1"/>
            <a:r>
              <a:rPr lang="en" altLang="en-US" dirty="0">
                <a:latin typeface="Aptos Display" panose="020B0004020202020204" pitchFamily="34" charset="0"/>
              </a:rPr>
              <a:t>There is</a:t>
            </a:r>
            <a:r>
              <a:rPr lang="zh-CN" altLang="en-US" dirty="0">
                <a:latin typeface="Aptos Display" panose="020B0004020202020204" pitchFamily="34" charset="0"/>
              </a:rPr>
              <a:t>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clearly</a:t>
            </a:r>
            <a:r>
              <a:rPr lang="zh-CN" altLang="en-US" dirty="0">
                <a:latin typeface="Aptos Display" panose="020B0004020202020204" pitchFamily="34" charset="0"/>
              </a:rPr>
              <a:t> </a:t>
            </a:r>
            <a:r>
              <a:rPr lang="en-US" altLang="zh-CN" dirty="0">
                <a:latin typeface="Aptos Display" panose="020B0004020202020204" pitchFamily="34" charset="0"/>
              </a:rPr>
              <a:t>defined</a:t>
            </a:r>
            <a:r>
              <a:rPr lang="zh-CN" altLang="en-US" dirty="0">
                <a:latin typeface="Aptos Display" panose="020B0004020202020204" pitchFamily="34" charset="0"/>
              </a:rPr>
              <a:t> </a:t>
            </a:r>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a:t>
            </a:r>
            <a:r>
              <a:rPr lang="en" altLang="en-US" dirty="0">
                <a:latin typeface="Aptos Display" panose="020B0004020202020204" pitchFamily="34" charset="0"/>
              </a:rPr>
              <a:t>.</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374040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latin typeface="Aptos Display" panose="020B0004020202020204" pitchFamily="34" charset="0"/>
              </a:rPr>
              <a:t>The execution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sz="2000" dirty="0">
                <a:latin typeface="Aptos Display" panose="020B0004020202020204" pitchFamily="34" charset="0"/>
              </a:rPr>
              <a:t>The execution of a recursive function always occurs before one function body has finished executing. The function takes the result of the current execution and enters another round of function body execution, </a:t>
            </a:r>
            <a:r>
              <a:rPr lang="en" altLang="zh-CN" sz="2000" dirty="0">
                <a:latin typeface="Aptos Display" panose="020B0004020202020204" pitchFamily="34" charset="0"/>
              </a:rPr>
              <a:t>and </a:t>
            </a:r>
            <a:r>
              <a:rPr lang="en" altLang="en-US" sz="2000" dirty="0">
                <a:latin typeface="Aptos Display" panose="020B0004020202020204" pitchFamily="34" charset="0"/>
              </a:rPr>
              <a:t>so on, going deeper and deeper, until the execution of a function encounters </a:t>
            </a:r>
            <a:r>
              <a:rPr lang="en" altLang="en-US" sz="2000" dirty="0">
                <a:solidFill>
                  <a:srgbClr val="FF0000"/>
                </a:solidFill>
                <a:latin typeface="Aptos Display" panose="020B0004020202020204" pitchFamily="34" charset="0"/>
              </a:rPr>
              <a:t>the boundary condition for terminating the recursion </a:t>
            </a:r>
            <a:r>
              <a:rPr lang="en" altLang="en-US" sz="2000" dirty="0">
                <a:latin typeface="Aptos Display" panose="020B0004020202020204" pitchFamily="34" charset="0"/>
              </a:rPr>
              <a:t>. At this point, it stops going deeper and executes the remaining part of the function body for the current call, and then returns to the function body of the previous call to execute the remaining part, </a:t>
            </a:r>
            <a:r>
              <a:rPr lang="en" altLang="zh-CN" sz="2000" dirty="0">
                <a:latin typeface="Aptos Display" panose="020B0004020202020204" pitchFamily="34" charset="0"/>
              </a:rPr>
              <a:t>and </a:t>
            </a:r>
            <a:r>
              <a:rPr lang="en" altLang="en-US" sz="2000" dirty="0">
                <a:latin typeface="Aptos Display" panose="020B0004020202020204" pitchFamily="34" charset="0"/>
              </a:rPr>
              <a:t>so on, until it returns to the starting position, and finally ends the execution of the entire recursive function and obtains the corresponding execution result.</a:t>
            </a:r>
            <a:endParaRPr lang="en-US" altLang="zh-CN" sz="2000" dirty="0">
              <a:latin typeface="Aptos Display" panose="020B0004020202020204" pitchFamily="34" charset="0"/>
            </a:endParaRPr>
          </a:p>
        </p:txBody>
      </p:sp>
      <p:grpSp>
        <p:nvGrpSpPr>
          <p:cNvPr id="62" name="Group 61">
            <a:extLst>
              <a:ext uri="{FF2B5EF4-FFF2-40B4-BE49-F238E27FC236}">
                <a16:creationId xmlns:a16="http://schemas.microsoft.com/office/drawing/2014/main" id="{07B534FE-384A-D51A-83EC-0F7EF8F43C9E}"/>
              </a:ext>
            </a:extLst>
          </p:cNvPr>
          <p:cNvGrpSpPr/>
          <p:nvPr/>
        </p:nvGrpSpPr>
        <p:grpSpPr>
          <a:xfrm>
            <a:off x="1553391" y="4527752"/>
            <a:ext cx="7538519" cy="2207722"/>
            <a:chOff x="1553391" y="4527752"/>
            <a:chExt cx="7538519" cy="2207722"/>
          </a:xfrm>
        </p:grpSpPr>
        <p:grpSp>
          <p:nvGrpSpPr>
            <p:cNvPr id="24" name="Group 23">
              <a:extLst>
                <a:ext uri="{FF2B5EF4-FFF2-40B4-BE49-F238E27FC236}">
                  <a16:creationId xmlns:a16="http://schemas.microsoft.com/office/drawing/2014/main" id="{EA29DEBF-7369-7E25-C556-8EF3E5097EB6}"/>
                </a:ext>
              </a:extLst>
            </p:cNvPr>
            <p:cNvGrpSpPr/>
            <p:nvPr/>
          </p:nvGrpSpPr>
          <p:grpSpPr>
            <a:xfrm>
              <a:off x="2819908" y="4527752"/>
              <a:ext cx="1682647" cy="1735145"/>
              <a:chOff x="1326774" y="4607199"/>
              <a:chExt cx="1682647" cy="1735145"/>
            </a:xfrm>
          </p:grpSpPr>
          <p:sp>
            <p:nvSpPr>
              <p:cNvPr id="5" name="Rectangle 4">
                <a:extLst>
                  <a:ext uri="{FF2B5EF4-FFF2-40B4-BE49-F238E27FC236}">
                    <a16:creationId xmlns:a16="http://schemas.microsoft.com/office/drawing/2014/main" id="{83841E43-F3A2-98BF-3D38-31BBA90A1F10}"/>
                  </a:ext>
                </a:extLst>
              </p:cNvPr>
              <p:cNvSpPr/>
              <p:nvPr/>
            </p:nvSpPr>
            <p:spPr>
              <a:xfrm>
                <a:off x="1326776" y="4976531"/>
                <a:ext cx="918713" cy="13658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Aptos Display" panose="020B0004020202020204" pitchFamily="34" charset="0"/>
                  </a:rPr>
                  <a:t>Terminate?</a:t>
                </a:r>
              </a:p>
              <a:p>
                <a:pPr algn="ctr"/>
                <a:r>
                  <a:rPr lang="en-US" altLang="zh-CN" sz="1400" dirty="0">
                    <a:solidFill>
                      <a:schemeClr val="bg1"/>
                    </a:solidFill>
                    <a:latin typeface="Aptos Display" panose="020B0004020202020204" pitchFamily="34" charset="0"/>
                  </a:rPr>
                  <a:t>N</a:t>
                </a:r>
              </a:p>
              <a:p>
                <a:pPr algn="ctr"/>
                <a:r>
                  <a:rPr lang="en-US" altLang="zh-CN" sz="1400" dirty="0">
                    <a:solidFill>
                      <a:schemeClr val="bg1"/>
                    </a:solidFill>
                    <a:latin typeface="Aptos Display" panose="020B0004020202020204" pitchFamily="34" charset="0"/>
                  </a:rPr>
                  <a:t>Call</a:t>
                </a:r>
                <a:r>
                  <a:rPr lang="zh-CN" altLang="en-US" sz="1400" dirty="0">
                    <a:solidFill>
                      <a:schemeClr val="bg1"/>
                    </a:solidFill>
                    <a:latin typeface="Aptos Display" panose="020B0004020202020204" pitchFamily="34" charset="0"/>
                  </a:rPr>
                  <a:t> </a:t>
                </a:r>
                <a:r>
                  <a:rPr lang="en-US" altLang="zh-CN" sz="1400" dirty="0">
                    <a:solidFill>
                      <a:schemeClr val="bg1"/>
                    </a:solidFill>
                    <a:latin typeface="Aptos Display" panose="020B0004020202020204" pitchFamily="34" charset="0"/>
                  </a:rPr>
                  <a:t>A</a:t>
                </a:r>
                <a:endParaRPr lang="en-AU" sz="1400" dirty="0">
                  <a:solidFill>
                    <a:schemeClr val="bg1"/>
                  </a:solidFill>
                  <a:latin typeface="Aptos Display" panose="020B0004020202020204" pitchFamily="34" charset="0"/>
                </a:endParaRPr>
              </a:p>
            </p:txBody>
          </p:sp>
          <p:sp>
            <p:nvSpPr>
              <p:cNvPr id="6" name="TextBox 5">
                <a:extLst>
                  <a:ext uri="{FF2B5EF4-FFF2-40B4-BE49-F238E27FC236}">
                    <a16:creationId xmlns:a16="http://schemas.microsoft.com/office/drawing/2014/main" id="{84A61BFD-F2FA-5C97-CC97-3BE529B1D746}"/>
                  </a:ext>
                </a:extLst>
              </p:cNvPr>
              <p:cNvSpPr txBox="1"/>
              <p:nvPr/>
            </p:nvSpPr>
            <p:spPr>
              <a:xfrm>
                <a:off x="1326774" y="4607199"/>
                <a:ext cx="918713"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Func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A</a:t>
                </a:r>
                <a:endParaRPr lang="en-AU" dirty="0">
                  <a:solidFill>
                    <a:schemeClr val="bg1"/>
                  </a:solidFill>
                  <a:latin typeface="Aptos Display" panose="020B0004020202020204" pitchFamily="34" charset="0"/>
                </a:endParaRPr>
              </a:p>
            </p:txBody>
          </p:sp>
          <p:cxnSp>
            <p:nvCxnSpPr>
              <p:cNvPr id="8" name="Elbow Connector 7">
                <a:extLst>
                  <a:ext uri="{FF2B5EF4-FFF2-40B4-BE49-F238E27FC236}">
                    <a16:creationId xmlns:a16="http://schemas.microsoft.com/office/drawing/2014/main" id="{E760A621-5E27-A29B-4DD5-B2BA58594FD1}"/>
                  </a:ext>
                </a:extLst>
              </p:cNvPr>
              <p:cNvCxnSpPr>
                <a:cxnSpLocks/>
              </p:cNvCxnSpPr>
              <p:nvPr/>
            </p:nvCxnSpPr>
            <p:spPr>
              <a:xfrm flipV="1">
                <a:off x="2020023" y="4976530"/>
                <a:ext cx="989398" cy="925684"/>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AA1EE357-5D20-9650-CEB2-17CAE1CBB5B6}"/>
                </a:ext>
              </a:extLst>
            </p:cNvPr>
            <p:cNvGrpSpPr/>
            <p:nvPr/>
          </p:nvGrpSpPr>
          <p:grpSpPr>
            <a:xfrm>
              <a:off x="4604339" y="4527752"/>
              <a:ext cx="1682647" cy="1735145"/>
              <a:chOff x="1326774" y="4607199"/>
              <a:chExt cx="1682647" cy="1735145"/>
            </a:xfrm>
          </p:grpSpPr>
          <p:sp>
            <p:nvSpPr>
              <p:cNvPr id="26" name="Rectangle 25">
                <a:extLst>
                  <a:ext uri="{FF2B5EF4-FFF2-40B4-BE49-F238E27FC236}">
                    <a16:creationId xmlns:a16="http://schemas.microsoft.com/office/drawing/2014/main" id="{45C97BB2-980E-DFF3-4968-B76A17B84B19}"/>
                  </a:ext>
                </a:extLst>
              </p:cNvPr>
              <p:cNvSpPr/>
              <p:nvPr/>
            </p:nvSpPr>
            <p:spPr>
              <a:xfrm>
                <a:off x="1326776" y="4976531"/>
                <a:ext cx="918713" cy="13658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Aptos Display" panose="020B0004020202020204" pitchFamily="34" charset="0"/>
                  </a:rPr>
                  <a:t>Terminate?</a:t>
                </a:r>
              </a:p>
              <a:p>
                <a:pPr algn="ctr"/>
                <a:r>
                  <a:rPr lang="en-US" altLang="zh-CN" sz="1400" dirty="0">
                    <a:solidFill>
                      <a:schemeClr val="bg1"/>
                    </a:solidFill>
                    <a:latin typeface="Aptos Display" panose="020B0004020202020204" pitchFamily="34" charset="0"/>
                  </a:rPr>
                  <a:t>N</a:t>
                </a:r>
              </a:p>
              <a:p>
                <a:pPr algn="ctr"/>
                <a:r>
                  <a:rPr lang="en-US" altLang="zh-CN" sz="1400" dirty="0">
                    <a:solidFill>
                      <a:schemeClr val="bg1"/>
                    </a:solidFill>
                    <a:latin typeface="Aptos Display" panose="020B0004020202020204" pitchFamily="34" charset="0"/>
                  </a:rPr>
                  <a:t>Call</a:t>
                </a:r>
                <a:r>
                  <a:rPr lang="zh-CN" altLang="en-US" sz="1400" dirty="0">
                    <a:solidFill>
                      <a:schemeClr val="bg1"/>
                    </a:solidFill>
                    <a:latin typeface="Aptos Display" panose="020B0004020202020204" pitchFamily="34" charset="0"/>
                  </a:rPr>
                  <a:t> </a:t>
                </a:r>
                <a:r>
                  <a:rPr lang="en-US" altLang="zh-CN" sz="1400" dirty="0">
                    <a:solidFill>
                      <a:schemeClr val="bg1"/>
                    </a:solidFill>
                    <a:latin typeface="Aptos Display" panose="020B0004020202020204" pitchFamily="34" charset="0"/>
                  </a:rPr>
                  <a:t>A</a:t>
                </a:r>
                <a:endParaRPr lang="en-AU" sz="1400" dirty="0">
                  <a:solidFill>
                    <a:schemeClr val="bg1"/>
                  </a:solidFill>
                  <a:latin typeface="Aptos Display" panose="020B0004020202020204" pitchFamily="34" charset="0"/>
                </a:endParaRPr>
              </a:p>
            </p:txBody>
          </p:sp>
          <p:sp>
            <p:nvSpPr>
              <p:cNvPr id="27" name="TextBox 26">
                <a:extLst>
                  <a:ext uri="{FF2B5EF4-FFF2-40B4-BE49-F238E27FC236}">
                    <a16:creationId xmlns:a16="http://schemas.microsoft.com/office/drawing/2014/main" id="{83987FD4-3D8D-70CA-02B4-CDCD362D7285}"/>
                  </a:ext>
                </a:extLst>
              </p:cNvPr>
              <p:cNvSpPr txBox="1"/>
              <p:nvPr/>
            </p:nvSpPr>
            <p:spPr>
              <a:xfrm>
                <a:off x="1326774" y="4607199"/>
                <a:ext cx="918713"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Func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A</a:t>
                </a:r>
                <a:endParaRPr lang="en-AU" dirty="0">
                  <a:solidFill>
                    <a:schemeClr val="bg1"/>
                  </a:solidFill>
                  <a:latin typeface="Aptos Display" panose="020B0004020202020204" pitchFamily="34" charset="0"/>
                </a:endParaRPr>
              </a:p>
            </p:txBody>
          </p:sp>
          <p:cxnSp>
            <p:nvCxnSpPr>
              <p:cNvPr id="28" name="Elbow Connector 27">
                <a:extLst>
                  <a:ext uri="{FF2B5EF4-FFF2-40B4-BE49-F238E27FC236}">
                    <a16:creationId xmlns:a16="http://schemas.microsoft.com/office/drawing/2014/main" id="{E4504779-A027-4D45-B7B1-A0553CE7FC8F}"/>
                  </a:ext>
                </a:extLst>
              </p:cNvPr>
              <p:cNvCxnSpPr>
                <a:cxnSpLocks/>
              </p:cNvCxnSpPr>
              <p:nvPr/>
            </p:nvCxnSpPr>
            <p:spPr>
              <a:xfrm flipV="1">
                <a:off x="2020023" y="4976530"/>
                <a:ext cx="989398" cy="925684"/>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5334007F-7AD5-8DF7-F88B-D11C75916571}"/>
                </a:ext>
              </a:extLst>
            </p:cNvPr>
            <p:cNvGrpSpPr/>
            <p:nvPr/>
          </p:nvGrpSpPr>
          <p:grpSpPr>
            <a:xfrm>
              <a:off x="6388768" y="4527752"/>
              <a:ext cx="1682647" cy="1735145"/>
              <a:chOff x="1326774" y="4607199"/>
              <a:chExt cx="1682647" cy="1735145"/>
            </a:xfrm>
          </p:grpSpPr>
          <p:sp>
            <p:nvSpPr>
              <p:cNvPr id="30" name="Rectangle 29">
                <a:extLst>
                  <a:ext uri="{FF2B5EF4-FFF2-40B4-BE49-F238E27FC236}">
                    <a16:creationId xmlns:a16="http://schemas.microsoft.com/office/drawing/2014/main" id="{D2731190-FC75-5E72-831B-3251D0776DF4}"/>
                  </a:ext>
                </a:extLst>
              </p:cNvPr>
              <p:cNvSpPr/>
              <p:nvPr/>
            </p:nvSpPr>
            <p:spPr>
              <a:xfrm>
                <a:off x="1326776" y="4976531"/>
                <a:ext cx="918713" cy="13658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Aptos Display" panose="020B0004020202020204" pitchFamily="34" charset="0"/>
                  </a:rPr>
                  <a:t>Terminate?</a:t>
                </a:r>
              </a:p>
              <a:p>
                <a:pPr algn="ctr"/>
                <a:r>
                  <a:rPr lang="en-US" altLang="zh-CN" sz="1400" dirty="0">
                    <a:solidFill>
                      <a:schemeClr val="bg1"/>
                    </a:solidFill>
                    <a:latin typeface="Aptos Display" panose="020B0004020202020204" pitchFamily="34" charset="0"/>
                  </a:rPr>
                  <a:t>N</a:t>
                </a:r>
              </a:p>
              <a:p>
                <a:pPr algn="ctr"/>
                <a:r>
                  <a:rPr lang="en-US" altLang="zh-CN" sz="1400" dirty="0">
                    <a:solidFill>
                      <a:schemeClr val="bg1"/>
                    </a:solidFill>
                    <a:latin typeface="Aptos Display" panose="020B0004020202020204" pitchFamily="34" charset="0"/>
                  </a:rPr>
                  <a:t>Call</a:t>
                </a:r>
                <a:r>
                  <a:rPr lang="zh-CN" altLang="en-US" sz="1400" dirty="0">
                    <a:solidFill>
                      <a:schemeClr val="bg1"/>
                    </a:solidFill>
                    <a:latin typeface="Aptos Display" panose="020B0004020202020204" pitchFamily="34" charset="0"/>
                  </a:rPr>
                  <a:t> </a:t>
                </a:r>
                <a:r>
                  <a:rPr lang="en-US" altLang="zh-CN" sz="1400" dirty="0">
                    <a:solidFill>
                      <a:schemeClr val="bg1"/>
                    </a:solidFill>
                    <a:latin typeface="Aptos Display" panose="020B0004020202020204" pitchFamily="34" charset="0"/>
                  </a:rPr>
                  <a:t>A</a:t>
                </a:r>
                <a:endParaRPr lang="en-AU" sz="1400" dirty="0">
                  <a:solidFill>
                    <a:schemeClr val="bg1"/>
                  </a:solidFill>
                  <a:latin typeface="Aptos Display" panose="020B0004020202020204" pitchFamily="34" charset="0"/>
                </a:endParaRPr>
              </a:p>
            </p:txBody>
          </p:sp>
          <p:sp>
            <p:nvSpPr>
              <p:cNvPr id="31" name="TextBox 30">
                <a:extLst>
                  <a:ext uri="{FF2B5EF4-FFF2-40B4-BE49-F238E27FC236}">
                    <a16:creationId xmlns:a16="http://schemas.microsoft.com/office/drawing/2014/main" id="{2A856887-1E48-5414-FE68-8109A6BAE740}"/>
                  </a:ext>
                </a:extLst>
              </p:cNvPr>
              <p:cNvSpPr txBox="1"/>
              <p:nvPr/>
            </p:nvSpPr>
            <p:spPr>
              <a:xfrm>
                <a:off x="1326774" y="4607199"/>
                <a:ext cx="918713"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Func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A</a:t>
                </a:r>
                <a:endParaRPr lang="en-AU" dirty="0">
                  <a:solidFill>
                    <a:schemeClr val="bg1"/>
                  </a:solidFill>
                  <a:latin typeface="Aptos Display" panose="020B0004020202020204" pitchFamily="34" charset="0"/>
                </a:endParaRPr>
              </a:p>
            </p:txBody>
          </p:sp>
          <p:cxnSp>
            <p:nvCxnSpPr>
              <p:cNvPr id="32" name="Elbow Connector 31">
                <a:extLst>
                  <a:ext uri="{FF2B5EF4-FFF2-40B4-BE49-F238E27FC236}">
                    <a16:creationId xmlns:a16="http://schemas.microsoft.com/office/drawing/2014/main" id="{432BA190-9BB7-3BA2-2AE3-91F72DC972A2}"/>
                  </a:ext>
                </a:extLst>
              </p:cNvPr>
              <p:cNvCxnSpPr>
                <a:cxnSpLocks/>
              </p:cNvCxnSpPr>
              <p:nvPr/>
            </p:nvCxnSpPr>
            <p:spPr>
              <a:xfrm flipV="1">
                <a:off x="2020023" y="4976530"/>
                <a:ext cx="989398" cy="925684"/>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E9990BA-96AF-12F7-F8F6-722B0D0292B4}"/>
                </a:ext>
              </a:extLst>
            </p:cNvPr>
            <p:cNvGrpSpPr/>
            <p:nvPr/>
          </p:nvGrpSpPr>
          <p:grpSpPr>
            <a:xfrm>
              <a:off x="8071415" y="4527752"/>
              <a:ext cx="1020495" cy="1845195"/>
              <a:chOff x="1224994" y="4607199"/>
              <a:chExt cx="1020495" cy="1845195"/>
            </a:xfrm>
          </p:grpSpPr>
          <p:sp>
            <p:nvSpPr>
              <p:cNvPr id="34" name="Rectangle 33">
                <a:extLst>
                  <a:ext uri="{FF2B5EF4-FFF2-40B4-BE49-F238E27FC236}">
                    <a16:creationId xmlns:a16="http://schemas.microsoft.com/office/drawing/2014/main" id="{0305F705-D92E-F504-9A51-5B998B30A150}"/>
                  </a:ext>
                </a:extLst>
              </p:cNvPr>
              <p:cNvSpPr/>
              <p:nvPr/>
            </p:nvSpPr>
            <p:spPr>
              <a:xfrm>
                <a:off x="1326776" y="4976531"/>
                <a:ext cx="918713" cy="13658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Aptos Display" panose="020B0004020202020204" pitchFamily="34" charset="0"/>
                  </a:rPr>
                  <a:t>Terminate?</a:t>
                </a:r>
              </a:p>
              <a:p>
                <a:pPr algn="ctr"/>
                <a:r>
                  <a:rPr lang="en-US" altLang="zh-CN" sz="1400" dirty="0">
                    <a:solidFill>
                      <a:schemeClr val="bg1"/>
                    </a:solidFill>
                    <a:latin typeface="Aptos Display" panose="020B0004020202020204" pitchFamily="34" charset="0"/>
                  </a:rPr>
                  <a:t>Y</a:t>
                </a:r>
              </a:p>
              <a:p>
                <a:pPr algn="ctr"/>
                <a:r>
                  <a:rPr lang="en-US" altLang="zh-CN" sz="1400" dirty="0">
                    <a:solidFill>
                      <a:schemeClr val="bg1"/>
                    </a:solidFill>
                    <a:latin typeface="Aptos Display" panose="020B0004020202020204" pitchFamily="34" charset="0"/>
                  </a:rPr>
                  <a:t>Return</a:t>
                </a:r>
                <a:endParaRPr lang="en-AU" sz="1400" dirty="0">
                  <a:solidFill>
                    <a:schemeClr val="bg1"/>
                  </a:solidFill>
                  <a:latin typeface="Aptos Display" panose="020B0004020202020204" pitchFamily="34" charset="0"/>
                </a:endParaRPr>
              </a:p>
            </p:txBody>
          </p:sp>
          <p:sp>
            <p:nvSpPr>
              <p:cNvPr id="35" name="TextBox 34">
                <a:extLst>
                  <a:ext uri="{FF2B5EF4-FFF2-40B4-BE49-F238E27FC236}">
                    <a16:creationId xmlns:a16="http://schemas.microsoft.com/office/drawing/2014/main" id="{57666189-1F9F-186C-EE53-1D14B546854E}"/>
                  </a:ext>
                </a:extLst>
              </p:cNvPr>
              <p:cNvSpPr txBox="1"/>
              <p:nvPr/>
            </p:nvSpPr>
            <p:spPr>
              <a:xfrm>
                <a:off x="1326774" y="4607199"/>
                <a:ext cx="918713"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Func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A</a:t>
                </a:r>
                <a:endParaRPr lang="en-AU" dirty="0">
                  <a:solidFill>
                    <a:schemeClr val="bg1"/>
                  </a:solidFill>
                  <a:latin typeface="Aptos Display" panose="020B0004020202020204" pitchFamily="34" charset="0"/>
                </a:endParaRPr>
              </a:p>
            </p:txBody>
          </p:sp>
          <p:cxnSp>
            <p:nvCxnSpPr>
              <p:cNvPr id="36" name="Elbow Connector 35">
                <a:extLst>
                  <a:ext uri="{FF2B5EF4-FFF2-40B4-BE49-F238E27FC236}">
                    <a16:creationId xmlns:a16="http://schemas.microsoft.com/office/drawing/2014/main" id="{8A1CE874-7E66-A6BC-6EC7-3BEEA6F4DECF}"/>
                  </a:ext>
                </a:extLst>
              </p:cNvPr>
              <p:cNvCxnSpPr>
                <a:cxnSpLocks/>
              </p:cNvCxnSpPr>
              <p:nvPr/>
            </p:nvCxnSpPr>
            <p:spPr>
              <a:xfrm rot="10800000" flipV="1">
                <a:off x="1224994" y="6065133"/>
                <a:ext cx="561136" cy="387261"/>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Elbow Connector 39">
              <a:extLst>
                <a:ext uri="{FF2B5EF4-FFF2-40B4-BE49-F238E27FC236}">
                  <a16:creationId xmlns:a16="http://schemas.microsoft.com/office/drawing/2014/main" id="{6A3CD83B-ADAC-0CB8-2B69-E7C01F09EA59}"/>
                </a:ext>
              </a:extLst>
            </p:cNvPr>
            <p:cNvCxnSpPr>
              <a:cxnSpLocks/>
            </p:cNvCxnSpPr>
            <p:nvPr/>
          </p:nvCxnSpPr>
          <p:spPr>
            <a:xfrm rot="10800000">
              <a:off x="7106855" y="6062459"/>
              <a:ext cx="788770" cy="303682"/>
            </a:xfrm>
            <a:prstGeom prst="bentConnector3">
              <a:avLst>
                <a:gd name="adj1" fmla="val 3826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BB18A732-2133-A9BD-ED2C-767AA7EB2666}"/>
                </a:ext>
              </a:extLst>
            </p:cNvPr>
            <p:cNvCxnSpPr>
              <a:cxnSpLocks/>
            </p:cNvCxnSpPr>
            <p:nvPr/>
          </p:nvCxnSpPr>
          <p:spPr>
            <a:xfrm rot="10800000" flipV="1">
              <a:off x="6216300" y="6062459"/>
              <a:ext cx="561136" cy="387261"/>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3E6874D8-C16A-DA9C-8B73-39E88A3ECE38}"/>
                </a:ext>
              </a:extLst>
            </p:cNvPr>
            <p:cNvCxnSpPr>
              <a:cxnSpLocks/>
            </p:cNvCxnSpPr>
            <p:nvPr/>
          </p:nvCxnSpPr>
          <p:spPr>
            <a:xfrm rot="10800000">
              <a:off x="5297588" y="6152846"/>
              <a:ext cx="788770" cy="303682"/>
            </a:xfrm>
            <a:prstGeom prst="bentConnector3">
              <a:avLst>
                <a:gd name="adj1" fmla="val 36793"/>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B0EFA973-A8AC-F067-7597-8042BE2F63F5}"/>
                </a:ext>
              </a:extLst>
            </p:cNvPr>
            <p:cNvCxnSpPr>
              <a:cxnSpLocks/>
            </p:cNvCxnSpPr>
            <p:nvPr/>
          </p:nvCxnSpPr>
          <p:spPr>
            <a:xfrm rot="10800000" flipV="1">
              <a:off x="4431869" y="6055652"/>
              <a:ext cx="561136" cy="387261"/>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4C7894F1-219C-E2C5-3CD4-F876B2AF8314}"/>
                </a:ext>
              </a:extLst>
            </p:cNvPr>
            <p:cNvCxnSpPr>
              <a:cxnSpLocks/>
            </p:cNvCxnSpPr>
            <p:nvPr/>
          </p:nvCxnSpPr>
          <p:spPr>
            <a:xfrm rot="10800000">
              <a:off x="3513157" y="6146039"/>
              <a:ext cx="788770" cy="303682"/>
            </a:xfrm>
            <a:prstGeom prst="bentConnector3">
              <a:avLst>
                <a:gd name="adj1" fmla="val 36793"/>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BB7F39C-C0CB-CC59-698C-4A5BA8ED67BE}"/>
                </a:ext>
              </a:extLst>
            </p:cNvPr>
            <p:cNvCxnSpPr>
              <a:cxnSpLocks/>
              <a:stCxn id="53" idx="3"/>
            </p:cNvCxnSpPr>
            <p:nvPr/>
          </p:nvCxnSpPr>
          <p:spPr>
            <a:xfrm>
              <a:off x="2330826" y="4897083"/>
              <a:ext cx="335877"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914C2C7-846D-2400-8804-E1C0F882A328}"/>
                </a:ext>
              </a:extLst>
            </p:cNvPr>
            <p:cNvSpPr txBox="1"/>
            <p:nvPr/>
          </p:nvSpPr>
          <p:spPr>
            <a:xfrm>
              <a:off x="1553391" y="4712417"/>
              <a:ext cx="777435"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Start</a:t>
              </a:r>
              <a:endParaRPr lang="en-AU" dirty="0">
                <a:solidFill>
                  <a:schemeClr val="bg1"/>
                </a:solidFill>
                <a:latin typeface="Aptos Display" panose="020B0004020202020204" pitchFamily="34" charset="0"/>
              </a:endParaRPr>
            </a:p>
          </p:txBody>
        </p:sp>
        <p:sp>
          <p:nvSpPr>
            <p:cNvPr id="56" name="TextBox 55">
              <a:extLst>
                <a:ext uri="{FF2B5EF4-FFF2-40B4-BE49-F238E27FC236}">
                  <a16:creationId xmlns:a16="http://schemas.microsoft.com/office/drawing/2014/main" id="{CB1614E5-E94B-863D-8907-57589AC49A02}"/>
                </a:ext>
              </a:extLst>
            </p:cNvPr>
            <p:cNvSpPr txBox="1"/>
            <p:nvPr/>
          </p:nvSpPr>
          <p:spPr>
            <a:xfrm>
              <a:off x="1553391" y="6366142"/>
              <a:ext cx="777435" cy="369332"/>
            </a:xfrm>
            <a:prstGeom prst="rect">
              <a:avLst/>
            </a:prstGeom>
            <a:noFill/>
          </p:spPr>
          <p:txBody>
            <a:bodyPr wrap="square" rtlCol="0">
              <a:spAutoFit/>
            </a:bodyPr>
            <a:lstStyle/>
            <a:p>
              <a:pPr algn="ctr"/>
              <a:r>
                <a:rPr lang="en-US" altLang="zh-CN" dirty="0">
                  <a:solidFill>
                    <a:schemeClr val="bg1"/>
                  </a:solidFill>
                  <a:latin typeface="Aptos Display" panose="020B0004020202020204" pitchFamily="34" charset="0"/>
                </a:rPr>
                <a:t>End</a:t>
              </a:r>
              <a:endParaRPr lang="en-AU" dirty="0">
                <a:solidFill>
                  <a:schemeClr val="bg1"/>
                </a:solidFill>
                <a:latin typeface="Aptos Display" panose="020B0004020202020204" pitchFamily="34" charset="0"/>
              </a:endParaRPr>
            </a:p>
          </p:txBody>
        </p:sp>
        <p:cxnSp>
          <p:nvCxnSpPr>
            <p:cNvPr id="58" name="Elbow Connector 57">
              <a:extLst>
                <a:ext uri="{FF2B5EF4-FFF2-40B4-BE49-F238E27FC236}">
                  <a16:creationId xmlns:a16="http://schemas.microsoft.com/office/drawing/2014/main" id="{C9D725F5-5B25-E659-91D9-2E2F34CF20EB}"/>
                </a:ext>
              </a:extLst>
            </p:cNvPr>
            <p:cNvCxnSpPr>
              <a:cxnSpLocks/>
            </p:cNvCxnSpPr>
            <p:nvPr/>
          </p:nvCxnSpPr>
          <p:spPr>
            <a:xfrm rot="10800000" flipV="1">
              <a:off x="2386135" y="6139707"/>
              <a:ext cx="561136" cy="387261"/>
            </a:xfrm>
            <a:prstGeom prst="bentConnector3">
              <a:avLst>
                <a:gd name="adj1" fmla="val 50000"/>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24560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execution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If a recursive function calls itself more than once, then the entire execution process of the recursive function can be viewed as a recursive call tree.</a:t>
            </a:r>
            <a:endParaRPr lang="en-US" altLang="zh-CN" dirty="0">
              <a:latin typeface="Aptos Display" panose="020B0004020202020204" pitchFamily="34" charset="0"/>
            </a:endParaRPr>
          </a:p>
        </p:txBody>
      </p:sp>
      <p:pic>
        <p:nvPicPr>
          <p:cNvPr id="4" name="图片 3">
            <a:extLst>
              <a:ext uri="{FF2B5EF4-FFF2-40B4-BE49-F238E27FC236}">
                <a16:creationId xmlns:a16="http://schemas.microsoft.com/office/drawing/2014/main" id="{F2ABDFBA-6CFC-D759-B406-3DA3A6EC3EA1}"/>
              </a:ext>
            </a:extLst>
          </p:cNvPr>
          <p:cNvPicPr>
            <a:picLocks noChangeAspect="1"/>
          </p:cNvPicPr>
          <p:nvPr/>
        </p:nvPicPr>
        <p:blipFill>
          <a:blip r:embed="rId3"/>
          <a:stretch>
            <a:fillRect/>
          </a:stretch>
        </p:blipFill>
        <p:spPr>
          <a:xfrm>
            <a:off x="731785" y="2592912"/>
            <a:ext cx="4502456" cy="3657601"/>
          </a:xfrm>
          <a:prstGeom prst="rect">
            <a:avLst/>
          </a:prstGeom>
        </p:spPr>
      </p:pic>
      <p:grpSp>
        <p:nvGrpSpPr>
          <p:cNvPr id="84" name="Group 83">
            <a:extLst>
              <a:ext uri="{FF2B5EF4-FFF2-40B4-BE49-F238E27FC236}">
                <a16:creationId xmlns:a16="http://schemas.microsoft.com/office/drawing/2014/main" id="{B7CACDC7-DC78-6ED8-8EF5-F3B48CBB65D3}"/>
              </a:ext>
            </a:extLst>
          </p:cNvPr>
          <p:cNvGrpSpPr/>
          <p:nvPr/>
        </p:nvGrpSpPr>
        <p:grpSpPr>
          <a:xfrm>
            <a:off x="5100902" y="2738258"/>
            <a:ext cx="5311932" cy="3366908"/>
            <a:chOff x="4892557" y="3264061"/>
            <a:chExt cx="5311932" cy="3366908"/>
          </a:xfrm>
        </p:grpSpPr>
        <p:sp>
          <p:nvSpPr>
            <p:cNvPr id="5" name="TextBox 4">
              <a:extLst>
                <a:ext uri="{FF2B5EF4-FFF2-40B4-BE49-F238E27FC236}">
                  <a16:creationId xmlns:a16="http://schemas.microsoft.com/office/drawing/2014/main" id="{02463690-FD4F-385A-AFC8-CD03D12EFE1B}"/>
                </a:ext>
              </a:extLst>
            </p:cNvPr>
            <p:cNvSpPr txBox="1"/>
            <p:nvPr/>
          </p:nvSpPr>
          <p:spPr>
            <a:xfrm>
              <a:off x="7569382" y="3264061"/>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main()</a:t>
              </a:r>
              <a:endParaRPr lang="en-AU" sz="1200" dirty="0">
                <a:solidFill>
                  <a:schemeClr val="bg1"/>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6FA80DD8-7FBD-742C-19E5-F5E0DC35C9B0}"/>
                </a:ext>
              </a:extLst>
            </p:cNvPr>
            <p:cNvSpPr txBox="1"/>
            <p:nvPr/>
          </p:nvSpPr>
          <p:spPr>
            <a:xfrm>
              <a:off x="7569382" y="4133162"/>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fib(4)</a:t>
              </a:r>
              <a:endParaRPr lang="en-AU" sz="1200" dirty="0">
                <a:solidFill>
                  <a:schemeClr val="bg1"/>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ABE8E5FC-78C0-97C5-BD8B-BD206C53A8FC}"/>
                </a:ext>
              </a:extLst>
            </p:cNvPr>
            <p:cNvSpPr txBox="1"/>
            <p:nvPr/>
          </p:nvSpPr>
          <p:spPr>
            <a:xfrm>
              <a:off x="6476545" y="4791139"/>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fib(3)</a:t>
              </a:r>
              <a:endParaRPr lang="en-AU" sz="1200" dirty="0">
                <a:solidFill>
                  <a:schemeClr val="bg1"/>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68B42F4E-059D-F9BC-F5FA-F4272AB1F454}"/>
                </a:ext>
              </a:extLst>
            </p:cNvPr>
            <p:cNvSpPr txBox="1"/>
            <p:nvPr/>
          </p:nvSpPr>
          <p:spPr>
            <a:xfrm>
              <a:off x="8670884" y="4791138"/>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fib(2)</a:t>
              </a:r>
              <a:endParaRPr lang="en-AU" sz="1200" dirty="0">
                <a:solidFill>
                  <a:schemeClr val="bg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A36485E4-B1B5-EA56-6E53-E6A3E4D915A4}"/>
                </a:ext>
              </a:extLst>
            </p:cNvPr>
            <p:cNvSpPr txBox="1"/>
            <p:nvPr/>
          </p:nvSpPr>
          <p:spPr>
            <a:xfrm>
              <a:off x="5718443" y="5527187"/>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fib(2)</a:t>
              </a:r>
              <a:endParaRPr lang="en-AU" sz="1200" dirty="0">
                <a:solidFill>
                  <a:schemeClr val="bg1"/>
                </a:solidFill>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127067CE-C5EA-9D88-F269-7D57B4A6154F}"/>
                </a:ext>
              </a:extLst>
            </p:cNvPr>
            <p:cNvSpPr txBox="1"/>
            <p:nvPr/>
          </p:nvSpPr>
          <p:spPr>
            <a:xfrm>
              <a:off x="7139246" y="5527187"/>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fib(1)</a:t>
              </a:r>
              <a:endParaRPr lang="en-AU" sz="1200" dirty="0">
                <a:solidFill>
                  <a:schemeClr val="bg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C394CCD9-877B-2F49-86EA-EC0D2FBE39D2}"/>
                </a:ext>
              </a:extLst>
            </p:cNvPr>
            <p:cNvSpPr txBox="1"/>
            <p:nvPr/>
          </p:nvSpPr>
          <p:spPr>
            <a:xfrm>
              <a:off x="8058956" y="5527187"/>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fib(1)</a:t>
              </a:r>
              <a:endParaRPr lang="en-AU" sz="1200" dirty="0">
                <a:solidFill>
                  <a:schemeClr val="bg1"/>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3B892B99-F5D0-1FE3-3278-CD6CA26413B2}"/>
                </a:ext>
              </a:extLst>
            </p:cNvPr>
            <p:cNvSpPr txBox="1"/>
            <p:nvPr/>
          </p:nvSpPr>
          <p:spPr>
            <a:xfrm>
              <a:off x="9377582" y="5484710"/>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fib(0)</a:t>
              </a:r>
              <a:endParaRPr lang="en-AU" sz="1200" dirty="0">
                <a:solidFill>
                  <a:schemeClr val="bg1"/>
                </a:solidFill>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B53AA6AE-089B-3E04-FE4F-51374AD2AC08}"/>
                </a:ext>
              </a:extLst>
            </p:cNvPr>
            <p:cNvSpPr txBox="1"/>
            <p:nvPr/>
          </p:nvSpPr>
          <p:spPr>
            <a:xfrm>
              <a:off x="4892557" y="6291270"/>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fib(1)</a:t>
              </a:r>
              <a:endParaRPr lang="en-AU" sz="1200" dirty="0">
                <a:solidFill>
                  <a:schemeClr val="bg1"/>
                </a:solidFill>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C9386634-B56E-D908-DCD0-2C3764A42C62}"/>
                </a:ext>
              </a:extLst>
            </p:cNvPr>
            <p:cNvSpPr txBox="1"/>
            <p:nvPr/>
          </p:nvSpPr>
          <p:spPr>
            <a:xfrm>
              <a:off x="6401810" y="6260711"/>
              <a:ext cx="683367" cy="339699"/>
            </a:xfrm>
            <a:prstGeom prst="rect">
              <a:avLst/>
            </a:prstGeom>
            <a:noFill/>
            <a:ln>
              <a:solidFill>
                <a:schemeClr val="bg1"/>
              </a:solidFill>
            </a:ln>
          </p:spPr>
          <p:txBody>
            <a:bodyPr wrap="square" rtlCol="0" anchor="ctr">
              <a:noAutofit/>
            </a:bodyPr>
            <a:lstStyle/>
            <a:p>
              <a:pPr algn="ctr"/>
              <a:r>
                <a:rPr lang="en-US" altLang="zh-CN" sz="1200" dirty="0">
                  <a:solidFill>
                    <a:schemeClr val="bg1"/>
                  </a:solidFill>
                  <a:latin typeface="Consolas" panose="020B0609020204030204" pitchFamily="49" charset="0"/>
                  <a:cs typeface="Consolas" panose="020B0609020204030204" pitchFamily="49" charset="0"/>
                </a:rPr>
                <a:t>fib(0)</a:t>
              </a:r>
              <a:endParaRPr lang="en-AU" sz="1200" dirty="0">
                <a:solidFill>
                  <a:schemeClr val="bg1"/>
                </a:solidFill>
                <a:latin typeface="Consolas" panose="020B0609020204030204" pitchFamily="49" charset="0"/>
                <a:cs typeface="Consolas" panose="020B0609020204030204" pitchFamily="49" charset="0"/>
              </a:endParaRPr>
            </a:p>
          </p:txBody>
        </p:sp>
        <p:cxnSp>
          <p:nvCxnSpPr>
            <p:cNvPr id="17" name="Straight Arrow Connector 16">
              <a:extLst>
                <a:ext uri="{FF2B5EF4-FFF2-40B4-BE49-F238E27FC236}">
                  <a16:creationId xmlns:a16="http://schemas.microsoft.com/office/drawing/2014/main" id="{1B22884D-78D7-1109-BB5B-B6C1F520F102}"/>
                </a:ext>
              </a:extLst>
            </p:cNvPr>
            <p:cNvCxnSpPr>
              <a:cxnSpLocks/>
            </p:cNvCxnSpPr>
            <p:nvPr/>
          </p:nvCxnSpPr>
          <p:spPr>
            <a:xfrm>
              <a:off x="7822612" y="3634451"/>
              <a:ext cx="0" cy="44551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4485B3E-D728-E2B3-4BC9-8567B79EF9A5}"/>
                </a:ext>
              </a:extLst>
            </p:cNvPr>
            <p:cNvCxnSpPr>
              <a:cxnSpLocks/>
            </p:cNvCxnSpPr>
            <p:nvPr/>
          </p:nvCxnSpPr>
          <p:spPr>
            <a:xfrm flipV="1">
              <a:off x="7945844" y="3634451"/>
              <a:ext cx="0" cy="436264"/>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12F5A4E-E21D-0EC5-48E0-900875C5A62B}"/>
                </a:ext>
              </a:extLst>
            </p:cNvPr>
            <p:cNvSpPr txBox="1"/>
            <p:nvPr/>
          </p:nvSpPr>
          <p:spPr>
            <a:xfrm>
              <a:off x="7352253" y="3771365"/>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24" name="TextBox 23">
              <a:extLst>
                <a:ext uri="{FF2B5EF4-FFF2-40B4-BE49-F238E27FC236}">
                  <a16:creationId xmlns:a16="http://schemas.microsoft.com/office/drawing/2014/main" id="{D2794CE1-5573-F49A-B1D7-1A0AAA6524D4}"/>
                </a:ext>
              </a:extLst>
            </p:cNvPr>
            <p:cNvSpPr txBox="1"/>
            <p:nvPr/>
          </p:nvSpPr>
          <p:spPr>
            <a:xfrm>
              <a:off x="7945844" y="3765171"/>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25" name="Straight Arrow Connector 24">
              <a:extLst>
                <a:ext uri="{FF2B5EF4-FFF2-40B4-BE49-F238E27FC236}">
                  <a16:creationId xmlns:a16="http://schemas.microsoft.com/office/drawing/2014/main" id="{447C449F-8EA1-0367-797F-E840A11B8704}"/>
                </a:ext>
              </a:extLst>
            </p:cNvPr>
            <p:cNvCxnSpPr>
              <a:cxnSpLocks/>
            </p:cNvCxnSpPr>
            <p:nvPr/>
          </p:nvCxnSpPr>
          <p:spPr>
            <a:xfrm flipH="1">
              <a:off x="6890585" y="4447425"/>
              <a:ext cx="611621" cy="27165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44D890A-8A7F-EF41-99FF-902BF1D4E811}"/>
                </a:ext>
              </a:extLst>
            </p:cNvPr>
            <p:cNvCxnSpPr>
              <a:cxnSpLocks/>
            </p:cNvCxnSpPr>
            <p:nvPr/>
          </p:nvCxnSpPr>
          <p:spPr>
            <a:xfrm flipV="1">
              <a:off x="6957761" y="4535308"/>
              <a:ext cx="611621" cy="25195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7747470-71C2-3215-D134-19F330E76102}"/>
                </a:ext>
              </a:extLst>
            </p:cNvPr>
            <p:cNvSpPr txBox="1"/>
            <p:nvPr/>
          </p:nvSpPr>
          <p:spPr>
            <a:xfrm>
              <a:off x="6859840" y="4343099"/>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28" name="TextBox 27">
              <a:extLst>
                <a:ext uri="{FF2B5EF4-FFF2-40B4-BE49-F238E27FC236}">
                  <a16:creationId xmlns:a16="http://schemas.microsoft.com/office/drawing/2014/main" id="{26DF1BC3-9A75-AF80-3FAC-37329ADB3CBD}"/>
                </a:ext>
              </a:extLst>
            </p:cNvPr>
            <p:cNvSpPr txBox="1"/>
            <p:nvPr/>
          </p:nvSpPr>
          <p:spPr>
            <a:xfrm>
              <a:off x="7227088" y="4594631"/>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39" name="Straight Arrow Connector 38">
              <a:extLst>
                <a:ext uri="{FF2B5EF4-FFF2-40B4-BE49-F238E27FC236}">
                  <a16:creationId xmlns:a16="http://schemas.microsoft.com/office/drawing/2014/main" id="{22AC87FB-D626-DD95-7035-A2401ECD1CC1}"/>
                </a:ext>
              </a:extLst>
            </p:cNvPr>
            <p:cNvCxnSpPr>
              <a:cxnSpLocks/>
            </p:cNvCxnSpPr>
            <p:nvPr/>
          </p:nvCxnSpPr>
          <p:spPr>
            <a:xfrm flipH="1">
              <a:off x="6045530" y="5142010"/>
              <a:ext cx="611621" cy="27165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20F18CA-95C8-F6CC-A669-F8F57B4D1F86}"/>
                </a:ext>
              </a:extLst>
            </p:cNvPr>
            <p:cNvCxnSpPr>
              <a:cxnSpLocks/>
            </p:cNvCxnSpPr>
            <p:nvPr/>
          </p:nvCxnSpPr>
          <p:spPr>
            <a:xfrm flipV="1">
              <a:off x="6112706" y="5229893"/>
              <a:ext cx="611621" cy="25195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9E02116-767C-8C83-DA85-7BE4C7375FD8}"/>
                </a:ext>
              </a:extLst>
            </p:cNvPr>
            <p:cNvSpPr txBox="1"/>
            <p:nvPr/>
          </p:nvSpPr>
          <p:spPr>
            <a:xfrm>
              <a:off x="6014785" y="5037684"/>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42" name="TextBox 41">
              <a:extLst>
                <a:ext uri="{FF2B5EF4-FFF2-40B4-BE49-F238E27FC236}">
                  <a16:creationId xmlns:a16="http://schemas.microsoft.com/office/drawing/2014/main" id="{B3754533-F8A2-82DD-CEC6-834D1A45C734}"/>
                </a:ext>
              </a:extLst>
            </p:cNvPr>
            <p:cNvSpPr txBox="1"/>
            <p:nvPr/>
          </p:nvSpPr>
          <p:spPr>
            <a:xfrm>
              <a:off x="6382033" y="5289216"/>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43" name="Straight Arrow Connector 42">
              <a:extLst>
                <a:ext uri="{FF2B5EF4-FFF2-40B4-BE49-F238E27FC236}">
                  <a16:creationId xmlns:a16="http://schemas.microsoft.com/office/drawing/2014/main" id="{3B57A3FE-66B3-FF8F-FF05-ABB7DAF9AB6B}"/>
                </a:ext>
              </a:extLst>
            </p:cNvPr>
            <p:cNvCxnSpPr>
              <a:cxnSpLocks/>
            </p:cNvCxnSpPr>
            <p:nvPr/>
          </p:nvCxnSpPr>
          <p:spPr>
            <a:xfrm flipH="1">
              <a:off x="5237032" y="5881277"/>
              <a:ext cx="611621" cy="27165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64B591D-1D79-BF72-F784-B6048EF0E0CA}"/>
                </a:ext>
              </a:extLst>
            </p:cNvPr>
            <p:cNvCxnSpPr>
              <a:cxnSpLocks/>
            </p:cNvCxnSpPr>
            <p:nvPr/>
          </p:nvCxnSpPr>
          <p:spPr>
            <a:xfrm flipV="1">
              <a:off x="5304208" y="5969160"/>
              <a:ext cx="611621" cy="25195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1478282-A42A-7788-1E85-E7B565E7D929}"/>
                </a:ext>
              </a:extLst>
            </p:cNvPr>
            <p:cNvSpPr txBox="1"/>
            <p:nvPr/>
          </p:nvSpPr>
          <p:spPr>
            <a:xfrm>
              <a:off x="5206287" y="5776951"/>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46" name="TextBox 45">
              <a:extLst>
                <a:ext uri="{FF2B5EF4-FFF2-40B4-BE49-F238E27FC236}">
                  <a16:creationId xmlns:a16="http://schemas.microsoft.com/office/drawing/2014/main" id="{856C5C5E-66F5-DA00-D5A4-42701690C9AB}"/>
                </a:ext>
              </a:extLst>
            </p:cNvPr>
            <p:cNvSpPr txBox="1"/>
            <p:nvPr/>
          </p:nvSpPr>
          <p:spPr>
            <a:xfrm>
              <a:off x="5573535" y="6028483"/>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47" name="Straight Arrow Connector 46">
              <a:extLst>
                <a:ext uri="{FF2B5EF4-FFF2-40B4-BE49-F238E27FC236}">
                  <a16:creationId xmlns:a16="http://schemas.microsoft.com/office/drawing/2014/main" id="{256060F1-2C4A-1297-45E9-B0EEA406C5E7}"/>
                </a:ext>
              </a:extLst>
            </p:cNvPr>
            <p:cNvCxnSpPr>
              <a:cxnSpLocks/>
            </p:cNvCxnSpPr>
            <p:nvPr/>
          </p:nvCxnSpPr>
          <p:spPr>
            <a:xfrm flipH="1">
              <a:off x="8325539" y="5166467"/>
              <a:ext cx="611621" cy="27165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231392-DA29-C546-2227-5B1D61A48C0C}"/>
                </a:ext>
              </a:extLst>
            </p:cNvPr>
            <p:cNvCxnSpPr>
              <a:cxnSpLocks/>
            </p:cNvCxnSpPr>
            <p:nvPr/>
          </p:nvCxnSpPr>
          <p:spPr>
            <a:xfrm flipV="1">
              <a:off x="8392715" y="5254350"/>
              <a:ext cx="611621" cy="25195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467A9B76-21DE-9779-4381-73EBF45C9A12}"/>
                </a:ext>
              </a:extLst>
            </p:cNvPr>
            <p:cNvSpPr txBox="1"/>
            <p:nvPr/>
          </p:nvSpPr>
          <p:spPr>
            <a:xfrm>
              <a:off x="8294794" y="5062141"/>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50" name="TextBox 49">
              <a:extLst>
                <a:ext uri="{FF2B5EF4-FFF2-40B4-BE49-F238E27FC236}">
                  <a16:creationId xmlns:a16="http://schemas.microsoft.com/office/drawing/2014/main" id="{FD3A29DC-54C8-619E-63CB-C35B878C2620}"/>
                </a:ext>
              </a:extLst>
            </p:cNvPr>
            <p:cNvSpPr txBox="1"/>
            <p:nvPr/>
          </p:nvSpPr>
          <p:spPr>
            <a:xfrm>
              <a:off x="8559572" y="5302295"/>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51" name="Straight Arrow Connector 50">
              <a:extLst>
                <a:ext uri="{FF2B5EF4-FFF2-40B4-BE49-F238E27FC236}">
                  <a16:creationId xmlns:a16="http://schemas.microsoft.com/office/drawing/2014/main" id="{5717B8CC-58FF-F485-B43B-4549D0BA1D59}"/>
                </a:ext>
              </a:extLst>
            </p:cNvPr>
            <p:cNvCxnSpPr>
              <a:cxnSpLocks/>
            </p:cNvCxnSpPr>
            <p:nvPr/>
          </p:nvCxnSpPr>
          <p:spPr>
            <a:xfrm>
              <a:off x="8251976" y="4566087"/>
              <a:ext cx="490347" cy="171463"/>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1CE71A0-AD56-E097-2900-2EFE4AAF2AB0}"/>
                </a:ext>
              </a:extLst>
            </p:cNvPr>
            <p:cNvCxnSpPr>
              <a:cxnSpLocks/>
            </p:cNvCxnSpPr>
            <p:nvPr/>
          </p:nvCxnSpPr>
          <p:spPr>
            <a:xfrm flipH="1" flipV="1">
              <a:off x="8283962" y="4491288"/>
              <a:ext cx="490347" cy="17670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9D781094-0D1D-3CB8-CB25-89472825BCDC}"/>
                </a:ext>
              </a:extLst>
            </p:cNvPr>
            <p:cNvSpPr txBox="1"/>
            <p:nvPr/>
          </p:nvSpPr>
          <p:spPr>
            <a:xfrm>
              <a:off x="8079159" y="4609048"/>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54" name="TextBox 53">
              <a:extLst>
                <a:ext uri="{FF2B5EF4-FFF2-40B4-BE49-F238E27FC236}">
                  <a16:creationId xmlns:a16="http://schemas.microsoft.com/office/drawing/2014/main" id="{D1C45A3D-88A1-30FA-EEBE-C0410178B730}"/>
                </a:ext>
              </a:extLst>
            </p:cNvPr>
            <p:cNvSpPr txBox="1"/>
            <p:nvPr/>
          </p:nvSpPr>
          <p:spPr>
            <a:xfrm>
              <a:off x="8544912" y="4409380"/>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68" name="Straight Arrow Connector 67">
              <a:extLst>
                <a:ext uri="{FF2B5EF4-FFF2-40B4-BE49-F238E27FC236}">
                  <a16:creationId xmlns:a16="http://schemas.microsoft.com/office/drawing/2014/main" id="{92E08FE6-EF2E-2167-B7BE-D6987A625A0F}"/>
                </a:ext>
              </a:extLst>
            </p:cNvPr>
            <p:cNvCxnSpPr>
              <a:cxnSpLocks/>
            </p:cNvCxnSpPr>
            <p:nvPr/>
          </p:nvCxnSpPr>
          <p:spPr>
            <a:xfrm>
              <a:off x="9186513" y="5250091"/>
              <a:ext cx="490347" cy="171463"/>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E3D49B9-1DB4-1D5C-ED84-5213A99370F6}"/>
                </a:ext>
              </a:extLst>
            </p:cNvPr>
            <p:cNvCxnSpPr>
              <a:cxnSpLocks/>
            </p:cNvCxnSpPr>
            <p:nvPr/>
          </p:nvCxnSpPr>
          <p:spPr>
            <a:xfrm flipH="1" flipV="1">
              <a:off x="9218499" y="5175292"/>
              <a:ext cx="490347" cy="17670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D5CE8DC3-80E7-BBEB-54B1-756F96E0C3A9}"/>
                </a:ext>
              </a:extLst>
            </p:cNvPr>
            <p:cNvSpPr txBox="1"/>
            <p:nvPr/>
          </p:nvSpPr>
          <p:spPr>
            <a:xfrm>
              <a:off x="9013696" y="5293052"/>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71" name="TextBox 70">
              <a:extLst>
                <a:ext uri="{FF2B5EF4-FFF2-40B4-BE49-F238E27FC236}">
                  <a16:creationId xmlns:a16="http://schemas.microsoft.com/office/drawing/2014/main" id="{FDB61EB9-EAD3-682A-8CD3-289218AB5816}"/>
                </a:ext>
              </a:extLst>
            </p:cNvPr>
            <p:cNvSpPr txBox="1"/>
            <p:nvPr/>
          </p:nvSpPr>
          <p:spPr>
            <a:xfrm>
              <a:off x="9479449" y="5093384"/>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72" name="Straight Arrow Connector 71">
              <a:extLst>
                <a:ext uri="{FF2B5EF4-FFF2-40B4-BE49-F238E27FC236}">
                  <a16:creationId xmlns:a16="http://schemas.microsoft.com/office/drawing/2014/main" id="{359FEB71-7B76-6375-557C-E77ECE7978F0}"/>
                </a:ext>
              </a:extLst>
            </p:cNvPr>
            <p:cNvCxnSpPr>
              <a:cxnSpLocks/>
            </p:cNvCxnSpPr>
            <p:nvPr/>
          </p:nvCxnSpPr>
          <p:spPr>
            <a:xfrm>
              <a:off x="7004724" y="5225634"/>
              <a:ext cx="490347" cy="171463"/>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9564D37-3D17-B27E-3084-C393F0D9D47A}"/>
                </a:ext>
              </a:extLst>
            </p:cNvPr>
            <p:cNvCxnSpPr>
              <a:cxnSpLocks/>
            </p:cNvCxnSpPr>
            <p:nvPr/>
          </p:nvCxnSpPr>
          <p:spPr>
            <a:xfrm flipH="1" flipV="1">
              <a:off x="7036710" y="5150835"/>
              <a:ext cx="490347" cy="17670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DC156237-BDAC-4023-4275-0F53A0C11204}"/>
                </a:ext>
              </a:extLst>
            </p:cNvPr>
            <p:cNvSpPr txBox="1"/>
            <p:nvPr/>
          </p:nvSpPr>
          <p:spPr>
            <a:xfrm>
              <a:off x="6831907" y="5268595"/>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75" name="TextBox 74">
              <a:extLst>
                <a:ext uri="{FF2B5EF4-FFF2-40B4-BE49-F238E27FC236}">
                  <a16:creationId xmlns:a16="http://schemas.microsoft.com/office/drawing/2014/main" id="{F4A4FE07-9AD5-615A-858E-CB38388CBDA0}"/>
                </a:ext>
              </a:extLst>
            </p:cNvPr>
            <p:cNvSpPr txBox="1"/>
            <p:nvPr/>
          </p:nvSpPr>
          <p:spPr>
            <a:xfrm>
              <a:off x="7297660" y="5068927"/>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cxnSp>
          <p:nvCxnSpPr>
            <p:cNvPr id="80" name="Straight Arrow Connector 79">
              <a:extLst>
                <a:ext uri="{FF2B5EF4-FFF2-40B4-BE49-F238E27FC236}">
                  <a16:creationId xmlns:a16="http://schemas.microsoft.com/office/drawing/2014/main" id="{A890115B-FD7E-58FC-1D66-BDF4338B77A0}"/>
                </a:ext>
              </a:extLst>
            </p:cNvPr>
            <p:cNvCxnSpPr>
              <a:cxnSpLocks/>
            </p:cNvCxnSpPr>
            <p:nvPr/>
          </p:nvCxnSpPr>
          <p:spPr>
            <a:xfrm>
              <a:off x="6241982" y="5981116"/>
              <a:ext cx="490347" cy="171463"/>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911878F-261B-5C53-DAE8-3CC082610A1C}"/>
                </a:ext>
              </a:extLst>
            </p:cNvPr>
            <p:cNvCxnSpPr>
              <a:cxnSpLocks/>
            </p:cNvCxnSpPr>
            <p:nvPr/>
          </p:nvCxnSpPr>
          <p:spPr>
            <a:xfrm flipH="1" flipV="1">
              <a:off x="6273968" y="5906317"/>
              <a:ext cx="490347" cy="176705"/>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2F392656-E709-6158-98DD-17C544E4B43E}"/>
                </a:ext>
              </a:extLst>
            </p:cNvPr>
            <p:cNvSpPr txBox="1"/>
            <p:nvPr/>
          </p:nvSpPr>
          <p:spPr>
            <a:xfrm>
              <a:off x="6069165" y="6024077"/>
              <a:ext cx="558812"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call</a:t>
              </a:r>
              <a:endParaRPr lang="en-AU" sz="1000" dirty="0">
                <a:solidFill>
                  <a:schemeClr val="bg1"/>
                </a:solidFill>
                <a:latin typeface="Consolas" panose="020B0609020204030204" pitchFamily="49" charset="0"/>
                <a:cs typeface="Consolas" panose="020B0609020204030204" pitchFamily="49" charset="0"/>
              </a:endParaRPr>
            </a:p>
          </p:txBody>
        </p:sp>
        <p:sp>
          <p:nvSpPr>
            <p:cNvPr id="83" name="TextBox 82">
              <a:extLst>
                <a:ext uri="{FF2B5EF4-FFF2-40B4-BE49-F238E27FC236}">
                  <a16:creationId xmlns:a16="http://schemas.microsoft.com/office/drawing/2014/main" id="{BF757EA7-BFD4-195B-8AF9-22C823C9C486}"/>
                </a:ext>
              </a:extLst>
            </p:cNvPr>
            <p:cNvSpPr txBox="1"/>
            <p:nvPr/>
          </p:nvSpPr>
          <p:spPr>
            <a:xfrm>
              <a:off x="6534918" y="5824409"/>
              <a:ext cx="725040" cy="246221"/>
            </a:xfrm>
            <a:prstGeom prst="rect">
              <a:avLst/>
            </a:prstGeom>
            <a:noFill/>
          </p:spPr>
          <p:txBody>
            <a:bodyPr wrap="square" rtlCol="0">
              <a:spAutoFit/>
            </a:bodyPr>
            <a:lstStyle/>
            <a:p>
              <a:r>
                <a:rPr lang="en-US" altLang="zh-CN" sz="1000" dirty="0">
                  <a:solidFill>
                    <a:schemeClr val="bg1"/>
                  </a:solidFill>
                  <a:latin typeface="Consolas" panose="020B0609020204030204" pitchFamily="49" charset="0"/>
                  <a:cs typeface="Consolas" panose="020B0609020204030204" pitchFamily="49" charset="0"/>
                </a:rPr>
                <a:t>return</a:t>
              </a:r>
              <a:endParaRPr lang="en-AU" sz="1000" dirty="0">
                <a:solidFill>
                  <a:schemeClr val="bg1"/>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4032663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execution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1" y="1486110"/>
            <a:ext cx="10834779" cy="5282749"/>
          </a:xfrm>
        </p:spPr>
        <p:txBody>
          <a:bodyPr>
            <a:normAutofit/>
          </a:bodyPr>
          <a:lstStyle/>
          <a:p>
            <a:r>
              <a:rPr lang="en" altLang="en-US" sz="2000" dirty="0">
                <a:latin typeface="Aptos Display" panose="020B0004020202020204" pitchFamily="34" charset="0"/>
              </a:rPr>
              <a:t>Recursive functions typically have local variables </a:t>
            </a:r>
            <a:r>
              <a:rPr lang="en" altLang="zh-CN" sz="2000" dirty="0">
                <a:latin typeface="Aptos Display" panose="020B0004020202020204" pitchFamily="34" charset="0"/>
              </a:rPr>
              <a:t>( </a:t>
            </a:r>
            <a:r>
              <a:rPr lang="en" altLang="en-US" sz="2000" dirty="0">
                <a:latin typeface="Aptos Display" panose="020B0004020202020204" pitchFamily="34" charset="0"/>
              </a:rPr>
              <a:t>such as 'n' in this example </a:t>
            </a:r>
            <a:r>
              <a:rPr lang="en" altLang="zh-CN" sz="2000" dirty="0">
                <a:latin typeface="Aptos Display" panose="020B0004020202020204" pitchFamily="34" charset="0"/>
              </a:rPr>
              <a:t>) </a:t>
            </a:r>
            <a:r>
              <a:rPr lang="en" altLang="en-US" sz="2000" dirty="0">
                <a:latin typeface="Aptos Display" panose="020B0004020202020204" pitchFamily="34" charset="0"/>
              </a:rPr>
              <a:t>. These local variables only become meaningless after the entire function body has finished executing. Each recursive call must generate a new set of local variables. Although these new local variables have the same names as the original local variables, they are allocated different storage spaces and their values are completely unrelated.</a:t>
            </a:r>
            <a:endParaRPr lang="en-US" altLang="zh-CN" sz="2000" dirty="0">
              <a:latin typeface="Aptos Display" panose="020B0004020202020204" pitchFamily="34" charset="0"/>
            </a:endParaRPr>
          </a:p>
        </p:txBody>
      </p:sp>
      <p:sp>
        <p:nvSpPr>
          <p:cNvPr id="6" name="Text Box 5">
            <a:extLst>
              <a:ext uri="{FF2B5EF4-FFF2-40B4-BE49-F238E27FC236}">
                <a16:creationId xmlns:a16="http://schemas.microsoft.com/office/drawing/2014/main" id="{8AD63FB8-61AA-49B5-A87A-30CE2F282C6F}"/>
              </a:ext>
            </a:extLst>
          </p:cNvPr>
          <p:cNvSpPr txBox="1">
            <a:spLocks noChangeArrowheads="1"/>
          </p:cNvSpPr>
          <p:nvPr/>
        </p:nvSpPr>
        <p:spPr bwMode="auto">
          <a:xfrm>
            <a:off x="5303640" y="4547832"/>
            <a:ext cx="5178279" cy="686563"/>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defRPr sz="240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 altLang="zh-CN" sz="2800" dirty="0">
                <a:latin typeface="Aptos Display" panose="020B0004020202020204" pitchFamily="34" charset="0"/>
              </a:rPr>
              <a:t>P(4)-&gt;P(3)-&gt;P(2)-&gt;P(1)-&gt;P(0)</a:t>
            </a:r>
          </a:p>
        </p:txBody>
      </p:sp>
      <p:pic>
        <p:nvPicPr>
          <p:cNvPr id="4" name="内容占位符 7">
            <a:extLst>
              <a:ext uri="{FF2B5EF4-FFF2-40B4-BE49-F238E27FC236}">
                <a16:creationId xmlns:a16="http://schemas.microsoft.com/office/drawing/2014/main" id="{9A179EAB-3BC4-FDD9-3E7F-4F565CCAFD25}"/>
              </a:ext>
            </a:extLst>
          </p:cNvPr>
          <p:cNvPicPr>
            <a:picLocks noChangeAspect="1"/>
          </p:cNvPicPr>
          <p:nvPr/>
        </p:nvPicPr>
        <p:blipFill>
          <a:blip r:embed="rId2"/>
          <a:stretch>
            <a:fillRect/>
          </a:stretch>
        </p:blipFill>
        <p:spPr>
          <a:xfrm>
            <a:off x="1049752" y="3429000"/>
            <a:ext cx="3672719" cy="3272423"/>
          </a:xfrm>
          <a:prstGeom prst="rect">
            <a:avLst/>
          </a:prstGeom>
        </p:spPr>
      </p:pic>
    </p:spTree>
    <p:extLst>
      <p:ext uri="{BB962C8B-B14F-4D97-AF65-F5344CB8AC3E}">
        <p14:creationId xmlns:p14="http://schemas.microsoft.com/office/powerpoint/2010/main" val="1647250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a:t>
            </a:r>
            <a:r>
              <a:rPr lang="en" altLang="en-US" dirty="0">
                <a:solidFill>
                  <a:schemeClr val="bg1"/>
                </a:solidFill>
                <a:latin typeface="Aptos Display" panose="020B0004020202020204" pitchFamily="34" charset="0"/>
              </a:rPr>
              <a:t>: Find </a:t>
            </a:r>
            <a:r>
              <a:rPr lang="en" altLang="zh-CN" dirty="0">
                <a:solidFill>
                  <a:schemeClr val="bg1"/>
                </a:solidFill>
                <a:latin typeface="Aptos Display" panose="020B0004020202020204" pitchFamily="34" charset="0"/>
              </a:rPr>
              <a:t>n!</a:t>
            </a:r>
            <a:endParaRPr lang="zh-C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e>
                    </m:d>
                  </m:oMath>
                </a14:m>
                <a:r>
                  <a:rPr lang="en" altLang="zh-CN" i="1" dirty="0">
                    <a:latin typeface="Aptos Display" panose="020B0004020202020204" pitchFamily="34" charset="0"/>
                  </a:rPr>
                  <a:t> </a:t>
                </a:r>
                <a:r>
                  <a:rPr lang="en-US" altLang="zh-CN" i="1" dirty="0">
                    <a:latin typeface="Aptos Display" panose="020B0004020202020204" pitchFamily="34" charset="0"/>
                  </a:rPr>
                  <a:t>=</a:t>
                </a:r>
                <a:r>
                  <a:rPr lang="en" altLang="en-US" i="1"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𝑛</m:t>
                    </m:r>
                    <m:r>
                      <a:rPr lang="en-US" altLang="zh-CN" b="0" i="1">
                        <a:latin typeface="Cambria Math" panose="02040503050406030204" pitchFamily="18" charset="0"/>
                      </a:rPr>
                      <m:t>!</m:t>
                    </m:r>
                  </m:oMath>
                </a14:m>
                <a:r>
                  <a:rPr lang="en" altLang="en-US" dirty="0">
                    <a:latin typeface="Aptos Display" panose="020B0004020202020204" pitchFamily="34" charset="0"/>
                  </a:rPr>
                  <a:t>, then</a:t>
                </a:r>
                <a:r>
                  <a:rPr lang="zh-CN" altLang="en-US"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𝑓</m:t>
                    </m:r>
                    <m:d>
                      <m:dPr>
                        <m:ctrlPr>
                          <a:rPr lang="en-US" altLang="zh-CN" i="1">
                            <a:latin typeface="Cambria Math" panose="02040503050406030204" pitchFamily="18" charset="0"/>
                          </a:rPr>
                        </m:ctrlPr>
                      </m:dPr>
                      <m:e>
                        <m:r>
                          <a:rPr lang="en-US" altLang="zh-CN" b="0" i="1">
                            <a:latin typeface="Cambria Math" panose="02040503050406030204" pitchFamily="18" charset="0"/>
                          </a:rPr>
                          <m:t>𝑛</m:t>
                        </m:r>
                        <m:r>
                          <a:rPr lang="en-US" altLang="zh-CN" b="0" i="1" smtClean="0">
                            <a:latin typeface="Cambria Math" panose="02040503050406030204" pitchFamily="18" charset="0"/>
                          </a:rPr>
                          <m:t>−1</m:t>
                        </m:r>
                      </m:e>
                    </m:d>
                  </m:oMath>
                </a14:m>
                <a:r>
                  <a:rPr lang="en" altLang="zh-CN" i="1" dirty="0">
                    <a:latin typeface="Aptos Display" panose="020B0004020202020204" pitchFamily="34" charset="0"/>
                  </a:rPr>
                  <a:t> </a:t>
                </a:r>
                <a:r>
                  <a:rPr lang="en-US" altLang="zh-CN" i="1" dirty="0">
                    <a:latin typeface="Aptos Display" panose="020B0004020202020204" pitchFamily="34" charset="0"/>
                  </a:rPr>
                  <a:t>=</a:t>
                </a:r>
                <a14:m>
                  <m:oMath xmlns:m="http://schemas.openxmlformats.org/officeDocument/2006/math">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en-US" altLang="zh-CN" b="0" i="1">
                        <a:latin typeface="Cambria Math" panose="02040503050406030204" pitchFamily="18" charset="0"/>
                      </a:rPr>
                      <m:t>𝑛</m:t>
                    </m:r>
                    <m:r>
                      <a:rPr lang="en-US" altLang="zh-CN" b="0" i="1" smtClean="0">
                        <a:latin typeface="Cambria Math" panose="02040503050406030204" pitchFamily="18" charset="0"/>
                      </a:rPr>
                      <m:t>−1)</m:t>
                    </m:r>
                    <m:r>
                      <a:rPr lang="en-US" altLang="zh-CN" b="0" i="1">
                        <a:latin typeface="Cambria Math" panose="02040503050406030204" pitchFamily="18" charset="0"/>
                      </a:rPr>
                      <m:t>!</m:t>
                    </m:r>
                  </m:oMath>
                </a14:m>
                <a:endParaRPr lang="en-US" altLang="zh-CN" i="1" dirty="0">
                  <a:latin typeface="Aptos Display" panose="020B0004020202020204" pitchFamily="34" charset="0"/>
                </a:endParaRPr>
              </a:p>
              <a:p>
                <a:r>
                  <a:rPr lang="en" altLang="en-US" dirty="0">
                    <a:latin typeface="Aptos Display" panose="020B0004020202020204" pitchFamily="34" charset="0"/>
                  </a:rPr>
                  <a:t>Recursive </a:t>
                </a:r>
                <a:r>
                  <a:rPr lang="en-US" altLang="zh-CN" dirty="0">
                    <a:latin typeface="Aptos Display" panose="020B0004020202020204" pitchFamily="34" charset="0"/>
                  </a:rPr>
                  <a:t>case</a:t>
                </a:r>
                <a:r>
                  <a:rPr lang="en" altLang="en-US" dirty="0">
                    <a:latin typeface="Aptos Display" panose="020B0004020202020204" pitchFamily="34" charset="0"/>
                  </a:rPr>
                  <a:t>:</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𝑛</m:t>
                    </m:r>
                  </m:oMath>
                </a14:m>
                <a:endParaRPr lang="en-US" altLang="zh-CN" i="1" dirty="0">
                  <a:latin typeface="Aptos Display" panose="020B0004020202020204" pitchFamily="34" charset="0"/>
                </a:endParaRPr>
              </a:p>
              <a:p>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a:t>
                </a:r>
                <a:r>
                  <a:rPr lang="en" altLang="en-US" dirty="0">
                    <a:latin typeface="Aptos Display" panose="020B0004020202020204" pitchFamily="34" charset="0"/>
                  </a:rPr>
                  <a:t>:</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=0, </m:t>
                    </m:r>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=1</m:t>
                    </m:r>
                  </m:oMath>
                </a14:m>
                <a:endParaRPr lang="en-US" altLang="zh-CN" i="1"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5884608" y="2484783"/>
            <a:ext cx="5682168" cy="3275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bg1"/>
                </a:solidFill>
                <a:latin typeface="Aptos Display" panose="020B0004020202020204" pitchFamily="34" charset="0"/>
              </a:rPr>
              <a:t>R</a:t>
            </a:r>
            <a:r>
              <a:rPr lang="en" altLang="en-US" sz="2400" dirty="0" err="1">
                <a:solidFill>
                  <a:schemeClr val="bg1"/>
                </a:solidFill>
                <a:latin typeface="Aptos Display" panose="020B0004020202020204" pitchFamily="34" charset="0"/>
              </a:rPr>
              <a:t>ecursion</a:t>
            </a:r>
            <a:r>
              <a:rPr lang="en" altLang="en-US" sz="2400" dirty="0">
                <a:solidFill>
                  <a:schemeClr val="bg1"/>
                </a:solidFill>
                <a:latin typeface="Aptos Display" panose="020B0004020202020204" pitchFamily="34" charset="0"/>
              </a:rPr>
              <a:t> cannot </a:t>
            </a:r>
            <a:r>
              <a:rPr lang="en-US" altLang="zh-CN" sz="2400" dirty="0">
                <a:solidFill>
                  <a:schemeClr val="bg1"/>
                </a:solidFill>
                <a:latin typeface="Aptos Display" panose="020B0004020202020204" pitchFamily="34" charset="0"/>
              </a:rPr>
              <a:t>go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on</a:t>
            </a:r>
            <a:r>
              <a:rPr lang="en" altLang="en-US" sz="2400" dirty="0">
                <a:solidFill>
                  <a:schemeClr val="bg1"/>
                </a:solidFill>
                <a:latin typeface="Aptos Display" panose="020B0004020202020204" pitchFamily="34" charset="0"/>
              </a:rPr>
              <a:t> indefinitely.</a:t>
            </a:r>
            <a:endParaRPr lang="en-US" altLang="zh-CN" sz="2400" dirty="0">
              <a:solidFill>
                <a:schemeClr val="bg1"/>
              </a:solidFill>
              <a:latin typeface="Aptos Display" panose="020B0004020202020204" pitchFamily="34" charset="0"/>
            </a:endParaRPr>
          </a:p>
          <a:p>
            <a:endParaRPr lang="en-US" altLang="zh-CN" sz="2400" dirty="0">
              <a:solidFill>
                <a:schemeClr val="bg1"/>
              </a:solidFill>
              <a:latin typeface="Aptos Display" panose="020B0004020202020204" pitchFamily="34" charset="0"/>
            </a:endParaRPr>
          </a:p>
          <a:p>
            <a:r>
              <a:rPr lang="en-US" altLang="zh-CN" sz="2400" dirty="0">
                <a:solidFill>
                  <a:schemeClr val="bg1"/>
                </a:solidFill>
                <a:latin typeface="Aptos Display" panose="020B0004020202020204" pitchFamily="34" charset="0"/>
              </a:rPr>
              <a:t>Base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case</a:t>
            </a:r>
            <a:r>
              <a:rPr lang="en" altLang="en-US" sz="2400" dirty="0">
                <a:solidFill>
                  <a:schemeClr val="bg1"/>
                </a:solidFill>
                <a:latin typeface="Aptos Display" panose="020B0004020202020204" pitchFamily="34" charset="0"/>
              </a:rPr>
              <a:t> determines when to stop recursion.</a:t>
            </a:r>
            <a:endParaRPr lang="en-US" altLang="zh-CN" sz="2400" dirty="0">
              <a:solidFill>
                <a:schemeClr val="bg1"/>
              </a:solidFill>
              <a:latin typeface="Aptos Display" panose="020B0004020202020204" pitchFamily="34" charset="0"/>
            </a:endParaRPr>
          </a:p>
          <a:p>
            <a:endParaRPr lang="en-US" altLang="zh-CN" sz="2400" dirty="0">
              <a:solidFill>
                <a:schemeClr val="bg1"/>
              </a:solidFill>
              <a:latin typeface="Aptos Display" panose="020B0004020202020204" pitchFamily="34" charset="0"/>
            </a:endParaRPr>
          </a:p>
          <a:p>
            <a:r>
              <a:rPr lang="en-US" altLang="zh-CN" sz="2400" dirty="0">
                <a:solidFill>
                  <a:schemeClr val="bg1"/>
                </a:solidFill>
                <a:latin typeface="Aptos Display" panose="020B0004020202020204" pitchFamily="34" charset="0"/>
              </a:rPr>
              <a:t>Recursive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case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defines</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how</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to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t>
            </a:r>
            <a:r>
              <a:rPr lang="en" altLang="en-US" sz="2400" dirty="0" err="1">
                <a:solidFill>
                  <a:schemeClr val="bg1"/>
                </a:solidFill>
                <a:latin typeface="Aptos Display" panose="020B0004020202020204" pitchFamily="34" charset="0"/>
              </a:rPr>
              <a:t>ontinu</a:t>
            </a:r>
            <a:r>
              <a:rPr lang="en-US" altLang="zh-CN" sz="2400" dirty="0">
                <a:solidFill>
                  <a:schemeClr val="bg1"/>
                </a:solidFill>
                <a:latin typeface="Aptos Display" panose="020B0004020202020204" pitchFamily="34" charset="0"/>
              </a:rPr>
              <a:t>e</a:t>
            </a:r>
            <a:r>
              <a:rPr lang="en" altLang="en-US" sz="2400" dirty="0">
                <a:solidFill>
                  <a:schemeClr val="bg1"/>
                </a:solidFill>
                <a:latin typeface="Aptos Display" panose="020B0004020202020204" pitchFamily="34" charset="0"/>
              </a:rPr>
              <a:t> the recursive solution process.</a:t>
            </a:r>
            <a:endParaRPr lang="en-US" altLang="zh-CN" sz="2400" dirty="0">
              <a:solidFill>
                <a:schemeClr val="bg1"/>
              </a:solidFill>
              <a:latin typeface="Aptos Display" panose="020B0004020202020204" pitchFamily="34" charset="0"/>
            </a:endParaRPr>
          </a:p>
        </p:txBody>
      </p:sp>
      <p:pic>
        <p:nvPicPr>
          <p:cNvPr id="4" name="图片 3">
            <a:extLst>
              <a:ext uri="{FF2B5EF4-FFF2-40B4-BE49-F238E27FC236}">
                <a16:creationId xmlns:a16="http://schemas.microsoft.com/office/drawing/2014/main" id="{F9111650-035B-BC8F-DF50-A3112072B13E}"/>
              </a:ext>
            </a:extLst>
          </p:cNvPr>
          <p:cNvPicPr>
            <a:picLocks noChangeAspect="1"/>
          </p:cNvPicPr>
          <p:nvPr/>
        </p:nvPicPr>
        <p:blipFill>
          <a:blip r:embed="rId3"/>
          <a:stretch>
            <a:fillRect/>
          </a:stretch>
        </p:blipFill>
        <p:spPr>
          <a:xfrm>
            <a:off x="678609" y="3822490"/>
            <a:ext cx="4112052" cy="1437451"/>
          </a:xfrm>
          <a:prstGeom prst="rect">
            <a:avLst/>
          </a:prstGeom>
        </p:spPr>
      </p:pic>
    </p:spTree>
    <p:extLst>
      <p:ext uri="{BB962C8B-B14F-4D97-AF65-F5344CB8AC3E}">
        <p14:creationId xmlns:p14="http://schemas.microsoft.com/office/powerpoint/2010/main" val="188804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normAutofit/>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2</a:t>
            </a:r>
            <a:r>
              <a:rPr lang="en" altLang="en-US" dirty="0">
                <a:solidFill>
                  <a:schemeClr val="bg1"/>
                </a:solidFill>
                <a:latin typeface="Aptos Display" panose="020B0004020202020204" pitchFamily="34" charset="0"/>
              </a:rPr>
              <a:t>: Recursive </a:t>
            </a:r>
            <a:r>
              <a:rPr lang="en-US" altLang="zh-CN" dirty="0">
                <a:solidFill>
                  <a:schemeClr val="bg1"/>
                </a:solidFill>
                <a:latin typeface="Aptos Display" panose="020B0004020202020204" pitchFamily="34" charset="0"/>
              </a:rPr>
              <a:t>solution</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to</a:t>
            </a:r>
            <a:r>
              <a:rPr lang="en" altLang="en-US" dirty="0">
                <a:solidFill>
                  <a:schemeClr val="bg1"/>
                </a:solidFill>
                <a:latin typeface="Aptos Display" panose="020B0004020202020204" pitchFamily="34" charset="0"/>
              </a:rPr>
              <a:t> the Fibonacci Sequence</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The Fibonacci sequence</a:t>
                </a:r>
                <a:r>
                  <a:rPr lang="en-US" altLang="zh-CN" dirty="0">
                    <a:latin typeface="Aptos Display" panose="020B0004020202020204" pitchFamily="34" charset="0"/>
                  </a:rPr>
                  <a:t>:</a:t>
                </a:r>
                <a:r>
                  <a:rPr lang="en" altLang="en-US" dirty="0">
                    <a:latin typeface="Aptos Display" panose="020B0004020202020204" pitchFamily="34" charset="0"/>
                  </a:rPr>
                  <a:t> </a:t>
                </a:r>
                <a:r>
                  <a:rPr lang="en" altLang="zh-CN" dirty="0">
                    <a:latin typeface="Aptos Display" panose="020B0004020202020204" pitchFamily="34" charset="0"/>
                  </a:rPr>
                  <a:t>1, 1, 2, 3, 5, 8, 13, 21, 34… </a:t>
                </a:r>
                <a:r>
                  <a:rPr lang="en" altLang="en-US" dirty="0">
                    <a:latin typeface="Aptos Display" panose="020B0004020202020204" pitchFamily="34" charset="0"/>
                  </a:rPr>
                  <a:t>Starting from the third </a:t>
                </a:r>
                <a:r>
                  <a:rPr lang="en-US" altLang="zh-CN" dirty="0">
                    <a:latin typeface="Aptos Display" panose="020B0004020202020204" pitchFamily="34" charset="0"/>
                  </a:rPr>
                  <a:t>element</a:t>
                </a:r>
                <a:r>
                  <a:rPr lang="en" altLang="en-US" dirty="0">
                    <a:latin typeface="Aptos Display" panose="020B0004020202020204" pitchFamily="34" charset="0"/>
                  </a:rPr>
                  <a:t>, each is the sum of the two preceding </a:t>
                </a:r>
                <a:r>
                  <a:rPr lang="en-US" altLang="zh-CN" dirty="0">
                    <a:latin typeface="Aptos Display" panose="020B0004020202020204" pitchFamily="34" charset="0"/>
                  </a:rPr>
                  <a:t>elements</a:t>
                </a:r>
                <a:r>
                  <a:rPr lang="en" altLang="en-US" dirty="0">
                    <a:latin typeface="Aptos Display" panose="020B0004020202020204" pitchFamily="34" charset="0"/>
                  </a:rPr>
                  <a:t>, i.e.,</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−2)</m:t>
                    </m:r>
                  </m:oMath>
                </a14:m>
                <a:endParaRPr lang="en-US" altLang="zh-CN" i="1" dirty="0">
                  <a:latin typeface="Aptos Display" panose="020B0004020202020204" pitchFamily="34" charset="0"/>
                </a:endParaRPr>
              </a:p>
              <a:p>
                <a:r>
                  <a:rPr lang="en" altLang="en-US" dirty="0">
                    <a:latin typeface="Aptos Display" panose="020B0004020202020204" pitchFamily="34" charset="0"/>
                  </a:rPr>
                  <a:t>Try to 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14:m>
                  <m:oMath xmlns:m="http://schemas.openxmlformats.org/officeDocument/2006/math">
                    <m:r>
                      <m:rPr>
                        <m:sty m:val="p"/>
                      </m:rPr>
                      <a:rPr lang="en-US" altLang="zh-CN" b="0" i="0" smtClean="0">
                        <a:latin typeface="Cambria Math" panose="02040503050406030204" pitchFamily="18" charset="0"/>
                      </a:rPr>
                      <m:t>n</m:t>
                    </m:r>
                  </m:oMath>
                </a14:m>
                <a:r>
                  <a:rPr lang="en-US" altLang="zh-CN" dirty="0">
                    <a:latin typeface="Aptos Display" panose="020B0004020202020204" pitchFamily="34" charset="0"/>
                  </a:rPr>
                  <a:t>-th</a:t>
                </a:r>
                <a:r>
                  <a:rPr lang="en" altLang="zh-CN" dirty="0">
                    <a:latin typeface="Aptos Display" panose="020B0004020202020204" pitchFamily="34" charset="0"/>
                  </a:rPr>
                  <a:t> </a:t>
                </a:r>
                <a:r>
                  <a:rPr lang="en" altLang="en-US" dirty="0">
                    <a:latin typeface="Aptos Display" panose="020B0004020202020204" pitchFamily="34" charset="0"/>
                  </a:rPr>
                  <a:t>item</a:t>
                </a:r>
                <a:r>
                  <a:rPr lang="zh-CN" altLang="en-US" dirty="0">
                    <a:latin typeface="Aptos Display" panose="020B0004020202020204" pitchFamily="34" charset="0"/>
                  </a:rPr>
                  <a:t> </a:t>
                </a:r>
                <a:r>
                  <a:rPr lang="en-US" altLang="zh-CN" dirty="0">
                    <a:latin typeface="Aptos Display" panose="020B0004020202020204" pitchFamily="34" charset="0"/>
                  </a:rPr>
                  <a:t>recursively</a:t>
                </a:r>
                <a:r>
                  <a:rPr lang="en" altLang="en-US" dirty="0">
                    <a:latin typeface="Aptos Display" panose="020B0004020202020204" pitchFamily="34" charset="0"/>
                  </a:rPr>
                  <a:t>.</a:t>
                </a:r>
                <a:endParaRPr lang="en-US" altLang="zh-CN"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997182" y="3429000"/>
            <a:ext cx="4358589"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zh-CN" sz="2400" dirty="0">
                <a:solidFill>
                  <a:schemeClr val="bg1"/>
                </a:solidFill>
                <a:latin typeface="Aptos Display" panose="020B0004020202020204" pitchFamily="34" charset="0"/>
              </a:rPr>
              <a:t>f(1)=1 n=1</a:t>
            </a:r>
          </a:p>
          <a:p>
            <a:r>
              <a:rPr lang="en" altLang="zh-CN" sz="2400" dirty="0">
                <a:solidFill>
                  <a:schemeClr val="bg1"/>
                </a:solidFill>
                <a:latin typeface="Aptos Display" panose="020B0004020202020204" pitchFamily="34" charset="0"/>
              </a:rPr>
              <a:t>f(2)=1 n=2</a:t>
            </a:r>
          </a:p>
          <a:p>
            <a:r>
              <a:rPr lang="en" altLang="zh-CN" sz="2400" dirty="0">
                <a:solidFill>
                  <a:schemeClr val="bg1"/>
                </a:solidFill>
                <a:latin typeface="Aptos Display" panose="020B0004020202020204" pitchFamily="34" charset="0"/>
              </a:rPr>
              <a:t>f(n) = f(n-1) + f(n-2) (n&gt;2)</a:t>
            </a:r>
          </a:p>
        </p:txBody>
      </p:sp>
      <p:pic>
        <p:nvPicPr>
          <p:cNvPr id="4" name="图片 3">
            <a:extLst>
              <a:ext uri="{FF2B5EF4-FFF2-40B4-BE49-F238E27FC236}">
                <a16:creationId xmlns:a16="http://schemas.microsoft.com/office/drawing/2014/main" id="{4F8F9150-3519-5F94-2C8D-5AF934E697BF}"/>
              </a:ext>
            </a:extLst>
          </p:cNvPr>
          <p:cNvPicPr>
            <a:picLocks noChangeAspect="1"/>
          </p:cNvPicPr>
          <p:nvPr/>
        </p:nvPicPr>
        <p:blipFill>
          <a:blip r:embed="rId3"/>
          <a:stretch>
            <a:fillRect/>
          </a:stretch>
        </p:blipFill>
        <p:spPr>
          <a:xfrm>
            <a:off x="6048794" y="3351527"/>
            <a:ext cx="5528492" cy="1656000"/>
          </a:xfrm>
          <a:prstGeom prst="rect">
            <a:avLst/>
          </a:prstGeom>
        </p:spPr>
      </p:pic>
    </p:spTree>
    <p:extLst>
      <p:ext uri="{BB962C8B-B14F-4D97-AF65-F5344CB8AC3E}">
        <p14:creationId xmlns:p14="http://schemas.microsoft.com/office/powerpoint/2010/main" val="238341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3</a:t>
            </a:r>
            <a:r>
              <a:rPr lang="en" altLang="en-US" dirty="0">
                <a:solidFill>
                  <a:schemeClr val="bg1"/>
                </a:solidFill>
                <a:latin typeface="Aptos Display" panose="020B0004020202020204" pitchFamily="34" charset="0"/>
              </a:rPr>
              <a:t>: Euclidean Algorithm</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The Euclidean algorithm finds the greatest common divisor of natural numbers </a:t>
                </a:r>
                <a14:m>
                  <m:oMath xmlns:m="http://schemas.openxmlformats.org/officeDocument/2006/math">
                    <m:r>
                      <a:rPr lang="en-US" altLang="zh-CN" b="0" i="1">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oMath>
                </a14:m>
                <a:r>
                  <a:rPr lang="en-US" altLang="zh-CN" dirty="0">
                    <a:latin typeface="Aptos Display" panose="020B0004020202020204" pitchFamily="34" charset="0"/>
                  </a:rPr>
                  <a:t>,</a:t>
                </a:r>
                <a:r>
                  <a:rPr lang="zh-CN" altLang="en-US" dirty="0">
                    <a:latin typeface="Aptos Display" panose="020B0004020202020204" pitchFamily="34" charset="0"/>
                  </a:rPr>
                  <a:t> </a:t>
                </a:r>
                <a:r>
                  <a:rPr lang="en" altLang="en-US" dirty="0">
                    <a:latin typeface="Aptos Display" panose="020B0004020202020204" pitchFamily="34" charset="0"/>
                  </a:rPr>
                  <a:t>implemented recursively.</a:t>
                </a:r>
                <a:endParaRPr lang="en-US" altLang="zh-CN" dirty="0">
                  <a:latin typeface="Aptos Display" panose="020B0004020202020204" pitchFamily="34" charset="0"/>
                </a:endParaRPr>
              </a:p>
              <a:p>
                <a:r>
                  <a:rPr lang="en" altLang="en-US" dirty="0">
                    <a:latin typeface="Aptos Display" panose="020B0004020202020204" pitchFamily="34" charset="0"/>
                  </a:rPr>
                  <a:t>Analysis: The Euclidean algorithm is a problem-solving method that can continuously reduce the size of the problem.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GCD</a:t>
                </a:r>
                <a:r>
                  <a:rPr lang="zh-CN" altLang="en-US" dirty="0">
                    <a:latin typeface="Aptos Display" panose="020B0004020202020204" pitchFamily="34" charset="0"/>
                  </a:rPr>
                  <a:t> </a:t>
                </a:r>
                <a:r>
                  <a:rPr lang="en-US" altLang="zh-CN" dirty="0">
                    <a:latin typeface="Aptos Display" panose="020B0004020202020204" pitchFamily="34" charset="0"/>
                  </a:rPr>
                  <a:t>of</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𝑚</m:t>
                    </m:r>
                    <m:r>
                      <a:rPr lang="en-US" altLang="zh-CN" b="0" i="1">
                        <a:latin typeface="Cambria Math" panose="02040503050406030204" pitchFamily="18" charset="0"/>
                      </a:rPr>
                      <m:t>, </m:t>
                    </m:r>
                    <m:r>
                      <a:rPr lang="en-US" altLang="zh-CN" b="0" i="1">
                        <a:latin typeface="Cambria Math" panose="02040503050406030204" pitchFamily="18" charset="0"/>
                      </a:rPr>
                      <m:t>𝑛</m:t>
                    </m:r>
                  </m:oMath>
                </a14:m>
                <a:r>
                  <a:rPr lang="en" altLang="zh-CN" i="1" dirty="0">
                    <a:latin typeface="Aptos Display" panose="020B0004020202020204" pitchFamily="34" charset="0"/>
                  </a:rPr>
                  <a:t> </a:t>
                </a:r>
                <a:r>
                  <a:rPr lang="en-US" altLang="zh-CN" dirty="0">
                    <a:latin typeface="Aptos Display" panose="020B0004020202020204" pitchFamily="34" charset="0"/>
                  </a:rPr>
                  <a:t>is</a:t>
                </a:r>
                <a:r>
                  <a:rPr lang="zh-CN" altLang="en-US" dirty="0">
                    <a:latin typeface="Aptos Display" panose="020B0004020202020204" pitchFamily="34" charset="0"/>
                  </a:rPr>
                  <a:t> </a:t>
                </a:r>
                <a:r>
                  <a:rPr lang="en-US" altLang="zh-CN" dirty="0">
                    <a:latin typeface="Aptos Display" panose="020B0004020202020204" pitchFamily="34" charset="0"/>
                  </a:rPr>
                  <a:t>effectively</a:t>
                </a:r>
                <a:r>
                  <a:rPr lang="zh-C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GCD</a:t>
                </a:r>
                <a:r>
                  <a:rPr lang="zh-CN" altLang="en-US" dirty="0">
                    <a:latin typeface="Aptos Display" panose="020B0004020202020204" pitchFamily="34" charset="0"/>
                  </a:rPr>
                  <a:t> </a:t>
                </a:r>
                <a:r>
                  <a:rPr lang="en-US" altLang="zh-CN" dirty="0">
                    <a:latin typeface="Aptos Display" panose="020B0004020202020204" pitchFamily="34" charset="0"/>
                  </a:rPr>
                  <a:t>of</a:t>
                </a:r>
                <a:r>
                  <a:rPr lang="zh-CN" altLang="en-US" dirty="0">
                    <a:latin typeface="Aptos Display" panose="020B0004020202020204" pitchFamily="34" charset="0"/>
                  </a:rPr>
                  <a:t> </a:t>
                </a:r>
                <a:r>
                  <a:rPr lang="e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a:latin typeface="Cambria Math" panose="02040503050406030204" pitchFamily="18" charset="0"/>
                      </a:rPr>
                      <m:t>𝑛</m:t>
                    </m:r>
                  </m:oMath>
                </a14:m>
                <a:r>
                  <a:rPr lang="en" altLang="en-US" dirty="0">
                    <a:latin typeface="Aptos Display" panose="020B0004020202020204" pitchFamily="34" charset="0"/>
                  </a:rPr>
                  <a:t>.</a:t>
                </a:r>
                <a:endParaRPr lang="en-US" altLang="zh-CN" dirty="0">
                  <a:latin typeface="Aptos Display" panose="020B0004020202020204" pitchFamily="34" charset="0"/>
                </a:endParaRPr>
              </a:p>
              <a:p>
                <a:r>
                  <a:rPr lang="en-US" altLang="zh-CN" dirty="0">
                    <a:latin typeface="Aptos Display" panose="020B0004020202020204" pitchFamily="34" charset="0"/>
                  </a:rPr>
                  <a:t>Recursion:</a:t>
                </a:r>
              </a:p>
              <a:p>
                <a:pPr marL="0" indent="0">
                  <a:buNone/>
                </a:pPr>
                <a:r>
                  <a:rPr lang="en" altLang="zh-CN" dirty="0">
                    <a:latin typeface="Aptos Display" panose="020B0004020202020204" pitchFamily="34" charset="0"/>
                  </a:rPr>
                  <a:t>   </a:t>
                </a:r>
                <a14:m>
                  <m:oMath xmlns:m="http://schemas.openxmlformats.org/officeDocument/2006/math">
                    <m:func>
                      <m:funcPr>
                        <m:ctrlPr>
                          <a:rPr lang="en-US" altLang="zh-CN" i="1" smtClean="0">
                            <a:latin typeface="Cambria Math" panose="02040503050406030204" pitchFamily="18" charset="0"/>
                          </a:rPr>
                        </m:ctrlPr>
                      </m:funcPr>
                      <m:fName>
                        <m:r>
                          <m:rPr>
                            <m:sty m:val="p"/>
                          </m:rPr>
                          <a:rPr lang="en-US" altLang="zh-CN" b="0" i="0" smtClean="0">
                            <a:latin typeface="Cambria Math" panose="02040503050406030204" pitchFamily="18" charset="0"/>
                          </a:rPr>
                          <m:t>gcd</m:t>
                        </m:r>
                      </m:fName>
                      <m:e>
                        <m:d>
                          <m:dPr>
                            <m:ctrlPr>
                              <a:rPr lang="en-US" altLang="zh-CN" i="1" smtClean="0">
                                <a:latin typeface="Cambria Math" panose="02040503050406030204" pitchFamily="18" charset="0"/>
                              </a:rPr>
                            </m:ctrlPr>
                          </m:dPr>
                          <m:e>
                            <m:r>
                              <m:rPr>
                                <m:sty m:val="p"/>
                              </m:rPr>
                              <a:rPr lang="en-US" altLang="zh-CN" b="0" i="0" smtClean="0">
                                <a:latin typeface="Cambria Math" panose="02040503050406030204" pitchFamily="18" charset="0"/>
                              </a:rPr>
                              <m:t>m</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n</m:t>
                            </m:r>
                          </m:e>
                        </m:d>
                      </m:e>
                    </m:func>
                    <m:r>
                      <a:rPr lang="en-US" altLang="zh-CN" b="0"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
                          <m:e>
                            <m:func>
                              <m:funcPr>
                                <m:ctrlPr>
                                  <a:rPr lang="en-US" altLang="zh-CN" i="1" smtClean="0">
                                    <a:latin typeface="Cambria Math" panose="02040503050406030204" pitchFamily="18" charset="0"/>
                                  </a:rPr>
                                </m:ctrlPr>
                              </m:funcPr>
                              <m:fName>
                                <m:r>
                                  <a:rPr lang="en-US" altLang="zh-CN" b="0" i="1" smtClean="0">
                                    <a:latin typeface="Cambria Math" panose="02040503050406030204" pitchFamily="18" charset="0"/>
                                  </a:rPr>
                                  <m:t>𝑔𝑐𝑑</m:t>
                                </m:r>
                              </m:fName>
                              <m:e>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qArr>
                      </m:e>
                    </m:d>
                  </m:oMath>
                </a14:m>
                <a:endParaRPr lang="en-US" altLang="zh-CN" i="1"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3238" t="-1683" b="-5841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6884583" y="3893320"/>
            <a:ext cx="3719727"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zh-CN" sz="2400" dirty="0">
                <a:solidFill>
                  <a:schemeClr val="bg1"/>
                </a:solidFill>
                <a:latin typeface="Consolas" panose="020B0609020204030204" pitchFamily="49" charset="0"/>
                <a:cs typeface="Consolas" panose="020B0609020204030204" pitchFamily="49" charset="0"/>
              </a:rPr>
              <a:t>m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45 35 10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a:t>
            </a:r>
          </a:p>
          <a:p>
            <a:r>
              <a:rPr lang="en" altLang="zh-CN" sz="2400" dirty="0">
                <a:solidFill>
                  <a:schemeClr val="bg1"/>
                </a:solidFill>
                <a:latin typeface="Consolas" panose="020B0609020204030204" pitchFamily="49" charset="0"/>
                <a:cs typeface="Consolas" panose="020B0609020204030204" pitchFamily="49" charset="0"/>
              </a:rPr>
              <a:t>n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35 10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0</a:t>
            </a:r>
          </a:p>
          <a:p>
            <a:r>
              <a:rPr lang="en" altLang="zh-CN" sz="2400" dirty="0" err="1">
                <a:solidFill>
                  <a:schemeClr val="bg1"/>
                </a:solidFill>
                <a:latin typeface="Consolas" panose="020B0609020204030204" pitchFamily="49" charset="0"/>
                <a:cs typeface="Consolas" panose="020B0609020204030204" pitchFamily="49" charset="0"/>
              </a:rPr>
              <a:t>m%n</a:t>
            </a:r>
            <a:r>
              <a:rPr lang="en" altLang="zh-CN" sz="2400" dirty="0">
                <a:solidFill>
                  <a:schemeClr val="bg1"/>
                </a:solidFill>
                <a:latin typeface="Consolas" panose="020B0609020204030204" pitchFamily="49" charset="0"/>
                <a:cs typeface="Consolas" panose="020B0609020204030204" pitchFamily="49" charset="0"/>
              </a:rPr>
              <a:t>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 0</a:t>
            </a:r>
          </a:p>
        </p:txBody>
      </p:sp>
    </p:spTree>
    <p:extLst>
      <p:ext uri="{BB962C8B-B14F-4D97-AF65-F5344CB8AC3E}">
        <p14:creationId xmlns:p14="http://schemas.microsoft.com/office/powerpoint/2010/main" val="189772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8" y="7541"/>
            <a:ext cx="11089321" cy="1478570"/>
          </a:xfrm>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4 </a:t>
            </a:r>
            <a:r>
              <a:rPr lang="en" altLang="en-US" dirty="0">
                <a:solidFill>
                  <a:schemeClr val="bg1"/>
                </a:solidFill>
                <a:latin typeface="Aptos Display" panose="020B0004020202020204" pitchFamily="34" charset="0"/>
              </a:rPr>
              <a:t>: Number System Conversion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Convert a given decimal integer to binary and output the result.</a:t>
            </a:r>
            <a:endParaRPr lang="en-US" altLang="zh-CN" dirty="0">
              <a:latin typeface="Aptos Display" panose="020B0004020202020204" pitchFamily="34" charset="0"/>
            </a:endParaRPr>
          </a:p>
        </p:txBody>
      </p:sp>
      <p:sp>
        <p:nvSpPr>
          <p:cNvPr id="7" name="内容占位符 2">
            <a:extLst>
              <a:ext uri="{FF2B5EF4-FFF2-40B4-BE49-F238E27FC236}">
                <a16:creationId xmlns:a16="http://schemas.microsoft.com/office/drawing/2014/main" id="{2D61C9F3-5129-46A0-8929-EC4C9B3905EB}"/>
              </a:ext>
            </a:extLst>
          </p:cNvPr>
          <p:cNvSpPr txBox="1">
            <a:spLocks/>
          </p:cNvSpPr>
          <p:nvPr/>
        </p:nvSpPr>
        <p:spPr>
          <a:xfrm>
            <a:off x="678610" y="2037806"/>
            <a:ext cx="6532418" cy="449031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#include &lt;bits/</a:t>
            </a:r>
            <a:r>
              <a:rPr lang="en" altLang="zh-CN" sz="2000" dirty="0" err="1">
                <a:latin typeface="Consolas" panose="020B0609020204030204" pitchFamily="49" charset="0"/>
                <a:cs typeface="Consolas" panose="020B0609020204030204" pitchFamily="49" charset="0"/>
              </a:rPr>
              <a:t>stdc</a:t>
            </a:r>
            <a:r>
              <a:rPr lang="en" altLang="zh-CN" sz="2000" dirty="0">
                <a:latin typeface="Consolas" panose="020B0609020204030204" pitchFamily="49" charset="0"/>
                <a:cs typeface="Consolas" panose="020B0609020204030204" pitchFamily="49" charset="0"/>
              </a:rPr>
              <a:t>++.h&gt;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using namespace std;</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print(int n){</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if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print(</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a:t>
            </a:r>
            <a:r>
              <a:rPr lang="zh-CN" altLang="en-US"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main(){</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int n;</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cin</a:t>
            </a:r>
            <a:r>
              <a:rPr lang="en" altLang="zh-CN" sz="2000" dirty="0">
                <a:latin typeface="Consolas" panose="020B0609020204030204" pitchFamily="49" charset="0"/>
                <a:cs typeface="Consolas" panose="020B0609020204030204" pitchFamily="49" charset="0"/>
              </a:rPr>
              <a:t> &gt;&gt;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n; print(n);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 </a:t>
            </a:r>
            <a:r>
              <a:rPr lang="en" altLang="zh-CN" sz="2000" dirty="0" err="1">
                <a:latin typeface="Consolas" panose="020B0609020204030204" pitchFamily="49" charset="0"/>
                <a:cs typeface="Consolas" panose="020B0609020204030204" pitchFamily="49" charset="0"/>
              </a:rPr>
              <a:t>endl</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return 0;</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p:txBody>
      </p:sp>
      <p:sp>
        <p:nvSpPr>
          <p:cNvPr id="10" name="矩形 9">
            <a:extLst>
              <a:ext uri="{FF2B5EF4-FFF2-40B4-BE49-F238E27FC236}">
                <a16:creationId xmlns:a16="http://schemas.microsoft.com/office/drawing/2014/main" id="{9DB91F86-1649-4A83-B9B6-A7032BAE355B}"/>
              </a:ext>
            </a:extLst>
          </p:cNvPr>
          <p:cNvSpPr/>
          <p:nvPr/>
        </p:nvSpPr>
        <p:spPr>
          <a:xfrm>
            <a:off x="7798526" y="4282150"/>
            <a:ext cx="2711136"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en-US" sz="2400" dirty="0">
                <a:solidFill>
                  <a:schemeClr val="bg1"/>
                </a:solidFill>
                <a:latin typeface="Aptos Display" panose="020B0004020202020204" pitchFamily="34" charset="0"/>
              </a:rPr>
              <a:t>Input: 		</a:t>
            </a:r>
            <a:r>
              <a:rPr lang="en" altLang="zh-CN" sz="2400" dirty="0">
                <a:solidFill>
                  <a:schemeClr val="bg1"/>
                </a:solidFill>
                <a:latin typeface="Consolas" panose="020B0609020204030204" pitchFamily="49" charset="0"/>
                <a:cs typeface="Consolas" panose="020B0609020204030204" pitchFamily="49" charset="0"/>
              </a:rPr>
              <a:t>45</a:t>
            </a:r>
          </a:p>
          <a:p>
            <a:endParaRPr lang="en-US" altLang="zh-CN" sz="2400" dirty="0">
              <a:solidFill>
                <a:schemeClr val="bg1"/>
              </a:solidFill>
              <a:latin typeface="Aptos Display" panose="020B0004020202020204" pitchFamily="34" charset="0"/>
            </a:endParaRPr>
          </a:p>
          <a:p>
            <a:r>
              <a:rPr lang="en" altLang="en-US" sz="2400" dirty="0">
                <a:solidFill>
                  <a:schemeClr val="bg1"/>
                </a:solidFill>
                <a:latin typeface="Aptos Display" panose="020B0004020202020204" pitchFamily="34" charset="0"/>
              </a:rPr>
              <a:t>Output: 	</a:t>
            </a:r>
            <a:r>
              <a:rPr lang="en" altLang="zh-CN" sz="2400" dirty="0">
                <a:solidFill>
                  <a:schemeClr val="bg1"/>
                </a:solidFill>
                <a:latin typeface="Consolas" panose="020B0609020204030204" pitchFamily="49" charset="0"/>
                <a:cs typeface="Consolas" panose="020B0609020204030204" pitchFamily="49" charset="0"/>
              </a:rPr>
              <a:t>101101</a:t>
            </a:r>
          </a:p>
        </p:txBody>
      </p:sp>
    </p:spTree>
    <p:extLst>
      <p:ext uri="{BB962C8B-B14F-4D97-AF65-F5344CB8AC3E}">
        <p14:creationId xmlns:p14="http://schemas.microsoft.com/office/powerpoint/2010/main" val="3415694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ea typeface="+mn-ea"/>
              </a:rPr>
              <a:t>Practice</a:t>
            </a:r>
            <a:r>
              <a:rPr lang="zh-CN" altLang="en-US" dirty="0">
                <a:solidFill>
                  <a:schemeClr val="bg1"/>
                </a:solidFill>
                <a:latin typeface="Aptos Display" panose="020B0004020202020204" pitchFamily="34" charset="0"/>
                <a:ea typeface="+mn-ea"/>
              </a:rPr>
              <a:t> </a:t>
            </a:r>
            <a:r>
              <a:rPr lang="en-US" altLang="zh-CN" dirty="0">
                <a:solidFill>
                  <a:schemeClr val="bg1"/>
                </a:solidFill>
                <a:latin typeface="Aptos Display" panose="020B0004020202020204" pitchFamily="34" charset="0"/>
                <a:ea typeface="+mn-ea"/>
              </a:rPr>
              <a:t>Problem</a:t>
            </a:r>
            <a:r>
              <a:rPr lang="zh-CN" altLang="en-US" dirty="0">
                <a:solidFill>
                  <a:schemeClr val="bg1"/>
                </a:solidFill>
                <a:latin typeface="Aptos Display" panose="020B0004020202020204" pitchFamily="34" charset="0"/>
                <a:ea typeface="+mn-ea"/>
              </a:rPr>
              <a:t> </a:t>
            </a:r>
            <a:r>
              <a:rPr lang="en" altLang="zh-CN" dirty="0">
                <a:solidFill>
                  <a:schemeClr val="bg1"/>
                </a:solidFill>
                <a:latin typeface="Aptos Display" panose="020B0004020202020204" pitchFamily="34" charset="0"/>
                <a:ea typeface="+mn-ea"/>
              </a:rPr>
              <a:t>5 </a:t>
            </a:r>
            <a:r>
              <a:rPr lang="en" altLang="en-US" dirty="0">
                <a:solidFill>
                  <a:schemeClr val="bg1"/>
                </a:solidFill>
                <a:latin typeface="Aptos Display" panose="020B0004020202020204" pitchFamily="34" charset="0"/>
                <a:ea typeface="+mn-ea"/>
              </a:rPr>
              <a:t>: Number Reversal</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478569"/>
          </a:xfrm>
        </p:spPr>
        <p:txBody>
          <a:bodyPr>
            <a:normAutofit lnSpcReduction="10000"/>
          </a:bodyPr>
          <a:lstStyle/>
          <a:p>
            <a:r>
              <a:rPr lang="en" altLang="en-US" dirty="0">
                <a:latin typeface="Aptos Display" panose="020B0004020202020204" pitchFamily="34" charset="0"/>
              </a:rPr>
              <a:t>Input a multi-digit number and output it in reverse order using a recursive method.</a:t>
            </a:r>
            <a:endParaRPr lang="en-US" altLang="zh-CN" dirty="0">
              <a:latin typeface="Aptos Display" panose="020B0004020202020204" pitchFamily="34" charset="0"/>
            </a:endParaRPr>
          </a:p>
          <a:p>
            <a:r>
              <a:rPr lang="en" altLang="en-US" dirty="0">
                <a:latin typeface="Aptos Display" panose="020B0004020202020204" pitchFamily="34" charset="0"/>
              </a:rPr>
              <a:t>Analysis:</a:t>
            </a:r>
            <a:endParaRPr lang="en-US" altLang="zh-CN" dirty="0">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2450806" y="3424056"/>
                <a:ext cx="7646783" cy="194783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rd</m:t>
                      </m:r>
                      <m:d>
                        <m:dPr>
                          <m:ctrlPr>
                            <a:rPr lang="en-US" altLang="zh-CN" i="1" smtClean="0">
                              <a:latin typeface="Cambria Math" panose="02040503050406030204" pitchFamily="18" charset="0"/>
                            </a:rPr>
                          </m:ctrlPr>
                        </m:dPr>
                        <m:e>
                          <m:r>
                            <m:rPr>
                              <m:sty m:val="p"/>
                            </m:rPr>
                            <a:rPr lang="en-US" altLang="zh-CN" b="0" i="0" smtClean="0">
                              <a:latin typeface="Cambria Math" panose="02040503050406030204" pitchFamily="18" charset="0"/>
                            </a:rPr>
                            <m:t>n</m:t>
                          </m:r>
                        </m:e>
                      </m:d>
                      <m:r>
                        <a:rPr lang="en-US" altLang="zh-CN" b="0"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m:rPr>
                                  <m:sty m:val="p"/>
                                </m:rPr>
                                <a:rPr lang="en-US" altLang="zh-CN" b="0" i="0" smtClean="0">
                                  <a:latin typeface="Cambria Math" panose="02040503050406030204" pitchFamily="18" charset="0"/>
                                </a:rPr>
                                <m:t>return</m:t>
                              </m:r>
                              <m:r>
                                <a:rPr lang="en-US" altLang="zh-CN" b="0" i="0"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
                            <m:e>
                              <m:r>
                                <m:rPr>
                                  <m:sty m:val="p"/>
                                </m:rPr>
                                <a:rPr lang="en-US" altLang="zh-CN" b="0" i="0" smtClean="0">
                                  <a:latin typeface="Cambria Math" panose="02040503050406030204" pitchFamily="18" charset="0"/>
                                </a:rPr>
                                <m:t>cout</m:t>
                              </m:r>
                              <m:r>
                                <a:rPr lang="en-US" altLang="zh-CN" b="0" i="0"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&amp;%10</m:t>
                              </m:r>
                              <m:r>
                                <a:rPr lang="en-US" altLang="zh-CN" b="0" i="0" smtClean="0">
                                  <a:latin typeface="Cambria Math" panose="02040503050406030204" pitchFamily="18" charset="0"/>
                                </a:rPr>
                                <m:t>, </m:t>
                              </m:r>
                              <m:r>
                                <a:rPr lang="en-US" altLang="zh-CN" b="0" i="1" smtClean="0">
                                  <a:latin typeface="Cambria Math" panose="02040503050406030204" pitchFamily="18" charset="0"/>
                                </a:rPr>
                                <m:t>𝑟𝑑</m:t>
                              </m:r>
                              <m:d>
                                <m:dPr>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10</m:t>
                                      </m:r>
                                    </m:den>
                                  </m:f>
                                </m:e>
                              </m:d>
                              <m:r>
                                <a:rPr lang="en-US" altLang="zh-CN" b="0" i="0"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qArr>
                        </m:e>
                      </m:d>
                    </m:oMath>
                  </m:oMathPara>
                </a14:m>
                <a:endParaRPr lang="en-US" altLang="zh-CN" dirty="0">
                  <a:latin typeface="Aptos Display" panose="020B000402020202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2450806" y="3424056"/>
                <a:ext cx="7646783" cy="1947834"/>
              </a:xfrm>
              <a:prstGeom prst="rect">
                <a:avLst/>
              </a:prstGeom>
              <a:blipFill>
                <a:blip r:embed="rId3"/>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15686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6 </a:t>
            </a:r>
            <a:r>
              <a:rPr lang="en" altLang="en-US" dirty="0">
                <a:solidFill>
                  <a:schemeClr val="bg1"/>
                </a:solidFill>
                <a:latin typeface="Aptos Display" panose="020B0004020202020204" pitchFamily="34" charset="0"/>
              </a:rPr>
              <a:t>: Prime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fontScale="92500" lnSpcReduction="20000"/>
          </a:bodyPr>
          <a:lstStyle/>
          <a:p>
            <a:r>
              <a:rPr lang="en" altLang="en-US" dirty="0">
                <a:latin typeface="Aptos Display" panose="020B0004020202020204" pitchFamily="34" charset="0"/>
              </a:rPr>
              <a:t>Given a positive integer </a:t>
            </a:r>
            <a:r>
              <a:rPr lang="en" altLang="zh-CN" i="1" dirty="0">
                <a:latin typeface="Aptos Display" panose="020B0004020202020204" pitchFamily="34" charset="0"/>
              </a:rPr>
              <a:t>n</a:t>
            </a:r>
            <a:r>
              <a:rPr lang="en" altLang="zh-CN" dirty="0">
                <a:latin typeface="Aptos Display" panose="020B0004020202020204" pitchFamily="34" charset="0"/>
              </a:rPr>
              <a:t> </a:t>
            </a:r>
            <a:r>
              <a:rPr lang="en" altLang="en-US" dirty="0">
                <a:latin typeface="Aptos Display" panose="020B0004020202020204" pitchFamily="34" charset="0"/>
              </a:rPr>
              <a:t>, output all its prime factors in ascending order using a recursive method.</a:t>
            </a:r>
            <a:endParaRPr lang="en-US" altLang="zh-CN" dirty="0">
              <a:latin typeface="Aptos Display" panose="020B0004020202020204" pitchFamily="34" charset="0"/>
            </a:endParaRPr>
          </a:p>
          <a:p>
            <a:r>
              <a:rPr lang="en" altLang="en-US" dirty="0">
                <a:latin typeface="Aptos Display" panose="020B0004020202020204" pitchFamily="34" charset="0"/>
              </a:rPr>
              <a:t>Input example: </a:t>
            </a:r>
            <a:r>
              <a:rPr lang="en" altLang="zh-CN" dirty="0">
                <a:latin typeface="Consolas" panose="020B0609020204030204" pitchFamily="49" charset="0"/>
                <a:cs typeface="Consolas" panose="020B0609020204030204" pitchFamily="49" charset="0"/>
              </a:rPr>
              <a:t>18</a:t>
            </a:r>
          </a:p>
          <a:p>
            <a:r>
              <a:rPr lang="en" altLang="en-US" dirty="0">
                <a:latin typeface="Aptos Display" panose="020B0004020202020204" pitchFamily="34" charset="0"/>
              </a:rPr>
              <a:t>Output example: </a:t>
            </a:r>
            <a:r>
              <a:rPr lang="en" altLang="zh-CN" dirty="0">
                <a:latin typeface="Consolas" panose="020B0609020204030204" pitchFamily="49" charset="0"/>
                <a:cs typeface="Consolas" panose="020B0609020204030204" pitchFamily="49" charset="0"/>
              </a:rPr>
              <a:t>2 3 3</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948526" y="2951922"/>
                <a:ext cx="7646783" cy="292210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𝑝𝑓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    </m:t>
                              </m:r>
                              <m:r>
                                <a:rPr lang="zh-CN" altLang="en-US" sz="2000" b="0" i="1" smtClean="0">
                                  <a:latin typeface="Cambria Math" panose="02040503050406030204" pitchFamily="18" charset="0"/>
                                </a:rPr>
                                <m:t>     </m:t>
                              </m:r>
                              <m:r>
                                <a:rPr lang="en-US" altLang="zh-CN" sz="2000" b="0" i="1" smtClean="0">
                                  <a:latin typeface="Cambria Math" panose="02040503050406030204" pitchFamily="18" charset="0"/>
                                </a:rPr>
                                <m:t>𝑟𝑒𝑡𝑢𝑟𝑛</m:t>
                              </m:r>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&gt;1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e>
                                            <m:e/>
                                            <m:e>
                                              <m:r>
                                                <a:rPr lang="en-US" altLang="zh-CN" sz="2000" b="0" i="1" smtClean="0">
                                                  <a:latin typeface="Cambria Math" panose="02040503050406030204" pitchFamily="18" charset="0"/>
                                                </a:rPr>
                                                <m:t>𝑝𝑓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e>
                                          </m:eqArr>
                                        </m:e>
                                      </m:d>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≠0         </m:t>
                                      </m:r>
                                      <m:r>
                                        <a:rPr lang="zh-CN" altLang="en-US" sz="2000" b="0" i="1" smtClean="0">
                                          <a:latin typeface="Cambria Math" panose="02040503050406030204" pitchFamily="18" charset="0"/>
                                        </a:rPr>
                                        <m:t> </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+1</m:t>
                                          </m:r>
                                        </m:e>
                                      </m:d>
                                      <m:r>
                                        <a:rPr lang="zh-CN" altLang="en-US" sz="2000" b="0" i="1" smtClean="0">
                                          <a:latin typeface="Cambria Math" panose="02040503050406030204" pitchFamily="18" charset="0"/>
                                        </a:rPr>
                                        <m:t>          </m:t>
                                      </m:r>
                                    </m:e>
                                  </m:eqArr>
                                </m:e>
                              </m:d>
                            </m:e>
                          </m:eqArr>
                        </m:e>
                      </m:d>
                    </m:oMath>
                  </m:oMathPara>
                </a14:m>
                <a:endParaRPr lang="en-US" altLang="zh-CN" sz="2000"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948526" y="2951922"/>
                <a:ext cx="7646783" cy="2922104"/>
              </a:xfrm>
              <a:prstGeom prst="rect">
                <a:avLst/>
              </a:prstGeom>
              <a:blipFill>
                <a:blip r:embed="rId3"/>
                <a:stretch>
                  <a:fillRect t="-50216" b="-110823"/>
                </a:stretch>
              </a:blipFill>
            </p:spPr>
            <p:txBody>
              <a:bodyPr/>
              <a:lstStyle/>
              <a:p>
                <a:r>
                  <a:rPr lang="en-AU">
                    <a:noFill/>
                  </a:rPr>
                  <a:t> </a:t>
                </a:r>
              </a:p>
            </p:txBody>
          </p:sp>
        </mc:Fallback>
      </mc:AlternateContent>
    </p:spTree>
    <p:extLst>
      <p:ext uri="{BB962C8B-B14F-4D97-AF65-F5344CB8AC3E}">
        <p14:creationId xmlns:p14="http://schemas.microsoft.com/office/powerpoint/2010/main" val="55748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ea typeface="+mn-ea"/>
              </a:rPr>
              <a:t>Practice</a:t>
            </a:r>
            <a:r>
              <a:rPr lang="zh-CN" altLang="en-US" dirty="0">
                <a:solidFill>
                  <a:schemeClr val="bg1"/>
                </a:solidFill>
                <a:latin typeface="Aptos Display" panose="020B0004020202020204" pitchFamily="34" charset="0"/>
                <a:ea typeface="+mn-ea"/>
              </a:rPr>
              <a:t> </a:t>
            </a:r>
            <a:r>
              <a:rPr lang="en-US" altLang="zh-CN" dirty="0">
                <a:solidFill>
                  <a:schemeClr val="bg1"/>
                </a:solidFill>
                <a:latin typeface="Aptos Display" panose="020B0004020202020204" pitchFamily="34" charset="0"/>
                <a:ea typeface="+mn-ea"/>
              </a:rPr>
              <a:t>problem</a:t>
            </a:r>
            <a:r>
              <a:rPr lang="zh-CN" altLang="en-US" dirty="0">
                <a:solidFill>
                  <a:schemeClr val="bg1"/>
                </a:solidFill>
                <a:latin typeface="Aptos Display" panose="020B0004020202020204" pitchFamily="34" charset="0"/>
                <a:ea typeface="+mn-ea"/>
              </a:rPr>
              <a:t> </a:t>
            </a:r>
            <a:r>
              <a:rPr lang="en" altLang="zh-CN" dirty="0">
                <a:solidFill>
                  <a:schemeClr val="bg1"/>
                </a:solidFill>
                <a:latin typeface="Aptos Display" panose="020B0004020202020204" pitchFamily="34" charset="0"/>
                <a:ea typeface="+mn-ea"/>
              </a:rPr>
              <a:t>7 </a:t>
            </a:r>
            <a:r>
              <a:rPr lang="en" altLang="en-US" dirty="0">
                <a:solidFill>
                  <a:schemeClr val="bg1"/>
                </a:solidFill>
                <a:latin typeface="Aptos Display" panose="020B0004020202020204" pitchFamily="34" charset="0"/>
                <a:ea typeface="+mn-ea"/>
              </a:rPr>
              <a:t>: Kaku</a:t>
            </a:r>
            <a:r>
              <a:rPr lang="en-US" altLang="zh-CN" dirty="0">
                <a:solidFill>
                  <a:schemeClr val="bg1"/>
                </a:solidFill>
                <a:latin typeface="Aptos Display" panose="020B0004020202020204" pitchFamily="34" charset="0"/>
                <a:ea typeface="+mn-ea"/>
              </a:rPr>
              <a:t>TANI</a:t>
            </a:r>
            <a:r>
              <a:rPr lang="en" altLang="en-US" dirty="0">
                <a:solidFill>
                  <a:schemeClr val="bg1"/>
                </a:solidFill>
                <a:latin typeface="Aptos Display" panose="020B0004020202020204" pitchFamily="34" charset="0"/>
                <a:ea typeface="+mn-ea"/>
              </a:rPr>
              <a:t> Conjecture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09"/>
            <a:ext cx="10186612" cy="4914691"/>
          </a:xfrm>
        </p:spPr>
        <p:txBody>
          <a:bodyPr>
            <a:normAutofit fontScale="92500" lnSpcReduction="10000"/>
          </a:bodyPr>
          <a:lstStyle/>
          <a:p>
            <a:r>
              <a:rPr lang="en" altLang="en-US" dirty="0">
                <a:latin typeface="Aptos Display" panose="020B0004020202020204" pitchFamily="34" charset="0"/>
              </a:rPr>
              <a:t>A Japanese junior high school student discovered a fascinating theorem and asked Professor Kakutani to prove it. The professor was unable to do so, which led to the Kakutani Conjecture.</a:t>
            </a:r>
            <a:endParaRPr lang="en-US" altLang="zh-CN" dirty="0">
              <a:latin typeface="Aptos Display" panose="020B0004020202020204" pitchFamily="34" charset="0"/>
            </a:endParaRPr>
          </a:p>
          <a:p>
            <a:r>
              <a:rPr lang="en" altLang="en-US" dirty="0">
                <a:latin typeface="Aptos Display" panose="020B0004020202020204" pitchFamily="34" charset="0"/>
              </a:rPr>
              <a:t>Given any natural number, if it is even, divide it by </a:t>
            </a:r>
            <a:r>
              <a:rPr lang="en" altLang="zh-CN" dirty="0">
                <a:latin typeface="Aptos Display" panose="020B0004020202020204" pitchFamily="34" charset="0"/>
              </a:rPr>
              <a:t>2 </a:t>
            </a:r>
            <a:r>
              <a:rPr lang="en" altLang="en-US" dirty="0">
                <a:latin typeface="Aptos Display" panose="020B0004020202020204" pitchFamily="34" charset="0"/>
              </a:rPr>
              <a:t>; if it is odd, multiply it by </a:t>
            </a:r>
            <a:r>
              <a:rPr lang="en" altLang="zh-CN" dirty="0">
                <a:latin typeface="Aptos Display" panose="020B0004020202020204" pitchFamily="34" charset="0"/>
              </a:rPr>
              <a:t>3 </a:t>
            </a:r>
            <a:r>
              <a:rPr lang="en" altLang="en-US" dirty="0">
                <a:latin typeface="Aptos Display" panose="020B0004020202020204" pitchFamily="34" charset="0"/>
              </a:rPr>
              <a:t>and add </a:t>
            </a:r>
            <a:r>
              <a:rPr lang="en" altLang="zh-CN" dirty="0">
                <a:latin typeface="Aptos Display" panose="020B0004020202020204" pitchFamily="34" charset="0"/>
              </a:rPr>
              <a:t>1. </a:t>
            </a:r>
            <a:r>
              <a:rPr lang="en" altLang="en-US" dirty="0">
                <a:latin typeface="Aptos Display" panose="020B0004020202020204" pitchFamily="34" charset="0"/>
              </a:rPr>
              <a:t>After obtaining a new natural number, continue the calculation according to the above rule. After a certain number of times, the result will always be </a:t>
            </a:r>
            <a:r>
              <a:rPr lang="en" altLang="zh-CN" dirty="0">
                <a:latin typeface="Aptos Display" panose="020B0004020202020204" pitchFamily="34" charset="0"/>
              </a:rPr>
              <a:t>1 </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For example, for </a:t>
            </a:r>
            <a:r>
              <a:rPr lang="en" altLang="zh-CN" dirty="0">
                <a:latin typeface="Consolas" panose="020B0609020204030204" pitchFamily="49" charset="0"/>
                <a:cs typeface="Consolas" panose="020B0609020204030204" pitchFamily="49" charset="0"/>
              </a:rPr>
              <a:t>22</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22/2=11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11</a:t>
            </a:r>
            <a:r>
              <a:rPr lang="en" altLang="en-US" dirty="0">
                <a:latin typeface="Consolas" panose="020B0609020204030204" pitchFamily="49" charset="0"/>
                <a:cs typeface="Consolas" panose="020B0609020204030204" pitchFamily="49" charset="0"/>
              </a:rPr>
              <a:t>*</a:t>
            </a:r>
            <a:r>
              <a:rPr lang="en" altLang="zh-CN" dirty="0">
                <a:latin typeface="Consolas" panose="020B0609020204030204" pitchFamily="49" charset="0"/>
                <a:cs typeface="Consolas" panose="020B0609020204030204" pitchFamily="49" charset="0"/>
              </a:rPr>
              <a:t>3+1=34 34/2=17 17*3+1=52 52/2=26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26/2=13</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13*3+1=40 40/2=20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20/2=10 10/2=5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5*3+1=16 16/2=8</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8/2=4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4/2=2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2/2=1</a:t>
            </a:r>
          </a:p>
          <a:p>
            <a:r>
              <a:rPr lang="en" altLang="en-US" dirty="0">
                <a:latin typeface="Aptos Display" panose="020B0004020202020204" pitchFamily="34" charset="0"/>
              </a:rPr>
              <a:t>Write a program to output the process u</a:t>
            </a:r>
            <a:r>
              <a:rPr lang="en-US" altLang="zh-CN" dirty="0" err="1">
                <a:latin typeface="Aptos Display" panose="020B0004020202020204" pitchFamily="34" charset="0"/>
              </a:rPr>
              <a:t>ntil</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result</a:t>
            </a:r>
            <a:r>
              <a:rPr lang="zh-CN" altLang="en-US" dirty="0">
                <a:latin typeface="Aptos Display" panose="020B0004020202020204" pitchFamily="34" charset="0"/>
              </a:rPr>
              <a:t> </a:t>
            </a:r>
            <a:r>
              <a:rPr lang="en-US" altLang="zh-CN" dirty="0">
                <a:latin typeface="Aptos Display" panose="020B0004020202020204" pitchFamily="34" charset="0"/>
              </a:rPr>
              <a:t>becomes</a:t>
            </a:r>
            <a:r>
              <a:rPr lang="zh-CN" altLang="en-US" dirty="0">
                <a:latin typeface="Aptos Display" panose="020B0004020202020204" pitchFamily="34" charset="0"/>
              </a:rPr>
              <a:t> </a:t>
            </a:r>
            <a:r>
              <a:rPr lang="en-US" altLang="zh-CN" dirty="0">
                <a:latin typeface="Aptos Display" panose="020B0004020202020204" pitchFamily="34" charset="0"/>
              </a:rPr>
              <a:t>1</a:t>
            </a:r>
            <a:r>
              <a:rPr lang="en" altLang="en-US" dirty="0">
                <a:latin typeface="Aptos Display" panose="020B0004020202020204" pitchFamily="34" charset="0"/>
              </a:rPr>
              <a:t>.</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1189761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ea typeface="+mn-ea"/>
              </a:rPr>
              <a:t>Practice problem </a:t>
            </a:r>
            <a:r>
              <a:rPr lang="en" altLang="zh-CN" dirty="0">
                <a:solidFill>
                  <a:schemeClr val="bg1"/>
                </a:solidFill>
                <a:latin typeface="Aptos Display" panose="020B0004020202020204" pitchFamily="34" charset="0"/>
                <a:ea typeface="+mn-ea"/>
              </a:rPr>
              <a:t>7 </a:t>
            </a:r>
            <a:r>
              <a:rPr lang="en" altLang="en-US" dirty="0">
                <a:solidFill>
                  <a:schemeClr val="bg1"/>
                </a:solidFill>
                <a:latin typeface="Aptos Display" panose="020B0004020202020204" pitchFamily="34" charset="0"/>
                <a:ea typeface="+mn-ea"/>
              </a:rPr>
              <a:t>: Kaku</a:t>
            </a:r>
            <a:r>
              <a:rPr lang="en-US" altLang="zh-CN" dirty="0" err="1">
                <a:solidFill>
                  <a:schemeClr val="bg1"/>
                </a:solidFill>
                <a:latin typeface="Aptos Display" panose="020B0004020202020204" pitchFamily="34" charset="0"/>
                <a:ea typeface="+mn-ea"/>
              </a:rPr>
              <a:t>tani</a:t>
            </a:r>
            <a:r>
              <a:rPr lang="en" altLang="en-US" dirty="0">
                <a:solidFill>
                  <a:schemeClr val="bg1"/>
                </a:solidFill>
                <a:latin typeface="Aptos Display" panose="020B0004020202020204" pitchFamily="34" charset="0"/>
                <a:ea typeface="+mn-ea"/>
              </a:rPr>
              <a:t> Conjecture</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723240" y="1486111"/>
                <a:ext cx="8706221" cy="443285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𝑘</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    </m:t>
                              </m:r>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𝐸𝑛𝑑</m:t>
                              </m:r>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&gt;1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2==0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e>
                                            <m:e/>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e>
                                          </m:eqArr>
                                        </m:e>
                                      </m:d>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2≠0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∗3+1=…</m:t>
                                              </m:r>
                                            </m:e>
                                            <m:e/>
                                            <m:e>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∗3+1)</m:t>
                                              </m:r>
                                            </m:e>
                                          </m:eqArr>
                                        </m:e>
                                      </m:d>
                                    </m:e>
                                  </m:eqArr>
                                </m:e>
                              </m:d>
                            </m:e>
                          </m:eqArr>
                        </m:e>
                      </m:d>
                    </m:oMath>
                  </m:oMathPara>
                </a14:m>
                <a:endParaRPr lang="en-US" altLang="zh-CN" sz="2000"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723240" y="1486111"/>
                <a:ext cx="8706221" cy="4432852"/>
              </a:xfrm>
              <a:prstGeom prst="rect">
                <a:avLst/>
              </a:prstGeom>
              <a:blipFill>
                <a:blip r:embed="rId3"/>
                <a:stretch>
                  <a:fillRect t="-28857" b="-76286"/>
                </a:stretch>
              </a:blipFill>
            </p:spPr>
            <p:txBody>
              <a:bodyPr/>
              <a:lstStyle/>
              <a:p>
                <a:r>
                  <a:rPr lang="en-AU">
                    <a:noFill/>
                  </a:rPr>
                  <a:t> </a:t>
                </a:r>
              </a:p>
            </p:txBody>
          </p:sp>
        </mc:Fallback>
      </mc:AlternateContent>
    </p:spTree>
    <p:extLst>
      <p:ext uri="{BB962C8B-B14F-4D97-AF65-F5344CB8AC3E}">
        <p14:creationId xmlns:p14="http://schemas.microsoft.com/office/powerpoint/2010/main" val="289359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a:solidFill>
                  <a:schemeClr val="bg1"/>
                </a:solidFill>
                <a:latin typeface="Aptos Display" panose="020B0004020202020204" pitchFamily="34" charset="0"/>
              </a:rPr>
              <a:t> </a:t>
            </a:r>
            <a:r>
              <a:rPr lang="en" altLang="zh-CN">
                <a:solidFill>
                  <a:schemeClr val="bg1"/>
                </a:solidFill>
                <a:latin typeface="Aptos Display" panose="020B0004020202020204" pitchFamily="34" charset="0"/>
              </a:rPr>
              <a:t>8 </a:t>
            </a:r>
            <a:r>
              <a:rPr lang="en" altLang="en-US" dirty="0">
                <a:solidFill>
                  <a:schemeClr val="bg1"/>
                </a:solidFill>
                <a:latin typeface="Aptos Display" panose="020B0004020202020204" pitchFamily="34" charset="0"/>
              </a:rPr>
              <a:t>: Pascal's Triangle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fontScale="92500" lnSpcReduction="20000"/>
          </a:bodyPr>
          <a:lstStyle/>
          <a:p>
            <a:r>
              <a:rPr lang="en" altLang="en-US" dirty="0">
                <a:latin typeface="Aptos Display" panose="020B0004020202020204" pitchFamily="34" charset="0"/>
              </a:rPr>
              <a:t>The right figure is Pascal‘s triangle. Output the value </a:t>
            </a:r>
            <a:r>
              <a:rPr lang="en-US" altLang="zh-CN" dirty="0">
                <a:latin typeface="Aptos Display" panose="020B0004020202020204" pitchFamily="34" charset="0"/>
              </a:rPr>
              <a:t>on</a:t>
            </a:r>
            <a:r>
              <a:rPr lang="en" altLang="en-US" dirty="0">
                <a:latin typeface="Aptos Display" panose="020B0004020202020204" pitchFamily="34" charset="0"/>
              </a:rPr>
              <a:t>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particular</a:t>
            </a:r>
            <a:r>
              <a:rPr lang="en" altLang="en-US">
                <a:latin typeface="Aptos Display" panose="020B0004020202020204" pitchFamily="34" charset="0"/>
              </a:rPr>
              <a:t> </a:t>
            </a:r>
            <a:r>
              <a:rPr lang="en" altLang="en-US" dirty="0">
                <a:latin typeface="Aptos Display" panose="020B0004020202020204" pitchFamily="34" charset="0"/>
              </a:rPr>
              <a:t>row and column based on the row number and column number.</a:t>
            </a:r>
            <a:endParaRPr lang="en-US" altLang="zh-CN" dirty="0">
              <a:latin typeface="Aptos Display" panose="020B0004020202020204" pitchFamily="34" charset="0"/>
            </a:endParaRPr>
          </a:p>
          <a:p>
            <a:r>
              <a:rPr lang="en" altLang="en-US" dirty="0">
                <a:latin typeface="Aptos Display" panose="020B0004020202020204" pitchFamily="34" charset="0"/>
              </a:rPr>
              <a:t>Input example: </a:t>
            </a:r>
            <a:r>
              <a:rPr lang="en" altLang="zh-CN" dirty="0">
                <a:latin typeface="Aptos Display" panose="020B0004020202020204" pitchFamily="34" charset="0"/>
              </a:rPr>
              <a:t>4 2</a:t>
            </a:r>
          </a:p>
          <a:p>
            <a:r>
              <a:rPr lang="en" altLang="en-US" dirty="0">
                <a:latin typeface="Aptos Display" panose="020B0004020202020204" pitchFamily="34" charset="0"/>
              </a:rPr>
              <a:t>Output example: </a:t>
            </a:r>
            <a:r>
              <a:rPr lang="en" altLang="zh-CN" dirty="0">
                <a:latin typeface="Aptos Display" panose="020B0004020202020204" pitchFamily="34" charset="0"/>
              </a:rPr>
              <a:t>6</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678609" y="3420354"/>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𝑚</m:t>
                              </m:r>
                              <m:r>
                                <a:rPr lang="en-US" altLang="zh-CN" b="0" i="1" smtClean="0">
                                  <a:latin typeface="Cambria Math" panose="02040503050406030204" pitchFamily="18" charset="0"/>
                                </a:rPr>
                                <m:t>==0;   =1                                                </m:t>
                              </m:r>
                            </m:e>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=1                                                 </m:t>
                              </m:r>
                            </m:e>
                            <m:e>
                              <m:r>
                                <a:rPr lang="en-US" altLang="zh-CN" b="0" i="1" smtClean="0">
                                  <a:latin typeface="Cambria Math" panose="02040503050406030204" pitchFamily="18" charset="0"/>
                                </a:rPr>
                                <m:t>𝑒𝑙𝑠𝑒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e>
                              </m:d>
                              <m:r>
                                <a:rPr lang="zh-CN" altLang="en-US" b="0" i="1" smtClean="0">
                                  <a:latin typeface="Cambria Math" panose="02040503050406030204" pitchFamily="18" charset="0"/>
                                </a:rPr>
                                <m:t>     </m:t>
                              </m:r>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678609" y="3420354"/>
                <a:ext cx="7646783" cy="2922104"/>
              </a:xfrm>
              <a:prstGeom prst="rect">
                <a:avLst/>
              </a:prstGeom>
              <a:blipFill>
                <a:blip r:embed="rId3"/>
                <a:stretch>
                  <a:fillRect l="-5141" t="-84416" b="-83117"/>
                </a:stretch>
              </a:blipFill>
            </p:spPr>
            <p:txBody>
              <a:bodyPr/>
              <a:lstStyle/>
              <a:p>
                <a:r>
                  <a:rPr lang="en-AU">
                    <a:noFill/>
                  </a:rPr>
                  <a:t> </a:t>
                </a:r>
              </a:p>
            </p:txBody>
          </p:sp>
        </mc:Fallback>
      </mc:AlternateContent>
      <p:sp>
        <p:nvSpPr>
          <p:cNvPr id="7" name="内容占位符 2">
            <a:extLst>
              <a:ext uri="{FF2B5EF4-FFF2-40B4-BE49-F238E27FC236}">
                <a16:creationId xmlns:a16="http://schemas.microsoft.com/office/drawing/2014/main" id="{77FFF625-3ADD-4535-8540-2D773D29404D}"/>
              </a:ext>
            </a:extLst>
          </p:cNvPr>
          <p:cNvSpPr txBox="1">
            <a:spLocks/>
          </p:cNvSpPr>
          <p:nvPr/>
        </p:nvSpPr>
        <p:spPr>
          <a:xfrm>
            <a:off x="8488018" y="2101765"/>
            <a:ext cx="4167809" cy="31249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2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3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3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4</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6</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4</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1</a:t>
            </a:r>
          </a:p>
          <a:p>
            <a:pPr marL="0" indent="0">
              <a:buNone/>
            </a:pP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5</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10</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10</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5</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1</a:t>
            </a:r>
          </a:p>
        </p:txBody>
      </p:sp>
    </p:spTree>
    <p:extLst>
      <p:ext uri="{BB962C8B-B14F-4D97-AF65-F5344CB8AC3E}">
        <p14:creationId xmlns:p14="http://schemas.microsoft.com/office/powerpoint/2010/main" val="373692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9 </a:t>
            </a:r>
            <a:r>
              <a:rPr lang="en" altLang="en-US" dirty="0">
                <a:solidFill>
                  <a:schemeClr val="bg1"/>
                </a:solidFill>
                <a:latin typeface="Aptos Display" panose="020B0004020202020204" pitchFamily="34" charset="0"/>
              </a:rPr>
              <a:t>: Find </a:t>
            </a:r>
            <a:r>
              <a:rPr lang="en" altLang="zh-CN" cap="none" dirty="0" err="1">
                <a:solidFill>
                  <a:schemeClr val="bg1"/>
                </a:solidFill>
                <a:latin typeface="Aptos Display" panose="020B0004020202020204" pitchFamily="34" charset="0"/>
              </a:rPr>
              <a:t>x</a:t>
            </a:r>
            <a:r>
              <a:rPr lang="en" altLang="zh-CN" cap="none" baseline="30000" dirty="0" err="1">
                <a:solidFill>
                  <a:schemeClr val="bg1"/>
                </a:solidFill>
                <a:latin typeface="Aptos Display" panose="020B0004020202020204" pitchFamily="34" charset="0"/>
              </a:rPr>
              <a:t>n</a:t>
            </a:r>
            <a:endParaRPr lang="zh-CN" altLang="en-US" cap="none" baseline="30000"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a:bodyPr>
          <a:lstStyle/>
          <a:p>
            <a:r>
              <a:rPr lang="en" altLang="zh-CN" dirty="0" err="1">
                <a:latin typeface="Aptos Display" panose="020B0004020202020204" pitchFamily="34" charset="0"/>
              </a:rPr>
              <a:t>x</a:t>
            </a:r>
            <a:r>
              <a:rPr lang="en" altLang="zh-CN" baseline="30000" dirty="0" err="1">
                <a:latin typeface="Aptos Display" panose="020B0004020202020204" pitchFamily="34" charset="0"/>
              </a:rPr>
              <a:t>n</a:t>
            </a:r>
            <a:r>
              <a:rPr lang="en" altLang="zh-CN" baseline="30000" dirty="0">
                <a:latin typeface="Aptos Display" panose="020B0004020202020204" pitchFamily="34" charset="0"/>
              </a:rPr>
              <a:t> </a:t>
            </a:r>
            <a:r>
              <a:rPr lang="en" altLang="en-US" dirty="0">
                <a:latin typeface="Aptos Display" panose="020B0004020202020204" pitchFamily="34" charset="0"/>
              </a:rPr>
              <a:t>using a recursive method.</a:t>
            </a:r>
            <a:r>
              <a:rPr lang="en" altLang="zh-CN" baseline="30000" dirty="0">
                <a:latin typeface="Aptos Display" panose="020B0004020202020204" pitchFamily="34" charset="0"/>
              </a:rPr>
              <a:t> </a:t>
            </a:r>
            <a:r>
              <a:rPr lang="en" altLang="zh-CN" dirty="0">
                <a:latin typeface="Aptos Display" panose="020B0004020202020204" pitchFamily="34" charset="0"/>
              </a:rPr>
              <a:t>(x != 0 </a:t>
            </a:r>
            <a:r>
              <a:rPr lang="en" altLang="en-US" dirty="0">
                <a:latin typeface="Aptos Display" panose="020B0004020202020204" pitchFamily="34" charset="0"/>
              </a:rPr>
              <a:t>, </a:t>
            </a:r>
            <a:r>
              <a:rPr lang="en" altLang="zh-CN" dirty="0">
                <a:latin typeface="Aptos Display" panose="020B0004020202020204" pitchFamily="34" charset="0"/>
              </a:rPr>
              <a:t>n </a:t>
            </a:r>
            <a:r>
              <a:rPr lang="en" altLang="en-US" dirty="0">
                <a:latin typeface="Aptos Display" panose="020B0004020202020204" pitchFamily="34" charset="0"/>
              </a:rPr>
              <a:t>is an integer </a:t>
            </a:r>
            <a:r>
              <a:rPr lang="en" altLang="zh-CN" dirty="0">
                <a:latin typeface="Aptos Display" panose="020B0004020202020204" pitchFamily="34" charset="0"/>
              </a:rPr>
              <a:t>)</a:t>
            </a:r>
          </a:p>
          <a:p>
            <a:r>
              <a:rPr lang="en" altLang="en-US" dirty="0">
                <a:latin typeface="Aptos Display" panose="020B0004020202020204" pitchFamily="34" charset="0"/>
              </a:rPr>
              <a:t>Input example: </a:t>
            </a:r>
            <a:r>
              <a:rPr lang="en" altLang="zh-CN" dirty="0">
                <a:latin typeface="Consolas" panose="020B0609020204030204" pitchFamily="49" charset="0"/>
                <a:cs typeface="Consolas" panose="020B0609020204030204" pitchFamily="49" charset="0"/>
              </a:rPr>
              <a:t>4 2</a:t>
            </a:r>
          </a:p>
          <a:p>
            <a:r>
              <a:rPr lang="en" altLang="en-US" dirty="0">
                <a:latin typeface="Aptos Display" panose="020B0004020202020204" pitchFamily="34" charset="0"/>
              </a:rPr>
              <a:t>Output example: </a:t>
            </a:r>
            <a:r>
              <a:rPr lang="en" altLang="zh-CN" dirty="0">
                <a:latin typeface="Consolas" panose="020B0609020204030204" pitchFamily="49" charset="0"/>
                <a:cs typeface="Consolas" panose="020B0609020204030204" pitchFamily="49" charset="0"/>
              </a:rPr>
              <a:t>16.00</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678609" y="3420354"/>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&gt;0)                            </m:t>
                              </m:r>
                            </m:e>
                            <m:e>
                              <m:r>
                                <a:rPr lang="en-US" altLang="zh-CN" b="0" i="1" smtClean="0">
                                  <a:latin typeface="Cambria Math" panose="02040503050406030204" pitchFamily="18" charset="0"/>
                                </a:rPr>
                                <m:t>1;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                         </m:t>
                              </m:r>
                            </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&lt;0</m:t>
                                  </m:r>
                                </m:e>
                              </m:d>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678609" y="3420354"/>
                <a:ext cx="7646783" cy="2922104"/>
              </a:xfrm>
              <a:prstGeom prst="rect">
                <a:avLst/>
              </a:prstGeom>
              <a:blipFill>
                <a:blip r:embed="rId3"/>
                <a:stretch>
                  <a:fillRect l="-11443" t="-99134" b="-113853"/>
                </a:stretch>
              </a:blipFill>
            </p:spPr>
            <p:txBody>
              <a:bodyPr/>
              <a:lstStyle/>
              <a:p>
                <a:r>
                  <a:rPr lang="en-AU">
                    <a:noFill/>
                  </a:rPr>
                  <a:t> </a:t>
                </a:r>
              </a:p>
            </p:txBody>
          </p:sp>
        </mc:Fallback>
      </mc:AlternateContent>
    </p:spTree>
    <p:extLst>
      <p:ext uri="{BB962C8B-B14F-4D97-AF65-F5344CB8AC3E}">
        <p14:creationId xmlns:p14="http://schemas.microsoft.com/office/powerpoint/2010/main" val="177678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9 </a:t>
            </a:r>
            <a:r>
              <a:rPr lang="en" altLang="en-US" dirty="0">
                <a:solidFill>
                  <a:schemeClr val="bg1"/>
                </a:solidFill>
                <a:latin typeface="Aptos Display" panose="020B0004020202020204" pitchFamily="34" charset="0"/>
              </a:rPr>
              <a:t>: Find </a:t>
            </a:r>
            <a:r>
              <a:rPr lang="en" altLang="zh-CN" cap="none" dirty="0" err="1">
                <a:solidFill>
                  <a:schemeClr val="bg1"/>
                </a:solidFill>
                <a:latin typeface="Aptos Display" panose="020B0004020202020204" pitchFamily="34" charset="0"/>
              </a:rPr>
              <a:t>x</a:t>
            </a:r>
            <a:r>
              <a:rPr lang="en" altLang="zh-CN" cap="none" baseline="30000" dirty="0" err="1">
                <a:solidFill>
                  <a:schemeClr val="bg1"/>
                </a:solidFill>
                <a:latin typeface="Aptos Display" panose="020B0004020202020204" pitchFamily="34" charset="0"/>
              </a:rPr>
              <a:t>n</a:t>
            </a:r>
            <a:endParaRPr lang="zh-CN" altLang="en-US" cap="none" baseline="30000" dirty="0">
              <a:solidFill>
                <a:schemeClr val="bg1"/>
              </a:solidFill>
              <a:latin typeface="Aptos Display" panose="020B0004020202020204" pitchFamily="34" charset="0"/>
            </a:endParaRPr>
          </a:p>
        </p:txBody>
      </p:sp>
      <p:pic>
        <p:nvPicPr>
          <p:cNvPr id="4" name="图片 3">
            <a:extLst>
              <a:ext uri="{FF2B5EF4-FFF2-40B4-BE49-F238E27FC236}">
                <a16:creationId xmlns:a16="http://schemas.microsoft.com/office/drawing/2014/main" id="{87FFE77D-78A4-8F14-7C98-8F979F39E9B4}"/>
              </a:ext>
            </a:extLst>
          </p:cNvPr>
          <p:cNvPicPr>
            <a:picLocks noChangeAspect="1"/>
          </p:cNvPicPr>
          <p:nvPr/>
        </p:nvPicPr>
        <p:blipFill>
          <a:blip r:embed="rId3"/>
          <a:stretch>
            <a:fillRect/>
          </a:stretch>
        </p:blipFill>
        <p:spPr>
          <a:xfrm>
            <a:off x="739568" y="1378226"/>
            <a:ext cx="9223561" cy="5247657"/>
          </a:xfrm>
          <a:prstGeom prst="rect">
            <a:avLst/>
          </a:prstGeom>
        </p:spPr>
      </p:pic>
    </p:spTree>
    <p:extLst>
      <p:ext uri="{BB962C8B-B14F-4D97-AF65-F5344CB8AC3E}">
        <p14:creationId xmlns:p14="http://schemas.microsoft.com/office/powerpoint/2010/main" val="767081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8" y="7541"/>
            <a:ext cx="11029687" cy="1478570"/>
          </a:xfrm>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10</a:t>
            </a:r>
            <a:r>
              <a:rPr lang="en" altLang="en-US" dirty="0">
                <a:solidFill>
                  <a:schemeClr val="bg1"/>
                </a:solidFill>
                <a:latin typeface="Aptos Display" panose="020B0004020202020204" pitchFamily="34" charset="0"/>
              </a:rPr>
              <a:t>: </a:t>
            </a:r>
            <a:r>
              <a:rPr lang="en" altLang="zh-CN" cap="none" dirty="0">
                <a:solidFill>
                  <a:schemeClr val="bg1"/>
                </a:solidFill>
                <a:latin typeface="Aptos Display" panose="020B0004020202020204" pitchFamily="34" charset="0"/>
              </a:rPr>
              <a:t>Ack</a:t>
            </a:r>
            <a:r>
              <a:rPr lang="en-US" altLang="zh-CN" cap="none" dirty="0">
                <a:solidFill>
                  <a:schemeClr val="bg1"/>
                </a:solidFill>
                <a:latin typeface="Aptos Display" panose="020B0004020202020204" pitchFamily="34" charset="0"/>
              </a:rPr>
              <a:t>er</a:t>
            </a:r>
            <a:r>
              <a:rPr lang="en" altLang="zh-CN" cap="none" dirty="0">
                <a:solidFill>
                  <a:schemeClr val="bg1"/>
                </a:solidFill>
                <a:latin typeface="Aptos Display" panose="020B0004020202020204" pitchFamily="34" charset="0"/>
              </a:rPr>
              <a:t>man</a:t>
            </a:r>
            <a:r>
              <a:rPr lang="zh-CN" altLang="en-US" cap="none" dirty="0">
                <a:solidFill>
                  <a:schemeClr val="bg1"/>
                </a:solidFill>
                <a:latin typeface="Aptos Display" panose="020B0004020202020204" pitchFamily="34" charset="0"/>
              </a:rPr>
              <a:t> </a:t>
            </a:r>
            <a:r>
              <a:rPr lang="en" altLang="en-US" dirty="0">
                <a:solidFill>
                  <a:schemeClr val="bg1"/>
                </a:solidFill>
                <a:latin typeface="Aptos Display" panose="020B0004020202020204" pitchFamily="34" charset="0"/>
              </a:rPr>
              <a:t>function</a:t>
            </a:r>
            <a:endParaRPr lang="zh-CN" altLang="en-US" cap="none" baseline="30000"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753507"/>
          </a:xfrm>
        </p:spPr>
        <p:txBody>
          <a:bodyPr>
            <a:normAutofit/>
          </a:bodyPr>
          <a:lstStyle/>
          <a:p>
            <a:r>
              <a:rPr lang="en" altLang="zh-CN" dirty="0">
                <a:latin typeface="Aptos Display" panose="020B0004020202020204" pitchFamily="34" charset="0"/>
              </a:rPr>
              <a:t>Ackman </a:t>
            </a:r>
            <a:r>
              <a:rPr lang="en" altLang="en-US" dirty="0">
                <a:latin typeface="Aptos Display" panose="020B0004020202020204" pitchFamily="34" charset="0"/>
              </a:rPr>
              <a:t>function is defined as follows:</a:t>
            </a:r>
            <a:endParaRPr lang="en-US" altLang="zh-CN" dirty="0">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208696" y="2449786"/>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𝑎𝑐𝑘</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𝑛</m:t>
                              </m:r>
                              <m:r>
                                <a:rPr lang="en-US" altLang="zh-CN" b="0" i="1" smtClean="0">
                                  <a:latin typeface="Cambria Math" panose="02040503050406030204" pitchFamily="18" charset="0"/>
                                </a:rPr>
                                <m:t>+1;                                 (</m:t>
                              </m:r>
                              <m:r>
                                <a:rPr lang="en-US" altLang="zh-CN" b="0" i="1" smtClean="0">
                                  <a:latin typeface="Cambria Math" panose="02040503050406030204" pitchFamily="18" charset="0"/>
                                </a:rPr>
                                <m:t>𝑚</m:t>
                              </m:r>
                              <m:r>
                                <a:rPr lang="en-US" altLang="zh-CN" b="0" i="1" smtClean="0">
                                  <a:latin typeface="Cambria Math" panose="02040503050406030204" pitchFamily="18" charset="0"/>
                                </a:rPr>
                                <m:t>==0)            </m:t>
                              </m:r>
                            </m:e>
                            <m:e>
                              <m:r>
                                <a:rPr lang="en-US" altLang="zh-CN" b="0" i="1" smtClean="0">
                                  <a:latin typeface="Cambria Math" panose="02040503050406030204" pitchFamily="18" charset="0"/>
                                </a:rPr>
                                <m:t>𝑎𝑐𝑘</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−1,1);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      </m:t>
                              </m:r>
                            </m:e>
                            <m:e>
                              <m:r>
                                <a:rPr lang="en-US" altLang="zh-CN" b="0" i="1" smtClean="0">
                                  <a:latin typeface="Cambria Math" panose="02040503050406030204" pitchFamily="18" charset="0"/>
                                </a:rPr>
                                <m:t>𝑎𝑐𝑘</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r>
                                <a:rPr lang="en-US" altLang="zh-CN" b="0" i="1" smtClean="0">
                                  <a:latin typeface="Cambria Math" panose="02040503050406030204" pitchFamily="18" charset="0"/>
                                </a:rPr>
                                <m:t>𝑎𝑐𝑘</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𝑒𝑙𝑠𝑒</m:t>
                              </m:r>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208696" y="2449786"/>
                <a:ext cx="7646783" cy="2922104"/>
              </a:xfrm>
              <a:prstGeom prst="rect">
                <a:avLst/>
              </a:prstGeom>
              <a:blipFill>
                <a:blip r:embed="rId3"/>
                <a:stretch>
                  <a:fillRect/>
                </a:stretch>
              </a:blipFill>
            </p:spPr>
            <p:txBody>
              <a:bodyPr/>
              <a:lstStyle/>
              <a:p>
                <a:r xmlns:a="http://schemas.openxmlformats.org/drawingml/2006/main">
                  <a:rPr lang="en" altLang="en-US">
                    <a:noFill/>
                  </a:rPr>
                  <a:t> </a:t>
                </a:r>
              </a:p>
            </p:txBody>
          </p:sp>
        </mc:Fallback>
      </mc:AlternateContent>
      <p:sp>
        <p:nvSpPr>
          <p:cNvPr id="5" name="内容占位符 2">
            <a:extLst>
              <a:ext uri="{FF2B5EF4-FFF2-40B4-BE49-F238E27FC236}">
                <a16:creationId xmlns:a16="http://schemas.microsoft.com/office/drawing/2014/main" id="{D702AE77-E85F-440E-B4F3-71AEE296FD74}"/>
              </a:ext>
            </a:extLst>
          </p:cNvPr>
          <p:cNvSpPr txBox="1">
            <a:spLocks/>
          </p:cNvSpPr>
          <p:nvPr/>
        </p:nvSpPr>
        <p:spPr>
          <a:xfrm>
            <a:off x="3421812" y="4618384"/>
            <a:ext cx="5861336" cy="75350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 altLang="en-US" dirty="0">
                <a:latin typeface="Aptos Display" panose="020B0004020202020204" pitchFamily="34" charset="0"/>
              </a:rPr>
              <a:t>Try to calculate the function value using recursion.</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2179446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11 </a:t>
            </a:r>
            <a:r>
              <a:rPr lang="en" altLang="en-US" dirty="0">
                <a:solidFill>
                  <a:schemeClr val="bg1"/>
                </a:solidFill>
                <a:latin typeface="Aptos Display" panose="020B0004020202020204" pitchFamily="34" charset="0"/>
              </a:rPr>
              <a:t>: Polish Notation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371890"/>
          </a:xfrm>
        </p:spPr>
        <p:txBody>
          <a:bodyPr>
            <a:normAutofit fontScale="92500" lnSpcReduction="20000"/>
          </a:bodyPr>
          <a:lstStyle/>
          <a:p>
            <a:r>
              <a:rPr lang="en" altLang="en-US" dirty="0">
                <a:latin typeface="Aptos Display" panose="020B0004020202020204" pitchFamily="34" charset="0"/>
              </a:rPr>
              <a:t>Polish notation, also known as prefix </a:t>
            </a:r>
            <a:r>
              <a:rPr lang="en-US" altLang="zh-CN" dirty="0">
                <a:latin typeface="Aptos Display" panose="020B0004020202020204" pitchFamily="34" charset="0"/>
              </a:rPr>
              <a:t>expression</a:t>
            </a:r>
            <a:r>
              <a:rPr lang="en" altLang="en-US" dirty="0">
                <a:latin typeface="Aptos Display" panose="020B0004020202020204" pitchFamily="34" charset="0"/>
              </a:rPr>
              <a:t>, is an arithmetic expression that places operators before the </a:t>
            </a:r>
            <a:r>
              <a:rPr lang="en-US" altLang="zh-CN" dirty="0">
                <a:latin typeface="Aptos Display" panose="020B0004020202020204" pitchFamily="34" charset="0"/>
              </a:rPr>
              <a:t>operands</a:t>
            </a:r>
            <a:r>
              <a:rPr lang="en" altLang="en-US" dirty="0">
                <a:latin typeface="Aptos Display" panose="020B0004020202020204" pitchFamily="34" charset="0"/>
              </a:rPr>
              <a:t>. For example, the Polish notation </a:t>
            </a:r>
            <a:r>
              <a:rPr lang="en-US" altLang="zh-CN" dirty="0">
                <a:latin typeface="Aptos Display" panose="020B0004020202020204" pitchFamily="34" charset="0"/>
              </a:rPr>
              <a:t>for</a:t>
            </a:r>
            <a:r>
              <a:rPr lang="zh-CN" altLang="en-US" dirty="0">
                <a:latin typeface="Aptos Display" panose="020B0004020202020204" pitchFamily="34" charset="0"/>
              </a:rPr>
              <a:t> </a:t>
            </a:r>
            <a:r>
              <a:rPr lang="en" altLang="zh-CN" dirty="0">
                <a:latin typeface="Aptos Display" panose="020B0004020202020204" pitchFamily="34" charset="0"/>
              </a:rPr>
              <a:t>2 + 3 is + 2 3</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The advantage of Polish notation is that operators do not need to have precedence relationships, nor do they need to use parentheses to change the order of operations. For example, the Polish notation for </a:t>
            </a:r>
            <a:r>
              <a:rPr lang="en" altLang="zh-CN" dirty="0">
                <a:latin typeface="Aptos Display" panose="020B0004020202020204" pitchFamily="34" charset="0"/>
              </a:rPr>
              <a:t>(2 + 3) * 4 is * + 2 3 4</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US" altLang="zh-CN" dirty="0">
                <a:latin typeface="Aptos Display" panose="020B0004020202020204" pitchFamily="34" charset="0"/>
              </a:rPr>
              <a:t>In</a:t>
            </a:r>
            <a:r>
              <a:rPr lang="zh-CN" altLang="en-US" dirty="0">
                <a:latin typeface="Aptos Display" panose="020B0004020202020204" pitchFamily="34" charset="0"/>
              </a:rPr>
              <a:t> </a:t>
            </a:r>
            <a:r>
              <a:rPr lang="en-US" altLang="zh-CN" dirty="0">
                <a:latin typeface="Aptos Display" panose="020B0004020202020204" pitchFamily="34" charset="0"/>
              </a:rPr>
              <a:t>t</a:t>
            </a:r>
            <a:r>
              <a:rPr lang="en" altLang="en-US" dirty="0">
                <a:latin typeface="Aptos Display" panose="020B0004020202020204" pitchFamily="34" charset="0"/>
              </a:rPr>
              <a:t>his problem </a:t>
            </a:r>
            <a:r>
              <a:rPr lang="en-US" altLang="zh-CN" dirty="0">
                <a:latin typeface="Aptos Display" panose="020B0004020202020204" pitchFamily="34" charset="0"/>
              </a:rPr>
              <a:t>you’ll</a:t>
            </a:r>
            <a:r>
              <a:rPr lang="zh-CN" altLang="en-US" dirty="0">
                <a:latin typeface="Aptos Display" panose="020B0004020202020204" pitchFamily="34" charset="0"/>
              </a:rPr>
              <a:t> </a:t>
            </a:r>
            <a:r>
              <a:rPr lang="en-US" altLang="zh-CN" dirty="0">
                <a:latin typeface="Aptos Display" panose="020B0004020202020204" pitchFamily="34" charset="0"/>
              </a:rPr>
              <a:t>evaluate</a:t>
            </a:r>
            <a:r>
              <a:rPr lang="zh-CN" altLang="en-US" dirty="0">
                <a:latin typeface="Aptos Display" panose="020B0004020202020204" pitchFamily="34" charset="0"/>
              </a:rPr>
              <a:t> </a:t>
            </a:r>
            <a:r>
              <a:rPr lang="en" altLang="en-US" dirty="0">
                <a:latin typeface="Aptos Display" panose="020B0004020202020204" pitchFamily="34" charset="0"/>
              </a:rPr>
              <a:t>a Polish notation, which includes the four operators: </a:t>
            </a:r>
            <a:r>
              <a:rPr lang="en" altLang="zh-CN" dirty="0">
                <a:latin typeface="Aptos Display" panose="020B0004020202020204" pitchFamily="34" charset="0"/>
              </a:rPr>
              <a:t>+, -, *, and / </a:t>
            </a:r>
            <a:r>
              <a:rPr lang="en" altLang="en-US" dirty="0">
                <a:latin typeface="Aptos Display" panose="020B0004020202020204" pitchFamily="34" charset="0"/>
              </a:rPr>
              <a:t>.</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pPr marL="0" indent="0">
              <a:buNone/>
            </a:pPr>
            <a:r>
              <a:rPr lang="en" altLang="zh-CN" dirty="0">
                <a:latin typeface="Consolas" panose="020B0609020204030204" pitchFamily="49" charset="0"/>
                <a:cs typeface="Consolas" panose="020B0609020204030204" pitchFamily="49" charset="0"/>
              </a:rPr>
              <a:t>(2+3) * 4 + (3+5) / (2+6)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+ 2 3 4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4">
                    <a:lumMod val="75000"/>
                  </a:schemeClr>
                </a:solidFill>
                <a:latin typeface="Consolas" panose="020B0609020204030204" pitchFamily="49" charset="0"/>
                <a:cs typeface="Consolas" panose="020B0609020204030204" pitchFamily="49" charset="0"/>
              </a:rPr>
              <a:t>+ 2 3</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2">
                    <a:lumMod val="75000"/>
                  </a:schemeClr>
                </a:solidFill>
                <a:latin typeface="Consolas" panose="020B0609020204030204" pitchFamily="49" charset="0"/>
                <a:cs typeface="Consolas" panose="020B0609020204030204" pitchFamily="49" charset="0"/>
              </a:rPr>
              <a:t>4</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4">
                    <a:lumMod val="75000"/>
                  </a:schemeClr>
                </a:solidFill>
                <a:latin typeface="Consolas" panose="020B0609020204030204" pitchFamily="49" charset="0"/>
                <a:cs typeface="Consolas" panose="020B0609020204030204" pitchFamily="49" charset="0"/>
              </a:rPr>
              <a:t>+ </a:t>
            </a:r>
            <a:r>
              <a:rPr lang="en" altLang="zh-CN" dirty="0">
                <a:solidFill>
                  <a:schemeClr val="accent6">
                    <a:lumMod val="75000"/>
                  </a:schemeClr>
                </a:solidFill>
                <a:latin typeface="Consolas" panose="020B0609020204030204" pitchFamily="49" charset="0"/>
                <a:cs typeface="Consolas" panose="020B0609020204030204" pitchFamily="49" charset="0"/>
              </a:rPr>
              <a:t>2</a:t>
            </a:r>
            <a:r>
              <a:rPr lang="en" altLang="zh-CN" dirty="0">
                <a:solidFill>
                  <a:schemeClr val="accent4">
                    <a:lumMod val="75000"/>
                  </a:schemeClr>
                </a:solidFill>
                <a:latin typeface="Consolas" panose="020B0609020204030204" pitchFamily="49" charset="0"/>
                <a:cs typeface="Consolas" panose="020B0609020204030204" pitchFamily="49" charset="0"/>
              </a:rPr>
              <a:t> </a:t>
            </a:r>
            <a:r>
              <a:rPr lang="en" altLang="zh-CN" dirty="0">
                <a:solidFill>
                  <a:schemeClr val="tx1">
                    <a:lumMod val="50000"/>
                  </a:schemeClr>
                </a:solidFill>
                <a:latin typeface="Consolas" panose="020B0609020204030204" pitchFamily="49" charset="0"/>
                <a:cs typeface="Consolas" panose="020B0609020204030204" pitchFamily="49" charset="0"/>
              </a:rPr>
              <a:t>3</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2">
                    <a:lumMod val="75000"/>
                  </a:schemeClr>
                </a:solidFill>
                <a:latin typeface="Consolas" panose="020B0609020204030204" pitchFamily="49" charset="0"/>
                <a:cs typeface="Consolas" panose="020B0609020204030204" pitchFamily="49" charset="0"/>
              </a:rPr>
              <a:t>4</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p:txBody>
      </p:sp>
    </p:spTree>
    <p:extLst>
      <p:ext uri="{BB962C8B-B14F-4D97-AF65-F5344CB8AC3E}">
        <p14:creationId xmlns:p14="http://schemas.microsoft.com/office/powerpoint/2010/main" val="412259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12</a:t>
            </a:r>
            <a:r>
              <a:rPr lang="en" altLang="en-US" dirty="0">
                <a:solidFill>
                  <a:schemeClr val="bg1"/>
                </a:solidFill>
                <a:latin typeface="Aptos Display" panose="020B0004020202020204" pitchFamily="34" charset="0"/>
              </a:rPr>
              <a:t>: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Given a positive integer </a:t>
                </a:r>
                <a14:m>
                  <m:oMath xmlns:m="http://schemas.openxmlformats.org/officeDocument/2006/math">
                    <m:r>
                      <a:rPr lang="en-US" altLang="zh-CN" b="0" i="1">
                        <a:latin typeface="Cambria Math" panose="02040503050406030204" pitchFamily="18" charset="0"/>
                      </a:rPr>
                      <m:t>𝑎</m:t>
                    </m:r>
                    <m:r>
                      <a:rPr lang="en-US" altLang="zh-CN" b="0" i="0">
                        <a:latin typeface="Cambria Math" panose="02040503050406030204" pitchFamily="18" charset="0"/>
                      </a:rPr>
                      <m:t> </m:t>
                    </m:r>
                  </m:oMath>
                </a14:m>
                <a:r>
                  <a:rPr lang="en" altLang="en-US" dirty="0">
                    <a:latin typeface="Aptos Display" panose="020B0004020202020204" pitchFamily="34" charset="0"/>
                  </a:rPr>
                  <a:t>, </a:t>
                </a:r>
                <a:r>
                  <a:rPr lang="en-US" altLang="zh-CN" dirty="0">
                    <a:latin typeface="Aptos Display" panose="020B0004020202020204" pitchFamily="34" charset="0"/>
                  </a:rPr>
                  <a:t>you</a:t>
                </a:r>
                <a:r>
                  <a:rPr lang="zh-CN" altLang="en-US" dirty="0">
                    <a:latin typeface="Aptos Display" panose="020B0004020202020204" pitchFamily="34" charset="0"/>
                  </a:rPr>
                  <a:t> </a:t>
                </a:r>
                <a:r>
                  <a:rPr lang="en-US" altLang="zh-CN" dirty="0">
                    <a:latin typeface="Aptos Display" panose="020B0004020202020204" pitchFamily="34" charset="0"/>
                  </a:rPr>
                  <a:t>can</a:t>
                </a:r>
                <a:r>
                  <a:rPr lang="zh-CN" altLang="en-US" dirty="0">
                    <a:latin typeface="Aptos Display" panose="020B0004020202020204" pitchFamily="34" charset="0"/>
                  </a:rPr>
                  <a:t> </a:t>
                </a:r>
                <a:r>
                  <a:rPr lang="en-US" altLang="zh-CN" dirty="0" err="1">
                    <a:latin typeface="Aptos Display" panose="020B0004020202020204" pitchFamily="34" charset="0"/>
                  </a:rPr>
                  <a:t>factorise</a:t>
                </a:r>
                <a:r>
                  <a:rPr lang="en" altLang="en-US" dirty="0">
                    <a:latin typeface="Aptos Display" panose="020B0004020202020204" pitchFamily="34" charset="0"/>
                  </a:rPr>
                  <a:t> it into a product of several positive integers, i.e.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a:latin typeface="Cambria Math" panose="02040503050406030204" pitchFamily="18" charset="0"/>
                      </a:rPr>
                      <m:t>×</m:t>
                    </m:r>
                    <m:r>
                      <a:rPr lang="en-US" altLang="zh-CN" b="0" i="1" smtClean="0">
                        <a:latin typeface="Cambria Math" panose="02040503050406030204" pitchFamily="18" charset="0"/>
                      </a:rPr>
                      <m:t>…</m:t>
                    </m:r>
                    <m:r>
                      <a:rPr lang="en-US" altLang="zh-CN" b="0" i="1">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smtClean="0">
                            <a:latin typeface="Cambria Math" panose="02040503050406030204" pitchFamily="18" charset="0"/>
                          </a:rPr>
                          <m:t>𝑛</m:t>
                        </m:r>
                      </m:sub>
                    </m:sSub>
                    <m:r>
                      <a:rPr lang="en-US" altLang="zh-CN" b="0" i="0">
                        <a:latin typeface="Cambria Math" panose="02040503050406030204" pitchFamily="18" charset="0"/>
                      </a:rPr>
                      <m:t> </m:t>
                    </m:r>
                  </m:oMath>
                </a14:m>
                <a:r>
                  <a:rPr lang="e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1&lt;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1</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2</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𝑛</m:t>
                        </m:r>
                      </m:sub>
                    </m:sSub>
                  </m:oMath>
                </a14:m>
                <a:r>
                  <a:rPr lang="en-US" altLang="zh-CN" dirty="0">
                    <a:latin typeface="Aptos Display" panose="020B0004020202020204" pitchFamily="34" charset="0"/>
                  </a:rPr>
                  <a:t>.</a:t>
                </a:r>
                <a:r>
                  <a:rPr lang="zh-CN" altLang="en-US" dirty="0">
                    <a:latin typeface="Aptos Display" panose="020B0004020202020204" pitchFamily="34" charset="0"/>
                  </a:rPr>
                  <a:t>  </a:t>
                </a:r>
                <a:r>
                  <a:rPr lang="en-US" altLang="zh-CN" dirty="0">
                    <a:latin typeface="Aptos Display" panose="020B0004020202020204" pitchFamily="34" charset="0"/>
                  </a:rPr>
                  <a:t>F</a:t>
                </a:r>
                <a:r>
                  <a:rPr lang="en" altLang="en-US" dirty="0" err="1">
                    <a:latin typeface="Aptos Display" panose="020B0004020202020204" pitchFamily="34" charset="0"/>
                  </a:rPr>
                  <a:t>ind</a:t>
                </a:r>
                <a:r>
                  <a:rPr lang="en" altLang="en-US" dirty="0">
                    <a:latin typeface="Aptos Display" panose="020B0004020202020204" pitchFamily="34" charset="0"/>
                  </a:rPr>
                  <a:t> the number of </a:t>
                </a:r>
                <a:r>
                  <a:rPr lang="en-US" altLang="zh-CN" dirty="0">
                    <a:latin typeface="Aptos Display" panose="020B0004020202020204" pitchFamily="34" charset="0"/>
                  </a:rPr>
                  <a:t>ways</a:t>
                </a:r>
                <a:r>
                  <a:rPr lang="zh-C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perform</a:t>
                </a:r>
                <a:r>
                  <a:rPr lang="zh-CN" altLang="en-US" dirty="0">
                    <a:latin typeface="Aptos Display" panose="020B0004020202020204" pitchFamily="34" charset="0"/>
                  </a:rPr>
                  <a:t> </a:t>
                </a:r>
                <a:r>
                  <a:rPr lang="en-US" altLang="zh-CN" dirty="0" err="1">
                    <a:latin typeface="Aptos Display" panose="020B0004020202020204" pitchFamily="34" charset="0"/>
                  </a:rPr>
                  <a:t>factorisation</a:t>
                </a:r>
                <a:r>
                  <a:rPr lang="en" altLang="en-US" dirty="0">
                    <a:latin typeface="Aptos Display" panose="020B0004020202020204" pitchFamily="34" charset="0"/>
                  </a:rPr>
                  <a:t>. </a:t>
                </a:r>
                <a:r>
                  <a:rPr lang="zh-CN" altLang="en-US" dirty="0">
                    <a:latin typeface="Aptos Display" panose="020B0004020202020204" pitchFamily="34" charset="0"/>
                  </a:rPr>
                  <a:t> </a:t>
                </a:r>
                <a:r>
                  <a:rPr lang="en" altLang="en-US" dirty="0">
                    <a:latin typeface="Aptos Display" panose="020B0004020202020204" pitchFamily="34" charset="0"/>
                  </a:rPr>
                  <a:t>Note that</a:t>
                </a:r>
                <a:r>
                  <a:rPr lang="zh-CN" altLang="en-US"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𝑎</m:t>
                    </m:r>
                    <m:r>
                      <a:rPr lang="en-US" altLang="zh-CN" b="0" i="1">
                        <a:latin typeface="Cambria Math" panose="02040503050406030204" pitchFamily="18" charset="0"/>
                      </a:rPr>
                      <m:t>=</m:t>
                    </m:r>
                    <m:r>
                      <a:rPr lang="en-US" altLang="zh-CN" b="0" i="1" smtClean="0">
                        <a:latin typeface="Cambria Math" panose="02040503050406030204" pitchFamily="18" charset="0"/>
                      </a:rPr>
                      <m:t>𝑎</m:t>
                    </m:r>
                  </m:oMath>
                </a14:m>
                <a:r>
                  <a:rPr lang="en" altLang="en-US" dirty="0">
                    <a:latin typeface="Aptos Display" panose="020B0004020202020204" pitchFamily="34" charset="0"/>
                  </a:rPr>
                  <a:t> is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valid</a:t>
                </a:r>
                <a:r>
                  <a:rPr lang="zh-CN" altLang="en-US" dirty="0">
                    <a:latin typeface="Aptos Display" panose="020B0004020202020204" pitchFamily="34" charset="0"/>
                  </a:rPr>
                  <a:t> </a:t>
                </a:r>
                <a:r>
                  <a:rPr lang="en-US" altLang="zh-CN" dirty="0" err="1">
                    <a:latin typeface="Aptos Display" panose="020B0004020202020204" pitchFamily="34" charset="0"/>
                  </a:rPr>
                  <a:t>factorisation</a:t>
                </a:r>
                <a:r>
                  <a:rPr lang="en" altLang="en-US" dirty="0">
                    <a:latin typeface="Aptos Display" panose="020B0004020202020204" pitchFamily="34" charset="0"/>
                  </a:rPr>
                  <a:t>.</a:t>
                </a:r>
                <a:endParaRPr lang="en-US" altLang="zh-CN" dirty="0">
                  <a:latin typeface="Aptos Display" panose="020B0004020202020204" pitchFamily="34" charset="0"/>
                </a:endParaRPr>
              </a:p>
              <a:p>
                <a14:m>
                  <m:oMath xmlns:m="http://schemas.openxmlformats.org/officeDocument/2006/math">
                    <m:func>
                      <m:funcPr>
                        <m:ctrlPr>
                          <a:rPr lang="en-US" altLang="zh-CN" i="1">
                            <a:latin typeface="Cambria Math" panose="02040503050406030204" pitchFamily="18" charset="0"/>
                          </a:rPr>
                        </m:ctrlPr>
                      </m:funcPr>
                      <m:fName>
                        <m:r>
                          <a:rPr lang="en-US" altLang="zh-CN" b="0" i="1">
                            <a:latin typeface="Cambria Math" panose="02040503050406030204" pitchFamily="18" charset="0"/>
                          </a:rPr>
                          <m:t>𝑓</m:t>
                        </m:r>
                      </m:fName>
                      <m:e>
                        <m:d>
                          <m:dPr>
                            <m:ctrlPr>
                              <a:rPr lang="en-US" altLang="zh-CN" i="1">
                                <a:latin typeface="Cambria Math" panose="02040503050406030204" pitchFamily="18" charset="0"/>
                              </a:rPr>
                            </m:ctrlPr>
                          </m:dPr>
                          <m:e>
                            <m:r>
                              <a:rPr lang="en-US" altLang="zh-CN" b="0" i="1">
                                <a:latin typeface="Cambria Math" panose="02040503050406030204" pitchFamily="18" charset="0"/>
                              </a:rPr>
                              <m:t>𝑟𝑒𝑚𝑎𝑖𝑛</m:t>
                            </m:r>
                            <m:r>
                              <a:rPr lang="en-US" altLang="zh-CN" b="0" i="1">
                                <a:latin typeface="Cambria Math" panose="02040503050406030204" pitchFamily="18" charset="0"/>
                              </a:rPr>
                              <m:t>,</m:t>
                            </m:r>
                            <m:r>
                              <a:rPr lang="en-US" altLang="zh-CN" b="0" i="1">
                                <a:latin typeface="Cambria Math" panose="02040503050406030204" pitchFamily="18" charset="0"/>
                              </a:rPr>
                              <m:t>𝑝𝑟𝑒</m:t>
                            </m:r>
                          </m:e>
                        </m:d>
                      </m:e>
                    </m:func>
                  </m:oMath>
                </a14:m>
                <a:r>
                  <a:rPr lang="en" altLang="zh-CN" dirty="0">
                    <a:latin typeface="Aptos Display" panose="020B0004020202020204" pitchFamily="34" charset="0"/>
                  </a:rPr>
                  <a:t> </a:t>
                </a:r>
                <a:r>
                  <a:rPr lang="en" altLang="en-US" dirty="0">
                    <a:latin typeface="Aptos Display" panose="020B0004020202020204" pitchFamily="34" charset="0"/>
                  </a:rPr>
                  <a:t>indicates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number</a:t>
                </a:r>
                <a:r>
                  <a:rPr lang="zh-CN" altLang="en-US" dirty="0">
                    <a:latin typeface="Aptos Display" panose="020B0004020202020204" pitchFamily="34" charset="0"/>
                  </a:rPr>
                  <a:t> </a:t>
                </a:r>
                <a:r>
                  <a:rPr lang="en-US" altLang="zh-CN" dirty="0">
                    <a:latin typeface="Aptos Display" panose="020B0004020202020204" pitchFamily="34" charset="0"/>
                  </a:rPr>
                  <a:t>of</a:t>
                </a:r>
                <a:r>
                  <a:rPr lang="zh-CN" altLang="en-US" dirty="0">
                    <a:latin typeface="Aptos Display" panose="020B0004020202020204" pitchFamily="34" charset="0"/>
                  </a:rPr>
                  <a:t> </a:t>
                </a:r>
                <a:r>
                  <a:rPr lang="en-US" altLang="zh-CN" dirty="0" err="1">
                    <a:latin typeface="Aptos Display" panose="020B0004020202020204" pitchFamily="34" charset="0"/>
                  </a:rPr>
                  <a:t>factorisations</a:t>
                </a:r>
                <a:r>
                  <a:rPr lang="zh-CN" altLang="en-US" dirty="0">
                    <a:latin typeface="Aptos Display" panose="020B0004020202020204" pitchFamily="34" charset="0"/>
                  </a:rPr>
                  <a:t> </a:t>
                </a:r>
                <a:r>
                  <a:rPr lang="en-US" altLang="zh-CN" dirty="0">
                    <a:latin typeface="Aptos Display" panose="020B0004020202020204" pitchFamily="34" charset="0"/>
                  </a:rPr>
                  <a:t>where</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 altLang="en-US" dirty="0">
                    <a:latin typeface="Aptos Display" panose="020B0004020202020204" pitchFamily="34" charset="0"/>
                  </a:rPr>
                  <a:t>current number </a:t>
                </a:r>
                <a:r>
                  <a:rPr lang="en-US" altLang="zh-CN" dirty="0">
                    <a:latin typeface="Aptos Display" panose="020B0004020202020204" pitchFamily="34" charset="0"/>
                  </a:rPr>
                  <a:t>is</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𝑟𝑒𝑚𝑎𝑖𝑛</m:t>
                    </m:r>
                  </m:oMath>
                </a14:m>
                <a:r>
                  <a:rPr lang="zh-CN" altLang="en-US" dirty="0">
                    <a:latin typeface="Aptos Display" panose="020B0004020202020204" pitchFamily="34" charset="0"/>
                  </a:rPr>
                  <a:t> </a:t>
                </a:r>
                <a:r>
                  <a:rPr lang="en-US" altLang="zh-CN" dirty="0">
                    <a:latin typeface="Aptos Display" panose="020B0004020202020204" pitchFamily="34" charset="0"/>
                  </a:rPr>
                  <a:t>and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 altLang="en-US" dirty="0">
                    <a:latin typeface="Aptos Display" panose="020B0004020202020204" pitchFamily="34" charset="0"/>
                  </a:rPr>
                  <a:t>next divisor is not less than</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𝑝𝑟𝑒</m:t>
                    </m:r>
                  </m:oMath>
                </a14:m>
                <a:r>
                  <a:rPr lang="en" altLang="en-US" dirty="0">
                    <a:latin typeface="Aptos Display" panose="020B0004020202020204" pitchFamily="34" charset="0"/>
                  </a:rPr>
                  <a:t>.</a:t>
                </a:r>
                <a:endParaRPr lang="en-US" altLang="zh-CN" dirty="0">
                  <a:latin typeface="Aptos Display" panose="020B0004020202020204" pitchFamily="34" charset="0"/>
                </a:endParaRPr>
              </a:p>
              <a:p>
                <a14:m>
                  <m:oMath xmlns:m="http://schemas.openxmlformats.org/officeDocument/2006/math">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m:t>
                            </m:r>
                            <m:r>
                              <a:rPr lang="en-US" altLang="zh-CN" b="0" i="1" smtClean="0">
                                <a:latin typeface="Cambria Math" panose="02040503050406030204" pitchFamily="18" charset="0"/>
                              </a:rPr>
                              <m:t>𝑝𝑟𝑒</m:t>
                            </m:r>
                          </m:e>
                        </m:d>
                      </m:e>
                    </m:func>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m:t>
                            </m:r>
                            <m:r>
                              <a:rPr lang="en-US" altLang="zh-CN" b="0" i="1" smtClean="0">
                                <a:latin typeface="Cambria Math" panose="02040503050406030204" pitchFamily="18" charset="0"/>
                              </a:rPr>
                              <m:t>𝑎𝑛𝑠</m:t>
                            </m:r>
                            <m:r>
                              <a:rPr lang="en-US" altLang="zh-CN" b="0" i="1" smtClean="0">
                                <a:latin typeface="Cambria Math" panose="02040503050406030204" pitchFamily="18" charset="0"/>
                              </a:rPr>
                              <m:t>                        </m:t>
                            </m:r>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==1</m:t>
                            </m:r>
                          </m:e>
                          <m:e/>
                          <m:e>
                            <m:r>
                              <a:rPr lang="en-US" altLang="zh-CN" b="0" i="1" smtClean="0">
                                <a:latin typeface="Cambria Math" panose="02040503050406030204" pitchFamily="18" charset="0"/>
                              </a:rPr>
                              <m:t>𝑓𝑜𝑟</m:t>
                            </m:r>
                            <m:r>
                              <a:rPr lang="zh-CN" altLang="en-US" b="0" i="1" smtClean="0">
                                <a:latin typeface="Cambria Math" panose="02040503050406030204" pitchFamily="18" charset="0"/>
                              </a:rPr>
                              <m:t> </m:t>
                            </m:r>
                            <m:r>
                              <a:rPr lang="en-US" altLang="zh-CN" b="0" i="1" smtClean="0">
                                <a:latin typeface="Cambria Math" panose="02040503050406030204" pitchFamily="18" charset="0"/>
                              </a:rPr>
                              <m:t>𝑑𝑖𝑣𝑖𝑠𝑜𝑟</m:t>
                            </m:r>
                            <m:r>
                              <a:rPr lang="zh-CN" altLang="en-US" b="0" i="1" smtClean="0">
                                <a:latin typeface="Cambria Math" panose="02040503050406030204" pitchFamily="18" charset="0"/>
                              </a:rPr>
                              <m:t> </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𝑝𝑟𝑒</m:t>
                            </m:r>
                            <m:r>
                              <a:rPr lang="zh-CN" altLang="en-US" i="1">
                                <a:latin typeface="Cambria Math" panose="02040503050406030204" pitchFamily="18" charset="0"/>
                              </a:rPr>
                              <m:t>，</m:t>
                            </m:r>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𝑒𝑙𝑠𝑒</m:t>
                            </m:r>
                          </m:e>
                        </m:eqArr>
                      </m:e>
                    </m:d>
                  </m:oMath>
                </a14:m>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r="-996" b="-47837"/>
                </a:stretch>
              </a:blipFill>
            </p:spPr>
            <p:txBody>
              <a:bodyPr/>
              <a:lstStyle/>
              <a:p>
                <a:r>
                  <a:rPr lang="en-AU">
                    <a:noFill/>
                  </a:rPr>
                  <a:t> </a:t>
                </a:r>
              </a:p>
            </p:txBody>
          </p:sp>
        </mc:Fallback>
      </mc:AlternateContent>
    </p:spTree>
    <p:extLst>
      <p:ext uri="{BB962C8B-B14F-4D97-AF65-F5344CB8AC3E}">
        <p14:creationId xmlns:p14="http://schemas.microsoft.com/office/powerpoint/2010/main" val="1465855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12</a:t>
            </a:r>
            <a:r>
              <a:rPr lang="en" altLang="en-US" dirty="0">
                <a:solidFill>
                  <a:schemeClr val="bg1"/>
                </a:solidFill>
                <a:latin typeface="Aptos Display" panose="020B0004020202020204" pitchFamily="34" charset="0"/>
              </a:rPr>
              <a:t>: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pPr marL="0" indent="0">
                  <a:buNone/>
                </a:pPr>
                <a:r>
                  <a:rPr lang="en" altLang="en-US" dirty="0">
                    <a:latin typeface="Tahoma" panose="020B0604030504040204" pitchFamily="34" charset="0"/>
                  </a:rPr>
                  <a:t>Solution 2</a:t>
                </a:r>
                <a:endParaRPr lang="en-US" altLang="zh-CN" dirty="0">
                  <a:latin typeface="Tahoma" panose="020B0604030504040204" pitchFamily="34" charset="0"/>
                </a:endParaRPr>
              </a:p>
              <a:p>
                <a14:m>
                  <m:oMath xmlns:m="http://schemas.openxmlformats.org/officeDocument/2006/math">
                    <m:func>
                      <m:funcPr>
                        <m:ctrlPr>
                          <a:rPr lang="en-US" altLang="zh-CN" i="1">
                            <a:latin typeface="Cambria Math" panose="02040503050406030204" pitchFamily="18" charset="0"/>
                          </a:rPr>
                        </m:ctrlPr>
                      </m:funcPr>
                      <m:fName>
                        <m:r>
                          <a:rPr lang="en-US" altLang="zh-CN" i="1">
                            <a:latin typeface="Cambria Math" panose="02040503050406030204" pitchFamily="18" charset="0"/>
                          </a:rPr>
                          <m:t>𝑓</m:t>
                        </m:r>
                      </m:fName>
                      <m:e>
                        <m:d>
                          <m:dPr>
                            <m:ctrlPr>
                              <a:rPr lang="en-US" altLang="zh-CN" i="1">
                                <a:latin typeface="Cambria Math" panose="02040503050406030204" pitchFamily="18" charset="0"/>
                              </a:rPr>
                            </m:ctrlPr>
                          </m:dPr>
                          <m:e>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𝑝</m:t>
                            </m:r>
                          </m:e>
                        </m:d>
                      </m:e>
                    </m:func>
                  </m:oMath>
                </a14:m>
                <a:r>
                  <a:rPr lang="zh-CN" altLang="en-US" dirty="0">
                    <a:latin typeface="Tahoma" panose="020B0604030504040204" pitchFamily="34" charset="0"/>
                  </a:rPr>
                  <a:t> </a:t>
                </a:r>
                <a:r>
                  <a:rPr lang="en-US" altLang="zh-CN" dirty="0">
                    <a:latin typeface="Tahoma" panose="020B0604030504040204" pitchFamily="34" charset="0"/>
                  </a:rPr>
                  <a:t>is</a:t>
                </a:r>
                <a:r>
                  <a:rPr lang="zh-CN" altLang="en-US" dirty="0">
                    <a:latin typeface="Tahoma" panose="020B0604030504040204" pitchFamily="34" charset="0"/>
                  </a:rPr>
                  <a:t> </a:t>
                </a:r>
                <a:r>
                  <a:rPr lang="en-US" altLang="zh-CN" dirty="0">
                    <a:latin typeface="Tahoma" panose="020B0604030504040204" pitchFamily="34" charset="0"/>
                  </a:rPr>
                  <a:t>the</a:t>
                </a:r>
                <a:r>
                  <a:rPr lang="zh-CN" altLang="en-US" dirty="0">
                    <a:latin typeface="Tahoma" panose="020B0604030504040204" pitchFamily="34" charset="0"/>
                  </a:rPr>
                  <a:t> </a:t>
                </a:r>
                <a:r>
                  <a:rPr lang="en-US" altLang="zh-CN" dirty="0">
                    <a:latin typeface="Tahoma" panose="020B0604030504040204" pitchFamily="34" charset="0"/>
                  </a:rPr>
                  <a:t>number</a:t>
                </a:r>
                <a:r>
                  <a:rPr lang="zh-CN" altLang="en-US" dirty="0">
                    <a:latin typeface="Tahoma" panose="020B0604030504040204" pitchFamily="34" charset="0"/>
                  </a:rPr>
                  <a:t> </a:t>
                </a:r>
                <a:r>
                  <a:rPr lang="en-US" altLang="zh-CN" dirty="0">
                    <a:latin typeface="Tahoma" panose="020B0604030504040204" pitchFamily="34" charset="0"/>
                  </a:rPr>
                  <a:t>of</a:t>
                </a:r>
                <a:r>
                  <a:rPr lang="zh-CN" altLang="en-US" dirty="0">
                    <a:latin typeface="Tahoma" panose="020B0604030504040204" pitchFamily="34" charset="0"/>
                  </a:rPr>
                  <a:t> </a:t>
                </a:r>
                <a:r>
                  <a:rPr lang="en-US" altLang="zh-CN" dirty="0" err="1">
                    <a:latin typeface="Tahoma" panose="020B0604030504040204" pitchFamily="34" charset="0"/>
                  </a:rPr>
                  <a:t>factorisations</a:t>
                </a:r>
                <a:r>
                  <a:rPr lang="zh-CN" altLang="en-US" dirty="0">
                    <a:latin typeface="Tahoma" panose="020B0604030504040204" pitchFamily="34" charset="0"/>
                  </a:rPr>
                  <a:t> </a:t>
                </a:r>
                <a:r>
                  <a:rPr lang="en-US" altLang="zh-CN" dirty="0">
                    <a:latin typeface="Tahoma" panose="020B0604030504040204" pitchFamily="34" charset="0"/>
                  </a:rPr>
                  <a:t>where</a:t>
                </a:r>
                <a:r>
                  <a:rPr lang="zh-CN" altLang="en-US" dirty="0">
                    <a:latin typeface="Tahoma" panose="020B0604030504040204" pitchFamily="34" charset="0"/>
                  </a:rPr>
                  <a:t> </a:t>
                </a:r>
                <a:r>
                  <a:rPr lang="en-US" altLang="zh-CN" dirty="0">
                    <a:latin typeface="Tahoma" panose="020B0604030504040204" pitchFamily="34" charset="0"/>
                  </a:rPr>
                  <a:t>the</a:t>
                </a:r>
                <a:r>
                  <a:rPr lang="zh-CN" altLang="en-US" dirty="0">
                    <a:latin typeface="Tahoma" panose="020B0604030504040204" pitchFamily="34" charset="0"/>
                  </a:rPr>
                  <a:t> </a:t>
                </a:r>
                <a:r>
                  <a:rPr lang="en-US" altLang="zh-CN" dirty="0">
                    <a:latin typeface="Tahoma" panose="020B0604030504040204" pitchFamily="34" charset="0"/>
                  </a:rPr>
                  <a:t>current</a:t>
                </a:r>
                <a:r>
                  <a:rPr lang="zh-CN" altLang="en-US" dirty="0">
                    <a:latin typeface="Tahoma" panose="020B0604030504040204" pitchFamily="34" charset="0"/>
                  </a:rPr>
                  <a:t> </a:t>
                </a:r>
                <a:r>
                  <a:rPr lang="en-US" altLang="zh-CN" dirty="0">
                    <a:latin typeface="Tahoma" panose="020B0604030504040204" pitchFamily="34" charset="0"/>
                  </a:rPr>
                  <a:t>number</a:t>
                </a:r>
                <a:r>
                  <a:rPr lang="zh-CN" altLang="en-US" dirty="0">
                    <a:latin typeface="Tahoma" panose="020B0604030504040204" pitchFamily="34" charset="0"/>
                  </a:rPr>
                  <a:t> </a:t>
                </a:r>
                <a:r>
                  <a:rPr lang="en-US" altLang="zh-CN" dirty="0">
                    <a:latin typeface="Tahoma" panose="020B0604030504040204" pitchFamily="34" charset="0"/>
                  </a:rPr>
                  <a:t>is</a:t>
                </a:r>
                <a:r>
                  <a:rPr lang="zh-CN" altLang="en-US" dirty="0">
                    <a:latin typeface="Tahoma" panose="020B0604030504040204" pitchFamily="34" charset="0"/>
                  </a:rPr>
                  <a:t> </a:t>
                </a:r>
                <a14:m>
                  <m:oMath xmlns:m="http://schemas.openxmlformats.org/officeDocument/2006/math">
                    <m:r>
                      <a:rPr lang="en-US" altLang="zh-CN" b="0" i="1" smtClean="0">
                        <a:latin typeface="Cambria Math" panose="02040503050406030204" pitchFamily="18" charset="0"/>
                      </a:rPr>
                      <m:t>𝑥</m:t>
                    </m:r>
                    <m:r>
                      <a:rPr lang="en-US" altLang="zh-CN" i="1">
                        <a:latin typeface="Cambria Math" panose="02040503050406030204" pitchFamily="18" charset="0"/>
                      </a:rPr>
                      <m:t> </m:t>
                    </m:r>
                  </m:oMath>
                </a14:m>
                <a:r>
                  <a:rPr lang="en-US" altLang="zh-CN" dirty="0">
                    <a:latin typeface="Tahoma" panose="020B0604030504040204" pitchFamily="34" charset="0"/>
                  </a:rPr>
                  <a:t>and</a:t>
                </a:r>
                <a:r>
                  <a:rPr lang="zh-CN" altLang="en-US" dirty="0">
                    <a:latin typeface="Tahoma" panose="020B0604030504040204" pitchFamily="34" charset="0"/>
                  </a:rPr>
                  <a:t> </a:t>
                </a:r>
                <a:r>
                  <a:rPr lang="en-US" altLang="zh-CN" dirty="0">
                    <a:latin typeface="Tahoma" panose="020B0604030504040204" pitchFamily="34" charset="0"/>
                  </a:rPr>
                  <a:t>divisors</a:t>
                </a:r>
                <a:r>
                  <a:rPr lang="zh-CN" altLang="en-US" dirty="0">
                    <a:latin typeface="Tahoma" panose="020B0604030504040204" pitchFamily="34" charset="0"/>
                  </a:rPr>
                  <a:t> </a:t>
                </a:r>
                <a:r>
                  <a:rPr lang="en-US" altLang="zh-CN" dirty="0">
                    <a:latin typeface="Tahoma" panose="020B0604030504040204" pitchFamily="34" charset="0"/>
                  </a:rPr>
                  <a:t>not</a:t>
                </a:r>
                <a:r>
                  <a:rPr lang="zh-CN" altLang="en-US" dirty="0">
                    <a:latin typeface="Tahoma" panose="020B0604030504040204" pitchFamily="34" charset="0"/>
                  </a:rPr>
                  <a:t> </a:t>
                </a:r>
                <a:r>
                  <a:rPr lang="en-US" altLang="zh-CN" dirty="0">
                    <a:latin typeface="Tahoma" panose="020B0604030504040204" pitchFamily="34" charset="0"/>
                  </a:rPr>
                  <a:t>larger</a:t>
                </a:r>
                <a:r>
                  <a:rPr lang="zh-CN" altLang="en-US" dirty="0">
                    <a:latin typeface="Tahoma" panose="020B0604030504040204" pitchFamily="34" charset="0"/>
                  </a:rPr>
                  <a:t> </a:t>
                </a:r>
                <a:r>
                  <a:rPr lang="en-US" altLang="zh-CN" dirty="0">
                    <a:latin typeface="Tahoma" panose="020B0604030504040204" pitchFamily="34" charset="0"/>
                  </a:rPr>
                  <a:t>than</a:t>
                </a:r>
                <a:r>
                  <a:rPr lang="zh-CN" altLang="en-US" dirty="0">
                    <a:latin typeface="Tahoma" panose="020B0604030504040204" pitchFamily="34" charset="0"/>
                  </a:rPr>
                  <a:t> </a:t>
                </a:r>
                <a14:m>
                  <m:oMath xmlns:m="http://schemas.openxmlformats.org/officeDocument/2006/math">
                    <m:r>
                      <a:rPr lang="en-US" altLang="zh-CN" b="0" i="1" smtClean="0">
                        <a:latin typeface="Cambria Math" panose="02040503050406030204" pitchFamily="18" charset="0"/>
                      </a:rPr>
                      <m:t>𝑝</m:t>
                    </m:r>
                  </m:oMath>
                </a14:m>
                <a:r>
                  <a:rPr lang="en-US" altLang="zh-CN" dirty="0">
                    <a:latin typeface="Tahoma" panose="020B0604030504040204" pitchFamily="34" charset="0"/>
                  </a:rPr>
                  <a:t>.</a:t>
                </a:r>
              </a:p>
              <a:p>
                <a14:m>
                  <m:oMath xmlns:m="http://schemas.openxmlformats.org/officeDocument/2006/math">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e>
                    </m:func>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i="1">
                                <a:latin typeface="Cambria Math" panose="02040503050406030204" pitchFamily="18" charset="0"/>
                              </a:rPr>
                              <m:t>1</m:t>
                            </m:r>
                            <m:r>
                              <a:rPr lang="en-US" altLang="zh-CN" b="0" i="1" smtClean="0">
                                <a:latin typeface="Cambria Math" panose="02040503050406030204" pitchFamily="18" charset="0"/>
                              </a:rPr>
                              <m:t>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=1</m:t>
                            </m:r>
                          </m:e>
                          <m:e>
                            <m:r>
                              <a:rPr lang="en-US" altLang="zh-CN" b="0" i="1" smtClean="0">
                                <a:latin typeface="Cambria Math" panose="02040503050406030204" pitchFamily="18" charset="0"/>
                              </a:rPr>
                              <m:t>0                                 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==0</m:t>
                            </m:r>
                          </m:e>
                          <m:e>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d>
                              </m:e>
                            </m:func>
                            <m:r>
                              <a:rPr lang="en-US" altLang="zh-CN" b="0" i="1" smtClean="0">
                                <a:latin typeface="Cambria Math" panose="02040503050406030204" pitchFamily="18" charset="0"/>
                              </a:rPr>
                              <m:t>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≠0</m:t>
                            </m:r>
                          </m:e>
                        </m:eqArr>
                      </m:e>
                    </m:d>
                  </m:oMath>
                </a14:m>
                <a:endParaRPr lang="en-US" altLang="zh-CN" dirty="0">
                  <a:latin typeface="Tahoma" panose="020B060403050404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481"/>
                </a:stretch>
              </a:blipFill>
            </p:spPr>
            <p:txBody>
              <a:bodyPr/>
              <a:lstStyle/>
              <a:p>
                <a:r>
                  <a:rPr lang="en-AU">
                    <a:noFill/>
                  </a:rPr>
                  <a:t> </a:t>
                </a:r>
              </a:p>
            </p:txBody>
          </p:sp>
        </mc:Fallback>
      </mc:AlternateContent>
    </p:spTree>
    <p:extLst>
      <p:ext uri="{BB962C8B-B14F-4D97-AF65-F5344CB8AC3E}">
        <p14:creationId xmlns:p14="http://schemas.microsoft.com/office/powerpoint/2010/main" val="2825997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Classic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The Tower of Hanoi</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p:txBody>
              <a:bodyPr>
                <a:normAutofit/>
              </a:bodyPr>
              <a:lstStyle/>
              <a:p>
                <a:r>
                  <a:rPr lang="en-US" altLang="zh-CN" dirty="0">
                    <a:latin typeface="Aptos Display" panose="020B0004020202020204" pitchFamily="34" charset="0"/>
                  </a:rPr>
                  <a:t>There</a:t>
                </a:r>
                <a:r>
                  <a:rPr lang="zh-CN" altLang="en-US" dirty="0">
                    <a:latin typeface="Aptos Display" panose="020B0004020202020204" pitchFamily="34" charset="0"/>
                  </a:rPr>
                  <a:t> </a:t>
                </a:r>
                <a:r>
                  <a:rPr lang="en-US" altLang="zh-CN" dirty="0">
                    <a:latin typeface="Aptos Display" panose="020B0004020202020204" pitchFamily="34" charset="0"/>
                  </a:rPr>
                  <a:t>are</a:t>
                </a:r>
                <a:r>
                  <a:rPr lang="zh-CN" altLang="en-US" dirty="0">
                    <a:latin typeface="Aptos Display" panose="020B0004020202020204" pitchFamily="34" charset="0"/>
                  </a:rPr>
                  <a:t> </a:t>
                </a:r>
                <a:r>
                  <a:rPr lang="en" altLang="en-US" dirty="0">
                    <a:latin typeface="Aptos Display" panose="020B0004020202020204" pitchFamily="34" charset="0"/>
                  </a:rPr>
                  <a:t>three needles </a:t>
                </a:r>
                <a:r>
                  <a:rPr lang="en" altLang="zh-CN" dirty="0">
                    <a:latin typeface="Aptos Display" panose="020B0004020202020204" pitchFamily="34" charset="0"/>
                  </a:rPr>
                  <a:t>A </a:t>
                </a:r>
                <a:r>
                  <a:rPr lang="en" altLang="en-US" dirty="0">
                    <a:latin typeface="Aptos Display" panose="020B0004020202020204" pitchFamily="34" charset="0"/>
                  </a:rPr>
                  <a:t>, </a:t>
                </a:r>
                <a:r>
                  <a:rPr lang="en" altLang="zh-CN" dirty="0">
                    <a:latin typeface="Aptos Display" panose="020B0004020202020204" pitchFamily="34" charset="0"/>
                  </a:rPr>
                  <a:t>B </a:t>
                </a:r>
                <a:r>
                  <a:rPr lang="en" altLang="en-US" dirty="0">
                    <a:latin typeface="Aptos Display" panose="020B0004020202020204" pitchFamily="34" charset="0"/>
                  </a:rPr>
                  <a:t>, and </a:t>
                </a:r>
                <a:r>
                  <a:rPr lang="en" altLang="zh-CN" dirty="0">
                    <a:latin typeface="Aptos Display" panose="020B0004020202020204" pitchFamily="34" charset="0"/>
                  </a:rPr>
                  <a:t>C </a:t>
                </a:r>
                <a:r>
                  <a:rPr lang="en" altLang="en-US" dirty="0">
                    <a:latin typeface="Aptos Display" panose="020B0004020202020204" pitchFamily="34" charset="0"/>
                  </a:rPr>
                  <a:t>, </a:t>
                </a:r>
                <a:r>
                  <a:rPr lang="en-US" altLang="zh-CN" dirty="0">
                    <a:latin typeface="Aptos Display" panose="020B0004020202020204" pitchFamily="34" charset="0"/>
                  </a:rPr>
                  <a:t>and</a:t>
                </a:r>
                <a:r>
                  <a:rPr lang="zh-CN" altLang="en-US" dirty="0">
                    <a:latin typeface="Aptos Display" panose="020B0004020202020204" pitchFamily="34" charset="0"/>
                  </a:rPr>
                  <a:t> </a:t>
                </a:r>
                <a:r>
                  <a:rPr lang="en" altLang="en-US" dirty="0">
                    <a:latin typeface="Aptos Display" panose="020B0004020202020204" pitchFamily="34" charset="0"/>
                  </a:rPr>
                  <a:t>there are</a:t>
                </a:r>
                <a14:m>
                  <m:oMath xmlns:m="http://schemas.openxmlformats.org/officeDocument/2006/math">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dis</a:t>
                </a:r>
                <a:r>
                  <a:rPr lang="en-US" altLang="zh-CN" dirty="0">
                    <a:latin typeface="Aptos Display" panose="020B0004020202020204" pitchFamily="34" charset="0"/>
                  </a:rPr>
                  <a:t>c</a:t>
                </a:r>
                <a:r>
                  <a:rPr lang="en" altLang="en-US" dirty="0">
                    <a:latin typeface="Aptos Display" panose="020B0004020202020204" pitchFamily="34" charset="0"/>
                  </a:rPr>
                  <a:t>s numbered from smallest to largest </a:t>
                </a:r>
                <a14:m>
                  <m:oMath xmlns:m="http://schemas.openxmlformats.org/officeDocument/2006/math">
                    <m:r>
                      <a:rPr lang="en-US" altLang="zh-CN" b="0" i="0" smtClean="0">
                        <a:latin typeface="Cambria Math" panose="02040503050406030204" pitchFamily="18" charset="0"/>
                      </a:rPr>
                      <m:t>1,2,…,</m:t>
                    </m:r>
                    <m:r>
                      <m:rPr>
                        <m:sty m:val="p"/>
                      </m:rPr>
                      <a:rPr lang="en-US" altLang="zh-CN" b="0" i="0" smtClean="0">
                        <a:latin typeface="Cambria Math" panose="02040503050406030204" pitchFamily="18" charset="0"/>
                      </a:rPr>
                      <m:t>n</m:t>
                    </m:r>
                  </m:oMath>
                </a14:m>
                <a:r>
                  <a:rPr lang="en" altLang="en-US" dirty="0">
                    <a:latin typeface="Aptos Display" panose="020B0004020202020204" pitchFamily="34" charset="0"/>
                  </a:rPr>
                  <a:t>. </a:t>
                </a:r>
                <a:r>
                  <a:rPr lang="zh-CN" altLang="en-US" dirty="0">
                    <a:latin typeface="Aptos Display" panose="020B0004020202020204" pitchFamily="34" charset="0"/>
                  </a:rPr>
                  <a:t> </a:t>
                </a:r>
                <a:r>
                  <a:rPr lang="en-US" altLang="zh-CN" dirty="0">
                    <a:latin typeface="Aptos Display" panose="020B0004020202020204" pitchFamily="34" charset="0"/>
                  </a:rPr>
                  <a:t>I</a:t>
                </a:r>
                <a:r>
                  <a:rPr lang="en" altLang="en-US" dirty="0" err="1">
                    <a:latin typeface="Aptos Display" panose="020B0004020202020204" pitchFamily="34" charset="0"/>
                  </a:rPr>
                  <a:t>nitial</a:t>
                </a:r>
                <a:r>
                  <a:rPr lang="en-US" altLang="zh-CN" dirty="0" err="1">
                    <a:latin typeface="Aptos Display" panose="020B0004020202020204" pitchFamily="34" charset="0"/>
                  </a:rPr>
                  <a:t>ly</a:t>
                </a:r>
                <a:r>
                  <a:rPr lang="en" altLang="en-US" dirty="0">
                    <a:latin typeface="Aptos Display" panose="020B0004020202020204" pitchFamily="34" charset="0"/>
                  </a:rPr>
                  <a:t> </a:t>
                </a:r>
                <a14:m>
                  <m:oMath xmlns:m="http://schemas.openxmlformats.org/officeDocument/2006/math">
                    <m:r>
                      <m:rPr>
                        <m:sty m:val="p"/>
                      </m:rPr>
                      <a:rPr lang="en-US" altLang="zh-CN" b="0" i="0">
                        <a:latin typeface="Cambria Math" panose="02040503050406030204" pitchFamily="18" charset="0"/>
                      </a:rPr>
                      <m:t>n</m:t>
                    </m:r>
                  </m:oMath>
                </a14:m>
                <a:r>
                  <a:rPr lang="zh-CN" altLang="en-US" dirty="0">
                    <a:latin typeface="Aptos Display" panose="020B0004020202020204" pitchFamily="34" charset="0"/>
                  </a:rPr>
                  <a:t> </a:t>
                </a:r>
                <a:r>
                  <a:rPr lang="en-US" altLang="zh-CN" dirty="0">
                    <a:latin typeface="Aptos Display" panose="020B0004020202020204" pitchFamily="34" charset="0"/>
                  </a:rPr>
                  <a:t>discs</a:t>
                </a:r>
                <a:r>
                  <a:rPr lang="zh-CN" altLang="en-US" dirty="0">
                    <a:latin typeface="Aptos Display" panose="020B0004020202020204" pitchFamily="34" charset="0"/>
                  </a:rPr>
                  <a:t> </a:t>
                </a:r>
                <a:r>
                  <a:rPr lang="en-US" altLang="zh-CN" dirty="0">
                    <a:latin typeface="Aptos Display" panose="020B0004020202020204" pitchFamily="34" charset="0"/>
                  </a:rPr>
                  <a:t>are</a:t>
                </a:r>
                <a:r>
                  <a:rPr lang="en" altLang="en-US" dirty="0">
                    <a:latin typeface="Aptos Display" panose="020B0004020202020204" pitchFamily="34" charset="0"/>
                  </a:rPr>
                  <a:t> placed on pin </a:t>
                </a:r>
                <a:r>
                  <a:rPr lang="en" altLang="zh-CN" dirty="0">
                    <a:latin typeface="Aptos Display" panose="020B0004020202020204" pitchFamily="34" charset="0"/>
                  </a:rPr>
                  <a:t>A. The task is to </a:t>
                </a:r>
                <a:r>
                  <a:rPr lang="en" altLang="en-US" dirty="0">
                    <a:latin typeface="Aptos Display" panose="020B0004020202020204" pitchFamily="34" charset="0"/>
                  </a:rPr>
                  <a:t>transfer the </a:t>
                </a:r>
                <a:r>
                  <a:rPr lang="en-US" altLang="zh-CN" dirty="0">
                    <a:latin typeface="Aptos Display" panose="020B0004020202020204" pitchFamily="34" charset="0"/>
                  </a:rPr>
                  <a:t>discs</a:t>
                </a:r>
                <a:r>
                  <a:rPr lang="en" altLang="en-US" dirty="0">
                    <a:latin typeface="Aptos Display" panose="020B0004020202020204" pitchFamily="34" charset="0"/>
                  </a:rPr>
                  <a:t> from pin </a:t>
                </a:r>
                <a:r>
                  <a:rPr lang="en" altLang="zh-CN" dirty="0">
                    <a:latin typeface="Aptos Display" panose="020B0004020202020204" pitchFamily="34" charset="0"/>
                  </a:rPr>
                  <a:t>A </a:t>
                </a:r>
                <a:r>
                  <a:rPr lang="en" altLang="en-US" dirty="0">
                    <a:latin typeface="Aptos Display" panose="020B0004020202020204" pitchFamily="34" charset="0"/>
                  </a:rPr>
                  <a:t>to pin </a:t>
                </a:r>
                <a:r>
                  <a:rPr lang="en-US" altLang="zh-CN" dirty="0">
                    <a:latin typeface="Aptos Display" panose="020B0004020202020204" pitchFamily="34" charset="0"/>
                  </a:rPr>
                  <a:t>C</a:t>
                </a:r>
                <a:r>
                  <a:rPr lang="zh-CN" altLang="en-US" dirty="0">
                    <a:latin typeface="Aptos Display" panose="020B0004020202020204" pitchFamily="34" charset="0"/>
                  </a:rPr>
                  <a:t> </a:t>
                </a:r>
                <a:r>
                  <a:rPr lang="en-US" altLang="zh-CN" dirty="0">
                    <a:latin typeface="Aptos Display" panose="020B0004020202020204" pitchFamily="34" charset="0"/>
                  </a:rPr>
                  <a:t>following</a:t>
                </a:r>
                <a:r>
                  <a:rPr lang="zh-CN" altLang="en-US" dirty="0">
                    <a:latin typeface="Aptos Display" panose="020B0004020202020204" pitchFamily="34" charset="0"/>
                  </a:rPr>
                  <a:t> </a:t>
                </a:r>
                <a:r>
                  <a:rPr lang="en-US" altLang="zh-CN" dirty="0">
                    <a:latin typeface="Aptos Display" panose="020B0004020202020204" pitchFamily="34" charset="0"/>
                  </a:rPr>
                  <a:t>these</a:t>
                </a:r>
                <a:r>
                  <a:rPr lang="zh-CN" altLang="en-US" dirty="0">
                    <a:latin typeface="Aptos Display" panose="020B0004020202020204" pitchFamily="34" charset="0"/>
                  </a:rPr>
                  <a:t> </a:t>
                </a:r>
                <a:r>
                  <a:rPr lang="en-US" altLang="zh-CN" dirty="0">
                    <a:latin typeface="Aptos Display" panose="020B0004020202020204" pitchFamily="34" charset="0"/>
                  </a:rPr>
                  <a:t>rules:</a:t>
                </a:r>
              </a:p>
              <a:p>
                <a:pPr marL="0" indent="0">
                  <a:buNone/>
                </a:pPr>
                <a:r>
                  <a:rPr lang="en" altLang="zh-CN" dirty="0">
                    <a:latin typeface="Aptos Display" panose="020B0004020202020204" pitchFamily="34" charset="0"/>
                  </a:rPr>
                  <a:t>1. </a:t>
                </a:r>
                <a:r>
                  <a:rPr lang="en" altLang="en-US" dirty="0">
                    <a:latin typeface="Aptos Display" panose="020B0004020202020204" pitchFamily="34" charset="0"/>
                  </a:rPr>
                  <a:t>Only one </a:t>
                </a:r>
                <a:r>
                  <a:rPr lang="en-US" altLang="zh-CN" dirty="0">
                    <a:latin typeface="Aptos Display" panose="020B0004020202020204" pitchFamily="34" charset="0"/>
                  </a:rPr>
                  <a:t>disc</a:t>
                </a:r>
                <a:r>
                  <a:rPr lang="en" altLang="en-US" dirty="0">
                    <a:latin typeface="Aptos Display" panose="020B0004020202020204" pitchFamily="34" charset="0"/>
                  </a:rPr>
                  <a:t> </a:t>
                </a:r>
                <a:r>
                  <a:rPr lang="en-US" altLang="zh-CN" dirty="0">
                    <a:latin typeface="Aptos Display" panose="020B0004020202020204" pitchFamily="34" charset="0"/>
                  </a:rPr>
                  <a:t>c</a:t>
                </a:r>
                <a:r>
                  <a:rPr lang="en" altLang="en-US" dirty="0">
                    <a:latin typeface="Aptos Display" panose="020B0004020202020204" pitchFamily="34" charset="0"/>
                  </a:rPr>
                  <a:t>an be moved at a time.</a:t>
                </a:r>
                <a:endParaRPr lang="en-US" altLang="zh-CN" dirty="0">
                  <a:latin typeface="Aptos Display" panose="020B0004020202020204" pitchFamily="34" charset="0"/>
                </a:endParaRPr>
              </a:p>
              <a:p>
                <a:pPr marL="0" indent="0">
                  <a:buNone/>
                </a:pPr>
                <a:r>
                  <a:rPr lang="en" altLang="zh-CN" dirty="0">
                    <a:latin typeface="Aptos Display" panose="020B0004020202020204" pitchFamily="34" charset="0"/>
                  </a:rPr>
                  <a:t>2. </a:t>
                </a:r>
                <a:r>
                  <a:rPr lang="en" altLang="en-US" dirty="0">
                    <a:latin typeface="Aptos Display" panose="020B0004020202020204" pitchFamily="34" charset="0"/>
                  </a:rPr>
                  <a:t>A large</a:t>
                </a:r>
                <a:r>
                  <a:rPr lang="en-US" altLang="zh-CN" dirty="0">
                    <a:latin typeface="Aptos Display" panose="020B0004020202020204" pitchFamily="34" charset="0"/>
                  </a:rPr>
                  <a:t>r</a:t>
                </a:r>
                <a:r>
                  <a:rPr lang="zh-CN" altLang="en-US" dirty="0">
                    <a:latin typeface="Aptos Display" panose="020B0004020202020204" pitchFamily="34" charset="0"/>
                  </a:rPr>
                  <a:t> </a:t>
                </a:r>
                <a:r>
                  <a:rPr lang="en-US" altLang="zh-CN" dirty="0">
                    <a:latin typeface="Aptos Display" panose="020B0004020202020204" pitchFamily="34" charset="0"/>
                  </a:rPr>
                  <a:t>disc</a:t>
                </a:r>
                <a:r>
                  <a:rPr lang="en" altLang="en-US" dirty="0">
                    <a:latin typeface="Aptos Display" panose="020B0004020202020204" pitchFamily="34" charset="0"/>
                  </a:rPr>
                  <a:t> </a:t>
                </a:r>
                <a:r>
                  <a:rPr lang="en-US" altLang="zh-CN" dirty="0">
                    <a:latin typeface="Aptos Display" panose="020B0004020202020204" pitchFamily="34" charset="0"/>
                  </a:rPr>
                  <a:t>cannot</a:t>
                </a:r>
                <a:r>
                  <a:rPr lang="en" altLang="en-US" dirty="0">
                    <a:latin typeface="Aptos Display" panose="020B0004020202020204" pitchFamily="34" charset="0"/>
                  </a:rPr>
                  <a:t> be placed on top of a small</a:t>
                </a:r>
                <a:r>
                  <a:rPr lang="en-US" altLang="zh-CN" dirty="0">
                    <a:latin typeface="Aptos Display" panose="020B0004020202020204" pitchFamily="34" charset="0"/>
                  </a:rPr>
                  <a:t>er</a:t>
                </a:r>
                <a:r>
                  <a:rPr lang="zh-CN" altLang="en-US" dirty="0">
                    <a:latin typeface="Aptos Display" panose="020B0004020202020204" pitchFamily="34" charset="0"/>
                  </a:rPr>
                  <a:t> </a:t>
                </a:r>
                <a:r>
                  <a:rPr lang="en-US" altLang="zh-CN" dirty="0">
                    <a:latin typeface="Aptos Display" panose="020B0004020202020204" pitchFamily="34" charset="0"/>
                  </a:rPr>
                  <a:t>one</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Analysis: In order </a:t>
                </a:r>
                <a:r>
                  <a:rPr lang="en-US" altLang="zh-CN" dirty="0">
                    <a:latin typeface="Aptos Display" panose="020B0004020202020204" pitchFamily="34" charset="0"/>
                  </a:rPr>
                  <a:t>t</a:t>
                </a:r>
                <a:r>
                  <a:rPr lang="en" altLang="en-US" dirty="0">
                    <a:latin typeface="Aptos Display" panose="020B0004020202020204" pitchFamily="34" charset="0"/>
                  </a:rPr>
                  <a:t>o move </a:t>
                </a:r>
                <a14:m>
                  <m:oMath xmlns:m="http://schemas.openxmlformats.org/officeDocument/2006/math">
                    <m:r>
                      <m:rPr>
                        <m:sty m:val="p"/>
                      </m:rPr>
                      <a:rPr lang="en-US" altLang="zh-CN" b="0" i="0">
                        <a:latin typeface="Cambria Math" panose="02040503050406030204" pitchFamily="18" charset="0"/>
                      </a:rPr>
                      <m:t>n</m:t>
                    </m:r>
                  </m:oMath>
                </a14:m>
                <a:r>
                  <a:rPr lang="en" altLang="en-US" dirty="0">
                    <a:latin typeface="Aptos Display" panose="020B0004020202020204" pitchFamily="34" charset="0"/>
                  </a:rPr>
                  <a:t> dis</a:t>
                </a:r>
                <a:r>
                  <a:rPr lang="en-US" altLang="zh-CN" dirty="0">
                    <a:latin typeface="Aptos Display" panose="020B0004020202020204" pitchFamily="34" charset="0"/>
                  </a:rPr>
                  <a:t>cs</a:t>
                </a:r>
                <a:r>
                  <a:rPr lang="zh-CN" altLang="en-US" dirty="0">
                    <a:latin typeface="Aptos Display" panose="020B0004020202020204" pitchFamily="34" charset="0"/>
                  </a:rPr>
                  <a:t> </a:t>
                </a:r>
                <a:r>
                  <a:rPr lang="en" altLang="en-US" dirty="0">
                    <a:latin typeface="Aptos Display" panose="020B0004020202020204" pitchFamily="34" charset="0"/>
                  </a:rPr>
                  <a:t>from </a:t>
                </a:r>
                <a:r>
                  <a:rPr lang="en" altLang="zh-CN" dirty="0">
                    <a:latin typeface="Aptos Display" panose="020B0004020202020204" pitchFamily="34" charset="0"/>
                  </a:rPr>
                  <a:t>A to C </a:t>
                </a:r>
                <a:r>
                  <a:rPr lang="en" altLang="en-US" dirty="0">
                    <a:latin typeface="Aptos Display" panose="020B0004020202020204" pitchFamily="34" charset="0"/>
                  </a:rPr>
                  <a:t>via </a:t>
                </a:r>
                <a:r>
                  <a:rPr lang="en" altLang="zh-CN" dirty="0">
                    <a:latin typeface="Aptos Display" panose="020B0004020202020204" pitchFamily="34" charset="0"/>
                  </a:rPr>
                  <a:t>B</a:t>
                </a:r>
                <a:r>
                  <a:rPr lang="en" altLang="en-US" dirty="0">
                    <a:latin typeface="Aptos Display" panose="020B0004020202020204" pitchFamily="34" charset="0"/>
                  </a:rPr>
                  <a:t>, you can </a:t>
                </a:r>
                <a:r>
                  <a:rPr lang="en" altLang="en-US" dirty="0">
                    <a:solidFill>
                      <a:srgbClr val="FF0000"/>
                    </a:solidFill>
                    <a:latin typeface="Aptos Display" panose="020B0004020202020204" pitchFamily="34" charset="0"/>
                  </a:rPr>
                  <a:t>first</a:t>
                </a:r>
                <a:r>
                  <a:rPr lang="zh-CN" altLang="en-US"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move</a:t>
                </a:r>
                <a:r>
                  <a:rPr lang="zh-CN" altLang="en-US" dirty="0">
                    <a:solidFill>
                      <a:srgbClr val="FF0000"/>
                    </a:solidFill>
                    <a:latin typeface="Aptos Display" panose="020B0004020202020204" pitchFamily="34" charset="0"/>
                  </a:rPr>
                  <a:t> </a:t>
                </a:r>
                <a14:m>
                  <m:oMath xmlns:m="http://schemas.openxmlformats.org/officeDocument/2006/math">
                    <m:r>
                      <m:rPr>
                        <m:sty m:val="p"/>
                      </m:rPr>
                      <a:rPr lang="en-US" altLang="zh-CN" b="0" i="0" smtClean="0">
                        <a:solidFill>
                          <a:srgbClr val="FF0000"/>
                        </a:solidFill>
                        <a:latin typeface="Cambria Math" panose="02040503050406030204" pitchFamily="18" charset="0"/>
                      </a:rPr>
                      <m:t>n</m:t>
                    </m:r>
                    <m:r>
                      <a:rPr lang="en-US" altLang="zh-CN" b="0" i="0" smtClean="0">
                        <a:solidFill>
                          <a:srgbClr val="FF0000"/>
                        </a:solidFill>
                        <a:latin typeface="Cambria Math" panose="02040503050406030204" pitchFamily="18" charset="0"/>
                      </a:rPr>
                      <m:t>−1</m:t>
                    </m:r>
                  </m:oMath>
                </a14:m>
                <a:r>
                  <a:rPr lang="en" altLang="zh-CN"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discs</a:t>
                </a:r>
                <a:r>
                  <a:rPr lang="zh-CN" altLang="en-US" dirty="0">
                    <a:solidFill>
                      <a:srgbClr val="FF0000"/>
                    </a:solidFill>
                    <a:latin typeface="Aptos Display" panose="020B0004020202020204" pitchFamily="34" charset="0"/>
                  </a:rPr>
                  <a:t> </a:t>
                </a:r>
                <a:r>
                  <a:rPr lang="en" altLang="en-US" dirty="0">
                    <a:solidFill>
                      <a:srgbClr val="FF0000"/>
                    </a:solidFill>
                    <a:latin typeface="Aptos Display" panose="020B0004020202020204" pitchFamily="34" charset="0"/>
                  </a:rPr>
                  <a:t>from </a:t>
                </a:r>
                <a:r>
                  <a:rPr lang="en" altLang="zh-CN" dirty="0">
                    <a:solidFill>
                      <a:srgbClr val="FF0000"/>
                    </a:solidFill>
                    <a:latin typeface="Aptos Display" panose="020B0004020202020204" pitchFamily="34" charset="0"/>
                  </a:rPr>
                  <a:t>A to B </a:t>
                </a:r>
                <a:r>
                  <a:rPr lang="en" altLang="en-US" dirty="0">
                    <a:solidFill>
                      <a:srgbClr val="FF0000"/>
                    </a:solidFill>
                    <a:latin typeface="Aptos Display" panose="020B0004020202020204" pitchFamily="34" charset="0"/>
                  </a:rPr>
                  <a:t>via </a:t>
                </a:r>
                <a:r>
                  <a:rPr lang="en" altLang="zh-CN" dirty="0">
                    <a:solidFill>
                      <a:srgbClr val="FF0000"/>
                    </a:solidFill>
                    <a:latin typeface="Aptos Display" panose="020B0004020202020204" pitchFamily="34" charset="0"/>
                  </a:rPr>
                  <a:t>C</a:t>
                </a:r>
                <a:r>
                  <a:rPr lang="en" altLang="en-US" dirty="0">
                    <a:solidFill>
                      <a:srgbClr val="FF0000"/>
                    </a:solidFill>
                    <a:latin typeface="Aptos Display" panose="020B0004020202020204" pitchFamily="34" charset="0"/>
                  </a:rPr>
                  <a:t>, then the remaining disk from </a:t>
                </a:r>
                <a:r>
                  <a:rPr lang="en" altLang="zh-CN" dirty="0">
                    <a:solidFill>
                      <a:srgbClr val="FF0000"/>
                    </a:solidFill>
                    <a:latin typeface="Aptos Display" panose="020B0004020202020204" pitchFamily="34" charset="0"/>
                  </a:rPr>
                  <a:t>A to C</a:t>
                </a:r>
                <a:r>
                  <a:rPr lang="en" altLang="en-US" dirty="0">
                    <a:solidFill>
                      <a:srgbClr val="FF0000"/>
                    </a:solidFill>
                    <a:latin typeface="Aptos Display" panose="020B0004020202020204" pitchFamily="34" charset="0"/>
                  </a:rPr>
                  <a:t>, and then</a:t>
                </a:r>
                <a:r>
                  <a:rPr lang="zh-CN" altLang="en-US"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the</a:t>
                </a:r>
                <a:r>
                  <a:rPr lang="zh-CN" altLang="en-US" dirty="0">
                    <a:solidFill>
                      <a:srgbClr val="FF0000"/>
                    </a:solidFill>
                    <a:latin typeface="Aptos Display" panose="020B0004020202020204" pitchFamily="34" charset="0"/>
                  </a:rPr>
                  <a:t> </a:t>
                </a:r>
                <a14:m>
                  <m:oMath xmlns:m="http://schemas.openxmlformats.org/officeDocument/2006/math">
                    <m:r>
                      <m:rPr>
                        <m:sty m:val="p"/>
                      </m:rPr>
                      <a:rPr lang="en-US" altLang="zh-CN" b="0" i="0">
                        <a:solidFill>
                          <a:srgbClr val="FF0000"/>
                        </a:solidFill>
                        <a:latin typeface="Cambria Math" panose="02040503050406030204" pitchFamily="18" charset="0"/>
                      </a:rPr>
                      <m:t>n</m:t>
                    </m:r>
                    <m:r>
                      <a:rPr lang="en-US" altLang="zh-CN" b="0" i="0">
                        <a:solidFill>
                          <a:srgbClr val="FF0000"/>
                        </a:solidFill>
                        <a:latin typeface="Cambria Math" panose="02040503050406030204" pitchFamily="18" charset="0"/>
                      </a:rPr>
                      <m:t>−1</m:t>
                    </m:r>
                  </m:oMath>
                </a14:m>
                <a:r>
                  <a:rPr lang="en" altLang="zh-CN" dirty="0">
                    <a:solidFill>
                      <a:srgbClr val="FF0000"/>
                    </a:solidFill>
                    <a:latin typeface="Aptos Display" panose="020B0004020202020204" pitchFamily="34" charset="0"/>
                  </a:rPr>
                  <a:t> </a:t>
                </a:r>
                <a:r>
                  <a:rPr lang="en" altLang="en-US" dirty="0">
                    <a:solidFill>
                      <a:srgbClr val="FF0000"/>
                    </a:solidFill>
                    <a:latin typeface="Aptos Display" panose="020B0004020202020204" pitchFamily="34" charset="0"/>
                  </a:rPr>
                  <a:t>dis</a:t>
                </a:r>
                <a:r>
                  <a:rPr lang="en-US" altLang="zh-CN" dirty="0">
                    <a:solidFill>
                      <a:srgbClr val="FF0000"/>
                    </a:solidFill>
                    <a:latin typeface="Aptos Display" panose="020B0004020202020204" pitchFamily="34" charset="0"/>
                  </a:rPr>
                  <a:t>cs</a:t>
                </a:r>
                <a:r>
                  <a:rPr lang="en" altLang="en-US" dirty="0">
                    <a:solidFill>
                      <a:srgbClr val="FF0000"/>
                    </a:solidFill>
                    <a:latin typeface="Aptos Display" panose="020B0004020202020204" pitchFamily="34" charset="0"/>
                  </a:rPr>
                  <a:t> from </a:t>
                </a:r>
                <a:r>
                  <a:rPr lang="en" altLang="zh-CN" dirty="0">
                    <a:solidFill>
                      <a:srgbClr val="FF0000"/>
                    </a:solidFill>
                    <a:latin typeface="Aptos Display" panose="020B0004020202020204" pitchFamily="34" charset="0"/>
                  </a:rPr>
                  <a:t>B </a:t>
                </a:r>
                <a:r>
                  <a:rPr lang="en-US" altLang="zh-CN" dirty="0">
                    <a:solidFill>
                      <a:srgbClr val="FF0000"/>
                    </a:solidFill>
                    <a:latin typeface="Aptos Display" panose="020B0004020202020204" pitchFamily="34" charset="0"/>
                  </a:rPr>
                  <a:t>to</a:t>
                </a:r>
                <a:r>
                  <a:rPr lang="en" altLang="en-US"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C</a:t>
                </a:r>
                <a:r>
                  <a:rPr lang="zh-CN" altLang="en-US"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via</a:t>
                </a:r>
                <a:r>
                  <a:rPr lang="zh-CN" altLang="en-US" dirty="0">
                    <a:solidFill>
                      <a:srgbClr val="FF0000"/>
                    </a:solidFill>
                    <a:latin typeface="Aptos Display" panose="020B0004020202020204" pitchFamily="34" charset="0"/>
                  </a:rPr>
                  <a:t> </a:t>
                </a:r>
                <a:r>
                  <a:rPr lang="en-US" altLang="zh-CN" dirty="0">
                    <a:solidFill>
                      <a:srgbClr val="FF0000"/>
                    </a:solidFill>
                    <a:latin typeface="Aptos Display" panose="020B0004020202020204" pitchFamily="34" charset="0"/>
                  </a:rPr>
                  <a:t>A</a:t>
                </a:r>
                <a:r>
                  <a:rPr lang="en" altLang="zh-CN" dirty="0">
                    <a:solidFill>
                      <a:srgbClr val="FF0000"/>
                    </a:solidFill>
                    <a:latin typeface="Aptos Display" panose="020B0004020202020204" pitchFamily="34" charset="0"/>
                  </a:rPr>
                  <a:t>. </a:t>
                </a:r>
                <a:r>
                  <a:rPr lang="en" altLang="en-US" dirty="0">
                    <a:latin typeface="Aptos Display" panose="020B0004020202020204" pitchFamily="34" charset="0"/>
                  </a:rPr>
                  <a:t>This </a:t>
                </a:r>
                <a:r>
                  <a:rPr lang="en-US" altLang="zh-CN" dirty="0">
                    <a:latin typeface="Aptos Display" panose="020B0004020202020204" pitchFamily="34" charset="0"/>
                  </a:rPr>
                  <a:t>reduces</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original</a:t>
                </a:r>
                <a:r>
                  <a:rPr lang="zh-CN" altLang="en-US" dirty="0">
                    <a:latin typeface="Aptos Display" panose="020B0004020202020204" pitchFamily="34" charset="0"/>
                  </a:rPr>
                  <a:t> </a:t>
                </a:r>
                <a:r>
                  <a:rPr lang="en-US" altLang="zh-CN" dirty="0">
                    <a:latin typeface="Aptos Display" panose="020B0004020202020204" pitchFamily="34" charset="0"/>
                  </a:rPr>
                  <a:t>problem</a:t>
                </a:r>
                <a:r>
                  <a:rPr lang="zh-CN" altLang="en-US" dirty="0">
                    <a:latin typeface="Aptos Display" panose="020B0004020202020204" pitchFamily="34" charset="0"/>
                  </a:rPr>
                  <a:t> </a:t>
                </a:r>
                <a:r>
                  <a:rPr lang="en-US" altLang="zh-CN" dirty="0">
                    <a:latin typeface="Aptos Display" panose="020B0004020202020204" pitchFamily="34" charset="0"/>
                  </a:rPr>
                  <a:t>about</a:t>
                </a:r>
                <a:r>
                  <a:rPr lang="zh-CN" altLang="en-US" dirty="0">
                    <a:latin typeface="Aptos Display" panose="020B0004020202020204" pitchFamily="34" charset="0"/>
                  </a:rPr>
                  <a:t> </a:t>
                </a:r>
                <a14:m>
                  <m:oMath xmlns:m="http://schemas.openxmlformats.org/officeDocument/2006/math">
                    <m:r>
                      <m:rPr>
                        <m:sty m:val="p"/>
                      </m:rPr>
                      <a:rPr lang="en-US" altLang="zh-CN" b="0" i="0">
                        <a:latin typeface="Cambria Math" panose="02040503050406030204" pitchFamily="18" charset="0"/>
                      </a:rPr>
                      <m:t>n</m:t>
                    </m:r>
                  </m:oMath>
                </a14:m>
                <a:r>
                  <a:rPr lang="en" altLang="zh-CN"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new</a:t>
                </a:r>
                <a:r>
                  <a:rPr lang="zh-CN" altLang="en-US" dirty="0">
                    <a:latin typeface="Aptos Display" panose="020B0004020202020204" pitchFamily="34" charset="0"/>
                  </a:rPr>
                  <a:t> </a:t>
                </a:r>
                <a:r>
                  <a:rPr lang="en-US" altLang="zh-CN" dirty="0">
                    <a:latin typeface="Aptos Display" panose="020B0004020202020204" pitchFamily="34" charset="0"/>
                  </a:rPr>
                  <a:t>problem</a:t>
                </a:r>
                <a:r>
                  <a:rPr lang="zh-CN" altLang="en-US" dirty="0">
                    <a:latin typeface="Aptos Display" panose="020B0004020202020204" pitchFamily="34" charset="0"/>
                  </a:rPr>
                  <a:t> </a:t>
                </a:r>
                <a:r>
                  <a:rPr lang="en-US" altLang="zh-CN" dirty="0">
                    <a:latin typeface="Aptos Display" panose="020B0004020202020204" pitchFamily="34" charset="0"/>
                  </a:rPr>
                  <a:t>about</a:t>
                </a:r>
                <a:r>
                  <a:rPr lang="zh-CN" altLang="en-US" dirty="0">
                    <a:latin typeface="Aptos Display" panose="020B0004020202020204" pitchFamily="34" charset="0"/>
                  </a:rPr>
                  <a:t> </a:t>
                </a:r>
                <a14:m>
                  <m:oMath xmlns:m="http://schemas.openxmlformats.org/officeDocument/2006/math">
                    <m:r>
                      <m:rPr>
                        <m:sty m:val="p"/>
                      </m:rPr>
                      <a:rPr lang="en-US" altLang="zh-CN" b="0" i="0">
                        <a:latin typeface="Cambria Math" panose="02040503050406030204" pitchFamily="18" charset="0"/>
                      </a:rPr>
                      <m:t>n</m:t>
                    </m:r>
                    <m:r>
                      <a:rPr lang="en-US" altLang="zh-CN" b="0" i="0" smtClean="0">
                        <a:latin typeface="Cambria Math" panose="02040503050406030204" pitchFamily="18" charset="0"/>
                      </a:rPr>
                      <m:t>−1</m:t>
                    </m:r>
                  </m:oMath>
                </a14:m>
                <a:r>
                  <a:rPr lang="en-US" altLang="zh-CN" dirty="0">
                    <a:latin typeface="Aptos Display" panose="020B0004020202020204" pitchFamily="34" charset="0"/>
                  </a:rPr>
                  <a:t>.</a:t>
                </a:r>
                <a:r>
                  <a:rPr lang="en" altLang="zh-CN" dirty="0">
                    <a:latin typeface="Aptos Display" panose="020B0004020202020204" pitchFamily="34" charset="0"/>
                  </a:rPr>
                  <a:t> </a:t>
                </a:r>
                <a:r>
                  <a:rPr lang="en" altLang="en-US" dirty="0">
                    <a:latin typeface="Aptos Display" panose="020B0004020202020204" pitchFamily="34" charset="0"/>
                  </a:rPr>
                  <a:t>Repeat this process</a:t>
                </a:r>
                <a:r>
                  <a:rPr lang="en-US" altLang="zh-CN" dirty="0">
                    <a:latin typeface="Aptos Display" panose="020B0004020202020204" pitchFamily="34" charset="0"/>
                  </a:rPr>
                  <a:t>,</a:t>
                </a:r>
                <a:r>
                  <a:rPr lang="zh-CN" altLang="en-US" dirty="0">
                    <a:latin typeface="Aptos Display" panose="020B0004020202020204" pitchFamily="34" charset="0"/>
                  </a:rPr>
                  <a:t> </a:t>
                </a:r>
                <a:r>
                  <a:rPr lang="en" altLang="en-US" dirty="0">
                    <a:latin typeface="Aptos Display" panose="020B0004020202020204" pitchFamily="34" charset="0"/>
                  </a:rPr>
                  <a:t>each time</a:t>
                </a:r>
                <a14:m>
                  <m:oMath xmlns:m="http://schemas.openxmlformats.org/officeDocument/2006/math">
                    <m:r>
                      <a:rPr lang="zh-CN" altLang="en-US" b="0" i="0" smtClean="0">
                        <a:latin typeface="Cambria Math" panose="02040503050406030204" pitchFamily="18" charset="0"/>
                      </a:rPr>
                      <m:t> </m:t>
                    </m:r>
                    <m:r>
                      <m:rPr>
                        <m:sty m:val="p"/>
                      </m:rPr>
                      <a:rPr lang="en-US" altLang="zh-CN" b="0" i="0">
                        <a:latin typeface="Cambria Math" panose="02040503050406030204" pitchFamily="18" charset="0"/>
                      </a:rPr>
                      <m:t>n</m:t>
                    </m:r>
                  </m:oMath>
                </a14:m>
                <a:r>
                  <a:rPr lang="zh-CN" altLang="en-US" dirty="0">
                    <a:latin typeface="Aptos Display" panose="020B0004020202020204" pitchFamily="34" charset="0"/>
                  </a:rPr>
                  <a:t> </a:t>
                </a:r>
                <a:r>
                  <a:rPr lang="en-US" altLang="zh-CN" dirty="0">
                    <a:latin typeface="Aptos Display" panose="020B0004020202020204" pitchFamily="34" charset="0"/>
                  </a:rPr>
                  <a:t>is</a:t>
                </a:r>
                <a:r>
                  <a:rPr lang="zh-CN" altLang="en-US" dirty="0">
                    <a:latin typeface="Aptos Display" panose="020B0004020202020204" pitchFamily="34" charset="0"/>
                  </a:rPr>
                  <a:t> </a:t>
                </a:r>
                <a:r>
                  <a:rPr lang="en-US" altLang="zh-CN" dirty="0">
                    <a:latin typeface="Aptos Display" panose="020B0004020202020204" pitchFamily="34" charset="0"/>
                  </a:rPr>
                  <a:t>reduced</a:t>
                </a:r>
                <a:r>
                  <a:rPr lang="zh-CN" altLang="en-US" dirty="0">
                    <a:latin typeface="Aptos Display" panose="020B0004020202020204" pitchFamily="34" charset="0"/>
                  </a:rPr>
                  <a:t> </a:t>
                </a:r>
                <a:r>
                  <a:rPr lang="en-US" altLang="zh-CN" dirty="0">
                    <a:latin typeface="Aptos Display" panose="020B0004020202020204" pitchFamily="34" charset="0"/>
                  </a:rPr>
                  <a:t>by</a:t>
                </a:r>
                <a:r>
                  <a:rPr lang="zh-CN" altLang="en-US" dirty="0">
                    <a:latin typeface="Aptos Display" panose="020B0004020202020204" pitchFamily="34" charset="0"/>
                  </a:rPr>
                  <a:t> </a:t>
                </a:r>
                <a:r>
                  <a:rPr lang="en" altLang="zh-CN" dirty="0">
                    <a:latin typeface="Aptos Display" panose="020B0004020202020204" pitchFamily="34" charset="0"/>
                  </a:rPr>
                  <a:t>1 </a:t>
                </a:r>
                <a:r>
                  <a:rPr lang="en" altLang="en-US" dirty="0">
                    <a:latin typeface="Aptos Display" panose="020B0004020202020204" pitchFamily="34" charset="0"/>
                  </a:rPr>
                  <a:t>until</a:t>
                </a:r>
                <a:r>
                  <a:rPr lang="zh-CN" altLang="en-US" dirty="0">
                    <a:latin typeface="Aptos Display" panose="020B0004020202020204" pitchFamily="34" charset="0"/>
                  </a:rPr>
                  <a:t> </a:t>
                </a:r>
                <a14:m>
                  <m:oMath xmlns:m="http://schemas.openxmlformats.org/officeDocument/2006/math">
                    <m:r>
                      <m:rPr>
                        <m:sty m:val="p"/>
                      </m:rPr>
                      <a:rPr lang="en-US" altLang="zh-CN" b="0" i="0">
                        <a:latin typeface="Cambria Math" panose="02040503050406030204" pitchFamily="18" charset="0"/>
                      </a:rPr>
                      <m:t>n</m:t>
                    </m:r>
                    <m:r>
                      <a:rPr lang="en-US" altLang="zh-CN" b="0" i="0" smtClean="0">
                        <a:latin typeface="Cambria Math" panose="02040503050406030204" pitchFamily="18" charset="0"/>
                      </a:rPr>
                      <m:t>=1</m:t>
                    </m:r>
                  </m:oMath>
                </a14:m>
                <a:r>
                  <a:rPr lang="zh-CN" altLang="en-US" dirty="0">
                    <a:latin typeface="Aptos Display" panose="020B0004020202020204" pitchFamily="34" charset="0"/>
                  </a:rPr>
                  <a:t> </a:t>
                </a:r>
                <a:r>
                  <a:rPr lang="en-US" altLang="zh-CN" dirty="0">
                    <a:latin typeface="Aptos Display" panose="020B0004020202020204" pitchFamily="34" charset="0"/>
                  </a:rPr>
                  <a:t>when</a:t>
                </a:r>
                <a:r>
                  <a:rPr lang="en" altLang="zh-CN" dirty="0">
                    <a:latin typeface="Aptos Display" panose="020B0004020202020204" pitchFamily="34" charset="0"/>
                  </a:rPr>
                  <a:t> </a:t>
                </a:r>
                <a:r>
                  <a:rPr lang="en-US" altLang="zh-CN" dirty="0">
                    <a:latin typeface="Aptos Display" panose="020B0004020202020204" pitchFamily="34" charset="0"/>
                  </a:rPr>
                  <a:t>y</a:t>
                </a:r>
                <a:r>
                  <a:rPr lang="en" altLang="en-US" dirty="0" err="1">
                    <a:latin typeface="Aptos Display" panose="020B0004020202020204" pitchFamily="34" charset="0"/>
                  </a:rPr>
                  <a:t>ou</a:t>
                </a:r>
                <a:r>
                  <a:rPr lang="en" altLang="en-US" dirty="0">
                    <a:latin typeface="Aptos Display" panose="020B0004020202020204" pitchFamily="34" charset="0"/>
                  </a:rPr>
                  <a:t> can simply move the </a:t>
                </a:r>
                <a:r>
                  <a:rPr lang="en-US" altLang="zh-CN" dirty="0">
                    <a:latin typeface="Aptos Display" panose="020B0004020202020204" pitchFamily="34" charset="0"/>
                  </a:rPr>
                  <a:t>disc</a:t>
                </a:r>
                <a:r>
                  <a:rPr lang="en" altLang="en-US" dirty="0">
                    <a:latin typeface="Aptos Display" panose="020B0004020202020204" pitchFamily="34" charset="0"/>
                  </a:rPr>
                  <a:t>.</a:t>
                </a:r>
                <a:endParaRPr lang="en-US" altLang="zh-CN"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blipFill>
                <a:blip r:embed="rId3"/>
                <a:stretch>
                  <a:fillRect l="-1224" t="-1741"/>
                </a:stretch>
              </a:blipFill>
            </p:spPr>
            <p:txBody>
              <a:bodyPr/>
              <a:lstStyle/>
              <a:p>
                <a:r>
                  <a:rPr lang="en-AU">
                    <a:noFill/>
                  </a:rPr>
                  <a:t> </a:t>
                </a:r>
              </a:p>
            </p:txBody>
          </p:sp>
        </mc:Fallback>
      </mc:AlternateContent>
    </p:spTree>
    <p:extLst>
      <p:ext uri="{BB962C8B-B14F-4D97-AF65-F5344CB8AC3E}">
        <p14:creationId xmlns:p14="http://schemas.microsoft.com/office/powerpoint/2010/main" val="3879138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Classic Problem: The Tower of Hanoi</a:t>
            </a:r>
          </a:p>
        </p:txBody>
      </p:sp>
      <p:sp>
        <p:nvSpPr>
          <p:cNvPr id="7" name="内容占位符 2">
            <a:extLst>
              <a:ext uri="{FF2B5EF4-FFF2-40B4-BE49-F238E27FC236}">
                <a16:creationId xmlns:a16="http://schemas.microsoft.com/office/drawing/2014/main" id="{2D61C9F3-5129-46A0-8929-EC4C9B3905EB}"/>
              </a:ext>
            </a:extLst>
          </p:cNvPr>
          <p:cNvSpPr txBox="1">
            <a:spLocks/>
          </p:cNvSpPr>
          <p:nvPr/>
        </p:nvSpPr>
        <p:spPr>
          <a:xfrm>
            <a:off x="678611" y="2037806"/>
            <a:ext cx="7511232" cy="473105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#include &lt;bits/</a:t>
            </a:r>
            <a:r>
              <a:rPr lang="en" altLang="zh-CN" sz="2000" dirty="0" err="1">
                <a:latin typeface="Consolas" panose="020B0609020204030204" pitchFamily="49" charset="0"/>
                <a:cs typeface="Consolas" panose="020B0609020204030204" pitchFamily="49" charset="0"/>
              </a:rPr>
              <a:t>stdc</a:t>
            </a:r>
            <a:r>
              <a:rPr lang="en" altLang="zh-CN" sz="2000" dirty="0">
                <a:latin typeface="Consolas" panose="020B0609020204030204" pitchFamily="49" charset="0"/>
                <a:cs typeface="Consolas" panose="020B0609020204030204" pitchFamily="49" charset="0"/>
              </a:rPr>
              <a:t>++.h&gt;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using namespace std;</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void </a:t>
            </a:r>
            <a:r>
              <a:rPr lang="en" altLang="zh-CN" sz="2000" dirty="0" err="1">
                <a:latin typeface="Consolas" panose="020B0609020204030204" pitchFamily="49" charset="0"/>
                <a:cs typeface="Consolas" panose="020B0609020204030204" pitchFamily="49" charset="0"/>
              </a:rPr>
              <a:t>hanoi</a:t>
            </a:r>
            <a:r>
              <a:rPr lang="en" altLang="zh-CN" sz="2000" dirty="0">
                <a:latin typeface="Consolas" panose="020B0609020204030204" pitchFamily="49" charset="0"/>
                <a:cs typeface="Consolas" panose="020B0609020204030204" pitchFamily="49" charset="0"/>
              </a:rPr>
              <a:t>(int n, char a, char b, char c){</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if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a:t>
            </a:r>
            <a:r>
              <a:rPr lang="zh-CN" altLang="en-US" sz="2000" dirty="0">
                <a:latin typeface="Consolas" panose="020B0609020204030204" pitchFamily="49" charset="0"/>
                <a:cs typeface="Consolas" panose="020B0609020204030204" pitchFamily="49" charset="0"/>
              </a:rPr>
              <a:t> </a:t>
            </a:r>
            <a:r>
              <a:rPr lang="en-US" altLang="zh-CN" sz="2000" dirty="0">
                <a:latin typeface="Consolas" panose="020B0609020204030204" pitchFamily="49" charset="0"/>
                <a:cs typeface="Consolas" panose="020B0609020204030204" pitchFamily="49" charset="0"/>
              </a:rPr>
              <a:t>"</a:t>
            </a:r>
            <a:r>
              <a:rPr lang="en" altLang="zh-CN" sz="2000" dirty="0">
                <a:latin typeface="Consolas" panose="020B0609020204030204" pitchFamily="49" charset="0"/>
                <a:cs typeface="Consolas" panose="020B0609020204030204" pitchFamily="49" charset="0"/>
              </a:rPr>
              <a:t> to </a:t>
            </a:r>
            <a:r>
              <a:rPr lang="en-US" altLang="zh-CN" sz="2000" dirty="0">
                <a:latin typeface="Consolas" panose="020B0609020204030204" pitchFamily="49" charset="0"/>
                <a:cs typeface="Consolas" panose="020B0609020204030204" pitchFamily="49" charset="0"/>
              </a:rPr>
              <a: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c</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 </a:t>
            </a:r>
            <a:r>
              <a:rPr lang="en" altLang="zh-CN" sz="2000" dirty="0" err="1">
                <a:latin typeface="Consolas" panose="020B0609020204030204" pitchFamily="49" charset="0"/>
                <a:cs typeface="Consolas" panose="020B0609020204030204" pitchFamily="49" charset="0"/>
              </a:rPr>
              <a:t>endl</a:t>
            </a:r>
            <a:r>
              <a:rPr lang="en" altLang="zh-CN" sz="2000" dirty="0">
                <a:latin typeface="Consolas" panose="020B0609020204030204" pitchFamily="49" charset="0"/>
                <a:cs typeface="Consolas" panose="020B0609020204030204" pitchFamily="49" charset="0"/>
              </a:rPr>
              <a:t>;</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main(){</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int n;</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cin</a:t>
            </a:r>
            <a:r>
              <a:rPr lang="en" altLang="zh-CN" sz="2000" dirty="0">
                <a:latin typeface="Consolas" panose="020B0609020204030204" pitchFamily="49" charset="0"/>
                <a:cs typeface="Consolas" panose="020B0609020204030204" pitchFamily="49" charset="0"/>
              </a:rPr>
              <a:t> &gt;&gt;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n;</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US" altLang="zh-CN" sz="2000" dirty="0" err="1">
                <a:latin typeface="Consolas" panose="020B0609020204030204" pitchFamily="49" charset="0"/>
                <a:cs typeface="Consolas" panose="020B0609020204030204" pitchFamily="49" charset="0"/>
              </a:rPr>
              <a:t>hanoi</a:t>
            </a:r>
            <a:r>
              <a:rPr lang="en" altLang="zh-CN" sz="2000" dirty="0">
                <a:latin typeface="Consolas" panose="020B0609020204030204" pitchFamily="49" charset="0"/>
                <a:cs typeface="Consolas" panose="020B0609020204030204" pitchFamily="49" charset="0"/>
              </a:rPr>
              <a:t>(n,</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'B',</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'C');</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return 0;</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p:txBody>
      </p:sp>
      <p:sp>
        <p:nvSpPr>
          <p:cNvPr id="5" name="内容占位符 4">
            <a:extLst>
              <a:ext uri="{FF2B5EF4-FFF2-40B4-BE49-F238E27FC236}">
                <a16:creationId xmlns:a16="http://schemas.microsoft.com/office/drawing/2014/main" id="{E1CDBABB-CE2C-42CE-8B40-D3B9544A682C}"/>
              </a:ext>
            </a:extLst>
          </p:cNvPr>
          <p:cNvSpPr>
            <a:spLocks noGrp="1"/>
          </p:cNvSpPr>
          <p:nvPr>
            <p:ph idx="1"/>
          </p:nvPr>
        </p:nvSpPr>
        <p:spPr>
          <a:xfrm>
            <a:off x="678612" y="1486111"/>
            <a:ext cx="10368800" cy="899280"/>
          </a:xfrm>
        </p:spPr>
        <p:txBody>
          <a:bodyPr/>
          <a:lstStyle/>
          <a:p>
            <a:r>
              <a:rPr lang="en" altLang="en-US" dirty="0">
                <a:latin typeface="Aptos Display" panose="020B0004020202020204" pitchFamily="34" charset="0"/>
              </a:rPr>
              <a:t>Implementation of the Tower of Hanoi Problem</a:t>
            </a:r>
          </a:p>
        </p:txBody>
      </p:sp>
    </p:spTree>
    <p:extLst>
      <p:ext uri="{BB962C8B-B14F-4D97-AF65-F5344CB8AC3E}">
        <p14:creationId xmlns:p14="http://schemas.microsoft.com/office/powerpoint/2010/main" val="991846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 altLang="en-US" dirty="0"/>
              <a:t>Thank you everyone.</a:t>
            </a:r>
          </a:p>
        </p:txBody>
      </p:sp>
      <p:sp>
        <p:nvSpPr>
          <p:cNvPr id="4" name="文本框 3"/>
          <p:cNvSpPr txBox="1"/>
          <p:nvPr/>
        </p:nvSpPr>
        <p:spPr>
          <a:xfrm>
            <a:off x="9212580" y="6206490"/>
            <a:ext cx="2492990" cy="369332"/>
          </a:xfrm>
          <a:prstGeom prst="rect">
            <a:avLst/>
          </a:prstGeom>
          <a:noFill/>
        </p:spPr>
        <p:txBody>
          <a:bodyPr wrap="none" rtlCol="0">
            <a:spAutoFit/>
          </a:bodyPr>
          <a:lstStyle/>
          <a:p>
            <a:r>
              <a:rPr lang="en" altLang="en-US" dirty="0">
                <a:latin typeface="华文楷体" panose="02010600040101010101" pitchFamily="2" charset="-122"/>
                <a:ea typeface="华文楷体" panose="02010600040101010101" pitchFamily="2" charset="-122"/>
              </a:rPr>
              <a:t>Teacher Gao's Algorithm Competition Training Camp</a:t>
            </a:r>
          </a:p>
        </p:txBody>
      </p:sp>
      <p:pic>
        <p:nvPicPr>
          <p:cNvPr id="5" name="图片 4"/>
          <p:cNvPicPr>
            <a:picLocks noChangeAspect="1"/>
          </p:cNvPicPr>
          <p:nvPr/>
        </p:nvPicPr>
        <p:blipFill>
          <a:blip r:embed="rId2"/>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副标题 5"/>
          <p:cNvSpPr>
            <a:spLocks noGrp="1"/>
          </p:cNvSpPr>
          <p:nvPr>
            <p:ph type="subTitle" idx="1"/>
          </p:nvPr>
        </p:nvSpPr>
        <p:spPr/>
        <p:txBody>
          <a:bodyPr/>
          <a:lstStyle/>
          <a:p>
            <a:endParaRPr lang="zh-CN" altLang="en-US"/>
          </a:p>
        </p:txBody>
      </p:sp>
      <p:sp>
        <p:nvSpPr>
          <p:cNvPr id="7" name="文本框 6"/>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p:spTree>
    <p:extLst>
      <p:ext uri="{BB962C8B-B14F-4D97-AF65-F5344CB8AC3E}">
        <p14:creationId xmlns:p14="http://schemas.microsoft.com/office/powerpoint/2010/main" val="750359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 altLang="zh-CN" dirty="0"/>
              <a:t>NOIP </a:t>
            </a:r>
            <a:r>
              <a:rPr lang="en" altLang="en-US" dirty="0"/>
              <a:t>Basic Algorithms</a:t>
            </a:r>
          </a:p>
        </p:txBody>
      </p:sp>
      <p:sp>
        <p:nvSpPr>
          <p:cNvPr id="3" name="副标题 2"/>
          <p:cNvSpPr>
            <a:spLocks noGrp="1"/>
          </p:cNvSpPr>
          <p:nvPr>
            <p:ph type="subTitle" idx="1"/>
          </p:nvPr>
        </p:nvSpPr>
        <p:spPr/>
        <p:txBody>
          <a:bodyPr/>
          <a:lstStyle/>
          <a:p>
            <a:r>
              <a:rPr lang="en" altLang="zh-CN" dirty="0"/>
              <a:t>August 26 </a:t>
            </a:r>
            <a:r>
              <a:rPr lang="en" altLang="en-US" dirty="0"/>
              <a:t>, </a:t>
            </a:r>
            <a:r>
              <a:rPr lang="en" altLang="zh-CN" dirty="0"/>
              <a:t>2018</a:t>
            </a:r>
            <a:r>
              <a:rPr lang="en" altLang="en-US" dirty="0"/>
              <a:t>​​</a:t>
            </a:r>
          </a:p>
        </p:txBody>
      </p:sp>
      <p:sp>
        <p:nvSpPr>
          <p:cNvPr id="4" name="文本框 3"/>
          <p:cNvSpPr txBox="1"/>
          <p:nvPr/>
        </p:nvSpPr>
        <p:spPr>
          <a:xfrm>
            <a:off x="9212580" y="6206490"/>
            <a:ext cx="2961067" cy="646331"/>
          </a:xfrm>
          <a:prstGeom prst="rect">
            <a:avLst/>
          </a:prstGeom>
          <a:noFill/>
        </p:spPr>
        <p:txBody>
          <a:bodyPr wrap="none" rtlCol="0">
            <a:spAutoFit/>
          </a:bodyPr>
          <a:lstStyle/>
          <a:p>
            <a:r>
              <a:rPr lang="en-US" altLang="zh-CN" dirty="0">
                <a:latin typeface="华文楷体" panose="02010600040101010101" pitchFamily="2" charset="-122"/>
                <a:ea typeface="华文楷体" panose="02010600040101010101" pitchFamily="2" charset="-122"/>
              </a:rPr>
              <a:t>Mr.</a:t>
            </a:r>
            <a:r>
              <a:rPr lang="en" altLang="en-US" dirty="0">
                <a:latin typeface="华文楷体" panose="02010600040101010101" pitchFamily="2" charset="-122"/>
                <a:ea typeface="华文楷体" panose="02010600040101010101" pitchFamily="2" charset="-122"/>
              </a:rPr>
              <a:t> Gao's Algorithm</a:t>
            </a:r>
          </a:p>
          <a:p>
            <a:r>
              <a:rPr lang="en" altLang="en-US" dirty="0">
                <a:latin typeface="华文楷体" panose="02010600040101010101" pitchFamily="2" charset="-122"/>
                <a:ea typeface="华文楷体" panose="02010600040101010101" pitchFamily="2" charset="-122"/>
              </a:rPr>
              <a:t> Competition Training Camp</a:t>
            </a:r>
          </a:p>
        </p:txBody>
      </p:sp>
      <p:pic>
        <p:nvPicPr>
          <p:cNvPr id="5" name="图片 4"/>
          <p:cNvPicPr>
            <a:picLocks noChangeAspect="1"/>
          </p:cNvPicPr>
          <p:nvPr/>
        </p:nvPicPr>
        <p:blipFill>
          <a:blip/>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文本框 5"/>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mc:AlternateContent xmlns:mc="http://schemas.openxmlformats.org/markup-compatibility/2006" xmlns:p14="http://schemas.microsoft.com/office/powerpoint/2010/main">
        <mc:Choice Requires="p14">
          <p:contentPart p14:bwMode="auto" r:id="rId2">
            <p14:nvContentPartPr>
              <p14:cNvPr id="7" name="墨迹 6">
                <a:extLst>
                  <a:ext uri="{FF2B5EF4-FFF2-40B4-BE49-F238E27FC236}">
                    <a16:creationId xmlns:a16="http://schemas.microsoft.com/office/drawing/2014/main" id="{51786FEA-112D-4F78-B610-560C5BCA988B}"/>
                  </a:ext>
                </a:extLst>
              </p14:cNvPr>
              <p14:cNvContentPartPr/>
              <p14:nvPr/>
            </p14:nvContentPartPr>
            <p14:xfrm>
              <a:off x="9078120" y="2185920"/>
              <a:ext cx="9000" cy="2520"/>
            </p14:xfrm>
          </p:contentPart>
        </mc:Choice>
        <mc:Fallback xmlns="">
          <p:pic>
            <p:nvPicPr>
              <p:cNvPr id="7" name="墨迹 6">
                <a:extLst>
                  <a:ext uri="{FF2B5EF4-FFF2-40B4-BE49-F238E27FC236}">
                    <a16:creationId xmlns:a16="http://schemas.microsoft.com/office/drawing/2014/main" id="{51786FEA-112D-4F78-B610-560C5BCA988B}"/>
                  </a:ext>
                </a:extLst>
              </p:cNvPr>
              <p:cNvPicPr/>
              <p:nvPr/>
            </p:nvPicPr>
            <p:blipFill>
              <a:blip r:embed="rId4"/>
              <a:stretch>
                <a:fillRect/>
              </a:stretch>
            </p:blipFill>
            <p:spPr>
              <a:xfrm>
                <a:off x="9068760" y="2176560"/>
                <a:ext cx="277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墨迹 7">
                <a:extLst>
                  <a:ext uri="{FF2B5EF4-FFF2-40B4-BE49-F238E27FC236}">
                    <a16:creationId xmlns:a16="http://schemas.microsoft.com/office/drawing/2014/main" id="{98385616-4DF9-4212-8D71-D2D287605A2C}"/>
                  </a:ext>
                </a:extLst>
              </p14:cNvPr>
              <p14:cNvContentPartPr/>
              <p14:nvPr/>
            </p14:nvContentPartPr>
            <p14:xfrm>
              <a:off x="6737400" y="5481000"/>
              <a:ext cx="18000" cy="17280"/>
            </p14:xfrm>
          </p:contentPart>
        </mc:Choice>
        <mc:Fallback xmlns="">
          <p:pic>
            <p:nvPicPr>
              <p:cNvPr id="8" name="墨迹 7">
                <a:extLst>
                  <a:ext uri="{FF2B5EF4-FFF2-40B4-BE49-F238E27FC236}">
                    <a16:creationId xmlns:a16="http://schemas.microsoft.com/office/drawing/2014/main" id="{98385616-4DF9-4212-8D71-D2D287605A2C}"/>
                  </a:ext>
                </a:extLst>
              </p:cNvPr>
              <p:cNvPicPr/>
              <p:nvPr/>
            </p:nvPicPr>
            <p:blipFill>
              <a:blip r:embed="rId6"/>
              <a:stretch>
                <a:fillRect/>
              </a:stretch>
            </p:blipFill>
            <p:spPr>
              <a:xfrm>
                <a:off x="6728040" y="5471640"/>
                <a:ext cx="36720" cy="36000"/>
              </a:xfrm>
              <a:prstGeom prst="rect">
                <a:avLst/>
              </a:prstGeom>
            </p:spPr>
          </p:pic>
        </mc:Fallback>
      </mc:AlternateContent>
    </p:spTree>
    <p:extLst>
      <p:ext uri="{BB962C8B-B14F-4D97-AF65-F5344CB8AC3E}">
        <p14:creationId xmlns:p14="http://schemas.microsoft.com/office/powerpoint/2010/main" val="1043960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 altLang="en-US" dirty="0"/>
              <a:t>recursive function</a:t>
            </a:r>
            <a:r>
              <a:rPr lang="en-US" altLang="zh-CN" dirty="0"/>
              <a:t>s</a:t>
            </a:r>
            <a:endParaRPr lang="en" altLang="en-US" dirty="0"/>
          </a:p>
        </p:txBody>
      </p:sp>
      <p:sp>
        <p:nvSpPr>
          <p:cNvPr id="3" name="副标题 2"/>
          <p:cNvSpPr>
            <a:spLocks noGrp="1"/>
          </p:cNvSpPr>
          <p:nvPr>
            <p:ph type="subTitle" idx="1"/>
          </p:nvPr>
        </p:nvSpPr>
        <p:spPr/>
        <p:txBody>
          <a:bodyPr/>
          <a:lstStyle/>
          <a:p>
            <a:endParaRPr lang="zh-CN" altLang="en-US" dirty="0"/>
          </a:p>
        </p:txBody>
      </p:sp>
      <p:sp>
        <p:nvSpPr>
          <p:cNvPr id="4" name="文本框 3"/>
          <p:cNvSpPr txBox="1"/>
          <p:nvPr/>
        </p:nvSpPr>
        <p:spPr>
          <a:xfrm>
            <a:off x="9212580" y="6206490"/>
            <a:ext cx="2903359" cy="646331"/>
          </a:xfrm>
          <a:prstGeom prst="rect">
            <a:avLst/>
          </a:prstGeom>
          <a:noFill/>
        </p:spPr>
        <p:txBody>
          <a:bodyPr wrap="none" rtlCol="0">
            <a:spAutoFit/>
          </a:bodyPr>
          <a:lstStyle/>
          <a:p>
            <a:r>
              <a:rPr lang="en-US" altLang="zh-CN" dirty="0">
                <a:latin typeface="华文楷体" panose="02010600040101010101" pitchFamily="2" charset="-122"/>
                <a:ea typeface="华文楷体" panose="02010600040101010101" pitchFamily="2" charset="-122"/>
              </a:rPr>
              <a:t>Mr.</a:t>
            </a:r>
            <a:r>
              <a:rPr lang="zh-CN" altLang="en-US" dirty="0">
                <a:latin typeface="华文楷体" panose="02010600040101010101" pitchFamily="2" charset="-122"/>
                <a:ea typeface="华文楷体" panose="02010600040101010101" pitchFamily="2" charset="-122"/>
              </a:rPr>
              <a:t> </a:t>
            </a:r>
            <a:r>
              <a:rPr lang="en" altLang="en-US" dirty="0">
                <a:latin typeface="华文楷体" panose="02010600040101010101" pitchFamily="2" charset="-122"/>
                <a:ea typeface="华文楷体" panose="02010600040101010101" pitchFamily="2" charset="-122"/>
              </a:rPr>
              <a:t>Gao's Algorithm </a:t>
            </a:r>
          </a:p>
          <a:p>
            <a:r>
              <a:rPr lang="en" altLang="en-US" dirty="0">
                <a:latin typeface="华文楷体" panose="02010600040101010101" pitchFamily="2" charset="-122"/>
                <a:ea typeface="华文楷体" panose="02010600040101010101" pitchFamily="2" charset="-122"/>
              </a:rPr>
              <a:t>Competition Training Camp</a:t>
            </a:r>
          </a:p>
        </p:txBody>
      </p:sp>
      <p:pic>
        <p:nvPicPr>
          <p:cNvPr id="5" name="图片 4"/>
          <p:cNvPicPr>
            <a:picLocks noChangeAspect="1"/>
          </p:cNvPicPr>
          <p:nvPr/>
        </p:nvPicPr>
        <p:blipFill>
          <a:blip/>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文本框 5"/>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p:spTree>
    <p:extLst>
      <p:ext uri="{BB962C8B-B14F-4D97-AF65-F5344CB8AC3E}">
        <p14:creationId xmlns:p14="http://schemas.microsoft.com/office/powerpoint/2010/main" val="4017226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Recursion in daily life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ormAutofit lnSpcReduction="10000"/>
          </a:bodyPr>
          <a:lstStyle/>
          <a:p>
            <a:r>
              <a:rPr lang="en" altLang="en-US" dirty="0">
                <a:latin typeface="Aptos Display" panose="020B0004020202020204" pitchFamily="34" charset="0"/>
              </a:rPr>
              <a:t>Once upon a time, there was a mountain, and on the mountain was a temple. In the temple, an old monk was telling a story to a young monk:</a:t>
            </a:r>
            <a:endParaRPr lang="en-US" altLang="zh-CN" dirty="0">
              <a:latin typeface="Aptos Display" panose="020B0004020202020204" pitchFamily="34" charset="0"/>
            </a:endParaRPr>
          </a:p>
          <a:p>
            <a:pPr marL="0" indent="0">
              <a:buNone/>
            </a:pPr>
            <a:r>
              <a:rPr lang="en" altLang="en-US" dirty="0">
                <a:latin typeface="Aptos Display" panose="020B0004020202020204" pitchFamily="34" charset="0"/>
              </a:rPr>
              <a:t>Once upon a time, there was a mountain, and on the mountain was a temple. In the temple, an old monk was telling a story to a young monk:</a:t>
            </a:r>
            <a:endParaRPr lang="en-US" altLang="zh-CN" dirty="0">
              <a:latin typeface="Aptos Display" panose="020B0004020202020204" pitchFamily="34" charset="0"/>
            </a:endParaRPr>
          </a:p>
          <a:p>
            <a:pPr marL="0" indent="0">
              <a:buNone/>
            </a:pPr>
            <a:r>
              <a:rPr lang="en" altLang="en-US" dirty="0">
                <a:latin typeface="Aptos Display" panose="020B0004020202020204" pitchFamily="34" charset="0"/>
              </a:rPr>
              <a:t>Once upon a time, there was a mountain, and on the mountain was a temple. In the temple, an old monk was telling a story to a young monk:</a:t>
            </a:r>
            <a:endParaRPr lang="en-US" altLang="zh-CN" dirty="0">
              <a:latin typeface="Aptos Display" panose="020B0004020202020204" pitchFamily="34" charset="0"/>
            </a:endParaRPr>
          </a:p>
          <a:p>
            <a:pPr marL="0" indent="0">
              <a:buNone/>
            </a:pPr>
            <a:r>
              <a:rPr lang="en" altLang="en-US" dirty="0">
                <a:latin typeface="Aptos Display" panose="020B0004020202020204" pitchFamily="34" charset="0"/>
              </a:rPr>
              <a:t>Once upon a time, there was a mountain, and on the mountain was a temple. In the temple, an old monk was telling a story to a young monk:</a:t>
            </a:r>
            <a:endParaRPr lang="en-US" altLang="zh-CN" dirty="0">
              <a:latin typeface="Aptos Display" panose="020B0004020202020204" pitchFamily="34" charset="0"/>
            </a:endParaRPr>
          </a:p>
          <a:p>
            <a:pPr marL="0" indent="0">
              <a:buNone/>
            </a:pPr>
            <a:endParaRPr lang="en-US" altLang="zh-CN" dirty="0">
              <a:latin typeface="Aptos Display" panose="020B0004020202020204" pitchFamily="34" charset="0"/>
            </a:endParaRPr>
          </a:p>
          <a:p>
            <a:r>
              <a:rPr lang="en" altLang="en-US" dirty="0">
                <a:latin typeface="Aptos Display" panose="020B0004020202020204" pitchFamily="34" charset="0"/>
              </a:rPr>
              <a:t>What are the characteristics of this story?</a:t>
            </a:r>
            <a:endParaRPr lang="en-US" altLang="zh-CN" dirty="0">
              <a:latin typeface="Aptos Display" panose="020B0004020202020204" pitchFamily="34" charset="0"/>
            </a:endParaRPr>
          </a:p>
          <a:p>
            <a:r>
              <a:rPr lang="en" altLang="en-US" dirty="0">
                <a:latin typeface="Aptos Display" panose="020B0004020202020204" pitchFamily="34" charset="0"/>
              </a:rPr>
              <a:t>When will the story end?</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358623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Example </a:t>
            </a:r>
            <a:r>
              <a:rPr lang="en" altLang="zh-CN" dirty="0">
                <a:solidFill>
                  <a:schemeClr val="bg1"/>
                </a:solidFill>
                <a:latin typeface="Aptos Display" panose="020B0004020202020204" pitchFamily="34" charset="0"/>
              </a:rPr>
              <a:t>1</a:t>
            </a:r>
            <a:endParaRPr lang="zh-CN" altLang="en-US" dirty="0">
              <a:solidFill>
                <a:schemeClr val="bg1"/>
              </a:solidFill>
              <a:latin typeface="Aptos Display" panose="020B0004020202020204" pitchFamily="34" charset="0"/>
            </a:endParaRPr>
          </a:p>
        </p:txBody>
      </p:sp>
      <p:sp>
        <p:nvSpPr>
          <p:cNvPr id="5" name="内容占位符 2">
            <a:extLst>
              <a:ext uri="{FF2B5EF4-FFF2-40B4-BE49-F238E27FC236}">
                <a16:creationId xmlns:a16="http://schemas.microsoft.com/office/drawing/2014/main" id="{2231FC82-4BE0-4E5A-BBF0-54D9EE976083}"/>
              </a:ext>
            </a:extLst>
          </p:cNvPr>
          <p:cNvSpPr txBox="1">
            <a:spLocks/>
          </p:cNvSpPr>
          <p:nvPr/>
        </p:nvSpPr>
        <p:spPr>
          <a:xfrm>
            <a:off x="4681118" y="1187992"/>
            <a:ext cx="2030506" cy="52827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 altLang="en-US" sz="1800" dirty="0">
                <a:latin typeface="Consolas" panose="020B0609020204030204" pitchFamily="49" charset="0"/>
                <a:cs typeface="Consolas" panose="020B0609020204030204" pitchFamily="49" charset="0"/>
              </a:rPr>
              <a:t>Output: </a:t>
            </a:r>
          </a:p>
          <a:p>
            <a:pPr marL="0" indent="0">
              <a:buFont typeface="Arial" panose="020B0604020202020204" pitchFamily="34" charset="0"/>
              <a:buNone/>
            </a:pPr>
            <a:r>
              <a:rPr lang="en" altLang="zh-CN" sz="1800" dirty="0">
                <a:latin typeface="Consolas" panose="020B0609020204030204" pitchFamily="49" charset="0"/>
                <a:cs typeface="Consolas" panose="020B0609020204030204" pitchFamily="49" charset="0"/>
              </a:rPr>
              <a:t>4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3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2 </a:t>
            </a:r>
            <a:br>
              <a:rPr lang="en-US" altLang="zh-CN" sz="1800" dirty="0">
                <a:latin typeface="Consolas" panose="020B0609020204030204" pitchFamily="49" charset="0"/>
                <a:cs typeface="Consolas" panose="020B0609020204030204" pitchFamily="49" charset="0"/>
              </a:rPr>
            </a:br>
            <a:r>
              <a:rPr lang="en" altLang="zh-CN" sz="1800" dirty="0">
                <a:latin typeface="Consolas" panose="020B0609020204030204" pitchFamily="49" charset="0"/>
                <a:cs typeface="Consolas" panose="020B0609020204030204" pitchFamily="49" charset="0"/>
              </a:rPr>
              <a:t>1</a:t>
            </a:r>
          </a:p>
        </p:txBody>
      </p:sp>
      <p:pic>
        <p:nvPicPr>
          <p:cNvPr id="9" name="内容占位符 8">
            <a:extLst>
              <a:ext uri="{FF2B5EF4-FFF2-40B4-BE49-F238E27FC236}">
                <a16:creationId xmlns:a16="http://schemas.microsoft.com/office/drawing/2014/main" id="{8F62D2EE-36BB-A651-38B1-70B02CDCA03D}"/>
              </a:ext>
            </a:extLst>
          </p:cNvPr>
          <p:cNvPicPr>
            <a:picLocks noGrp="1" noChangeAspect="1"/>
          </p:cNvPicPr>
          <p:nvPr>
            <p:ph idx="1"/>
          </p:nvPr>
        </p:nvPicPr>
        <p:blipFill>
          <a:blip/>
          <a:stretch>
            <a:fillRect/>
          </a:stretch>
        </p:blipFill>
        <p:spPr>
          <a:xfrm>
            <a:off x="848129" y="1311965"/>
            <a:ext cx="2872844" cy="4790661"/>
          </a:xfrm>
          <a:prstGeom prst="rect">
            <a:avLst/>
          </a:prstGeom>
        </p:spPr>
      </p:pic>
    </p:spTree>
    <p:extLst>
      <p:ext uri="{BB962C8B-B14F-4D97-AF65-F5344CB8AC3E}">
        <p14:creationId xmlns:p14="http://schemas.microsoft.com/office/powerpoint/2010/main" val="1918888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Example </a:t>
            </a:r>
            <a:r>
              <a:rPr lang="en" altLang="zh-CN" dirty="0">
                <a:solidFill>
                  <a:schemeClr val="bg1"/>
                </a:solidFill>
                <a:latin typeface="Aptos Display" panose="020B0004020202020204" pitchFamily="34" charset="0"/>
              </a:rPr>
              <a:t>1</a:t>
            </a:r>
            <a:endParaRPr lang="zh-CN" altLang="en-US" dirty="0">
              <a:solidFill>
                <a:schemeClr val="bg1"/>
              </a:solidFill>
              <a:latin typeface="Aptos Display" panose="020B0004020202020204" pitchFamily="34" charset="0"/>
            </a:endParaRPr>
          </a:p>
        </p:txBody>
      </p:sp>
      <p:sp>
        <p:nvSpPr>
          <p:cNvPr id="4" name="矩形 3">
            <a:extLst>
              <a:ext uri="{FF2B5EF4-FFF2-40B4-BE49-F238E27FC236}">
                <a16:creationId xmlns:a16="http://schemas.microsoft.com/office/drawing/2014/main" id="{1889E7B1-95F3-40AD-A88C-F603FE99EDB2}"/>
              </a:ext>
            </a:extLst>
          </p:cNvPr>
          <p:cNvSpPr/>
          <p:nvPr/>
        </p:nvSpPr>
        <p:spPr>
          <a:xfrm>
            <a:off x="5516477" y="1486110"/>
            <a:ext cx="3550023"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en-US" sz="2400" dirty="0">
                <a:solidFill>
                  <a:schemeClr val="bg1"/>
                </a:solidFill>
                <a:latin typeface="Aptos Display" panose="020B0004020202020204" pitchFamily="34" charset="0"/>
              </a:rPr>
              <a:t>When a function body contains a statement that calls itself, it is called </a:t>
            </a:r>
            <a:r>
              <a:rPr lang="en" altLang="en-US" sz="2400" dirty="0">
                <a:solidFill>
                  <a:srgbClr val="FF0000"/>
                </a:solidFill>
                <a:latin typeface="Aptos Display" panose="020B0004020202020204" pitchFamily="34" charset="0"/>
              </a:rPr>
              <a:t>recursion</a:t>
            </a:r>
            <a:r>
              <a:rPr lang="en" altLang="en-US" sz="2400" dirty="0">
                <a:solidFill>
                  <a:schemeClr val="bg1"/>
                </a:solidFill>
                <a:latin typeface="Aptos Display" panose="020B0004020202020204" pitchFamily="34" charset="0"/>
              </a:rPr>
              <a:t>.</a:t>
            </a:r>
          </a:p>
        </p:txBody>
      </p:sp>
      <p:sp>
        <p:nvSpPr>
          <p:cNvPr id="6" name="矩形 5">
            <a:extLst>
              <a:ext uri="{FF2B5EF4-FFF2-40B4-BE49-F238E27FC236}">
                <a16:creationId xmlns:a16="http://schemas.microsoft.com/office/drawing/2014/main" id="{52006918-C71E-4E1B-85FE-5154B3E46E65}"/>
              </a:ext>
            </a:extLst>
          </p:cNvPr>
          <p:cNvSpPr/>
          <p:nvPr/>
        </p:nvSpPr>
        <p:spPr>
          <a:xfrm>
            <a:off x="5516476" y="3657326"/>
            <a:ext cx="3550023" cy="10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bg1"/>
                </a:solidFill>
                <a:latin typeface="Aptos Display" panose="020B0004020202020204" pitchFamily="34" charset="0"/>
              </a:rPr>
              <a:t>How</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to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output</a:t>
            </a:r>
            <a:r>
              <a:rPr lang="zh-CN" altLang="en-US" sz="2400" dirty="0">
                <a:solidFill>
                  <a:schemeClr val="bg1"/>
                </a:solidFill>
                <a:latin typeface="Aptos Display" panose="020B0004020202020204" pitchFamily="34" charset="0"/>
              </a:rPr>
              <a:t> </a:t>
            </a:r>
            <a:r>
              <a:rPr lang="en" altLang="zh-CN" sz="2400" dirty="0">
                <a:solidFill>
                  <a:schemeClr val="bg1"/>
                </a:solidFill>
                <a:latin typeface="Consolas" panose="020B0609020204030204" pitchFamily="49" charset="0"/>
                <a:cs typeface="Consolas" panose="020B0609020204030204" pitchFamily="49" charset="0"/>
              </a:rPr>
              <a:t>1 2 3 4 </a:t>
            </a:r>
            <a:r>
              <a:rPr lang="en-US" altLang="zh-CN" sz="2400" dirty="0">
                <a:solidFill>
                  <a:schemeClr val="bg1"/>
                </a:solidFill>
                <a:latin typeface="Aptos Display" panose="020B0004020202020204" pitchFamily="34" charset="0"/>
              </a:rPr>
              <a:t>instead</a:t>
            </a:r>
            <a:r>
              <a:rPr lang="en" altLang="en-US" sz="2400" dirty="0">
                <a:solidFill>
                  <a:schemeClr val="bg1"/>
                </a:solidFill>
                <a:latin typeface="Aptos Display" panose="020B0004020202020204" pitchFamily="34" charset="0"/>
              </a:rPr>
              <a:t>?</a:t>
            </a:r>
            <a:endParaRPr lang="en-US" altLang="zh-CN" sz="2400" dirty="0">
              <a:solidFill>
                <a:schemeClr val="bg1"/>
              </a:solidFill>
              <a:latin typeface="Aptos Display" panose="020B0004020202020204" pitchFamily="34" charset="0"/>
            </a:endParaRPr>
          </a:p>
        </p:txBody>
      </p:sp>
      <p:pic>
        <p:nvPicPr>
          <p:cNvPr id="8" name="内容占位符 7">
            <a:extLst>
              <a:ext uri="{FF2B5EF4-FFF2-40B4-BE49-F238E27FC236}">
                <a16:creationId xmlns:a16="http://schemas.microsoft.com/office/drawing/2014/main" id="{70776FFE-AC93-D44E-E69D-1B792E5484A1}"/>
              </a:ext>
            </a:extLst>
          </p:cNvPr>
          <p:cNvPicPr>
            <a:picLocks noGrp="1" noChangeAspect="1"/>
          </p:cNvPicPr>
          <p:nvPr>
            <p:ph idx="1"/>
          </p:nvPr>
        </p:nvPicPr>
        <p:blipFill>
          <a:blip/>
          <a:stretch>
            <a:fillRect/>
          </a:stretch>
        </p:blipFill>
        <p:spPr>
          <a:xfrm>
            <a:off x="678609" y="1486110"/>
            <a:ext cx="4221904" cy="3761751"/>
          </a:xfrm>
          <a:prstGeom prst="rect">
            <a:avLst/>
          </a:prstGeom>
        </p:spPr>
      </p:pic>
    </p:spTree>
    <p:extLst>
      <p:ext uri="{BB962C8B-B14F-4D97-AF65-F5344CB8AC3E}">
        <p14:creationId xmlns:p14="http://schemas.microsoft.com/office/powerpoint/2010/main" val="167549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What is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function</a:t>
            </a:r>
            <a:r>
              <a:rPr lang="zh-CN" altLang="en-US" dirty="0">
                <a:latin typeface="Aptos Display" panose="020B0004020202020204" pitchFamily="34" charset="0"/>
              </a:rPr>
              <a:t> </a:t>
            </a:r>
            <a:r>
              <a:rPr lang="en-US" altLang="zh-CN" dirty="0">
                <a:latin typeface="Aptos Display" panose="020B0004020202020204" pitchFamily="34" charset="0"/>
              </a:rPr>
              <a:t>that</a:t>
            </a:r>
            <a:r>
              <a:rPr lang="zh-CN" altLang="en-US" dirty="0">
                <a:latin typeface="Aptos Display" panose="020B0004020202020204" pitchFamily="34" charset="0"/>
              </a:rPr>
              <a:t> </a:t>
            </a:r>
            <a:r>
              <a:rPr lang="en-US" altLang="zh-CN" dirty="0">
                <a:latin typeface="Aptos Display" panose="020B0004020202020204" pitchFamily="34" charset="0"/>
              </a:rPr>
              <a:t>calls</a:t>
            </a:r>
            <a:r>
              <a:rPr lang="zh-CN" altLang="en-US" dirty="0">
                <a:latin typeface="Aptos Display" panose="020B0004020202020204" pitchFamily="34" charset="0"/>
              </a:rPr>
              <a:t> </a:t>
            </a:r>
            <a:r>
              <a:rPr lang="en-US" altLang="zh-CN" dirty="0">
                <a:latin typeface="Aptos Display" panose="020B0004020202020204" pitchFamily="34" charset="0"/>
              </a:rPr>
              <a:t>itself</a:t>
            </a:r>
            <a:r>
              <a:rPr lang="zh-CN" altLang="en-US" dirty="0">
                <a:latin typeface="Aptos Display" panose="020B0004020202020204" pitchFamily="34" charset="0"/>
              </a:rPr>
              <a:t> </a:t>
            </a:r>
            <a:r>
              <a:rPr lang="en" altLang="en-US" dirty="0">
                <a:latin typeface="Aptos Display" panose="020B0004020202020204" pitchFamily="34" charset="0"/>
              </a:rPr>
              <a:t>directly or indirectly.</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r>
              <a:rPr lang="en" altLang="en-US" dirty="0">
                <a:latin typeface="Aptos Display" panose="020B0004020202020204" pitchFamily="34" charset="0"/>
              </a:rPr>
              <a:t>The two main elements of a recursive function:</a:t>
            </a:r>
            <a:endParaRPr lang="en-US" altLang="zh-CN" dirty="0">
              <a:latin typeface="Aptos Display" panose="020B0004020202020204" pitchFamily="34" charset="0"/>
            </a:endParaRPr>
          </a:p>
          <a:p>
            <a:pPr lvl="1"/>
            <a:r>
              <a:rPr lang="en-US" altLang="zh-CN" dirty="0">
                <a:latin typeface="Aptos Display" panose="020B0004020202020204" pitchFamily="34" charset="0"/>
              </a:rPr>
              <a:t>Recursive</a:t>
            </a:r>
            <a:r>
              <a:rPr lang="zh-CN" altLang="en-US" dirty="0">
                <a:latin typeface="Aptos Display" panose="020B0004020202020204" pitchFamily="34" charset="0"/>
              </a:rPr>
              <a:t> </a:t>
            </a:r>
            <a:r>
              <a:rPr lang="en-US" altLang="zh-CN" dirty="0">
                <a:latin typeface="Aptos Display" panose="020B0004020202020204" pitchFamily="34" charset="0"/>
              </a:rPr>
              <a:t>case(s)</a:t>
            </a:r>
            <a:r>
              <a:rPr lang="en" altLang="en-US" dirty="0">
                <a:latin typeface="Aptos Display" panose="020B0004020202020204" pitchFamily="34" charset="0"/>
              </a:rPr>
              <a:t>: A description of a problem in a recursive form.</a:t>
            </a:r>
            <a:endParaRPr lang="en-US" altLang="zh-CN" dirty="0">
              <a:latin typeface="Aptos Display" panose="020B0004020202020204" pitchFamily="34" charset="0"/>
            </a:endParaRPr>
          </a:p>
          <a:p>
            <a:pPr lvl="1"/>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case(s):</a:t>
            </a:r>
            <a:r>
              <a:rPr lang="zh-CN" altLang="en-US" dirty="0">
                <a:latin typeface="Aptos Display" panose="020B0004020202020204" pitchFamily="34" charset="0"/>
              </a:rPr>
              <a:t> </a:t>
            </a:r>
            <a:r>
              <a:rPr lang="en" altLang="en-US" dirty="0">
                <a:latin typeface="Aptos Display" panose="020B0004020202020204" pitchFamily="34" charset="0"/>
              </a:rPr>
              <a:t>should be treated as a special case, rather than using the recursive </a:t>
            </a:r>
            <a:r>
              <a:rPr lang="en-US" altLang="zh-CN" dirty="0">
                <a:latin typeface="Aptos Display" panose="020B0004020202020204" pitchFamily="34" charset="0"/>
              </a:rPr>
              <a:t>case</a:t>
            </a:r>
            <a:r>
              <a:rPr lang="en" altLang="en-US" dirty="0">
                <a:latin typeface="Aptos Display" panose="020B0004020202020204" pitchFamily="34" charset="0"/>
              </a:rPr>
              <a:t>.</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r>
              <a:rPr lang="en-US" altLang="zh-CN" dirty="0">
                <a:latin typeface="Aptos Display" panose="020B0004020202020204" pitchFamily="34" charset="0"/>
              </a:rPr>
              <a:t>Two</a:t>
            </a:r>
            <a:r>
              <a:rPr lang="zh-CN" altLang="en-US" dirty="0">
                <a:latin typeface="Aptos Display" panose="020B0004020202020204" pitchFamily="34" charset="0"/>
              </a:rPr>
              <a:t> </a:t>
            </a:r>
            <a:r>
              <a:rPr lang="en-US" altLang="zh-CN" dirty="0">
                <a:latin typeface="Aptos Display" panose="020B0004020202020204" pitchFamily="34" charset="0"/>
              </a:rPr>
              <a:t>pre-requisites</a:t>
            </a:r>
            <a:r>
              <a:rPr lang="zh-CN" altLang="en-US" dirty="0">
                <a:latin typeface="Aptos Display" panose="020B0004020202020204" pitchFamily="34" charset="0"/>
              </a:rPr>
              <a:t> </a:t>
            </a:r>
            <a:r>
              <a:rPr lang="en-US" altLang="zh-CN" dirty="0">
                <a:latin typeface="Aptos Display" panose="020B0004020202020204" pitchFamily="34" charset="0"/>
              </a:rPr>
              <a:t>for</a:t>
            </a:r>
            <a:r>
              <a:rPr lang="zh-CN" altLang="en-US" dirty="0">
                <a:latin typeface="Aptos Display" panose="020B0004020202020204" pitchFamily="34" charset="0"/>
              </a:rPr>
              <a:t> </a:t>
            </a:r>
            <a:r>
              <a:rPr lang="en-US" altLang="zh-CN" dirty="0">
                <a:latin typeface="Aptos Display" panose="020B0004020202020204" pitchFamily="34" charset="0"/>
              </a:rPr>
              <a:t>p</a:t>
            </a:r>
            <a:r>
              <a:rPr lang="en" altLang="en-US" dirty="0" err="1">
                <a:latin typeface="Aptos Display" panose="020B0004020202020204" pitchFamily="34" charset="0"/>
              </a:rPr>
              <a:t>roblems</a:t>
            </a:r>
            <a:r>
              <a:rPr lang="e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be</a:t>
            </a:r>
            <a:r>
              <a:rPr lang="en" altLang="en-US" dirty="0">
                <a:latin typeface="Aptos Display" panose="020B0004020202020204" pitchFamily="34" charset="0"/>
              </a:rPr>
              <a:t> solved recursively:</a:t>
            </a:r>
            <a:endParaRPr lang="en-US" altLang="zh-CN" dirty="0">
              <a:latin typeface="Aptos Display" panose="020B0004020202020204" pitchFamily="34" charset="0"/>
            </a:endParaRPr>
          </a:p>
          <a:p>
            <a:pPr lvl="1"/>
            <a:r>
              <a:rPr lang="en" altLang="en-US" dirty="0">
                <a:latin typeface="Aptos Display" panose="020B0004020202020204" pitchFamily="34" charset="0"/>
              </a:rPr>
              <a:t>It is possible to transform </a:t>
            </a:r>
            <a:r>
              <a:rPr lang="en-US" altLang="zh-CN" dirty="0">
                <a:latin typeface="Aptos Display" panose="020B0004020202020204" pitchFamily="34" charset="0"/>
              </a:rPr>
              <a:t>the</a:t>
            </a:r>
            <a:r>
              <a:rPr lang="en" altLang="en-US" dirty="0">
                <a:latin typeface="Aptos Display" panose="020B0004020202020204" pitchFamily="34" charset="0"/>
              </a:rPr>
              <a:t> problem into a new problem, and the solution to the new problem is exactly the same as </a:t>
            </a:r>
            <a:r>
              <a:rPr lang="en-US" altLang="zh-CN" dirty="0">
                <a:latin typeface="Aptos Display" panose="020B0004020202020204" pitchFamily="34" charset="0"/>
              </a:rPr>
              <a:t>that</a:t>
            </a:r>
            <a:r>
              <a:rPr lang="zh-CN" altLang="en-US" dirty="0">
                <a:latin typeface="Aptos Display" panose="020B0004020202020204" pitchFamily="34" charset="0"/>
              </a:rPr>
              <a:t> </a:t>
            </a:r>
            <a:r>
              <a:rPr lang="en" altLang="en-US" dirty="0">
                <a:latin typeface="Aptos Display" panose="020B0004020202020204" pitchFamily="34" charset="0"/>
              </a:rPr>
              <a:t>to the original, only the </a:t>
            </a:r>
            <a:r>
              <a:rPr lang="en-US" altLang="zh-CN" dirty="0">
                <a:latin typeface="Aptos Display" panose="020B0004020202020204" pitchFamily="34" charset="0"/>
              </a:rPr>
              <a:t>size</a:t>
            </a:r>
            <a:r>
              <a:rPr lang="en" altLang="en-US" dirty="0">
                <a:latin typeface="Aptos Display" panose="020B0004020202020204" pitchFamily="34" charset="0"/>
              </a:rPr>
              <a:t> of the </a:t>
            </a:r>
            <a:r>
              <a:rPr lang="en-US" altLang="zh-CN" dirty="0">
                <a:latin typeface="Aptos Display" panose="020B0004020202020204" pitchFamily="34" charset="0"/>
              </a:rPr>
              <a:t>input</a:t>
            </a:r>
            <a:r>
              <a:rPr lang="en" altLang="en-US" dirty="0">
                <a:latin typeface="Aptos Display" panose="020B0004020202020204" pitchFamily="34" charset="0"/>
              </a:rPr>
              <a:t> different.</a:t>
            </a:r>
          </a:p>
          <a:p>
            <a:pPr lvl="1"/>
            <a:r>
              <a:rPr lang="en" altLang="en-US" dirty="0">
                <a:latin typeface="Aptos Display" panose="020B0004020202020204" pitchFamily="34" charset="0"/>
              </a:rPr>
              <a:t>There is</a:t>
            </a:r>
            <a:r>
              <a:rPr lang="zh-CN" altLang="en-US" dirty="0">
                <a:latin typeface="Aptos Display" panose="020B0004020202020204" pitchFamily="34" charset="0"/>
              </a:rPr>
              <a:t>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clearly</a:t>
            </a:r>
            <a:r>
              <a:rPr lang="zh-CN" altLang="en-US" dirty="0">
                <a:latin typeface="Aptos Display" panose="020B0004020202020204" pitchFamily="34" charset="0"/>
              </a:rPr>
              <a:t> </a:t>
            </a:r>
            <a:r>
              <a:rPr lang="en-US" altLang="zh-CN" dirty="0">
                <a:latin typeface="Aptos Display" panose="020B0004020202020204" pitchFamily="34" charset="0"/>
              </a:rPr>
              <a:t>defined</a:t>
            </a:r>
            <a:r>
              <a:rPr lang="zh-CN" altLang="en-US" dirty="0">
                <a:latin typeface="Aptos Display" panose="020B0004020202020204" pitchFamily="34" charset="0"/>
              </a:rPr>
              <a:t> </a:t>
            </a:r>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a:t>
            </a:r>
            <a:r>
              <a:rPr lang="en" altLang="en-US" dirty="0">
                <a:latin typeface="Aptos Display" panose="020B0004020202020204" pitchFamily="34" charset="0"/>
              </a:rPr>
              <a:t>.</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32037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latin typeface="Aptos Display" panose="020B0004020202020204" pitchFamily="34" charset="0"/>
              </a:rPr>
              <a:t>The execution process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The execution of a recursive function always occurs before one function body has finished executing. The function takes the result of the current execution and enters another round of function body execution, </a:t>
            </a:r>
            <a:r>
              <a:rPr lang="en" altLang="zh-CN" dirty="0">
                <a:latin typeface="Aptos Display" panose="020B0004020202020204" pitchFamily="34" charset="0"/>
              </a:rPr>
              <a:t>and </a:t>
            </a:r>
            <a:r>
              <a:rPr lang="en" altLang="en-US" dirty="0">
                <a:latin typeface="Aptos Display" panose="020B0004020202020204" pitchFamily="34" charset="0"/>
              </a:rPr>
              <a:t>so on, going deeper and deeper, until the execution of a function encounters </a:t>
            </a:r>
            <a:r>
              <a:rPr lang="en" altLang="en-US" dirty="0">
                <a:solidFill>
                  <a:srgbClr val="FF0000"/>
                </a:solidFill>
                <a:latin typeface="Aptos Display" panose="020B0004020202020204" pitchFamily="34" charset="0"/>
              </a:rPr>
              <a:t>the boundary condition for terminating the recursion </a:t>
            </a:r>
            <a:r>
              <a:rPr lang="en" altLang="en-US" dirty="0">
                <a:latin typeface="Aptos Display" panose="020B0004020202020204" pitchFamily="34" charset="0"/>
              </a:rPr>
              <a:t>. At this point, it stops going deeper and executes the remaining part of the function body for the current call, and then returns to the function body of the previous call to execute the remaining part, </a:t>
            </a:r>
            <a:r>
              <a:rPr lang="en" altLang="zh-CN" dirty="0">
                <a:latin typeface="Aptos Display" panose="020B0004020202020204" pitchFamily="34" charset="0"/>
              </a:rPr>
              <a:t>and </a:t>
            </a:r>
            <a:r>
              <a:rPr lang="en" altLang="en-US" dirty="0">
                <a:latin typeface="Aptos Display" panose="020B0004020202020204" pitchFamily="34" charset="0"/>
              </a:rPr>
              <a:t>so on, until it returns to the starting position, and finally ends the execution of the entire recursive function and obtains the corresponding execution result.</a:t>
            </a:r>
            <a:endParaRPr lang="en-US" altLang="zh-CN" dirty="0">
              <a:latin typeface="Aptos Display" panose="020B0004020202020204" pitchFamily="34" charset="0"/>
            </a:endParaRPr>
          </a:p>
        </p:txBody>
      </p:sp>
      <p:pic>
        <p:nvPicPr>
          <p:cNvPr id="4" name="Picture 3" descr="http:/www.chinaschool.org/aosai/axpy/sjjg/images/0226-1.gif">
            <a:extLst>
              <a:ext uri="{FF2B5EF4-FFF2-40B4-BE49-F238E27FC236}">
                <a16:creationId xmlns:a16="http://schemas.microsoft.com/office/drawing/2014/main" id="{A5AFF0C9-2A3E-4C97-92B6-D30535935D55}"/>
              </a:ext>
            </a:extLst>
          </p:cNvPr>
          <p:cNvPicPr>
            <a:picLocks noChangeAspect="1" noChangeArrowheads="1"/>
          </p:cNvPicPr>
          <p:nvPr/>
        </p:nvPicPr>
        <p:blipFill>
          <a:blip r:link="rId2">
            <a:extLst>
              <a:ext uri="{28A0092B-C50C-407E-A947-70E740481C1C}">
                <a14:useLocalDpi xmlns:a14="http://schemas.microsoft.com/office/drawing/2010/main" val="0"/>
              </a:ext>
            </a:extLst>
          </a:blip>
          <a:srcRect/>
          <a:stretch>
            <a:fillRect/>
          </a:stretch>
        </p:blipFill>
        <p:spPr bwMode="auto">
          <a:xfrm>
            <a:off x="3119809" y="4294784"/>
            <a:ext cx="5486400" cy="2365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0854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D3057949-6E1D-43E3-97AA-5C29B76E9F60}"/>
              </a:ext>
            </a:extLst>
          </p:cNvPr>
          <p:cNvPicPr>
            <a:picLocks noChangeAspect="1"/>
          </p:cNvPicPr>
          <p:nvPr/>
        </p:nvPicPr>
        <p:blipFill>
          <a:blip/>
          <a:stretch>
            <a:fillRect/>
          </a:stretch>
        </p:blipFill>
        <p:spPr>
          <a:xfrm>
            <a:off x="5234241" y="2434441"/>
            <a:ext cx="5374138" cy="3657601"/>
          </a:xfrm>
          <a:prstGeom prst="rect">
            <a:avLst/>
          </a:prstGeom>
        </p:spPr>
      </p:pic>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execution process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If a recursive function calls itself more than once, then the entire execution process of the recursive function can be viewed as a recursive call tree.</a:t>
            </a:r>
            <a:endParaRPr lang="en-US" altLang="zh-CN" dirty="0">
              <a:latin typeface="Aptos Display" panose="020B0004020202020204" pitchFamily="34" charset="0"/>
            </a:endParaRPr>
          </a:p>
        </p:txBody>
      </p:sp>
      <p:pic>
        <p:nvPicPr>
          <p:cNvPr id="4" name="图片 3">
            <a:extLst>
              <a:ext uri="{FF2B5EF4-FFF2-40B4-BE49-F238E27FC236}">
                <a16:creationId xmlns:a16="http://schemas.microsoft.com/office/drawing/2014/main" id="{F2ABDFBA-6CFC-D759-B406-3DA3A6EC3EA1}"/>
              </a:ext>
            </a:extLst>
          </p:cNvPr>
          <p:cNvPicPr>
            <a:picLocks noChangeAspect="1"/>
          </p:cNvPicPr>
          <p:nvPr/>
        </p:nvPicPr>
        <p:blipFill>
          <a:blip/>
          <a:stretch>
            <a:fillRect/>
          </a:stretch>
        </p:blipFill>
        <p:spPr>
          <a:xfrm>
            <a:off x="731785" y="2592912"/>
            <a:ext cx="4502456" cy="3657601"/>
          </a:xfrm>
          <a:prstGeom prst="rect">
            <a:avLst/>
          </a:prstGeom>
        </p:spPr>
      </p:pic>
    </p:spTree>
    <p:extLst>
      <p:ext uri="{BB962C8B-B14F-4D97-AF65-F5344CB8AC3E}">
        <p14:creationId xmlns:p14="http://schemas.microsoft.com/office/powerpoint/2010/main" val="421066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execution process of a recursive function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1" y="1486110"/>
            <a:ext cx="10834779" cy="5282749"/>
          </a:xfrm>
        </p:spPr>
        <p:txBody>
          <a:bodyPr>
            <a:normAutofit/>
          </a:bodyPr>
          <a:lstStyle/>
          <a:p>
            <a:r>
              <a:rPr lang="en" altLang="en-US" dirty="0">
                <a:latin typeface="Aptos Display" panose="020B0004020202020204" pitchFamily="34" charset="0"/>
              </a:rPr>
              <a:t>Recursive functions typically have local variables </a:t>
            </a:r>
            <a:r>
              <a:rPr lang="en" altLang="zh-CN" dirty="0">
                <a:latin typeface="Aptos Display" panose="020B0004020202020204" pitchFamily="34" charset="0"/>
              </a:rPr>
              <a:t>( </a:t>
            </a:r>
            <a:r>
              <a:rPr lang="en" altLang="en-US" dirty="0">
                <a:latin typeface="Aptos Display" panose="020B0004020202020204" pitchFamily="34" charset="0"/>
              </a:rPr>
              <a:t>such as 'n' in this example </a:t>
            </a:r>
            <a:r>
              <a:rPr lang="en" altLang="zh-CN" dirty="0">
                <a:latin typeface="Aptos Display" panose="020B0004020202020204" pitchFamily="34" charset="0"/>
              </a:rPr>
              <a:t>) </a:t>
            </a:r>
            <a:r>
              <a:rPr lang="en" altLang="en-US" dirty="0">
                <a:latin typeface="Aptos Display" panose="020B0004020202020204" pitchFamily="34" charset="0"/>
              </a:rPr>
              <a:t>. These local variables only become meaningless after the entire function body has finished executing. Each recursive call must generate a new set of local variables. Although these new local variables have the same names as the original local variables, they are allocated different storage spaces and their values are completely unrelated.</a:t>
            </a:r>
            <a:endParaRPr lang="en-US" altLang="zh-CN" dirty="0">
              <a:latin typeface="Aptos Display" panose="020B0004020202020204" pitchFamily="34" charset="0"/>
            </a:endParaRPr>
          </a:p>
        </p:txBody>
      </p:sp>
      <p:sp>
        <p:nvSpPr>
          <p:cNvPr id="6" name="Text Box 5">
            <a:extLst>
              <a:ext uri="{FF2B5EF4-FFF2-40B4-BE49-F238E27FC236}">
                <a16:creationId xmlns:a16="http://schemas.microsoft.com/office/drawing/2014/main" id="{8AD63FB8-61AA-49B5-A87A-30CE2F282C6F}"/>
              </a:ext>
            </a:extLst>
          </p:cNvPr>
          <p:cNvSpPr txBox="1">
            <a:spLocks noChangeArrowheads="1"/>
          </p:cNvSpPr>
          <p:nvPr/>
        </p:nvSpPr>
        <p:spPr bwMode="auto">
          <a:xfrm>
            <a:off x="5303640" y="4547832"/>
            <a:ext cx="5178279" cy="686563"/>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defRPr sz="240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 altLang="zh-CN" sz="2800" dirty="0">
                <a:latin typeface="Aptos Display" panose="020B0004020202020204" pitchFamily="34" charset="0"/>
              </a:rPr>
              <a:t>P(4)-&gt;P(3)-&gt;P(2)-&gt;P(1)-&gt;P(0)</a:t>
            </a:r>
          </a:p>
        </p:txBody>
      </p:sp>
      <p:pic>
        <p:nvPicPr>
          <p:cNvPr id="4" name="内容占位符 7">
            <a:extLst>
              <a:ext uri="{FF2B5EF4-FFF2-40B4-BE49-F238E27FC236}">
                <a16:creationId xmlns:a16="http://schemas.microsoft.com/office/drawing/2014/main" id="{9A179EAB-3BC4-FDD9-3E7F-4F565CCAFD25}"/>
              </a:ext>
            </a:extLst>
          </p:cNvPr>
          <p:cNvPicPr>
            <a:picLocks noChangeAspect="1"/>
          </p:cNvPicPr>
          <p:nvPr/>
        </p:nvPicPr>
        <p:blipFill>
          <a:blip/>
          <a:stretch>
            <a:fillRect/>
          </a:stretch>
        </p:blipFill>
        <p:spPr>
          <a:xfrm>
            <a:off x="980304" y="3347400"/>
            <a:ext cx="3940031" cy="3510600"/>
          </a:xfrm>
          <a:prstGeom prst="rect">
            <a:avLst/>
          </a:prstGeom>
        </p:spPr>
      </p:pic>
    </p:spTree>
    <p:extLst>
      <p:ext uri="{BB962C8B-B14F-4D97-AF65-F5344CB8AC3E}">
        <p14:creationId xmlns:p14="http://schemas.microsoft.com/office/powerpoint/2010/main" val="2422149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a:t>
            </a:r>
            <a:r>
              <a:rPr lang="en" altLang="en-US" dirty="0">
                <a:solidFill>
                  <a:schemeClr val="bg1"/>
                </a:solidFill>
                <a:latin typeface="Aptos Display" panose="020B0004020202020204" pitchFamily="34" charset="0"/>
              </a:rPr>
              <a:t>: Find </a:t>
            </a:r>
            <a:r>
              <a:rPr lang="en" altLang="zh-CN" dirty="0">
                <a:solidFill>
                  <a:schemeClr val="bg1"/>
                </a:solidFill>
                <a:latin typeface="Aptos Display" panose="020B0004020202020204" pitchFamily="34" charset="0"/>
              </a:rPr>
              <a:t>n!</a:t>
            </a:r>
            <a:endParaRPr lang="zh-C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e>
                    </m:d>
                  </m:oMath>
                </a14:m>
                <a:r>
                  <a:rPr lang="en" altLang="zh-CN" i="1" dirty="0">
                    <a:latin typeface="Aptos Display" panose="020B0004020202020204" pitchFamily="34" charset="0"/>
                  </a:rPr>
                  <a:t> </a:t>
                </a:r>
                <a:r>
                  <a:rPr lang="en-US" altLang="zh-CN" i="1" dirty="0">
                    <a:latin typeface="Aptos Display" panose="020B0004020202020204" pitchFamily="34" charset="0"/>
                  </a:rPr>
                  <a:t>=</a:t>
                </a:r>
                <a:r>
                  <a:rPr lang="en" altLang="en-US" i="1"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𝑛</m:t>
                    </m:r>
                    <m:r>
                      <a:rPr lang="en-US" altLang="zh-CN" b="0" i="1">
                        <a:latin typeface="Cambria Math" panose="02040503050406030204" pitchFamily="18" charset="0"/>
                      </a:rPr>
                      <m:t>!</m:t>
                    </m:r>
                  </m:oMath>
                </a14:m>
                <a:r>
                  <a:rPr lang="en" altLang="en-US" dirty="0">
                    <a:latin typeface="Aptos Display" panose="020B0004020202020204" pitchFamily="34" charset="0"/>
                  </a:rPr>
                  <a:t>, then</a:t>
                </a:r>
                <a:r>
                  <a:rPr lang="zh-CN" altLang="en-US"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𝑓</m:t>
                    </m:r>
                    <m:d>
                      <m:dPr>
                        <m:ctrlPr>
                          <a:rPr lang="en-US" altLang="zh-CN" i="1">
                            <a:latin typeface="Cambria Math" panose="02040503050406030204" pitchFamily="18" charset="0"/>
                          </a:rPr>
                        </m:ctrlPr>
                      </m:dPr>
                      <m:e>
                        <m:r>
                          <a:rPr lang="en-US" altLang="zh-CN" b="0" i="1">
                            <a:latin typeface="Cambria Math" panose="02040503050406030204" pitchFamily="18" charset="0"/>
                          </a:rPr>
                          <m:t>𝑛</m:t>
                        </m:r>
                        <m:r>
                          <a:rPr lang="en-US" altLang="zh-CN" b="0" i="1" smtClean="0">
                            <a:latin typeface="Cambria Math" panose="02040503050406030204" pitchFamily="18" charset="0"/>
                          </a:rPr>
                          <m:t>−1</m:t>
                        </m:r>
                      </m:e>
                    </m:d>
                  </m:oMath>
                </a14:m>
                <a:r>
                  <a:rPr lang="en" altLang="zh-CN" i="1" dirty="0">
                    <a:latin typeface="Aptos Display" panose="020B0004020202020204" pitchFamily="34" charset="0"/>
                  </a:rPr>
                  <a:t> </a:t>
                </a:r>
                <a:r>
                  <a:rPr lang="en-US" altLang="zh-CN" i="1" dirty="0">
                    <a:latin typeface="Aptos Display" panose="020B0004020202020204" pitchFamily="34" charset="0"/>
                  </a:rPr>
                  <a:t>=</a:t>
                </a:r>
                <a14:m>
                  <m:oMath xmlns:m="http://schemas.openxmlformats.org/officeDocument/2006/math">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en-US" altLang="zh-CN" b="0" i="1">
                        <a:latin typeface="Cambria Math" panose="02040503050406030204" pitchFamily="18" charset="0"/>
                      </a:rPr>
                      <m:t>𝑛</m:t>
                    </m:r>
                    <m:r>
                      <a:rPr lang="en-US" altLang="zh-CN" b="0" i="1" smtClean="0">
                        <a:latin typeface="Cambria Math" panose="02040503050406030204" pitchFamily="18" charset="0"/>
                      </a:rPr>
                      <m:t>−1)</m:t>
                    </m:r>
                    <m:r>
                      <a:rPr lang="en-US" altLang="zh-CN" b="0" i="1">
                        <a:latin typeface="Cambria Math" panose="02040503050406030204" pitchFamily="18" charset="0"/>
                      </a:rPr>
                      <m:t>!</m:t>
                    </m:r>
                  </m:oMath>
                </a14:m>
                <a:endParaRPr lang="en-US" altLang="zh-CN" i="1" dirty="0">
                  <a:latin typeface="Aptos Display" panose="020B0004020202020204" pitchFamily="34" charset="0"/>
                </a:endParaRPr>
              </a:p>
              <a:p>
                <a:r>
                  <a:rPr lang="en" altLang="en-US" dirty="0">
                    <a:latin typeface="Aptos Display" panose="020B0004020202020204" pitchFamily="34" charset="0"/>
                  </a:rPr>
                  <a:t>Recursive </a:t>
                </a:r>
                <a:r>
                  <a:rPr lang="en-US" altLang="zh-CN" dirty="0">
                    <a:latin typeface="Aptos Display" panose="020B0004020202020204" pitchFamily="34" charset="0"/>
                  </a:rPr>
                  <a:t>case</a:t>
                </a:r>
                <a:r>
                  <a:rPr lang="en" altLang="en-US" dirty="0">
                    <a:latin typeface="Aptos Display" panose="020B0004020202020204" pitchFamily="34" charset="0"/>
                  </a:rPr>
                  <a:t>:</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𝑛</m:t>
                    </m:r>
                  </m:oMath>
                </a14:m>
                <a:endParaRPr lang="en-US" altLang="zh-CN" i="1" dirty="0">
                  <a:latin typeface="Aptos Display" panose="020B0004020202020204" pitchFamily="34" charset="0"/>
                </a:endParaRPr>
              </a:p>
              <a:p>
                <a:r>
                  <a:rPr lang="en-US" altLang="zh-CN" dirty="0">
                    <a:latin typeface="Aptos Display" panose="020B0004020202020204" pitchFamily="34" charset="0"/>
                  </a:rPr>
                  <a:t>Base</a:t>
                </a:r>
                <a:r>
                  <a:rPr lang="zh-CN" altLang="en-US" dirty="0">
                    <a:latin typeface="Aptos Display" panose="020B0004020202020204" pitchFamily="34" charset="0"/>
                  </a:rPr>
                  <a:t> </a:t>
                </a:r>
                <a:r>
                  <a:rPr lang="en-US" altLang="zh-CN" dirty="0">
                    <a:latin typeface="Aptos Display" panose="020B0004020202020204" pitchFamily="34" charset="0"/>
                  </a:rPr>
                  <a:t>case</a:t>
                </a:r>
                <a:r>
                  <a:rPr lang="en" altLang="en-US" dirty="0">
                    <a:latin typeface="Aptos Display" panose="020B0004020202020204" pitchFamily="34" charset="0"/>
                  </a:rPr>
                  <a:t>:</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=0, </m:t>
                    </m:r>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=1</m:t>
                    </m:r>
                  </m:oMath>
                </a14:m>
                <a:endParaRPr lang="en-US" altLang="zh-CN" i="1"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5884608" y="2484783"/>
            <a:ext cx="5682168" cy="3275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bg1"/>
                </a:solidFill>
                <a:latin typeface="Aptos Display" panose="020B0004020202020204" pitchFamily="34" charset="0"/>
              </a:rPr>
              <a:t>R</a:t>
            </a:r>
            <a:r>
              <a:rPr lang="en" altLang="en-US" sz="2400" dirty="0" err="1">
                <a:solidFill>
                  <a:schemeClr val="bg1"/>
                </a:solidFill>
                <a:latin typeface="Aptos Display" panose="020B0004020202020204" pitchFamily="34" charset="0"/>
              </a:rPr>
              <a:t>ecursion</a:t>
            </a:r>
            <a:r>
              <a:rPr lang="en" altLang="en-US" sz="2400" dirty="0">
                <a:solidFill>
                  <a:schemeClr val="bg1"/>
                </a:solidFill>
                <a:latin typeface="Aptos Display" panose="020B0004020202020204" pitchFamily="34" charset="0"/>
              </a:rPr>
              <a:t> cannot </a:t>
            </a:r>
            <a:r>
              <a:rPr lang="en-US" altLang="zh-CN" sz="2400" dirty="0">
                <a:solidFill>
                  <a:schemeClr val="bg1"/>
                </a:solidFill>
                <a:latin typeface="Aptos Display" panose="020B0004020202020204" pitchFamily="34" charset="0"/>
              </a:rPr>
              <a:t>go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on</a:t>
            </a:r>
            <a:r>
              <a:rPr lang="en" altLang="en-US" sz="2400" dirty="0">
                <a:solidFill>
                  <a:schemeClr val="bg1"/>
                </a:solidFill>
                <a:latin typeface="Aptos Display" panose="020B0004020202020204" pitchFamily="34" charset="0"/>
              </a:rPr>
              <a:t> indefinitely.</a:t>
            </a:r>
            <a:endParaRPr lang="en-US" altLang="zh-CN" sz="2400" dirty="0">
              <a:solidFill>
                <a:schemeClr val="bg1"/>
              </a:solidFill>
              <a:latin typeface="Aptos Display" panose="020B0004020202020204" pitchFamily="34" charset="0"/>
            </a:endParaRPr>
          </a:p>
          <a:p>
            <a:endParaRPr lang="en-US" altLang="zh-CN" sz="2400" dirty="0">
              <a:solidFill>
                <a:schemeClr val="bg1"/>
              </a:solidFill>
              <a:latin typeface="Aptos Display" panose="020B0004020202020204" pitchFamily="34" charset="0"/>
            </a:endParaRPr>
          </a:p>
          <a:p>
            <a:r>
              <a:rPr lang="en-US" altLang="zh-CN" sz="2400" dirty="0">
                <a:solidFill>
                  <a:schemeClr val="bg1"/>
                </a:solidFill>
                <a:latin typeface="Aptos Display" panose="020B0004020202020204" pitchFamily="34" charset="0"/>
              </a:rPr>
              <a:t>Base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case</a:t>
            </a:r>
            <a:r>
              <a:rPr lang="en" altLang="en-US" sz="2400" dirty="0">
                <a:solidFill>
                  <a:schemeClr val="bg1"/>
                </a:solidFill>
                <a:latin typeface="Aptos Display" panose="020B0004020202020204" pitchFamily="34" charset="0"/>
              </a:rPr>
              <a:t> determines when to stop recursion.</a:t>
            </a:r>
            <a:endParaRPr lang="en-US" altLang="zh-CN" sz="2400" dirty="0">
              <a:solidFill>
                <a:schemeClr val="bg1"/>
              </a:solidFill>
              <a:latin typeface="Aptos Display" panose="020B0004020202020204" pitchFamily="34" charset="0"/>
            </a:endParaRPr>
          </a:p>
          <a:p>
            <a:endParaRPr lang="en-US" altLang="zh-CN" sz="2400" dirty="0">
              <a:solidFill>
                <a:schemeClr val="bg1"/>
              </a:solidFill>
              <a:latin typeface="Aptos Display" panose="020B0004020202020204" pitchFamily="34" charset="0"/>
            </a:endParaRPr>
          </a:p>
          <a:p>
            <a:r>
              <a:rPr lang="en-US" altLang="zh-CN" sz="2400" dirty="0">
                <a:solidFill>
                  <a:schemeClr val="bg1"/>
                </a:solidFill>
                <a:latin typeface="Aptos Display" panose="020B0004020202020204" pitchFamily="34" charset="0"/>
              </a:rPr>
              <a:t>Recursive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case</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defines</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how</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to</a:t>
            </a:r>
            <a:r>
              <a:rPr lang="zh-CN" altLang="en-US" sz="2400" dirty="0">
                <a:solidFill>
                  <a:schemeClr val="bg1"/>
                </a:solidFill>
                <a:latin typeface="Aptos Display" panose="020B0004020202020204" pitchFamily="34" charset="0"/>
              </a:rPr>
              <a:t> </a:t>
            </a:r>
            <a:r>
              <a:rPr lang="en-US" altLang="zh-CN" sz="2400" dirty="0">
                <a:solidFill>
                  <a:schemeClr val="bg1"/>
                </a:solidFill>
                <a:latin typeface="Aptos Display" panose="020B0004020202020204" pitchFamily="34" charset="0"/>
              </a:rPr>
              <a:t>c</a:t>
            </a:r>
            <a:r>
              <a:rPr lang="en" altLang="en-US" sz="2400" dirty="0" err="1">
                <a:solidFill>
                  <a:schemeClr val="bg1"/>
                </a:solidFill>
                <a:latin typeface="Aptos Display" panose="020B0004020202020204" pitchFamily="34" charset="0"/>
              </a:rPr>
              <a:t>ontinu</a:t>
            </a:r>
            <a:r>
              <a:rPr lang="en-US" altLang="zh-CN" sz="2400" dirty="0">
                <a:solidFill>
                  <a:schemeClr val="bg1"/>
                </a:solidFill>
                <a:latin typeface="Aptos Display" panose="020B0004020202020204" pitchFamily="34" charset="0"/>
              </a:rPr>
              <a:t>e</a:t>
            </a:r>
            <a:r>
              <a:rPr lang="en" altLang="en-US" sz="2400" dirty="0">
                <a:solidFill>
                  <a:schemeClr val="bg1"/>
                </a:solidFill>
                <a:latin typeface="Aptos Display" panose="020B0004020202020204" pitchFamily="34" charset="0"/>
              </a:rPr>
              <a:t> the recursive solution process.</a:t>
            </a:r>
            <a:endParaRPr lang="en-US" altLang="zh-CN" sz="2400" dirty="0">
              <a:solidFill>
                <a:schemeClr val="bg1"/>
              </a:solidFill>
              <a:latin typeface="Aptos Display" panose="020B0004020202020204" pitchFamily="34" charset="0"/>
            </a:endParaRPr>
          </a:p>
        </p:txBody>
      </p:sp>
      <p:pic>
        <p:nvPicPr>
          <p:cNvPr id="4" name="图片 3">
            <a:extLst>
              <a:ext uri="{FF2B5EF4-FFF2-40B4-BE49-F238E27FC236}">
                <a16:creationId xmlns:a16="http://schemas.microsoft.com/office/drawing/2014/main" id="{F9111650-035B-BC8F-DF50-A3112072B13E}"/>
              </a:ext>
            </a:extLst>
          </p:cNvPr>
          <p:cNvPicPr>
            <a:picLocks noChangeAspect="1"/>
          </p:cNvPicPr>
          <p:nvPr/>
        </p:nvPicPr>
        <p:blipFill>
          <a:blip/>
          <a:stretch>
            <a:fillRect/>
          </a:stretch>
        </p:blipFill>
        <p:spPr>
          <a:xfrm>
            <a:off x="678609" y="3822490"/>
            <a:ext cx="4112052" cy="1437451"/>
          </a:xfrm>
          <a:prstGeom prst="rect">
            <a:avLst/>
          </a:prstGeom>
        </p:spPr>
      </p:pic>
    </p:spTree>
    <p:extLst>
      <p:ext uri="{BB962C8B-B14F-4D97-AF65-F5344CB8AC3E}">
        <p14:creationId xmlns:p14="http://schemas.microsoft.com/office/powerpoint/2010/main" val="148304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normAutofit/>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2</a:t>
            </a:r>
            <a:r>
              <a:rPr lang="en" altLang="en-US" dirty="0">
                <a:solidFill>
                  <a:schemeClr val="bg1"/>
                </a:solidFill>
                <a:latin typeface="Aptos Display" panose="020B0004020202020204" pitchFamily="34" charset="0"/>
              </a:rPr>
              <a:t>: Recursive </a:t>
            </a:r>
            <a:r>
              <a:rPr lang="en-US" altLang="zh-CN" dirty="0">
                <a:solidFill>
                  <a:schemeClr val="bg1"/>
                </a:solidFill>
                <a:latin typeface="Aptos Display" panose="020B0004020202020204" pitchFamily="34" charset="0"/>
              </a:rPr>
              <a:t>solution</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to</a:t>
            </a:r>
            <a:r>
              <a:rPr lang="en" altLang="en-US" dirty="0">
                <a:solidFill>
                  <a:schemeClr val="bg1"/>
                </a:solidFill>
                <a:latin typeface="Aptos Display" panose="020B0004020202020204" pitchFamily="34" charset="0"/>
              </a:rPr>
              <a:t> the Fibonacci Sequence</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The Fibonacci sequence</a:t>
                </a:r>
                <a:r>
                  <a:rPr lang="en-US" altLang="zh-CN" dirty="0">
                    <a:latin typeface="Aptos Display" panose="020B0004020202020204" pitchFamily="34" charset="0"/>
                  </a:rPr>
                  <a:t>:</a:t>
                </a:r>
                <a:r>
                  <a:rPr lang="en" altLang="en-US" dirty="0">
                    <a:latin typeface="Aptos Display" panose="020B0004020202020204" pitchFamily="34" charset="0"/>
                  </a:rPr>
                  <a:t> </a:t>
                </a:r>
                <a:r>
                  <a:rPr lang="en" altLang="zh-CN" dirty="0">
                    <a:latin typeface="Aptos Display" panose="020B0004020202020204" pitchFamily="34" charset="0"/>
                  </a:rPr>
                  <a:t>1, 1, 2, 3, 5, 8, 13, 21, 34… </a:t>
                </a:r>
                <a:r>
                  <a:rPr lang="en" altLang="en-US" dirty="0">
                    <a:latin typeface="Aptos Display" panose="020B0004020202020204" pitchFamily="34" charset="0"/>
                  </a:rPr>
                  <a:t>Starting from the third </a:t>
                </a:r>
                <a:r>
                  <a:rPr lang="en-US" altLang="zh-CN" dirty="0">
                    <a:latin typeface="Aptos Display" panose="020B0004020202020204" pitchFamily="34" charset="0"/>
                  </a:rPr>
                  <a:t>element</a:t>
                </a:r>
                <a:r>
                  <a:rPr lang="en" altLang="en-US" dirty="0">
                    <a:latin typeface="Aptos Display" panose="020B0004020202020204" pitchFamily="34" charset="0"/>
                  </a:rPr>
                  <a:t>, each is the sum of the two preceding </a:t>
                </a:r>
                <a:r>
                  <a:rPr lang="en-US" altLang="zh-CN" dirty="0">
                    <a:latin typeface="Aptos Display" panose="020B0004020202020204" pitchFamily="34" charset="0"/>
                  </a:rPr>
                  <a:t>elements</a:t>
                </a:r>
                <a:r>
                  <a:rPr lang="en" altLang="en-US" dirty="0">
                    <a:latin typeface="Aptos Display" panose="020B0004020202020204" pitchFamily="34" charset="0"/>
                  </a:rPr>
                  <a:t>, i.e.,</a:t>
                </a:r>
                <a:r>
                  <a:rPr lang="zh-C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−2)</m:t>
                    </m:r>
                  </m:oMath>
                </a14:m>
                <a:endParaRPr lang="en-US" altLang="zh-CN" i="1" dirty="0">
                  <a:latin typeface="Aptos Display" panose="020B0004020202020204" pitchFamily="34" charset="0"/>
                </a:endParaRPr>
              </a:p>
              <a:p>
                <a:r>
                  <a:rPr lang="en" altLang="en-US" dirty="0">
                    <a:latin typeface="Aptos Display" panose="020B0004020202020204" pitchFamily="34" charset="0"/>
                  </a:rPr>
                  <a:t>Try to 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14:m>
                  <m:oMath xmlns:m="http://schemas.openxmlformats.org/officeDocument/2006/math">
                    <m:r>
                      <m:rPr>
                        <m:sty m:val="p"/>
                      </m:rPr>
                      <a:rPr lang="en-US" altLang="zh-CN" b="0" i="0" smtClean="0">
                        <a:latin typeface="Cambria Math" panose="02040503050406030204" pitchFamily="18" charset="0"/>
                      </a:rPr>
                      <m:t>n</m:t>
                    </m:r>
                  </m:oMath>
                </a14:m>
                <a:r>
                  <a:rPr lang="en-US" altLang="zh-CN" dirty="0">
                    <a:latin typeface="Aptos Display" panose="020B0004020202020204" pitchFamily="34" charset="0"/>
                  </a:rPr>
                  <a:t>-th</a:t>
                </a:r>
                <a:r>
                  <a:rPr lang="en" altLang="zh-CN" dirty="0">
                    <a:latin typeface="Aptos Display" panose="020B0004020202020204" pitchFamily="34" charset="0"/>
                  </a:rPr>
                  <a:t> </a:t>
                </a:r>
                <a:r>
                  <a:rPr lang="en" altLang="en-US" dirty="0">
                    <a:latin typeface="Aptos Display" panose="020B0004020202020204" pitchFamily="34" charset="0"/>
                  </a:rPr>
                  <a:t>item</a:t>
                </a:r>
                <a:r>
                  <a:rPr lang="zh-CN" altLang="en-US" dirty="0">
                    <a:latin typeface="Aptos Display" panose="020B0004020202020204" pitchFamily="34" charset="0"/>
                  </a:rPr>
                  <a:t> </a:t>
                </a:r>
                <a:r>
                  <a:rPr lang="en-US" altLang="zh-CN" dirty="0">
                    <a:latin typeface="Aptos Display" panose="020B0004020202020204" pitchFamily="34" charset="0"/>
                  </a:rPr>
                  <a:t>recursively</a:t>
                </a:r>
                <a:r>
                  <a:rPr lang="en" altLang="en-US" dirty="0">
                    <a:latin typeface="Aptos Display" panose="020B0004020202020204" pitchFamily="34" charset="0"/>
                  </a:rPr>
                  <a:t>.</a:t>
                </a:r>
                <a:endParaRPr lang="en-US" altLang="zh-CN"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997182" y="3429000"/>
            <a:ext cx="4358589"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zh-CN" sz="2400" dirty="0">
                <a:solidFill>
                  <a:schemeClr val="bg1"/>
                </a:solidFill>
                <a:latin typeface="Aptos Display" panose="020B0004020202020204" pitchFamily="34" charset="0"/>
              </a:rPr>
              <a:t>f(1)=1 n=1</a:t>
            </a:r>
          </a:p>
          <a:p>
            <a:r>
              <a:rPr lang="en" altLang="zh-CN" sz="2400" dirty="0">
                <a:solidFill>
                  <a:schemeClr val="bg1"/>
                </a:solidFill>
                <a:latin typeface="Aptos Display" panose="020B0004020202020204" pitchFamily="34" charset="0"/>
              </a:rPr>
              <a:t>f(2)=1 n=2</a:t>
            </a:r>
          </a:p>
          <a:p>
            <a:r>
              <a:rPr lang="en" altLang="zh-CN" sz="2400" dirty="0">
                <a:solidFill>
                  <a:schemeClr val="bg1"/>
                </a:solidFill>
                <a:latin typeface="Aptos Display" panose="020B0004020202020204" pitchFamily="34" charset="0"/>
              </a:rPr>
              <a:t>f(n) = f(n-1) + f(n-2) (n&gt;2)</a:t>
            </a:r>
          </a:p>
        </p:txBody>
      </p:sp>
      <p:pic>
        <p:nvPicPr>
          <p:cNvPr id="4" name="图片 3">
            <a:extLst>
              <a:ext uri="{FF2B5EF4-FFF2-40B4-BE49-F238E27FC236}">
                <a16:creationId xmlns:a16="http://schemas.microsoft.com/office/drawing/2014/main" id="{4F8F9150-3519-5F94-2C8D-5AF934E697BF}"/>
              </a:ext>
            </a:extLst>
          </p:cNvPr>
          <p:cNvPicPr>
            <a:picLocks noChangeAspect="1"/>
          </p:cNvPicPr>
          <p:nvPr/>
        </p:nvPicPr>
        <p:blipFill>
          <a:blip/>
          <a:stretch>
            <a:fillRect/>
          </a:stretch>
        </p:blipFill>
        <p:spPr>
          <a:xfrm>
            <a:off x="6048794" y="3351527"/>
            <a:ext cx="5528492" cy="1656000"/>
          </a:xfrm>
          <a:prstGeom prst="rect">
            <a:avLst/>
          </a:prstGeom>
        </p:spPr>
      </p:pic>
    </p:spTree>
    <p:extLst>
      <p:ext uri="{BB962C8B-B14F-4D97-AF65-F5344CB8AC3E}">
        <p14:creationId xmlns:p14="http://schemas.microsoft.com/office/powerpoint/2010/main" val="394837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3</a:t>
            </a:r>
            <a:r>
              <a:rPr lang="en" altLang="en-US" dirty="0">
                <a:solidFill>
                  <a:schemeClr val="bg1"/>
                </a:solidFill>
                <a:latin typeface="Aptos Display" panose="020B0004020202020204" pitchFamily="34" charset="0"/>
              </a:rPr>
              <a:t>: Euclidean Algorithm</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The Euclidean algorithm finds the greatest common divisor of natural numbers </a:t>
                </a:r>
                <a14:m>
                  <m:oMath xmlns:m="http://schemas.openxmlformats.org/officeDocument/2006/math">
                    <m:r>
                      <a:rPr lang="en-US" altLang="zh-CN" b="0" i="1">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oMath>
                </a14:m>
                <a:r>
                  <a:rPr lang="en-US" altLang="zh-CN" dirty="0">
                    <a:latin typeface="Aptos Display" panose="020B0004020202020204" pitchFamily="34" charset="0"/>
                  </a:rPr>
                  <a:t>,</a:t>
                </a:r>
                <a:r>
                  <a:rPr lang="zh-CN" altLang="en-US" dirty="0">
                    <a:latin typeface="Aptos Display" panose="020B0004020202020204" pitchFamily="34" charset="0"/>
                  </a:rPr>
                  <a:t> </a:t>
                </a:r>
                <a:r>
                  <a:rPr lang="en" altLang="en-US" dirty="0">
                    <a:latin typeface="Aptos Display" panose="020B0004020202020204" pitchFamily="34" charset="0"/>
                  </a:rPr>
                  <a:t>implemented recursively.</a:t>
                </a:r>
                <a:endParaRPr lang="en-US" altLang="zh-CN" dirty="0">
                  <a:latin typeface="Aptos Display" panose="020B0004020202020204" pitchFamily="34" charset="0"/>
                </a:endParaRPr>
              </a:p>
              <a:p>
                <a:r>
                  <a:rPr lang="en" altLang="en-US" dirty="0">
                    <a:latin typeface="Aptos Display" panose="020B0004020202020204" pitchFamily="34" charset="0"/>
                  </a:rPr>
                  <a:t>Analysis: The Euclidean algorithm is a problem-solving method that can continuously reduce the size of the problem.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GCD</a:t>
                </a:r>
                <a:r>
                  <a:rPr lang="zh-CN" altLang="en-US" dirty="0">
                    <a:latin typeface="Aptos Display" panose="020B0004020202020204" pitchFamily="34" charset="0"/>
                  </a:rPr>
                  <a:t> </a:t>
                </a:r>
                <a:r>
                  <a:rPr lang="en-US" altLang="zh-CN" dirty="0">
                    <a:latin typeface="Aptos Display" panose="020B0004020202020204" pitchFamily="34" charset="0"/>
                  </a:rPr>
                  <a:t>of</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𝑚</m:t>
                    </m:r>
                    <m:r>
                      <a:rPr lang="en-US" altLang="zh-CN" b="0" i="1">
                        <a:latin typeface="Cambria Math" panose="02040503050406030204" pitchFamily="18" charset="0"/>
                      </a:rPr>
                      <m:t>, </m:t>
                    </m:r>
                    <m:r>
                      <a:rPr lang="en-US" altLang="zh-CN" b="0" i="1">
                        <a:latin typeface="Cambria Math" panose="02040503050406030204" pitchFamily="18" charset="0"/>
                      </a:rPr>
                      <m:t>𝑛</m:t>
                    </m:r>
                  </m:oMath>
                </a14:m>
                <a:r>
                  <a:rPr lang="en" altLang="zh-CN" i="1" dirty="0">
                    <a:latin typeface="Aptos Display" panose="020B0004020202020204" pitchFamily="34" charset="0"/>
                  </a:rPr>
                  <a:t> </a:t>
                </a:r>
                <a:r>
                  <a:rPr lang="en-US" altLang="zh-CN" dirty="0">
                    <a:latin typeface="Aptos Display" panose="020B0004020202020204" pitchFamily="34" charset="0"/>
                  </a:rPr>
                  <a:t>is</a:t>
                </a:r>
                <a:r>
                  <a:rPr lang="zh-CN" altLang="en-US" dirty="0">
                    <a:latin typeface="Aptos Display" panose="020B0004020202020204" pitchFamily="34" charset="0"/>
                  </a:rPr>
                  <a:t> </a:t>
                </a:r>
                <a:r>
                  <a:rPr lang="en-US" altLang="zh-CN" dirty="0">
                    <a:latin typeface="Aptos Display" panose="020B0004020202020204" pitchFamily="34" charset="0"/>
                  </a:rPr>
                  <a:t>effectively</a:t>
                </a:r>
                <a:r>
                  <a:rPr lang="zh-C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find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GCD</a:t>
                </a:r>
                <a:r>
                  <a:rPr lang="zh-CN" altLang="en-US" dirty="0">
                    <a:latin typeface="Aptos Display" panose="020B0004020202020204" pitchFamily="34" charset="0"/>
                  </a:rPr>
                  <a:t> </a:t>
                </a:r>
                <a:r>
                  <a:rPr lang="en-US" altLang="zh-CN" dirty="0">
                    <a:latin typeface="Aptos Display" panose="020B0004020202020204" pitchFamily="34" charset="0"/>
                  </a:rPr>
                  <a:t>of</a:t>
                </a:r>
                <a:r>
                  <a:rPr lang="zh-CN" altLang="en-US" dirty="0">
                    <a:latin typeface="Aptos Display" panose="020B0004020202020204" pitchFamily="34" charset="0"/>
                  </a:rPr>
                  <a:t> </a:t>
                </a:r>
                <a:r>
                  <a:rPr lang="e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a:latin typeface="Cambria Math" panose="02040503050406030204" pitchFamily="18" charset="0"/>
                      </a:rPr>
                      <m:t>𝑛</m:t>
                    </m:r>
                  </m:oMath>
                </a14:m>
                <a:r>
                  <a:rPr lang="en" altLang="en-US" dirty="0">
                    <a:latin typeface="Aptos Display" panose="020B0004020202020204" pitchFamily="34" charset="0"/>
                  </a:rPr>
                  <a:t>.</a:t>
                </a:r>
                <a:endParaRPr lang="en-US" altLang="zh-CN" dirty="0">
                  <a:latin typeface="Aptos Display" panose="020B0004020202020204" pitchFamily="34" charset="0"/>
                </a:endParaRPr>
              </a:p>
              <a:p>
                <a:r>
                  <a:rPr lang="en-US" altLang="zh-CN" dirty="0">
                    <a:latin typeface="Aptos Display" panose="020B0004020202020204" pitchFamily="34" charset="0"/>
                  </a:rPr>
                  <a:t>Recursion:</a:t>
                </a:r>
              </a:p>
              <a:p>
                <a:pPr marL="0" indent="0">
                  <a:buNone/>
                </a:pPr>
                <a:r>
                  <a:rPr lang="en" altLang="zh-CN" dirty="0">
                    <a:latin typeface="Aptos Display" panose="020B0004020202020204" pitchFamily="34" charset="0"/>
                  </a:rPr>
                  <a:t>   </a:t>
                </a:r>
                <a14:m>
                  <m:oMath xmlns:m="http://schemas.openxmlformats.org/officeDocument/2006/math">
                    <m:func>
                      <m:funcPr>
                        <m:ctrlPr>
                          <a:rPr lang="en-US" altLang="zh-CN" i="1" smtClean="0">
                            <a:latin typeface="Cambria Math" panose="02040503050406030204" pitchFamily="18" charset="0"/>
                          </a:rPr>
                        </m:ctrlPr>
                      </m:funcPr>
                      <m:fName>
                        <m:r>
                          <m:rPr>
                            <m:sty m:val="p"/>
                          </m:rPr>
                          <a:rPr lang="en-US" altLang="zh-CN" b="0" i="0" smtClean="0">
                            <a:latin typeface="Cambria Math" panose="02040503050406030204" pitchFamily="18" charset="0"/>
                          </a:rPr>
                          <m:t>gcd</m:t>
                        </m:r>
                      </m:fName>
                      <m:e>
                        <m:d>
                          <m:dPr>
                            <m:ctrlPr>
                              <a:rPr lang="en-US" altLang="zh-CN" i="1" smtClean="0">
                                <a:latin typeface="Cambria Math" panose="02040503050406030204" pitchFamily="18" charset="0"/>
                              </a:rPr>
                            </m:ctrlPr>
                          </m:dPr>
                          <m:e>
                            <m:r>
                              <m:rPr>
                                <m:sty m:val="p"/>
                              </m:rPr>
                              <a:rPr lang="en-US" altLang="zh-CN" b="0" i="0" smtClean="0">
                                <a:latin typeface="Cambria Math" panose="02040503050406030204" pitchFamily="18" charset="0"/>
                              </a:rPr>
                              <m:t>m</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n</m:t>
                            </m:r>
                          </m:e>
                        </m:d>
                      </m:e>
                    </m:func>
                    <m:r>
                      <a:rPr lang="en-US" altLang="zh-CN" b="0"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
                          <m:e>
                            <m:func>
                              <m:funcPr>
                                <m:ctrlPr>
                                  <a:rPr lang="en-US" altLang="zh-CN" i="1" smtClean="0">
                                    <a:latin typeface="Cambria Math" panose="02040503050406030204" pitchFamily="18" charset="0"/>
                                  </a:rPr>
                                </m:ctrlPr>
                              </m:funcPr>
                              <m:fName>
                                <m:r>
                                  <a:rPr lang="en-US" altLang="zh-CN" b="0" i="1" smtClean="0">
                                    <a:latin typeface="Cambria Math" panose="02040503050406030204" pitchFamily="18" charset="0"/>
                                  </a:rPr>
                                  <m:t>𝑔𝑐𝑑</m:t>
                                </m:r>
                              </m:fName>
                              <m:e>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qArr>
                      </m:e>
                    </m:d>
                  </m:oMath>
                </a14:m>
                <a:endParaRPr lang="en-US" altLang="zh-CN" i="1"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3238" t="-1683" b="-58413"/>
                </a:stretch>
              </a:blipFill>
            </p:spPr>
            <p:txBody>
              <a:bodyPr/>
              <a:lstStyle/>
              <a:p>
                <a:r>
                  <a:rPr lang="en-AU">
                    <a:noFill/>
                  </a:rPr>
                  <a:t> </a:t>
                </a:r>
              </a:p>
            </p:txBody>
          </p:sp>
        </mc:Fallback>
      </mc:AlternateContent>
      <p:sp>
        <p:nvSpPr>
          <p:cNvPr id="10" name="矩形 9">
            <a:extLst>
              <a:ext uri="{FF2B5EF4-FFF2-40B4-BE49-F238E27FC236}">
                <a16:creationId xmlns:a16="http://schemas.microsoft.com/office/drawing/2014/main" id="{9DB91F86-1649-4A83-B9B6-A7032BAE355B}"/>
              </a:ext>
            </a:extLst>
          </p:cNvPr>
          <p:cNvSpPr/>
          <p:nvPr/>
        </p:nvSpPr>
        <p:spPr>
          <a:xfrm>
            <a:off x="6884583" y="3893320"/>
            <a:ext cx="3719727"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zh-CN" sz="2400" dirty="0">
                <a:solidFill>
                  <a:schemeClr val="bg1"/>
                </a:solidFill>
                <a:latin typeface="Consolas" panose="020B0609020204030204" pitchFamily="49" charset="0"/>
                <a:cs typeface="Consolas" panose="020B0609020204030204" pitchFamily="49" charset="0"/>
              </a:rPr>
              <a:t>m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45 35 10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a:t>
            </a:r>
          </a:p>
          <a:p>
            <a:r>
              <a:rPr lang="en" altLang="zh-CN" sz="2400" dirty="0">
                <a:solidFill>
                  <a:schemeClr val="bg1"/>
                </a:solidFill>
                <a:latin typeface="Consolas" panose="020B0609020204030204" pitchFamily="49" charset="0"/>
                <a:cs typeface="Consolas" panose="020B0609020204030204" pitchFamily="49" charset="0"/>
              </a:rPr>
              <a:t>n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35 10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0</a:t>
            </a:r>
          </a:p>
          <a:p>
            <a:r>
              <a:rPr lang="en" altLang="zh-CN" sz="2400" dirty="0" err="1">
                <a:solidFill>
                  <a:schemeClr val="bg1"/>
                </a:solidFill>
                <a:latin typeface="Consolas" panose="020B0609020204030204" pitchFamily="49" charset="0"/>
                <a:cs typeface="Consolas" panose="020B0609020204030204" pitchFamily="49" charset="0"/>
              </a:rPr>
              <a:t>m%n</a:t>
            </a:r>
            <a:r>
              <a:rPr lang="en" altLang="zh-CN" sz="2400" dirty="0">
                <a:solidFill>
                  <a:schemeClr val="bg1"/>
                </a:solidFill>
                <a:latin typeface="Consolas" panose="020B0609020204030204" pitchFamily="49" charset="0"/>
                <a:cs typeface="Consolas" panose="020B0609020204030204" pitchFamily="49" charset="0"/>
              </a:rPr>
              <a:t>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10 </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5</a:t>
            </a:r>
            <a:r>
              <a:rPr lang="zh-CN" altLang="en-US" sz="2400" dirty="0">
                <a:solidFill>
                  <a:schemeClr val="bg1"/>
                </a:solidFill>
                <a:latin typeface="Consolas" panose="020B0609020204030204" pitchFamily="49" charset="0"/>
                <a:cs typeface="Consolas" panose="020B0609020204030204" pitchFamily="49" charset="0"/>
              </a:rPr>
              <a:t> </a:t>
            </a:r>
            <a:r>
              <a:rPr lang="en" altLang="zh-CN" sz="2400" dirty="0">
                <a:solidFill>
                  <a:schemeClr val="bg1"/>
                </a:solidFill>
                <a:latin typeface="Consolas" panose="020B0609020204030204" pitchFamily="49" charset="0"/>
                <a:cs typeface="Consolas" panose="020B0609020204030204" pitchFamily="49" charset="0"/>
              </a:rPr>
              <a:t> 0</a:t>
            </a:r>
          </a:p>
        </p:txBody>
      </p:sp>
    </p:spTree>
    <p:extLst>
      <p:ext uri="{BB962C8B-B14F-4D97-AF65-F5344CB8AC3E}">
        <p14:creationId xmlns:p14="http://schemas.microsoft.com/office/powerpoint/2010/main" val="224059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8" y="7541"/>
            <a:ext cx="11089321" cy="1478570"/>
          </a:xfrm>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4 </a:t>
            </a:r>
            <a:r>
              <a:rPr lang="en" altLang="en-US" dirty="0">
                <a:solidFill>
                  <a:schemeClr val="bg1"/>
                </a:solidFill>
                <a:latin typeface="Aptos Display" panose="020B0004020202020204" pitchFamily="34" charset="0"/>
              </a:rPr>
              <a:t>: Number System Conversion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Convert a given decimal integer to binary and output the result.</a:t>
            </a:r>
            <a:endParaRPr lang="en-US" altLang="zh-CN" dirty="0">
              <a:latin typeface="Aptos Display" panose="020B0004020202020204" pitchFamily="34" charset="0"/>
            </a:endParaRPr>
          </a:p>
        </p:txBody>
      </p:sp>
      <p:sp>
        <p:nvSpPr>
          <p:cNvPr id="7" name="内容占位符 2">
            <a:extLst>
              <a:ext uri="{FF2B5EF4-FFF2-40B4-BE49-F238E27FC236}">
                <a16:creationId xmlns:a16="http://schemas.microsoft.com/office/drawing/2014/main" id="{2D61C9F3-5129-46A0-8929-EC4C9B3905EB}"/>
              </a:ext>
            </a:extLst>
          </p:cNvPr>
          <p:cNvSpPr txBox="1">
            <a:spLocks/>
          </p:cNvSpPr>
          <p:nvPr/>
        </p:nvSpPr>
        <p:spPr>
          <a:xfrm>
            <a:off x="678610" y="2037806"/>
            <a:ext cx="6764354" cy="473105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#include &lt;bits/ </a:t>
            </a:r>
            <a:r>
              <a:rPr lang="en" altLang="zh-CN" sz="2000" dirty="0" err="1">
                <a:latin typeface="Consolas" panose="020B0609020204030204" pitchFamily="49" charset="0"/>
                <a:cs typeface="Consolas" panose="020B0609020204030204" pitchFamily="49" charset="0"/>
              </a:rPr>
              <a:t>stdc </a:t>
            </a:r>
            <a:r>
              <a:rPr lang="en" altLang="zh-CN" sz="2000" dirty="0">
                <a:latin typeface="Consolas" panose="020B0609020204030204" pitchFamily="49" charset="0"/>
                <a:cs typeface="Consolas" panose="020B0609020204030204" pitchFamily="49" charset="0"/>
              </a:rPr>
              <a:t>++.h&gt;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using namespace std;</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print(int n){</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if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print(</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a:t>
            </a:r>
            <a:r>
              <a:rPr lang="zh-CN" altLang="en-US"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main(){</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int n;</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cin</a:t>
            </a:r>
            <a:r>
              <a:rPr lang="en" altLang="zh-CN" sz="2000" dirty="0">
                <a:latin typeface="Consolas" panose="020B0609020204030204" pitchFamily="49" charset="0"/>
                <a:cs typeface="Consolas" panose="020B0609020204030204" pitchFamily="49" charset="0"/>
              </a:rPr>
              <a:t> &gt;&gt;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n; print(n);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 </a:t>
            </a:r>
            <a:r>
              <a:rPr lang="en" altLang="zh-CN" sz="2000" dirty="0" err="1">
                <a:latin typeface="Consolas" panose="020B0609020204030204" pitchFamily="49" charset="0"/>
                <a:cs typeface="Consolas" panose="020B0609020204030204" pitchFamily="49" charset="0"/>
              </a:rPr>
              <a:t>endl</a:t>
            </a:r>
            <a:r>
              <a:rPr lang="en" altLang="zh-CN" sz="2000" dirty="0">
                <a:latin typeface="Consolas" panose="020B0609020204030204" pitchFamily="49" charset="0"/>
                <a:cs typeface="Consolas" panose="020B0609020204030204" pitchFamily="49" charset="0"/>
              </a:rPr>
              <a:t>;</a:t>
            </a:r>
          </a:p>
          <a:p>
            <a:pPr marL="0" indent="0">
              <a:lnSpc>
                <a:spcPct val="8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return 0;</a:t>
            </a:r>
          </a:p>
          <a:p>
            <a:pPr marL="0" indent="0">
              <a:lnSpc>
                <a:spcPct val="8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p:txBody>
      </p:sp>
      <p:sp>
        <p:nvSpPr>
          <p:cNvPr id="10" name="矩形 9">
            <a:extLst>
              <a:ext uri="{FF2B5EF4-FFF2-40B4-BE49-F238E27FC236}">
                <a16:creationId xmlns:a16="http://schemas.microsoft.com/office/drawing/2014/main" id="{9DB91F86-1649-4A83-B9B6-A7032BAE355B}"/>
              </a:ext>
            </a:extLst>
          </p:cNvPr>
          <p:cNvSpPr/>
          <p:nvPr/>
        </p:nvSpPr>
        <p:spPr>
          <a:xfrm>
            <a:off x="7798526" y="4282150"/>
            <a:ext cx="2711136" cy="1478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 altLang="en-US" sz="2400" dirty="0">
                <a:solidFill>
                  <a:schemeClr val="bg1"/>
                </a:solidFill>
                <a:latin typeface="Aptos Display" panose="020B0004020202020204" pitchFamily="34" charset="0"/>
              </a:rPr>
              <a:t>Input: 		</a:t>
            </a:r>
            <a:r>
              <a:rPr lang="en" altLang="zh-CN" sz="2400" dirty="0">
                <a:solidFill>
                  <a:schemeClr val="bg1"/>
                </a:solidFill>
                <a:latin typeface="Consolas" panose="020B0609020204030204" pitchFamily="49" charset="0"/>
                <a:cs typeface="Consolas" panose="020B0609020204030204" pitchFamily="49" charset="0"/>
              </a:rPr>
              <a:t>45</a:t>
            </a:r>
          </a:p>
          <a:p>
            <a:endParaRPr lang="en-US" altLang="zh-CN" sz="2400" dirty="0">
              <a:solidFill>
                <a:schemeClr val="bg1"/>
              </a:solidFill>
              <a:latin typeface="Aptos Display" panose="020B0004020202020204" pitchFamily="34" charset="0"/>
            </a:endParaRPr>
          </a:p>
          <a:p>
            <a:r>
              <a:rPr lang="en" altLang="en-US" sz="2400" dirty="0">
                <a:solidFill>
                  <a:schemeClr val="bg1"/>
                </a:solidFill>
                <a:latin typeface="Aptos Display" panose="020B0004020202020204" pitchFamily="34" charset="0"/>
              </a:rPr>
              <a:t>Output: 	</a:t>
            </a:r>
            <a:r>
              <a:rPr lang="en" altLang="zh-CN" sz="2400" dirty="0">
                <a:solidFill>
                  <a:schemeClr val="bg1"/>
                </a:solidFill>
                <a:latin typeface="Consolas" panose="020B0609020204030204" pitchFamily="49" charset="0"/>
                <a:cs typeface="Consolas" panose="020B0609020204030204" pitchFamily="49" charset="0"/>
              </a:rPr>
              <a:t>101101</a:t>
            </a:r>
          </a:p>
        </p:txBody>
      </p:sp>
    </p:spTree>
    <p:extLst>
      <p:ext uri="{BB962C8B-B14F-4D97-AF65-F5344CB8AC3E}">
        <p14:creationId xmlns:p14="http://schemas.microsoft.com/office/powerpoint/2010/main" val="1585919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ea typeface="+mn-ea"/>
              </a:rPr>
              <a:t>Practice</a:t>
            </a:r>
            <a:r>
              <a:rPr lang="zh-CN" altLang="en-US" dirty="0">
                <a:solidFill>
                  <a:schemeClr val="bg1"/>
                </a:solidFill>
                <a:latin typeface="Aptos Display" panose="020B0004020202020204" pitchFamily="34" charset="0"/>
                <a:ea typeface="+mn-ea"/>
              </a:rPr>
              <a:t> </a:t>
            </a:r>
            <a:r>
              <a:rPr lang="en-US" altLang="zh-CN" dirty="0">
                <a:solidFill>
                  <a:schemeClr val="bg1"/>
                </a:solidFill>
                <a:latin typeface="Aptos Display" panose="020B0004020202020204" pitchFamily="34" charset="0"/>
                <a:ea typeface="+mn-ea"/>
              </a:rPr>
              <a:t>Problem</a:t>
            </a:r>
            <a:r>
              <a:rPr lang="zh-CN" altLang="en-US" dirty="0">
                <a:solidFill>
                  <a:schemeClr val="bg1"/>
                </a:solidFill>
                <a:latin typeface="Aptos Display" panose="020B0004020202020204" pitchFamily="34" charset="0"/>
                <a:ea typeface="+mn-ea"/>
              </a:rPr>
              <a:t> </a:t>
            </a:r>
            <a:r>
              <a:rPr lang="en" altLang="zh-CN" dirty="0">
                <a:solidFill>
                  <a:schemeClr val="bg1"/>
                </a:solidFill>
                <a:latin typeface="Aptos Display" panose="020B0004020202020204" pitchFamily="34" charset="0"/>
                <a:ea typeface="+mn-ea"/>
              </a:rPr>
              <a:t>5 </a:t>
            </a:r>
            <a:r>
              <a:rPr lang="en" altLang="en-US" dirty="0">
                <a:solidFill>
                  <a:schemeClr val="bg1"/>
                </a:solidFill>
                <a:latin typeface="Aptos Display" panose="020B0004020202020204" pitchFamily="34" charset="0"/>
                <a:ea typeface="+mn-ea"/>
              </a:rPr>
              <a:t>: Number Reversal</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478569"/>
          </a:xfrm>
        </p:spPr>
        <p:txBody>
          <a:bodyPr>
            <a:normAutofit lnSpcReduction="10000"/>
          </a:bodyPr>
          <a:lstStyle/>
          <a:p>
            <a:r>
              <a:rPr lang="en" altLang="en-US" dirty="0">
                <a:latin typeface="Aptos Display" panose="020B0004020202020204" pitchFamily="34" charset="0"/>
              </a:rPr>
              <a:t>Input a multi-digit number and output it in reverse order using a recursive method.</a:t>
            </a:r>
            <a:endParaRPr lang="en-US" altLang="zh-CN" dirty="0">
              <a:latin typeface="Aptos Display" panose="020B0004020202020204" pitchFamily="34" charset="0"/>
            </a:endParaRPr>
          </a:p>
          <a:p>
            <a:r>
              <a:rPr lang="en" altLang="en-US" dirty="0">
                <a:latin typeface="Aptos Display" panose="020B0004020202020204" pitchFamily="34" charset="0"/>
              </a:rPr>
              <a:t>Analysis:</a:t>
            </a:r>
            <a:endParaRPr lang="en-US" altLang="zh-CN" dirty="0">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2450806" y="3424056"/>
                <a:ext cx="7646783" cy="194783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rd</m:t>
                      </m:r>
                      <m:d>
                        <m:dPr>
                          <m:ctrlPr>
                            <a:rPr lang="en-US" altLang="zh-CN" i="1" smtClean="0">
                              <a:latin typeface="Cambria Math" panose="02040503050406030204" pitchFamily="18" charset="0"/>
                            </a:rPr>
                          </m:ctrlPr>
                        </m:dPr>
                        <m:e>
                          <m:r>
                            <m:rPr>
                              <m:sty m:val="p"/>
                            </m:rPr>
                            <a:rPr lang="en-US" altLang="zh-CN" b="0" i="0" smtClean="0">
                              <a:latin typeface="Cambria Math" panose="02040503050406030204" pitchFamily="18" charset="0"/>
                            </a:rPr>
                            <m:t>n</m:t>
                          </m:r>
                        </m:e>
                      </m:d>
                      <m:r>
                        <a:rPr lang="en-US" altLang="zh-CN" b="0"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m:rPr>
                                  <m:sty m:val="p"/>
                                </m:rPr>
                                <a:rPr lang="en-US" altLang="zh-CN" b="0" i="0" smtClean="0">
                                  <a:latin typeface="Cambria Math" panose="02040503050406030204" pitchFamily="18" charset="0"/>
                                </a:rPr>
                                <m:t>return</m:t>
                              </m:r>
                              <m:r>
                                <a:rPr lang="en-US" altLang="zh-CN" b="0" i="0"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
                            <m:e>
                              <m:r>
                                <m:rPr>
                                  <m:sty m:val="p"/>
                                </m:rPr>
                                <a:rPr lang="en-US" altLang="zh-CN" b="0" i="0" smtClean="0">
                                  <a:latin typeface="Cambria Math" panose="02040503050406030204" pitchFamily="18" charset="0"/>
                                </a:rPr>
                                <m:t>cout</m:t>
                              </m:r>
                              <m:r>
                                <a:rPr lang="en-US" altLang="zh-CN" b="0" i="0"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&amp;%10</m:t>
                              </m:r>
                              <m:r>
                                <a:rPr lang="en-US" altLang="zh-CN" b="0" i="0" smtClean="0">
                                  <a:latin typeface="Cambria Math" panose="02040503050406030204" pitchFamily="18" charset="0"/>
                                </a:rPr>
                                <m:t>, </m:t>
                              </m:r>
                              <m:r>
                                <a:rPr lang="en-US" altLang="zh-CN" b="0" i="1" smtClean="0">
                                  <a:latin typeface="Cambria Math" panose="02040503050406030204" pitchFamily="18" charset="0"/>
                                </a:rPr>
                                <m:t>𝑟𝑑</m:t>
                              </m:r>
                              <m:d>
                                <m:dPr>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10</m:t>
                                      </m:r>
                                    </m:den>
                                  </m:f>
                                </m:e>
                              </m:d>
                              <m:r>
                                <a:rPr lang="en-US" altLang="zh-CN" b="0" i="0"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eqArr>
                        </m:e>
                      </m:d>
                    </m:oMath>
                  </m:oMathPara>
                </a14:m>
                <a:endParaRPr lang="en-US" altLang="zh-CN" dirty="0">
                  <a:latin typeface="Aptos Display" panose="020B000402020202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2450806" y="3424056"/>
                <a:ext cx="7646783" cy="1947834"/>
              </a:xfrm>
              <a:prstGeom prst="rect">
                <a:avLst/>
              </a:prstGeom>
              <a:blipFill>
                <a:blip r:embed="rId3"/>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279439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6 </a:t>
            </a:r>
            <a:r>
              <a:rPr lang="en" altLang="en-US" dirty="0">
                <a:solidFill>
                  <a:schemeClr val="bg1"/>
                </a:solidFill>
                <a:latin typeface="Aptos Display" panose="020B0004020202020204" pitchFamily="34" charset="0"/>
              </a:rPr>
              <a:t>: Prime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fontScale="92500" lnSpcReduction="20000"/>
          </a:bodyPr>
          <a:lstStyle/>
          <a:p>
            <a:r>
              <a:rPr lang="en" altLang="en-US" dirty="0">
                <a:latin typeface="Aptos Display" panose="020B0004020202020204" pitchFamily="34" charset="0"/>
              </a:rPr>
              <a:t>Given a positive integer </a:t>
            </a:r>
            <a:r>
              <a:rPr lang="en" altLang="zh-CN" i="1" dirty="0">
                <a:latin typeface="Aptos Display" panose="020B0004020202020204" pitchFamily="34" charset="0"/>
              </a:rPr>
              <a:t>n</a:t>
            </a:r>
            <a:r>
              <a:rPr lang="en" altLang="zh-CN" dirty="0">
                <a:latin typeface="Aptos Display" panose="020B0004020202020204" pitchFamily="34" charset="0"/>
              </a:rPr>
              <a:t> </a:t>
            </a:r>
            <a:r>
              <a:rPr lang="en" altLang="en-US" dirty="0">
                <a:latin typeface="Aptos Display" panose="020B0004020202020204" pitchFamily="34" charset="0"/>
              </a:rPr>
              <a:t>, output all its prime factors in ascending order using a recursive method.</a:t>
            </a:r>
            <a:endParaRPr lang="en-US" altLang="zh-CN" dirty="0">
              <a:latin typeface="Aptos Display" panose="020B0004020202020204" pitchFamily="34" charset="0"/>
            </a:endParaRPr>
          </a:p>
          <a:p>
            <a:r>
              <a:rPr lang="en" altLang="en-US" dirty="0">
                <a:latin typeface="Aptos Display" panose="020B0004020202020204" pitchFamily="34" charset="0"/>
              </a:rPr>
              <a:t>Input example: </a:t>
            </a:r>
            <a:r>
              <a:rPr lang="en" altLang="zh-CN" dirty="0">
                <a:latin typeface="Consolas" panose="020B0609020204030204" pitchFamily="49" charset="0"/>
                <a:cs typeface="Consolas" panose="020B0609020204030204" pitchFamily="49" charset="0"/>
              </a:rPr>
              <a:t>18</a:t>
            </a:r>
          </a:p>
          <a:p>
            <a:r>
              <a:rPr lang="en" altLang="en-US" dirty="0">
                <a:latin typeface="Aptos Display" panose="020B0004020202020204" pitchFamily="34" charset="0"/>
              </a:rPr>
              <a:t>Output example: </a:t>
            </a:r>
            <a:r>
              <a:rPr lang="en" altLang="zh-CN" dirty="0">
                <a:latin typeface="Consolas" panose="020B0609020204030204" pitchFamily="49" charset="0"/>
                <a:cs typeface="Consolas" panose="020B0609020204030204" pitchFamily="49" charset="0"/>
              </a:rPr>
              <a:t>2 3 3</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948526" y="2951922"/>
                <a:ext cx="7646783" cy="292210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𝑧𝑦𝑠</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    </m:t>
                              </m:r>
                              <m:r>
                                <a:rPr lang="zh-CN" altLang="en-US" sz="2000" b="0" i="1" smtClean="0">
                                  <a:latin typeface="Cambria Math" panose="02040503050406030204" pitchFamily="18" charset="0"/>
                                </a:rPr>
                                <m:t>     </m:t>
                              </m:r>
                              <m:r>
                                <a:rPr lang="en-US" altLang="zh-CN" sz="2000" b="0" i="1" smtClean="0">
                                  <a:latin typeface="Cambria Math" panose="02040503050406030204" pitchFamily="18" charset="0"/>
                                </a:rPr>
                                <m:t>𝑟𝑒𝑡𝑢𝑟𝑛</m:t>
                              </m:r>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&gt;1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e>
                                            <m:e/>
                                            <m:e>
                                              <m:r>
                                                <a:rPr lang="en-US" altLang="zh-CN" sz="2000" b="0" i="1" smtClean="0">
                                                  <a:latin typeface="Cambria Math" panose="02040503050406030204" pitchFamily="18" charset="0"/>
                                                </a:rPr>
                                                <m:t>𝑧𝑦𝑠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e>
                                          </m:eqArr>
                                        </m:e>
                                      </m:d>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≠0                  </m:t>
                                      </m:r>
                                      <m:r>
                                        <a:rPr lang="en-US" altLang="zh-CN" sz="2000" b="0" i="1" smtClean="0">
                                          <a:latin typeface="Cambria Math" panose="02040503050406030204" pitchFamily="18" charset="0"/>
                                        </a:rPr>
                                        <m:t>𝑧𝑦𝑠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+1)</m:t>
                                      </m:r>
                                    </m:e>
                                  </m:eqArr>
                                </m:e>
                              </m:d>
                            </m:e>
                          </m:eqArr>
                        </m:e>
                      </m:d>
                    </m:oMath>
                  </m:oMathPara>
                </a14:m>
                <a:endParaRPr lang="en-US" altLang="zh-CN" sz="2000"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948526" y="2951922"/>
                <a:ext cx="7646783" cy="2922104"/>
              </a:xfrm>
              <a:prstGeom prst="rect">
                <a:avLst/>
              </a:prstGeom>
              <a:blipFill>
                <a:blip r:embed="rId3"/>
                <a:stretch>
                  <a:fillRect t="-50216" b="-110823"/>
                </a:stretch>
              </a:blipFill>
            </p:spPr>
            <p:txBody>
              <a:bodyPr/>
              <a:lstStyle/>
              <a:p>
                <a:r>
                  <a:rPr lang="en-AU">
                    <a:noFill/>
                  </a:rPr>
                  <a:t> </a:t>
                </a:r>
              </a:p>
            </p:txBody>
          </p:sp>
        </mc:Fallback>
      </mc:AlternateContent>
    </p:spTree>
    <p:extLst>
      <p:ext uri="{BB962C8B-B14F-4D97-AF65-F5344CB8AC3E}">
        <p14:creationId xmlns:p14="http://schemas.microsoft.com/office/powerpoint/2010/main" val="403748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ea typeface="+mn-ea"/>
              </a:rPr>
              <a:t>Classroom Example </a:t>
            </a:r>
            <a:r>
              <a:rPr lang="en" altLang="zh-CN" dirty="0">
                <a:solidFill>
                  <a:schemeClr val="bg1"/>
                </a:solidFill>
                <a:latin typeface="Aptos Display" panose="020B0004020202020204" pitchFamily="34" charset="0"/>
                <a:ea typeface="+mn-ea"/>
              </a:rPr>
              <a:t>7 </a:t>
            </a:r>
            <a:r>
              <a:rPr lang="en" altLang="en-US" dirty="0">
                <a:solidFill>
                  <a:schemeClr val="bg1"/>
                </a:solidFill>
                <a:latin typeface="Aptos Display" panose="020B0004020202020204" pitchFamily="34" charset="0"/>
                <a:ea typeface="+mn-ea"/>
              </a:rPr>
              <a:t>: Kakugawa Conjecture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09"/>
            <a:ext cx="10186612" cy="4914691"/>
          </a:xfrm>
        </p:spPr>
        <p:txBody>
          <a:bodyPr>
            <a:normAutofit fontScale="92500" lnSpcReduction="10000"/>
          </a:bodyPr>
          <a:lstStyle/>
          <a:p>
            <a:r>
              <a:rPr lang="en" altLang="en-US" dirty="0">
                <a:latin typeface="Aptos Display" panose="020B0004020202020204" pitchFamily="34" charset="0"/>
              </a:rPr>
              <a:t>A Japanese junior high school student discovered a fascinating theorem and asked Professor Kakutani to prove it. The professor was unable to do so, which led to the Kakutani Conjecture.</a:t>
            </a:r>
            <a:endParaRPr lang="en-US" altLang="zh-CN" dirty="0">
              <a:latin typeface="Aptos Display" panose="020B0004020202020204" pitchFamily="34" charset="0"/>
            </a:endParaRPr>
          </a:p>
          <a:p>
            <a:r>
              <a:rPr lang="en" altLang="en-US" dirty="0">
                <a:latin typeface="Aptos Display" panose="020B0004020202020204" pitchFamily="34" charset="0"/>
              </a:rPr>
              <a:t>Given any natural number, if it is even, divide it by </a:t>
            </a:r>
            <a:r>
              <a:rPr lang="en" altLang="zh-CN" dirty="0">
                <a:latin typeface="Aptos Display" panose="020B0004020202020204" pitchFamily="34" charset="0"/>
              </a:rPr>
              <a:t>2 </a:t>
            </a:r>
            <a:r>
              <a:rPr lang="en" altLang="en-US" dirty="0">
                <a:latin typeface="Aptos Display" panose="020B0004020202020204" pitchFamily="34" charset="0"/>
              </a:rPr>
              <a:t>; if it is odd, multiply it by </a:t>
            </a:r>
            <a:r>
              <a:rPr lang="en" altLang="zh-CN" dirty="0">
                <a:latin typeface="Aptos Display" panose="020B0004020202020204" pitchFamily="34" charset="0"/>
              </a:rPr>
              <a:t>3 </a:t>
            </a:r>
            <a:r>
              <a:rPr lang="en" altLang="en-US" dirty="0">
                <a:latin typeface="Aptos Display" panose="020B0004020202020204" pitchFamily="34" charset="0"/>
              </a:rPr>
              <a:t>and add </a:t>
            </a:r>
            <a:r>
              <a:rPr lang="en" altLang="zh-CN" dirty="0">
                <a:latin typeface="Aptos Display" panose="020B0004020202020204" pitchFamily="34" charset="0"/>
              </a:rPr>
              <a:t>1. </a:t>
            </a:r>
            <a:r>
              <a:rPr lang="en" altLang="en-US" dirty="0">
                <a:latin typeface="Aptos Display" panose="020B0004020202020204" pitchFamily="34" charset="0"/>
              </a:rPr>
              <a:t>After obtaining a new natural number, continue the calculation according to the above rule. After a certain number of times, the result will always be </a:t>
            </a:r>
            <a:r>
              <a:rPr lang="en" altLang="zh-CN" dirty="0">
                <a:latin typeface="Aptos Display" panose="020B0004020202020204" pitchFamily="34" charset="0"/>
              </a:rPr>
              <a:t>1 </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For example, for </a:t>
            </a:r>
            <a:r>
              <a:rPr lang="en" altLang="zh-CN" dirty="0">
                <a:latin typeface="Consolas" panose="020B0609020204030204" pitchFamily="49" charset="0"/>
                <a:cs typeface="Consolas" panose="020B0609020204030204" pitchFamily="49" charset="0"/>
              </a:rPr>
              <a:t>22</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22/2=11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11</a:t>
            </a:r>
            <a:r>
              <a:rPr lang="en" altLang="en-US" dirty="0">
                <a:latin typeface="Consolas" panose="020B0609020204030204" pitchFamily="49" charset="0"/>
                <a:cs typeface="Consolas" panose="020B0609020204030204" pitchFamily="49" charset="0"/>
              </a:rPr>
              <a:t>*</a:t>
            </a:r>
            <a:r>
              <a:rPr lang="en" altLang="zh-CN" dirty="0">
                <a:latin typeface="Consolas" panose="020B0609020204030204" pitchFamily="49" charset="0"/>
                <a:cs typeface="Consolas" panose="020B0609020204030204" pitchFamily="49" charset="0"/>
              </a:rPr>
              <a:t>3+1=34 34/2=17 17*3+1=52 52/2=26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26/2=13</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13*3+1=40 40/2=20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20/2=10 10/2=5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5*3+1=16 16/2=8</a:t>
            </a:r>
          </a:p>
          <a:p>
            <a:pPr marL="0" indent="0">
              <a:buNone/>
            </a:pP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8/2=4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4/2=2 </a:t>
            </a:r>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2/2=1</a:t>
            </a:r>
          </a:p>
          <a:p>
            <a:r>
              <a:rPr lang="en" altLang="en-US" dirty="0">
                <a:latin typeface="Aptos Display" panose="020B0004020202020204" pitchFamily="34" charset="0"/>
              </a:rPr>
              <a:t>Write a program to output the process u</a:t>
            </a:r>
            <a:r>
              <a:rPr lang="en-US" altLang="zh-CN" dirty="0" err="1">
                <a:latin typeface="Aptos Display" panose="020B0004020202020204" pitchFamily="34" charset="0"/>
              </a:rPr>
              <a:t>ntil</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result</a:t>
            </a:r>
            <a:r>
              <a:rPr lang="zh-CN" altLang="en-US" dirty="0">
                <a:latin typeface="Aptos Display" panose="020B0004020202020204" pitchFamily="34" charset="0"/>
              </a:rPr>
              <a:t> </a:t>
            </a:r>
            <a:r>
              <a:rPr lang="en-US" altLang="zh-CN" dirty="0">
                <a:latin typeface="Aptos Display" panose="020B0004020202020204" pitchFamily="34" charset="0"/>
              </a:rPr>
              <a:t>becomes</a:t>
            </a:r>
            <a:r>
              <a:rPr lang="zh-CN" altLang="en-US" dirty="0">
                <a:latin typeface="Aptos Display" panose="020B0004020202020204" pitchFamily="34" charset="0"/>
              </a:rPr>
              <a:t> </a:t>
            </a:r>
            <a:r>
              <a:rPr lang="en-US" altLang="zh-CN" dirty="0">
                <a:latin typeface="Aptos Display" panose="020B0004020202020204" pitchFamily="34" charset="0"/>
              </a:rPr>
              <a:t>1</a:t>
            </a:r>
            <a:r>
              <a:rPr lang="en" altLang="en-US" dirty="0">
                <a:latin typeface="Aptos Display" panose="020B0004020202020204" pitchFamily="34" charset="0"/>
              </a:rPr>
              <a:t>.</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1167238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ea typeface="+mn-ea"/>
              </a:rPr>
              <a:t>Practice problem </a:t>
            </a:r>
            <a:r>
              <a:rPr lang="en" altLang="zh-CN" dirty="0">
                <a:solidFill>
                  <a:schemeClr val="bg1"/>
                </a:solidFill>
                <a:latin typeface="Aptos Display" panose="020B0004020202020204" pitchFamily="34" charset="0"/>
                <a:ea typeface="+mn-ea"/>
              </a:rPr>
              <a:t>7 </a:t>
            </a:r>
            <a:r>
              <a:rPr lang="en" altLang="en-US" dirty="0">
                <a:solidFill>
                  <a:schemeClr val="bg1"/>
                </a:solidFill>
                <a:latin typeface="Aptos Display" panose="020B0004020202020204" pitchFamily="34" charset="0"/>
                <a:ea typeface="+mn-ea"/>
              </a:rPr>
              <a:t>: Kakugawa Conjecture</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723240" y="1486111"/>
                <a:ext cx="8706221" cy="443285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𝑘</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    </m:t>
                              </m:r>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𝐸𝑛𝑑</m:t>
                              </m:r>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&gt;1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2==0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e>
                                            <m:e/>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e>
                                          </m:eqArr>
                                        </m:e>
                                      </m:d>
                                      <m:r>
                                        <a:rPr lang="en-US" altLang="zh-CN" sz="2000" b="0" i="1" smtClean="0">
                                          <a:latin typeface="Cambria Math" panose="02040503050406030204" pitchFamily="18" charset="0"/>
                                        </a:rPr>
                                        <m:t>             </m:t>
                                      </m:r>
                                    </m:e>
                                    <m:e/>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2≠0            </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𝑝𝑟𝑖𝑛𝑡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∗3+1=…</m:t>
                                              </m:r>
                                            </m:e>
                                            <m:e/>
                                            <m:e>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∗3+1)</m:t>
                                              </m:r>
                                            </m:e>
                                          </m:eqArr>
                                        </m:e>
                                      </m:d>
                                    </m:e>
                                  </m:eqArr>
                                </m:e>
                              </m:d>
                            </m:e>
                          </m:eqArr>
                        </m:e>
                      </m:d>
                    </m:oMath>
                  </m:oMathPara>
                </a14:m>
                <a:endParaRPr lang="en-US" altLang="zh-CN" sz="2000"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723240" y="1486111"/>
                <a:ext cx="8706221" cy="4432852"/>
              </a:xfrm>
              <a:prstGeom prst="rect">
                <a:avLst/>
              </a:prstGeom>
              <a:blipFill>
                <a:blip r:embed="rId3"/>
                <a:stretch>
                  <a:fillRect t="-28857" b="-76286"/>
                </a:stretch>
              </a:blipFill>
            </p:spPr>
            <p:txBody>
              <a:bodyPr/>
              <a:lstStyle/>
              <a:p>
                <a:r>
                  <a:rPr lang="en-AU">
                    <a:noFill/>
                  </a:rPr>
                  <a:t> </a:t>
                </a:r>
              </a:p>
            </p:txBody>
          </p:sp>
        </mc:Fallback>
      </mc:AlternateContent>
    </p:spTree>
    <p:extLst>
      <p:ext uri="{BB962C8B-B14F-4D97-AF65-F5344CB8AC3E}">
        <p14:creationId xmlns:p14="http://schemas.microsoft.com/office/powerpoint/2010/main" val="3629360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Classroom Example </a:t>
            </a:r>
            <a:r>
              <a:rPr lang="en" altLang="zh-CN" dirty="0">
                <a:solidFill>
                  <a:schemeClr val="bg1"/>
                </a:solidFill>
                <a:latin typeface="Aptos Display" panose="020B0004020202020204" pitchFamily="34" charset="0"/>
              </a:rPr>
              <a:t>8 </a:t>
            </a:r>
            <a:r>
              <a:rPr lang="en" altLang="en-US" dirty="0">
                <a:solidFill>
                  <a:schemeClr val="bg1"/>
                </a:solidFill>
                <a:latin typeface="Aptos Display" panose="020B0004020202020204" pitchFamily="34" charset="0"/>
              </a:rPr>
              <a:t>: Pascal's Triangle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fontScale="92500" lnSpcReduction="20000"/>
          </a:bodyPr>
          <a:lstStyle/>
          <a:p>
            <a:r>
              <a:rPr lang="en" altLang="en-US" dirty="0">
                <a:latin typeface="Aptos Display" panose="020B0004020202020204" pitchFamily="34" charset="0"/>
              </a:rPr>
              <a:t>The right figure is Pascal's triangle. Output the value of the row and column based on the row number and column number.</a:t>
            </a:r>
            <a:endParaRPr lang="en-US" altLang="zh-CN" dirty="0">
              <a:latin typeface="Aptos Display" panose="020B0004020202020204" pitchFamily="34" charset="0"/>
            </a:endParaRPr>
          </a:p>
          <a:p>
            <a:r>
              <a:rPr lang="en" altLang="en-US" dirty="0">
                <a:latin typeface="Aptos Display" panose="020B0004020202020204" pitchFamily="34" charset="0"/>
              </a:rPr>
              <a:t>Input example: </a:t>
            </a:r>
            <a:r>
              <a:rPr lang="en" altLang="zh-CN" dirty="0">
                <a:latin typeface="Aptos Display" panose="020B0004020202020204" pitchFamily="34" charset="0"/>
              </a:rPr>
              <a:t>4 2</a:t>
            </a:r>
          </a:p>
          <a:p>
            <a:r>
              <a:rPr lang="en" altLang="en-US" dirty="0">
                <a:latin typeface="Aptos Display" panose="020B0004020202020204" pitchFamily="34" charset="0"/>
              </a:rPr>
              <a:t>Output example: </a:t>
            </a:r>
            <a:r>
              <a:rPr lang="en" altLang="zh-CN" dirty="0">
                <a:latin typeface="Aptos Display" panose="020B0004020202020204" pitchFamily="34" charset="0"/>
              </a:rPr>
              <a:t>6</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678609" y="3420354"/>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𝑚</m:t>
                              </m:r>
                              <m:r>
                                <a:rPr lang="en-US" altLang="zh-CN" b="0" i="1" smtClean="0">
                                  <a:latin typeface="Cambria Math" panose="02040503050406030204" pitchFamily="18" charset="0"/>
                                </a:rPr>
                                <m:t>==0;   =1                                                </m:t>
                              </m:r>
                            </m:e>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=1                                                 </m:t>
                              </m:r>
                            </m:e>
                            <m:e>
                              <m:r>
                                <a:rPr lang="en-US" altLang="zh-CN" b="0" i="1" smtClean="0">
                                  <a:latin typeface="Cambria Math" panose="02040503050406030204" pitchFamily="18" charset="0"/>
                                </a:rPr>
                                <m:t>𝑒𝑙𝑠𝑒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e>
                              </m:d>
                              <m:r>
                                <a:rPr lang="zh-CN" altLang="en-US" b="0" i="1" smtClean="0">
                                  <a:latin typeface="Cambria Math" panose="02040503050406030204" pitchFamily="18" charset="0"/>
                                </a:rPr>
                                <m:t>     </m:t>
                              </m:r>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678609" y="3420354"/>
                <a:ext cx="7646783" cy="2922104"/>
              </a:xfrm>
              <a:prstGeom prst="rect">
                <a:avLst/>
              </a:prstGeom>
              <a:blipFill>
                <a:blip r:embed="rId3"/>
                <a:stretch>
                  <a:fillRect l="-5141" t="-84416" b="-83117"/>
                </a:stretch>
              </a:blipFill>
            </p:spPr>
            <p:txBody>
              <a:bodyPr/>
              <a:lstStyle/>
              <a:p>
                <a:r>
                  <a:rPr lang="en-AU">
                    <a:noFill/>
                  </a:rPr>
                  <a:t> </a:t>
                </a:r>
              </a:p>
            </p:txBody>
          </p:sp>
        </mc:Fallback>
      </mc:AlternateContent>
      <p:sp>
        <p:nvSpPr>
          <p:cNvPr id="7" name="内容占位符 2">
            <a:extLst>
              <a:ext uri="{FF2B5EF4-FFF2-40B4-BE49-F238E27FC236}">
                <a16:creationId xmlns:a16="http://schemas.microsoft.com/office/drawing/2014/main" id="{77FFF625-3ADD-4535-8540-2D773D29404D}"/>
              </a:ext>
            </a:extLst>
          </p:cNvPr>
          <p:cNvSpPr txBox="1">
            <a:spLocks/>
          </p:cNvSpPr>
          <p:nvPr/>
        </p:nvSpPr>
        <p:spPr>
          <a:xfrm>
            <a:off x="8488018" y="2101765"/>
            <a:ext cx="4167809" cy="31249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2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3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3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a:t>
            </a:r>
          </a:p>
          <a:p>
            <a:pPr marL="0" inden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4</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6</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4</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1</a:t>
            </a:r>
          </a:p>
          <a:p>
            <a:pPr marL="0" indent="0">
              <a:buNone/>
            </a:pPr>
            <a:r>
              <a:rPr lang="en" altLang="zh-CN" sz="2000" dirty="0">
                <a:latin typeface="Consolas" panose="020B0609020204030204" pitchFamily="49" charset="0"/>
                <a:cs typeface="Consolas" panose="020B0609020204030204" pitchFamily="49" charset="0"/>
              </a:rPr>
              <a:t>1 </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5</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10</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10</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5</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1</a:t>
            </a:r>
          </a:p>
        </p:txBody>
      </p:sp>
    </p:spTree>
    <p:extLst>
      <p:ext uri="{BB962C8B-B14F-4D97-AF65-F5344CB8AC3E}">
        <p14:creationId xmlns:p14="http://schemas.microsoft.com/office/powerpoint/2010/main" val="357138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9 </a:t>
            </a:r>
            <a:r>
              <a:rPr lang="en" altLang="en-US" dirty="0">
                <a:solidFill>
                  <a:schemeClr val="bg1"/>
                </a:solidFill>
                <a:latin typeface="Aptos Display" panose="020B0004020202020204" pitchFamily="34" charset="0"/>
              </a:rPr>
              <a:t>: Find </a:t>
            </a:r>
            <a:r>
              <a:rPr lang="en" altLang="zh-CN" cap="none" dirty="0" err="1">
                <a:solidFill>
                  <a:schemeClr val="bg1"/>
                </a:solidFill>
                <a:latin typeface="Aptos Display" panose="020B0004020202020204" pitchFamily="34" charset="0"/>
              </a:rPr>
              <a:t>x</a:t>
            </a:r>
            <a:r>
              <a:rPr lang="en" altLang="zh-CN" cap="none" baseline="30000" dirty="0" err="1">
                <a:solidFill>
                  <a:schemeClr val="bg1"/>
                </a:solidFill>
                <a:latin typeface="Aptos Display" panose="020B0004020202020204" pitchFamily="34" charset="0"/>
              </a:rPr>
              <a:t>n</a:t>
            </a:r>
            <a:endParaRPr lang="zh-CN" altLang="en-US" cap="none" baseline="30000"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1707664"/>
          </a:xfrm>
        </p:spPr>
        <p:txBody>
          <a:bodyPr>
            <a:normAutofit/>
          </a:bodyPr>
          <a:lstStyle/>
          <a:p>
            <a:r>
              <a:rPr lang="en" altLang="zh-CN" dirty="0" err="1">
                <a:latin typeface="Aptos Display" panose="020B0004020202020204" pitchFamily="34" charset="0"/>
              </a:rPr>
              <a:t>x</a:t>
            </a:r>
            <a:r>
              <a:rPr lang="en" altLang="zh-CN" baseline="30000" dirty="0" err="1">
                <a:latin typeface="Aptos Display" panose="020B0004020202020204" pitchFamily="34" charset="0"/>
              </a:rPr>
              <a:t>n</a:t>
            </a:r>
            <a:r>
              <a:rPr lang="en" altLang="zh-CN" baseline="30000" dirty="0">
                <a:latin typeface="Aptos Display" panose="020B0004020202020204" pitchFamily="34" charset="0"/>
              </a:rPr>
              <a:t> </a:t>
            </a:r>
            <a:r>
              <a:rPr lang="en" altLang="en-US" dirty="0">
                <a:latin typeface="Aptos Display" panose="020B0004020202020204" pitchFamily="34" charset="0"/>
              </a:rPr>
              <a:t>using a recursive method.</a:t>
            </a:r>
            <a:r>
              <a:rPr lang="en" altLang="zh-CN" baseline="30000" dirty="0">
                <a:latin typeface="Aptos Display" panose="020B0004020202020204" pitchFamily="34" charset="0"/>
              </a:rPr>
              <a:t> </a:t>
            </a:r>
            <a:r>
              <a:rPr lang="en" altLang="zh-CN" dirty="0">
                <a:latin typeface="Aptos Display" panose="020B0004020202020204" pitchFamily="34" charset="0"/>
              </a:rPr>
              <a:t>(x != 0 </a:t>
            </a:r>
            <a:r>
              <a:rPr lang="en" altLang="en-US" dirty="0">
                <a:latin typeface="Aptos Display" panose="020B0004020202020204" pitchFamily="34" charset="0"/>
              </a:rPr>
              <a:t>, </a:t>
            </a:r>
            <a:r>
              <a:rPr lang="en" altLang="zh-CN" dirty="0">
                <a:latin typeface="Aptos Display" panose="020B0004020202020204" pitchFamily="34" charset="0"/>
              </a:rPr>
              <a:t>n </a:t>
            </a:r>
            <a:r>
              <a:rPr lang="en" altLang="en-US" dirty="0">
                <a:latin typeface="Aptos Display" panose="020B0004020202020204" pitchFamily="34" charset="0"/>
              </a:rPr>
              <a:t>is an integer </a:t>
            </a:r>
            <a:r>
              <a:rPr lang="en" altLang="zh-CN" dirty="0">
                <a:latin typeface="Aptos Display" panose="020B0004020202020204" pitchFamily="34" charset="0"/>
              </a:rPr>
              <a:t>)</a:t>
            </a:r>
          </a:p>
          <a:p>
            <a:r>
              <a:rPr lang="en" altLang="en-US" dirty="0">
                <a:latin typeface="Aptos Display" panose="020B0004020202020204" pitchFamily="34" charset="0"/>
              </a:rPr>
              <a:t>Input example: </a:t>
            </a:r>
            <a:r>
              <a:rPr lang="en" altLang="zh-CN" dirty="0">
                <a:latin typeface="Consolas" panose="020B0609020204030204" pitchFamily="49" charset="0"/>
                <a:cs typeface="Consolas" panose="020B0609020204030204" pitchFamily="49" charset="0"/>
              </a:rPr>
              <a:t>4 2</a:t>
            </a:r>
          </a:p>
          <a:p>
            <a:r>
              <a:rPr lang="en" altLang="en-US" dirty="0">
                <a:latin typeface="Aptos Display" panose="020B0004020202020204" pitchFamily="34" charset="0"/>
              </a:rPr>
              <a:t>Output example: </a:t>
            </a:r>
            <a:r>
              <a:rPr lang="en" altLang="zh-CN" dirty="0">
                <a:latin typeface="Consolas" panose="020B0609020204030204" pitchFamily="49" charset="0"/>
                <a:cs typeface="Consolas" panose="020B0609020204030204" pitchFamily="49" charset="0"/>
              </a:rPr>
              <a:t>16.00</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678609" y="3420354"/>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&gt;0)                            </m:t>
                              </m:r>
                            </m:e>
                            <m:e>
                              <m:r>
                                <a:rPr lang="en-US" altLang="zh-CN" b="0" i="1" smtClean="0">
                                  <a:latin typeface="Cambria Math" panose="02040503050406030204" pitchFamily="18" charset="0"/>
                                </a:rPr>
                                <m:t>1;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                         </m:t>
                              </m:r>
                            </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&lt;0</m:t>
                                  </m:r>
                                </m:e>
                              </m:d>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678609" y="3420354"/>
                <a:ext cx="7646783" cy="2922104"/>
              </a:xfrm>
              <a:prstGeom prst="rect">
                <a:avLst/>
              </a:prstGeom>
              <a:blipFill>
                <a:blip r:embed="rId3"/>
                <a:stretch>
                  <a:fillRect l="-11443" t="-99134" b="-113853"/>
                </a:stretch>
              </a:blipFill>
            </p:spPr>
            <p:txBody>
              <a:bodyPr/>
              <a:lstStyle/>
              <a:p>
                <a:r>
                  <a:rPr lang="en-AU">
                    <a:noFill/>
                  </a:rPr>
                  <a:t> </a:t>
                </a:r>
              </a:p>
            </p:txBody>
          </p:sp>
        </mc:Fallback>
      </mc:AlternateContent>
    </p:spTree>
    <p:extLst>
      <p:ext uri="{BB962C8B-B14F-4D97-AF65-F5344CB8AC3E}">
        <p14:creationId xmlns:p14="http://schemas.microsoft.com/office/powerpoint/2010/main" val="279292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9 </a:t>
            </a:r>
            <a:r>
              <a:rPr lang="en" altLang="en-US" dirty="0">
                <a:solidFill>
                  <a:schemeClr val="bg1"/>
                </a:solidFill>
                <a:latin typeface="Aptos Display" panose="020B0004020202020204" pitchFamily="34" charset="0"/>
              </a:rPr>
              <a:t>: Find </a:t>
            </a:r>
            <a:r>
              <a:rPr lang="en" altLang="zh-CN" cap="none" dirty="0" err="1">
                <a:solidFill>
                  <a:schemeClr val="bg1"/>
                </a:solidFill>
                <a:latin typeface="Aptos Display" panose="020B0004020202020204" pitchFamily="34" charset="0"/>
              </a:rPr>
              <a:t>x</a:t>
            </a:r>
            <a:r>
              <a:rPr lang="en" altLang="zh-CN" cap="none" baseline="30000" dirty="0" err="1">
                <a:solidFill>
                  <a:schemeClr val="bg1"/>
                </a:solidFill>
                <a:latin typeface="Aptos Display" panose="020B0004020202020204" pitchFamily="34" charset="0"/>
              </a:rPr>
              <a:t>n</a:t>
            </a:r>
            <a:endParaRPr lang="zh-CN" altLang="en-US" cap="none" baseline="30000" dirty="0">
              <a:solidFill>
                <a:schemeClr val="bg1"/>
              </a:solidFill>
              <a:latin typeface="Aptos Display" panose="020B0004020202020204" pitchFamily="34" charset="0"/>
            </a:endParaRPr>
          </a:p>
        </p:txBody>
      </p:sp>
      <p:pic>
        <p:nvPicPr>
          <p:cNvPr id="4" name="图片 3">
            <a:extLst>
              <a:ext uri="{FF2B5EF4-FFF2-40B4-BE49-F238E27FC236}">
                <a16:creationId xmlns:a16="http://schemas.microsoft.com/office/drawing/2014/main" id="{87FFE77D-78A4-8F14-7C98-8F979F39E9B4}"/>
              </a:ext>
            </a:extLst>
          </p:cNvPr>
          <p:cNvPicPr>
            <a:picLocks noChangeAspect="1"/>
          </p:cNvPicPr>
          <p:nvPr/>
        </p:nvPicPr>
        <p:blipFill>
          <a:blip/>
          <a:stretch>
            <a:fillRect/>
          </a:stretch>
        </p:blipFill>
        <p:spPr>
          <a:xfrm>
            <a:off x="739568" y="1378226"/>
            <a:ext cx="9223561" cy="5247657"/>
          </a:xfrm>
          <a:prstGeom prst="rect">
            <a:avLst/>
          </a:prstGeom>
        </p:spPr>
      </p:pic>
    </p:spTree>
    <p:extLst>
      <p:ext uri="{BB962C8B-B14F-4D97-AF65-F5344CB8AC3E}">
        <p14:creationId xmlns:p14="http://schemas.microsoft.com/office/powerpoint/2010/main" val="3669701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8" y="7541"/>
            <a:ext cx="11029687" cy="1478570"/>
          </a:xfrm>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10</a:t>
            </a:r>
            <a:r>
              <a:rPr lang="e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Solving</a:t>
            </a:r>
            <a:r>
              <a:rPr lang="en" altLang="en-US" dirty="0">
                <a:solidFill>
                  <a:schemeClr val="bg1"/>
                </a:solidFill>
                <a:latin typeface="Aptos Display" panose="020B0004020202020204" pitchFamily="34" charset="0"/>
              </a:rPr>
              <a:t> </a:t>
            </a:r>
            <a:r>
              <a:rPr lang="en" altLang="zh-CN" cap="none" dirty="0">
                <a:solidFill>
                  <a:schemeClr val="bg1"/>
                </a:solidFill>
                <a:latin typeface="Aptos Display" panose="020B0004020202020204" pitchFamily="34" charset="0"/>
              </a:rPr>
              <a:t>Ackman</a:t>
            </a:r>
            <a:r>
              <a:rPr lang="zh-CN" altLang="en-US" cap="none" dirty="0">
                <a:solidFill>
                  <a:schemeClr val="bg1"/>
                </a:solidFill>
                <a:latin typeface="Aptos Display" panose="020B0004020202020204" pitchFamily="34" charset="0"/>
              </a:rPr>
              <a:t> </a:t>
            </a:r>
            <a:r>
              <a:rPr lang="en" altLang="en-US" dirty="0">
                <a:solidFill>
                  <a:schemeClr val="bg1"/>
                </a:solidFill>
                <a:latin typeface="Aptos Display" panose="020B0004020202020204" pitchFamily="34" charset="0"/>
              </a:rPr>
              <a:t>function</a:t>
            </a:r>
            <a:endParaRPr lang="zh-CN" altLang="en-US" cap="none" baseline="30000" dirty="0">
              <a:solidFill>
                <a:schemeClr val="bg1"/>
              </a:solidFill>
              <a:latin typeface="Aptos Display" panose="020B0004020202020204" pitchFamily="34" charset="0"/>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753507"/>
          </a:xfrm>
        </p:spPr>
        <p:txBody>
          <a:bodyPr>
            <a:normAutofit/>
          </a:bodyPr>
          <a:lstStyle/>
          <a:p>
            <a:r>
              <a:rPr lang="en" altLang="zh-CN" dirty="0">
                <a:latin typeface="Aptos Display" panose="020B0004020202020204" pitchFamily="34" charset="0"/>
              </a:rPr>
              <a:t>Ackman </a:t>
            </a:r>
            <a:r>
              <a:rPr lang="en" altLang="en-US" dirty="0">
                <a:latin typeface="Aptos Display" panose="020B0004020202020204" pitchFamily="34" charset="0"/>
              </a:rPr>
              <a:t>function is defined as follows:</a:t>
            </a:r>
            <a:endParaRPr lang="en-US" altLang="zh-CN" dirty="0">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B53BB9B-7F6C-4FAC-B0E3-DDCC1B520994}"/>
                  </a:ext>
                </a:extLst>
              </p:cNvPr>
              <p:cNvSpPr txBox="1">
                <a:spLocks/>
              </p:cNvSpPr>
              <p:nvPr/>
            </p:nvSpPr>
            <p:spPr>
              <a:xfrm>
                <a:off x="1208696" y="2449786"/>
                <a:ext cx="7646783" cy="29221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𝑎𝑐𝑘</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𝑛</m:t>
                              </m:r>
                              <m:r>
                                <a:rPr lang="en-US" altLang="zh-CN" b="0" i="1" smtClean="0">
                                  <a:latin typeface="Cambria Math" panose="02040503050406030204" pitchFamily="18" charset="0"/>
                                </a:rPr>
                                <m:t>+1;                                 (</m:t>
                              </m:r>
                              <m:r>
                                <a:rPr lang="en-US" altLang="zh-CN" b="0" i="1" smtClean="0">
                                  <a:latin typeface="Cambria Math" panose="02040503050406030204" pitchFamily="18" charset="0"/>
                                </a:rPr>
                                <m:t>𝑚</m:t>
                              </m:r>
                              <m:r>
                                <a:rPr lang="en-US" altLang="zh-CN" b="0" i="1" smtClean="0">
                                  <a:latin typeface="Cambria Math" panose="02040503050406030204" pitchFamily="18" charset="0"/>
                                </a:rPr>
                                <m:t>==0)            </m:t>
                              </m:r>
                            </m:e>
                            <m:e>
                              <m:r>
                                <a:rPr lang="en-US" altLang="zh-CN" b="0" i="1" smtClean="0">
                                  <a:latin typeface="Cambria Math" panose="02040503050406030204" pitchFamily="18" charset="0"/>
                                </a:rPr>
                                <m:t>𝑎𝑐𝑘</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−1,1);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      </m:t>
                              </m:r>
                            </m:e>
                            <m:e>
                              <m:r>
                                <a:rPr lang="en-US" altLang="zh-CN" b="0" i="1" smtClean="0">
                                  <a:latin typeface="Cambria Math" panose="02040503050406030204" pitchFamily="18" charset="0"/>
                                </a:rPr>
                                <m:t>𝑎𝑐𝑘</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r>
                                <a:rPr lang="en-US" altLang="zh-CN" b="0" i="1" smtClean="0">
                                  <a:latin typeface="Cambria Math" panose="02040503050406030204" pitchFamily="18" charset="0"/>
                                </a:rPr>
                                <m:t>𝑎𝑐𝑘</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𝑒𝑙𝑠𝑒</m:t>
                              </m:r>
                              <m:r>
                                <a:rPr lang="en-US" altLang="zh-CN" b="0" i="1" smtClean="0">
                                  <a:latin typeface="Cambria Math" panose="02040503050406030204" pitchFamily="18" charset="0"/>
                                </a:rPr>
                                <m:t>       </m:t>
                              </m:r>
                            </m:e>
                          </m:eqArr>
                        </m:e>
                      </m:d>
                    </m:oMath>
                  </m:oMathPara>
                </a14:m>
                <a:endParaRPr lang="en-US" altLang="zh-CN" dirty="0">
                  <a:latin typeface="Tahoma" panose="020B0604030504040204" pitchFamily="34" charset="0"/>
                </a:endParaRPr>
              </a:p>
            </p:txBody>
          </p:sp>
        </mc:Choice>
        <mc:Fallback xmlns="">
          <p:sp>
            <p:nvSpPr>
              <p:cNvPr id="6" name="内容占位符 2">
                <a:extLst>
                  <a:ext uri="{FF2B5EF4-FFF2-40B4-BE49-F238E27FC236}">
                    <a16:creationId xmlns:a16="http://schemas.microsoft.com/office/drawing/2014/main" id="{4B53BB9B-7F6C-4FAC-B0E3-DDCC1B520994}"/>
                  </a:ext>
                </a:extLst>
              </p:cNvPr>
              <p:cNvSpPr txBox="1">
                <a:spLocks noRot="1" noChangeAspect="1" noMove="1" noResize="1" noEditPoints="1" noAdjustHandles="1" noChangeArrowheads="1" noChangeShapeType="1" noTextEdit="1"/>
              </p:cNvSpPr>
              <p:nvPr/>
            </p:nvSpPr>
            <p:spPr>
              <a:xfrm>
                <a:off x="1208696" y="2449786"/>
                <a:ext cx="7646783" cy="2922104"/>
              </a:xfrm>
              <a:prstGeom prst="rect">
                <a:avLst/>
              </a:prstGeom>
              <a:blipFill>
                <a:blip r:embed="rId3"/>
                <a:stretch>
                  <a:fillRect/>
                </a:stretch>
              </a:blipFill>
            </p:spPr>
            <p:txBody>
              <a:bodyPr/>
              <a:lstStyle/>
              <a:p>
                <a:r xmlns:a="http://schemas.openxmlformats.org/drawingml/2006/main">
                  <a:rPr lang="en" altLang="en-US">
                    <a:noFill/>
                  </a:rPr>
                  <a:t> </a:t>
                </a:r>
              </a:p>
            </p:txBody>
          </p:sp>
        </mc:Fallback>
      </mc:AlternateContent>
      <p:sp>
        <p:nvSpPr>
          <p:cNvPr id="5" name="内容占位符 2">
            <a:extLst>
              <a:ext uri="{FF2B5EF4-FFF2-40B4-BE49-F238E27FC236}">
                <a16:creationId xmlns:a16="http://schemas.microsoft.com/office/drawing/2014/main" id="{D702AE77-E85F-440E-B4F3-71AEE296FD74}"/>
              </a:ext>
            </a:extLst>
          </p:cNvPr>
          <p:cNvSpPr txBox="1">
            <a:spLocks/>
          </p:cNvSpPr>
          <p:nvPr/>
        </p:nvSpPr>
        <p:spPr>
          <a:xfrm>
            <a:off x="3421812" y="4618384"/>
            <a:ext cx="5861336" cy="75350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 altLang="en-US" dirty="0">
                <a:latin typeface="Aptos Display" panose="020B0004020202020204" pitchFamily="34" charset="0"/>
              </a:rPr>
              <a:t>Try to calculate the function value using recursion.</a:t>
            </a:r>
            <a:endParaRPr lang="en-US" altLang="zh-CN" dirty="0">
              <a:latin typeface="Aptos Display" panose="020B0004020202020204" pitchFamily="34" charset="0"/>
            </a:endParaRPr>
          </a:p>
        </p:txBody>
      </p:sp>
    </p:spTree>
    <p:extLst>
      <p:ext uri="{BB962C8B-B14F-4D97-AF65-F5344CB8AC3E}">
        <p14:creationId xmlns:p14="http://schemas.microsoft.com/office/powerpoint/2010/main" val="3446236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11 </a:t>
            </a:r>
            <a:r>
              <a:rPr lang="en" altLang="en-US" dirty="0">
                <a:solidFill>
                  <a:schemeClr val="bg1"/>
                </a:solidFill>
                <a:latin typeface="Aptos Display" panose="020B0004020202020204" pitchFamily="34" charset="0"/>
              </a:rPr>
              <a:t>: Polish Notation</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371890"/>
          </a:xfrm>
        </p:spPr>
        <p:txBody>
          <a:bodyPr>
            <a:normAutofit fontScale="92500" lnSpcReduction="20000"/>
          </a:bodyPr>
          <a:lstStyle/>
          <a:p>
            <a:r>
              <a:rPr lang="en" altLang="en-US" dirty="0">
                <a:latin typeface="Aptos Display" panose="020B0004020202020204" pitchFamily="34" charset="0"/>
              </a:rPr>
              <a:t>Polish notation, also known as prefix </a:t>
            </a:r>
            <a:r>
              <a:rPr lang="en-US" altLang="zh-CN" dirty="0">
                <a:latin typeface="Aptos Display" panose="020B0004020202020204" pitchFamily="34" charset="0"/>
              </a:rPr>
              <a:t>expression</a:t>
            </a:r>
            <a:r>
              <a:rPr lang="en" altLang="en-US" dirty="0">
                <a:latin typeface="Aptos Display" panose="020B0004020202020204" pitchFamily="34" charset="0"/>
              </a:rPr>
              <a:t>, is an arithmetic expression that places operators before the </a:t>
            </a:r>
            <a:r>
              <a:rPr lang="en-US" altLang="zh-CN" dirty="0">
                <a:latin typeface="Aptos Display" panose="020B0004020202020204" pitchFamily="34" charset="0"/>
              </a:rPr>
              <a:t>operands</a:t>
            </a:r>
            <a:r>
              <a:rPr lang="en" altLang="en-US" dirty="0">
                <a:latin typeface="Aptos Display" panose="020B0004020202020204" pitchFamily="34" charset="0"/>
              </a:rPr>
              <a:t>. For example, the Polish notation </a:t>
            </a:r>
            <a:r>
              <a:rPr lang="en-US" altLang="zh-CN" dirty="0">
                <a:latin typeface="Aptos Display" panose="020B0004020202020204" pitchFamily="34" charset="0"/>
              </a:rPr>
              <a:t>for</a:t>
            </a:r>
            <a:r>
              <a:rPr lang="zh-CN" altLang="en-US" dirty="0">
                <a:latin typeface="Aptos Display" panose="020B0004020202020204" pitchFamily="34" charset="0"/>
              </a:rPr>
              <a:t> </a:t>
            </a:r>
            <a:r>
              <a:rPr lang="en" altLang="zh-CN" dirty="0">
                <a:latin typeface="Aptos Display" panose="020B0004020202020204" pitchFamily="34" charset="0"/>
              </a:rPr>
              <a:t>2 + 3 is + 2 3</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 altLang="en-US" dirty="0">
                <a:latin typeface="Aptos Display" panose="020B0004020202020204" pitchFamily="34" charset="0"/>
              </a:rPr>
              <a:t>The advantage of Polish notation is that operators do not need to have precedence relationships, nor do they need to use parentheses to change the order of operations. For example, the Polish notation for </a:t>
            </a:r>
            <a:r>
              <a:rPr lang="en" altLang="zh-CN" dirty="0">
                <a:latin typeface="Aptos Display" panose="020B0004020202020204" pitchFamily="34" charset="0"/>
              </a:rPr>
              <a:t>(2 + 3) * 4 is * + 2 3 4</a:t>
            </a:r>
            <a:r>
              <a:rPr lang="en" altLang="en-US" dirty="0">
                <a:latin typeface="Aptos Display" panose="020B0004020202020204" pitchFamily="34" charset="0"/>
              </a:rPr>
              <a:t>.</a:t>
            </a:r>
            <a:endParaRPr lang="en-US" altLang="zh-CN" dirty="0">
              <a:latin typeface="Aptos Display" panose="020B0004020202020204" pitchFamily="34" charset="0"/>
            </a:endParaRPr>
          </a:p>
          <a:p>
            <a:r>
              <a:rPr lang="en-US" altLang="zh-CN" dirty="0">
                <a:latin typeface="Aptos Display" panose="020B0004020202020204" pitchFamily="34" charset="0"/>
              </a:rPr>
              <a:t>In</a:t>
            </a:r>
            <a:r>
              <a:rPr lang="zh-CN" altLang="en-US" dirty="0">
                <a:latin typeface="Aptos Display" panose="020B0004020202020204" pitchFamily="34" charset="0"/>
              </a:rPr>
              <a:t> </a:t>
            </a:r>
            <a:r>
              <a:rPr lang="en-US" altLang="zh-CN" dirty="0">
                <a:latin typeface="Aptos Display" panose="020B0004020202020204" pitchFamily="34" charset="0"/>
              </a:rPr>
              <a:t>t</a:t>
            </a:r>
            <a:r>
              <a:rPr lang="en" altLang="en-US" dirty="0">
                <a:latin typeface="Aptos Display" panose="020B0004020202020204" pitchFamily="34" charset="0"/>
              </a:rPr>
              <a:t>his problem </a:t>
            </a:r>
            <a:r>
              <a:rPr lang="en-US" altLang="zh-CN" dirty="0">
                <a:latin typeface="Aptos Display" panose="020B0004020202020204" pitchFamily="34" charset="0"/>
              </a:rPr>
              <a:t>you’ll</a:t>
            </a:r>
            <a:r>
              <a:rPr lang="zh-CN" altLang="en-US" dirty="0">
                <a:latin typeface="Aptos Display" panose="020B0004020202020204" pitchFamily="34" charset="0"/>
              </a:rPr>
              <a:t> </a:t>
            </a:r>
            <a:r>
              <a:rPr lang="en-US" altLang="zh-CN" dirty="0">
                <a:latin typeface="Aptos Display" panose="020B0004020202020204" pitchFamily="34" charset="0"/>
              </a:rPr>
              <a:t>evaluate</a:t>
            </a:r>
            <a:r>
              <a:rPr lang="zh-CN" altLang="en-US" dirty="0">
                <a:latin typeface="Aptos Display" panose="020B0004020202020204" pitchFamily="34" charset="0"/>
              </a:rPr>
              <a:t> </a:t>
            </a:r>
            <a:r>
              <a:rPr lang="en" altLang="en-US" dirty="0">
                <a:latin typeface="Aptos Display" panose="020B0004020202020204" pitchFamily="34" charset="0"/>
              </a:rPr>
              <a:t>a Polish notation, which includes the four operators: </a:t>
            </a:r>
            <a:r>
              <a:rPr lang="en" altLang="zh-CN" dirty="0">
                <a:latin typeface="Aptos Display" panose="020B0004020202020204" pitchFamily="34" charset="0"/>
              </a:rPr>
              <a:t>+, -, *, and / </a:t>
            </a:r>
            <a:r>
              <a:rPr lang="en" altLang="en-US" dirty="0">
                <a:latin typeface="Aptos Display" panose="020B0004020202020204" pitchFamily="34" charset="0"/>
              </a:rPr>
              <a:t>.</a:t>
            </a:r>
            <a:endParaRPr lang="en-US" altLang="zh-CN" dirty="0">
              <a:latin typeface="Aptos Display" panose="020B0004020202020204" pitchFamily="34" charset="0"/>
            </a:endParaRPr>
          </a:p>
          <a:p>
            <a:endParaRPr lang="en-US" altLang="zh-CN" dirty="0">
              <a:latin typeface="Aptos Display" panose="020B0004020202020204" pitchFamily="34" charset="0"/>
            </a:endParaRPr>
          </a:p>
          <a:p>
            <a:pPr marL="0" indent="0">
              <a:buNone/>
            </a:pPr>
            <a:r>
              <a:rPr lang="en" altLang="zh-CN" dirty="0">
                <a:latin typeface="Consolas" panose="020B0609020204030204" pitchFamily="49" charset="0"/>
                <a:cs typeface="Consolas" panose="020B0609020204030204" pitchFamily="49" charset="0"/>
              </a:rPr>
              <a:t>(2+3) * 4 + (3+5) / (2+6)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+ 2 3 4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4">
                    <a:lumMod val="75000"/>
                  </a:schemeClr>
                </a:solidFill>
                <a:latin typeface="Consolas" panose="020B0609020204030204" pitchFamily="49" charset="0"/>
                <a:cs typeface="Consolas" panose="020B0609020204030204" pitchFamily="49" charset="0"/>
              </a:rPr>
              <a:t>+ 2 3</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2">
                    <a:lumMod val="75000"/>
                  </a:schemeClr>
                </a:solidFill>
                <a:latin typeface="Consolas" panose="020B0609020204030204" pitchFamily="49" charset="0"/>
                <a:cs typeface="Consolas" panose="020B0609020204030204" pitchFamily="49" charset="0"/>
              </a:rPr>
              <a:t>4</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a:p>
            <a:pPr marL="0" indent="0">
              <a:buNone/>
            </a:pPr>
            <a:r>
              <a:rPr lang="en" altLang="zh-CN" dirty="0">
                <a:latin typeface="Consolas" panose="020B0609020204030204" pitchFamily="49" charset="0"/>
                <a:cs typeface="Consolas" panose="020B0609020204030204" pitchFamily="49" charset="0"/>
              </a:rPr>
              <a:t>+ </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4">
                    <a:lumMod val="75000"/>
                  </a:schemeClr>
                </a:solidFill>
                <a:latin typeface="Consolas" panose="020B0609020204030204" pitchFamily="49" charset="0"/>
                <a:cs typeface="Consolas" panose="020B0609020204030204" pitchFamily="49" charset="0"/>
              </a:rPr>
              <a:t>+ </a:t>
            </a:r>
            <a:r>
              <a:rPr lang="en" altLang="zh-CN" dirty="0">
                <a:solidFill>
                  <a:schemeClr val="accent6">
                    <a:lumMod val="75000"/>
                  </a:schemeClr>
                </a:solidFill>
                <a:latin typeface="Consolas" panose="020B0609020204030204" pitchFamily="49" charset="0"/>
                <a:cs typeface="Consolas" panose="020B0609020204030204" pitchFamily="49" charset="0"/>
              </a:rPr>
              <a:t>2</a:t>
            </a:r>
            <a:r>
              <a:rPr lang="en" altLang="zh-CN" dirty="0">
                <a:solidFill>
                  <a:schemeClr val="accent4">
                    <a:lumMod val="75000"/>
                  </a:schemeClr>
                </a:solidFill>
                <a:latin typeface="Consolas" panose="020B0609020204030204" pitchFamily="49" charset="0"/>
                <a:cs typeface="Consolas" panose="020B0609020204030204" pitchFamily="49" charset="0"/>
              </a:rPr>
              <a:t> </a:t>
            </a:r>
            <a:r>
              <a:rPr lang="en" altLang="zh-CN" dirty="0">
                <a:solidFill>
                  <a:schemeClr val="tx1">
                    <a:lumMod val="50000"/>
                  </a:schemeClr>
                </a:solidFill>
                <a:latin typeface="Consolas" panose="020B0609020204030204" pitchFamily="49" charset="0"/>
                <a:cs typeface="Consolas" panose="020B0609020204030204" pitchFamily="49" charset="0"/>
              </a:rPr>
              <a:t>3</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accent2">
                    <a:lumMod val="75000"/>
                  </a:schemeClr>
                </a:solidFill>
                <a:latin typeface="Consolas" panose="020B0609020204030204" pitchFamily="49" charset="0"/>
                <a:cs typeface="Consolas" panose="020B0609020204030204" pitchFamily="49" charset="0"/>
              </a:rPr>
              <a:t>4</a:t>
            </a:r>
            <a:r>
              <a:rPr lang="en" altLang="zh-CN" dirty="0">
                <a:solidFill>
                  <a:srgbClr val="FF0000"/>
                </a:solidFill>
                <a:latin typeface="Consolas" panose="020B0609020204030204" pitchFamily="49" charset="0"/>
                <a:cs typeface="Consolas" panose="020B0609020204030204" pitchFamily="49" charset="0"/>
              </a:rPr>
              <a:t> </a:t>
            </a:r>
            <a:r>
              <a:rPr lang="en" altLang="zh-CN" dirty="0">
                <a:solidFill>
                  <a:schemeClr val="bg2">
                    <a:lumMod val="60000"/>
                    <a:lumOff val="40000"/>
                  </a:schemeClr>
                </a:solidFill>
                <a:latin typeface="Consolas" panose="020B0609020204030204" pitchFamily="49" charset="0"/>
                <a:cs typeface="Consolas" panose="020B0609020204030204" pitchFamily="49" charset="0"/>
              </a:rPr>
              <a:t>/ + 3 5 + 2 6</a:t>
            </a:r>
          </a:p>
        </p:txBody>
      </p:sp>
    </p:spTree>
    <p:extLst>
      <p:ext uri="{BB962C8B-B14F-4D97-AF65-F5344CB8AC3E}">
        <p14:creationId xmlns:p14="http://schemas.microsoft.com/office/powerpoint/2010/main" val="235051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12</a:t>
            </a:r>
            <a:r>
              <a:rPr lang="en" altLang="en-US" dirty="0">
                <a:solidFill>
                  <a:schemeClr val="bg1"/>
                </a:solidFill>
                <a:latin typeface="Aptos Display" panose="020B0004020202020204" pitchFamily="34" charset="0"/>
              </a:rPr>
              <a:t>: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r>
                  <a:rPr lang="en" altLang="en-US" dirty="0">
                    <a:latin typeface="Aptos Display" panose="020B0004020202020204" pitchFamily="34" charset="0"/>
                  </a:rPr>
                  <a:t>Given a positive integer </a:t>
                </a:r>
                <a14:m>
                  <m:oMath xmlns:m="http://schemas.openxmlformats.org/officeDocument/2006/math">
                    <m:r>
                      <a:rPr lang="en-US" altLang="zh-CN" b="0" i="1">
                        <a:latin typeface="Cambria Math" panose="02040503050406030204" pitchFamily="18" charset="0"/>
                      </a:rPr>
                      <m:t>𝑎</m:t>
                    </m:r>
                    <m:r>
                      <a:rPr lang="en-US" altLang="zh-CN" b="0" i="0">
                        <a:latin typeface="Cambria Math" panose="02040503050406030204" pitchFamily="18" charset="0"/>
                      </a:rPr>
                      <m:t> </m:t>
                    </m:r>
                  </m:oMath>
                </a14:m>
                <a:r>
                  <a:rPr lang="en" altLang="en-US" dirty="0">
                    <a:latin typeface="Aptos Display" panose="020B0004020202020204" pitchFamily="34" charset="0"/>
                  </a:rPr>
                  <a:t>, </a:t>
                </a:r>
                <a:r>
                  <a:rPr lang="en-US" altLang="zh-CN" dirty="0">
                    <a:latin typeface="Aptos Display" panose="020B0004020202020204" pitchFamily="34" charset="0"/>
                  </a:rPr>
                  <a:t>you</a:t>
                </a:r>
                <a:r>
                  <a:rPr lang="zh-CN" altLang="en-US" dirty="0">
                    <a:latin typeface="Aptos Display" panose="020B0004020202020204" pitchFamily="34" charset="0"/>
                  </a:rPr>
                  <a:t> </a:t>
                </a:r>
                <a:r>
                  <a:rPr lang="en-US" altLang="zh-CN" dirty="0">
                    <a:latin typeface="Aptos Display" panose="020B0004020202020204" pitchFamily="34" charset="0"/>
                  </a:rPr>
                  <a:t>can</a:t>
                </a:r>
                <a:r>
                  <a:rPr lang="zh-CN" altLang="en-US" dirty="0">
                    <a:latin typeface="Aptos Display" panose="020B0004020202020204" pitchFamily="34" charset="0"/>
                  </a:rPr>
                  <a:t> </a:t>
                </a:r>
                <a:r>
                  <a:rPr lang="en-US" altLang="zh-CN" dirty="0" err="1">
                    <a:latin typeface="Aptos Display" panose="020B0004020202020204" pitchFamily="34" charset="0"/>
                  </a:rPr>
                  <a:t>factorise</a:t>
                </a:r>
                <a:r>
                  <a:rPr lang="en" altLang="en-US" dirty="0">
                    <a:latin typeface="Aptos Display" panose="020B0004020202020204" pitchFamily="34" charset="0"/>
                  </a:rPr>
                  <a:t> it into a product of several positive integers, i.e.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a:latin typeface="Cambria Math" panose="02040503050406030204" pitchFamily="18" charset="0"/>
                      </a:rPr>
                      <m:t>×</m:t>
                    </m:r>
                    <m:r>
                      <a:rPr lang="en-US" altLang="zh-CN" b="0" i="1" smtClean="0">
                        <a:latin typeface="Cambria Math" panose="02040503050406030204" pitchFamily="18" charset="0"/>
                      </a:rPr>
                      <m:t>…</m:t>
                    </m:r>
                    <m:r>
                      <a:rPr lang="en-US" altLang="zh-CN" b="0" i="1">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smtClean="0">
                            <a:latin typeface="Cambria Math" panose="02040503050406030204" pitchFamily="18" charset="0"/>
                          </a:rPr>
                          <m:t>𝑛</m:t>
                        </m:r>
                      </m:sub>
                    </m:sSub>
                    <m:r>
                      <a:rPr lang="en-US" altLang="zh-CN" b="0" i="0">
                        <a:latin typeface="Cambria Math" panose="02040503050406030204" pitchFamily="18" charset="0"/>
                      </a:rPr>
                      <m:t> </m:t>
                    </m:r>
                  </m:oMath>
                </a14:m>
                <a:r>
                  <a:rPr lang="en" altLang="en-US" dirty="0">
                    <a:latin typeface="Aptos Display" panose="020B0004020202020204" pitchFamily="34" charset="0"/>
                  </a:rPr>
                  <a:t>, </a:t>
                </a:r>
                <a14:m>
                  <m:oMath xmlns:m="http://schemas.openxmlformats.org/officeDocument/2006/math">
                    <m:r>
                      <a:rPr lang="en-US" altLang="zh-CN" b="0" i="1" smtClean="0">
                        <a:latin typeface="Cambria Math" panose="02040503050406030204" pitchFamily="18" charset="0"/>
                      </a:rPr>
                      <m:t>1&lt;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1</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2</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𝑛</m:t>
                        </m:r>
                      </m:sub>
                    </m:sSub>
                  </m:oMath>
                </a14:m>
                <a:r>
                  <a:rPr lang="en-US" altLang="zh-CN" dirty="0">
                    <a:latin typeface="Aptos Display" panose="020B0004020202020204" pitchFamily="34" charset="0"/>
                  </a:rPr>
                  <a:t>.</a:t>
                </a:r>
                <a:r>
                  <a:rPr lang="zh-CN" altLang="en-US" dirty="0">
                    <a:latin typeface="Aptos Display" panose="020B0004020202020204" pitchFamily="34" charset="0"/>
                  </a:rPr>
                  <a:t>  </a:t>
                </a:r>
                <a:r>
                  <a:rPr lang="en-US" altLang="zh-CN" dirty="0">
                    <a:latin typeface="Aptos Display" panose="020B0004020202020204" pitchFamily="34" charset="0"/>
                  </a:rPr>
                  <a:t>F</a:t>
                </a:r>
                <a:r>
                  <a:rPr lang="en" altLang="en-US" dirty="0" err="1">
                    <a:latin typeface="Aptos Display" panose="020B0004020202020204" pitchFamily="34" charset="0"/>
                  </a:rPr>
                  <a:t>ind</a:t>
                </a:r>
                <a:r>
                  <a:rPr lang="en" altLang="en-US" dirty="0">
                    <a:latin typeface="Aptos Display" panose="020B0004020202020204" pitchFamily="34" charset="0"/>
                  </a:rPr>
                  <a:t> the number of </a:t>
                </a:r>
                <a:r>
                  <a:rPr lang="en-US" altLang="zh-CN" dirty="0">
                    <a:latin typeface="Aptos Display" panose="020B0004020202020204" pitchFamily="34" charset="0"/>
                  </a:rPr>
                  <a:t>ways</a:t>
                </a:r>
                <a:r>
                  <a:rPr lang="zh-CN" altLang="en-US" dirty="0">
                    <a:latin typeface="Aptos Display" panose="020B0004020202020204" pitchFamily="34" charset="0"/>
                  </a:rPr>
                  <a:t> </a:t>
                </a:r>
                <a:r>
                  <a:rPr lang="en-US" altLang="zh-CN" dirty="0">
                    <a:latin typeface="Aptos Display" panose="020B0004020202020204" pitchFamily="34" charset="0"/>
                  </a:rPr>
                  <a:t>to</a:t>
                </a:r>
                <a:r>
                  <a:rPr lang="zh-CN" altLang="en-US" dirty="0">
                    <a:latin typeface="Aptos Display" panose="020B0004020202020204" pitchFamily="34" charset="0"/>
                  </a:rPr>
                  <a:t> </a:t>
                </a:r>
                <a:r>
                  <a:rPr lang="en-US" altLang="zh-CN" dirty="0">
                    <a:latin typeface="Aptos Display" panose="020B0004020202020204" pitchFamily="34" charset="0"/>
                  </a:rPr>
                  <a:t>perform</a:t>
                </a:r>
                <a:r>
                  <a:rPr lang="zh-CN" altLang="en-US" dirty="0">
                    <a:latin typeface="Aptos Display" panose="020B0004020202020204" pitchFamily="34" charset="0"/>
                  </a:rPr>
                  <a:t> </a:t>
                </a:r>
                <a:r>
                  <a:rPr lang="en-US" altLang="zh-CN" dirty="0" err="1">
                    <a:latin typeface="Aptos Display" panose="020B0004020202020204" pitchFamily="34" charset="0"/>
                  </a:rPr>
                  <a:t>factorisation</a:t>
                </a:r>
                <a:r>
                  <a:rPr lang="en" altLang="en-US" dirty="0">
                    <a:latin typeface="Aptos Display" panose="020B0004020202020204" pitchFamily="34" charset="0"/>
                  </a:rPr>
                  <a:t>. </a:t>
                </a:r>
                <a:r>
                  <a:rPr lang="zh-CN" altLang="en-US" dirty="0">
                    <a:latin typeface="Aptos Display" panose="020B0004020202020204" pitchFamily="34" charset="0"/>
                  </a:rPr>
                  <a:t> </a:t>
                </a:r>
                <a:r>
                  <a:rPr lang="en" altLang="en-US" dirty="0">
                    <a:latin typeface="Aptos Display" panose="020B0004020202020204" pitchFamily="34" charset="0"/>
                  </a:rPr>
                  <a:t>Note that</a:t>
                </a:r>
                <a:r>
                  <a:rPr lang="zh-CN" altLang="en-US"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𝑎</m:t>
                    </m:r>
                    <m:r>
                      <a:rPr lang="en-US" altLang="zh-CN" b="0" i="1">
                        <a:latin typeface="Cambria Math" panose="02040503050406030204" pitchFamily="18" charset="0"/>
                      </a:rPr>
                      <m:t>=</m:t>
                    </m:r>
                    <m:r>
                      <a:rPr lang="en-US" altLang="zh-CN" b="0" i="1" smtClean="0">
                        <a:latin typeface="Cambria Math" panose="02040503050406030204" pitchFamily="18" charset="0"/>
                      </a:rPr>
                      <m:t>𝑎</m:t>
                    </m:r>
                  </m:oMath>
                </a14:m>
                <a:r>
                  <a:rPr lang="en" altLang="en-US" dirty="0">
                    <a:latin typeface="Aptos Display" panose="020B0004020202020204" pitchFamily="34" charset="0"/>
                  </a:rPr>
                  <a:t> is </a:t>
                </a:r>
                <a:r>
                  <a:rPr lang="en-US" altLang="zh-CN" dirty="0">
                    <a:latin typeface="Aptos Display" panose="020B0004020202020204" pitchFamily="34" charset="0"/>
                  </a:rPr>
                  <a:t>a</a:t>
                </a:r>
                <a:r>
                  <a:rPr lang="zh-CN" altLang="en-US" dirty="0">
                    <a:latin typeface="Aptos Display" panose="020B0004020202020204" pitchFamily="34" charset="0"/>
                  </a:rPr>
                  <a:t> </a:t>
                </a:r>
                <a:r>
                  <a:rPr lang="en-US" altLang="zh-CN" dirty="0">
                    <a:latin typeface="Aptos Display" panose="020B0004020202020204" pitchFamily="34" charset="0"/>
                  </a:rPr>
                  <a:t>valid</a:t>
                </a:r>
                <a:r>
                  <a:rPr lang="zh-CN" altLang="en-US" dirty="0">
                    <a:latin typeface="Aptos Display" panose="020B0004020202020204" pitchFamily="34" charset="0"/>
                  </a:rPr>
                  <a:t> </a:t>
                </a:r>
                <a:r>
                  <a:rPr lang="en-US" altLang="zh-CN" dirty="0" err="1">
                    <a:latin typeface="Aptos Display" panose="020B0004020202020204" pitchFamily="34" charset="0"/>
                  </a:rPr>
                  <a:t>factorisation</a:t>
                </a:r>
                <a:r>
                  <a:rPr lang="en" altLang="en-US" dirty="0">
                    <a:latin typeface="Aptos Display" panose="020B0004020202020204" pitchFamily="34" charset="0"/>
                  </a:rPr>
                  <a:t>.</a:t>
                </a:r>
                <a:endParaRPr lang="en-US" altLang="zh-CN" dirty="0">
                  <a:latin typeface="Aptos Display" panose="020B0004020202020204" pitchFamily="34" charset="0"/>
                </a:endParaRPr>
              </a:p>
              <a:p>
                <a14:m>
                  <m:oMath xmlns:m="http://schemas.openxmlformats.org/officeDocument/2006/math">
                    <m:func>
                      <m:funcPr>
                        <m:ctrlPr>
                          <a:rPr lang="en-US" altLang="zh-CN" i="1">
                            <a:latin typeface="Cambria Math" panose="02040503050406030204" pitchFamily="18" charset="0"/>
                          </a:rPr>
                        </m:ctrlPr>
                      </m:funcPr>
                      <m:fName>
                        <m:r>
                          <a:rPr lang="en-US" altLang="zh-CN" b="0" i="1">
                            <a:latin typeface="Cambria Math" panose="02040503050406030204" pitchFamily="18" charset="0"/>
                          </a:rPr>
                          <m:t>𝑓</m:t>
                        </m:r>
                      </m:fName>
                      <m:e>
                        <m:d>
                          <m:dPr>
                            <m:ctrlPr>
                              <a:rPr lang="en-US" altLang="zh-CN" i="1">
                                <a:latin typeface="Cambria Math" panose="02040503050406030204" pitchFamily="18" charset="0"/>
                              </a:rPr>
                            </m:ctrlPr>
                          </m:dPr>
                          <m:e>
                            <m:r>
                              <a:rPr lang="en-US" altLang="zh-CN" b="0" i="1">
                                <a:latin typeface="Cambria Math" panose="02040503050406030204" pitchFamily="18" charset="0"/>
                              </a:rPr>
                              <m:t>𝑟𝑒𝑚𝑎𝑖𝑛</m:t>
                            </m:r>
                            <m:r>
                              <a:rPr lang="en-US" altLang="zh-CN" b="0" i="1">
                                <a:latin typeface="Cambria Math" panose="02040503050406030204" pitchFamily="18" charset="0"/>
                              </a:rPr>
                              <m:t>,</m:t>
                            </m:r>
                            <m:r>
                              <a:rPr lang="en-US" altLang="zh-CN" b="0" i="1">
                                <a:latin typeface="Cambria Math" panose="02040503050406030204" pitchFamily="18" charset="0"/>
                              </a:rPr>
                              <m:t>𝑝𝑟𝑒</m:t>
                            </m:r>
                          </m:e>
                        </m:d>
                      </m:e>
                    </m:func>
                  </m:oMath>
                </a14:m>
                <a:r>
                  <a:rPr lang="en" altLang="zh-CN" dirty="0">
                    <a:latin typeface="Aptos Display" panose="020B0004020202020204" pitchFamily="34" charset="0"/>
                  </a:rPr>
                  <a:t> </a:t>
                </a:r>
                <a:r>
                  <a:rPr lang="en" altLang="en-US" dirty="0">
                    <a:latin typeface="Aptos Display" panose="020B0004020202020204" pitchFamily="34" charset="0"/>
                  </a:rPr>
                  <a:t>indicates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US" altLang="zh-CN" dirty="0">
                    <a:latin typeface="Aptos Display" panose="020B0004020202020204" pitchFamily="34" charset="0"/>
                  </a:rPr>
                  <a:t>number</a:t>
                </a:r>
                <a:r>
                  <a:rPr lang="zh-CN" altLang="en-US" dirty="0">
                    <a:latin typeface="Aptos Display" panose="020B0004020202020204" pitchFamily="34" charset="0"/>
                  </a:rPr>
                  <a:t> </a:t>
                </a:r>
                <a:r>
                  <a:rPr lang="en-US" altLang="zh-CN" dirty="0">
                    <a:latin typeface="Aptos Display" panose="020B0004020202020204" pitchFamily="34" charset="0"/>
                  </a:rPr>
                  <a:t>of</a:t>
                </a:r>
                <a:r>
                  <a:rPr lang="zh-CN" altLang="en-US" dirty="0">
                    <a:latin typeface="Aptos Display" panose="020B0004020202020204" pitchFamily="34" charset="0"/>
                  </a:rPr>
                  <a:t> </a:t>
                </a:r>
                <a:r>
                  <a:rPr lang="en-US" altLang="zh-CN" dirty="0" err="1">
                    <a:latin typeface="Aptos Display" panose="020B0004020202020204" pitchFamily="34" charset="0"/>
                  </a:rPr>
                  <a:t>factorisations</a:t>
                </a:r>
                <a:r>
                  <a:rPr lang="zh-CN" altLang="en-US" dirty="0">
                    <a:latin typeface="Aptos Display" panose="020B0004020202020204" pitchFamily="34" charset="0"/>
                  </a:rPr>
                  <a:t> </a:t>
                </a:r>
                <a:r>
                  <a:rPr lang="en-US" altLang="zh-CN" dirty="0">
                    <a:latin typeface="Aptos Display" panose="020B0004020202020204" pitchFamily="34" charset="0"/>
                  </a:rPr>
                  <a:t>where</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 altLang="en-US" dirty="0">
                    <a:latin typeface="Aptos Display" panose="020B0004020202020204" pitchFamily="34" charset="0"/>
                  </a:rPr>
                  <a:t>current number </a:t>
                </a:r>
                <a:r>
                  <a:rPr lang="en-US" altLang="zh-CN" dirty="0">
                    <a:latin typeface="Aptos Display" panose="020B0004020202020204" pitchFamily="34" charset="0"/>
                  </a:rPr>
                  <a:t>is</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𝑟𝑒𝑚𝑎𝑖𝑛</m:t>
                    </m:r>
                  </m:oMath>
                </a14:m>
                <a:r>
                  <a:rPr lang="zh-CN" altLang="en-US" dirty="0">
                    <a:latin typeface="Aptos Display" panose="020B0004020202020204" pitchFamily="34" charset="0"/>
                  </a:rPr>
                  <a:t> </a:t>
                </a:r>
                <a:r>
                  <a:rPr lang="en-US" altLang="zh-CN" dirty="0">
                    <a:latin typeface="Aptos Display" panose="020B0004020202020204" pitchFamily="34" charset="0"/>
                  </a:rPr>
                  <a:t>and</a:t>
                </a:r>
                <a:r>
                  <a:rPr lang="zh-CN" altLang="en-US" dirty="0">
                    <a:latin typeface="Aptos Display" panose="020B0004020202020204" pitchFamily="34" charset="0"/>
                  </a:rPr>
                  <a:t> </a:t>
                </a:r>
                <a:r>
                  <a:rPr lang="en-US" altLang="zh-CN" dirty="0">
                    <a:latin typeface="Aptos Display" panose="020B0004020202020204" pitchFamily="34" charset="0"/>
                  </a:rPr>
                  <a:t>the</a:t>
                </a:r>
                <a:r>
                  <a:rPr lang="zh-CN" altLang="en-US" dirty="0">
                    <a:latin typeface="Aptos Display" panose="020B0004020202020204" pitchFamily="34" charset="0"/>
                  </a:rPr>
                  <a:t> </a:t>
                </a:r>
                <a:r>
                  <a:rPr lang="en" altLang="en-US" dirty="0">
                    <a:latin typeface="Aptos Display" panose="020B0004020202020204" pitchFamily="34" charset="0"/>
                  </a:rPr>
                  <a:t>next divisor is not less than</a:t>
                </a:r>
                <a:r>
                  <a:rPr lang="en" altLang="zh-CN" dirty="0">
                    <a:latin typeface="Aptos Display" panose="020B0004020202020204" pitchFamily="34" charset="0"/>
                  </a:rPr>
                  <a:t> </a:t>
                </a:r>
                <a14:m>
                  <m:oMath xmlns:m="http://schemas.openxmlformats.org/officeDocument/2006/math">
                    <m:r>
                      <a:rPr lang="en-US" altLang="zh-CN" b="0" i="1">
                        <a:latin typeface="Cambria Math" panose="02040503050406030204" pitchFamily="18" charset="0"/>
                      </a:rPr>
                      <m:t>𝑝𝑟𝑒</m:t>
                    </m:r>
                  </m:oMath>
                </a14:m>
                <a:r>
                  <a:rPr lang="en" altLang="en-US" dirty="0">
                    <a:latin typeface="Aptos Display" panose="020B0004020202020204" pitchFamily="34" charset="0"/>
                  </a:rPr>
                  <a:t>.</a:t>
                </a:r>
                <a:endParaRPr lang="en-US" altLang="zh-CN" dirty="0">
                  <a:latin typeface="Aptos Display" panose="020B0004020202020204" pitchFamily="34" charset="0"/>
                </a:endParaRPr>
              </a:p>
              <a:p>
                <a14:m>
                  <m:oMath xmlns:m="http://schemas.openxmlformats.org/officeDocument/2006/math">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m:t>
                            </m:r>
                            <m:r>
                              <a:rPr lang="en-US" altLang="zh-CN" b="0" i="1" smtClean="0">
                                <a:latin typeface="Cambria Math" panose="02040503050406030204" pitchFamily="18" charset="0"/>
                              </a:rPr>
                              <m:t>𝑝𝑟𝑒</m:t>
                            </m:r>
                          </m:e>
                        </m:d>
                      </m:e>
                    </m:func>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m:t>
                            </m:r>
                            <m:r>
                              <a:rPr lang="en-US" altLang="zh-CN" b="0" i="1" smtClean="0">
                                <a:latin typeface="Cambria Math" panose="02040503050406030204" pitchFamily="18" charset="0"/>
                              </a:rPr>
                              <m:t>𝑎𝑛𝑠</m:t>
                            </m:r>
                            <m:r>
                              <a:rPr lang="en-US" altLang="zh-CN" b="0" i="1" smtClean="0">
                                <a:latin typeface="Cambria Math" panose="02040503050406030204" pitchFamily="18" charset="0"/>
                              </a:rPr>
                              <m:t>                        </m:t>
                            </m:r>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==1</m:t>
                            </m:r>
                          </m:e>
                          <m:e/>
                          <m:e>
                            <m:r>
                              <a:rPr lang="en-US" altLang="zh-CN" b="0" i="1" smtClean="0">
                                <a:latin typeface="Cambria Math" panose="02040503050406030204" pitchFamily="18" charset="0"/>
                              </a:rPr>
                              <m:t>𝑓𝑜𝑟</m:t>
                            </m:r>
                            <m:r>
                              <a:rPr lang="zh-CN" altLang="en-US" b="0" i="1" smtClean="0">
                                <a:latin typeface="Cambria Math" panose="02040503050406030204" pitchFamily="18" charset="0"/>
                              </a:rPr>
                              <m:t> </m:t>
                            </m:r>
                            <m:r>
                              <a:rPr lang="en-US" altLang="zh-CN" b="0" i="1" smtClean="0">
                                <a:latin typeface="Cambria Math" panose="02040503050406030204" pitchFamily="18" charset="0"/>
                              </a:rPr>
                              <m:t>𝑑𝑖𝑣𝑖𝑠𝑜𝑟</m:t>
                            </m:r>
                            <m:r>
                              <a:rPr lang="zh-CN" altLang="en-US" b="0" i="1" smtClean="0">
                                <a:latin typeface="Cambria Math" panose="02040503050406030204" pitchFamily="18" charset="0"/>
                              </a:rPr>
                              <m:t> </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𝑝𝑟𝑒</m:t>
                            </m:r>
                            <m:r>
                              <a:rPr lang="zh-CN" altLang="en-US" i="1">
                                <a:latin typeface="Cambria Math" panose="02040503050406030204" pitchFamily="18" charset="0"/>
                              </a:rPr>
                              <m:t>，</m:t>
                            </m:r>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𝑟𝑒𝑚𝑎𝑖𝑛</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𝑒𝑙𝑠𝑒</m:t>
                            </m:r>
                          </m:e>
                        </m:eqArr>
                      </m:e>
                    </m:d>
                  </m:oMath>
                </a14:m>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1683" r="-996" b="-47837"/>
                </a:stretch>
              </a:blipFill>
            </p:spPr>
            <p:txBody>
              <a:bodyPr/>
              <a:lstStyle/>
              <a:p>
                <a:r>
                  <a:rPr lang="en-AU">
                    <a:noFill/>
                  </a:rPr>
                  <a:t> </a:t>
                </a:r>
              </a:p>
            </p:txBody>
          </p:sp>
        </mc:Fallback>
      </mc:AlternateContent>
    </p:spTree>
    <p:extLst>
      <p:ext uri="{BB962C8B-B14F-4D97-AF65-F5344CB8AC3E}">
        <p14:creationId xmlns:p14="http://schemas.microsoft.com/office/powerpoint/2010/main" val="4093101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US" altLang="zh-CN" dirty="0">
                <a:solidFill>
                  <a:schemeClr val="bg1"/>
                </a:solidFill>
                <a:latin typeface="Aptos Display" panose="020B0004020202020204" pitchFamily="34" charset="0"/>
              </a:rPr>
              <a:t>Practice</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zh-CN" altLang="en-US" dirty="0">
                <a:solidFill>
                  <a:schemeClr val="bg1"/>
                </a:solidFill>
                <a:latin typeface="Aptos Display" panose="020B0004020202020204" pitchFamily="34" charset="0"/>
              </a:rPr>
              <a:t> </a:t>
            </a:r>
            <a:r>
              <a:rPr lang="en" altLang="zh-CN" dirty="0">
                <a:solidFill>
                  <a:schemeClr val="bg1"/>
                </a:solidFill>
                <a:latin typeface="Aptos Display" panose="020B0004020202020204" pitchFamily="34" charset="0"/>
              </a:rPr>
              <a:t>12</a:t>
            </a:r>
            <a:r>
              <a:rPr lang="en" altLang="en-US" dirty="0">
                <a:solidFill>
                  <a:schemeClr val="bg1"/>
                </a:solidFill>
                <a:latin typeface="Aptos Display" panose="020B0004020202020204" pitchFamily="34" charset="0"/>
              </a:rPr>
              <a:t>: </a:t>
            </a:r>
            <a:r>
              <a:rPr lang="en" altLang="en-US" dirty="0" err="1">
                <a:solidFill>
                  <a:schemeClr val="bg1"/>
                </a:solidFill>
                <a:latin typeface="Aptos Display" panose="020B0004020202020204" pitchFamily="34" charset="0"/>
              </a:rPr>
              <a:t>Factori</a:t>
            </a:r>
            <a:r>
              <a:rPr lang="en-US" altLang="zh-CN" dirty="0">
                <a:solidFill>
                  <a:schemeClr val="bg1"/>
                </a:solidFill>
                <a:latin typeface="Aptos Display" panose="020B0004020202020204" pitchFamily="34" charset="0"/>
              </a:rPr>
              <a:t>s</a:t>
            </a:r>
            <a:r>
              <a:rPr lang="en" altLang="en-US" dirty="0" err="1">
                <a:solidFill>
                  <a:schemeClr val="bg1"/>
                </a:solidFill>
                <a:latin typeface="Aptos Display" panose="020B0004020202020204" pitchFamily="34" charset="0"/>
              </a:rPr>
              <a:t>ation</a:t>
            </a:r>
            <a:endParaRPr lang="en" altLang="en-US" dirty="0">
              <a:solidFill>
                <a:schemeClr val="bg1"/>
              </a:solidFill>
              <a:latin typeface="Aptos Display" panose="020B000402020202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186612" cy="5282749"/>
              </a:xfrm>
            </p:spPr>
            <p:txBody>
              <a:bodyPr>
                <a:normAutofit/>
              </a:bodyPr>
              <a:lstStyle/>
              <a:p>
                <a:pPr marL="0" indent="0">
                  <a:buNone/>
                </a:pPr>
                <a:r>
                  <a:rPr lang="en" altLang="en-US" dirty="0">
                    <a:latin typeface="Tahoma" panose="020B0604030504040204" pitchFamily="34" charset="0"/>
                  </a:rPr>
                  <a:t>Solution 2</a:t>
                </a:r>
                <a:endParaRPr lang="en-US" altLang="zh-CN" dirty="0">
                  <a:latin typeface="Tahoma" panose="020B0604030504040204" pitchFamily="34" charset="0"/>
                </a:endParaRPr>
              </a:p>
              <a:p>
                <a14:m>
                  <m:oMath xmlns:m="http://schemas.openxmlformats.org/officeDocument/2006/math">
                    <m:func>
                      <m:funcPr>
                        <m:ctrlPr>
                          <a:rPr lang="en-US" altLang="zh-CN" i="1">
                            <a:latin typeface="Cambria Math" panose="02040503050406030204" pitchFamily="18" charset="0"/>
                          </a:rPr>
                        </m:ctrlPr>
                      </m:funcPr>
                      <m:fName>
                        <m:r>
                          <a:rPr lang="en-US" altLang="zh-CN" i="1">
                            <a:latin typeface="Cambria Math" panose="02040503050406030204" pitchFamily="18" charset="0"/>
                          </a:rPr>
                          <m:t>𝑓</m:t>
                        </m:r>
                      </m:fName>
                      <m:e>
                        <m:d>
                          <m:dPr>
                            <m:ctrlPr>
                              <a:rPr lang="en-US" altLang="zh-CN" i="1">
                                <a:latin typeface="Cambria Math" panose="02040503050406030204" pitchFamily="18" charset="0"/>
                              </a:rPr>
                            </m:ctrlPr>
                          </m:dPr>
                          <m:e>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𝑝</m:t>
                            </m:r>
                          </m:e>
                        </m:d>
                      </m:e>
                    </m:func>
                  </m:oMath>
                </a14:m>
                <a:r>
                  <a:rPr lang="zh-CN" altLang="en-US" dirty="0">
                    <a:latin typeface="Tahoma" panose="020B0604030504040204" pitchFamily="34" charset="0"/>
                  </a:rPr>
                  <a:t> </a:t>
                </a:r>
                <a:r>
                  <a:rPr lang="en-US" altLang="zh-CN" dirty="0">
                    <a:latin typeface="Tahoma" panose="020B0604030504040204" pitchFamily="34" charset="0"/>
                  </a:rPr>
                  <a:t>is</a:t>
                </a:r>
                <a:r>
                  <a:rPr lang="zh-CN" altLang="en-US" dirty="0">
                    <a:latin typeface="Tahoma" panose="020B0604030504040204" pitchFamily="34" charset="0"/>
                  </a:rPr>
                  <a:t> </a:t>
                </a:r>
                <a:r>
                  <a:rPr lang="en-US" altLang="zh-CN" dirty="0">
                    <a:latin typeface="Tahoma" panose="020B0604030504040204" pitchFamily="34" charset="0"/>
                  </a:rPr>
                  <a:t>the</a:t>
                </a:r>
                <a:r>
                  <a:rPr lang="zh-CN" altLang="en-US" dirty="0">
                    <a:latin typeface="Tahoma" panose="020B0604030504040204" pitchFamily="34" charset="0"/>
                  </a:rPr>
                  <a:t> </a:t>
                </a:r>
                <a:r>
                  <a:rPr lang="en-US" altLang="zh-CN" dirty="0">
                    <a:latin typeface="Tahoma" panose="020B0604030504040204" pitchFamily="34" charset="0"/>
                  </a:rPr>
                  <a:t>number</a:t>
                </a:r>
                <a:r>
                  <a:rPr lang="zh-CN" altLang="en-US" dirty="0">
                    <a:latin typeface="Tahoma" panose="020B0604030504040204" pitchFamily="34" charset="0"/>
                  </a:rPr>
                  <a:t> </a:t>
                </a:r>
                <a:r>
                  <a:rPr lang="en-US" altLang="zh-CN" dirty="0">
                    <a:latin typeface="Tahoma" panose="020B0604030504040204" pitchFamily="34" charset="0"/>
                  </a:rPr>
                  <a:t>of</a:t>
                </a:r>
                <a:r>
                  <a:rPr lang="zh-CN" altLang="en-US" dirty="0">
                    <a:latin typeface="Tahoma" panose="020B0604030504040204" pitchFamily="34" charset="0"/>
                  </a:rPr>
                  <a:t> </a:t>
                </a:r>
                <a:r>
                  <a:rPr lang="en-US" altLang="zh-CN" dirty="0" err="1">
                    <a:latin typeface="Tahoma" panose="020B0604030504040204" pitchFamily="34" charset="0"/>
                  </a:rPr>
                  <a:t>factorisations</a:t>
                </a:r>
                <a:r>
                  <a:rPr lang="zh-CN" altLang="en-US" dirty="0">
                    <a:latin typeface="Tahoma" panose="020B0604030504040204" pitchFamily="34" charset="0"/>
                  </a:rPr>
                  <a:t> </a:t>
                </a:r>
                <a:r>
                  <a:rPr lang="en-US" altLang="zh-CN" dirty="0">
                    <a:latin typeface="Tahoma" panose="020B0604030504040204" pitchFamily="34" charset="0"/>
                  </a:rPr>
                  <a:t>where</a:t>
                </a:r>
                <a:r>
                  <a:rPr lang="zh-CN" altLang="en-US" dirty="0">
                    <a:latin typeface="Tahoma" panose="020B0604030504040204" pitchFamily="34" charset="0"/>
                  </a:rPr>
                  <a:t> </a:t>
                </a:r>
                <a:r>
                  <a:rPr lang="en-US" altLang="zh-CN" dirty="0">
                    <a:latin typeface="Tahoma" panose="020B0604030504040204" pitchFamily="34" charset="0"/>
                  </a:rPr>
                  <a:t>the</a:t>
                </a:r>
                <a:r>
                  <a:rPr lang="zh-CN" altLang="en-US" dirty="0">
                    <a:latin typeface="Tahoma" panose="020B0604030504040204" pitchFamily="34" charset="0"/>
                  </a:rPr>
                  <a:t> </a:t>
                </a:r>
                <a:r>
                  <a:rPr lang="en-US" altLang="zh-CN" dirty="0">
                    <a:latin typeface="Tahoma" panose="020B0604030504040204" pitchFamily="34" charset="0"/>
                  </a:rPr>
                  <a:t>current</a:t>
                </a:r>
                <a:r>
                  <a:rPr lang="zh-CN" altLang="en-US" dirty="0">
                    <a:latin typeface="Tahoma" panose="020B0604030504040204" pitchFamily="34" charset="0"/>
                  </a:rPr>
                  <a:t> </a:t>
                </a:r>
                <a:r>
                  <a:rPr lang="en-US" altLang="zh-CN" dirty="0">
                    <a:latin typeface="Tahoma" panose="020B0604030504040204" pitchFamily="34" charset="0"/>
                  </a:rPr>
                  <a:t>number</a:t>
                </a:r>
                <a:r>
                  <a:rPr lang="zh-CN" altLang="en-US" dirty="0">
                    <a:latin typeface="Tahoma" panose="020B0604030504040204" pitchFamily="34" charset="0"/>
                  </a:rPr>
                  <a:t> </a:t>
                </a:r>
                <a:r>
                  <a:rPr lang="en-US" altLang="zh-CN" dirty="0">
                    <a:latin typeface="Tahoma" panose="020B0604030504040204" pitchFamily="34" charset="0"/>
                  </a:rPr>
                  <a:t>is</a:t>
                </a:r>
                <a:r>
                  <a:rPr lang="zh-CN" altLang="en-US" dirty="0">
                    <a:latin typeface="Tahoma" panose="020B0604030504040204" pitchFamily="34" charset="0"/>
                  </a:rPr>
                  <a:t> </a:t>
                </a:r>
                <a14:m>
                  <m:oMath xmlns:m="http://schemas.openxmlformats.org/officeDocument/2006/math">
                    <m:r>
                      <a:rPr lang="en-US" altLang="zh-CN" b="0" i="1" smtClean="0">
                        <a:latin typeface="Cambria Math" panose="02040503050406030204" pitchFamily="18" charset="0"/>
                      </a:rPr>
                      <m:t>𝑥</m:t>
                    </m:r>
                    <m:r>
                      <a:rPr lang="en-US" altLang="zh-CN" i="1">
                        <a:latin typeface="Cambria Math" panose="02040503050406030204" pitchFamily="18" charset="0"/>
                      </a:rPr>
                      <m:t> </m:t>
                    </m:r>
                  </m:oMath>
                </a14:m>
                <a:r>
                  <a:rPr lang="en-US" altLang="zh-CN" dirty="0">
                    <a:latin typeface="Tahoma" panose="020B0604030504040204" pitchFamily="34" charset="0"/>
                  </a:rPr>
                  <a:t>and</a:t>
                </a:r>
                <a:r>
                  <a:rPr lang="zh-CN" altLang="en-US" dirty="0">
                    <a:latin typeface="Tahoma" panose="020B0604030504040204" pitchFamily="34" charset="0"/>
                  </a:rPr>
                  <a:t> </a:t>
                </a:r>
                <a:r>
                  <a:rPr lang="en-US" altLang="zh-CN" dirty="0">
                    <a:latin typeface="Tahoma" panose="020B0604030504040204" pitchFamily="34" charset="0"/>
                  </a:rPr>
                  <a:t>divisors</a:t>
                </a:r>
                <a:r>
                  <a:rPr lang="zh-CN" altLang="en-US" dirty="0">
                    <a:latin typeface="Tahoma" panose="020B0604030504040204" pitchFamily="34" charset="0"/>
                  </a:rPr>
                  <a:t> </a:t>
                </a:r>
                <a:r>
                  <a:rPr lang="en-US" altLang="zh-CN" dirty="0">
                    <a:latin typeface="Tahoma" panose="020B0604030504040204" pitchFamily="34" charset="0"/>
                  </a:rPr>
                  <a:t>not</a:t>
                </a:r>
                <a:r>
                  <a:rPr lang="zh-CN" altLang="en-US" dirty="0">
                    <a:latin typeface="Tahoma" panose="020B0604030504040204" pitchFamily="34" charset="0"/>
                  </a:rPr>
                  <a:t> </a:t>
                </a:r>
                <a:r>
                  <a:rPr lang="en-US" altLang="zh-CN" dirty="0">
                    <a:latin typeface="Tahoma" panose="020B0604030504040204" pitchFamily="34" charset="0"/>
                  </a:rPr>
                  <a:t>larger</a:t>
                </a:r>
                <a:r>
                  <a:rPr lang="zh-CN" altLang="en-US" dirty="0">
                    <a:latin typeface="Tahoma" panose="020B0604030504040204" pitchFamily="34" charset="0"/>
                  </a:rPr>
                  <a:t> </a:t>
                </a:r>
                <a:r>
                  <a:rPr lang="en-US" altLang="zh-CN" dirty="0">
                    <a:latin typeface="Tahoma" panose="020B0604030504040204" pitchFamily="34" charset="0"/>
                  </a:rPr>
                  <a:t>than</a:t>
                </a:r>
                <a:r>
                  <a:rPr lang="zh-CN" altLang="en-US" dirty="0">
                    <a:latin typeface="Tahoma" panose="020B0604030504040204" pitchFamily="34" charset="0"/>
                  </a:rPr>
                  <a:t> </a:t>
                </a:r>
                <a14:m>
                  <m:oMath xmlns:m="http://schemas.openxmlformats.org/officeDocument/2006/math">
                    <m:r>
                      <a:rPr lang="en-US" altLang="zh-CN" b="0" i="1" smtClean="0">
                        <a:latin typeface="Cambria Math" panose="02040503050406030204" pitchFamily="18" charset="0"/>
                      </a:rPr>
                      <m:t>𝑝</m:t>
                    </m:r>
                  </m:oMath>
                </a14:m>
                <a:r>
                  <a:rPr lang="en-US" altLang="zh-CN" dirty="0">
                    <a:latin typeface="Tahoma" panose="020B0604030504040204" pitchFamily="34" charset="0"/>
                  </a:rPr>
                  <a:t>.</a:t>
                </a:r>
              </a:p>
              <a:p>
                <a14:m>
                  <m:oMath xmlns:m="http://schemas.openxmlformats.org/officeDocument/2006/math">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e>
                    </m:func>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i="1">
                                <a:latin typeface="Cambria Math" panose="02040503050406030204" pitchFamily="18" charset="0"/>
                              </a:rPr>
                              <m:t>1</m:t>
                            </m:r>
                            <m:r>
                              <a:rPr lang="en-US" altLang="zh-CN" b="0" i="1" smtClean="0">
                                <a:latin typeface="Cambria Math" panose="02040503050406030204" pitchFamily="18" charset="0"/>
                              </a:rPr>
                              <m:t>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=1</m:t>
                            </m:r>
                          </m:e>
                          <m:e>
                            <m:r>
                              <a:rPr lang="en-US" altLang="zh-CN" b="0" i="1" smtClean="0">
                                <a:latin typeface="Cambria Math" panose="02040503050406030204" pitchFamily="18" charset="0"/>
                              </a:rPr>
                              <m:t>0                                 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==0</m:t>
                            </m:r>
                          </m:e>
                          <m:e>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𝑓</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d>
                              </m:e>
                            </m:func>
                            <m:r>
                              <a:rPr lang="en-US" altLang="zh-CN" b="0" i="1" smtClean="0">
                                <a:latin typeface="Cambria Math" panose="02040503050406030204" pitchFamily="18" charset="0"/>
                              </a:rPr>
                              <m:t>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≠0</m:t>
                            </m:r>
                          </m:e>
                        </m:eqArr>
                      </m:e>
                    </m:d>
                  </m:oMath>
                </a14:m>
                <a:endParaRPr lang="en-US" altLang="zh-CN" dirty="0">
                  <a:latin typeface="Tahoma" panose="020B060403050404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186612" cy="5282749"/>
              </a:xfrm>
              <a:blipFill>
                <a:blip r:embed="rId2"/>
                <a:stretch>
                  <a:fillRect l="-1245" t="-481"/>
                </a:stretch>
              </a:blipFill>
            </p:spPr>
            <p:txBody>
              <a:bodyPr/>
              <a:lstStyle/>
              <a:p>
                <a:r>
                  <a:rPr lang="en-AU">
                    <a:noFill/>
                  </a:rPr>
                  <a:t> </a:t>
                </a:r>
              </a:p>
            </p:txBody>
          </p:sp>
        </mc:Fallback>
      </mc:AlternateContent>
    </p:spTree>
    <p:extLst>
      <p:ext uri="{BB962C8B-B14F-4D97-AF65-F5344CB8AC3E}">
        <p14:creationId xmlns:p14="http://schemas.microsoft.com/office/powerpoint/2010/main" val="2797300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Classic</a:t>
            </a:r>
            <a:r>
              <a:rPr lang="zh-CN" altLang="en-US" dirty="0">
                <a:solidFill>
                  <a:schemeClr val="bg1"/>
                </a:solidFill>
                <a:latin typeface="Aptos Display" panose="020B0004020202020204" pitchFamily="34" charset="0"/>
              </a:rPr>
              <a:t> </a:t>
            </a:r>
            <a:r>
              <a:rPr lang="en-US" altLang="zh-CN" dirty="0">
                <a:solidFill>
                  <a:schemeClr val="bg1"/>
                </a:solidFill>
                <a:latin typeface="Aptos Display" panose="020B0004020202020204" pitchFamily="34" charset="0"/>
              </a:rPr>
              <a:t>problem</a:t>
            </a:r>
            <a:r>
              <a:rPr lang="en" altLang="en-US" dirty="0">
                <a:solidFill>
                  <a:schemeClr val="bg1"/>
                </a:solidFill>
                <a:latin typeface="Aptos Display" panose="020B0004020202020204" pitchFamily="34" charset="0"/>
              </a:rPr>
              <a:t>: The Tower of Hanoi</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p:txBody>
              <a:bodyPr>
                <a:normAutofit lnSpcReduction="10000"/>
              </a:bodyPr>
              <a:lstStyle/>
              <a:p>
                <a:r>
                  <a:rPr lang="en" altLang="en-US" dirty="0">
                    <a:latin typeface="Aptos Display" panose="020B0004020202020204" pitchFamily="34" charset="0"/>
                  </a:rPr>
                  <a:t>Given three needles </a:t>
                </a:r>
                <a:r>
                  <a:rPr lang="en" altLang="zh-CN" dirty="0">
                    <a:latin typeface="Aptos Display" panose="020B0004020202020204" pitchFamily="34" charset="0"/>
                  </a:rPr>
                  <a:t>A </a:t>
                </a:r>
                <a:r>
                  <a:rPr lang="en" altLang="en-US" dirty="0">
                    <a:latin typeface="Aptos Display" panose="020B0004020202020204" pitchFamily="34" charset="0"/>
                  </a:rPr>
                  <a:t>, </a:t>
                </a:r>
                <a:r>
                  <a:rPr lang="en" altLang="zh-CN" dirty="0">
                    <a:latin typeface="Aptos Display" panose="020B0004020202020204" pitchFamily="34" charset="0"/>
                  </a:rPr>
                  <a:t>B </a:t>
                </a:r>
                <a:r>
                  <a:rPr lang="en" altLang="en-US" dirty="0">
                    <a:latin typeface="Aptos Display" panose="020B0004020202020204" pitchFamily="34" charset="0"/>
                  </a:rPr>
                  <a:t>, and </a:t>
                </a:r>
                <a:r>
                  <a:rPr lang="en" altLang="zh-CN" dirty="0">
                    <a:latin typeface="Aptos Display" panose="020B0004020202020204" pitchFamily="34" charset="0"/>
                  </a:rPr>
                  <a:t>C </a:t>
                </a:r>
                <a:r>
                  <a:rPr lang="en" altLang="en-US" dirty="0">
                    <a:latin typeface="Aptos Display" panose="020B0004020202020204" pitchFamily="34" charset="0"/>
                  </a:rPr>
                  <a:t>, there are...</a:t>
                </a:r>
                <a14:m>
                  <m:oMath xmlns:m="http://schemas.openxmlformats.org/officeDocument/2006/math">
                    <m:r>
                      <m:rPr>
                        <m:sty m:val="p"/>
                      </m:rPr>
                      <a:rPr lang="en-US" altLang="zh-CN" b="0" i="0" smtClean="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There are several disks numbered from smallest to largest </a:t>
                </a:r>
                <a14:m>
                  <m:oMath xmlns:m="http://schemas.openxmlformats.org/officeDocument/2006/math">
                    <m:r>
                      <a:rPr lang="en-US" altLang="zh-CN" b="0" i="0" smtClean="0">
                        <a:latin typeface="Cambria Math" panose="02040503050406030204" pitchFamily="18" charset="0"/>
                      </a:rPr>
                      <m:t>1,2,…,</m:t>
                    </m:r>
                    <m:r>
                      <m:rPr>
                        <m:sty m:val="p"/>
                      </m:rPr>
                      <a:rPr lang="en-US" altLang="zh-CN" b="0" i="0" smtClean="0">
                        <a:latin typeface="Cambria Math" panose="02040503050406030204" pitchFamily="18" charset="0"/>
                      </a:rPr>
                      <m:t>n</m:t>
                    </m:r>
                  </m:oMath>
                </a14:m>
                <a:r>
                  <a:rPr lang="en" altLang="en-US" dirty="0">
                    <a:latin typeface="Aptos Display" panose="020B0004020202020204" pitchFamily="34" charset="0"/>
                  </a:rPr>
                  <a:t>. The initial state is to...</a:t>
                </a:r>
                <a14:m>
                  <m:oMath xmlns:m="http://schemas.openxmlformats.org/officeDocument/2006/math">
                    <m:r>
                      <m:rPr>
                        <m:sty m:val="p"/>
                      </m:rPr>
                      <a:rPr lang="en-US" altLang="zh-CN" b="0" i="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A plate is placed on pin </a:t>
                </a:r>
                <a:r>
                  <a:rPr lang="en" altLang="zh-CN" dirty="0">
                    <a:latin typeface="Aptos Display" panose="020B0004020202020204" pitchFamily="34" charset="0"/>
                  </a:rPr>
                  <a:t>A. The task is to </a:t>
                </a:r>
                <a:r>
                  <a:rPr lang="en" altLang="en-US" dirty="0">
                    <a:latin typeface="Aptos Display" panose="020B0004020202020204" pitchFamily="34" charset="0"/>
                  </a:rPr>
                  <a:t>transfer the plate from pin </a:t>
                </a:r>
                <a:r>
                  <a:rPr lang="en" altLang="zh-CN" dirty="0">
                    <a:latin typeface="Aptos Display" panose="020B0004020202020204" pitchFamily="34" charset="0"/>
                  </a:rPr>
                  <a:t>A </a:t>
                </a:r>
                <a:r>
                  <a:rPr lang="en" altLang="en-US" dirty="0">
                    <a:latin typeface="Aptos Display" panose="020B0004020202020204" pitchFamily="34" charset="0"/>
                  </a:rPr>
                  <a:t>to pin </a:t>
                </a:r>
                <a:endParaRPr lang="en-US" altLang="zh-CN" dirty="0">
                  <a:latin typeface="Aptos Display" panose="020B0004020202020204" pitchFamily="34" charset="0"/>
                </a:endParaRPr>
              </a:p>
              <a:p>
                <a:pPr marL="0" indent="0">
                  <a:buNone/>
                </a:pPr>
                <a:r>
                  <a:rPr lang="en" altLang="zh-CN" dirty="0">
                    <a:latin typeface="Aptos Display" panose="020B0004020202020204" pitchFamily="34" charset="0"/>
                  </a:rPr>
                  <a:t>1. </a:t>
                </a:r>
                <a:r>
                  <a:rPr lang="en" altLang="en-US" dirty="0">
                    <a:latin typeface="Aptos Display" panose="020B0004020202020204" pitchFamily="34" charset="0"/>
                  </a:rPr>
                  <a:t>Only one plate on the needle can be moved at a time.</a:t>
                </a:r>
                <a:endParaRPr lang="en-US" altLang="zh-CN" dirty="0">
                  <a:latin typeface="Aptos Display" panose="020B0004020202020204" pitchFamily="34" charset="0"/>
                </a:endParaRPr>
              </a:p>
              <a:p>
                <a:pPr marL="0" indent="0">
                  <a:buNone/>
                </a:pPr>
                <a:r>
                  <a:rPr lang="en" altLang="zh-CN" dirty="0">
                    <a:latin typeface="Aptos Display" panose="020B0004020202020204" pitchFamily="34" charset="0"/>
                  </a:rPr>
                  <a:t>2. </a:t>
                </a:r>
                <a:r>
                  <a:rPr lang="en" altLang="en-US" dirty="0">
                    <a:latin typeface="Aptos Display" panose="020B0004020202020204" pitchFamily="34" charset="0"/>
                  </a:rPr>
                  <a:t>A large plate should not be placed on top of a small plate.</a:t>
                </a:r>
                <a:endParaRPr lang="en-US" altLang="zh-CN" dirty="0">
                  <a:latin typeface="Aptos Display" panose="020B0004020202020204" pitchFamily="34" charset="0"/>
                </a:endParaRPr>
              </a:p>
              <a:p>
                <a:r>
                  <a:rPr lang="en" altLang="en-US" dirty="0">
                    <a:latin typeface="Aptos Display" panose="020B0004020202020204" pitchFamily="34" charset="0"/>
                  </a:rPr>
                  <a:t>Analysis: In order to</a:t>
                </a:r>
                <a14:m>
                  <m:oMath xmlns:m="http://schemas.openxmlformats.org/officeDocument/2006/math">
                    <m:r>
                      <m:rPr>
                        <m:sty m:val="p"/>
                      </m:rPr>
                      <a:rPr lang="en-US" altLang="zh-CN" b="0" i="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To move a disk from </a:t>
                </a:r>
                <a:r>
                  <a:rPr lang="en" altLang="zh-CN" dirty="0">
                    <a:latin typeface="Aptos Display" panose="020B0004020202020204" pitchFamily="34" charset="0"/>
                  </a:rPr>
                  <a:t>A to C </a:t>
                </a:r>
                <a:r>
                  <a:rPr lang="en" altLang="en-US" dirty="0">
                    <a:latin typeface="Aptos Display" panose="020B0004020202020204" pitchFamily="34" charset="0"/>
                  </a:rPr>
                  <a:t>via </a:t>
                </a:r>
                <a:r>
                  <a:rPr lang="en" altLang="zh-CN" dirty="0">
                    <a:latin typeface="Aptos Display" panose="020B0004020202020204" pitchFamily="34" charset="0"/>
                  </a:rPr>
                  <a:t>B </a:t>
                </a:r>
                <a:r>
                  <a:rPr lang="en" altLang="en-US" dirty="0">
                    <a:latin typeface="Aptos Display" panose="020B0004020202020204" pitchFamily="34" charset="0"/>
                  </a:rPr>
                  <a:t>, you can </a:t>
                </a:r>
                <a:r>
                  <a:rPr lang="en" altLang="en-US" dirty="0">
                    <a:solidFill>
                      <a:srgbClr val="FF0000"/>
                    </a:solidFill>
                    <a:latin typeface="Aptos Display" panose="020B0004020202020204" pitchFamily="34" charset="0"/>
                  </a:rPr>
                  <a:t>first...</a:t>
                </a:r>
                <a14:m>
                  <m:oMath xmlns:m="http://schemas.openxmlformats.org/officeDocument/2006/math">
                    <m:r>
                      <m:rPr>
                        <m:sty m:val="p"/>
                      </m:rPr>
                      <a:rPr lang="en-US" altLang="zh-CN" b="0" i="0" smtClean="0">
                        <a:solidFill>
                          <a:srgbClr val="FF0000"/>
                        </a:solidFill>
                        <a:latin typeface="Cambria Math" panose="02040503050406030204" pitchFamily="18" charset="0"/>
                      </a:rPr>
                      <m:t>n</m:t>
                    </m:r>
                    <m:r>
                      <a:rPr lang="en-US" altLang="zh-CN" b="0" i="0" smtClean="0">
                        <a:solidFill>
                          <a:srgbClr val="FF0000"/>
                        </a:solidFill>
                        <a:latin typeface="Cambria Math" panose="02040503050406030204" pitchFamily="18" charset="0"/>
                      </a:rPr>
                      <m:t>−1</m:t>
                    </m:r>
                  </m:oMath>
                </a14:m>
                <a:r>
                  <a:rPr lang="en" altLang="zh-CN" dirty="0">
                    <a:solidFill>
                      <a:srgbClr val="FF0000"/>
                    </a:solidFill>
                    <a:latin typeface="Aptos Display" panose="020B0004020202020204" pitchFamily="34" charset="0"/>
                  </a:rPr>
                  <a:t> </a:t>
                </a:r>
                <a:r>
                  <a:rPr lang="en" altLang="en-US" dirty="0">
                    <a:solidFill>
                      <a:srgbClr val="FF0000"/>
                    </a:solidFill>
                    <a:latin typeface="Aptos Display" panose="020B0004020202020204" pitchFamily="34" charset="0"/>
                  </a:rPr>
                  <a:t>One disk is moved from </a:t>
                </a:r>
                <a:r>
                  <a:rPr lang="en" altLang="zh-CN" dirty="0">
                    <a:solidFill>
                      <a:srgbClr val="FF0000"/>
                    </a:solidFill>
                    <a:latin typeface="Aptos Display" panose="020B0004020202020204" pitchFamily="34" charset="0"/>
                  </a:rPr>
                  <a:t>A to B </a:t>
                </a:r>
                <a:r>
                  <a:rPr lang="en" altLang="en-US" dirty="0">
                    <a:solidFill>
                      <a:srgbClr val="FF0000"/>
                    </a:solidFill>
                    <a:latin typeface="Aptos Display" panose="020B0004020202020204" pitchFamily="34" charset="0"/>
                  </a:rPr>
                  <a:t>via </a:t>
                </a:r>
                <a:r>
                  <a:rPr lang="en" altLang="zh-CN" dirty="0">
                    <a:solidFill>
                      <a:srgbClr val="FF0000"/>
                    </a:solidFill>
                    <a:latin typeface="Aptos Display" panose="020B0004020202020204" pitchFamily="34" charset="0"/>
                  </a:rPr>
                  <a:t>C </a:t>
                </a:r>
                <a:r>
                  <a:rPr lang="en" altLang="en-US" dirty="0">
                    <a:solidFill>
                      <a:srgbClr val="FF0000"/>
                    </a:solidFill>
                    <a:latin typeface="Aptos Display" panose="020B0004020202020204" pitchFamily="34" charset="0"/>
                  </a:rPr>
                  <a:t>, then the remaining disk from </a:t>
                </a:r>
                <a:r>
                  <a:rPr lang="en" altLang="zh-CN" dirty="0">
                    <a:solidFill>
                      <a:srgbClr val="FF0000"/>
                    </a:solidFill>
                    <a:latin typeface="Aptos Display" panose="020B0004020202020204" pitchFamily="34" charset="0"/>
                  </a:rPr>
                  <a:t>A is moved to C </a:t>
                </a:r>
                <a:r>
                  <a:rPr lang="en" altLang="en-US" dirty="0">
                    <a:solidFill>
                      <a:srgbClr val="FF0000"/>
                    </a:solidFill>
                    <a:latin typeface="Aptos Display" panose="020B0004020202020204" pitchFamily="34" charset="0"/>
                  </a:rPr>
                  <a:t>, and then...</a:t>
                </a:r>
                <a14:m>
                  <m:oMath xmlns:m="http://schemas.openxmlformats.org/officeDocument/2006/math">
                    <m:r>
                      <m:rPr>
                        <m:sty m:val="p"/>
                      </m:rPr>
                      <a:rPr lang="en-US" altLang="zh-CN" b="0" i="0">
                        <a:solidFill>
                          <a:srgbClr val="FF0000"/>
                        </a:solidFill>
                        <a:latin typeface="Cambria Math" panose="02040503050406030204" pitchFamily="18" charset="0"/>
                      </a:rPr>
                      <m:t>n</m:t>
                    </m:r>
                    <m:r>
                      <a:rPr lang="en-US" altLang="zh-CN" b="0" i="0">
                        <a:solidFill>
                          <a:srgbClr val="FF0000"/>
                        </a:solidFill>
                        <a:latin typeface="Cambria Math" panose="02040503050406030204" pitchFamily="18" charset="0"/>
                      </a:rPr>
                      <m:t>−1</m:t>
                    </m:r>
                  </m:oMath>
                </a14:m>
                <a:r>
                  <a:rPr lang="en" altLang="zh-CN" dirty="0">
                    <a:solidFill>
                      <a:srgbClr val="FF0000"/>
                    </a:solidFill>
                    <a:latin typeface="Aptos Display" panose="020B0004020202020204" pitchFamily="34" charset="0"/>
                  </a:rPr>
                  <a:t> </a:t>
                </a:r>
                <a:r>
                  <a:rPr lang="en" altLang="en-US" dirty="0">
                    <a:solidFill>
                      <a:srgbClr val="FF0000"/>
                    </a:solidFill>
                    <a:latin typeface="Aptos Display" panose="020B0004020202020204" pitchFamily="34" charset="0"/>
                  </a:rPr>
                  <a:t>The disk is moved from </a:t>
                </a:r>
                <a:r>
                  <a:rPr lang="en" altLang="zh-CN" dirty="0">
                    <a:solidFill>
                      <a:srgbClr val="FF0000"/>
                    </a:solidFill>
                    <a:latin typeface="Aptos Display" panose="020B0004020202020204" pitchFamily="34" charset="0"/>
                  </a:rPr>
                  <a:t>B </a:t>
                </a:r>
                <a:r>
                  <a:rPr lang="en" altLang="en-US" dirty="0">
                    <a:solidFill>
                      <a:srgbClr val="FF0000"/>
                    </a:solidFill>
                    <a:latin typeface="Aptos Display" panose="020B0004020202020204" pitchFamily="34" charset="0"/>
                  </a:rPr>
                  <a:t>through </a:t>
                </a:r>
                <a:r>
                  <a:rPr lang="en" altLang="zh-CN" dirty="0">
                    <a:solidFill>
                      <a:srgbClr val="FF0000"/>
                    </a:solidFill>
                    <a:latin typeface="Aptos Display" panose="020B0004020202020204" pitchFamily="34" charset="0"/>
                  </a:rPr>
                  <a:t>A to C. </a:t>
                </a:r>
                <a:r>
                  <a:rPr lang="en" altLang="en-US" dirty="0">
                    <a:latin typeface="Aptos Display" panose="020B0004020202020204" pitchFamily="34" charset="0"/>
                  </a:rPr>
                  <a:t>This moves the disk that was originally connected to the disk.</a:t>
                </a:r>
                <a14:m>
                  <m:oMath xmlns:m="http://schemas.openxmlformats.org/officeDocument/2006/math">
                    <m:r>
                      <m:rPr>
                        <m:sty m:val="p"/>
                      </m:rPr>
                      <a:rPr lang="en-US" altLang="zh-CN" b="0" i="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The relevant issues have become related to</a:t>
                </a:r>
                <a14:m>
                  <m:oMath xmlns:m="http://schemas.openxmlformats.org/officeDocument/2006/math">
                    <m:r>
                      <m:rPr>
                        <m:sty m:val="p"/>
                      </m:rPr>
                      <a:rPr lang="en-US" altLang="zh-CN" b="0" i="0">
                        <a:latin typeface="Cambria Math" panose="02040503050406030204" pitchFamily="18" charset="0"/>
                      </a:rPr>
                      <m:t>n</m:t>
                    </m:r>
                    <m:r>
                      <a:rPr lang="en-US" altLang="zh-CN" b="0" i="0" smtClean="0">
                        <a:latin typeface="Cambria Math" panose="02040503050406030204" pitchFamily="18" charset="0"/>
                      </a:rPr>
                      <m:t>−1</m:t>
                    </m:r>
                  </m:oMath>
                </a14:m>
                <a:r>
                  <a:rPr lang="en" altLang="zh-CN" dirty="0">
                    <a:latin typeface="Aptos Display" panose="020B0004020202020204" pitchFamily="34" charset="0"/>
                  </a:rPr>
                  <a:t> </a:t>
                </a:r>
                <a:r>
                  <a:rPr lang="en" altLang="en-US" dirty="0">
                    <a:latin typeface="Aptos Display" panose="020B0004020202020204" pitchFamily="34" charset="0"/>
                  </a:rPr>
                  <a:t>The relevant questions. Repeat this process each time.</a:t>
                </a:r>
                <a14:m>
                  <m:oMath xmlns:m="http://schemas.openxmlformats.org/officeDocument/2006/math">
                    <m:r>
                      <m:rPr>
                        <m:sty m:val="p"/>
                      </m:rPr>
                      <a:rPr lang="en-US" altLang="zh-CN" b="0" i="0">
                        <a:latin typeface="Cambria Math" panose="02040503050406030204" pitchFamily="18" charset="0"/>
                      </a:rPr>
                      <m:t>n</m:t>
                    </m:r>
                  </m:oMath>
                </a14:m>
                <a:r>
                  <a:rPr lang="en" altLang="zh-CN" dirty="0">
                    <a:latin typeface="Aptos Display" panose="020B0004020202020204" pitchFamily="34" charset="0"/>
                  </a:rPr>
                  <a:t> </a:t>
                </a:r>
                <a:r>
                  <a:rPr lang="en" altLang="en-US" dirty="0">
                    <a:latin typeface="Aptos Display" panose="020B0004020202020204" pitchFamily="34" charset="0"/>
                  </a:rPr>
                  <a:t>Decrease </a:t>
                </a:r>
                <a:r>
                  <a:rPr lang="en" altLang="zh-CN" dirty="0">
                    <a:latin typeface="Aptos Display" panose="020B0004020202020204" pitchFamily="34" charset="0"/>
                  </a:rPr>
                  <a:t>by 1 </a:t>
                </a:r>
                <a:r>
                  <a:rPr lang="en" altLang="en-US" dirty="0">
                    <a:latin typeface="Aptos Display" panose="020B0004020202020204" pitchFamily="34" charset="0"/>
                  </a:rPr>
                  <a:t>until</a:t>
                </a:r>
                <a14:m>
                  <m:oMath xmlns:m="http://schemas.openxmlformats.org/officeDocument/2006/math">
                    <m:r>
                      <m:rPr>
                        <m:sty m:val="p"/>
                      </m:rPr>
                      <a:rPr lang="en-US" altLang="zh-CN" b="0" i="0">
                        <a:latin typeface="Cambria Math" panose="02040503050406030204" pitchFamily="18" charset="0"/>
                      </a:rPr>
                      <m:t>n</m:t>
                    </m:r>
                    <m:r>
                      <a:rPr lang="en-US" altLang="zh-CN" b="0" i="0" smtClean="0">
                        <a:latin typeface="Cambria Math" panose="02040503050406030204" pitchFamily="18" charset="0"/>
                      </a:rPr>
                      <m:t>=1</m:t>
                    </m:r>
                  </m:oMath>
                </a14:m>
                <a:r>
                  <a:rPr lang="en" altLang="zh-CN" dirty="0">
                    <a:latin typeface="Aptos Display" panose="020B0004020202020204" pitchFamily="34" charset="0"/>
                  </a:rPr>
                  <a:t> </a:t>
                </a:r>
                <a:r>
                  <a:rPr lang="en" altLang="en-US" dirty="0">
                    <a:latin typeface="Aptos Display" panose="020B0004020202020204" pitchFamily="34" charset="0"/>
                  </a:rPr>
                  <a:t>You can simply move the plate.</a:t>
                </a:r>
                <a:endParaRPr lang="en-US" altLang="zh-CN" dirty="0">
                  <a:latin typeface="Aptos Display" panose="020B00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blipFill>
                <a:blip r:embed="rId3"/>
                <a:stretch>
                  <a:fillRect l="-1224" t="-2239" r="-1469"/>
                </a:stretch>
              </a:blipFill>
            </p:spPr>
            <p:txBody>
              <a:bodyPr/>
              <a:lstStyle/>
              <a:p>
                <a:r>
                  <a:rPr lang="en-AU">
                    <a:noFill/>
                  </a:rPr>
                  <a:t> </a:t>
                </a:r>
              </a:p>
            </p:txBody>
          </p:sp>
        </mc:Fallback>
      </mc:AlternateContent>
    </p:spTree>
    <p:extLst>
      <p:ext uri="{BB962C8B-B14F-4D97-AF65-F5344CB8AC3E}">
        <p14:creationId xmlns:p14="http://schemas.microsoft.com/office/powerpoint/2010/main" val="6744329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latin typeface="Aptos Display" panose="020B0004020202020204" pitchFamily="34" charset="0"/>
              </a:rPr>
              <a:t>the Classic Problem: The Tower of Hanoi</a:t>
            </a:r>
          </a:p>
        </p:txBody>
      </p:sp>
      <p:sp>
        <p:nvSpPr>
          <p:cNvPr id="7" name="内容占位符 2">
            <a:extLst>
              <a:ext uri="{FF2B5EF4-FFF2-40B4-BE49-F238E27FC236}">
                <a16:creationId xmlns:a16="http://schemas.microsoft.com/office/drawing/2014/main" id="{2D61C9F3-5129-46A0-8929-EC4C9B3905EB}"/>
              </a:ext>
            </a:extLst>
          </p:cNvPr>
          <p:cNvSpPr txBox="1">
            <a:spLocks/>
          </p:cNvSpPr>
          <p:nvPr/>
        </p:nvSpPr>
        <p:spPr>
          <a:xfrm>
            <a:off x="678611" y="2037806"/>
            <a:ext cx="7511232" cy="473105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#include &lt;bits/</a:t>
            </a:r>
            <a:r>
              <a:rPr lang="en" altLang="zh-CN" sz="2000" dirty="0" err="1">
                <a:latin typeface="Consolas" panose="020B0609020204030204" pitchFamily="49" charset="0"/>
                <a:cs typeface="Consolas" panose="020B0609020204030204" pitchFamily="49" charset="0"/>
              </a:rPr>
              <a:t>stdc</a:t>
            </a:r>
            <a:r>
              <a:rPr lang="en" altLang="zh-CN" sz="2000" dirty="0">
                <a:latin typeface="Consolas" panose="020B0609020204030204" pitchFamily="49" charset="0"/>
                <a:cs typeface="Consolas" panose="020B0609020204030204" pitchFamily="49" charset="0"/>
              </a:rPr>
              <a:t>++.h&gt;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using namespace std;</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void </a:t>
            </a:r>
            <a:r>
              <a:rPr lang="en" altLang="zh-CN" sz="2000" dirty="0" err="1">
                <a:latin typeface="Consolas" panose="020B0609020204030204" pitchFamily="49" charset="0"/>
                <a:cs typeface="Consolas" panose="020B0609020204030204" pitchFamily="49" charset="0"/>
              </a:rPr>
              <a:t>hanoi</a:t>
            </a:r>
            <a:r>
              <a:rPr lang="en" altLang="zh-CN" sz="2000" dirty="0">
                <a:latin typeface="Consolas" panose="020B0609020204030204" pitchFamily="49" charset="0"/>
                <a:cs typeface="Consolas" panose="020B0609020204030204" pitchFamily="49" charset="0"/>
              </a:rPr>
              <a:t>(int n, char a, char b, char c){</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if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  </a:t>
            </a:r>
            <a:r>
              <a:rPr lang="zh-CN" altLang="en-US"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cout</a:t>
            </a:r>
            <a:r>
              <a:rPr lang="en" altLang="zh-CN" sz="2000" dirty="0">
                <a:latin typeface="Consolas" panose="020B0609020204030204" pitchFamily="49" charset="0"/>
                <a:cs typeface="Consolas" panose="020B0609020204030204" pitchFamily="49" charset="0"/>
              </a:rPr>
              <a:t> &lt;&lt;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a:t>
            </a:r>
            <a:r>
              <a:rPr lang="zh-CN" altLang="en-US" sz="2000" dirty="0">
                <a:latin typeface="Consolas" panose="020B0609020204030204" pitchFamily="49" charset="0"/>
                <a:cs typeface="Consolas" panose="020B0609020204030204" pitchFamily="49" charset="0"/>
              </a:rPr>
              <a:t> </a:t>
            </a:r>
            <a:r>
              <a:rPr lang="en-US" altLang="zh-CN" sz="2000" dirty="0">
                <a:latin typeface="Consolas" panose="020B0609020204030204" pitchFamily="49" charset="0"/>
                <a:cs typeface="Consolas" panose="020B0609020204030204" pitchFamily="49" charset="0"/>
              </a:rPr>
              <a:t>"</a:t>
            </a:r>
            <a:r>
              <a:rPr lang="en" altLang="zh-CN" sz="2000" dirty="0">
                <a:latin typeface="Consolas" panose="020B0609020204030204" pitchFamily="49" charset="0"/>
                <a:cs typeface="Consolas" panose="020B0609020204030204" pitchFamily="49" charset="0"/>
              </a:rPr>
              <a:t> to </a:t>
            </a:r>
            <a:r>
              <a:rPr lang="en-US" altLang="zh-CN" sz="2000" dirty="0">
                <a:latin typeface="Consolas" panose="020B0609020204030204" pitchFamily="49" charset="0"/>
                <a:cs typeface="Consolas" panose="020B0609020204030204" pitchFamily="49" charset="0"/>
              </a:rPr>
              <a: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c</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&lt;&lt; </a:t>
            </a:r>
            <a:r>
              <a:rPr lang="en" altLang="zh-CN" sz="2000" dirty="0" err="1">
                <a:latin typeface="Consolas" panose="020B0609020204030204" pitchFamily="49" charset="0"/>
                <a:cs typeface="Consolas" panose="020B0609020204030204" pitchFamily="49" charset="0"/>
              </a:rPr>
              <a:t>endl</a:t>
            </a:r>
            <a:r>
              <a:rPr lang="en" altLang="zh-CN" sz="2000" dirty="0">
                <a:latin typeface="Consolas" panose="020B0609020204030204" pitchFamily="49" charset="0"/>
                <a:cs typeface="Consolas" panose="020B0609020204030204" pitchFamily="49" charset="0"/>
              </a:rPr>
              <a:t>;</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u="sng"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int main(){</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int n;</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 </a:t>
            </a:r>
            <a:r>
              <a:rPr lang="en" altLang="zh-CN" sz="2000" dirty="0" err="1">
                <a:latin typeface="Consolas" panose="020B0609020204030204" pitchFamily="49" charset="0"/>
                <a:cs typeface="Consolas" panose="020B0609020204030204" pitchFamily="49" charset="0"/>
              </a:rPr>
              <a:t>cin</a:t>
            </a:r>
            <a:r>
              <a:rPr lang="en" altLang="zh-CN" sz="2000" dirty="0">
                <a:latin typeface="Consolas" panose="020B0609020204030204" pitchFamily="49" charset="0"/>
                <a:cs typeface="Consolas" panose="020B0609020204030204" pitchFamily="49" charset="0"/>
              </a:rPr>
              <a:t> &gt;&gt;</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n;</a:t>
            </a:r>
          </a:p>
          <a:p>
            <a:pPr marL="0" indent="0">
              <a:lnSpc>
                <a:spcPct val="60000"/>
              </a:lnSpc>
              <a:buNone/>
            </a:pPr>
            <a:r>
              <a:rPr lang="zh-CN" altLang="en-US" sz="2000" dirty="0">
                <a:latin typeface="Consolas" panose="020B0609020204030204" pitchFamily="49" charset="0"/>
                <a:cs typeface="Consolas" panose="020B0609020204030204" pitchFamily="49" charset="0"/>
              </a:rPr>
              <a:t>        </a:t>
            </a:r>
            <a:r>
              <a:rPr lang="en-US" altLang="zh-CN" sz="2000" dirty="0" err="1">
                <a:latin typeface="Consolas" panose="020B0609020204030204" pitchFamily="49" charset="0"/>
                <a:cs typeface="Consolas" panose="020B0609020204030204" pitchFamily="49" charset="0"/>
              </a:rPr>
              <a:t>hanoi</a:t>
            </a:r>
            <a:r>
              <a:rPr lang="en" altLang="zh-CN" sz="2000" dirty="0">
                <a:latin typeface="Consolas" panose="020B0609020204030204" pitchFamily="49" charset="0"/>
                <a:cs typeface="Consolas" panose="020B0609020204030204" pitchFamily="49" charset="0"/>
              </a:rPr>
              <a:t>(n,</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'A',</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'B',</a:t>
            </a: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'C');</a:t>
            </a:r>
          </a:p>
          <a:p>
            <a:pPr marL="0" indent="0">
              <a:lnSpc>
                <a:spcPct val="60000"/>
              </a:lnSpc>
              <a:buFont typeface="Arial" panose="020B0604020202020204" pitchFamily="34" charset="0"/>
              <a:buNone/>
            </a:pPr>
            <a:r>
              <a:rPr lang="zh-CN" altLang="en-US" sz="2000" dirty="0">
                <a:latin typeface="Consolas" panose="020B0609020204030204" pitchFamily="49" charset="0"/>
                <a:cs typeface="Consolas" panose="020B0609020204030204" pitchFamily="49" charset="0"/>
              </a:rPr>
              <a:t>        </a:t>
            </a:r>
            <a:r>
              <a:rPr lang="en" altLang="zh-CN" sz="2000" dirty="0">
                <a:latin typeface="Consolas" panose="020B0609020204030204" pitchFamily="49" charset="0"/>
                <a:cs typeface="Consolas" panose="020B0609020204030204" pitchFamily="49" charset="0"/>
              </a:rPr>
              <a:t>return 0;</a:t>
            </a:r>
          </a:p>
          <a:p>
            <a:pPr marL="0" indent="0">
              <a:lnSpc>
                <a:spcPct val="60000"/>
              </a:lnSpc>
              <a:buFont typeface="Arial" panose="020B0604020202020204" pitchFamily="34" charset="0"/>
              <a:buNone/>
            </a:pPr>
            <a:r>
              <a:rPr lang="en" altLang="zh-CN" sz="2000" dirty="0">
                <a:latin typeface="Consolas" panose="020B0609020204030204" pitchFamily="49" charset="0"/>
                <a:cs typeface="Consolas" panose="020B0609020204030204" pitchFamily="49" charset="0"/>
              </a:rPr>
              <a:t>}</a:t>
            </a:r>
          </a:p>
        </p:txBody>
      </p:sp>
      <p:sp>
        <p:nvSpPr>
          <p:cNvPr id="5" name="内容占位符 4">
            <a:extLst>
              <a:ext uri="{FF2B5EF4-FFF2-40B4-BE49-F238E27FC236}">
                <a16:creationId xmlns:a16="http://schemas.microsoft.com/office/drawing/2014/main" id="{E1CDBABB-CE2C-42CE-8B40-D3B9544A682C}"/>
              </a:ext>
            </a:extLst>
          </p:cNvPr>
          <p:cNvSpPr>
            <a:spLocks noGrp="1"/>
          </p:cNvSpPr>
          <p:nvPr>
            <p:ph idx="1"/>
          </p:nvPr>
        </p:nvSpPr>
        <p:spPr>
          <a:xfrm>
            <a:off x="678612" y="1486111"/>
            <a:ext cx="10368800" cy="899280"/>
          </a:xfrm>
        </p:spPr>
        <p:txBody>
          <a:bodyPr/>
          <a:lstStyle/>
          <a:p>
            <a:r>
              <a:rPr lang="en" altLang="en-US" dirty="0">
                <a:latin typeface="Aptos Display" panose="020B0004020202020204" pitchFamily="34" charset="0"/>
              </a:rPr>
              <a:t>Implementation of the Tower of Hanoi Problem</a:t>
            </a:r>
          </a:p>
        </p:txBody>
      </p:sp>
    </p:spTree>
    <p:extLst>
      <p:ext uri="{BB962C8B-B14F-4D97-AF65-F5344CB8AC3E}">
        <p14:creationId xmlns:p14="http://schemas.microsoft.com/office/powerpoint/2010/main" val="20084310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 altLang="en-US" dirty="0"/>
              <a:t>Thank you everyone.</a:t>
            </a:r>
          </a:p>
        </p:txBody>
      </p:sp>
      <p:sp>
        <p:nvSpPr>
          <p:cNvPr id="4" name="文本框 3"/>
          <p:cNvSpPr txBox="1"/>
          <p:nvPr/>
        </p:nvSpPr>
        <p:spPr>
          <a:xfrm>
            <a:off x="9212580" y="6206490"/>
            <a:ext cx="2492990" cy="369332"/>
          </a:xfrm>
          <a:prstGeom prst="rect">
            <a:avLst/>
          </a:prstGeom>
          <a:noFill/>
        </p:spPr>
        <p:txBody>
          <a:bodyPr wrap="none" rtlCol="0">
            <a:spAutoFit/>
          </a:bodyPr>
          <a:lstStyle/>
          <a:p>
            <a:r>
              <a:rPr lang="en" altLang="en-US" dirty="0">
                <a:latin typeface="华文楷体" panose="02010600040101010101" pitchFamily="2" charset="-122"/>
                <a:ea typeface="华文楷体" panose="02010600040101010101" pitchFamily="2" charset="-122"/>
              </a:rPr>
              <a:t>Teacher Gao's Algorithm Competition Training Camp</a:t>
            </a:r>
          </a:p>
        </p:txBody>
      </p:sp>
      <p:pic>
        <p:nvPicPr>
          <p:cNvPr id="5" name="图片 4"/>
          <p:cNvPicPr>
            <a:picLocks noChangeAspect="1"/>
          </p:cNvPicPr>
          <p:nvPr/>
        </p:nvPicPr>
        <p:blipFill>
          <a:blip/>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副标题 5"/>
          <p:cNvSpPr>
            <a:spLocks noGrp="1"/>
          </p:cNvSpPr>
          <p:nvPr>
            <p:ph type="subTitle" idx="1"/>
          </p:nvPr>
        </p:nvSpPr>
        <p:spPr/>
        <p:txBody>
          <a:bodyPr/>
          <a:lstStyle/>
          <a:p>
            <a:endParaRPr lang="zh-CN" altLang="en-US"/>
          </a:p>
        </p:txBody>
      </p:sp>
      <p:sp>
        <p:nvSpPr>
          <p:cNvPr id="7" name="文本框 6"/>
          <p:cNvSpPr txBox="1"/>
          <p:nvPr/>
        </p:nvSpPr>
        <p:spPr>
          <a:xfrm>
            <a:off x="2564130" y="6206490"/>
            <a:ext cx="3877985" cy="338554"/>
          </a:xfrm>
          <a:prstGeom prst="rect">
            <a:avLst/>
          </a:prstGeom>
          <a:noFill/>
        </p:spPr>
        <p:txBody>
          <a:bodyPr wrap="none" rtlCol="0">
            <a:spAutoFit/>
          </a:bodyPr>
          <a:lstStyle/>
          <a:p>
            <a:r>
              <a:rPr lang="en" altLang="en-US" sz="1600" dirty="0">
                <a:latin typeface="+mj-ea"/>
                <a:ea typeface="+mj-ea"/>
              </a:rPr>
              <a:t>Note: Please turn off your microphone and camera.</a:t>
            </a:r>
          </a:p>
        </p:txBody>
      </p:sp>
    </p:spTree>
    <p:extLst>
      <p:ext uri="{BB962C8B-B14F-4D97-AF65-F5344CB8AC3E}">
        <p14:creationId xmlns:p14="http://schemas.microsoft.com/office/powerpoint/2010/main" val="2651276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电路">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42600</TotalTime>
  <Words>4008</Words>
  <Application>Microsoft Macintosh PowerPoint</Application>
  <PresentationFormat>Widescreen</PresentationFormat>
  <Paragraphs>409</Paragraphs>
  <Slides>54</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等线</vt:lpstr>
      <vt:lpstr>华文楷体</vt:lpstr>
      <vt:lpstr>Aptos Display</vt:lpstr>
      <vt:lpstr>Arial</vt:lpstr>
      <vt:lpstr>Cambria Math</vt:lpstr>
      <vt:lpstr>Consolas</vt:lpstr>
      <vt:lpstr>Tahoma</vt:lpstr>
      <vt:lpstr>Tw Cen MT</vt:lpstr>
      <vt:lpstr>电路</vt:lpstr>
      <vt:lpstr>NOIP Basic Algorithms</vt:lpstr>
      <vt:lpstr>recursive functions</vt:lpstr>
      <vt:lpstr>Recursion in daily life</vt:lpstr>
      <vt:lpstr>Example 1</vt:lpstr>
      <vt:lpstr>Example 1</vt:lpstr>
      <vt:lpstr>What is a recursive function?</vt:lpstr>
      <vt:lpstr>The execution of a recursive function</vt:lpstr>
      <vt:lpstr>The execution of a recursive function</vt:lpstr>
      <vt:lpstr>The execution of a recursive function</vt:lpstr>
      <vt:lpstr>Practice Problem 1: Find n!</vt:lpstr>
      <vt:lpstr>Practice problem 2: Recursive solution to the Fibonacci Sequence</vt:lpstr>
      <vt:lpstr>Practice problem 3: Euclidean Algorithm</vt:lpstr>
      <vt:lpstr>Practice problem 4 : Number System Conversion</vt:lpstr>
      <vt:lpstr>Practice Problem 5 : Number Reversal</vt:lpstr>
      <vt:lpstr>Practice problem 6 : Prime Factorisation</vt:lpstr>
      <vt:lpstr>Practice problem 7 : KakuTANI Conjecture</vt:lpstr>
      <vt:lpstr>Practice problem 7 : Kakutani Conjecture</vt:lpstr>
      <vt:lpstr>Practice problem 8 : Pascal's Triangle</vt:lpstr>
      <vt:lpstr>Practice problem 9 : Find xn</vt:lpstr>
      <vt:lpstr>Practice problem 9 : Find xn</vt:lpstr>
      <vt:lpstr>Practice problem 10: Ackerman function</vt:lpstr>
      <vt:lpstr>Practice problem 11 : Polish Notation</vt:lpstr>
      <vt:lpstr>Practice Problem 12: Factorisation</vt:lpstr>
      <vt:lpstr>Practice problem 12: Factorisation</vt:lpstr>
      <vt:lpstr>the Classic problem: The Tower of Hanoi</vt:lpstr>
      <vt:lpstr>the Classic Problem: The Tower of Hanoi</vt:lpstr>
      <vt:lpstr>Thank you everyone.</vt:lpstr>
      <vt:lpstr>NOIP Basic Algorithms</vt:lpstr>
      <vt:lpstr>recursive functions</vt:lpstr>
      <vt:lpstr>Recursion in daily life</vt:lpstr>
      <vt:lpstr>Example 1</vt:lpstr>
      <vt:lpstr>Example 1</vt:lpstr>
      <vt:lpstr>What is a recursive function?</vt:lpstr>
      <vt:lpstr>The execution process of a recursive function</vt:lpstr>
      <vt:lpstr>The execution process of a recursive function</vt:lpstr>
      <vt:lpstr>The execution process of a recursive function</vt:lpstr>
      <vt:lpstr>Practice Problem 1: Find n!</vt:lpstr>
      <vt:lpstr>Practice problem 2: Recursive solution to the Fibonacci Sequence</vt:lpstr>
      <vt:lpstr>Practice problem 3: Euclidean Algorithm</vt:lpstr>
      <vt:lpstr>Practice problem 4 : Number System Conversion</vt:lpstr>
      <vt:lpstr>Practice Problem 5 : Number Reversal</vt:lpstr>
      <vt:lpstr>Practice problem 6 : Prime Factorisation</vt:lpstr>
      <vt:lpstr>Classroom Example 7 : Kakugawa Conjecture</vt:lpstr>
      <vt:lpstr>Practice problem 7 : Kakugawa Conjecture</vt:lpstr>
      <vt:lpstr>Classroom Example 8 : Pascal's Triangle</vt:lpstr>
      <vt:lpstr>Practice problem 9 : Find xn</vt:lpstr>
      <vt:lpstr>Practice problem 9 : Find xn</vt:lpstr>
      <vt:lpstr>Practice problem 10: Solving Ackman function</vt:lpstr>
      <vt:lpstr>Practice problem 11 : Polish Notation</vt:lpstr>
      <vt:lpstr>Practice Problem 12: Factorisation</vt:lpstr>
      <vt:lpstr>Practice problem 12: Factorisation</vt:lpstr>
      <vt:lpstr>the Classic problem: The Tower of Hanoi</vt:lpstr>
      <vt:lpstr>the Classic Problem: The Tower of Hanoi</vt:lpstr>
      <vt:lpstr>Thank you everyone.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NOIP 入门习题精讲 - 09</dc:title>
  <dc:creator>Gao Kai</dc:creator>
  <cp:lastModifiedBy>Bryan Sun</cp:lastModifiedBy>
  <cp:revision>133</cp:revision>
  <dcterms:created xsi:type="dcterms:W3CDTF">2018-08-09T00:16:20Z</dcterms:created>
  <dcterms:modified xsi:type="dcterms:W3CDTF">2026-03-03T02:06:42Z</dcterms:modified>
</cp:coreProperties>
</file>