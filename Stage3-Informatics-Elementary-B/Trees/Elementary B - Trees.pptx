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2"/>
  </p:notesMasterIdLst>
  <p:sldIdLst>
    <p:sldId id="281" r:id="rId2"/>
    <p:sldId id="341" r:id="rId3"/>
    <p:sldId id="489" r:id="rId4"/>
    <p:sldId id="490" r:id="rId5"/>
    <p:sldId id="469" r:id="rId6"/>
    <p:sldId id="494" r:id="rId7"/>
    <p:sldId id="510" r:id="rId8"/>
    <p:sldId id="511" r:id="rId9"/>
    <p:sldId id="512" r:id="rId10"/>
    <p:sldId id="513" r:id="rId11"/>
    <p:sldId id="514" r:id="rId12"/>
    <p:sldId id="515" r:id="rId13"/>
    <p:sldId id="516" r:id="rId14"/>
    <p:sldId id="470" r:id="rId15"/>
    <p:sldId id="506" r:id="rId16"/>
    <p:sldId id="491" r:id="rId17"/>
    <p:sldId id="507" r:id="rId18"/>
    <p:sldId id="508" r:id="rId19"/>
    <p:sldId id="509" r:id="rId20"/>
    <p:sldId id="493" r:id="rId21"/>
    <p:sldId id="517" r:id="rId22"/>
    <p:sldId id="518" r:id="rId23"/>
    <p:sldId id="519" r:id="rId24"/>
    <p:sldId id="520" r:id="rId25"/>
    <p:sldId id="521" r:id="rId26"/>
    <p:sldId id="522" r:id="rId27"/>
    <p:sldId id="523" r:id="rId28"/>
    <p:sldId id="524" r:id="rId29"/>
    <p:sldId id="525" r:id="rId30"/>
    <p:sldId id="261" r:id="rId31"/>
  </p:sldIdLst>
  <p:sldSz cx="12192000" cy="6858000"/>
  <p:notesSz cx="6858000" cy="9144000"/>
  <p:defaultTextStyle>
    <a:defPPr>
      <a:defRPr lang="e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B55933-281E-3D49-9D4C-8E9048126B85}" v="2" dt="2026-08-09T00:22:23.5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8243" autoAdjust="0"/>
    <p:restoredTop sz="95424"/>
  </p:normalViewPr>
  <p:slideViewPr>
    <p:cSldViewPr snapToGrid="0">
      <p:cViewPr varScale="1">
        <p:scale>
          <a:sx n="97" d="100"/>
          <a:sy n="97" d="100"/>
        </p:scale>
        <p:origin x="2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an Sun" userId="851caa7714272873" providerId="LiveId" clId="{1DF0C224-3A3E-55A6-A8D1-F8F2208D385B}"/>
    <pc:docChg chg="undo custSel modSld">
      <pc:chgData name="Bryan Sun" userId="851caa7714272873" providerId="LiveId" clId="{1DF0C224-3A3E-55A6-A8D1-F8F2208D385B}" dt="2026-08-09T00:22:26.638" v="2179"/>
      <pc:docMkLst>
        <pc:docMk/>
      </pc:docMkLst>
      <pc:sldChg chg="modSp">
        <pc:chgData name="Bryan Sun" userId="851caa7714272873" providerId="LiveId" clId="{1DF0C224-3A3E-55A6-A8D1-F8F2208D385B}" dt="2026-08-01T23:07:25.101" v="2176" actId="20577"/>
        <pc:sldMkLst>
          <pc:docMk/>
          <pc:sldMk cId="492235945" sldId="493"/>
        </pc:sldMkLst>
        <pc:spChg chg="mod">
          <ac:chgData name="Bryan Sun" userId="851caa7714272873" providerId="LiveId" clId="{1DF0C224-3A3E-55A6-A8D1-F8F2208D385B}" dt="2026-08-01T23:07:25.101" v="2176" actId="20577"/>
          <ac:spMkLst>
            <pc:docMk/>
            <pc:sldMk cId="492235945" sldId="493"/>
            <ac:spMk id="3" creationId="{364B6489-5513-4724-81F7-F874B8C60D21}"/>
          </ac:spMkLst>
        </pc:spChg>
      </pc:sldChg>
      <pc:sldChg chg="addSp delSp modSp mod">
        <pc:chgData name="Bryan Sun" userId="851caa7714272873" providerId="LiveId" clId="{1DF0C224-3A3E-55A6-A8D1-F8F2208D385B}" dt="2026-08-09T00:22:26.638" v="2179"/>
        <pc:sldMkLst>
          <pc:docMk/>
          <pc:sldMk cId="1320520884" sldId="508"/>
        </pc:sldMkLst>
        <pc:spChg chg="add del mod">
          <ac:chgData name="Bryan Sun" userId="851caa7714272873" providerId="LiveId" clId="{1DF0C224-3A3E-55A6-A8D1-F8F2208D385B}" dt="2026-08-09T00:22:26.638" v="2179"/>
          <ac:spMkLst>
            <pc:docMk/>
            <pc:sldMk cId="1320520884" sldId="508"/>
            <ac:spMk id="2" creationId="{E186D316-92F8-5446-E3A5-BAB0AA51575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E6F088-375B-584E-8E71-49740F8C8116}" type="datetimeFigureOut">
              <a:rPr kumimoji="1" lang="zh-CN" altLang="en-US" smtClean="0"/>
              <a:t>2026/8/8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EF4864-2078-5446-9B10-2A811AD5231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20516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F4864-2078-5446-9B10-2A811AD52316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65450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F4864-2078-5446-9B10-2A811AD52316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27508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F4864-2078-5446-9B10-2A811AD52316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965267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en-US" dirty="0"/>
              <a:t>Proof of Property </a:t>
            </a:r>
            <a:r>
              <a:rPr kumimoji="1" lang="en" altLang="zh-CN" dirty="0"/>
              <a:t>1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F4864-2078-5446-9B10-2A811AD52316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188767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en-US" dirty="0"/>
              <a:t>Proof of Property </a:t>
            </a:r>
            <a:r>
              <a:rPr kumimoji="1" lang="en" altLang="zh-CN" dirty="0"/>
              <a:t>1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F4864-2078-5446-9B10-2A811AD52316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262493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en-US" dirty="0"/>
              <a:t>Proof of Property </a:t>
            </a:r>
            <a:r>
              <a:rPr kumimoji="1" lang="en" altLang="zh-CN" dirty="0"/>
              <a:t>1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F4864-2078-5446-9B10-2A811AD52316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115300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en-US" dirty="0"/>
              <a:t>Proof of Property </a:t>
            </a:r>
            <a:r>
              <a:rPr kumimoji="1" lang="en" altLang="zh-CN" dirty="0"/>
              <a:t>1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F4864-2078-5446-9B10-2A811AD52316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046734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en-US" dirty="0"/>
              <a:t>Proof of Property </a:t>
            </a:r>
            <a:r>
              <a:rPr kumimoji="1" lang="en" altLang="zh-CN" dirty="0"/>
              <a:t>1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F4864-2078-5446-9B10-2A811AD52316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305072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en-US" dirty="0"/>
              <a:t>Proof of Property </a:t>
            </a:r>
            <a:r>
              <a:rPr kumimoji="1" lang="en" altLang="zh-CN" dirty="0"/>
              <a:t>1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F4864-2078-5446-9B10-2A811AD52316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175530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en-US" dirty="0"/>
              <a:t>Proof of Property </a:t>
            </a:r>
            <a:r>
              <a:rPr kumimoji="1" lang="en" altLang="zh-CN" dirty="0"/>
              <a:t>1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F4864-2078-5446-9B10-2A811AD52316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211693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en-US" dirty="0"/>
              <a:t>Proof of Property </a:t>
            </a:r>
            <a:r>
              <a:rPr kumimoji="1" lang="en" altLang="zh-CN" dirty="0"/>
              <a:t>1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F4864-2078-5446-9B10-2A811AD52316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818625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F4864-2078-5446-9B10-2A811AD52316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125734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Jack Edmonds </a:t>
            </a:r>
            <a:r>
              <a:rPr lang="e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Richard Karp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F4864-2078-5446-9B10-2A811AD52316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920511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Jack Edmonds </a:t>
            </a:r>
            <a:r>
              <a:rPr lang="e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Richard Karp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F4864-2078-5446-9B10-2A811AD52316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41624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Jack Edmonds </a:t>
            </a:r>
            <a:r>
              <a:rPr lang="e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Richard Karp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F4864-2078-5446-9B10-2A811AD52316}" type="slidenum">
              <a:rPr kumimoji="1" lang="zh-CN" altLang="en-US" smtClean="0"/>
              <a:t>22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037124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Jack Edmonds </a:t>
            </a:r>
            <a:r>
              <a:rPr lang="e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Richard Karp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F4864-2078-5446-9B10-2A811AD52316}" type="slidenum">
              <a:rPr kumimoji="1" lang="zh-CN" altLang="en-US" smtClean="0"/>
              <a:t>23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652627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Jack Edmonds </a:t>
            </a:r>
            <a:r>
              <a:rPr lang="e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n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Richard Karp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F4864-2078-5446-9B10-2A811AD52316}" type="slidenum">
              <a:rPr kumimoji="1" lang="zh-CN" altLang="en-US" smtClean="0"/>
              <a:t>25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946070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F4864-2078-5446-9B10-2A811AD52316}" type="slidenum">
              <a:rPr kumimoji="1" lang="zh-CN" altLang="en-US" smtClean="0"/>
              <a:t>27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166960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F4864-2078-5446-9B10-2A811AD52316}" type="slidenum">
              <a:rPr kumimoji="1" lang="zh-CN" altLang="en-US" smtClean="0"/>
              <a:t>28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956094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F4864-2078-5446-9B10-2A811AD52316}" type="slidenum">
              <a:rPr kumimoji="1" lang="zh-CN" altLang="en-US" smtClean="0"/>
              <a:t>29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96752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8/8/26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8/8/26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8/8/26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8/8/26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8/8/26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8/8/26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>
            <a:extLst>
              <a:ext uri="{FF2B5EF4-FFF2-40B4-BE49-F238E27FC236}">
                <a16:creationId xmlns:a16="http://schemas.microsoft.com/office/drawing/2014/main" id="{130B2939-4C80-4B53-A9F0-B6A7EC450041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612" y="1486111"/>
            <a:ext cx="10368800" cy="510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" altLang="en-US" dirty="0">
                <a:latin typeface="Aptos Display" panose="020B0004020202020204" pitchFamily="34" charset="0"/>
              </a:rPr>
              <a:t>Tree</a:t>
            </a:r>
            <a:r>
              <a:rPr lang="en-US" altLang="zh-CN" dirty="0">
                <a:latin typeface="Aptos Display" panose="020B0004020202020204" pitchFamily="34" charset="0"/>
              </a:rPr>
              <a:t>s</a:t>
            </a:r>
            <a:endParaRPr lang="en" altLang="en-US" dirty="0">
              <a:latin typeface="Aptos Display" panose="020B0004020202020204" pitchFamily="34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8786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Definition of a tree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6744164" cy="5282749"/>
          </a:xfrm>
        </p:spPr>
        <p:txBody>
          <a:bodyPr anchor="ctr" anchorCtr="0">
            <a:normAutofit/>
          </a:bodyPr>
          <a:lstStyle/>
          <a:p>
            <a:r>
              <a:rPr lang="en" altLang="en-US" dirty="0">
                <a:latin typeface="Aptos Display" panose="020B0004020202020204" pitchFamily="34" charset="0"/>
              </a:rPr>
              <a:t>A tree is a finite set of nodes with the following properties:</a:t>
            </a:r>
          </a:p>
          <a:p>
            <a:pPr marL="0" indent="0">
              <a:buNone/>
            </a:pPr>
            <a:r>
              <a:rPr lang="en" altLang="en-US" dirty="0">
                <a:latin typeface="Aptos Display" panose="020B0004020202020204" pitchFamily="34" charset="0"/>
              </a:rPr>
              <a:t>  </a:t>
            </a:r>
            <a:r>
              <a:rPr lang="en" altLang="zh-CN" dirty="0">
                <a:latin typeface="Aptos Display" panose="020B0004020202020204" pitchFamily="34" charset="0"/>
              </a:rPr>
              <a:t>(1) </a:t>
            </a:r>
            <a:r>
              <a:rPr lang="en" altLang="en-US" dirty="0">
                <a:latin typeface="Aptos Display" panose="020B0004020202020204" pitchFamily="34" charset="0"/>
              </a:rPr>
              <a:t>There is a node called the “root”.</a:t>
            </a:r>
          </a:p>
          <a:p>
            <a:pPr marL="0" indent="0">
              <a:buNone/>
            </a:pPr>
            <a:r>
              <a:rPr lang="en" altLang="en-US" dirty="0">
                <a:latin typeface="Aptos Display" panose="020B0004020202020204" pitchFamily="34" charset="0"/>
              </a:rPr>
              <a:t>  </a:t>
            </a:r>
            <a:r>
              <a:rPr lang="en" altLang="zh-CN" dirty="0">
                <a:latin typeface="Aptos Display" panose="020B0004020202020204" pitchFamily="34" charset="0"/>
              </a:rPr>
              <a:t>(2) </a:t>
            </a:r>
            <a:r>
              <a:rPr lang="en" altLang="en-US" dirty="0">
                <a:latin typeface="Aptos Display" panose="020B0004020202020204" pitchFamily="34" charset="0"/>
              </a:rPr>
              <a:t>All the children of a root are the roots of a subtree .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E0D8253-C8DC-8F46-BA72-AE1C16C24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1454" y="3085097"/>
            <a:ext cx="3275955" cy="214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142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Tree-related terminology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6371893" cy="5282749"/>
          </a:xfrm>
        </p:spPr>
        <p:txBody>
          <a:bodyPr anchor="ctr" anchorCtr="0">
            <a:normAutofit fontScale="92500" lnSpcReduction="10000"/>
          </a:bodyPr>
          <a:lstStyle/>
          <a:p>
            <a:r>
              <a:rPr lang="en-US" altLang="zh-CN" dirty="0">
                <a:latin typeface="Aptos Display" panose="020B0004020202020204" pitchFamily="34" charset="0"/>
                <a:sym typeface="Wingdings" pitchFamily="2" charset="2"/>
              </a:rPr>
              <a:t>D</a:t>
            </a:r>
            <a:r>
              <a:rPr lang="en" altLang="zh-CN" dirty="0" err="1">
                <a:latin typeface="Aptos Display" panose="020B0004020202020204" pitchFamily="34" charset="0"/>
                <a:sym typeface="Wingdings" pitchFamily="2" charset="2"/>
              </a:rPr>
              <a:t>egree</a:t>
            </a:r>
            <a:r>
              <a:rPr lang="en" altLang="zh-CN" dirty="0">
                <a:latin typeface="Aptos Display" panose="020B0004020202020204" pitchFamily="34" charset="0"/>
                <a:sym typeface="Wingdings" pitchFamily="2" charset="2"/>
              </a:rPr>
              <a:t> </a:t>
            </a:r>
            <a:r>
              <a:rPr lang="en" altLang="en-US" dirty="0">
                <a:latin typeface="Aptos Display" panose="020B0004020202020204" pitchFamily="34" charset="0"/>
                <a:sym typeface="Wingdings" pitchFamily="2" charset="2"/>
              </a:rPr>
              <a:t>of a node: number of subtrees </a:t>
            </a:r>
            <a:r>
              <a:rPr lang="en-US" altLang="zh-CN" dirty="0">
                <a:latin typeface="Aptos Display" panose="020B0004020202020204" pitchFamily="34" charset="0"/>
                <a:sym typeface="Wingdings" pitchFamily="2" charset="2"/>
              </a:rPr>
              <a:t>of</a:t>
            </a:r>
            <a:r>
              <a:rPr lang="zh-CN" altLang="en-US" dirty="0">
                <a:latin typeface="Aptos Display" panose="020B0004020202020204" pitchFamily="34" charset="0"/>
                <a:sym typeface="Wingdings" pitchFamily="2" charset="2"/>
              </a:rPr>
              <a:t> </a:t>
            </a:r>
            <a:r>
              <a:rPr lang="en-US" altLang="zh-CN" dirty="0">
                <a:latin typeface="Aptos Display" panose="020B0004020202020204" pitchFamily="34" charset="0"/>
                <a:sym typeface="Wingdings" pitchFamily="2" charset="2"/>
              </a:rPr>
              <a:t>a</a:t>
            </a:r>
            <a:r>
              <a:rPr lang="zh-CN" altLang="en-US" dirty="0">
                <a:latin typeface="Aptos Display" panose="020B0004020202020204" pitchFamily="34" charset="0"/>
                <a:sym typeface="Wingdings" pitchFamily="2" charset="2"/>
              </a:rPr>
              <a:t> </a:t>
            </a:r>
            <a:r>
              <a:rPr lang="en-US" altLang="zh-CN" dirty="0">
                <a:latin typeface="Aptos Display" panose="020B0004020202020204" pitchFamily="34" charset="0"/>
                <a:sym typeface="Wingdings" pitchFamily="2" charset="2"/>
              </a:rPr>
              <a:t>node</a:t>
            </a:r>
            <a:r>
              <a:rPr lang="en" altLang="en-US" dirty="0">
                <a:latin typeface="Aptos Display" panose="020B0004020202020204" pitchFamily="34" charset="0"/>
                <a:sym typeface="Wingdings" pitchFamily="2" charset="2"/>
              </a:rPr>
              <a:t>. </a:t>
            </a:r>
            <a:r>
              <a:rPr lang="zh-CN" altLang="en-US" dirty="0">
                <a:latin typeface="Aptos Display" panose="020B0004020202020204" pitchFamily="34" charset="0"/>
                <a:sym typeface="Wingdings" pitchFamily="2" charset="2"/>
              </a:rPr>
              <a:t> </a:t>
            </a:r>
            <a:r>
              <a:rPr lang="en-US" altLang="zh-CN" dirty="0">
                <a:latin typeface="Aptos Display" panose="020B0004020202020204" pitchFamily="34" charset="0"/>
                <a:sym typeface="Wingdings" pitchFamily="2" charset="2"/>
              </a:rPr>
              <a:t>See</a:t>
            </a:r>
            <a:r>
              <a:rPr lang="zh-CN" altLang="en-US" dirty="0">
                <a:latin typeface="Aptos Display" panose="020B0004020202020204" pitchFamily="34" charset="0"/>
                <a:sym typeface="Wingdings" pitchFamily="2" charset="2"/>
              </a:rPr>
              <a:t> </a:t>
            </a:r>
            <a:r>
              <a:rPr lang="en-US" altLang="zh-CN" dirty="0">
                <a:latin typeface="Aptos Display" panose="020B0004020202020204" pitchFamily="34" charset="0"/>
                <a:sym typeface="Wingdings" pitchFamily="2" charset="2"/>
              </a:rPr>
              <a:t>diagram</a:t>
            </a:r>
            <a:r>
              <a:rPr lang="en" altLang="en-US" dirty="0">
                <a:latin typeface="Aptos Display" panose="020B0004020202020204" pitchFamily="34" charset="0"/>
                <a:sym typeface="Wingdings" pitchFamily="2" charset="2"/>
              </a:rPr>
              <a:t>: </a:t>
            </a:r>
            <a:r>
              <a:rPr lang="en" altLang="zh-CN" dirty="0">
                <a:latin typeface="Aptos Display" panose="020B0004020202020204" pitchFamily="34" charset="0"/>
                <a:sym typeface="Wingdings" pitchFamily="2" charset="2"/>
              </a:rPr>
              <a:t>degree(A) = 3 </a:t>
            </a:r>
            <a:r>
              <a:rPr lang="en" altLang="en-US" dirty="0">
                <a:latin typeface="Aptos Display" panose="020B0004020202020204" pitchFamily="34" charset="0"/>
                <a:sym typeface="Wingdings" pitchFamily="2" charset="2"/>
              </a:rPr>
              <a:t>, </a:t>
            </a:r>
            <a:r>
              <a:rPr lang="en" altLang="zh-CN" dirty="0">
                <a:latin typeface="Aptos Display" panose="020B0004020202020204" pitchFamily="34" charset="0"/>
                <a:sym typeface="Wingdings" pitchFamily="2" charset="2"/>
              </a:rPr>
              <a:t>degree(F) = 0.</a:t>
            </a:r>
          </a:p>
          <a:p>
            <a:r>
              <a:rPr lang="en" altLang="en-US" dirty="0">
                <a:latin typeface="Aptos Display" panose="020B0004020202020204" pitchFamily="34" charset="0"/>
                <a:sym typeface="Wingdings" pitchFamily="2" charset="2"/>
              </a:rPr>
              <a:t>Leaf: A node with a </a:t>
            </a:r>
            <a:r>
              <a:rPr lang="en" altLang="zh-CN" dirty="0">
                <a:latin typeface="Aptos Display" panose="020B0004020202020204" pitchFamily="34" charset="0"/>
                <a:sym typeface="Wingdings" pitchFamily="2" charset="2"/>
              </a:rPr>
              <a:t>degree </a:t>
            </a:r>
            <a:r>
              <a:rPr lang="en" altLang="en-US" dirty="0">
                <a:latin typeface="Aptos Display" panose="020B0004020202020204" pitchFamily="34" charset="0"/>
                <a:sym typeface="Wingdings" pitchFamily="2" charset="2"/>
              </a:rPr>
              <a:t>of </a:t>
            </a:r>
            <a:r>
              <a:rPr lang="en" altLang="zh-CN" dirty="0">
                <a:latin typeface="Aptos Display" panose="020B0004020202020204" pitchFamily="34" charset="0"/>
                <a:sym typeface="Wingdings" pitchFamily="2" charset="2"/>
              </a:rPr>
              <a:t>0</a:t>
            </a:r>
            <a:r>
              <a:rPr lang="en-US" altLang="zh-CN" dirty="0">
                <a:latin typeface="Aptos Display" panose="020B0004020202020204" pitchFamily="34" charset="0"/>
                <a:sym typeface="Wingdings" pitchFamily="2" charset="2"/>
              </a:rPr>
              <a:t>.</a:t>
            </a:r>
            <a:endParaRPr lang="en" altLang="zh-CN" dirty="0">
              <a:latin typeface="Aptos Display" panose="020B0004020202020204" pitchFamily="34" charset="0"/>
              <a:sym typeface="Wingdings" pitchFamily="2" charset="2"/>
            </a:endParaRPr>
          </a:p>
          <a:p>
            <a:r>
              <a:rPr lang="en" altLang="en-US" dirty="0">
                <a:latin typeface="Aptos Display" panose="020B0004020202020204" pitchFamily="34" charset="0"/>
                <a:sym typeface="Wingdings" pitchFamily="2" charset="2"/>
              </a:rPr>
              <a:t>Parent: The node that </a:t>
            </a:r>
            <a:r>
              <a:rPr lang="en-US" altLang="zh-CN" dirty="0">
                <a:latin typeface="Aptos Display" panose="020B0004020202020204" pitchFamily="34" charset="0"/>
                <a:sym typeface="Wingdings" pitchFamily="2" charset="2"/>
              </a:rPr>
              <a:t>ha</a:t>
            </a:r>
            <a:r>
              <a:rPr lang="en" altLang="en-US" dirty="0">
                <a:latin typeface="Aptos Display" panose="020B0004020202020204" pitchFamily="34" charset="0"/>
                <a:sym typeface="Wingdings" pitchFamily="2" charset="2"/>
              </a:rPr>
              <a:t>s </a:t>
            </a:r>
            <a:r>
              <a:rPr lang="en-US" altLang="zh-CN" dirty="0">
                <a:latin typeface="Aptos Display" panose="020B0004020202020204" pitchFamily="34" charset="0"/>
                <a:sym typeface="Wingdings" pitchFamily="2" charset="2"/>
              </a:rPr>
              <a:t>a</a:t>
            </a:r>
            <a:r>
              <a:rPr lang="en" altLang="en-US" dirty="0">
                <a:latin typeface="Aptos Display" panose="020B0004020202020204" pitchFamily="34" charset="0"/>
                <a:sym typeface="Wingdings" pitchFamily="2" charset="2"/>
              </a:rPr>
              <a:t> subtree</a:t>
            </a:r>
            <a:r>
              <a:rPr lang="en" altLang="zh-CN" dirty="0">
                <a:latin typeface="Aptos Display" panose="020B0004020202020204" pitchFamily="34" charset="0"/>
                <a:sym typeface="Wingdings" pitchFamily="2" charset="2"/>
              </a:rPr>
              <a:t>.</a:t>
            </a:r>
          </a:p>
          <a:p>
            <a:r>
              <a:rPr lang="en" altLang="en-US" dirty="0">
                <a:latin typeface="Aptos Display" panose="020B0004020202020204" pitchFamily="34" charset="0"/>
                <a:sym typeface="Wingdings" pitchFamily="2" charset="2"/>
              </a:rPr>
              <a:t>Child: The root of the subtree of a given parent node</a:t>
            </a:r>
            <a:r>
              <a:rPr lang="en" altLang="zh-CN" dirty="0">
                <a:latin typeface="Aptos Display" panose="020B0004020202020204" pitchFamily="34" charset="0"/>
                <a:sym typeface="Wingdings" pitchFamily="2" charset="2"/>
              </a:rPr>
              <a:t>.</a:t>
            </a:r>
          </a:p>
          <a:p>
            <a:r>
              <a:rPr lang="en" altLang="en-US" dirty="0">
                <a:latin typeface="Aptos Display" panose="020B0004020202020204" pitchFamily="34" charset="0"/>
                <a:sym typeface="Wingdings" pitchFamily="2" charset="2"/>
              </a:rPr>
              <a:t>Sibling</a:t>
            </a:r>
            <a:r>
              <a:rPr lang="en-US" altLang="zh-CN" dirty="0">
                <a:latin typeface="Aptos Display" panose="020B0004020202020204" pitchFamily="34" charset="0"/>
                <a:sym typeface="Wingdings" pitchFamily="2" charset="2"/>
              </a:rPr>
              <a:t>s</a:t>
            </a:r>
            <a:r>
              <a:rPr lang="en" altLang="en-US" dirty="0">
                <a:latin typeface="Aptos Display" panose="020B0004020202020204" pitchFamily="34" charset="0"/>
                <a:sym typeface="Wingdings" pitchFamily="2" charset="2"/>
              </a:rPr>
              <a:t>: </a:t>
            </a:r>
            <a:r>
              <a:rPr lang="en-US" altLang="zh-CN" dirty="0">
                <a:latin typeface="Aptos Display" panose="020B0004020202020204" pitchFamily="34" charset="0"/>
                <a:sym typeface="Wingdings" pitchFamily="2" charset="2"/>
              </a:rPr>
              <a:t>C</a:t>
            </a:r>
            <a:r>
              <a:rPr lang="en" altLang="en-US" dirty="0" err="1">
                <a:latin typeface="Aptos Display" panose="020B0004020202020204" pitchFamily="34" charset="0"/>
                <a:sym typeface="Wingdings" pitchFamily="2" charset="2"/>
              </a:rPr>
              <a:t>hild</a:t>
            </a:r>
            <a:r>
              <a:rPr lang="en-US" altLang="zh-CN" dirty="0">
                <a:latin typeface="Aptos Display" panose="020B0004020202020204" pitchFamily="34" charset="0"/>
                <a:sym typeface="Wingdings" pitchFamily="2" charset="2"/>
              </a:rPr>
              <a:t>ren</a:t>
            </a:r>
            <a:r>
              <a:rPr lang="en" altLang="en-US" dirty="0">
                <a:latin typeface="Aptos Display" panose="020B0004020202020204" pitchFamily="34" charset="0"/>
                <a:sym typeface="Wingdings" pitchFamily="2" charset="2"/>
              </a:rPr>
              <a:t> who share the same parent node</a:t>
            </a:r>
            <a:r>
              <a:rPr lang="en" altLang="zh-CN" dirty="0">
                <a:latin typeface="Aptos Display" panose="020B0004020202020204" pitchFamily="34" charset="0"/>
                <a:sym typeface="Wingdings" pitchFamily="2" charset="2"/>
              </a:rPr>
              <a:t>.</a:t>
            </a:r>
          </a:p>
          <a:p>
            <a:r>
              <a:rPr lang="en" altLang="en-US" dirty="0">
                <a:latin typeface="Aptos Display" panose="020B0004020202020204" pitchFamily="34" charset="0"/>
                <a:sym typeface="Wingdings" pitchFamily="2" charset="2"/>
              </a:rPr>
              <a:t>Ancestor: All nodes traversed from a given node up to the root</a:t>
            </a:r>
            <a:r>
              <a:rPr lang="en" altLang="zh-CN" dirty="0">
                <a:latin typeface="Aptos Display" panose="020B0004020202020204" pitchFamily="34" charset="0"/>
                <a:sym typeface="Wingdings" pitchFamily="2" charset="2"/>
              </a:rPr>
              <a:t>.</a:t>
            </a:r>
          </a:p>
          <a:p>
            <a:r>
              <a:rPr lang="en" altLang="en-US" dirty="0">
                <a:latin typeface="Aptos Display" panose="020B0004020202020204" pitchFamily="34" charset="0"/>
                <a:sym typeface="Wingdings" pitchFamily="2" charset="2"/>
              </a:rPr>
              <a:t>Descendants : All nodes in </a:t>
            </a:r>
            <a:r>
              <a:rPr lang="en" altLang="zh-CN" dirty="0">
                <a:latin typeface="Aptos Display" panose="020B0004020202020204" pitchFamily="34" charset="0"/>
              </a:rPr>
              <a:t>subtree</a:t>
            </a:r>
            <a:r>
              <a:rPr lang="en-US" altLang="zh-CN" dirty="0">
                <a:latin typeface="Aptos Display" panose="020B0004020202020204" pitchFamily="34" charset="0"/>
              </a:rPr>
              <a:t>s.</a:t>
            </a:r>
            <a:endParaRPr lang="en" altLang="zh-CN" dirty="0">
              <a:latin typeface="Aptos Display" panose="020B0004020202020204" pitchFamily="34" charset="0"/>
            </a:endParaRPr>
          </a:p>
          <a:p>
            <a:r>
              <a:rPr lang="en" altLang="en-US" dirty="0">
                <a:latin typeface="Aptos Display" panose="020B0004020202020204" pitchFamily="34" charset="0"/>
                <a:sym typeface="Wingdings" pitchFamily="2" charset="2"/>
              </a:rPr>
              <a:t>Level: Parent level </a:t>
            </a:r>
            <a:r>
              <a:rPr lang="en" altLang="zh-CN" dirty="0">
                <a:latin typeface="Aptos Display" panose="020B0004020202020204" pitchFamily="34" charset="0"/>
                <a:sym typeface="Wingdings" pitchFamily="2" charset="2"/>
              </a:rPr>
              <a:t>+ 1; </a:t>
            </a:r>
            <a:r>
              <a:rPr lang="en-US" altLang="zh-CN" dirty="0">
                <a:latin typeface="Aptos Display" panose="020B0004020202020204" pitchFamily="34" charset="0"/>
                <a:sym typeface="Wingdings" pitchFamily="2" charset="2"/>
              </a:rPr>
              <a:t>L</a:t>
            </a:r>
            <a:r>
              <a:rPr lang="en" altLang="en-US" dirty="0" err="1">
                <a:latin typeface="Aptos Display" panose="020B0004020202020204" pitchFamily="34" charset="0"/>
                <a:sym typeface="Wingdings" pitchFamily="2" charset="2"/>
              </a:rPr>
              <a:t>evel</a:t>
            </a:r>
            <a:r>
              <a:rPr lang="en" altLang="en-US" dirty="0">
                <a:latin typeface="Aptos Display" panose="020B0004020202020204" pitchFamily="34" charset="0"/>
                <a:sym typeface="Wingdings" pitchFamily="2" charset="2"/>
              </a:rPr>
              <a:t> </a:t>
            </a:r>
            <a:r>
              <a:rPr lang="en-US" altLang="zh-CN" dirty="0">
                <a:latin typeface="Aptos Display" panose="020B0004020202020204" pitchFamily="34" charset="0"/>
                <a:sym typeface="Wingdings" pitchFamily="2" charset="2"/>
              </a:rPr>
              <a:t>of</a:t>
            </a:r>
            <a:r>
              <a:rPr lang="zh-CN" altLang="en-US" dirty="0">
                <a:latin typeface="Aptos Display" panose="020B0004020202020204" pitchFamily="34" charset="0"/>
                <a:sym typeface="Wingdings" pitchFamily="2" charset="2"/>
              </a:rPr>
              <a:t> </a:t>
            </a:r>
            <a:r>
              <a:rPr lang="en-US" altLang="zh-CN" dirty="0">
                <a:latin typeface="Aptos Display" panose="020B0004020202020204" pitchFamily="34" charset="0"/>
                <a:sym typeface="Wingdings" pitchFamily="2" charset="2"/>
              </a:rPr>
              <a:t>root</a:t>
            </a:r>
            <a:r>
              <a:rPr lang="zh-CN" altLang="en-US" dirty="0">
                <a:latin typeface="Aptos Display" panose="020B0004020202020204" pitchFamily="34" charset="0"/>
                <a:sym typeface="Wingdings" pitchFamily="2" charset="2"/>
              </a:rPr>
              <a:t> </a:t>
            </a:r>
            <a:r>
              <a:rPr lang="en" altLang="zh-CN" dirty="0">
                <a:latin typeface="Aptos Display" panose="020B0004020202020204" pitchFamily="34" charset="0"/>
                <a:sym typeface="Wingdings" pitchFamily="2" charset="2"/>
              </a:rPr>
              <a:t>= 1</a:t>
            </a:r>
            <a:r>
              <a:rPr lang="en-US" altLang="zh-CN" dirty="0">
                <a:latin typeface="Aptos Display" panose="020B0004020202020204" pitchFamily="34" charset="0"/>
                <a:sym typeface="Wingdings" pitchFamily="2" charset="2"/>
              </a:rPr>
              <a:t>.</a:t>
            </a:r>
            <a:endParaRPr lang="en" altLang="zh-CN" dirty="0">
              <a:latin typeface="Aptos Display" panose="020B0004020202020204" pitchFamily="34" charset="0"/>
              <a:sym typeface="Wingdings" pitchFamily="2" charset="2"/>
            </a:endParaRPr>
          </a:p>
          <a:p>
            <a:r>
              <a:rPr lang="en" altLang="en-US" dirty="0">
                <a:latin typeface="Aptos Display" panose="020B0004020202020204" pitchFamily="34" charset="0"/>
                <a:sym typeface="Wingdings" pitchFamily="2" charset="2"/>
              </a:rPr>
              <a:t>Height / Depth: </a:t>
            </a:r>
            <a:r>
              <a:rPr lang="en" altLang="zh-CN" dirty="0">
                <a:latin typeface="Aptos Display" panose="020B0004020202020204" pitchFamily="34" charset="0"/>
                <a:sym typeface="Wingdings" pitchFamily="2" charset="2"/>
              </a:rPr>
              <a:t>max {levels​}</a:t>
            </a:r>
            <a:r>
              <a:rPr lang="en-US" altLang="zh-CN" dirty="0">
                <a:latin typeface="Aptos Display" panose="020B0004020202020204" pitchFamily="34" charset="0"/>
                <a:sym typeface="Wingdings" pitchFamily="2" charset="2"/>
              </a:rPr>
              <a:t>.</a:t>
            </a:r>
            <a:endParaRPr lang="en" altLang="zh-CN" dirty="0">
              <a:latin typeface="Aptos Display" panose="020B0004020202020204" pitchFamily="34" charset="0"/>
              <a:sym typeface="Wingdings" pitchFamily="2" charset="2"/>
            </a:endParaRPr>
          </a:p>
        </p:txBody>
      </p:sp>
      <p:grpSp>
        <p:nvGrpSpPr>
          <p:cNvPr id="36" name="Group 4">
            <a:extLst>
              <a:ext uri="{FF2B5EF4-FFF2-40B4-BE49-F238E27FC236}">
                <a16:creationId xmlns:a16="http://schemas.microsoft.com/office/drawing/2014/main" id="{A22FA434-0268-EB4A-A311-CF6832544066}"/>
              </a:ext>
            </a:extLst>
          </p:cNvPr>
          <p:cNvGrpSpPr>
            <a:grpSpLocks/>
          </p:cNvGrpSpPr>
          <p:nvPr/>
        </p:nvGrpSpPr>
        <p:grpSpPr bwMode="auto">
          <a:xfrm>
            <a:off x="8084388" y="2247106"/>
            <a:ext cx="3429000" cy="2363787"/>
            <a:chOff x="1584" y="240"/>
            <a:chExt cx="2160" cy="1489"/>
          </a:xfrm>
        </p:grpSpPr>
        <p:sp>
          <p:nvSpPr>
            <p:cNvPr id="37" name="Oval 5">
              <a:extLst>
                <a:ext uri="{FF2B5EF4-FFF2-40B4-BE49-F238E27FC236}">
                  <a16:creationId xmlns:a16="http://schemas.microsoft.com/office/drawing/2014/main" id="{5DBEA0E7-CA11-B248-A8C4-D15BA30980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0" y="480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b="1">
                  <a:solidFill>
                    <a:schemeClr val="bg1"/>
                  </a:solidFill>
                  <a:latin typeface="Aptos Display" panose="020B0004020202020204" pitchFamily="34" charset="0"/>
                </a:rPr>
                <a:t>A</a:t>
              </a:r>
            </a:p>
          </p:txBody>
        </p:sp>
        <p:sp>
          <p:nvSpPr>
            <p:cNvPr id="38" name="Oval 6">
              <a:extLst>
                <a:ext uri="{FF2B5EF4-FFF2-40B4-BE49-F238E27FC236}">
                  <a16:creationId xmlns:a16="http://schemas.microsoft.com/office/drawing/2014/main" id="{D166D70B-D32B-8A4E-BA1F-BD854A49CD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816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b="1" dirty="0">
                  <a:solidFill>
                    <a:schemeClr val="bg1"/>
                  </a:solidFill>
                  <a:latin typeface="Aptos Display" panose="020B0004020202020204" pitchFamily="34" charset="0"/>
                </a:rPr>
                <a:t>C</a:t>
              </a:r>
            </a:p>
          </p:txBody>
        </p:sp>
        <p:sp>
          <p:nvSpPr>
            <p:cNvPr id="39" name="Oval 7">
              <a:extLst>
                <a:ext uri="{FF2B5EF4-FFF2-40B4-BE49-F238E27FC236}">
                  <a16:creationId xmlns:a16="http://schemas.microsoft.com/office/drawing/2014/main" id="{21099FA7-6107-6A4A-90FE-3F4D645179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816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b="1">
                  <a:solidFill>
                    <a:schemeClr val="bg1"/>
                  </a:solidFill>
                  <a:latin typeface="Aptos Display" panose="020B0004020202020204" pitchFamily="34" charset="0"/>
                </a:rPr>
                <a:t>B</a:t>
              </a:r>
            </a:p>
          </p:txBody>
        </p:sp>
        <p:sp>
          <p:nvSpPr>
            <p:cNvPr id="40" name="Oval 8">
              <a:extLst>
                <a:ext uri="{FF2B5EF4-FFF2-40B4-BE49-F238E27FC236}">
                  <a16:creationId xmlns:a16="http://schemas.microsoft.com/office/drawing/2014/main" id="{262262E4-FC92-7146-BD08-069778219E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816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b="1">
                  <a:solidFill>
                    <a:schemeClr val="bg1"/>
                  </a:solidFill>
                  <a:latin typeface="Aptos Display" panose="020B0004020202020204" pitchFamily="34" charset="0"/>
                </a:rPr>
                <a:t>D</a:t>
              </a:r>
            </a:p>
          </p:txBody>
        </p:sp>
        <p:sp>
          <p:nvSpPr>
            <p:cNvPr id="41" name="Oval 9">
              <a:extLst>
                <a:ext uri="{FF2B5EF4-FFF2-40B4-BE49-F238E27FC236}">
                  <a16:creationId xmlns:a16="http://schemas.microsoft.com/office/drawing/2014/main" id="{A98236CA-93E2-6643-A7AD-11BBB3CB4D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152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b="1">
                  <a:solidFill>
                    <a:schemeClr val="bg1"/>
                  </a:solidFill>
                  <a:latin typeface="Aptos Display" panose="020B0004020202020204" pitchFamily="34" charset="0"/>
                </a:rPr>
                <a:t>G</a:t>
              </a:r>
            </a:p>
          </p:txBody>
        </p:sp>
        <p:sp>
          <p:nvSpPr>
            <p:cNvPr id="42" name="Oval 10">
              <a:extLst>
                <a:ext uri="{FF2B5EF4-FFF2-40B4-BE49-F238E27FC236}">
                  <a16:creationId xmlns:a16="http://schemas.microsoft.com/office/drawing/2014/main" id="{144FD6C0-5AF3-0341-8EA6-338243B46B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1152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b="1">
                  <a:solidFill>
                    <a:schemeClr val="bg1"/>
                  </a:solidFill>
                  <a:latin typeface="Aptos Display" panose="020B0004020202020204" pitchFamily="34" charset="0"/>
                </a:rPr>
                <a:t>F</a:t>
              </a:r>
            </a:p>
          </p:txBody>
        </p:sp>
        <p:sp>
          <p:nvSpPr>
            <p:cNvPr id="43" name="Oval 11">
              <a:extLst>
                <a:ext uri="{FF2B5EF4-FFF2-40B4-BE49-F238E27FC236}">
                  <a16:creationId xmlns:a16="http://schemas.microsoft.com/office/drawing/2014/main" id="{95CF75E2-1A03-EA4D-8EC2-994B6D23C8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1152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b="1">
                  <a:solidFill>
                    <a:schemeClr val="bg1"/>
                  </a:solidFill>
                  <a:latin typeface="Aptos Display" panose="020B0004020202020204" pitchFamily="34" charset="0"/>
                </a:rPr>
                <a:t>E</a:t>
              </a:r>
            </a:p>
          </p:txBody>
        </p:sp>
        <p:sp>
          <p:nvSpPr>
            <p:cNvPr id="44" name="Oval 12">
              <a:extLst>
                <a:ext uri="{FF2B5EF4-FFF2-40B4-BE49-F238E27FC236}">
                  <a16:creationId xmlns:a16="http://schemas.microsoft.com/office/drawing/2014/main" id="{66CAD6F7-DE66-7246-BA6A-504B7B938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1152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b="1">
                  <a:solidFill>
                    <a:schemeClr val="bg1"/>
                  </a:solidFill>
                  <a:latin typeface="Aptos Display" panose="020B0004020202020204" pitchFamily="34" charset="0"/>
                </a:rPr>
                <a:t>H</a:t>
              </a:r>
            </a:p>
          </p:txBody>
        </p:sp>
        <p:sp>
          <p:nvSpPr>
            <p:cNvPr id="45" name="Oval 13">
              <a:extLst>
                <a:ext uri="{FF2B5EF4-FFF2-40B4-BE49-F238E27FC236}">
                  <a16:creationId xmlns:a16="http://schemas.microsoft.com/office/drawing/2014/main" id="{16A2234F-6171-104A-A939-4403BA05CD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152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b="1">
                  <a:solidFill>
                    <a:schemeClr val="bg1"/>
                  </a:solidFill>
                  <a:latin typeface="Aptos Display" panose="020B0004020202020204" pitchFamily="34" charset="0"/>
                </a:rPr>
                <a:t>I</a:t>
              </a:r>
            </a:p>
          </p:txBody>
        </p:sp>
        <p:sp>
          <p:nvSpPr>
            <p:cNvPr id="46" name="Oval 14">
              <a:extLst>
                <a:ext uri="{FF2B5EF4-FFF2-40B4-BE49-F238E27FC236}">
                  <a16:creationId xmlns:a16="http://schemas.microsoft.com/office/drawing/2014/main" id="{AA700397-46AA-2C4F-8660-5FDEBEA6E6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1152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b="1">
                  <a:solidFill>
                    <a:schemeClr val="bg1"/>
                  </a:solidFill>
                  <a:latin typeface="Aptos Display" panose="020B0004020202020204" pitchFamily="34" charset="0"/>
                </a:rPr>
                <a:t>J</a:t>
              </a:r>
            </a:p>
          </p:txBody>
        </p:sp>
        <p:sp>
          <p:nvSpPr>
            <p:cNvPr id="47" name="Oval 15">
              <a:extLst>
                <a:ext uri="{FF2B5EF4-FFF2-40B4-BE49-F238E27FC236}">
                  <a16:creationId xmlns:a16="http://schemas.microsoft.com/office/drawing/2014/main" id="{1DD36866-C879-F346-AB47-C099A93018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1536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b="1">
                  <a:solidFill>
                    <a:schemeClr val="bg1"/>
                  </a:solidFill>
                  <a:latin typeface="Aptos Display" panose="020B0004020202020204" pitchFamily="34" charset="0"/>
                </a:rPr>
                <a:t>M</a:t>
              </a:r>
            </a:p>
          </p:txBody>
        </p:sp>
        <p:sp>
          <p:nvSpPr>
            <p:cNvPr id="48" name="Oval 16">
              <a:extLst>
                <a:ext uri="{FF2B5EF4-FFF2-40B4-BE49-F238E27FC236}">
                  <a16:creationId xmlns:a16="http://schemas.microsoft.com/office/drawing/2014/main" id="{B6CB1B53-9261-6D4C-93F0-A4A08DACAB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536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b="1">
                  <a:solidFill>
                    <a:schemeClr val="bg1"/>
                  </a:solidFill>
                  <a:latin typeface="Aptos Display" panose="020B0004020202020204" pitchFamily="34" charset="0"/>
                </a:rPr>
                <a:t>L</a:t>
              </a:r>
            </a:p>
          </p:txBody>
        </p:sp>
        <p:sp>
          <p:nvSpPr>
            <p:cNvPr id="49" name="Oval 17">
              <a:extLst>
                <a:ext uri="{FF2B5EF4-FFF2-40B4-BE49-F238E27FC236}">
                  <a16:creationId xmlns:a16="http://schemas.microsoft.com/office/drawing/2014/main" id="{BB6820A7-0EC8-7340-AB13-24B552B1AC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1536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b="1">
                  <a:solidFill>
                    <a:schemeClr val="bg1"/>
                  </a:solidFill>
                  <a:latin typeface="Aptos Display" panose="020B0004020202020204" pitchFamily="34" charset="0"/>
                </a:rPr>
                <a:t>K</a:t>
              </a:r>
            </a:p>
          </p:txBody>
        </p:sp>
        <p:sp>
          <p:nvSpPr>
            <p:cNvPr id="50" name="Line 18">
              <a:extLst>
                <a:ext uri="{FF2B5EF4-FFF2-40B4-BE49-F238E27FC236}">
                  <a16:creationId xmlns:a16="http://schemas.microsoft.com/office/drawing/2014/main" id="{CA234B57-311F-D942-9E05-15AE475200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672"/>
              <a:ext cx="0" cy="144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51" name="Line 19">
              <a:extLst>
                <a:ext uri="{FF2B5EF4-FFF2-40B4-BE49-F238E27FC236}">
                  <a16:creationId xmlns:a16="http://schemas.microsoft.com/office/drawing/2014/main" id="{AE3273B8-DDD6-5845-A94E-1EF6EAE127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1008"/>
              <a:ext cx="0" cy="144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52" name="Line 20">
              <a:extLst>
                <a:ext uri="{FF2B5EF4-FFF2-40B4-BE49-F238E27FC236}">
                  <a16:creationId xmlns:a16="http://schemas.microsoft.com/office/drawing/2014/main" id="{81BE3638-D224-934C-8FC0-6BE1149A14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1344"/>
              <a:ext cx="0" cy="192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53" name="Line 21">
              <a:extLst>
                <a:ext uri="{FF2B5EF4-FFF2-40B4-BE49-F238E27FC236}">
                  <a16:creationId xmlns:a16="http://schemas.microsoft.com/office/drawing/2014/main" id="{9C3113FD-4F81-544E-AB49-FDCBA1519E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12" y="657"/>
              <a:ext cx="288" cy="168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54" name="Line 22">
              <a:extLst>
                <a:ext uri="{FF2B5EF4-FFF2-40B4-BE49-F238E27FC236}">
                  <a16:creationId xmlns:a16="http://schemas.microsoft.com/office/drawing/2014/main" id="{2ABE5AC7-A454-2A47-BEE1-90B2BEBBA8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657"/>
              <a:ext cx="311" cy="19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55" name="Line 23">
              <a:extLst>
                <a:ext uri="{FF2B5EF4-FFF2-40B4-BE49-F238E27FC236}">
                  <a16:creationId xmlns:a16="http://schemas.microsoft.com/office/drawing/2014/main" id="{4C45D177-3BA7-BE43-B4C7-6DCFADB98F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0" y="981"/>
              <a:ext cx="96" cy="192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56" name="Line 24">
              <a:extLst>
                <a:ext uri="{FF2B5EF4-FFF2-40B4-BE49-F238E27FC236}">
                  <a16:creationId xmlns:a16="http://schemas.microsoft.com/office/drawing/2014/main" id="{74988CC6-0DA9-7A49-BE08-05837A0DF5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997"/>
              <a:ext cx="48" cy="156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57" name="Line 25">
              <a:extLst>
                <a:ext uri="{FF2B5EF4-FFF2-40B4-BE49-F238E27FC236}">
                  <a16:creationId xmlns:a16="http://schemas.microsoft.com/office/drawing/2014/main" id="{76859E60-D381-2349-A645-E3612497E2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28" y="1337"/>
              <a:ext cx="96" cy="204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58" name="Line 26">
              <a:extLst>
                <a:ext uri="{FF2B5EF4-FFF2-40B4-BE49-F238E27FC236}">
                  <a16:creationId xmlns:a16="http://schemas.microsoft.com/office/drawing/2014/main" id="{80469607-6E6E-614E-A1E2-A231AF2BFE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1337"/>
              <a:ext cx="48" cy="204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59" name="Line 27">
              <a:extLst>
                <a:ext uri="{FF2B5EF4-FFF2-40B4-BE49-F238E27FC236}">
                  <a16:creationId xmlns:a16="http://schemas.microsoft.com/office/drawing/2014/main" id="{0E20C34D-8F9E-D547-973B-6167B0933D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36" y="1008"/>
              <a:ext cx="96" cy="144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60" name="Line 28">
              <a:extLst>
                <a:ext uri="{FF2B5EF4-FFF2-40B4-BE49-F238E27FC236}">
                  <a16:creationId xmlns:a16="http://schemas.microsoft.com/office/drawing/2014/main" id="{344A0DAC-37D2-E24D-9225-05BB9ECE39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1" y="1008"/>
              <a:ext cx="25" cy="144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61" name="Line 29">
              <a:extLst>
                <a:ext uri="{FF2B5EF4-FFF2-40B4-BE49-F238E27FC236}">
                  <a16:creationId xmlns:a16="http://schemas.microsoft.com/office/drawing/2014/main" id="{DC27B39A-A86C-5945-AB25-A2DEC3BFC2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7" y="960"/>
              <a:ext cx="227" cy="192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62" name="Rectangle 30">
              <a:extLst>
                <a:ext uri="{FF2B5EF4-FFF2-40B4-BE49-F238E27FC236}">
                  <a16:creationId xmlns:a16="http://schemas.microsoft.com/office/drawing/2014/main" id="{8D8D8623-EEF7-1443-9690-3700A0C6D8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152"/>
              <a:ext cx="288" cy="19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sz="2000" b="1">
                  <a:solidFill>
                    <a:schemeClr val="bg1"/>
                  </a:solidFill>
                  <a:latin typeface="Aptos Display" panose="020B0004020202020204" pitchFamily="34" charset="0"/>
                  <a:ea typeface="+mn-ea"/>
                </a:rPr>
                <a:t>3</a:t>
              </a:r>
            </a:p>
          </p:txBody>
        </p:sp>
        <p:sp>
          <p:nvSpPr>
            <p:cNvPr id="63" name="Rectangle 31">
              <a:extLst>
                <a:ext uri="{FF2B5EF4-FFF2-40B4-BE49-F238E27FC236}">
                  <a16:creationId xmlns:a16="http://schemas.microsoft.com/office/drawing/2014/main" id="{25DC4DA2-3E93-1A43-A51C-EF4D4E7C1C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536"/>
              <a:ext cx="288" cy="19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sz="2000" b="1">
                  <a:solidFill>
                    <a:schemeClr val="bg1"/>
                  </a:solidFill>
                  <a:latin typeface="Aptos Display" panose="020B0004020202020204" pitchFamily="34" charset="0"/>
                  <a:ea typeface="+mn-ea"/>
                </a:rPr>
                <a:t>4</a:t>
              </a:r>
            </a:p>
          </p:txBody>
        </p:sp>
        <p:sp>
          <p:nvSpPr>
            <p:cNvPr id="64" name="Rectangle 32">
              <a:extLst>
                <a:ext uri="{FF2B5EF4-FFF2-40B4-BE49-F238E27FC236}">
                  <a16:creationId xmlns:a16="http://schemas.microsoft.com/office/drawing/2014/main" id="{703A348C-2B31-B043-9AEF-BE80028F2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816"/>
              <a:ext cx="288" cy="19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sz="2000" b="1" dirty="0">
                  <a:solidFill>
                    <a:schemeClr val="bg1"/>
                  </a:solidFill>
                  <a:latin typeface="Aptos Display" panose="020B0004020202020204" pitchFamily="34" charset="0"/>
                  <a:ea typeface="+mn-ea"/>
                </a:rPr>
                <a:t>2</a:t>
              </a:r>
            </a:p>
          </p:txBody>
        </p:sp>
        <p:sp>
          <p:nvSpPr>
            <p:cNvPr id="65" name="Rectangle 33">
              <a:extLst>
                <a:ext uri="{FF2B5EF4-FFF2-40B4-BE49-F238E27FC236}">
                  <a16:creationId xmlns:a16="http://schemas.microsoft.com/office/drawing/2014/main" id="{6F62AE2A-CD22-8F41-9E1A-16C8F4A8CC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480"/>
              <a:ext cx="288" cy="19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sz="2000" b="1" dirty="0">
                  <a:solidFill>
                    <a:schemeClr val="bg1"/>
                  </a:solidFill>
                  <a:latin typeface="Aptos Display" panose="020B0004020202020204" pitchFamily="34" charset="0"/>
                  <a:ea typeface="+mn-ea"/>
                </a:rPr>
                <a:t>1</a:t>
              </a:r>
            </a:p>
          </p:txBody>
        </p:sp>
        <p:sp>
          <p:nvSpPr>
            <p:cNvPr id="66" name="Rectangle 34">
              <a:extLst>
                <a:ext uri="{FF2B5EF4-FFF2-40B4-BE49-F238E27FC236}">
                  <a16:creationId xmlns:a16="http://schemas.microsoft.com/office/drawing/2014/main" id="{EA61EE31-7BC1-074A-9691-BA12B7086B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240"/>
              <a:ext cx="432" cy="19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sz="2000" b="1" dirty="0">
                  <a:solidFill>
                    <a:schemeClr val="bg1"/>
                  </a:solidFill>
                  <a:latin typeface="Aptos Display" panose="020B0004020202020204" pitchFamily="34" charset="0"/>
                  <a:ea typeface="+mn-ea"/>
                </a:rPr>
                <a:t>Level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4230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Tree representation (list representation)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 anchor="ctr" anchorCtr="0">
            <a:normAutofit/>
          </a:bodyPr>
          <a:lstStyle/>
          <a:p>
            <a:endParaRPr lang="en-US" altLang="zh-CN" dirty="0">
              <a:latin typeface="Aptos Display" panose="020B0004020202020204" pitchFamily="34" charset="0"/>
            </a:endParaRPr>
          </a:p>
          <a:p>
            <a:endParaRPr lang="en-US" altLang="zh-CN" dirty="0">
              <a:latin typeface="Aptos Display" panose="020B0004020202020204" pitchFamily="34" charset="0"/>
            </a:endParaRPr>
          </a:p>
          <a:p>
            <a:endParaRPr lang="en-US" altLang="zh-CN" dirty="0">
              <a:latin typeface="Aptos Display" panose="020B0004020202020204" pitchFamily="34" charset="0"/>
            </a:endParaRPr>
          </a:p>
          <a:p>
            <a:endParaRPr lang="en-US" altLang="zh-CN" dirty="0">
              <a:latin typeface="Aptos Display" panose="020B0004020202020204" pitchFamily="34" charset="0"/>
            </a:endParaRPr>
          </a:p>
          <a:p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" altLang="en-US" dirty="0">
                <a:latin typeface="Aptos Display" panose="020B0004020202020204" pitchFamily="34" charset="0"/>
              </a:rPr>
              <a:t>The size of a tree node will vary depending on the number of its subtrees, which is clearly not a good approach.</a:t>
            </a:r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3FF8890D-D44B-A746-9CC9-7EE02EE53322}"/>
              </a:ext>
            </a:extLst>
          </p:cNvPr>
          <p:cNvGrpSpPr>
            <a:grpSpLocks/>
          </p:cNvGrpSpPr>
          <p:nvPr/>
        </p:nvGrpSpPr>
        <p:grpSpPr bwMode="auto">
          <a:xfrm>
            <a:off x="1144588" y="1941453"/>
            <a:ext cx="3429000" cy="2363787"/>
            <a:chOff x="1584" y="240"/>
            <a:chExt cx="2160" cy="1489"/>
          </a:xfrm>
        </p:grpSpPr>
        <p:sp>
          <p:nvSpPr>
            <p:cNvPr id="8" name="Oval 5">
              <a:extLst>
                <a:ext uri="{FF2B5EF4-FFF2-40B4-BE49-F238E27FC236}">
                  <a16:creationId xmlns:a16="http://schemas.microsoft.com/office/drawing/2014/main" id="{A3593847-0310-544D-B80C-93258A4DBB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0" y="480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b="1">
                  <a:solidFill>
                    <a:schemeClr val="bg1"/>
                  </a:solidFill>
                  <a:latin typeface="Aptos Display" panose="020B0004020202020204" pitchFamily="34" charset="0"/>
                </a:rPr>
                <a:t>A</a:t>
              </a:r>
            </a:p>
          </p:txBody>
        </p:sp>
        <p:sp>
          <p:nvSpPr>
            <p:cNvPr id="9" name="Oval 6">
              <a:extLst>
                <a:ext uri="{FF2B5EF4-FFF2-40B4-BE49-F238E27FC236}">
                  <a16:creationId xmlns:a16="http://schemas.microsoft.com/office/drawing/2014/main" id="{DDFCBCF3-CCD7-A247-B327-13421AB925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816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b="1" dirty="0">
                  <a:solidFill>
                    <a:schemeClr val="bg1"/>
                  </a:solidFill>
                  <a:latin typeface="Aptos Display" panose="020B0004020202020204" pitchFamily="34" charset="0"/>
                </a:rPr>
                <a:t>C</a:t>
              </a:r>
            </a:p>
          </p:txBody>
        </p:sp>
        <p:sp>
          <p:nvSpPr>
            <p:cNvPr id="10" name="Oval 7">
              <a:extLst>
                <a:ext uri="{FF2B5EF4-FFF2-40B4-BE49-F238E27FC236}">
                  <a16:creationId xmlns:a16="http://schemas.microsoft.com/office/drawing/2014/main" id="{8B873DE7-70E6-B743-B5CB-0061EC0A67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816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b="1">
                  <a:solidFill>
                    <a:schemeClr val="bg1"/>
                  </a:solidFill>
                  <a:latin typeface="Aptos Display" panose="020B0004020202020204" pitchFamily="34" charset="0"/>
                </a:rPr>
                <a:t>B</a:t>
              </a:r>
            </a:p>
          </p:txBody>
        </p:sp>
        <p:sp>
          <p:nvSpPr>
            <p:cNvPr id="11" name="Oval 8">
              <a:extLst>
                <a:ext uri="{FF2B5EF4-FFF2-40B4-BE49-F238E27FC236}">
                  <a16:creationId xmlns:a16="http://schemas.microsoft.com/office/drawing/2014/main" id="{4057E1A0-35E4-A947-8842-366FA62988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816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b="1">
                  <a:solidFill>
                    <a:schemeClr val="bg1"/>
                  </a:solidFill>
                  <a:latin typeface="Aptos Display" panose="020B0004020202020204" pitchFamily="34" charset="0"/>
                </a:rPr>
                <a:t>D</a:t>
              </a:r>
            </a:p>
          </p:txBody>
        </p:sp>
        <p:sp>
          <p:nvSpPr>
            <p:cNvPr id="12" name="Oval 9">
              <a:extLst>
                <a:ext uri="{FF2B5EF4-FFF2-40B4-BE49-F238E27FC236}">
                  <a16:creationId xmlns:a16="http://schemas.microsoft.com/office/drawing/2014/main" id="{2E020D52-5A3E-BA42-A73E-F7DE602B07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152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b="1">
                  <a:solidFill>
                    <a:schemeClr val="bg1"/>
                  </a:solidFill>
                  <a:latin typeface="Aptos Display" panose="020B0004020202020204" pitchFamily="34" charset="0"/>
                </a:rPr>
                <a:t>G</a:t>
              </a:r>
            </a:p>
          </p:txBody>
        </p:sp>
        <p:sp>
          <p:nvSpPr>
            <p:cNvPr id="13" name="Oval 10">
              <a:extLst>
                <a:ext uri="{FF2B5EF4-FFF2-40B4-BE49-F238E27FC236}">
                  <a16:creationId xmlns:a16="http://schemas.microsoft.com/office/drawing/2014/main" id="{69B816E8-FD31-2843-986C-114CA7C1E3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1152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b="1">
                  <a:solidFill>
                    <a:schemeClr val="bg1"/>
                  </a:solidFill>
                  <a:latin typeface="Aptos Display" panose="020B0004020202020204" pitchFamily="34" charset="0"/>
                </a:rPr>
                <a:t>F</a:t>
              </a:r>
            </a:p>
          </p:txBody>
        </p:sp>
        <p:sp>
          <p:nvSpPr>
            <p:cNvPr id="14" name="Oval 11">
              <a:extLst>
                <a:ext uri="{FF2B5EF4-FFF2-40B4-BE49-F238E27FC236}">
                  <a16:creationId xmlns:a16="http://schemas.microsoft.com/office/drawing/2014/main" id="{8FD3DAFC-3297-2B45-A0C8-4F1EC6ED1F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1152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b="1">
                  <a:solidFill>
                    <a:schemeClr val="bg1"/>
                  </a:solidFill>
                  <a:latin typeface="Aptos Display" panose="020B0004020202020204" pitchFamily="34" charset="0"/>
                </a:rPr>
                <a:t>E</a:t>
              </a:r>
            </a:p>
          </p:txBody>
        </p:sp>
        <p:sp>
          <p:nvSpPr>
            <p:cNvPr id="15" name="Oval 12">
              <a:extLst>
                <a:ext uri="{FF2B5EF4-FFF2-40B4-BE49-F238E27FC236}">
                  <a16:creationId xmlns:a16="http://schemas.microsoft.com/office/drawing/2014/main" id="{E926AB33-778E-D045-B673-D925789A21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1152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b="1">
                  <a:solidFill>
                    <a:schemeClr val="bg1"/>
                  </a:solidFill>
                  <a:latin typeface="Aptos Display" panose="020B0004020202020204" pitchFamily="34" charset="0"/>
                </a:rPr>
                <a:t>H</a:t>
              </a:r>
            </a:p>
          </p:txBody>
        </p:sp>
        <p:sp>
          <p:nvSpPr>
            <p:cNvPr id="16" name="Oval 13">
              <a:extLst>
                <a:ext uri="{FF2B5EF4-FFF2-40B4-BE49-F238E27FC236}">
                  <a16:creationId xmlns:a16="http://schemas.microsoft.com/office/drawing/2014/main" id="{12964ABC-E92C-B14D-B6E7-C323C9F825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152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b="1">
                  <a:solidFill>
                    <a:schemeClr val="bg1"/>
                  </a:solidFill>
                  <a:latin typeface="Aptos Display" panose="020B0004020202020204" pitchFamily="34" charset="0"/>
                </a:rPr>
                <a:t>I</a:t>
              </a:r>
            </a:p>
          </p:txBody>
        </p:sp>
        <p:sp>
          <p:nvSpPr>
            <p:cNvPr id="17" name="Oval 14">
              <a:extLst>
                <a:ext uri="{FF2B5EF4-FFF2-40B4-BE49-F238E27FC236}">
                  <a16:creationId xmlns:a16="http://schemas.microsoft.com/office/drawing/2014/main" id="{2C5585A1-F9EA-0B48-ACF4-16552512C6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1152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b="1">
                  <a:solidFill>
                    <a:schemeClr val="bg1"/>
                  </a:solidFill>
                  <a:latin typeface="Aptos Display" panose="020B0004020202020204" pitchFamily="34" charset="0"/>
                </a:rPr>
                <a:t>J</a:t>
              </a:r>
            </a:p>
          </p:txBody>
        </p:sp>
        <p:sp>
          <p:nvSpPr>
            <p:cNvPr id="18" name="Oval 15">
              <a:extLst>
                <a:ext uri="{FF2B5EF4-FFF2-40B4-BE49-F238E27FC236}">
                  <a16:creationId xmlns:a16="http://schemas.microsoft.com/office/drawing/2014/main" id="{C87452FF-1F4D-9E42-953A-80B3AC3167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1536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b="1">
                  <a:solidFill>
                    <a:schemeClr val="bg1"/>
                  </a:solidFill>
                  <a:latin typeface="Aptos Display" panose="020B0004020202020204" pitchFamily="34" charset="0"/>
                </a:rPr>
                <a:t>M</a:t>
              </a:r>
            </a:p>
          </p:txBody>
        </p:sp>
        <p:sp>
          <p:nvSpPr>
            <p:cNvPr id="19" name="Oval 16">
              <a:extLst>
                <a:ext uri="{FF2B5EF4-FFF2-40B4-BE49-F238E27FC236}">
                  <a16:creationId xmlns:a16="http://schemas.microsoft.com/office/drawing/2014/main" id="{3194040A-FACE-BE42-A139-EBE3C06033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536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b="1">
                  <a:solidFill>
                    <a:schemeClr val="bg1"/>
                  </a:solidFill>
                  <a:latin typeface="Aptos Display" panose="020B0004020202020204" pitchFamily="34" charset="0"/>
                </a:rPr>
                <a:t>L</a:t>
              </a:r>
            </a:p>
          </p:txBody>
        </p:sp>
        <p:sp>
          <p:nvSpPr>
            <p:cNvPr id="20" name="Oval 17">
              <a:extLst>
                <a:ext uri="{FF2B5EF4-FFF2-40B4-BE49-F238E27FC236}">
                  <a16:creationId xmlns:a16="http://schemas.microsoft.com/office/drawing/2014/main" id="{F66D1694-CD9B-5741-B448-A9DEB4D0CB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1536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b="1">
                  <a:solidFill>
                    <a:schemeClr val="bg1"/>
                  </a:solidFill>
                  <a:latin typeface="Aptos Display" panose="020B0004020202020204" pitchFamily="34" charset="0"/>
                </a:rPr>
                <a:t>K</a:t>
              </a:r>
            </a:p>
          </p:txBody>
        </p:sp>
        <p:sp>
          <p:nvSpPr>
            <p:cNvPr id="21" name="Line 18">
              <a:extLst>
                <a:ext uri="{FF2B5EF4-FFF2-40B4-BE49-F238E27FC236}">
                  <a16:creationId xmlns:a16="http://schemas.microsoft.com/office/drawing/2014/main" id="{42BE9805-05C0-6740-B0DC-1A47517A3E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672"/>
              <a:ext cx="0" cy="144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22" name="Line 19">
              <a:extLst>
                <a:ext uri="{FF2B5EF4-FFF2-40B4-BE49-F238E27FC236}">
                  <a16:creationId xmlns:a16="http://schemas.microsoft.com/office/drawing/2014/main" id="{B90CE648-56E5-7D49-88D0-D0C7CDE1A5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1008"/>
              <a:ext cx="0" cy="144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23" name="Line 20">
              <a:extLst>
                <a:ext uri="{FF2B5EF4-FFF2-40B4-BE49-F238E27FC236}">
                  <a16:creationId xmlns:a16="http://schemas.microsoft.com/office/drawing/2014/main" id="{0A98E156-78DC-3A46-AE7A-B84DB40759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1344"/>
              <a:ext cx="0" cy="192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24" name="Line 21">
              <a:extLst>
                <a:ext uri="{FF2B5EF4-FFF2-40B4-BE49-F238E27FC236}">
                  <a16:creationId xmlns:a16="http://schemas.microsoft.com/office/drawing/2014/main" id="{BA3797B7-82DB-7F40-A248-22863C14D2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12" y="657"/>
              <a:ext cx="288" cy="168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25" name="Line 22">
              <a:extLst>
                <a:ext uri="{FF2B5EF4-FFF2-40B4-BE49-F238E27FC236}">
                  <a16:creationId xmlns:a16="http://schemas.microsoft.com/office/drawing/2014/main" id="{46FECD53-1843-A846-8CC6-2F7949F4B2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657"/>
              <a:ext cx="311" cy="19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26" name="Line 23">
              <a:extLst>
                <a:ext uri="{FF2B5EF4-FFF2-40B4-BE49-F238E27FC236}">
                  <a16:creationId xmlns:a16="http://schemas.microsoft.com/office/drawing/2014/main" id="{9E5FE9AA-9D6A-1048-8DB9-932B2FB4D1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0" y="981"/>
              <a:ext cx="96" cy="192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27" name="Line 24">
              <a:extLst>
                <a:ext uri="{FF2B5EF4-FFF2-40B4-BE49-F238E27FC236}">
                  <a16:creationId xmlns:a16="http://schemas.microsoft.com/office/drawing/2014/main" id="{4A379392-0CF3-7D44-AB3D-DFBD7A10E8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997"/>
              <a:ext cx="48" cy="156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28" name="Line 25">
              <a:extLst>
                <a:ext uri="{FF2B5EF4-FFF2-40B4-BE49-F238E27FC236}">
                  <a16:creationId xmlns:a16="http://schemas.microsoft.com/office/drawing/2014/main" id="{6F556206-5E8E-3E44-8B2D-E8558BA823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28" y="1337"/>
              <a:ext cx="96" cy="204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29" name="Line 26">
              <a:extLst>
                <a:ext uri="{FF2B5EF4-FFF2-40B4-BE49-F238E27FC236}">
                  <a16:creationId xmlns:a16="http://schemas.microsoft.com/office/drawing/2014/main" id="{DF2C3D49-DDCC-3E43-BA0C-EBB510A4B9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1337"/>
              <a:ext cx="48" cy="204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30" name="Line 27">
              <a:extLst>
                <a:ext uri="{FF2B5EF4-FFF2-40B4-BE49-F238E27FC236}">
                  <a16:creationId xmlns:a16="http://schemas.microsoft.com/office/drawing/2014/main" id="{9CB5971A-650A-9648-A526-93B04E7C46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36" y="1008"/>
              <a:ext cx="96" cy="144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31" name="Line 28">
              <a:extLst>
                <a:ext uri="{FF2B5EF4-FFF2-40B4-BE49-F238E27FC236}">
                  <a16:creationId xmlns:a16="http://schemas.microsoft.com/office/drawing/2014/main" id="{E75D1F4D-1C7C-1C4D-83D9-B4C01B64A5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1" y="1008"/>
              <a:ext cx="25" cy="144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32" name="Line 29">
              <a:extLst>
                <a:ext uri="{FF2B5EF4-FFF2-40B4-BE49-F238E27FC236}">
                  <a16:creationId xmlns:a16="http://schemas.microsoft.com/office/drawing/2014/main" id="{A2D7480E-705C-5F47-AED7-CDDE4F86B5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7" y="960"/>
              <a:ext cx="227" cy="192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33" name="Rectangle 30">
              <a:extLst>
                <a:ext uri="{FF2B5EF4-FFF2-40B4-BE49-F238E27FC236}">
                  <a16:creationId xmlns:a16="http://schemas.microsoft.com/office/drawing/2014/main" id="{0B998B96-9EB8-5441-8734-586F3FB377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152"/>
              <a:ext cx="288" cy="19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sz="2000" b="1">
                  <a:solidFill>
                    <a:schemeClr val="bg1"/>
                  </a:solidFill>
                  <a:latin typeface="Aptos Display" panose="020B0004020202020204" pitchFamily="34" charset="0"/>
                </a:rPr>
                <a:t>3</a:t>
              </a:r>
            </a:p>
          </p:txBody>
        </p:sp>
        <p:sp>
          <p:nvSpPr>
            <p:cNvPr id="34" name="Rectangle 31">
              <a:extLst>
                <a:ext uri="{FF2B5EF4-FFF2-40B4-BE49-F238E27FC236}">
                  <a16:creationId xmlns:a16="http://schemas.microsoft.com/office/drawing/2014/main" id="{6F6FA7B8-9ABC-C342-AFA8-F463CE042D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536"/>
              <a:ext cx="288" cy="19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sz="2000" b="1">
                  <a:solidFill>
                    <a:schemeClr val="bg1"/>
                  </a:solidFill>
                  <a:latin typeface="Aptos Display" panose="020B0004020202020204" pitchFamily="34" charset="0"/>
                </a:rPr>
                <a:t>4</a:t>
              </a:r>
            </a:p>
          </p:txBody>
        </p:sp>
        <p:sp>
          <p:nvSpPr>
            <p:cNvPr id="35" name="Rectangle 32">
              <a:extLst>
                <a:ext uri="{FF2B5EF4-FFF2-40B4-BE49-F238E27FC236}">
                  <a16:creationId xmlns:a16="http://schemas.microsoft.com/office/drawing/2014/main" id="{592A16F3-BA26-3643-985C-3F40F61B80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816"/>
              <a:ext cx="288" cy="19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sz="2000" b="1">
                  <a:solidFill>
                    <a:schemeClr val="bg1"/>
                  </a:solidFill>
                  <a:latin typeface="Aptos Display" panose="020B0004020202020204" pitchFamily="34" charset="0"/>
                </a:rPr>
                <a:t>2</a:t>
              </a:r>
            </a:p>
          </p:txBody>
        </p:sp>
        <p:sp>
          <p:nvSpPr>
            <p:cNvPr id="36" name="Rectangle 33">
              <a:extLst>
                <a:ext uri="{FF2B5EF4-FFF2-40B4-BE49-F238E27FC236}">
                  <a16:creationId xmlns:a16="http://schemas.microsoft.com/office/drawing/2014/main" id="{A70C54C6-A587-3A4B-BE10-8ED4C46F2A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480"/>
              <a:ext cx="288" cy="19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sz="2000" b="1" dirty="0">
                  <a:solidFill>
                    <a:schemeClr val="bg1"/>
                  </a:solidFill>
                  <a:latin typeface="Aptos Display" panose="020B0004020202020204" pitchFamily="34" charset="0"/>
                </a:rPr>
                <a:t>1</a:t>
              </a:r>
            </a:p>
          </p:txBody>
        </p:sp>
        <p:sp>
          <p:nvSpPr>
            <p:cNvPr id="37" name="Rectangle 34">
              <a:extLst>
                <a:ext uri="{FF2B5EF4-FFF2-40B4-BE49-F238E27FC236}">
                  <a16:creationId xmlns:a16="http://schemas.microsoft.com/office/drawing/2014/main" id="{BAC1BFE4-93EA-4E46-9CC3-87112FB4A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240"/>
              <a:ext cx="432" cy="19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sz="2000" b="1" dirty="0">
                  <a:solidFill>
                    <a:schemeClr val="bg1"/>
                  </a:solidFill>
                  <a:latin typeface="Aptos Display" panose="020B0004020202020204" pitchFamily="34" charset="0"/>
                </a:rPr>
                <a:t>Level</a:t>
              </a:r>
            </a:p>
          </p:txBody>
        </p:sp>
      </p:grpSp>
      <p:sp>
        <p:nvSpPr>
          <p:cNvPr id="38" name="Text Box 35">
            <a:extLst>
              <a:ext uri="{FF2B5EF4-FFF2-40B4-BE49-F238E27FC236}">
                <a16:creationId xmlns:a16="http://schemas.microsoft.com/office/drawing/2014/main" id="{7D3AA16F-5424-D142-8D8C-47529872A9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0400" y="2228790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" altLang="zh-CN" sz="2000" b="1">
                <a:solidFill>
                  <a:schemeClr val="bg1"/>
                </a:solidFill>
                <a:latin typeface="Aptos Display" panose="020B0004020202020204" pitchFamily="34" charset="0"/>
              </a:rPr>
              <a:t>(A)</a:t>
            </a:r>
          </a:p>
        </p:txBody>
      </p:sp>
      <p:sp>
        <p:nvSpPr>
          <p:cNvPr id="39" name="Text Box 36">
            <a:extLst>
              <a:ext uri="{FF2B5EF4-FFF2-40B4-BE49-F238E27FC236}">
                <a16:creationId xmlns:a16="http://schemas.microsoft.com/office/drawing/2014/main" id="{90309351-229A-0448-8930-E8E5C04263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0400" y="2762190"/>
            <a:ext cx="2209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" altLang="zh-CN" sz="2000" b="1" dirty="0">
                <a:solidFill>
                  <a:schemeClr val="bg1"/>
                </a:solidFill>
                <a:latin typeface="Aptos Display" panose="020B0004020202020204" pitchFamily="34" charset="0"/>
              </a:rPr>
              <a:t>(A (B, C, D))</a:t>
            </a:r>
          </a:p>
        </p:txBody>
      </p:sp>
      <p:sp>
        <p:nvSpPr>
          <p:cNvPr id="40" name="Text Box 37">
            <a:extLst>
              <a:ext uri="{FF2B5EF4-FFF2-40B4-BE49-F238E27FC236}">
                <a16:creationId xmlns:a16="http://schemas.microsoft.com/office/drawing/2014/main" id="{703A7DDE-DE2C-864B-84BA-A08491D5EC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0400" y="3295590"/>
            <a:ext cx="441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" altLang="zh-CN" sz="2000" b="1">
                <a:solidFill>
                  <a:schemeClr val="bg1"/>
                </a:solidFill>
                <a:latin typeface="Aptos Display" panose="020B0004020202020204" pitchFamily="34" charset="0"/>
              </a:rPr>
              <a:t>( A ( B ( E, F ), C ( G ), D ( H, I, J ) ) )</a:t>
            </a:r>
          </a:p>
        </p:txBody>
      </p:sp>
      <p:sp>
        <p:nvSpPr>
          <p:cNvPr id="41" name="Text Box 38">
            <a:extLst>
              <a:ext uri="{FF2B5EF4-FFF2-40B4-BE49-F238E27FC236}">
                <a16:creationId xmlns:a16="http://schemas.microsoft.com/office/drawing/2014/main" id="{B1671CBE-77EB-E042-9C51-2B4F80B12E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0400" y="3905190"/>
            <a:ext cx="5638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0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" altLang="zh-CN" sz="2000" b="1" dirty="0">
                <a:solidFill>
                  <a:schemeClr val="bg1"/>
                </a:solidFill>
                <a:latin typeface="Aptos Display" panose="020B0004020202020204" pitchFamily="34" charset="0"/>
              </a:rPr>
              <a:t>( A ( B ( E ( K, L ), F ), C ( G ), D ( H ( M ), I, J ) ) )</a:t>
            </a:r>
          </a:p>
        </p:txBody>
      </p:sp>
    </p:spTree>
    <p:extLst>
      <p:ext uri="{BB962C8B-B14F-4D97-AF65-F5344CB8AC3E}">
        <p14:creationId xmlns:p14="http://schemas.microsoft.com/office/powerpoint/2010/main" val="2722370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8" grpId="0"/>
      <p:bldP spid="39" grpId="0"/>
      <p:bldP spid="40" grpId="0"/>
      <p:bldP spid="4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Tree representation (parent representation)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6732841" cy="5282749"/>
          </a:xfrm>
        </p:spPr>
        <p:txBody>
          <a:bodyPr anchor="ctr" anchorCtr="0">
            <a:normAutofit/>
          </a:bodyPr>
          <a:lstStyle/>
          <a:p>
            <a:r>
              <a:rPr lang="en" altLang="en-US" dirty="0">
                <a:latin typeface="Aptos Display" panose="020B0004020202020204" pitchFamily="34" charset="0"/>
              </a:rPr>
              <a:t>Parent representation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marL="0" indent="0"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struct Node{</a:t>
            </a:r>
          </a:p>
          <a:p>
            <a:pPr marL="0" indent="0">
              <a:buNone/>
            </a:pP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 int value;</a:t>
            </a:r>
          </a:p>
          <a:p>
            <a:pPr marL="0" indent="0"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int parent;</a:t>
            </a:r>
          </a:p>
          <a:p>
            <a:pPr marL="0" indent="0"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}node[N];</a:t>
            </a:r>
            <a:endParaRPr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" altLang="en-US" dirty="0">
                <a:latin typeface="Aptos Display" panose="020B0004020202020204" pitchFamily="34" charset="0"/>
              </a:rPr>
              <a:t>Each node points to its parent, making it easy to find ancestors from the leaves, but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" altLang="en-US" dirty="0">
                <a:latin typeface="Aptos Display" panose="020B0004020202020204" pitchFamily="34" charset="0"/>
              </a:rPr>
              <a:t>not </a:t>
            </a:r>
            <a:r>
              <a:rPr lang="en-US" altLang="zh-CN" dirty="0">
                <a:latin typeface="Aptos Display" panose="020B0004020202020204" pitchFamily="34" charset="0"/>
              </a:rPr>
              <a:t>down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" altLang="en-US" dirty="0">
                <a:latin typeface="Aptos Display" panose="020B0004020202020204" pitchFamily="34" charset="0"/>
              </a:rPr>
              <a:t>from the root node.</a:t>
            </a:r>
            <a:endParaRPr lang="en-US" altLang="zh-CN" dirty="0">
              <a:latin typeface="Aptos Display" panose="020B0004020202020204" pitchFamily="34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08ADDA7-09E9-E142-8F0A-BC85CAE7FC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5700" y="1878838"/>
            <a:ext cx="4357688" cy="313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0104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Representation of a tree (child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REN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and sibling representation)</a:t>
            </a:r>
          </a:p>
        </p:txBody>
      </p:sp>
      <p:grpSp>
        <p:nvGrpSpPr>
          <p:cNvPr id="7" name="Group 169">
            <a:extLst>
              <a:ext uri="{FF2B5EF4-FFF2-40B4-BE49-F238E27FC236}">
                <a16:creationId xmlns:a16="http://schemas.microsoft.com/office/drawing/2014/main" id="{0BF7A19D-6BE3-7548-A34E-73B2F968224F}"/>
              </a:ext>
            </a:extLst>
          </p:cNvPr>
          <p:cNvGrpSpPr>
            <a:grpSpLocks/>
          </p:cNvGrpSpPr>
          <p:nvPr/>
        </p:nvGrpSpPr>
        <p:grpSpPr bwMode="auto">
          <a:xfrm>
            <a:off x="1839829" y="3381626"/>
            <a:ext cx="2744788" cy="1982787"/>
            <a:chOff x="113" y="1493"/>
            <a:chExt cx="1729" cy="1249"/>
          </a:xfrm>
        </p:grpSpPr>
        <p:sp>
          <p:nvSpPr>
            <p:cNvPr id="8" name="Oval 4">
              <a:extLst>
                <a:ext uri="{FF2B5EF4-FFF2-40B4-BE49-F238E27FC236}">
                  <a16:creationId xmlns:a16="http://schemas.microsoft.com/office/drawing/2014/main" id="{DDE59EEA-2E82-F546-AF71-7F5ED639F7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9" y="1493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b="1">
                  <a:solidFill>
                    <a:schemeClr val="bg1"/>
                  </a:solidFill>
                  <a:latin typeface="Aptos Display" panose="020B0004020202020204" pitchFamily="34" charset="0"/>
                </a:rPr>
                <a:t>A</a:t>
              </a:r>
            </a:p>
          </p:txBody>
        </p:sp>
        <p:sp>
          <p:nvSpPr>
            <p:cNvPr id="10" name="Oval 5">
              <a:extLst>
                <a:ext uri="{FF2B5EF4-FFF2-40B4-BE49-F238E27FC236}">
                  <a16:creationId xmlns:a16="http://schemas.microsoft.com/office/drawing/2014/main" id="{2617A2D6-B21D-7E42-82BC-3B8E0E17DD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1" y="1829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b="1">
                  <a:solidFill>
                    <a:schemeClr val="bg1"/>
                  </a:solidFill>
                  <a:latin typeface="Aptos Display" panose="020B0004020202020204" pitchFamily="34" charset="0"/>
                </a:rPr>
                <a:t>C</a:t>
              </a:r>
            </a:p>
          </p:txBody>
        </p:sp>
        <p:sp>
          <p:nvSpPr>
            <p:cNvPr id="11" name="Oval 6">
              <a:extLst>
                <a:ext uri="{FF2B5EF4-FFF2-40B4-BE49-F238E27FC236}">
                  <a16:creationId xmlns:a16="http://schemas.microsoft.com/office/drawing/2014/main" id="{8B39FF24-CC49-524E-AA47-B176410722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" y="1829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b="1">
                  <a:solidFill>
                    <a:schemeClr val="bg1"/>
                  </a:solidFill>
                  <a:latin typeface="Aptos Display" panose="020B0004020202020204" pitchFamily="34" charset="0"/>
                </a:rPr>
                <a:t>B</a:t>
              </a:r>
            </a:p>
          </p:txBody>
        </p:sp>
        <p:sp>
          <p:nvSpPr>
            <p:cNvPr id="12" name="Oval 7">
              <a:extLst>
                <a:ext uri="{FF2B5EF4-FFF2-40B4-BE49-F238E27FC236}">
                  <a16:creationId xmlns:a16="http://schemas.microsoft.com/office/drawing/2014/main" id="{34FB1A3E-D52D-334F-A830-0A99F637CE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3" y="1829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b="1">
                  <a:solidFill>
                    <a:schemeClr val="bg1"/>
                  </a:solidFill>
                  <a:latin typeface="Aptos Display" panose="020B0004020202020204" pitchFamily="34" charset="0"/>
                </a:rPr>
                <a:t>D</a:t>
              </a:r>
            </a:p>
          </p:txBody>
        </p:sp>
        <p:sp>
          <p:nvSpPr>
            <p:cNvPr id="13" name="Oval 8">
              <a:extLst>
                <a:ext uri="{FF2B5EF4-FFF2-40B4-BE49-F238E27FC236}">
                  <a16:creationId xmlns:a16="http://schemas.microsoft.com/office/drawing/2014/main" id="{D71AAA34-BAF6-0E45-9473-13132DF12C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1" y="2165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b="1">
                  <a:solidFill>
                    <a:schemeClr val="bg1"/>
                  </a:solidFill>
                  <a:latin typeface="Aptos Display" panose="020B0004020202020204" pitchFamily="34" charset="0"/>
                </a:rPr>
                <a:t>G</a:t>
              </a:r>
            </a:p>
          </p:txBody>
        </p:sp>
        <p:sp>
          <p:nvSpPr>
            <p:cNvPr id="14" name="Oval 9">
              <a:extLst>
                <a:ext uri="{FF2B5EF4-FFF2-40B4-BE49-F238E27FC236}">
                  <a16:creationId xmlns:a16="http://schemas.microsoft.com/office/drawing/2014/main" id="{520B9E3D-111C-4D4C-A1FE-04CED3897D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3" y="2165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b="1">
                  <a:solidFill>
                    <a:schemeClr val="bg1"/>
                  </a:solidFill>
                  <a:latin typeface="Aptos Display" panose="020B0004020202020204" pitchFamily="34" charset="0"/>
                </a:rPr>
                <a:t>F</a:t>
              </a:r>
            </a:p>
          </p:txBody>
        </p:sp>
        <p:sp>
          <p:nvSpPr>
            <p:cNvPr id="15" name="Oval 10">
              <a:extLst>
                <a:ext uri="{FF2B5EF4-FFF2-40B4-BE49-F238E27FC236}">
                  <a16:creationId xmlns:a16="http://schemas.microsoft.com/office/drawing/2014/main" id="{7B1242D9-85F1-674B-A567-04DE7E408B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" y="2165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b="1">
                  <a:solidFill>
                    <a:schemeClr val="bg1"/>
                  </a:solidFill>
                  <a:latin typeface="Aptos Display" panose="020B0004020202020204" pitchFamily="34" charset="0"/>
                </a:rPr>
                <a:t>E</a:t>
              </a:r>
            </a:p>
          </p:txBody>
        </p:sp>
        <p:sp>
          <p:nvSpPr>
            <p:cNvPr id="16" name="Oval 11">
              <a:extLst>
                <a:ext uri="{FF2B5EF4-FFF2-40B4-BE49-F238E27FC236}">
                  <a16:creationId xmlns:a16="http://schemas.microsoft.com/office/drawing/2014/main" id="{8B1D7F83-531D-DF42-A076-44139E4012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9" y="2165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b="1">
                  <a:solidFill>
                    <a:schemeClr val="bg1"/>
                  </a:solidFill>
                  <a:latin typeface="Aptos Display" panose="020B0004020202020204" pitchFamily="34" charset="0"/>
                </a:rPr>
                <a:t>H</a:t>
              </a:r>
            </a:p>
          </p:txBody>
        </p:sp>
        <p:sp>
          <p:nvSpPr>
            <p:cNvPr id="17" name="Oval 12">
              <a:extLst>
                <a:ext uri="{FF2B5EF4-FFF2-40B4-BE49-F238E27FC236}">
                  <a16:creationId xmlns:a16="http://schemas.microsoft.com/office/drawing/2014/main" id="{36DF4C25-640E-7641-AD0B-F369F19730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9" y="2165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b="1">
                  <a:solidFill>
                    <a:schemeClr val="bg1"/>
                  </a:solidFill>
                  <a:latin typeface="Aptos Display" panose="020B0004020202020204" pitchFamily="34" charset="0"/>
                </a:rPr>
                <a:t>I</a:t>
              </a:r>
            </a:p>
          </p:txBody>
        </p:sp>
        <p:sp>
          <p:nvSpPr>
            <p:cNvPr id="18" name="Oval 13">
              <a:extLst>
                <a:ext uri="{FF2B5EF4-FFF2-40B4-BE49-F238E27FC236}">
                  <a16:creationId xmlns:a16="http://schemas.microsoft.com/office/drawing/2014/main" id="{CE2EEFDC-A325-174E-AF0F-80172A8543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9" y="2165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b="1">
                  <a:solidFill>
                    <a:schemeClr val="bg1"/>
                  </a:solidFill>
                  <a:latin typeface="Aptos Display" panose="020B0004020202020204" pitchFamily="34" charset="0"/>
                </a:rPr>
                <a:t>J</a:t>
              </a:r>
            </a:p>
          </p:txBody>
        </p:sp>
        <p:sp>
          <p:nvSpPr>
            <p:cNvPr id="19" name="Oval 14">
              <a:extLst>
                <a:ext uri="{FF2B5EF4-FFF2-40B4-BE49-F238E27FC236}">
                  <a16:creationId xmlns:a16="http://schemas.microsoft.com/office/drawing/2014/main" id="{ABE9E291-6ED9-7747-956E-C65AED40C8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9" y="2549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b="1">
                  <a:solidFill>
                    <a:schemeClr val="bg1"/>
                  </a:solidFill>
                  <a:latin typeface="Aptos Display" panose="020B0004020202020204" pitchFamily="34" charset="0"/>
                </a:rPr>
                <a:t>M</a:t>
              </a:r>
            </a:p>
          </p:txBody>
        </p:sp>
        <p:sp>
          <p:nvSpPr>
            <p:cNvPr id="20" name="Oval 15">
              <a:extLst>
                <a:ext uri="{FF2B5EF4-FFF2-40B4-BE49-F238E27FC236}">
                  <a16:creationId xmlns:a16="http://schemas.microsoft.com/office/drawing/2014/main" id="{202F2AEF-CDDC-504D-8AE3-A2C789DC03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" y="2549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b="1">
                  <a:solidFill>
                    <a:schemeClr val="bg1"/>
                  </a:solidFill>
                  <a:latin typeface="Aptos Display" panose="020B0004020202020204" pitchFamily="34" charset="0"/>
                </a:rPr>
                <a:t>L</a:t>
              </a:r>
            </a:p>
          </p:txBody>
        </p:sp>
        <p:sp>
          <p:nvSpPr>
            <p:cNvPr id="21" name="Oval 16">
              <a:extLst>
                <a:ext uri="{FF2B5EF4-FFF2-40B4-BE49-F238E27FC236}">
                  <a16:creationId xmlns:a16="http://schemas.microsoft.com/office/drawing/2014/main" id="{088CEE32-8EB1-CB43-BA02-D29264F255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" y="2549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b="1">
                  <a:solidFill>
                    <a:schemeClr val="bg1"/>
                  </a:solidFill>
                  <a:latin typeface="Aptos Display" panose="020B0004020202020204" pitchFamily="34" charset="0"/>
                </a:rPr>
                <a:t>K</a:t>
              </a:r>
            </a:p>
          </p:txBody>
        </p:sp>
        <p:sp>
          <p:nvSpPr>
            <p:cNvPr id="22" name="Line 17">
              <a:extLst>
                <a:ext uri="{FF2B5EF4-FFF2-40B4-BE49-F238E27FC236}">
                  <a16:creationId xmlns:a16="http://schemas.microsoft.com/office/drawing/2014/main" id="{AB4BF30B-CB8E-184B-AED1-77D6DB7617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7" y="1685"/>
              <a:ext cx="0" cy="144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23" name="Line 18">
              <a:extLst>
                <a:ext uri="{FF2B5EF4-FFF2-40B4-BE49-F238E27FC236}">
                  <a16:creationId xmlns:a16="http://schemas.microsoft.com/office/drawing/2014/main" id="{580380BB-0DBA-E348-8ABC-E070832F03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7" y="2021"/>
              <a:ext cx="0" cy="144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24" name="Line 19">
              <a:extLst>
                <a:ext uri="{FF2B5EF4-FFF2-40B4-BE49-F238E27FC236}">
                  <a16:creationId xmlns:a16="http://schemas.microsoft.com/office/drawing/2014/main" id="{C315AD8D-48F8-2C4F-98EC-8CE83C8BAA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5" y="2357"/>
              <a:ext cx="0" cy="192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25" name="Line 20">
              <a:extLst>
                <a:ext uri="{FF2B5EF4-FFF2-40B4-BE49-F238E27FC236}">
                  <a16:creationId xmlns:a16="http://schemas.microsoft.com/office/drawing/2014/main" id="{2F05CF3F-518D-3B49-9470-0F56CDFD1A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1" y="1670"/>
              <a:ext cx="288" cy="168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26" name="Line 21">
              <a:extLst>
                <a:ext uri="{FF2B5EF4-FFF2-40B4-BE49-F238E27FC236}">
                  <a16:creationId xmlns:a16="http://schemas.microsoft.com/office/drawing/2014/main" id="{0C5AC51C-332F-574F-BBE3-376CA9C3E3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5" y="1670"/>
              <a:ext cx="311" cy="19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27" name="Line 22">
              <a:extLst>
                <a:ext uri="{FF2B5EF4-FFF2-40B4-BE49-F238E27FC236}">
                  <a16:creationId xmlns:a16="http://schemas.microsoft.com/office/drawing/2014/main" id="{D811A8AE-192F-A849-8D1A-4DA91554A2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9" y="1994"/>
              <a:ext cx="96" cy="192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28" name="Line 23">
              <a:extLst>
                <a:ext uri="{FF2B5EF4-FFF2-40B4-BE49-F238E27FC236}">
                  <a16:creationId xmlns:a16="http://schemas.microsoft.com/office/drawing/2014/main" id="{EC6B3327-A269-DA4A-ABA4-5CDAB4B886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1" y="2010"/>
              <a:ext cx="48" cy="156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29" name="Line 24">
              <a:extLst>
                <a:ext uri="{FF2B5EF4-FFF2-40B4-BE49-F238E27FC236}">
                  <a16:creationId xmlns:a16="http://schemas.microsoft.com/office/drawing/2014/main" id="{980C7FCF-3BD2-584A-BDE8-FAFAE7D1E0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7" y="2350"/>
              <a:ext cx="96" cy="204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30" name="Line 25">
              <a:extLst>
                <a:ext uri="{FF2B5EF4-FFF2-40B4-BE49-F238E27FC236}">
                  <a16:creationId xmlns:a16="http://schemas.microsoft.com/office/drawing/2014/main" id="{12DAB69A-94BB-E74C-B432-AB545A4840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" y="2350"/>
              <a:ext cx="48" cy="204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31" name="Line 26">
              <a:extLst>
                <a:ext uri="{FF2B5EF4-FFF2-40B4-BE49-F238E27FC236}">
                  <a16:creationId xmlns:a16="http://schemas.microsoft.com/office/drawing/2014/main" id="{1C2D2A46-2A3F-5C47-AE37-08E53E0EC2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65" y="2021"/>
              <a:ext cx="96" cy="144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32" name="Line 27">
              <a:extLst>
                <a:ext uri="{FF2B5EF4-FFF2-40B4-BE49-F238E27FC236}">
                  <a16:creationId xmlns:a16="http://schemas.microsoft.com/office/drawing/2014/main" id="{80AA2FDB-BBA5-0E48-8D3E-45E28FF3E2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0" y="2021"/>
              <a:ext cx="25" cy="144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33" name="Line 28">
              <a:extLst>
                <a:ext uri="{FF2B5EF4-FFF2-40B4-BE49-F238E27FC236}">
                  <a16:creationId xmlns:a16="http://schemas.microsoft.com/office/drawing/2014/main" id="{6B09D5EF-010E-9441-955D-D2880AD178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6" y="1973"/>
              <a:ext cx="227" cy="192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</p:grpSp>
      <p:grpSp>
        <p:nvGrpSpPr>
          <p:cNvPr id="34" name="Group 104">
            <a:extLst>
              <a:ext uri="{FF2B5EF4-FFF2-40B4-BE49-F238E27FC236}">
                <a16:creationId xmlns:a16="http://schemas.microsoft.com/office/drawing/2014/main" id="{8A1E15A0-AC91-9F49-A1D3-D0D0CCB9ADF4}"/>
              </a:ext>
            </a:extLst>
          </p:cNvPr>
          <p:cNvGrpSpPr>
            <a:grpSpLocks/>
          </p:cNvGrpSpPr>
          <p:nvPr/>
        </p:nvGrpSpPr>
        <p:grpSpPr bwMode="auto">
          <a:xfrm>
            <a:off x="5224379" y="2229101"/>
            <a:ext cx="4648200" cy="3505200"/>
            <a:chOff x="2496" y="720"/>
            <a:chExt cx="2928" cy="2208"/>
          </a:xfrm>
        </p:grpSpPr>
        <p:grpSp>
          <p:nvGrpSpPr>
            <p:cNvPr id="35" name="Group 105">
              <a:extLst>
                <a:ext uri="{FF2B5EF4-FFF2-40B4-BE49-F238E27FC236}">
                  <a16:creationId xmlns:a16="http://schemas.microsoft.com/office/drawing/2014/main" id="{16DB16C5-1571-DF46-B40A-4D8A4424B6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72" y="720"/>
              <a:ext cx="288" cy="336"/>
              <a:chOff x="2256" y="2736"/>
              <a:chExt cx="288" cy="336"/>
            </a:xfrm>
          </p:grpSpPr>
          <p:sp>
            <p:nvSpPr>
              <p:cNvPr id="96" name="Rectangle 106">
                <a:extLst>
                  <a:ext uri="{FF2B5EF4-FFF2-40B4-BE49-F238E27FC236}">
                    <a16:creationId xmlns:a16="http://schemas.microsoft.com/office/drawing/2014/main" id="{EC1A1A5D-9DCE-2A4A-9039-63F9B0BA01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2928"/>
                <a:ext cx="144" cy="144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chemeClr val="bg1"/>
                  </a:solidFill>
                  <a:latin typeface="Aptos Display" panose="020B0004020202020204" pitchFamily="34" charset="0"/>
                </a:endParaRPr>
              </a:p>
            </p:txBody>
          </p:sp>
          <p:sp>
            <p:nvSpPr>
              <p:cNvPr id="97" name="Rectangle 107">
                <a:extLst>
                  <a:ext uri="{FF2B5EF4-FFF2-40B4-BE49-F238E27FC236}">
                    <a16:creationId xmlns:a16="http://schemas.microsoft.com/office/drawing/2014/main" id="{381432C7-73E6-EA45-BB95-1E9AF712EA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0" y="2928"/>
                <a:ext cx="144" cy="144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" altLang="zh-CN" sz="1600" b="1">
                    <a:solidFill>
                      <a:schemeClr val="bg1"/>
                    </a:solidFill>
                    <a:latin typeface="Aptos Display" panose="020B0004020202020204" pitchFamily="34" charset="0"/>
                  </a:rPr>
                  <a:t>N</a:t>
                </a:r>
                <a:endParaRPr lang="en-US" altLang="zh-CN" b="1">
                  <a:solidFill>
                    <a:schemeClr val="bg1"/>
                  </a:solidFill>
                  <a:latin typeface="Aptos Display" panose="020B0004020202020204" pitchFamily="34" charset="0"/>
                </a:endParaRPr>
              </a:p>
            </p:txBody>
          </p:sp>
          <p:sp>
            <p:nvSpPr>
              <p:cNvPr id="98" name="Rectangle 108">
                <a:extLst>
                  <a:ext uri="{FF2B5EF4-FFF2-40B4-BE49-F238E27FC236}">
                    <a16:creationId xmlns:a16="http://schemas.microsoft.com/office/drawing/2014/main" id="{2E4FD532-7041-3946-BEDB-3466FAE608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2736"/>
                <a:ext cx="288" cy="192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" altLang="zh-CN" sz="2000" b="1">
                    <a:solidFill>
                      <a:schemeClr val="bg1"/>
                    </a:solidFill>
                    <a:latin typeface="Aptos Display" panose="020B0004020202020204" pitchFamily="34" charset="0"/>
                  </a:rPr>
                  <a:t>A</a:t>
                </a:r>
              </a:p>
            </p:txBody>
          </p:sp>
        </p:grpSp>
        <p:grpSp>
          <p:nvGrpSpPr>
            <p:cNvPr id="36" name="Group 109">
              <a:extLst>
                <a:ext uri="{FF2B5EF4-FFF2-40B4-BE49-F238E27FC236}">
                  <a16:creationId xmlns:a16="http://schemas.microsoft.com/office/drawing/2014/main" id="{BA0FF48D-8D17-334F-BF20-3280A3754D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6" y="1440"/>
              <a:ext cx="288" cy="336"/>
              <a:chOff x="2256" y="2736"/>
              <a:chExt cx="288" cy="336"/>
            </a:xfrm>
          </p:grpSpPr>
          <p:sp>
            <p:nvSpPr>
              <p:cNvPr id="93" name="Rectangle 110">
                <a:extLst>
                  <a:ext uri="{FF2B5EF4-FFF2-40B4-BE49-F238E27FC236}">
                    <a16:creationId xmlns:a16="http://schemas.microsoft.com/office/drawing/2014/main" id="{00CCD68E-9D60-C641-B58F-8FEB2013A9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2928"/>
                <a:ext cx="144" cy="144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chemeClr val="bg1"/>
                  </a:solidFill>
                  <a:latin typeface="Aptos Display" panose="020B0004020202020204" pitchFamily="34" charset="0"/>
                </a:endParaRPr>
              </a:p>
            </p:txBody>
          </p:sp>
          <p:sp>
            <p:nvSpPr>
              <p:cNvPr id="94" name="Rectangle 111">
                <a:extLst>
                  <a:ext uri="{FF2B5EF4-FFF2-40B4-BE49-F238E27FC236}">
                    <a16:creationId xmlns:a16="http://schemas.microsoft.com/office/drawing/2014/main" id="{30B5E760-ADA0-6046-98F3-C01918CF34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0" y="2928"/>
                <a:ext cx="144" cy="144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 b="1">
                  <a:solidFill>
                    <a:schemeClr val="bg1"/>
                  </a:solidFill>
                  <a:latin typeface="Aptos Display" panose="020B0004020202020204" pitchFamily="34" charset="0"/>
                </a:endParaRPr>
              </a:p>
            </p:txBody>
          </p:sp>
          <p:sp>
            <p:nvSpPr>
              <p:cNvPr id="95" name="Rectangle 112">
                <a:extLst>
                  <a:ext uri="{FF2B5EF4-FFF2-40B4-BE49-F238E27FC236}">
                    <a16:creationId xmlns:a16="http://schemas.microsoft.com/office/drawing/2014/main" id="{A348040E-721B-0E4C-AEA4-512D469875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2736"/>
                <a:ext cx="288" cy="192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" altLang="zh-CN" sz="2000" b="1">
                    <a:solidFill>
                      <a:schemeClr val="bg1"/>
                    </a:solidFill>
                    <a:latin typeface="Aptos Display" panose="020B0004020202020204" pitchFamily="34" charset="0"/>
                  </a:rPr>
                  <a:t>C</a:t>
                </a:r>
              </a:p>
            </p:txBody>
          </p:sp>
        </p:grpSp>
        <p:grpSp>
          <p:nvGrpSpPr>
            <p:cNvPr id="37" name="Group 113">
              <a:extLst>
                <a:ext uri="{FF2B5EF4-FFF2-40B4-BE49-F238E27FC236}">
                  <a16:creationId xmlns:a16="http://schemas.microsoft.com/office/drawing/2014/main" id="{4F3FF441-1D14-B840-8C35-3F5B678BDE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2" y="1440"/>
              <a:ext cx="288" cy="336"/>
              <a:chOff x="2832" y="1152"/>
              <a:chExt cx="288" cy="336"/>
            </a:xfrm>
          </p:grpSpPr>
          <p:sp>
            <p:nvSpPr>
              <p:cNvPr id="90" name="Rectangle 114">
                <a:extLst>
                  <a:ext uri="{FF2B5EF4-FFF2-40B4-BE49-F238E27FC236}">
                    <a16:creationId xmlns:a16="http://schemas.microsoft.com/office/drawing/2014/main" id="{64D173F5-5E1C-B441-906B-6480BC34E6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2" y="1344"/>
                <a:ext cx="144" cy="144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 sz="1600" b="1">
                  <a:solidFill>
                    <a:schemeClr val="bg1"/>
                  </a:solidFill>
                  <a:latin typeface="Aptos Display" panose="020B0004020202020204" pitchFamily="34" charset="0"/>
                </a:endParaRPr>
              </a:p>
            </p:txBody>
          </p:sp>
          <p:sp>
            <p:nvSpPr>
              <p:cNvPr id="91" name="Rectangle 115">
                <a:extLst>
                  <a:ext uri="{FF2B5EF4-FFF2-40B4-BE49-F238E27FC236}">
                    <a16:creationId xmlns:a16="http://schemas.microsoft.com/office/drawing/2014/main" id="{FE3D831F-BF0B-854A-A2A5-90AC93FCB6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1344"/>
                <a:ext cx="144" cy="144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 b="1">
                  <a:solidFill>
                    <a:schemeClr val="bg1"/>
                  </a:solidFill>
                  <a:latin typeface="Aptos Display" panose="020B0004020202020204" pitchFamily="34" charset="0"/>
                </a:endParaRPr>
              </a:p>
            </p:txBody>
          </p:sp>
          <p:sp>
            <p:nvSpPr>
              <p:cNvPr id="92" name="Rectangle 116">
                <a:extLst>
                  <a:ext uri="{FF2B5EF4-FFF2-40B4-BE49-F238E27FC236}">
                    <a16:creationId xmlns:a16="http://schemas.microsoft.com/office/drawing/2014/main" id="{60BCBEAC-C2FD-A44E-B701-7C8A47AB15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2" y="1152"/>
                <a:ext cx="288" cy="192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" altLang="zh-CN" sz="2000" b="1">
                    <a:solidFill>
                      <a:schemeClr val="bg1"/>
                    </a:solidFill>
                    <a:latin typeface="Aptos Display" panose="020B0004020202020204" pitchFamily="34" charset="0"/>
                  </a:rPr>
                  <a:t>B</a:t>
                </a:r>
              </a:p>
            </p:txBody>
          </p:sp>
        </p:grpSp>
        <p:grpSp>
          <p:nvGrpSpPr>
            <p:cNvPr id="38" name="Group 117">
              <a:extLst>
                <a:ext uri="{FF2B5EF4-FFF2-40B4-BE49-F238E27FC236}">
                  <a16:creationId xmlns:a16="http://schemas.microsoft.com/office/drawing/2014/main" id="{39B3760A-62E9-6F43-9C9B-1E3EEFD087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8" y="1440"/>
              <a:ext cx="288" cy="336"/>
              <a:chOff x="2256" y="2736"/>
              <a:chExt cx="288" cy="336"/>
            </a:xfrm>
          </p:grpSpPr>
          <p:sp>
            <p:nvSpPr>
              <p:cNvPr id="87" name="Rectangle 118">
                <a:extLst>
                  <a:ext uri="{FF2B5EF4-FFF2-40B4-BE49-F238E27FC236}">
                    <a16:creationId xmlns:a16="http://schemas.microsoft.com/office/drawing/2014/main" id="{5B9E9E1B-9777-AE4A-909D-E58DBCC66B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2928"/>
                <a:ext cx="144" cy="144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chemeClr val="bg1"/>
                  </a:solidFill>
                  <a:latin typeface="Aptos Display" panose="020B0004020202020204" pitchFamily="34" charset="0"/>
                </a:endParaRPr>
              </a:p>
            </p:txBody>
          </p:sp>
          <p:sp>
            <p:nvSpPr>
              <p:cNvPr id="88" name="Rectangle 119">
                <a:extLst>
                  <a:ext uri="{FF2B5EF4-FFF2-40B4-BE49-F238E27FC236}">
                    <a16:creationId xmlns:a16="http://schemas.microsoft.com/office/drawing/2014/main" id="{C99B6E11-447D-B042-98E4-F9F09B1A5B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0" y="2928"/>
                <a:ext cx="144" cy="144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" altLang="zh-CN" sz="1600" b="1">
                    <a:solidFill>
                      <a:schemeClr val="bg1"/>
                    </a:solidFill>
                    <a:latin typeface="Aptos Display" panose="020B0004020202020204" pitchFamily="34" charset="0"/>
                  </a:rPr>
                  <a:t>N</a:t>
                </a:r>
                <a:endParaRPr lang="en-US" altLang="zh-CN" b="1">
                  <a:solidFill>
                    <a:schemeClr val="bg1"/>
                  </a:solidFill>
                  <a:latin typeface="Aptos Display" panose="020B0004020202020204" pitchFamily="34" charset="0"/>
                </a:endParaRPr>
              </a:p>
            </p:txBody>
          </p:sp>
          <p:sp>
            <p:nvSpPr>
              <p:cNvPr id="89" name="Rectangle 120">
                <a:extLst>
                  <a:ext uri="{FF2B5EF4-FFF2-40B4-BE49-F238E27FC236}">
                    <a16:creationId xmlns:a16="http://schemas.microsoft.com/office/drawing/2014/main" id="{71DC3468-D559-114C-A09A-8B7CC22EA2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2736"/>
                <a:ext cx="288" cy="192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" altLang="zh-CN" sz="2000" b="1">
                    <a:solidFill>
                      <a:schemeClr val="bg1"/>
                    </a:solidFill>
                    <a:latin typeface="Aptos Display" panose="020B0004020202020204" pitchFamily="34" charset="0"/>
                  </a:rPr>
                  <a:t>D</a:t>
                </a:r>
              </a:p>
            </p:txBody>
          </p:sp>
        </p:grpSp>
        <p:grpSp>
          <p:nvGrpSpPr>
            <p:cNvPr id="39" name="Group 121">
              <a:extLst>
                <a:ext uri="{FF2B5EF4-FFF2-40B4-BE49-F238E27FC236}">
                  <a16:creationId xmlns:a16="http://schemas.microsoft.com/office/drawing/2014/main" id="{CFA84331-F632-9E43-9428-74F54A98C0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0" y="2016"/>
              <a:ext cx="288" cy="336"/>
              <a:chOff x="2832" y="1152"/>
              <a:chExt cx="288" cy="336"/>
            </a:xfrm>
          </p:grpSpPr>
          <p:sp>
            <p:nvSpPr>
              <p:cNvPr id="84" name="Rectangle 122">
                <a:extLst>
                  <a:ext uri="{FF2B5EF4-FFF2-40B4-BE49-F238E27FC236}">
                    <a16:creationId xmlns:a16="http://schemas.microsoft.com/office/drawing/2014/main" id="{F0DDD281-EBDC-8B4C-9AEA-97CCB7944A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2" y="1344"/>
                <a:ext cx="144" cy="144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 sz="1600" b="1">
                  <a:solidFill>
                    <a:schemeClr val="bg1"/>
                  </a:solidFill>
                  <a:latin typeface="Aptos Display" panose="020B0004020202020204" pitchFamily="34" charset="0"/>
                </a:endParaRPr>
              </a:p>
            </p:txBody>
          </p:sp>
          <p:sp>
            <p:nvSpPr>
              <p:cNvPr id="85" name="Rectangle 123">
                <a:extLst>
                  <a:ext uri="{FF2B5EF4-FFF2-40B4-BE49-F238E27FC236}">
                    <a16:creationId xmlns:a16="http://schemas.microsoft.com/office/drawing/2014/main" id="{B79414E8-09CB-EA4D-AD78-5810751099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1344"/>
                <a:ext cx="144" cy="144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 b="1">
                  <a:solidFill>
                    <a:schemeClr val="bg1"/>
                  </a:solidFill>
                  <a:latin typeface="Aptos Display" panose="020B0004020202020204" pitchFamily="34" charset="0"/>
                </a:endParaRPr>
              </a:p>
            </p:txBody>
          </p:sp>
          <p:sp>
            <p:nvSpPr>
              <p:cNvPr id="86" name="Rectangle 124">
                <a:extLst>
                  <a:ext uri="{FF2B5EF4-FFF2-40B4-BE49-F238E27FC236}">
                    <a16:creationId xmlns:a16="http://schemas.microsoft.com/office/drawing/2014/main" id="{B63FDA37-8AE3-584C-BA38-F601FABF06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2" y="1152"/>
                <a:ext cx="288" cy="192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" altLang="zh-CN" sz="2000" b="1">
                    <a:solidFill>
                      <a:schemeClr val="bg1"/>
                    </a:solidFill>
                    <a:latin typeface="Aptos Display" panose="020B0004020202020204" pitchFamily="34" charset="0"/>
                  </a:rPr>
                  <a:t>E</a:t>
                </a:r>
              </a:p>
            </p:txBody>
          </p:sp>
        </p:grpSp>
        <p:grpSp>
          <p:nvGrpSpPr>
            <p:cNvPr id="40" name="Group 125">
              <a:extLst>
                <a:ext uri="{FF2B5EF4-FFF2-40B4-BE49-F238E27FC236}">
                  <a16:creationId xmlns:a16="http://schemas.microsoft.com/office/drawing/2014/main" id="{12578AB2-0E93-AC4B-A9F4-B3D240F635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6" y="2592"/>
              <a:ext cx="288" cy="336"/>
              <a:chOff x="2832" y="1152"/>
              <a:chExt cx="288" cy="336"/>
            </a:xfrm>
          </p:grpSpPr>
          <p:sp>
            <p:nvSpPr>
              <p:cNvPr id="81" name="Rectangle 126">
                <a:extLst>
                  <a:ext uri="{FF2B5EF4-FFF2-40B4-BE49-F238E27FC236}">
                    <a16:creationId xmlns:a16="http://schemas.microsoft.com/office/drawing/2014/main" id="{927F11F3-1F33-FC42-A029-CED9BD6F0C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2" y="1344"/>
                <a:ext cx="144" cy="144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" altLang="zh-CN" sz="1600" b="1">
                    <a:solidFill>
                      <a:schemeClr val="bg1"/>
                    </a:solidFill>
                    <a:latin typeface="Aptos Display" panose="020B0004020202020204" pitchFamily="34" charset="0"/>
                  </a:rPr>
                  <a:t>N</a:t>
                </a:r>
              </a:p>
            </p:txBody>
          </p:sp>
          <p:sp>
            <p:nvSpPr>
              <p:cNvPr id="82" name="Rectangle 127">
                <a:extLst>
                  <a:ext uri="{FF2B5EF4-FFF2-40B4-BE49-F238E27FC236}">
                    <a16:creationId xmlns:a16="http://schemas.microsoft.com/office/drawing/2014/main" id="{4BF7469F-F126-1D40-9AC1-67C553BABC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1344"/>
                <a:ext cx="144" cy="144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 b="1">
                  <a:solidFill>
                    <a:schemeClr val="bg1"/>
                  </a:solidFill>
                  <a:latin typeface="Aptos Display" panose="020B0004020202020204" pitchFamily="34" charset="0"/>
                </a:endParaRPr>
              </a:p>
            </p:txBody>
          </p:sp>
          <p:sp>
            <p:nvSpPr>
              <p:cNvPr id="83" name="Rectangle 128">
                <a:extLst>
                  <a:ext uri="{FF2B5EF4-FFF2-40B4-BE49-F238E27FC236}">
                    <a16:creationId xmlns:a16="http://schemas.microsoft.com/office/drawing/2014/main" id="{BAEA2FD9-1380-2546-8A6B-0EAD1D7F0A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2" y="1152"/>
                <a:ext cx="288" cy="192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" altLang="zh-CN" sz="2000" b="1">
                    <a:solidFill>
                      <a:schemeClr val="bg1"/>
                    </a:solidFill>
                    <a:latin typeface="Aptos Display" panose="020B0004020202020204" pitchFamily="34" charset="0"/>
                  </a:rPr>
                  <a:t>K</a:t>
                </a:r>
              </a:p>
            </p:txBody>
          </p:sp>
        </p:grpSp>
        <p:grpSp>
          <p:nvGrpSpPr>
            <p:cNvPr id="41" name="Group 129">
              <a:extLst>
                <a:ext uri="{FF2B5EF4-FFF2-40B4-BE49-F238E27FC236}">
                  <a16:creationId xmlns:a16="http://schemas.microsoft.com/office/drawing/2014/main" id="{179DF116-B3A2-B34D-AC1F-DEAB8233EA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16" y="2016"/>
              <a:ext cx="288" cy="336"/>
              <a:chOff x="3120" y="1728"/>
              <a:chExt cx="288" cy="336"/>
            </a:xfrm>
          </p:grpSpPr>
          <p:sp>
            <p:nvSpPr>
              <p:cNvPr id="78" name="Rectangle 130">
                <a:extLst>
                  <a:ext uri="{FF2B5EF4-FFF2-40B4-BE49-F238E27FC236}">
                    <a16:creationId xmlns:a16="http://schemas.microsoft.com/office/drawing/2014/main" id="{90DD1EBF-A616-B44A-A3AD-D09CAF8ED2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0" y="1920"/>
                <a:ext cx="144" cy="144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" altLang="zh-CN" sz="1600" b="1">
                    <a:solidFill>
                      <a:schemeClr val="bg1"/>
                    </a:solidFill>
                    <a:latin typeface="Aptos Display" panose="020B0004020202020204" pitchFamily="34" charset="0"/>
                  </a:rPr>
                  <a:t>N</a:t>
                </a:r>
              </a:p>
            </p:txBody>
          </p:sp>
          <p:sp>
            <p:nvSpPr>
              <p:cNvPr id="79" name="Rectangle 131">
                <a:extLst>
                  <a:ext uri="{FF2B5EF4-FFF2-40B4-BE49-F238E27FC236}">
                    <a16:creationId xmlns:a16="http://schemas.microsoft.com/office/drawing/2014/main" id="{ED5BD1E3-1042-B548-8BC5-EB3031C012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4" y="1920"/>
                <a:ext cx="144" cy="144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" altLang="zh-CN" sz="1600" b="1">
                    <a:solidFill>
                      <a:schemeClr val="bg1"/>
                    </a:solidFill>
                    <a:latin typeface="Aptos Display" panose="020B0004020202020204" pitchFamily="34" charset="0"/>
                  </a:rPr>
                  <a:t>N</a:t>
                </a:r>
              </a:p>
            </p:txBody>
          </p:sp>
          <p:sp>
            <p:nvSpPr>
              <p:cNvPr id="80" name="Rectangle 132">
                <a:extLst>
                  <a:ext uri="{FF2B5EF4-FFF2-40B4-BE49-F238E27FC236}">
                    <a16:creationId xmlns:a16="http://schemas.microsoft.com/office/drawing/2014/main" id="{25111434-3B1F-2348-967B-D48E678B02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0" y="1728"/>
                <a:ext cx="288" cy="192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" altLang="zh-CN" sz="2000" b="1">
                    <a:solidFill>
                      <a:schemeClr val="bg1"/>
                    </a:solidFill>
                    <a:latin typeface="Aptos Display" panose="020B0004020202020204" pitchFamily="34" charset="0"/>
                  </a:rPr>
                  <a:t>F</a:t>
                </a:r>
              </a:p>
            </p:txBody>
          </p:sp>
        </p:grpSp>
        <p:grpSp>
          <p:nvGrpSpPr>
            <p:cNvPr id="42" name="Group 133">
              <a:extLst>
                <a:ext uri="{FF2B5EF4-FFF2-40B4-BE49-F238E27FC236}">
                  <a16:creationId xmlns:a16="http://schemas.microsoft.com/office/drawing/2014/main" id="{C4991E92-97E8-7544-BA23-FEA57C67EC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6" y="2016"/>
              <a:ext cx="288" cy="336"/>
              <a:chOff x="3120" y="1728"/>
              <a:chExt cx="288" cy="336"/>
            </a:xfrm>
          </p:grpSpPr>
          <p:sp>
            <p:nvSpPr>
              <p:cNvPr id="75" name="Rectangle 134">
                <a:extLst>
                  <a:ext uri="{FF2B5EF4-FFF2-40B4-BE49-F238E27FC236}">
                    <a16:creationId xmlns:a16="http://schemas.microsoft.com/office/drawing/2014/main" id="{B3A566CB-C175-2E4F-9E34-DF5A67DD6F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0" y="1920"/>
                <a:ext cx="144" cy="144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" altLang="zh-CN" sz="1600" b="1">
                    <a:solidFill>
                      <a:schemeClr val="bg1"/>
                    </a:solidFill>
                    <a:latin typeface="Aptos Display" panose="020B0004020202020204" pitchFamily="34" charset="0"/>
                  </a:rPr>
                  <a:t>N</a:t>
                </a:r>
              </a:p>
            </p:txBody>
          </p:sp>
          <p:sp>
            <p:nvSpPr>
              <p:cNvPr id="76" name="Rectangle 135">
                <a:extLst>
                  <a:ext uri="{FF2B5EF4-FFF2-40B4-BE49-F238E27FC236}">
                    <a16:creationId xmlns:a16="http://schemas.microsoft.com/office/drawing/2014/main" id="{B8DACB5B-2543-E442-B986-288FF7540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4" y="1920"/>
                <a:ext cx="144" cy="144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" altLang="zh-CN" sz="1600" b="1">
                    <a:solidFill>
                      <a:schemeClr val="bg1"/>
                    </a:solidFill>
                    <a:latin typeface="Aptos Display" panose="020B0004020202020204" pitchFamily="34" charset="0"/>
                  </a:rPr>
                  <a:t>N</a:t>
                </a:r>
              </a:p>
            </p:txBody>
          </p:sp>
          <p:sp>
            <p:nvSpPr>
              <p:cNvPr id="77" name="Rectangle 136">
                <a:extLst>
                  <a:ext uri="{FF2B5EF4-FFF2-40B4-BE49-F238E27FC236}">
                    <a16:creationId xmlns:a16="http://schemas.microsoft.com/office/drawing/2014/main" id="{66279DC5-E9D9-1446-B477-DA7B2D535F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0" y="1728"/>
                <a:ext cx="288" cy="192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" altLang="zh-CN" sz="2000" b="1">
                    <a:solidFill>
                      <a:schemeClr val="bg1"/>
                    </a:solidFill>
                    <a:latin typeface="Aptos Display" panose="020B0004020202020204" pitchFamily="34" charset="0"/>
                  </a:rPr>
                  <a:t>G</a:t>
                </a:r>
              </a:p>
            </p:txBody>
          </p:sp>
        </p:grpSp>
        <p:grpSp>
          <p:nvGrpSpPr>
            <p:cNvPr id="43" name="Group 137">
              <a:extLst>
                <a:ext uri="{FF2B5EF4-FFF2-40B4-BE49-F238E27FC236}">
                  <a16:creationId xmlns:a16="http://schemas.microsoft.com/office/drawing/2014/main" id="{D640807C-DF1A-EC44-807B-CD0E10F844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2016"/>
              <a:ext cx="288" cy="336"/>
              <a:chOff x="2832" y="1152"/>
              <a:chExt cx="288" cy="336"/>
            </a:xfrm>
          </p:grpSpPr>
          <p:sp>
            <p:nvSpPr>
              <p:cNvPr id="72" name="Rectangle 138">
                <a:extLst>
                  <a:ext uri="{FF2B5EF4-FFF2-40B4-BE49-F238E27FC236}">
                    <a16:creationId xmlns:a16="http://schemas.microsoft.com/office/drawing/2014/main" id="{18FDCB44-D110-F043-A9B2-4F519A4D23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2" y="1344"/>
                <a:ext cx="144" cy="144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 sz="1600" b="1">
                  <a:solidFill>
                    <a:schemeClr val="bg1"/>
                  </a:solidFill>
                  <a:latin typeface="Aptos Display" panose="020B0004020202020204" pitchFamily="34" charset="0"/>
                </a:endParaRPr>
              </a:p>
            </p:txBody>
          </p:sp>
          <p:sp>
            <p:nvSpPr>
              <p:cNvPr id="73" name="Rectangle 139">
                <a:extLst>
                  <a:ext uri="{FF2B5EF4-FFF2-40B4-BE49-F238E27FC236}">
                    <a16:creationId xmlns:a16="http://schemas.microsoft.com/office/drawing/2014/main" id="{C95250E5-9A76-B648-8161-76C0BD1D6F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1344"/>
                <a:ext cx="144" cy="144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 b="1">
                  <a:solidFill>
                    <a:schemeClr val="bg1"/>
                  </a:solidFill>
                  <a:latin typeface="Aptos Display" panose="020B0004020202020204" pitchFamily="34" charset="0"/>
                </a:endParaRPr>
              </a:p>
            </p:txBody>
          </p:sp>
          <p:sp>
            <p:nvSpPr>
              <p:cNvPr id="74" name="Rectangle 140">
                <a:extLst>
                  <a:ext uri="{FF2B5EF4-FFF2-40B4-BE49-F238E27FC236}">
                    <a16:creationId xmlns:a16="http://schemas.microsoft.com/office/drawing/2014/main" id="{3A379D65-D444-DB41-9383-C6DEA9DAFD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2" y="1152"/>
                <a:ext cx="288" cy="192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" altLang="zh-CN" sz="2000" b="1">
                    <a:solidFill>
                      <a:schemeClr val="bg1"/>
                    </a:solidFill>
                    <a:latin typeface="Aptos Display" panose="020B0004020202020204" pitchFamily="34" charset="0"/>
                  </a:rPr>
                  <a:t>H</a:t>
                </a:r>
              </a:p>
            </p:txBody>
          </p:sp>
        </p:grpSp>
        <p:grpSp>
          <p:nvGrpSpPr>
            <p:cNvPr id="44" name="Group 141">
              <a:extLst>
                <a:ext uri="{FF2B5EF4-FFF2-40B4-BE49-F238E27FC236}">
                  <a16:creationId xmlns:a16="http://schemas.microsoft.com/office/drawing/2014/main" id="{5309170C-8B61-ED47-AC99-66A99604FB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56" y="2016"/>
              <a:ext cx="288" cy="336"/>
              <a:chOff x="2832" y="1152"/>
              <a:chExt cx="288" cy="336"/>
            </a:xfrm>
          </p:grpSpPr>
          <p:sp>
            <p:nvSpPr>
              <p:cNvPr id="69" name="Rectangle 142">
                <a:extLst>
                  <a:ext uri="{FF2B5EF4-FFF2-40B4-BE49-F238E27FC236}">
                    <a16:creationId xmlns:a16="http://schemas.microsoft.com/office/drawing/2014/main" id="{9856E6B1-0EF2-A94E-AD50-1C62790A89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2" y="1344"/>
                <a:ext cx="144" cy="144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" altLang="zh-CN" sz="1600" b="1">
                    <a:solidFill>
                      <a:schemeClr val="bg1"/>
                    </a:solidFill>
                    <a:latin typeface="Aptos Display" panose="020B0004020202020204" pitchFamily="34" charset="0"/>
                  </a:rPr>
                  <a:t>N</a:t>
                </a:r>
              </a:p>
            </p:txBody>
          </p:sp>
          <p:sp>
            <p:nvSpPr>
              <p:cNvPr id="70" name="Rectangle 143">
                <a:extLst>
                  <a:ext uri="{FF2B5EF4-FFF2-40B4-BE49-F238E27FC236}">
                    <a16:creationId xmlns:a16="http://schemas.microsoft.com/office/drawing/2014/main" id="{37468191-C63E-864F-80B8-87C4F2F71D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1344"/>
                <a:ext cx="144" cy="144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 b="1">
                  <a:solidFill>
                    <a:schemeClr val="bg1"/>
                  </a:solidFill>
                  <a:latin typeface="Aptos Display" panose="020B0004020202020204" pitchFamily="34" charset="0"/>
                </a:endParaRPr>
              </a:p>
            </p:txBody>
          </p:sp>
          <p:sp>
            <p:nvSpPr>
              <p:cNvPr id="71" name="Rectangle 144">
                <a:extLst>
                  <a:ext uri="{FF2B5EF4-FFF2-40B4-BE49-F238E27FC236}">
                    <a16:creationId xmlns:a16="http://schemas.microsoft.com/office/drawing/2014/main" id="{35F6075A-22A6-9E4D-A2D1-B7EDF7DD4B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2" y="1152"/>
                <a:ext cx="288" cy="192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" altLang="zh-CN" sz="2000" b="1">
                    <a:solidFill>
                      <a:schemeClr val="bg1"/>
                    </a:solidFill>
                    <a:latin typeface="Aptos Display" panose="020B0004020202020204" pitchFamily="34" charset="0"/>
                  </a:rPr>
                  <a:t>I</a:t>
                </a:r>
              </a:p>
            </p:txBody>
          </p:sp>
        </p:grpSp>
        <p:grpSp>
          <p:nvGrpSpPr>
            <p:cNvPr id="45" name="Group 145">
              <a:extLst>
                <a:ext uri="{FF2B5EF4-FFF2-40B4-BE49-F238E27FC236}">
                  <a16:creationId xmlns:a16="http://schemas.microsoft.com/office/drawing/2014/main" id="{26EA5BC5-CAFE-1C4F-8344-0BA5FF6CB8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36" y="2016"/>
              <a:ext cx="288" cy="336"/>
              <a:chOff x="3120" y="1728"/>
              <a:chExt cx="288" cy="336"/>
            </a:xfrm>
          </p:grpSpPr>
          <p:sp>
            <p:nvSpPr>
              <p:cNvPr id="66" name="Rectangle 146">
                <a:extLst>
                  <a:ext uri="{FF2B5EF4-FFF2-40B4-BE49-F238E27FC236}">
                    <a16:creationId xmlns:a16="http://schemas.microsoft.com/office/drawing/2014/main" id="{89E4CA08-9F58-6645-B5A1-26BFAE2B3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0" y="1920"/>
                <a:ext cx="144" cy="144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" altLang="zh-CN" sz="1600" b="1">
                    <a:solidFill>
                      <a:schemeClr val="bg1"/>
                    </a:solidFill>
                    <a:latin typeface="Aptos Display" panose="020B0004020202020204" pitchFamily="34" charset="0"/>
                  </a:rPr>
                  <a:t>N</a:t>
                </a:r>
              </a:p>
            </p:txBody>
          </p:sp>
          <p:sp>
            <p:nvSpPr>
              <p:cNvPr id="67" name="Rectangle 147">
                <a:extLst>
                  <a:ext uri="{FF2B5EF4-FFF2-40B4-BE49-F238E27FC236}">
                    <a16:creationId xmlns:a16="http://schemas.microsoft.com/office/drawing/2014/main" id="{2F8B354B-1F24-3D49-8482-C07FFEAA25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4" y="1920"/>
                <a:ext cx="144" cy="144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" altLang="zh-CN" sz="1600" b="1">
                    <a:solidFill>
                      <a:schemeClr val="bg1"/>
                    </a:solidFill>
                    <a:latin typeface="Aptos Display" panose="020B0004020202020204" pitchFamily="34" charset="0"/>
                  </a:rPr>
                  <a:t>N</a:t>
                </a:r>
              </a:p>
            </p:txBody>
          </p:sp>
          <p:sp>
            <p:nvSpPr>
              <p:cNvPr id="68" name="Rectangle 148">
                <a:extLst>
                  <a:ext uri="{FF2B5EF4-FFF2-40B4-BE49-F238E27FC236}">
                    <a16:creationId xmlns:a16="http://schemas.microsoft.com/office/drawing/2014/main" id="{8FE4EDAE-D82B-8F47-A9D3-2BE56D741E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0" y="1728"/>
                <a:ext cx="288" cy="192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" altLang="zh-CN" sz="2000" b="1">
                    <a:solidFill>
                      <a:schemeClr val="bg1"/>
                    </a:solidFill>
                    <a:latin typeface="Aptos Display" panose="020B0004020202020204" pitchFamily="34" charset="0"/>
                  </a:rPr>
                  <a:t>J</a:t>
                </a:r>
              </a:p>
            </p:txBody>
          </p:sp>
        </p:grpSp>
        <p:grpSp>
          <p:nvGrpSpPr>
            <p:cNvPr id="46" name="Group 149">
              <a:extLst>
                <a:ext uri="{FF2B5EF4-FFF2-40B4-BE49-F238E27FC236}">
                  <a16:creationId xmlns:a16="http://schemas.microsoft.com/office/drawing/2014/main" id="{88AEA1F8-A8B4-7140-A86E-E95CABA7BF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24" y="2592"/>
              <a:ext cx="288" cy="336"/>
              <a:chOff x="3120" y="1728"/>
              <a:chExt cx="288" cy="336"/>
            </a:xfrm>
          </p:grpSpPr>
          <p:sp>
            <p:nvSpPr>
              <p:cNvPr id="63" name="Rectangle 150">
                <a:extLst>
                  <a:ext uri="{FF2B5EF4-FFF2-40B4-BE49-F238E27FC236}">
                    <a16:creationId xmlns:a16="http://schemas.microsoft.com/office/drawing/2014/main" id="{BA356FB6-CEFA-8646-9C80-6B61FBE376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0" y="1920"/>
                <a:ext cx="144" cy="144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" altLang="zh-CN" sz="1600" b="1">
                    <a:solidFill>
                      <a:schemeClr val="bg1"/>
                    </a:solidFill>
                    <a:latin typeface="Aptos Display" panose="020B0004020202020204" pitchFamily="34" charset="0"/>
                  </a:rPr>
                  <a:t>N</a:t>
                </a:r>
              </a:p>
            </p:txBody>
          </p:sp>
          <p:sp>
            <p:nvSpPr>
              <p:cNvPr id="64" name="Rectangle 151">
                <a:extLst>
                  <a:ext uri="{FF2B5EF4-FFF2-40B4-BE49-F238E27FC236}">
                    <a16:creationId xmlns:a16="http://schemas.microsoft.com/office/drawing/2014/main" id="{FEF96FF2-207A-AD45-9337-C63E0B8324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4" y="1920"/>
                <a:ext cx="144" cy="144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" altLang="zh-CN" sz="1600" b="1">
                    <a:solidFill>
                      <a:schemeClr val="bg1"/>
                    </a:solidFill>
                    <a:latin typeface="Aptos Display" panose="020B0004020202020204" pitchFamily="34" charset="0"/>
                  </a:rPr>
                  <a:t>N</a:t>
                </a:r>
              </a:p>
            </p:txBody>
          </p:sp>
          <p:sp>
            <p:nvSpPr>
              <p:cNvPr id="65" name="Rectangle 152">
                <a:extLst>
                  <a:ext uri="{FF2B5EF4-FFF2-40B4-BE49-F238E27FC236}">
                    <a16:creationId xmlns:a16="http://schemas.microsoft.com/office/drawing/2014/main" id="{A1C6D3A7-EA42-E346-A52F-AB773D4855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0" y="1728"/>
                <a:ext cx="288" cy="192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" altLang="zh-CN" sz="2000" b="1">
                    <a:solidFill>
                      <a:schemeClr val="bg1"/>
                    </a:solidFill>
                    <a:latin typeface="Aptos Display" panose="020B0004020202020204" pitchFamily="34" charset="0"/>
                  </a:rPr>
                  <a:t>L</a:t>
                </a:r>
              </a:p>
            </p:txBody>
          </p:sp>
        </p:grpSp>
        <p:grpSp>
          <p:nvGrpSpPr>
            <p:cNvPr id="47" name="Group 153">
              <a:extLst>
                <a:ext uri="{FF2B5EF4-FFF2-40B4-BE49-F238E27FC236}">
                  <a16:creationId xmlns:a16="http://schemas.microsoft.com/office/drawing/2014/main" id="{6DD052F9-B987-354E-9F77-F0A3CCF976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2592"/>
              <a:ext cx="288" cy="336"/>
              <a:chOff x="3120" y="1728"/>
              <a:chExt cx="288" cy="336"/>
            </a:xfrm>
          </p:grpSpPr>
          <p:sp>
            <p:nvSpPr>
              <p:cNvPr id="60" name="Rectangle 154">
                <a:extLst>
                  <a:ext uri="{FF2B5EF4-FFF2-40B4-BE49-F238E27FC236}">
                    <a16:creationId xmlns:a16="http://schemas.microsoft.com/office/drawing/2014/main" id="{E7033A16-93FA-5648-80E7-C100992CD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0" y="1920"/>
                <a:ext cx="144" cy="144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" altLang="zh-CN" sz="1600" b="1">
                    <a:solidFill>
                      <a:schemeClr val="bg1"/>
                    </a:solidFill>
                    <a:latin typeface="Aptos Display" panose="020B0004020202020204" pitchFamily="34" charset="0"/>
                  </a:rPr>
                  <a:t>N</a:t>
                </a:r>
              </a:p>
            </p:txBody>
          </p:sp>
          <p:sp>
            <p:nvSpPr>
              <p:cNvPr id="61" name="Rectangle 155">
                <a:extLst>
                  <a:ext uri="{FF2B5EF4-FFF2-40B4-BE49-F238E27FC236}">
                    <a16:creationId xmlns:a16="http://schemas.microsoft.com/office/drawing/2014/main" id="{CCF071B3-8D76-274E-8A27-0E1E72B8CF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4" y="1920"/>
                <a:ext cx="144" cy="144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" altLang="zh-CN" sz="1600" b="1">
                    <a:solidFill>
                      <a:schemeClr val="bg1"/>
                    </a:solidFill>
                    <a:latin typeface="Aptos Display" panose="020B0004020202020204" pitchFamily="34" charset="0"/>
                  </a:rPr>
                  <a:t>N</a:t>
                </a:r>
              </a:p>
            </p:txBody>
          </p:sp>
          <p:sp>
            <p:nvSpPr>
              <p:cNvPr id="62" name="Rectangle 156">
                <a:extLst>
                  <a:ext uri="{FF2B5EF4-FFF2-40B4-BE49-F238E27FC236}">
                    <a16:creationId xmlns:a16="http://schemas.microsoft.com/office/drawing/2014/main" id="{19423BCA-0D2C-8F4A-B7AD-EAC3764755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0" y="1728"/>
                <a:ext cx="288" cy="192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" altLang="zh-CN" sz="2000" b="1">
                    <a:solidFill>
                      <a:schemeClr val="bg1"/>
                    </a:solidFill>
                    <a:latin typeface="Aptos Display" panose="020B0004020202020204" pitchFamily="34" charset="0"/>
                  </a:rPr>
                  <a:t>M</a:t>
                </a:r>
              </a:p>
            </p:txBody>
          </p:sp>
        </p:grpSp>
        <p:sp>
          <p:nvSpPr>
            <p:cNvPr id="48" name="Line 157">
              <a:extLst>
                <a:ext uri="{FF2B5EF4-FFF2-40B4-BE49-F238E27FC236}">
                  <a16:creationId xmlns:a16="http://schemas.microsoft.com/office/drawing/2014/main" id="{31FD6C66-3C66-3A4E-9A31-69CB7E0FF0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76" y="1008"/>
              <a:ext cx="144" cy="432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49" name="Line 158">
              <a:extLst>
                <a:ext uri="{FF2B5EF4-FFF2-40B4-BE49-F238E27FC236}">
                  <a16:creationId xmlns:a16="http://schemas.microsoft.com/office/drawing/2014/main" id="{148B4EED-0393-794F-BF62-DD15DE914D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84" y="1728"/>
              <a:ext cx="96" cy="288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50" name="Line 159">
              <a:extLst>
                <a:ext uri="{FF2B5EF4-FFF2-40B4-BE49-F238E27FC236}">
                  <a16:creationId xmlns:a16="http://schemas.microsoft.com/office/drawing/2014/main" id="{923A5ED5-6C5B-8642-916F-521B14B85B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2304"/>
              <a:ext cx="96" cy="288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51" name="Line 160">
              <a:extLst>
                <a:ext uri="{FF2B5EF4-FFF2-40B4-BE49-F238E27FC236}">
                  <a16:creationId xmlns:a16="http://schemas.microsoft.com/office/drawing/2014/main" id="{24F62FE7-BD11-734A-BA42-8D3CF7D121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1728"/>
              <a:ext cx="624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52" name="Line 161">
              <a:extLst>
                <a:ext uri="{FF2B5EF4-FFF2-40B4-BE49-F238E27FC236}">
                  <a16:creationId xmlns:a16="http://schemas.microsoft.com/office/drawing/2014/main" id="{D723FEB8-27F7-1F4C-B943-A00287A8BC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2304"/>
              <a:ext cx="384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53" name="Line 162">
              <a:extLst>
                <a:ext uri="{FF2B5EF4-FFF2-40B4-BE49-F238E27FC236}">
                  <a16:creationId xmlns:a16="http://schemas.microsoft.com/office/drawing/2014/main" id="{BC1C0A9F-DCA4-F441-BFB9-51B13046DE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2880"/>
              <a:ext cx="288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54" name="Line 163">
              <a:extLst>
                <a:ext uri="{FF2B5EF4-FFF2-40B4-BE49-F238E27FC236}">
                  <a16:creationId xmlns:a16="http://schemas.microsoft.com/office/drawing/2014/main" id="{3F1A0D2E-B32B-AE4C-916D-9528F7F169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1728"/>
              <a:ext cx="0" cy="288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55" name="Line 164">
              <a:extLst>
                <a:ext uri="{FF2B5EF4-FFF2-40B4-BE49-F238E27FC236}">
                  <a16:creationId xmlns:a16="http://schemas.microsoft.com/office/drawing/2014/main" id="{2F359FED-68E4-2F40-9643-15DA3DE6A9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1728"/>
              <a:ext cx="480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56" name="Line 165">
              <a:extLst>
                <a:ext uri="{FF2B5EF4-FFF2-40B4-BE49-F238E27FC236}">
                  <a16:creationId xmlns:a16="http://schemas.microsoft.com/office/drawing/2014/main" id="{151FB134-0505-1241-B73F-E734C86F34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304"/>
              <a:ext cx="0" cy="288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57" name="Line 166">
              <a:extLst>
                <a:ext uri="{FF2B5EF4-FFF2-40B4-BE49-F238E27FC236}">
                  <a16:creationId xmlns:a16="http://schemas.microsoft.com/office/drawing/2014/main" id="{F1F56421-DC3A-6448-AD64-D793BC56F1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2304"/>
              <a:ext cx="240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58" name="Line 167">
              <a:extLst>
                <a:ext uri="{FF2B5EF4-FFF2-40B4-BE49-F238E27FC236}">
                  <a16:creationId xmlns:a16="http://schemas.microsoft.com/office/drawing/2014/main" id="{CD03DF68-DD1F-664C-B08A-5E0576FD1A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68" y="1728"/>
              <a:ext cx="48" cy="288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59" name="Line 168">
              <a:extLst>
                <a:ext uri="{FF2B5EF4-FFF2-40B4-BE49-F238E27FC236}">
                  <a16:creationId xmlns:a16="http://schemas.microsoft.com/office/drawing/2014/main" id="{3BBA9333-48B9-D54E-9BF2-0082A2A427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2304"/>
              <a:ext cx="240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</p:grpSp>
      <p:grpSp>
        <p:nvGrpSpPr>
          <p:cNvPr id="99" name="Group 170">
            <a:extLst>
              <a:ext uri="{FF2B5EF4-FFF2-40B4-BE49-F238E27FC236}">
                <a16:creationId xmlns:a16="http://schemas.microsoft.com/office/drawing/2014/main" id="{CA0523EB-5550-334A-9ED0-DF711BDA15D2}"/>
              </a:ext>
            </a:extLst>
          </p:cNvPr>
          <p:cNvGrpSpPr>
            <a:grpSpLocks/>
          </p:cNvGrpSpPr>
          <p:nvPr/>
        </p:nvGrpSpPr>
        <p:grpSpPr bwMode="auto">
          <a:xfrm>
            <a:off x="1911267" y="2229101"/>
            <a:ext cx="2971800" cy="990600"/>
            <a:chOff x="528" y="672"/>
            <a:chExt cx="1872" cy="624"/>
          </a:xfrm>
        </p:grpSpPr>
        <p:sp>
          <p:nvSpPr>
            <p:cNvPr id="100" name="Rectangle 171">
              <a:extLst>
                <a:ext uri="{FF2B5EF4-FFF2-40B4-BE49-F238E27FC236}">
                  <a16:creationId xmlns:a16="http://schemas.microsoft.com/office/drawing/2014/main" id="{3B0AFDE6-0AD5-1E42-BD2D-A8E62D744F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912"/>
              <a:ext cx="816" cy="240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sz="2000" b="1">
                  <a:solidFill>
                    <a:schemeClr val="bg1"/>
                  </a:solidFill>
                  <a:latin typeface="Aptos Display" panose="020B0004020202020204" pitchFamily="34" charset="0"/>
                </a:rPr>
                <a:t>left child</a:t>
              </a:r>
            </a:p>
          </p:txBody>
        </p:sp>
        <p:sp>
          <p:nvSpPr>
            <p:cNvPr id="101" name="Rectangle 172">
              <a:extLst>
                <a:ext uri="{FF2B5EF4-FFF2-40B4-BE49-F238E27FC236}">
                  <a16:creationId xmlns:a16="http://schemas.microsoft.com/office/drawing/2014/main" id="{E128035E-4260-E04F-8B9D-22997ECF8D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912"/>
              <a:ext cx="912" cy="240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sz="2000" b="1">
                  <a:solidFill>
                    <a:schemeClr val="bg1"/>
                  </a:solidFill>
                  <a:latin typeface="Aptos Display" panose="020B0004020202020204" pitchFamily="34" charset="0"/>
                </a:rPr>
                <a:t>right sibling</a:t>
              </a:r>
            </a:p>
          </p:txBody>
        </p:sp>
        <p:sp>
          <p:nvSpPr>
            <p:cNvPr id="102" name="Rectangle 173">
              <a:extLst>
                <a:ext uri="{FF2B5EF4-FFF2-40B4-BE49-F238E27FC236}">
                  <a16:creationId xmlns:a16="http://schemas.microsoft.com/office/drawing/2014/main" id="{206D6516-EC54-1D4C-B6AD-6A441989CE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672"/>
              <a:ext cx="1728" cy="240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sz="2000" b="1">
                  <a:solidFill>
                    <a:schemeClr val="bg1"/>
                  </a:solidFill>
                  <a:latin typeface="Aptos Display" panose="020B0004020202020204" pitchFamily="34" charset="0"/>
                </a:rPr>
                <a:t>data</a:t>
              </a:r>
            </a:p>
          </p:txBody>
        </p:sp>
        <p:sp>
          <p:nvSpPr>
            <p:cNvPr id="103" name="Line 174">
              <a:extLst>
                <a:ext uri="{FF2B5EF4-FFF2-40B4-BE49-F238E27FC236}">
                  <a16:creationId xmlns:a16="http://schemas.microsoft.com/office/drawing/2014/main" id="{7702FDDC-3AA9-1240-96A0-97C2AB1D96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0" y="1104"/>
              <a:ext cx="144" cy="192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04" name="Line 175">
              <a:extLst>
                <a:ext uri="{FF2B5EF4-FFF2-40B4-BE49-F238E27FC236}">
                  <a16:creationId xmlns:a16="http://schemas.microsoft.com/office/drawing/2014/main" id="{20CDF49D-6D6D-914A-8134-77D7B2C45E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1056"/>
              <a:ext cx="192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64391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Representation of a tree (child-parent representation)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834779" cy="5282749"/>
          </a:xfrm>
        </p:spPr>
        <p:txBody>
          <a:bodyPr anchor="ctr" anchorCtr="0">
            <a:normAutofit lnSpcReduction="10000"/>
          </a:bodyPr>
          <a:lstStyle/>
          <a:p>
            <a:r>
              <a:rPr lang="en" altLang="en-US" dirty="0">
                <a:latin typeface="Aptos Display" panose="020B0004020202020204" pitchFamily="34" charset="0"/>
              </a:rPr>
              <a:t>Parental representation of children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marL="0" indent="0"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struct Node{ 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struct Node{</a:t>
            </a:r>
          </a:p>
          <a:p>
            <a:pPr marL="0" indent="0">
              <a:buNone/>
            </a:pP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 int value; 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int value;</a:t>
            </a:r>
          </a:p>
          <a:p>
            <a:pPr marL="0" indent="0"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child_count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vector&lt;int&gt; child;</a:t>
            </a:r>
          </a:p>
          <a:p>
            <a:pPr marL="0" indent="0"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int child[M]; 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int parent;</a:t>
            </a:r>
          </a:p>
          <a:p>
            <a:pPr marL="0" indent="0"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int parent; 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}node[N];</a:t>
            </a:r>
          </a:p>
          <a:p>
            <a:pPr marL="0" indent="0"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}node[N];</a:t>
            </a:r>
            <a:endParaRPr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en-US" dirty="0">
                <a:latin typeface="Aptos Display" panose="020B0004020202020204" pitchFamily="34" charset="0"/>
              </a:rPr>
              <a:t>Each node stores information about all its children (and points to its parents), allowing for bidirectional lookups.</a:t>
            </a:r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-US" altLang="zh-CN" dirty="0">
                <a:latin typeface="Aptos Display" panose="020B0004020202020204" pitchFamily="34" charset="0"/>
              </a:rPr>
              <a:t>U</a:t>
            </a:r>
            <a:r>
              <a:rPr lang="en" altLang="en-US" dirty="0">
                <a:latin typeface="Aptos Display" panose="020B0004020202020204" pitchFamily="34" charset="0"/>
              </a:rPr>
              <a:t>se </a:t>
            </a:r>
            <a:r>
              <a:rPr lang="en" altLang="zh-CN" dirty="0">
                <a:latin typeface="Aptos Display" panose="020B0004020202020204" pitchFamily="34" charset="0"/>
              </a:rPr>
              <a:t>vector</a:t>
            </a:r>
            <a:r>
              <a:rPr lang="e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to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" altLang="en-US" dirty="0">
                <a:latin typeface="Aptos Display" panose="020B0004020202020204" pitchFamily="34" charset="0"/>
              </a:rPr>
              <a:t>solve the problem of dynamic memory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allocation</a:t>
            </a:r>
            <a:r>
              <a:rPr lang="en" altLang="en-US" dirty="0">
                <a:latin typeface="Aptos Display" panose="020B0004020202020204" pitchFamily="34" charset="0"/>
              </a:rPr>
              <a:t>.</a:t>
            </a:r>
            <a:endParaRPr lang="en-US" altLang="zh-CN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435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Tree traversal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 anchor="ctr" anchorCtr="0">
            <a:normAutofit/>
          </a:bodyPr>
          <a:lstStyle/>
          <a:p>
            <a:r>
              <a:rPr lang="en" altLang="en-US" dirty="0">
                <a:latin typeface="Aptos Display" panose="020B0004020202020204" pitchFamily="34" charset="0"/>
                <a:sym typeface="Wingdings" pitchFamily="2" charset="2"/>
              </a:rPr>
              <a:t>Traversal (preorder traversal, postorder traversal)</a:t>
            </a:r>
            <a:endParaRPr lang="en-US" altLang="zh-CN" dirty="0">
              <a:latin typeface="Aptos Display" panose="020B0004020202020204" pitchFamily="34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void preorder(int id){</a:t>
            </a:r>
          </a:p>
          <a:p>
            <a:pPr marL="0" indent="0">
              <a:buNone/>
            </a:pP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if (id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0){</a:t>
            </a:r>
          </a:p>
          <a:p>
            <a:pPr marL="0" indent="0"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visit(id);</a:t>
            </a:r>
          </a:p>
          <a:p>
            <a:pPr marL="0" indent="0"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       for</a:t>
            </a:r>
            <a:r>
              <a:rPr lang="e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each child of node[id] (from left to right)</a:t>
            </a:r>
          </a:p>
          <a:p>
            <a:pPr marL="0" indent="0"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preorder(child);</a:t>
            </a:r>
          </a:p>
          <a:p>
            <a:pPr marL="0" indent="0"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1977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U</a:t>
            </a:r>
            <a:r>
              <a:rPr lang="en-AU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n</a:t>
            </a:r>
            <a:r>
              <a:rPr lang="en" altLang="en-US" dirty="0" err="1">
                <a:solidFill>
                  <a:schemeClr val="bg1"/>
                </a:solidFill>
                <a:latin typeface="Aptos Display" panose="020B0004020202020204" pitchFamily="34" charset="0"/>
              </a:rPr>
              <a:t>roo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ted</a:t>
            </a:r>
            <a:r>
              <a:rPr lang="zh-C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trees</a:t>
            </a:r>
            <a:endParaRPr lang="en" altLang="en-US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grpSp>
        <p:nvGrpSpPr>
          <p:cNvPr id="7" name="Group 169">
            <a:extLst>
              <a:ext uri="{FF2B5EF4-FFF2-40B4-BE49-F238E27FC236}">
                <a16:creationId xmlns:a16="http://schemas.microsoft.com/office/drawing/2014/main" id="{0BF7A19D-6BE3-7548-A34E-73B2F968224F}"/>
              </a:ext>
            </a:extLst>
          </p:cNvPr>
          <p:cNvGrpSpPr>
            <a:grpSpLocks/>
          </p:cNvGrpSpPr>
          <p:nvPr/>
        </p:nvGrpSpPr>
        <p:grpSpPr bwMode="auto">
          <a:xfrm>
            <a:off x="1355133" y="4407891"/>
            <a:ext cx="2744788" cy="1982787"/>
            <a:chOff x="113" y="1493"/>
            <a:chExt cx="1729" cy="1249"/>
          </a:xfrm>
        </p:grpSpPr>
        <p:sp>
          <p:nvSpPr>
            <p:cNvPr id="8" name="Oval 4">
              <a:extLst>
                <a:ext uri="{FF2B5EF4-FFF2-40B4-BE49-F238E27FC236}">
                  <a16:creationId xmlns:a16="http://schemas.microsoft.com/office/drawing/2014/main" id="{DDE59EEA-2E82-F546-AF71-7F5ED639F7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9" y="1493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dirty="0">
                  <a:solidFill>
                    <a:schemeClr val="bg1"/>
                  </a:solidFill>
                  <a:latin typeface="Aptos Display" panose="020B0004020202020204" pitchFamily="34" charset="0"/>
                </a:rPr>
                <a:t>A</a:t>
              </a:r>
            </a:p>
          </p:txBody>
        </p:sp>
        <p:sp>
          <p:nvSpPr>
            <p:cNvPr id="10" name="Oval 5">
              <a:extLst>
                <a:ext uri="{FF2B5EF4-FFF2-40B4-BE49-F238E27FC236}">
                  <a16:creationId xmlns:a16="http://schemas.microsoft.com/office/drawing/2014/main" id="{2617A2D6-B21D-7E42-82BC-3B8E0E17DD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1" y="1829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C</a:t>
              </a:r>
            </a:p>
          </p:txBody>
        </p:sp>
        <p:sp>
          <p:nvSpPr>
            <p:cNvPr id="11" name="Oval 6">
              <a:extLst>
                <a:ext uri="{FF2B5EF4-FFF2-40B4-BE49-F238E27FC236}">
                  <a16:creationId xmlns:a16="http://schemas.microsoft.com/office/drawing/2014/main" id="{8B39FF24-CC49-524E-AA47-B176410722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" y="1829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B</a:t>
              </a:r>
            </a:p>
          </p:txBody>
        </p:sp>
        <p:sp>
          <p:nvSpPr>
            <p:cNvPr id="12" name="Oval 7">
              <a:extLst>
                <a:ext uri="{FF2B5EF4-FFF2-40B4-BE49-F238E27FC236}">
                  <a16:creationId xmlns:a16="http://schemas.microsoft.com/office/drawing/2014/main" id="{34FB1A3E-D52D-334F-A830-0A99F637CE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3" y="1829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D</a:t>
              </a:r>
            </a:p>
          </p:txBody>
        </p:sp>
        <p:sp>
          <p:nvSpPr>
            <p:cNvPr id="13" name="Oval 8">
              <a:extLst>
                <a:ext uri="{FF2B5EF4-FFF2-40B4-BE49-F238E27FC236}">
                  <a16:creationId xmlns:a16="http://schemas.microsoft.com/office/drawing/2014/main" id="{D71AAA34-BAF6-0E45-9473-13132DF12C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1" y="2165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G</a:t>
              </a:r>
            </a:p>
          </p:txBody>
        </p:sp>
        <p:sp>
          <p:nvSpPr>
            <p:cNvPr id="14" name="Oval 9">
              <a:extLst>
                <a:ext uri="{FF2B5EF4-FFF2-40B4-BE49-F238E27FC236}">
                  <a16:creationId xmlns:a16="http://schemas.microsoft.com/office/drawing/2014/main" id="{520B9E3D-111C-4D4C-A1FE-04CED3897D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3" y="2165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F</a:t>
              </a:r>
            </a:p>
          </p:txBody>
        </p:sp>
        <p:sp>
          <p:nvSpPr>
            <p:cNvPr id="15" name="Oval 10">
              <a:extLst>
                <a:ext uri="{FF2B5EF4-FFF2-40B4-BE49-F238E27FC236}">
                  <a16:creationId xmlns:a16="http://schemas.microsoft.com/office/drawing/2014/main" id="{7B1242D9-85F1-674B-A567-04DE7E408B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" y="2165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E</a:t>
              </a:r>
            </a:p>
          </p:txBody>
        </p:sp>
        <p:sp>
          <p:nvSpPr>
            <p:cNvPr id="16" name="Oval 11">
              <a:extLst>
                <a:ext uri="{FF2B5EF4-FFF2-40B4-BE49-F238E27FC236}">
                  <a16:creationId xmlns:a16="http://schemas.microsoft.com/office/drawing/2014/main" id="{8B1D7F83-531D-DF42-A076-44139E4012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9" y="2165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H</a:t>
              </a:r>
            </a:p>
          </p:txBody>
        </p:sp>
        <p:sp>
          <p:nvSpPr>
            <p:cNvPr id="17" name="Oval 12">
              <a:extLst>
                <a:ext uri="{FF2B5EF4-FFF2-40B4-BE49-F238E27FC236}">
                  <a16:creationId xmlns:a16="http://schemas.microsoft.com/office/drawing/2014/main" id="{36DF4C25-640E-7641-AD0B-F369F19730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9" y="2165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I</a:t>
              </a:r>
            </a:p>
          </p:txBody>
        </p:sp>
        <p:sp>
          <p:nvSpPr>
            <p:cNvPr id="18" name="Oval 13">
              <a:extLst>
                <a:ext uri="{FF2B5EF4-FFF2-40B4-BE49-F238E27FC236}">
                  <a16:creationId xmlns:a16="http://schemas.microsoft.com/office/drawing/2014/main" id="{CE2EEFDC-A325-174E-AF0F-80172A8543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9" y="2165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J</a:t>
              </a:r>
            </a:p>
          </p:txBody>
        </p:sp>
        <p:sp>
          <p:nvSpPr>
            <p:cNvPr id="19" name="Oval 14">
              <a:extLst>
                <a:ext uri="{FF2B5EF4-FFF2-40B4-BE49-F238E27FC236}">
                  <a16:creationId xmlns:a16="http://schemas.microsoft.com/office/drawing/2014/main" id="{ABE9E291-6ED9-7747-956E-C65AED40C8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9" y="2549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M</a:t>
              </a:r>
            </a:p>
          </p:txBody>
        </p:sp>
        <p:sp>
          <p:nvSpPr>
            <p:cNvPr id="20" name="Oval 15">
              <a:extLst>
                <a:ext uri="{FF2B5EF4-FFF2-40B4-BE49-F238E27FC236}">
                  <a16:creationId xmlns:a16="http://schemas.microsoft.com/office/drawing/2014/main" id="{202F2AEF-CDDC-504D-8AE3-A2C789DC03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" y="2549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L</a:t>
              </a:r>
            </a:p>
          </p:txBody>
        </p:sp>
        <p:sp>
          <p:nvSpPr>
            <p:cNvPr id="21" name="Oval 16">
              <a:extLst>
                <a:ext uri="{FF2B5EF4-FFF2-40B4-BE49-F238E27FC236}">
                  <a16:creationId xmlns:a16="http://schemas.microsoft.com/office/drawing/2014/main" id="{088CEE32-8EB1-CB43-BA02-D29264F255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" y="2549"/>
              <a:ext cx="193" cy="193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K</a:t>
              </a:r>
            </a:p>
          </p:txBody>
        </p:sp>
        <p:sp>
          <p:nvSpPr>
            <p:cNvPr id="22" name="Line 17">
              <a:extLst>
                <a:ext uri="{FF2B5EF4-FFF2-40B4-BE49-F238E27FC236}">
                  <a16:creationId xmlns:a16="http://schemas.microsoft.com/office/drawing/2014/main" id="{AB4BF30B-CB8E-184B-AED1-77D6DB7617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7" y="1685"/>
              <a:ext cx="0" cy="144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23" name="Line 18">
              <a:extLst>
                <a:ext uri="{FF2B5EF4-FFF2-40B4-BE49-F238E27FC236}">
                  <a16:creationId xmlns:a16="http://schemas.microsoft.com/office/drawing/2014/main" id="{580380BB-0DBA-E348-8ABC-E070832F03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7" y="2021"/>
              <a:ext cx="0" cy="144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24" name="Line 19">
              <a:extLst>
                <a:ext uri="{FF2B5EF4-FFF2-40B4-BE49-F238E27FC236}">
                  <a16:creationId xmlns:a16="http://schemas.microsoft.com/office/drawing/2014/main" id="{C315AD8D-48F8-2C4F-98EC-8CE83C8BAA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5" y="2357"/>
              <a:ext cx="0" cy="192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25" name="Line 20">
              <a:extLst>
                <a:ext uri="{FF2B5EF4-FFF2-40B4-BE49-F238E27FC236}">
                  <a16:creationId xmlns:a16="http://schemas.microsoft.com/office/drawing/2014/main" id="{2F05CF3F-518D-3B49-9470-0F56CDFD1A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1" y="1670"/>
              <a:ext cx="288" cy="168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26" name="Line 21">
              <a:extLst>
                <a:ext uri="{FF2B5EF4-FFF2-40B4-BE49-F238E27FC236}">
                  <a16:creationId xmlns:a16="http://schemas.microsoft.com/office/drawing/2014/main" id="{0C5AC51C-332F-574F-BBE3-376CA9C3E3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5" y="1670"/>
              <a:ext cx="311" cy="19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27" name="Line 22">
              <a:extLst>
                <a:ext uri="{FF2B5EF4-FFF2-40B4-BE49-F238E27FC236}">
                  <a16:creationId xmlns:a16="http://schemas.microsoft.com/office/drawing/2014/main" id="{D811A8AE-192F-A849-8D1A-4DA91554A2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9" y="1994"/>
              <a:ext cx="96" cy="192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28" name="Line 23">
              <a:extLst>
                <a:ext uri="{FF2B5EF4-FFF2-40B4-BE49-F238E27FC236}">
                  <a16:creationId xmlns:a16="http://schemas.microsoft.com/office/drawing/2014/main" id="{EC6B3327-A269-DA4A-ABA4-5CDAB4B886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1" y="2010"/>
              <a:ext cx="48" cy="156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29" name="Line 24">
              <a:extLst>
                <a:ext uri="{FF2B5EF4-FFF2-40B4-BE49-F238E27FC236}">
                  <a16:creationId xmlns:a16="http://schemas.microsoft.com/office/drawing/2014/main" id="{980C7FCF-3BD2-584A-BDE8-FAFAE7D1E0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7" y="2350"/>
              <a:ext cx="96" cy="204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30" name="Line 25">
              <a:extLst>
                <a:ext uri="{FF2B5EF4-FFF2-40B4-BE49-F238E27FC236}">
                  <a16:creationId xmlns:a16="http://schemas.microsoft.com/office/drawing/2014/main" id="{12DAB69A-94BB-E74C-B432-AB545A4840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" y="2350"/>
              <a:ext cx="48" cy="204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31" name="Line 26">
              <a:extLst>
                <a:ext uri="{FF2B5EF4-FFF2-40B4-BE49-F238E27FC236}">
                  <a16:creationId xmlns:a16="http://schemas.microsoft.com/office/drawing/2014/main" id="{1C2D2A46-2A3F-5C47-AE37-08E53E0EC2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65" y="2021"/>
              <a:ext cx="96" cy="144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32" name="Line 27">
              <a:extLst>
                <a:ext uri="{FF2B5EF4-FFF2-40B4-BE49-F238E27FC236}">
                  <a16:creationId xmlns:a16="http://schemas.microsoft.com/office/drawing/2014/main" id="{80AA2FDB-BBA5-0E48-8D3E-45E28FF3E2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0" y="2021"/>
              <a:ext cx="25" cy="144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33" name="Line 28">
              <a:extLst>
                <a:ext uri="{FF2B5EF4-FFF2-40B4-BE49-F238E27FC236}">
                  <a16:creationId xmlns:a16="http://schemas.microsoft.com/office/drawing/2014/main" id="{6B09D5EF-010E-9441-955D-D2880AD178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6" y="1973"/>
              <a:ext cx="227" cy="192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855C268C-AC3B-ED41-99CE-F1670E910726}"/>
              </a:ext>
            </a:extLst>
          </p:cNvPr>
          <p:cNvGrpSpPr/>
          <p:nvPr/>
        </p:nvGrpSpPr>
        <p:grpSpPr>
          <a:xfrm>
            <a:off x="7967669" y="4070382"/>
            <a:ext cx="2880560" cy="2490953"/>
            <a:chOff x="6736306" y="2038183"/>
            <a:chExt cx="2880560" cy="2490953"/>
          </a:xfrm>
        </p:grpSpPr>
        <p:sp>
          <p:nvSpPr>
            <p:cNvPr id="106" name="Oval 4">
              <a:extLst>
                <a:ext uri="{FF2B5EF4-FFF2-40B4-BE49-F238E27FC236}">
                  <a16:creationId xmlns:a16="http://schemas.microsoft.com/office/drawing/2014/main" id="{F2C03D0B-EA8F-F74D-BDEB-1FDAB9B355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52331" y="2546349"/>
              <a:ext cx="306388" cy="306387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A</a:t>
              </a:r>
            </a:p>
          </p:txBody>
        </p:sp>
        <p:sp>
          <p:nvSpPr>
            <p:cNvPr id="107" name="Oval 5">
              <a:extLst>
                <a:ext uri="{FF2B5EF4-FFF2-40B4-BE49-F238E27FC236}">
                  <a16:creationId xmlns:a16="http://schemas.microsoft.com/office/drawing/2014/main" id="{4D46594F-B02B-E346-8BA1-4842B208C0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55506" y="3079749"/>
              <a:ext cx="306388" cy="306387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C</a:t>
              </a:r>
            </a:p>
          </p:txBody>
        </p:sp>
        <p:sp>
          <p:nvSpPr>
            <p:cNvPr id="108" name="Oval 6">
              <a:extLst>
                <a:ext uri="{FF2B5EF4-FFF2-40B4-BE49-F238E27FC236}">
                  <a16:creationId xmlns:a16="http://schemas.microsoft.com/office/drawing/2014/main" id="{3A517F41-4B94-524C-A23B-9FDE07100B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45906" y="3079749"/>
              <a:ext cx="306388" cy="306387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B</a:t>
              </a:r>
            </a:p>
          </p:txBody>
        </p:sp>
        <p:sp>
          <p:nvSpPr>
            <p:cNvPr id="109" name="Oval 7">
              <a:extLst>
                <a:ext uri="{FF2B5EF4-FFF2-40B4-BE49-F238E27FC236}">
                  <a16:creationId xmlns:a16="http://schemas.microsoft.com/office/drawing/2014/main" id="{41396B2D-380A-F74A-9C1C-706027890C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77078" y="2038183"/>
              <a:ext cx="306388" cy="306387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D</a:t>
              </a:r>
            </a:p>
          </p:txBody>
        </p:sp>
        <p:sp>
          <p:nvSpPr>
            <p:cNvPr id="110" name="Oval 8">
              <a:extLst>
                <a:ext uri="{FF2B5EF4-FFF2-40B4-BE49-F238E27FC236}">
                  <a16:creationId xmlns:a16="http://schemas.microsoft.com/office/drawing/2014/main" id="{A80EBE1C-C976-9F4C-A6E4-59BD6E740B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55506" y="3613149"/>
              <a:ext cx="306388" cy="306387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G</a:t>
              </a:r>
            </a:p>
          </p:txBody>
        </p:sp>
        <p:sp>
          <p:nvSpPr>
            <p:cNvPr id="111" name="Oval 9">
              <a:extLst>
                <a:ext uri="{FF2B5EF4-FFF2-40B4-BE49-F238E27FC236}">
                  <a16:creationId xmlns:a16="http://schemas.microsoft.com/office/drawing/2014/main" id="{59546169-6513-724A-BBF3-653A9A939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98306" y="3613149"/>
              <a:ext cx="306388" cy="306387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F</a:t>
              </a:r>
            </a:p>
          </p:txBody>
        </p:sp>
        <p:sp>
          <p:nvSpPr>
            <p:cNvPr id="112" name="Oval 10">
              <a:extLst>
                <a:ext uri="{FF2B5EF4-FFF2-40B4-BE49-F238E27FC236}">
                  <a16:creationId xmlns:a16="http://schemas.microsoft.com/office/drawing/2014/main" id="{85CB4114-B9DB-2A4A-9F3E-DBABC57C74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1106" y="3613149"/>
              <a:ext cx="306388" cy="306387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E</a:t>
              </a:r>
            </a:p>
          </p:txBody>
        </p:sp>
        <p:sp>
          <p:nvSpPr>
            <p:cNvPr id="113" name="Oval 11">
              <a:extLst>
                <a:ext uri="{FF2B5EF4-FFF2-40B4-BE49-F238E27FC236}">
                  <a16:creationId xmlns:a16="http://schemas.microsoft.com/office/drawing/2014/main" id="{171A93E8-8370-0E45-BB52-1E587060E9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8478" y="2571583"/>
              <a:ext cx="306388" cy="306387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H</a:t>
              </a:r>
            </a:p>
          </p:txBody>
        </p:sp>
        <p:sp>
          <p:nvSpPr>
            <p:cNvPr id="114" name="Oval 12">
              <a:extLst>
                <a:ext uri="{FF2B5EF4-FFF2-40B4-BE49-F238E27FC236}">
                  <a16:creationId xmlns:a16="http://schemas.microsoft.com/office/drawing/2014/main" id="{05502318-6375-1642-A0AA-554D22C926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29478" y="2571583"/>
              <a:ext cx="306388" cy="306387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I</a:t>
              </a:r>
            </a:p>
          </p:txBody>
        </p:sp>
        <p:sp>
          <p:nvSpPr>
            <p:cNvPr id="115" name="Oval 13">
              <a:extLst>
                <a:ext uri="{FF2B5EF4-FFF2-40B4-BE49-F238E27FC236}">
                  <a16:creationId xmlns:a16="http://schemas.microsoft.com/office/drawing/2014/main" id="{F3F47264-254D-194A-92AB-021CADE8BE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10478" y="2571583"/>
              <a:ext cx="306388" cy="306387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J</a:t>
              </a:r>
            </a:p>
          </p:txBody>
        </p:sp>
        <p:sp>
          <p:nvSpPr>
            <p:cNvPr id="116" name="Oval 14">
              <a:extLst>
                <a:ext uri="{FF2B5EF4-FFF2-40B4-BE49-F238E27FC236}">
                  <a16:creationId xmlns:a16="http://schemas.microsoft.com/office/drawing/2014/main" id="{66EC3567-B6E1-4442-B681-403B65076A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8478" y="3181183"/>
              <a:ext cx="306388" cy="306387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M</a:t>
              </a:r>
            </a:p>
          </p:txBody>
        </p:sp>
        <p:sp>
          <p:nvSpPr>
            <p:cNvPr id="117" name="Oval 15">
              <a:extLst>
                <a:ext uri="{FF2B5EF4-FFF2-40B4-BE49-F238E27FC236}">
                  <a16:creationId xmlns:a16="http://schemas.microsoft.com/office/drawing/2014/main" id="{8F636DE7-7BC1-3E40-9FE0-B401DBB6C4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3506" y="4222749"/>
              <a:ext cx="306388" cy="306387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L</a:t>
              </a:r>
            </a:p>
          </p:txBody>
        </p:sp>
        <p:sp>
          <p:nvSpPr>
            <p:cNvPr id="118" name="Oval 16">
              <a:extLst>
                <a:ext uri="{FF2B5EF4-FFF2-40B4-BE49-F238E27FC236}">
                  <a16:creationId xmlns:a16="http://schemas.microsoft.com/office/drawing/2014/main" id="{3BDD0548-9479-2C41-B07A-F69ADC924F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6306" y="4222749"/>
              <a:ext cx="306388" cy="306387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K</a:t>
              </a:r>
            </a:p>
          </p:txBody>
        </p:sp>
        <p:sp>
          <p:nvSpPr>
            <p:cNvPr id="119" name="Line 17">
              <a:extLst>
                <a:ext uri="{FF2B5EF4-FFF2-40B4-BE49-F238E27FC236}">
                  <a16:creationId xmlns:a16="http://schemas.microsoft.com/office/drawing/2014/main" id="{00EA868B-D033-B642-A729-7C943A0CEB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7906" y="2851149"/>
              <a:ext cx="0" cy="22860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0" name="Line 18">
              <a:extLst>
                <a:ext uri="{FF2B5EF4-FFF2-40B4-BE49-F238E27FC236}">
                  <a16:creationId xmlns:a16="http://schemas.microsoft.com/office/drawing/2014/main" id="{DF39CC23-3A34-3946-BE7D-505130FBE9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7906" y="3384549"/>
              <a:ext cx="0" cy="22860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1" name="Line 19">
              <a:extLst>
                <a:ext uri="{FF2B5EF4-FFF2-40B4-BE49-F238E27FC236}">
                  <a16:creationId xmlns:a16="http://schemas.microsoft.com/office/drawing/2014/main" id="{823FAE53-95D2-3949-87D2-41A0D08564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0878" y="2876383"/>
              <a:ext cx="0" cy="30480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2" name="Line 20">
              <a:extLst>
                <a:ext uri="{FF2B5EF4-FFF2-40B4-BE49-F238E27FC236}">
                  <a16:creationId xmlns:a16="http://schemas.microsoft.com/office/drawing/2014/main" id="{8234D6FF-E84A-D443-9825-55E18D2470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74506" y="2827336"/>
              <a:ext cx="457200" cy="26670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3" name="Line 21">
              <a:extLst>
                <a:ext uri="{FF2B5EF4-FFF2-40B4-BE49-F238E27FC236}">
                  <a16:creationId xmlns:a16="http://schemas.microsoft.com/office/drawing/2014/main" id="{7CB7AC2E-6801-DE4F-94DD-8EC3122BCD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07906" y="2266783"/>
              <a:ext cx="705683" cy="277979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4" name="Line 22">
              <a:extLst>
                <a:ext uri="{FF2B5EF4-FFF2-40B4-BE49-F238E27FC236}">
                  <a16:creationId xmlns:a16="http://schemas.microsoft.com/office/drawing/2014/main" id="{550FF08E-31DD-1044-A49E-988D5AEA2F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69706" y="3341686"/>
              <a:ext cx="152400" cy="30480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5" name="Line 23">
              <a:extLst>
                <a:ext uri="{FF2B5EF4-FFF2-40B4-BE49-F238E27FC236}">
                  <a16:creationId xmlns:a16="http://schemas.microsoft.com/office/drawing/2014/main" id="{5B9C1242-BB2E-B446-993F-44915AD056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74506" y="3367086"/>
              <a:ext cx="76200" cy="24765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6" name="Line 24">
              <a:extLst>
                <a:ext uri="{FF2B5EF4-FFF2-40B4-BE49-F238E27FC236}">
                  <a16:creationId xmlns:a16="http://schemas.microsoft.com/office/drawing/2014/main" id="{1EED0A13-6DBA-3748-9F03-D0DF294A4C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964906" y="3906836"/>
              <a:ext cx="152400" cy="32385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7" name="Line 25">
              <a:extLst>
                <a:ext uri="{FF2B5EF4-FFF2-40B4-BE49-F238E27FC236}">
                  <a16:creationId xmlns:a16="http://schemas.microsoft.com/office/drawing/2014/main" id="{7184D22C-90E9-6243-B59E-A497A6C375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69706" y="3906836"/>
              <a:ext cx="76200" cy="32385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8" name="Line 26">
              <a:extLst>
                <a:ext uri="{FF2B5EF4-FFF2-40B4-BE49-F238E27FC236}">
                  <a16:creationId xmlns:a16="http://schemas.microsoft.com/office/drawing/2014/main" id="{A5D5B7DF-A775-0C40-A9C3-492DBE1D20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700878" y="2342983"/>
              <a:ext cx="152400" cy="22860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9" name="Line 27">
              <a:extLst>
                <a:ext uri="{FF2B5EF4-FFF2-40B4-BE49-F238E27FC236}">
                  <a16:creationId xmlns:a16="http://schemas.microsoft.com/office/drawing/2014/main" id="{B7285333-0BCE-D446-8F27-67E5067D1B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62816" y="2342983"/>
              <a:ext cx="39688" cy="22860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" name="Line 28">
              <a:extLst>
                <a:ext uri="{FF2B5EF4-FFF2-40B4-BE49-F238E27FC236}">
                  <a16:creationId xmlns:a16="http://schemas.microsoft.com/office/drawing/2014/main" id="{9FEB9DCD-2D05-CB40-9550-186F51CCEB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35841" y="2266783"/>
              <a:ext cx="360363" cy="30480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C4C00B13-691D-7248-8C7B-A10B29944A61}"/>
              </a:ext>
            </a:extLst>
          </p:cNvPr>
          <p:cNvGrpSpPr/>
          <p:nvPr/>
        </p:nvGrpSpPr>
        <p:grpSpPr>
          <a:xfrm>
            <a:off x="4201652" y="1459495"/>
            <a:ext cx="3421187" cy="2143207"/>
            <a:chOff x="4201652" y="1050423"/>
            <a:chExt cx="3421187" cy="2143207"/>
          </a:xfrm>
        </p:grpSpPr>
        <p:sp>
          <p:nvSpPr>
            <p:cNvPr id="132" name="Oval 4">
              <a:extLst>
                <a:ext uri="{FF2B5EF4-FFF2-40B4-BE49-F238E27FC236}">
                  <a16:creationId xmlns:a16="http://schemas.microsoft.com/office/drawing/2014/main" id="{D46FCD51-3BD0-2849-A473-83A4C40B60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7281" y="1668544"/>
              <a:ext cx="306388" cy="306387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A</a:t>
              </a:r>
            </a:p>
          </p:txBody>
        </p:sp>
        <p:sp>
          <p:nvSpPr>
            <p:cNvPr id="133" name="Oval 5">
              <a:extLst>
                <a:ext uri="{FF2B5EF4-FFF2-40B4-BE49-F238E27FC236}">
                  <a16:creationId xmlns:a16="http://schemas.microsoft.com/office/drawing/2014/main" id="{52098268-F78C-9141-BB91-F1378D4249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0456" y="2201944"/>
              <a:ext cx="306388" cy="306387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C</a:t>
              </a:r>
            </a:p>
          </p:txBody>
        </p:sp>
        <p:sp>
          <p:nvSpPr>
            <p:cNvPr id="134" name="Oval 6">
              <a:extLst>
                <a:ext uri="{FF2B5EF4-FFF2-40B4-BE49-F238E27FC236}">
                  <a16:creationId xmlns:a16="http://schemas.microsoft.com/office/drawing/2014/main" id="{132A34F8-A911-754D-B866-3300BFB560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1252" y="1744243"/>
              <a:ext cx="306388" cy="306387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dirty="0">
                  <a:solidFill>
                    <a:schemeClr val="bg1"/>
                  </a:solidFill>
                  <a:latin typeface="Aptos Display" panose="020B0004020202020204" pitchFamily="34" charset="0"/>
                </a:rPr>
                <a:t>B</a:t>
              </a:r>
            </a:p>
          </p:txBody>
        </p:sp>
        <p:sp>
          <p:nvSpPr>
            <p:cNvPr id="135" name="Oval 7">
              <a:extLst>
                <a:ext uri="{FF2B5EF4-FFF2-40B4-BE49-F238E27FC236}">
                  <a16:creationId xmlns:a16="http://schemas.microsoft.com/office/drawing/2014/main" id="{723F9685-70D5-A941-B846-65DCBE3A17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3051" y="1678322"/>
              <a:ext cx="306388" cy="306387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D</a:t>
              </a:r>
            </a:p>
          </p:txBody>
        </p:sp>
        <p:sp>
          <p:nvSpPr>
            <p:cNvPr id="136" name="Oval 8">
              <a:extLst>
                <a:ext uri="{FF2B5EF4-FFF2-40B4-BE49-F238E27FC236}">
                  <a16:creationId xmlns:a16="http://schemas.microsoft.com/office/drawing/2014/main" id="{8B507436-B552-3741-934D-0A363895A4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0456" y="2735344"/>
              <a:ext cx="306388" cy="306387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G</a:t>
              </a:r>
            </a:p>
          </p:txBody>
        </p:sp>
        <p:sp>
          <p:nvSpPr>
            <p:cNvPr id="137" name="Oval 9">
              <a:extLst>
                <a:ext uri="{FF2B5EF4-FFF2-40B4-BE49-F238E27FC236}">
                  <a16:creationId xmlns:a16="http://schemas.microsoft.com/office/drawing/2014/main" id="{863EDC5E-4A3B-F647-A6B5-3A2688C71C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5821" y="1050423"/>
              <a:ext cx="306388" cy="306387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F</a:t>
              </a:r>
            </a:p>
          </p:txBody>
        </p:sp>
        <p:sp>
          <p:nvSpPr>
            <p:cNvPr id="138" name="Oval 10">
              <a:extLst>
                <a:ext uri="{FF2B5EF4-FFF2-40B4-BE49-F238E27FC236}">
                  <a16:creationId xmlns:a16="http://schemas.microsoft.com/office/drawing/2014/main" id="{735C5D26-51AE-754E-AEB7-6E019701E9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6452" y="2277643"/>
              <a:ext cx="306388" cy="306387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E</a:t>
              </a:r>
            </a:p>
          </p:txBody>
        </p:sp>
        <p:sp>
          <p:nvSpPr>
            <p:cNvPr id="139" name="Oval 11">
              <a:extLst>
                <a:ext uri="{FF2B5EF4-FFF2-40B4-BE49-F238E27FC236}">
                  <a16:creationId xmlns:a16="http://schemas.microsoft.com/office/drawing/2014/main" id="{F17B1EFC-081F-094D-BD8B-6E46DACA0B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4451" y="2211722"/>
              <a:ext cx="306388" cy="306387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H</a:t>
              </a:r>
            </a:p>
          </p:txBody>
        </p:sp>
        <p:sp>
          <p:nvSpPr>
            <p:cNvPr id="140" name="Oval 12">
              <a:extLst>
                <a:ext uri="{FF2B5EF4-FFF2-40B4-BE49-F238E27FC236}">
                  <a16:creationId xmlns:a16="http://schemas.microsoft.com/office/drawing/2014/main" id="{915B91DE-3413-684C-A751-79CD00BA44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01372" y="1050423"/>
              <a:ext cx="306388" cy="306387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I</a:t>
              </a:r>
            </a:p>
          </p:txBody>
        </p:sp>
        <p:sp>
          <p:nvSpPr>
            <p:cNvPr id="141" name="Oval 13">
              <a:extLst>
                <a:ext uri="{FF2B5EF4-FFF2-40B4-BE49-F238E27FC236}">
                  <a16:creationId xmlns:a16="http://schemas.microsoft.com/office/drawing/2014/main" id="{5D4BD368-5860-1E43-98E4-00F4F9449F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6451" y="2211722"/>
              <a:ext cx="306388" cy="306387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J</a:t>
              </a:r>
            </a:p>
          </p:txBody>
        </p:sp>
        <p:sp>
          <p:nvSpPr>
            <p:cNvPr id="142" name="Oval 14">
              <a:extLst>
                <a:ext uri="{FF2B5EF4-FFF2-40B4-BE49-F238E27FC236}">
                  <a16:creationId xmlns:a16="http://schemas.microsoft.com/office/drawing/2014/main" id="{B9C77AC2-3BEB-8548-BC29-9DEC0D5D97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4451" y="2821322"/>
              <a:ext cx="306388" cy="306387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M</a:t>
              </a:r>
            </a:p>
          </p:txBody>
        </p:sp>
        <p:sp>
          <p:nvSpPr>
            <p:cNvPr id="143" name="Oval 15">
              <a:extLst>
                <a:ext uri="{FF2B5EF4-FFF2-40B4-BE49-F238E27FC236}">
                  <a16:creationId xmlns:a16="http://schemas.microsoft.com/office/drawing/2014/main" id="{61C5DA64-4C1A-AE4D-8EE1-9F81E222E1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852" y="2887243"/>
              <a:ext cx="306388" cy="306387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L</a:t>
              </a:r>
            </a:p>
          </p:txBody>
        </p:sp>
        <p:sp>
          <p:nvSpPr>
            <p:cNvPr id="144" name="Oval 16">
              <a:extLst>
                <a:ext uri="{FF2B5EF4-FFF2-40B4-BE49-F238E27FC236}">
                  <a16:creationId xmlns:a16="http://schemas.microsoft.com/office/drawing/2014/main" id="{1C4DEBA6-9DB6-8744-9931-A05266BBB7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1652" y="2887243"/>
              <a:ext cx="306388" cy="306387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K</a:t>
              </a:r>
            </a:p>
          </p:txBody>
        </p:sp>
        <p:sp>
          <p:nvSpPr>
            <p:cNvPr id="145" name="Line 17">
              <a:extLst>
                <a:ext uri="{FF2B5EF4-FFF2-40B4-BE49-F238E27FC236}">
                  <a16:creationId xmlns:a16="http://schemas.microsoft.com/office/drawing/2014/main" id="{193ACF4A-4EB9-F340-9721-A56426F575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82856" y="1973344"/>
              <a:ext cx="0" cy="22860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46" name="Line 18">
              <a:extLst>
                <a:ext uri="{FF2B5EF4-FFF2-40B4-BE49-F238E27FC236}">
                  <a16:creationId xmlns:a16="http://schemas.microsoft.com/office/drawing/2014/main" id="{959E3CB3-0120-EE4C-9F65-D9FD67E82F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82856" y="2506744"/>
              <a:ext cx="0" cy="22860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47" name="Line 19">
              <a:extLst>
                <a:ext uri="{FF2B5EF4-FFF2-40B4-BE49-F238E27FC236}">
                  <a16:creationId xmlns:a16="http://schemas.microsoft.com/office/drawing/2014/main" id="{5795B520-6AA2-074B-AB35-648CD390C9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06851" y="2516522"/>
              <a:ext cx="0" cy="30480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48" name="Line 20">
              <a:extLst>
                <a:ext uri="{FF2B5EF4-FFF2-40B4-BE49-F238E27FC236}">
                  <a16:creationId xmlns:a16="http://schemas.microsoft.com/office/drawing/2014/main" id="{F5BC3BB1-9633-1D42-9E96-1CC2A7D462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150977" y="1858796"/>
              <a:ext cx="569954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49" name="Line 21">
              <a:extLst>
                <a:ext uri="{FF2B5EF4-FFF2-40B4-BE49-F238E27FC236}">
                  <a16:creationId xmlns:a16="http://schemas.microsoft.com/office/drawing/2014/main" id="{B49BB511-3806-AC4E-B27B-8D6DD56081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33669" y="1789325"/>
              <a:ext cx="749382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50" name="Line 22">
              <a:extLst>
                <a:ext uri="{FF2B5EF4-FFF2-40B4-BE49-F238E27FC236}">
                  <a16:creationId xmlns:a16="http://schemas.microsoft.com/office/drawing/2014/main" id="{E53C7A15-3C5D-2C45-80BF-0B7DBF7FDC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35052" y="2006180"/>
              <a:ext cx="152400" cy="30480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51" name="Line 23">
              <a:extLst>
                <a:ext uri="{FF2B5EF4-FFF2-40B4-BE49-F238E27FC236}">
                  <a16:creationId xmlns:a16="http://schemas.microsoft.com/office/drawing/2014/main" id="{F96343AB-86D4-424E-A455-946E56BF50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504864" y="1356810"/>
              <a:ext cx="382588" cy="400764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52" name="Line 24">
              <a:extLst>
                <a:ext uri="{FF2B5EF4-FFF2-40B4-BE49-F238E27FC236}">
                  <a16:creationId xmlns:a16="http://schemas.microsoft.com/office/drawing/2014/main" id="{21F37D1A-EED2-CF49-80D3-A232BD46BD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30252" y="2571330"/>
              <a:ext cx="152400" cy="32385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53" name="Line 25">
              <a:extLst>
                <a:ext uri="{FF2B5EF4-FFF2-40B4-BE49-F238E27FC236}">
                  <a16:creationId xmlns:a16="http://schemas.microsoft.com/office/drawing/2014/main" id="{DA283447-1986-864D-AF89-E49FF6FE02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5052" y="2571330"/>
              <a:ext cx="76200" cy="32385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54" name="Line 26">
              <a:extLst>
                <a:ext uri="{FF2B5EF4-FFF2-40B4-BE49-F238E27FC236}">
                  <a16:creationId xmlns:a16="http://schemas.microsoft.com/office/drawing/2014/main" id="{2D9423A2-36DE-3C4E-9FFC-46CE57FD53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06851" y="1983122"/>
              <a:ext cx="152400" cy="22860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55" name="Line 27">
              <a:extLst>
                <a:ext uri="{FF2B5EF4-FFF2-40B4-BE49-F238E27FC236}">
                  <a16:creationId xmlns:a16="http://schemas.microsoft.com/office/drawing/2014/main" id="{110350C0-5FA3-C84E-9AC1-1CA11D3F97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33864" y="1356810"/>
              <a:ext cx="414338" cy="387433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56" name="Line 28">
              <a:extLst>
                <a:ext uri="{FF2B5EF4-FFF2-40B4-BE49-F238E27FC236}">
                  <a16:creationId xmlns:a16="http://schemas.microsoft.com/office/drawing/2014/main" id="{F0F50A99-98C1-404B-892D-8046B284D1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41814" y="1906922"/>
              <a:ext cx="360363" cy="30480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22479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Representation of unrooted trees (edge list)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834779" cy="5282749"/>
          </a:xfrm>
        </p:spPr>
        <p:txBody>
          <a:bodyPr anchor="ctr" anchorCtr="0">
            <a:normAutofit/>
          </a:bodyPr>
          <a:lstStyle/>
          <a:p>
            <a:r>
              <a:rPr lang="en" altLang="en-US" dirty="0">
                <a:latin typeface="Aptos Display" panose="020B0004020202020204" pitchFamily="34" charset="0"/>
              </a:rPr>
              <a:t>Edge </a:t>
            </a:r>
            <a:r>
              <a:rPr lang="en-US" altLang="zh-CN" dirty="0">
                <a:latin typeface="Aptos Display" panose="020B0004020202020204" pitchFamily="34" charset="0"/>
              </a:rPr>
              <a:t>list</a:t>
            </a:r>
            <a:r>
              <a:rPr lang="en" altLang="en-US" dirty="0">
                <a:latin typeface="Aptos Display" panose="020B0004020202020204" pitchFamily="34" charset="0"/>
              </a:rPr>
              <a:t> representation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marL="0" indent="0"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struct Edge{</a:t>
            </a:r>
          </a:p>
          <a:p>
            <a:pPr marL="0" indent="0">
              <a:buNone/>
            </a:pP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u,v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}e[N];</a:t>
            </a:r>
          </a:p>
          <a:p>
            <a:pPr marL="0" indent="0">
              <a:buNone/>
            </a:pPr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" altLang="en-US" dirty="0">
                <a:latin typeface="Aptos Display" panose="020B0004020202020204" pitchFamily="34" charset="0"/>
              </a:rPr>
              <a:t>Th</a:t>
            </a:r>
            <a:r>
              <a:rPr lang="en-US" altLang="zh-CN" dirty="0">
                <a:latin typeface="Aptos Display" panose="020B0004020202020204" pitchFamily="34" charset="0"/>
              </a:rPr>
              <a:t>is</a:t>
            </a:r>
            <a:r>
              <a:rPr lang="en" altLang="en-US" dirty="0">
                <a:latin typeface="Aptos Display" panose="020B0004020202020204" pitchFamily="34" charset="0"/>
              </a:rPr>
              <a:t> representation simple; all the edges represent all the information of the unrooted tree.</a:t>
            </a:r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" altLang="en-US" dirty="0">
                <a:latin typeface="Aptos Display" panose="020B0004020202020204" pitchFamily="34" charset="0"/>
              </a:rPr>
              <a:t>However, this representation method is inefficient.</a:t>
            </a:r>
            <a:endParaRPr lang="en-US" altLang="zh-CN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3273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Representation of unrooted tree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s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 (Li</a:t>
            </a:r>
            <a:r>
              <a:rPr lang="en-US" altLang="zh-CN" dirty="0" err="1">
                <a:solidFill>
                  <a:schemeClr val="bg1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nked</a:t>
            </a:r>
            <a:r>
              <a:rPr lang="zh-CN" altLang="en-US" dirty="0">
                <a:solidFill>
                  <a:schemeClr val="bg1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forward star)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834779" cy="5282749"/>
          </a:xfrm>
        </p:spPr>
        <p:txBody>
          <a:bodyPr anchor="ctr" anchorCtr="0">
            <a:normAutofit/>
          </a:bodyPr>
          <a:lstStyle/>
          <a:p>
            <a:r>
              <a:rPr lang="en" altLang="en-US" dirty="0">
                <a:latin typeface="Aptos Display" panose="020B0004020202020204" pitchFamily="34" charset="0"/>
                <a:cs typeface="Consolas" panose="020B0609020204030204" pitchFamily="49" charset="0"/>
              </a:rPr>
              <a:t>Chain forward star</a:t>
            </a:r>
            <a:endParaRPr lang="en-US" altLang="zh-CN" dirty="0">
              <a:latin typeface="Aptos Display" panose="020B0004020202020204" pitchFamily="34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struct Edge{ 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add_edge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(int u,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int v){</a:t>
            </a:r>
          </a:p>
          <a:p>
            <a:pPr marL="0" indent="0">
              <a:buNone/>
            </a:pP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int v, next; 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++tot;</a:t>
            </a:r>
          </a:p>
          <a:p>
            <a:pPr marL="0" indent="0"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}e[N*2]; 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e[tot].v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v;</a:t>
            </a:r>
          </a:p>
          <a:p>
            <a:pPr marL="0" indent="0"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int head[N],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tot=0; 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e[tot].next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head[u];</a:t>
            </a:r>
          </a:p>
          <a:p>
            <a:pPr marL="0" indent="0">
              <a:buNone/>
            </a:pP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      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head[u] = tot;</a:t>
            </a:r>
          </a:p>
          <a:p>
            <a:pPr marL="0" indent="0">
              <a:buNone/>
            </a:pP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  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en-US" dirty="0">
                <a:latin typeface="Aptos Display" panose="020B0004020202020204" pitchFamily="34" charset="0"/>
                <a:cs typeface="Consolas" panose="020B0609020204030204" pitchFamily="49" charset="0"/>
              </a:rPr>
              <a:t>Complex in structure, but highly efficient.</a:t>
            </a:r>
            <a:endParaRPr lang="en-US" altLang="zh-CN" dirty="0">
              <a:latin typeface="Aptos Display" panose="020B0004020202020204" pitchFamily="34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7282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C</a:t>
            </a:r>
            <a:r>
              <a:rPr lang="en-US" altLang="zh-CN" dirty="0" err="1">
                <a:solidFill>
                  <a:schemeClr val="bg1"/>
                </a:solidFill>
                <a:latin typeface="Aptos Display" panose="020B0004020202020204" pitchFamily="34" charset="0"/>
              </a:rPr>
              <a:t>onverting</a:t>
            </a:r>
            <a:r>
              <a:rPr lang="zh-C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un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Root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ed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tree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s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to rooted tree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s</a:t>
            </a:r>
            <a:endParaRPr lang="en" altLang="en-US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598988" cy="5282749"/>
          </a:xfrm>
        </p:spPr>
        <p:txBody>
          <a:bodyPr anchor="t" anchorCtr="0">
            <a:normAutofit/>
          </a:bodyPr>
          <a:lstStyle/>
          <a:p>
            <a:r>
              <a:rPr lang="en" altLang="en-US" dirty="0">
                <a:latin typeface="Aptos Display" panose="020B0004020202020204" pitchFamily="34" charset="0"/>
              </a:rPr>
              <a:t>Using edge table represent</a:t>
            </a:r>
            <a:r>
              <a:rPr lang="en-US" altLang="zh-CN" dirty="0" err="1">
                <a:latin typeface="Aptos Display" panose="020B0004020202020204" pitchFamily="34" charset="0"/>
              </a:rPr>
              <a:t>ation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marL="0" indent="0">
              <a:buNone/>
            </a:pP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set_parent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(int id, int fid){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fa[id] = fid;</a:t>
            </a:r>
          </a:p>
          <a:p>
            <a:pPr marL="0" indent="0">
              <a:buNone/>
            </a:pP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   for (int 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1; 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n; ++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){</a:t>
            </a:r>
          </a:p>
          <a:p>
            <a:pPr marL="0" indent="0">
              <a:buNone/>
            </a:pP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u=e[</a:t>
            </a:r>
            <a:r>
              <a:rPr lang="en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].u, v=e[</a:t>
            </a:r>
            <a:r>
              <a:rPr lang="en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].v;</a:t>
            </a:r>
          </a:p>
          <a:p>
            <a:pPr marL="0" indent="0">
              <a:buNone/>
            </a:pP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      if (u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==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id &amp;&amp; v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!=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fid) </a:t>
            </a:r>
            <a:r>
              <a:rPr lang="en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set_parent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(v, id);</a:t>
            </a:r>
          </a:p>
          <a:p>
            <a:pPr marL="0" indent="0">
              <a:buNone/>
            </a:pP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      else if (v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==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id &amp;&amp; u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!=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fid) </a:t>
            </a:r>
            <a:r>
              <a:rPr lang="en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set_parent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(u, id);</a:t>
            </a:r>
          </a:p>
          <a:p>
            <a:pPr marL="0" indent="0">
              <a:buNone/>
            </a:pP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6DD27C8-E9E2-524A-93C5-EE8E7E2E3205}"/>
              </a:ext>
            </a:extLst>
          </p:cNvPr>
          <p:cNvSpPr txBox="1">
            <a:spLocks/>
          </p:cNvSpPr>
          <p:nvPr/>
        </p:nvSpPr>
        <p:spPr>
          <a:xfrm>
            <a:off x="7940842" y="1798930"/>
            <a:ext cx="4227095" cy="205117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root, fa[N];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root = ...;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set_parent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(root, 0);</a:t>
            </a:r>
          </a:p>
        </p:txBody>
      </p:sp>
    </p:spTree>
    <p:extLst>
      <p:ext uri="{BB962C8B-B14F-4D97-AF65-F5344CB8AC3E}">
        <p14:creationId xmlns:p14="http://schemas.microsoft.com/office/powerpoint/2010/main" val="28909656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C</a:t>
            </a:r>
            <a:r>
              <a:rPr lang="en-US" altLang="zh-CN" dirty="0" err="1">
                <a:solidFill>
                  <a:schemeClr val="bg1"/>
                </a:solidFill>
                <a:latin typeface="Aptos Display" panose="020B0004020202020204" pitchFamily="34" charset="0"/>
              </a:rPr>
              <a:t>onverting</a:t>
            </a:r>
            <a:r>
              <a:rPr lang="zh-C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un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Root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ed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tree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s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to rooted tree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s</a:t>
            </a:r>
            <a:endParaRPr lang="en" altLang="en-US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834779" cy="5282749"/>
          </a:xfrm>
        </p:spPr>
        <p:txBody>
          <a:bodyPr anchor="t" anchorCtr="0">
            <a:normAutofit/>
          </a:bodyPr>
          <a:lstStyle/>
          <a:p>
            <a:r>
              <a:rPr lang="en-US" altLang="zh-CN" dirty="0">
                <a:latin typeface="Aptos Display" panose="020B0004020202020204" pitchFamily="34" charset="0"/>
              </a:rPr>
              <a:t>Using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linked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forward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start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representation</a:t>
            </a:r>
          </a:p>
          <a:p>
            <a:pPr marL="0" indent="0">
              <a:buNone/>
            </a:pP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set_parent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(int id,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int fid){</a:t>
            </a:r>
          </a:p>
          <a:p>
            <a:pPr marL="0" indent="0">
              <a:buNone/>
            </a:pP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   fa[id]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fid;</a:t>
            </a:r>
          </a:p>
          <a:p>
            <a:pPr marL="0" indent="0">
              <a:buNone/>
            </a:pP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   for (int 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head[id]; </a:t>
            </a:r>
            <a:r>
              <a:rPr lang="en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e[</a:t>
            </a:r>
            <a:r>
              <a:rPr lang="en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].next)</a:t>
            </a:r>
          </a:p>
          <a:p>
            <a:pPr marL="0" indent="0">
              <a:buNone/>
            </a:pP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  if (</a:t>
            </a:r>
            <a:r>
              <a:rPr lang="en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i.v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!= fid)</a:t>
            </a:r>
          </a:p>
          <a:p>
            <a:pPr marL="0" indent="0">
              <a:buNone/>
            </a:pP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set_parent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i.v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, id);</a:t>
            </a:r>
          </a:p>
          <a:p>
            <a:pPr marL="0" indent="0">
              <a:buNone/>
            </a:pP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16733369-6694-3445-A44F-B084653AAC3C}"/>
              </a:ext>
            </a:extLst>
          </p:cNvPr>
          <p:cNvSpPr txBox="1">
            <a:spLocks/>
          </p:cNvSpPr>
          <p:nvPr/>
        </p:nvSpPr>
        <p:spPr>
          <a:xfrm>
            <a:off x="7940842" y="1798930"/>
            <a:ext cx="4227095" cy="205117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root, fa[N];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root = ...;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set_parent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(root, 0);</a:t>
            </a:r>
          </a:p>
        </p:txBody>
      </p:sp>
    </p:spTree>
    <p:extLst>
      <p:ext uri="{BB962C8B-B14F-4D97-AF65-F5344CB8AC3E}">
        <p14:creationId xmlns:p14="http://schemas.microsoft.com/office/powerpoint/2010/main" val="1298119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Binary tree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s</a:t>
            </a:r>
            <a:endParaRPr lang="en" altLang="en-US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</p:spPr>
            <p:txBody>
              <a:bodyPr anchor="ctr" anchorCtr="0">
                <a:normAutofit/>
              </a:bodyPr>
              <a:lstStyle/>
              <a:p>
                <a:r>
                  <a:rPr lang="en" altLang="en-US" dirty="0">
                    <a:latin typeface="Aptos Display" panose="020B0004020202020204" pitchFamily="34" charset="0"/>
                    <a:sym typeface="Wingdings" pitchFamily="2" charset="2"/>
                  </a:rPr>
                  <a:t>A binary tree is tree whose degree does not exceed 2.</a:t>
                </a:r>
              </a:p>
              <a:p>
                <a:r>
                  <a:rPr lang="en-US" altLang="zh-CN" dirty="0">
                    <a:latin typeface="Aptos Display" panose="020B0004020202020204" pitchFamily="34" charset="0"/>
                  </a:rPr>
                  <a:t>Characteristics</a:t>
                </a:r>
                <a:r>
                  <a:rPr lang="en" altLang="en-US" dirty="0">
                    <a:latin typeface="Aptos Display" panose="020B0004020202020204" pitchFamily="34" charset="0"/>
                  </a:rPr>
                  <a:t> of binary trees</a:t>
                </a:r>
                <a:r>
                  <a:rPr lang="en" altLang="en-US" dirty="0">
                    <a:latin typeface="Aptos Display" panose="020B0004020202020204" pitchFamily="34" charset="0"/>
                    <a:sym typeface="Wingdings" pitchFamily="2" charset="2"/>
                  </a:rPr>
                  <a:t>:</a:t>
                </a:r>
                <a:r>
                  <a:rPr lang="en" altLang="zh-CN" dirty="0">
                    <a:latin typeface="Aptos Display" panose="020B0004020202020204" pitchFamily="34" charset="0"/>
                    <a:sym typeface="Wingdings" pitchFamily="2" charset="2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  <a:sym typeface="Wingdings" pitchFamily="2" charset="2"/>
                  </a:rPr>
                  <a:t>The maximum number of nodes in the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𝑖</m:t>
                    </m:r>
                  </m:oMath>
                </a14:m>
                <a:r>
                  <a:rPr lang="en-US" altLang="zh-CN" dirty="0">
                    <a:latin typeface="Aptos Display" panose="020B0004020202020204" pitchFamily="34" charset="0"/>
                    <a:sym typeface="Wingdings" pitchFamily="2" charset="2"/>
                  </a:rPr>
                  <a:t>-</a:t>
                </a:r>
                <a:r>
                  <a:rPr lang="en-US" altLang="zh-CN" dirty="0" err="1">
                    <a:latin typeface="Aptos Display" panose="020B0004020202020204" pitchFamily="34" charset="0"/>
                    <a:sym typeface="Wingdings" pitchFamily="2" charset="2"/>
                  </a:rPr>
                  <a:t>th</a:t>
                </a:r>
                <a:r>
                  <a:rPr lang="zh-CN" altLang="en-US" dirty="0">
                    <a:latin typeface="Aptos Display" panose="020B0004020202020204" pitchFamily="34" charset="0"/>
                    <a:sym typeface="Wingdings" pitchFamily="2" charset="2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  <a:sym typeface="Wingdings" pitchFamily="2" charset="2"/>
                  </a:rPr>
                  <a:t>layer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0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lang="en-US" altLang="zh-CN" b="0" i="0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i</m:t>
                        </m:r>
                        <m:r>
                          <a:rPr lang="en-US" altLang="zh-CN" b="0" i="0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zh-CN" dirty="0">
                    <a:latin typeface="Aptos Display" panose="020B0004020202020204" pitchFamily="34" charset="0"/>
                  </a:rPr>
                  <a:t>.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The maximum number of nodes in a binary tree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with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height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  <a:sym typeface="Wingdings" pitchFamily="2" charset="2"/>
                      </a:rPr>
                      <m:t>k</m:t>
                    </m:r>
                  </m:oMath>
                </a14:m>
                <a:r>
                  <a:rPr lang="en" altLang="zh-CN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is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0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lang="en-US" altLang="zh-CN" b="0" i="0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k</m:t>
                        </m:r>
                      </m:sup>
                    </m:sSup>
                    <m:r>
                      <a:rPr lang="en-US" altLang="zh-CN" b="0" i="0" smtClean="0">
                        <a:latin typeface="Cambria Math" panose="02040503050406030204" pitchFamily="18" charset="0"/>
                        <a:sym typeface="Wingdings" pitchFamily="2" charset="2"/>
                      </a:rPr>
                      <m:t>−1</m:t>
                    </m:r>
                  </m:oMath>
                </a14:m>
                <a:r>
                  <a:rPr lang="en-US" altLang="zh-CN" dirty="0">
                    <a:latin typeface="Aptos Display" panose="020B0004020202020204" pitchFamily="34" charset="0"/>
                    <a:sym typeface="Symbol" pitchFamily="2" charset="2"/>
                  </a:rPr>
                  <a:t>.</a:t>
                </a:r>
              </a:p>
              <a:p>
                <a:endParaRPr lang="en-US" altLang="zh-CN" dirty="0">
                  <a:latin typeface="Aptos Display" panose="020B0004020202020204" pitchFamily="34" charset="0"/>
                </a:endParaRPr>
              </a:p>
              <a:p>
                <a:endParaRPr lang="en-US" altLang="zh-CN" dirty="0">
                  <a:latin typeface="Aptos Display" panose="020B0004020202020204" pitchFamily="34" charset="0"/>
                </a:endParaRPr>
              </a:p>
              <a:p>
                <a:endParaRPr lang="en-US" altLang="zh-CN" dirty="0">
                  <a:latin typeface="Aptos Display" panose="020B0004020202020204" pitchFamily="34" charset="0"/>
                </a:endParaRPr>
              </a:p>
              <a:p>
                <a:endParaRPr lang="en-US" altLang="zh-CN" dirty="0">
                  <a:latin typeface="Aptos Display" panose="020B0004020202020204" pitchFamily="34" charset="0"/>
                </a:endParaRPr>
              </a:p>
              <a:p>
                <a:endParaRPr lang="en-US" altLang="zh-CN" dirty="0">
                  <a:latin typeface="Aptos Display" panose="020B0004020202020204" pitchFamily="34" charset="0"/>
                </a:endParaRPr>
              </a:p>
              <a:p>
                <a:endParaRPr lang="en-US" altLang="zh-CN" dirty="0">
                  <a:latin typeface="Aptos Display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  <a:blipFill>
                <a:blip r:embed="rId3"/>
                <a:stretch>
                  <a:fillRect l="-1224" r="-61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3">
            <a:extLst>
              <a:ext uri="{FF2B5EF4-FFF2-40B4-BE49-F238E27FC236}">
                <a16:creationId xmlns:a16="http://schemas.microsoft.com/office/drawing/2014/main" id="{054232EB-746F-5643-A080-5D2D2926CCAE}"/>
              </a:ext>
            </a:extLst>
          </p:cNvPr>
          <p:cNvGrpSpPr>
            <a:grpSpLocks/>
          </p:cNvGrpSpPr>
          <p:nvPr/>
        </p:nvGrpSpPr>
        <p:grpSpPr bwMode="auto">
          <a:xfrm>
            <a:off x="1272925" y="3429000"/>
            <a:ext cx="8229600" cy="2819400"/>
            <a:chOff x="175" y="572"/>
            <a:chExt cx="5184" cy="1776"/>
          </a:xfrm>
        </p:grpSpPr>
        <p:sp>
          <p:nvSpPr>
            <p:cNvPr id="6" name="Text Box 5">
              <a:extLst>
                <a:ext uri="{FF2B5EF4-FFF2-40B4-BE49-F238E27FC236}">
                  <a16:creationId xmlns:a16="http://schemas.microsoft.com/office/drawing/2014/main" id="{ABD21B9F-EFB6-874D-A5F5-C96E14BF91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3" y="572"/>
              <a:ext cx="1824" cy="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dirty="0">
                  <a:solidFill>
                    <a:schemeClr val="bg1"/>
                  </a:solidFill>
                  <a:latin typeface="Aptos Display" panose="020B0004020202020204" pitchFamily="34" charset="0"/>
                </a:rPr>
                <a:t>S</a:t>
              </a:r>
              <a:r>
                <a:rPr lang="en" altLang="en-US" sz="2000" dirty="0" err="1">
                  <a:solidFill>
                    <a:schemeClr val="bg1"/>
                  </a:solidFill>
                  <a:latin typeface="Aptos Display" panose="020B0004020202020204" pitchFamily="34" charset="0"/>
                </a:rPr>
                <a:t>kewed</a:t>
              </a:r>
              <a:r>
                <a:rPr lang="en" altLang="en-US" sz="2000" dirty="0">
                  <a:solidFill>
                    <a:schemeClr val="bg1"/>
                  </a:solidFill>
                  <a:latin typeface="Aptos Display" panose="020B0004020202020204" pitchFamily="34" charset="0"/>
                </a:rPr>
                <a:t> binary tree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748993A-A142-FC45-B011-F327004884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1" y="908"/>
              <a:ext cx="1056" cy="1200"/>
              <a:chOff x="240" y="624"/>
              <a:chExt cx="1056" cy="1200"/>
            </a:xfrm>
          </p:grpSpPr>
          <p:sp>
            <p:nvSpPr>
              <p:cNvPr id="37" name="Oval 7">
                <a:extLst>
                  <a:ext uri="{FF2B5EF4-FFF2-40B4-BE49-F238E27FC236}">
                    <a16:creationId xmlns:a16="http://schemas.microsoft.com/office/drawing/2014/main" id="{9C562E44-BE0F-094B-B69C-852319B8E2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4" y="624"/>
                <a:ext cx="192" cy="192"/>
              </a:xfrm>
              <a:prstGeom prst="ellips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" altLang="zh-CN" sz="2000">
                    <a:solidFill>
                      <a:schemeClr val="bg1"/>
                    </a:solidFill>
                    <a:latin typeface="Aptos Display" panose="020B0004020202020204" pitchFamily="34" charset="0"/>
                  </a:rPr>
                  <a:t>A</a:t>
                </a:r>
              </a:p>
            </p:txBody>
          </p:sp>
          <p:sp>
            <p:nvSpPr>
              <p:cNvPr id="38" name="Oval 8">
                <a:extLst>
                  <a:ext uri="{FF2B5EF4-FFF2-40B4-BE49-F238E27FC236}">
                    <a16:creationId xmlns:a16="http://schemas.microsoft.com/office/drawing/2014/main" id="{21786A88-F0F0-F145-9F6E-6EF4B3A06E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6" y="960"/>
                <a:ext cx="192" cy="192"/>
              </a:xfrm>
              <a:prstGeom prst="ellips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" altLang="zh-CN" sz="2000" dirty="0">
                    <a:solidFill>
                      <a:schemeClr val="bg1"/>
                    </a:solidFill>
                    <a:latin typeface="Aptos Display" panose="020B0004020202020204" pitchFamily="34" charset="0"/>
                  </a:rPr>
                  <a:t>B</a:t>
                </a:r>
              </a:p>
            </p:txBody>
          </p:sp>
          <p:sp>
            <p:nvSpPr>
              <p:cNvPr id="39" name="Line 9">
                <a:extLst>
                  <a:ext uri="{FF2B5EF4-FFF2-40B4-BE49-F238E27FC236}">
                    <a16:creationId xmlns:a16="http://schemas.microsoft.com/office/drawing/2014/main" id="{8E2E9BF5-E331-F44E-B345-3356987849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38" y="790"/>
                <a:ext cx="192" cy="192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  <a:latin typeface="Aptos Display" panose="020B0004020202020204" pitchFamily="34" charset="0"/>
                </a:endParaRPr>
              </a:p>
            </p:txBody>
          </p:sp>
          <p:sp>
            <p:nvSpPr>
              <p:cNvPr id="40" name="Oval 10">
                <a:extLst>
                  <a:ext uri="{FF2B5EF4-FFF2-40B4-BE49-F238E27FC236}">
                    <a16:creationId xmlns:a16="http://schemas.microsoft.com/office/drawing/2014/main" id="{DA26DDA9-DCF3-884E-AD30-4E68B3595E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" y="1296"/>
                <a:ext cx="192" cy="192"/>
              </a:xfrm>
              <a:prstGeom prst="ellips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" altLang="zh-CN" sz="2000">
                    <a:solidFill>
                      <a:schemeClr val="bg1"/>
                    </a:solidFill>
                    <a:latin typeface="Aptos Display" panose="020B0004020202020204" pitchFamily="34" charset="0"/>
                  </a:rPr>
                  <a:t>C</a:t>
                </a:r>
              </a:p>
            </p:txBody>
          </p:sp>
          <p:sp>
            <p:nvSpPr>
              <p:cNvPr id="41" name="Line 11">
                <a:extLst>
                  <a:ext uri="{FF2B5EF4-FFF2-40B4-BE49-F238E27FC236}">
                    <a16:creationId xmlns:a16="http://schemas.microsoft.com/office/drawing/2014/main" id="{F66AC0D0-4B7D-0C40-8751-1574F41814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50" y="1126"/>
                <a:ext cx="192" cy="192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  <a:latin typeface="Aptos Display" panose="020B0004020202020204" pitchFamily="34" charset="0"/>
                </a:endParaRPr>
              </a:p>
            </p:txBody>
          </p:sp>
          <p:sp>
            <p:nvSpPr>
              <p:cNvPr id="42" name="Oval 12">
                <a:extLst>
                  <a:ext uri="{FF2B5EF4-FFF2-40B4-BE49-F238E27FC236}">
                    <a16:creationId xmlns:a16="http://schemas.microsoft.com/office/drawing/2014/main" id="{4F8BA148-F210-8A46-AB55-B7666B9BB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" y="1632"/>
                <a:ext cx="192" cy="192"/>
              </a:xfrm>
              <a:prstGeom prst="ellips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" altLang="zh-CN" sz="2000">
                    <a:solidFill>
                      <a:schemeClr val="bg1"/>
                    </a:solidFill>
                    <a:latin typeface="Aptos Display" panose="020B0004020202020204" pitchFamily="34" charset="0"/>
                  </a:rPr>
                  <a:t>D</a:t>
                </a:r>
              </a:p>
            </p:txBody>
          </p:sp>
          <p:sp>
            <p:nvSpPr>
              <p:cNvPr id="43" name="Line 13">
                <a:extLst>
                  <a:ext uri="{FF2B5EF4-FFF2-40B4-BE49-F238E27FC236}">
                    <a16:creationId xmlns:a16="http://schemas.microsoft.com/office/drawing/2014/main" id="{856FE235-DA96-E146-8911-68FB6703FB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2" y="1462"/>
                <a:ext cx="192" cy="192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  <a:latin typeface="Aptos Display" panose="020B0004020202020204" pitchFamily="34" charset="0"/>
                </a:endParaRPr>
              </a:p>
            </p:txBody>
          </p:sp>
        </p:grpSp>
        <p:grpSp>
          <p:nvGrpSpPr>
            <p:cNvPr id="8" name="Group 14">
              <a:extLst>
                <a:ext uri="{FF2B5EF4-FFF2-40B4-BE49-F238E27FC236}">
                  <a16:creationId xmlns:a16="http://schemas.microsoft.com/office/drawing/2014/main" id="{CA8C94E1-9877-E444-93DE-E252EFE2F6BE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1711" y="908"/>
              <a:ext cx="1056" cy="1200"/>
              <a:chOff x="240" y="624"/>
              <a:chExt cx="1056" cy="1200"/>
            </a:xfrm>
          </p:grpSpPr>
          <p:sp>
            <p:nvSpPr>
              <p:cNvPr id="30" name="Oval 15">
                <a:extLst>
                  <a:ext uri="{FF2B5EF4-FFF2-40B4-BE49-F238E27FC236}">
                    <a16:creationId xmlns:a16="http://schemas.microsoft.com/office/drawing/2014/main" id="{D84D8FC8-791C-B543-849F-BC4A84EA09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4" y="624"/>
                <a:ext cx="192" cy="192"/>
              </a:xfrm>
              <a:prstGeom prst="ellips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" altLang="zh-CN" sz="2000">
                    <a:solidFill>
                      <a:schemeClr val="bg1"/>
                    </a:solidFill>
                    <a:latin typeface="Aptos Display" panose="020B0004020202020204" pitchFamily="34" charset="0"/>
                  </a:rPr>
                  <a:t>A</a:t>
                </a:r>
              </a:p>
            </p:txBody>
          </p:sp>
          <p:sp>
            <p:nvSpPr>
              <p:cNvPr id="31" name="Oval 16">
                <a:extLst>
                  <a:ext uri="{FF2B5EF4-FFF2-40B4-BE49-F238E27FC236}">
                    <a16:creationId xmlns:a16="http://schemas.microsoft.com/office/drawing/2014/main" id="{BAF0F400-5ABA-7C4C-ADD2-C5E84C96EE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6" y="960"/>
                <a:ext cx="192" cy="192"/>
              </a:xfrm>
              <a:prstGeom prst="ellips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" altLang="zh-CN" sz="2000">
                    <a:solidFill>
                      <a:schemeClr val="bg1"/>
                    </a:solidFill>
                    <a:latin typeface="Aptos Display" panose="020B0004020202020204" pitchFamily="34" charset="0"/>
                  </a:rPr>
                  <a:t>B</a:t>
                </a:r>
              </a:p>
            </p:txBody>
          </p:sp>
          <p:sp>
            <p:nvSpPr>
              <p:cNvPr id="32" name="Line 17">
                <a:extLst>
                  <a:ext uri="{FF2B5EF4-FFF2-40B4-BE49-F238E27FC236}">
                    <a16:creationId xmlns:a16="http://schemas.microsoft.com/office/drawing/2014/main" id="{C70E7608-E208-F242-8B17-0242D08F5D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38" y="790"/>
                <a:ext cx="192" cy="192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  <a:latin typeface="Aptos Display" panose="020B0004020202020204" pitchFamily="34" charset="0"/>
                </a:endParaRPr>
              </a:p>
            </p:txBody>
          </p:sp>
          <p:sp>
            <p:nvSpPr>
              <p:cNvPr id="33" name="Oval 18">
                <a:extLst>
                  <a:ext uri="{FF2B5EF4-FFF2-40B4-BE49-F238E27FC236}">
                    <a16:creationId xmlns:a16="http://schemas.microsoft.com/office/drawing/2014/main" id="{3DF77CD3-F921-F442-9FF3-BA4DA6C050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" y="1296"/>
                <a:ext cx="192" cy="192"/>
              </a:xfrm>
              <a:prstGeom prst="ellips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" altLang="zh-CN" sz="2000">
                    <a:solidFill>
                      <a:schemeClr val="bg1"/>
                    </a:solidFill>
                    <a:latin typeface="Aptos Display" panose="020B0004020202020204" pitchFamily="34" charset="0"/>
                  </a:rPr>
                  <a:t>C</a:t>
                </a:r>
              </a:p>
            </p:txBody>
          </p:sp>
          <p:sp>
            <p:nvSpPr>
              <p:cNvPr id="34" name="Line 19">
                <a:extLst>
                  <a:ext uri="{FF2B5EF4-FFF2-40B4-BE49-F238E27FC236}">
                    <a16:creationId xmlns:a16="http://schemas.microsoft.com/office/drawing/2014/main" id="{F3B333FB-C20C-2847-BA28-FF5BB791AC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50" y="1126"/>
                <a:ext cx="192" cy="192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  <a:latin typeface="Aptos Display" panose="020B0004020202020204" pitchFamily="34" charset="0"/>
                </a:endParaRPr>
              </a:p>
            </p:txBody>
          </p:sp>
          <p:sp>
            <p:nvSpPr>
              <p:cNvPr id="35" name="Oval 20">
                <a:extLst>
                  <a:ext uri="{FF2B5EF4-FFF2-40B4-BE49-F238E27FC236}">
                    <a16:creationId xmlns:a16="http://schemas.microsoft.com/office/drawing/2014/main" id="{CB79BFBA-A3D6-CD4B-8E75-B631AE6BED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" y="1632"/>
                <a:ext cx="192" cy="192"/>
              </a:xfrm>
              <a:prstGeom prst="ellips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" altLang="zh-CN" sz="2000">
                    <a:solidFill>
                      <a:schemeClr val="bg1"/>
                    </a:solidFill>
                    <a:latin typeface="Aptos Display" panose="020B0004020202020204" pitchFamily="34" charset="0"/>
                  </a:rPr>
                  <a:t>D</a:t>
                </a:r>
              </a:p>
            </p:txBody>
          </p:sp>
          <p:sp>
            <p:nvSpPr>
              <p:cNvPr id="36" name="Line 21">
                <a:extLst>
                  <a:ext uri="{FF2B5EF4-FFF2-40B4-BE49-F238E27FC236}">
                    <a16:creationId xmlns:a16="http://schemas.microsoft.com/office/drawing/2014/main" id="{9297A22B-CD81-1B43-A327-0350193FE7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2" y="1462"/>
                <a:ext cx="192" cy="192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  <a:latin typeface="Aptos Display" panose="020B0004020202020204" pitchFamily="34" charset="0"/>
                </a:endParaRPr>
              </a:p>
            </p:txBody>
          </p:sp>
        </p:grpSp>
        <p:sp>
          <p:nvSpPr>
            <p:cNvPr id="9" name="Rectangle 22">
              <a:extLst>
                <a:ext uri="{FF2B5EF4-FFF2-40B4-BE49-F238E27FC236}">
                  <a16:creationId xmlns:a16="http://schemas.microsoft.com/office/drawing/2014/main" id="{47DCFF09-4612-184D-9785-A1D29871D9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" y="2156"/>
              <a:ext cx="1344" cy="19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en-US" sz="2000" dirty="0">
                  <a:solidFill>
                    <a:schemeClr val="bg1"/>
                  </a:solidFill>
                  <a:latin typeface="Aptos Display" panose="020B0004020202020204" pitchFamily="34" charset="0"/>
                </a:rPr>
                <a:t>Left </a:t>
              </a:r>
              <a:r>
                <a:rPr lang="en" altLang="en-US" sz="2000" dirty="0" err="1">
                  <a:solidFill>
                    <a:schemeClr val="bg1"/>
                  </a:solidFill>
                  <a:latin typeface="Aptos Display" panose="020B0004020202020204" pitchFamily="34" charset="0"/>
                </a:rPr>
                <a:t>sk</a:t>
              </a:r>
              <a:r>
                <a:rPr lang="en-US" altLang="zh-CN" sz="2000" dirty="0" err="1">
                  <a:solidFill>
                    <a:schemeClr val="bg1"/>
                  </a:solidFill>
                  <a:latin typeface="Aptos Display" panose="020B0004020202020204" pitchFamily="34" charset="0"/>
                </a:rPr>
                <a:t>ewed</a:t>
              </a:r>
              <a:endParaRPr lang="en" altLang="en-US" sz="2000" dirty="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0" name="Rectangle 23">
              <a:extLst>
                <a:ext uri="{FF2B5EF4-FFF2-40B4-BE49-F238E27FC236}">
                  <a16:creationId xmlns:a16="http://schemas.microsoft.com/office/drawing/2014/main" id="{D3AAF3A6-02D5-F042-8D69-E41682002D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5" y="2156"/>
              <a:ext cx="1344" cy="19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en-US" sz="2000" dirty="0">
                  <a:solidFill>
                    <a:schemeClr val="bg1"/>
                  </a:solidFill>
                  <a:latin typeface="Aptos Display" panose="020B0004020202020204" pitchFamily="34" charset="0"/>
                </a:rPr>
                <a:t>Right </a:t>
              </a:r>
              <a:r>
                <a:rPr lang="en-US" altLang="zh-CN" sz="2000" dirty="0">
                  <a:solidFill>
                    <a:schemeClr val="bg1"/>
                  </a:solidFill>
                  <a:latin typeface="Aptos Display" panose="020B0004020202020204" pitchFamily="34" charset="0"/>
                </a:rPr>
                <a:t>skewed</a:t>
              </a:r>
              <a:endParaRPr lang="en" altLang="en-US" sz="2000" dirty="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1" name="Text Box 24">
              <a:extLst>
                <a:ext uri="{FF2B5EF4-FFF2-40B4-BE49-F238E27FC236}">
                  <a16:creationId xmlns:a16="http://schemas.microsoft.com/office/drawing/2014/main" id="{C2794437-AFCC-5544-B8A4-7CE54C33BE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1" y="572"/>
              <a:ext cx="1968" cy="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" altLang="en-US" sz="2000">
                  <a:solidFill>
                    <a:schemeClr val="bg1"/>
                  </a:solidFill>
                  <a:latin typeface="Aptos Display" panose="020B0004020202020204" pitchFamily="34" charset="0"/>
                </a:rPr>
                <a:t>Complete binary tree</a:t>
              </a:r>
            </a:p>
          </p:txBody>
        </p:sp>
        <p:grpSp>
          <p:nvGrpSpPr>
            <p:cNvPr id="12" name="Group 25">
              <a:extLst>
                <a:ext uri="{FF2B5EF4-FFF2-40B4-BE49-F238E27FC236}">
                  <a16:creationId xmlns:a16="http://schemas.microsoft.com/office/drawing/2014/main" id="{83C9C988-7814-7043-A63B-DF12D86486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43" y="860"/>
              <a:ext cx="1768" cy="1200"/>
              <a:chOff x="795" y="2544"/>
              <a:chExt cx="1768" cy="1200"/>
            </a:xfrm>
          </p:grpSpPr>
          <p:sp>
            <p:nvSpPr>
              <p:cNvPr id="13" name="Oval 26">
                <a:extLst>
                  <a:ext uri="{FF2B5EF4-FFF2-40B4-BE49-F238E27FC236}">
                    <a16:creationId xmlns:a16="http://schemas.microsoft.com/office/drawing/2014/main" id="{923300F8-423C-134F-B311-02249B199A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8" y="2544"/>
                <a:ext cx="192" cy="192"/>
              </a:xfrm>
              <a:prstGeom prst="ellips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" altLang="zh-CN" sz="2000">
                    <a:solidFill>
                      <a:schemeClr val="bg1"/>
                    </a:solidFill>
                    <a:latin typeface="Aptos Display" panose="020B0004020202020204" pitchFamily="34" charset="0"/>
                  </a:rPr>
                  <a:t>A</a:t>
                </a:r>
              </a:p>
            </p:txBody>
          </p:sp>
          <p:sp>
            <p:nvSpPr>
              <p:cNvPr id="14" name="Line 27">
                <a:extLst>
                  <a:ext uri="{FF2B5EF4-FFF2-40B4-BE49-F238E27FC236}">
                    <a16:creationId xmlns:a16="http://schemas.microsoft.com/office/drawing/2014/main" id="{F14587B1-D250-6E4C-BCDB-03CEFFED6C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93" y="2710"/>
                <a:ext cx="249" cy="181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  <a:latin typeface="Aptos Display" panose="020B0004020202020204" pitchFamily="34" charset="0"/>
                </a:endParaRPr>
              </a:p>
            </p:txBody>
          </p:sp>
          <p:sp>
            <p:nvSpPr>
              <p:cNvPr id="15" name="Line 28">
                <a:extLst>
                  <a:ext uri="{FF2B5EF4-FFF2-40B4-BE49-F238E27FC236}">
                    <a16:creationId xmlns:a16="http://schemas.microsoft.com/office/drawing/2014/main" id="{613B4B38-60A7-A546-B6BB-8B502F75F9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94" y="2710"/>
                <a:ext cx="238" cy="170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  <a:latin typeface="Aptos Display" panose="020B0004020202020204" pitchFamily="34" charset="0"/>
                </a:endParaRPr>
              </a:p>
            </p:txBody>
          </p:sp>
          <p:sp>
            <p:nvSpPr>
              <p:cNvPr id="16" name="Oval 29">
                <a:extLst>
                  <a:ext uri="{FF2B5EF4-FFF2-40B4-BE49-F238E27FC236}">
                    <a16:creationId xmlns:a16="http://schemas.microsoft.com/office/drawing/2014/main" id="{52B0AB2A-9B4C-CA4B-A72D-2B33EFC490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2083" y="2880"/>
                <a:ext cx="192" cy="192"/>
              </a:xfrm>
              <a:prstGeom prst="ellips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" altLang="zh-CN" sz="2000" dirty="0">
                    <a:solidFill>
                      <a:schemeClr val="bg1"/>
                    </a:solidFill>
                    <a:latin typeface="Aptos Display" panose="020B0004020202020204" pitchFamily="34" charset="0"/>
                  </a:rPr>
                  <a:t>C</a:t>
                </a:r>
              </a:p>
            </p:txBody>
          </p:sp>
          <p:sp>
            <p:nvSpPr>
              <p:cNvPr id="17" name="Oval 30">
                <a:extLst>
                  <a:ext uri="{FF2B5EF4-FFF2-40B4-BE49-F238E27FC236}">
                    <a16:creationId xmlns:a16="http://schemas.microsoft.com/office/drawing/2014/main" id="{4B91D4FB-2161-F945-86B5-B25FFB439C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2371" y="3216"/>
                <a:ext cx="192" cy="192"/>
              </a:xfrm>
              <a:prstGeom prst="ellips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" altLang="zh-CN" sz="2000">
                    <a:solidFill>
                      <a:schemeClr val="bg1"/>
                    </a:solidFill>
                    <a:latin typeface="Aptos Display" panose="020B0004020202020204" pitchFamily="34" charset="0"/>
                  </a:rPr>
                  <a:t>G</a:t>
                </a:r>
              </a:p>
            </p:txBody>
          </p:sp>
          <p:sp>
            <p:nvSpPr>
              <p:cNvPr id="18" name="Line 31">
                <a:extLst>
                  <a:ext uri="{FF2B5EF4-FFF2-40B4-BE49-F238E27FC236}">
                    <a16:creationId xmlns:a16="http://schemas.microsoft.com/office/drawing/2014/main" id="{9B6A862C-CB81-9D48-AA86-75C345773F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49" y="3046"/>
                <a:ext cx="170" cy="170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  <a:latin typeface="Aptos Display" panose="020B0004020202020204" pitchFamily="34" charset="0"/>
                </a:endParaRPr>
              </a:p>
            </p:txBody>
          </p:sp>
          <p:sp>
            <p:nvSpPr>
              <p:cNvPr id="19" name="Oval 32">
                <a:extLst>
                  <a:ext uri="{FF2B5EF4-FFF2-40B4-BE49-F238E27FC236}">
                    <a16:creationId xmlns:a16="http://schemas.microsoft.com/office/drawing/2014/main" id="{B6A7A04F-F816-3344-9F54-2794942A5D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1" y="2880"/>
                <a:ext cx="192" cy="192"/>
              </a:xfrm>
              <a:prstGeom prst="ellips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" altLang="zh-CN" sz="2000">
                    <a:solidFill>
                      <a:schemeClr val="bg1"/>
                    </a:solidFill>
                    <a:latin typeface="Aptos Display" panose="020B0004020202020204" pitchFamily="34" charset="0"/>
                  </a:rPr>
                  <a:t>B</a:t>
                </a:r>
              </a:p>
            </p:txBody>
          </p:sp>
          <p:sp>
            <p:nvSpPr>
              <p:cNvPr id="20" name="Oval 33">
                <a:extLst>
                  <a:ext uri="{FF2B5EF4-FFF2-40B4-BE49-F238E27FC236}">
                    <a16:creationId xmlns:a16="http://schemas.microsoft.com/office/drawing/2014/main" id="{41EAD07A-33C0-5C45-AA55-0B3795C021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3" y="3216"/>
                <a:ext cx="192" cy="192"/>
              </a:xfrm>
              <a:prstGeom prst="ellips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" altLang="zh-CN" sz="2000">
                    <a:solidFill>
                      <a:schemeClr val="bg1"/>
                    </a:solidFill>
                    <a:latin typeface="Aptos Display" panose="020B0004020202020204" pitchFamily="34" charset="0"/>
                  </a:rPr>
                  <a:t>D</a:t>
                </a:r>
              </a:p>
            </p:txBody>
          </p:sp>
          <p:sp>
            <p:nvSpPr>
              <p:cNvPr id="21" name="Line 34">
                <a:extLst>
                  <a:ext uri="{FF2B5EF4-FFF2-40B4-BE49-F238E27FC236}">
                    <a16:creationId xmlns:a16="http://schemas.microsoft.com/office/drawing/2014/main" id="{DF2DB526-7F52-8447-B5FE-2FC6F223D0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05" y="3046"/>
                <a:ext cx="181" cy="181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  <a:latin typeface="Aptos Display" panose="020B0004020202020204" pitchFamily="34" charset="0"/>
                </a:endParaRPr>
              </a:p>
            </p:txBody>
          </p:sp>
          <p:sp>
            <p:nvSpPr>
              <p:cNvPr id="22" name="Oval 35">
                <a:extLst>
                  <a:ext uri="{FF2B5EF4-FFF2-40B4-BE49-F238E27FC236}">
                    <a16:creationId xmlns:a16="http://schemas.microsoft.com/office/drawing/2014/main" id="{10068FED-276E-DA47-83A2-0F9B5A2E2F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5" y="3552"/>
                <a:ext cx="192" cy="192"/>
              </a:xfrm>
              <a:prstGeom prst="ellips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" altLang="zh-CN" sz="2000">
                    <a:solidFill>
                      <a:schemeClr val="bg1"/>
                    </a:solidFill>
                    <a:latin typeface="Aptos Display" panose="020B0004020202020204" pitchFamily="34" charset="0"/>
                  </a:rPr>
                  <a:t>H</a:t>
                </a:r>
              </a:p>
            </p:txBody>
          </p:sp>
          <p:sp>
            <p:nvSpPr>
              <p:cNvPr id="23" name="Line 36">
                <a:extLst>
                  <a:ext uri="{FF2B5EF4-FFF2-40B4-BE49-F238E27FC236}">
                    <a16:creationId xmlns:a16="http://schemas.microsoft.com/office/drawing/2014/main" id="{B0C1093B-2336-5D4D-BAE6-7F9F39DAF5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17" y="3382"/>
                <a:ext cx="181" cy="181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  <a:latin typeface="Aptos Display" panose="020B0004020202020204" pitchFamily="34" charset="0"/>
                </a:endParaRPr>
              </a:p>
            </p:txBody>
          </p:sp>
          <p:sp>
            <p:nvSpPr>
              <p:cNvPr id="24" name="Oval 37">
                <a:extLst>
                  <a:ext uri="{FF2B5EF4-FFF2-40B4-BE49-F238E27FC236}">
                    <a16:creationId xmlns:a16="http://schemas.microsoft.com/office/drawing/2014/main" id="{CDF291D4-A79B-9546-B1AA-DB0E11960A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1590" y="3216"/>
                <a:ext cx="192" cy="192"/>
              </a:xfrm>
              <a:prstGeom prst="ellips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" altLang="zh-CN" sz="2000">
                    <a:solidFill>
                      <a:schemeClr val="bg1"/>
                    </a:solidFill>
                    <a:latin typeface="Aptos Display" panose="020B0004020202020204" pitchFamily="34" charset="0"/>
                  </a:rPr>
                  <a:t>E</a:t>
                </a:r>
              </a:p>
            </p:txBody>
          </p:sp>
          <p:sp>
            <p:nvSpPr>
              <p:cNvPr id="25" name="Line 38">
                <a:extLst>
                  <a:ext uri="{FF2B5EF4-FFF2-40B4-BE49-F238E27FC236}">
                    <a16:creationId xmlns:a16="http://schemas.microsoft.com/office/drawing/2014/main" id="{F548E518-2935-B547-AAC2-A3902023C0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7" y="3046"/>
                <a:ext cx="102" cy="170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  <a:latin typeface="Aptos Display" panose="020B0004020202020204" pitchFamily="34" charset="0"/>
                </a:endParaRPr>
              </a:p>
            </p:txBody>
          </p:sp>
          <p:sp>
            <p:nvSpPr>
              <p:cNvPr id="26" name="Oval 39">
                <a:extLst>
                  <a:ext uri="{FF2B5EF4-FFF2-40B4-BE49-F238E27FC236}">
                    <a16:creationId xmlns:a16="http://schemas.microsoft.com/office/drawing/2014/main" id="{7E54F9C1-00CC-1842-A9E5-982E1D5E7A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63" y="3216"/>
                <a:ext cx="192" cy="192"/>
              </a:xfrm>
              <a:prstGeom prst="ellips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" altLang="zh-CN" sz="2000">
                    <a:solidFill>
                      <a:schemeClr val="bg1"/>
                    </a:solidFill>
                    <a:latin typeface="Aptos Display" panose="020B0004020202020204" pitchFamily="34" charset="0"/>
                  </a:rPr>
                  <a:t>F</a:t>
                </a:r>
              </a:p>
            </p:txBody>
          </p:sp>
          <p:sp>
            <p:nvSpPr>
              <p:cNvPr id="27" name="Line 40">
                <a:extLst>
                  <a:ext uri="{FF2B5EF4-FFF2-40B4-BE49-F238E27FC236}">
                    <a16:creationId xmlns:a16="http://schemas.microsoft.com/office/drawing/2014/main" id="{AC1FE988-B4BB-7B48-855A-764CD8A697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85" y="3046"/>
                <a:ext cx="113" cy="181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  <a:latin typeface="Aptos Display" panose="020B0004020202020204" pitchFamily="34" charset="0"/>
                </a:endParaRPr>
              </a:p>
            </p:txBody>
          </p:sp>
          <p:sp>
            <p:nvSpPr>
              <p:cNvPr id="28" name="Oval 41">
                <a:extLst>
                  <a:ext uri="{FF2B5EF4-FFF2-40B4-BE49-F238E27FC236}">
                    <a16:creationId xmlns:a16="http://schemas.microsoft.com/office/drawing/2014/main" id="{D21A0624-A79F-7146-A460-8DC7EBF71C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1302" y="3552"/>
                <a:ext cx="192" cy="192"/>
              </a:xfrm>
              <a:prstGeom prst="ellips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" altLang="zh-CN" sz="2000">
                    <a:solidFill>
                      <a:schemeClr val="bg1"/>
                    </a:solidFill>
                    <a:latin typeface="Aptos Display" panose="020B0004020202020204" pitchFamily="34" charset="0"/>
                  </a:rPr>
                  <a:t>I</a:t>
                </a:r>
              </a:p>
            </p:txBody>
          </p:sp>
          <p:sp>
            <p:nvSpPr>
              <p:cNvPr id="29" name="Line 42">
                <a:extLst>
                  <a:ext uri="{FF2B5EF4-FFF2-40B4-BE49-F238E27FC236}">
                    <a16:creationId xmlns:a16="http://schemas.microsoft.com/office/drawing/2014/main" id="{507AF4C2-444C-FE43-BF6C-AF0D876D2B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9" y="3382"/>
                <a:ext cx="102" cy="170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  <a:latin typeface="Aptos Display" panose="020B00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449838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Representation of a binary tree (child-parent representation)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 anchor="ctr" anchorCtr="0">
            <a:normAutofit/>
          </a:bodyPr>
          <a:lstStyle/>
          <a:p>
            <a:r>
              <a:rPr lang="en" altLang="en-US" dirty="0">
                <a:latin typeface="Aptos Display" panose="020B0004020202020204" pitchFamily="34" charset="0"/>
                <a:sym typeface="Wingdings" pitchFamily="2" charset="2"/>
              </a:rPr>
              <a:t>Commonly used storage structures</a:t>
            </a:r>
            <a:endParaRPr lang="en-US" altLang="zh-CN" baseline="30000" dirty="0">
              <a:latin typeface="Aptos Display" panose="020B0004020202020204" pitchFamily="34" charset="0"/>
              <a:sym typeface="Symbol" pitchFamily="2" charset="2"/>
            </a:endParaRPr>
          </a:p>
          <a:p>
            <a:pPr marL="0" indent="0"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struct Node{</a:t>
            </a:r>
          </a:p>
          <a:p>
            <a:pPr marL="0" indent="0">
              <a:buNone/>
            </a:pP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int value;</a:t>
            </a:r>
          </a:p>
          <a:p>
            <a:pPr marL="0" indent="0">
              <a:buNone/>
            </a:pP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int parent, </a:t>
            </a:r>
            <a:r>
              <a:rPr lang="en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lchild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rchild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}node[N];</a:t>
            </a:r>
          </a:p>
          <a:p>
            <a:endParaRPr lang="en-US" altLang="zh-CN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50366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Representation of a binary tree (array representation)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6010946" cy="5282749"/>
              </a:xfrm>
            </p:spPr>
            <p:txBody>
              <a:bodyPr anchor="ctr" anchorCtr="0">
                <a:normAutofit/>
              </a:bodyPr>
              <a:lstStyle/>
              <a:p>
                <a:r>
                  <a:rPr lang="en" altLang="en-US" dirty="0">
                    <a:latin typeface="Aptos Display" panose="020B0004020202020204" pitchFamily="34" charset="0"/>
                  </a:rPr>
                  <a:t>For a complete binary tree represented by an array, for any node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  <a:sym typeface="Wingdings" pitchFamily="2" charset="2"/>
                      </a:rPr>
                      <m:t>i</m:t>
                    </m:r>
                  </m:oMath>
                </a14:m>
                <a:r>
                  <a:rPr lang="en" altLang="en-US" dirty="0">
                    <a:latin typeface="Aptos Display" panose="020B0004020202020204" pitchFamily="34" charset="0"/>
                  </a:rPr>
                  <a:t>, we have: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:endParaRPr lang="en-US" altLang="zh-CN" dirty="0">
                  <a:latin typeface="Aptos Display" panose="020B0004020202020204" pitchFamily="34" charset="0"/>
                </a:endParaRPr>
              </a:p>
              <a:p>
                <a:endParaRPr lang="en-US" altLang="zh-CN" dirty="0">
                  <a:latin typeface="Aptos Display" panose="020B0004020202020204" pitchFamily="34" charset="0"/>
                </a:endParaRPr>
              </a:p>
              <a:p>
                <a:endParaRPr lang="en-US" altLang="zh-CN" dirty="0">
                  <a:latin typeface="Aptos Display" panose="020B0004020202020204" pitchFamily="34" charset="0"/>
                </a:endParaRPr>
              </a:p>
              <a:p>
                <a:endParaRPr lang="zh-CN" altLang="en-US" dirty="0">
                  <a:latin typeface="Aptos Display" panose="020B0004020202020204" pitchFamily="34" charset="0"/>
                </a:endParaRPr>
              </a:p>
              <a:p>
                <a:endParaRPr lang="en-US" altLang="zh-CN" dirty="0">
                  <a:latin typeface="Aptos Display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6010946" cy="5282749"/>
              </a:xfrm>
              <a:blipFill>
                <a:blip r:embed="rId2"/>
                <a:stretch>
                  <a:fillRect l="-2110" r="-2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3">
                <a:extLst>
                  <a:ext uri="{FF2B5EF4-FFF2-40B4-BE49-F238E27FC236}">
                    <a16:creationId xmlns:a16="http://schemas.microsoft.com/office/drawing/2014/main" id="{7141494C-4A8C-F943-8F6F-CAA271E94694}"/>
                  </a:ext>
                </a:extLst>
              </p:cNvPr>
              <p:cNvSpPr txBox="1"/>
              <p:nvPr/>
            </p:nvSpPr>
            <p:spPr bwMode="auto">
              <a:xfrm>
                <a:off x="889586" y="3429000"/>
                <a:ext cx="5559215" cy="26717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ctrlPr>
                            <a:rPr lang="en-AU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m:rPr>
                          <m:nor/>
                        </m:rPr>
                        <a:rPr lang="en-AU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A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zh-CN" alt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𝑝𝑎𝑟𝑒𝑛𝑡</m:t>
                      </m:r>
                      <m:r>
                        <a:rPr lang="en-A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A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A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 </m:t>
                                </m:r>
                                <m:d>
                                  <m:dPr>
                                    <m:begChr m:val="⌊"/>
                                    <m:endChr m:val="⌋"/>
                                    <m:ctrlPr>
                                      <a:rPr lang="en-AU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lin"/>
                                        <m:ctrlPr>
                                          <a:rPr lang="en-AU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AU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num>
                                      <m:den>
                                        <m:r>
                                          <a:rPr lang="en-AU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e>
                                <m:r>
                                  <a:rPr lang="en-A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A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≠1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 </m:t>
                                </m:r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𝑁𝑜𝑛𝑒</m:t>
                                </m:r>
                              </m:e>
                              <m:e>
                                <m:r>
                                  <a:rPr lang="en-A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A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</m:mr>
                          </m:m>
                        </m:e>
                      </m:d>
                    </m:oMath>
                    <m:oMath>
                      <m:d>
                        <m:dPr>
                          <m:ctrlPr>
                            <a:rPr lang="en-AU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m:rPr>
                          <m:nor/>
                        </m:rPr>
                        <a:rPr lang="en-AU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A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zh-CN" alt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𝑙𝑒𝑓𝑡</m:t>
                      </m:r>
                      <m:r>
                        <a:rPr lang="zh-CN" alt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𝑐ℎ𝑖𝑙𝑑</m:t>
                      </m:r>
                      <m:r>
                        <a:rPr lang="en-A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A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A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 2</m:t>
                                </m:r>
                                <m:r>
                                  <a:rPr lang="en-A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e>
                                <m:r>
                                  <a:rPr lang="en-A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A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A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A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 </m:t>
                                </m:r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𝑁𝑜𝑛𝑒</m:t>
                                </m:r>
                              </m:e>
                              <m:e>
                                <m:r>
                                  <a:rPr lang="en-A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A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A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A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mr>
                          </m:m>
                        </m:e>
                      </m:d>
                    </m:oMath>
                    <m:oMath>
                      <m:d>
                        <m:dPr>
                          <m:ctrlPr>
                            <a:rPr lang="en-AU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m:rPr>
                          <m:nor/>
                        </m:rPr>
                        <a:rPr lang="en-AU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A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zh-CN" alt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𝑟𝑖𝑔ℎ𝑡</m:t>
                      </m:r>
                      <m:r>
                        <a:rPr lang="zh-CN" alt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𝑐ℎ𝑖𝑙𝑑</m:t>
                      </m:r>
                      <m:r>
                        <a:rPr lang="en-AU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AU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A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 2</m:t>
                                </m:r>
                                <m:r>
                                  <a:rPr lang="en-A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A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  <m:e>
                                <m:r>
                                  <a:rPr lang="en-A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A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A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+1≤</m:t>
                                </m:r>
                                <m:r>
                                  <a:rPr lang="en-A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𝑁𝑜𝑛𝑒</m:t>
                                </m:r>
                              </m:e>
                              <m:e>
                                <m:r>
                                  <a:rPr lang="en-A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A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A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+1&gt;</m:t>
                                </m:r>
                                <m:r>
                                  <a:rPr lang="en-AU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" name="Object 43">
                <a:extLst>
                  <a:ext uri="{FF2B5EF4-FFF2-40B4-BE49-F238E27FC236}">
                    <a16:creationId xmlns:a16="http://schemas.microsoft.com/office/drawing/2014/main" id="{7141494C-4A8C-F943-8F6F-CAA271E946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9586" y="3429000"/>
                <a:ext cx="5559215" cy="2671763"/>
              </a:xfrm>
              <a:prstGeom prst="rect">
                <a:avLst/>
              </a:prstGeom>
              <a:blipFill>
                <a:blip r:embed="rId3"/>
                <a:stretch>
                  <a:fillRect t="-51659" b="-4691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25">
            <a:extLst>
              <a:ext uri="{FF2B5EF4-FFF2-40B4-BE49-F238E27FC236}">
                <a16:creationId xmlns:a16="http://schemas.microsoft.com/office/drawing/2014/main" id="{2E49ECB0-ECEF-B147-853A-236F67949E44}"/>
              </a:ext>
            </a:extLst>
          </p:cNvPr>
          <p:cNvGrpSpPr>
            <a:grpSpLocks/>
          </p:cNvGrpSpPr>
          <p:nvPr/>
        </p:nvGrpSpPr>
        <p:grpSpPr bwMode="auto">
          <a:xfrm>
            <a:off x="7874376" y="2043118"/>
            <a:ext cx="2806700" cy="1905000"/>
            <a:chOff x="795" y="2544"/>
            <a:chExt cx="1768" cy="1200"/>
          </a:xfrm>
        </p:grpSpPr>
        <p:sp>
          <p:nvSpPr>
            <p:cNvPr id="6" name="Oval 26">
              <a:extLst>
                <a:ext uri="{FF2B5EF4-FFF2-40B4-BE49-F238E27FC236}">
                  <a16:creationId xmlns:a16="http://schemas.microsoft.com/office/drawing/2014/main" id="{8B9E43EC-086D-EE43-852C-0D2ED0A2EF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544"/>
              <a:ext cx="192" cy="192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sz="2000">
                  <a:solidFill>
                    <a:schemeClr val="bg1"/>
                  </a:solidFill>
                  <a:latin typeface="Aptos Display" panose="020B0004020202020204" pitchFamily="34" charset="0"/>
                </a:rPr>
                <a:t>A</a:t>
              </a:r>
            </a:p>
          </p:txBody>
        </p:sp>
        <p:sp>
          <p:nvSpPr>
            <p:cNvPr id="7" name="Line 27">
              <a:extLst>
                <a:ext uri="{FF2B5EF4-FFF2-40B4-BE49-F238E27FC236}">
                  <a16:creationId xmlns:a16="http://schemas.microsoft.com/office/drawing/2014/main" id="{48D13703-86C8-2C4E-A873-3E2E361E7F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93" y="2710"/>
              <a:ext cx="249" cy="181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8" name="Line 28">
              <a:extLst>
                <a:ext uri="{FF2B5EF4-FFF2-40B4-BE49-F238E27FC236}">
                  <a16:creationId xmlns:a16="http://schemas.microsoft.com/office/drawing/2014/main" id="{DB4904C7-EBC7-FD4D-BD14-86ACDB5ADC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4" y="2710"/>
              <a:ext cx="238" cy="17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9" name="Oval 29">
              <a:extLst>
                <a:ext uri="{FF2B5EF4-FFF2-40B4-BE49-F238E27FC236}">
                  <a16:creationId xmlns:a16="http://schemas.microsoft.com/office/drawing/2014/main" id="{4898EA0C-7BAE-1D44-9E83-FEE2F12228F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083" y="2880"/>
              <a:ext cx="192" cy="192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sz="2000">
                  <a:solidFill>
                    <a:schemeClr val="bg1"/>
                  </a:solidFill>
                  <a:latin typeface="Aptos Display" panose="020B0004020202020204" pitchFamily="34" charset="0"/>
                </a:rPr>
                <a:t>C</a:t>
              </a:r>
            </a:p>
          </p:txBody>
        </p:sp>
        <p:sp>
          <p:nvSpPr>
            <p:cNvPr id="10" name="Oval 30">
              <a:extLst>
                <a:ext uri="{FF2B5EF4-FFF2-40B4-BE49-F238E27FC236}">
                  <a16:creationId xmlns:a16="http://schemas.microsoft.com/office/drawing/2014/main" id="{AB720856-EB82-FE47-B5AF-4A5EC4633CA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371" y="3216"/>
              <a:ext cx="192" cy="192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sz="2000">
                  <a:solidFill>
                    <a:schemeClr val="bg1"/>
                  </a:solidFill>
                  <a:latin typeface="Aptos Display" panose="020B0004020202020204" pitchFamily="34" charset="0"/>
                </a:rPr>
                <a:t>G</a:t>
              </a:r>
            </a:p>
          </p:txBody>
        </p:sp>
        <p:sp>
          <p:nvSpPr>
            <p:cNvPr id="11" name="Line 31">
              <a:extLst>
                <a:ext uri="{FF2B5EF4-FFF2-40B4-BE49-F238E27FC236}">
                  <a16:creationId xmlns:a16="http://schemas.microsoft.com/office/drawing/2014/main" id="{8CAFB39F-472E-A342-90AC-49489EA541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9" y="3046"/>
              <a:ext cx="170" cy="17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" name="Oval 32">
              <a:extLst>
                <a:ext uri="{FF2B5EF4-FFF2-40B4-BE49-F238E27FC236}">
                  <a16:creationId xmlns:a16="http://schemas.microsoft.com/office/drawing/2014/main" id="{EAE9B6EA-6A0B-4846-9116-B273DF5CAB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1" y="2880"/>
              <a:ext cx="192" cy="192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sz="2000" dirty="0">
                  <a:solidFill>
                    <a:schemeClr val="bg1"/>
                  </a:solidFill>
                  <a:latin typeface="Aptos Display" panose="020B0004020202020204" pitchFamily="34" charset="0"/>
                </a:rPr>
                <a:t>B</a:t>
              </a:r>
            </a:p>
          </p:txBody>
        </p:sp>
        <p:sp>
          <p:nvSpPr>
            <p:cNvPr id="13" name="Oval 33">
              <a:extLst>
                <a:ext uri="{FF2B5EF4-FFF2-40B4-BE49-F238E27FC236}">
                  <a16:creationId xmlns:a16="http://schemas.microsoft.com/office/drawing/2014/main" id="{620F63F8-7E7D-454A-B449-DAB4CAC48F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" y="3216"/>
              <a:ext cx="192" cy="192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sz="2000">
                  <a:solidFill>
                    <a:schemeClr val="bg1"/>
                  </a:solidFill>
                  <a:latin typeface="Aptos Display" panose="020B0004020202020204" pitchFamily="34" charset="0"/>
                </a:rPr>
                <a:t>D</a:t>
              </a:r>
            </a:p>
          </p:txBody>
        </p:sp>
        <p:sp>
          <p:nvSpPr>
            <p:cNvPr id="14" name="Line 34">
              <a:extLst>
                <a:ext uri="{FF2B5EF4-FFF2-40B4-BE49-F238E27FC236}">
                  <a16:creationId xmlns:a16="http://schemas.microsoft.com/office/drawing/2014/main" id="{203EA49A-A9BF-0548-911C-444B32AF99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05" y="3046"/>
              <a:ext cx="181" cy="181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5" name="Oval 35">
              <a:extLst>
                <a:ext uri="{FF2B5EF4-FFF2-40B4-BE49-F238E27FC236}">
                  <a16:creationId xmlns:a16="http://schemas.microsoft.com/office/drawing/2014/main" id="{BE1C5D53-22B6-5A4A-A20F-49F35BAB58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5" y="3552"/>
              <a:ext cx="192" cy="192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sz="2000">
                  <a:solidFill>
                    <a:schemeClr val="bg1"/>
                  </a:solidFill>
                  <a:latin typeface="Aptos Display" panose="020B0004020202020204" pitchFamily="34" charset="0"/>
                </a:rPr>
                <a:t>H</a:t>
              </a:r>
            </a:p>
          </p:txBody>
        </p:sp>
        <p:sp>
          <p:nvSpPr>
            <p:cNvPr id="16" name="Line 36">
              <a:extLst>
                <a:ext uri="{FF2B5EF4-FFF2-40B4-BE49-F238E27FC236}">
                  <a16:creationId xmlns:a16="http://schemas.microsoft.com/office/drawing/2014/main" id="{90840313-71D0-7041-BB2E-C3E61444D7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17" y="3382"/>
              <a:ext cx="181" cy="181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7" name="Oval 37">
              <a:extLst>
                <a:ext uri="{FF2B5EF4-FFF2-40B4-BE49-F238E27FC236}">
                  <a16:creationId xmlns:a16="http://schemas.microsoft.com/office/drawing/2014/main" id="{AD790DEA-4DB8-E44F-ACA8-AA286309E94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590" y="3216"/>
              <a:ext cx="192" cy="192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sz="2000">
                  <a:solidFill>
                    <a:schemeClr val="bg1"/>
                  </a:solidFill>
                  <a:latin typeface="Aptos Display" panose="020B0004020202020204" pitchFamily="34" charset="0"/>
                </a:rPr>
                <a:t>E</a:t>
              </a:r>
            </a:p>
          </p:txBody>
        </p:sp>
        <p:sp>
          <p:nvSpPr>
            <p:cNvPr id="18" name="Line 38">
              <a:extLst>
                <a:ext uri="{FF2B5EF4-FFF2-40B4-BE49-F238E27FC236}">
                  <a16:creationId xmlns:a16="http://schemas.microsoft.com/office/drawing/2014/main" id="{0EC0AAE1-9988-1A47-A9B6-AA70DFC42C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7" y="3046"/>
              <a:ext cx="102" cy="17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9" name="Oval 39">
              <a:extLst>
                <a:ext uri="{FF2B5EF4-FFF2-40B4-BE49-F238E27FC236}">
                  <a16:creationId xmlns:a16="http://schemas.microsoft.com/office/drawing/2014/main" id="{2B2EEE67-5DBE-9348-8138-80C4574941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3" y="3216"/>
              <a:ext cx="192" cy="192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sz="2000">
                  <a:solidFill>
                    <a:schemeClr val="bg1"/>
                  </a:solidFill>
                  <a:latin typeface="Aptos Display" panose="020B0004020202020204" pitchFamily="34" charset="0"/>
                </a:rPr>
                <a:t>F</a:t>
              </a:r>
            </a:p>
          </p:txBody>
        </p:sp>
        <p:sp>
          <p:nvSpPr>
            <p:cNvPr id="20" name="Line 40">
              <a:extLst>
                <a:ext uri="{FF2B5EF4-FFF2-40B4-BE49-F238E27FC236}">
                  <a16:creationId xmlns:a16="http://schemas.microsoft.com/office/drawing/2014/main" id="{38B4A81B-57C6-2C4F-9890-06E093179B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85" y="3046"/>
              <a:ext cx="113" cy="181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21" name="Oval 41">
              <a:extLst>
                <a:ext uri="{FF2B5EF4-FFF2-40B4-BE49-F238E27FC236}">
                  <a16:creationId xmlns:a16="http://schemas.microsoft.com/office/drawing/2014/main" id="{CE6E0A80-8079-0B48-8269-41E12899A4F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302" y="3552"/>
              <a:ext cx="192" cy="192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" altLang="zh-CN" sz="2000">
                  <a:solidFill>
                    <a:schemeClr val="bg1"/>
                  </a:solidFill>
                  <a:latin typeface="Aptos Display" panose="020B0004020202020204" pitchFamily="34" charset="0"/>
                </a:rPr>
                <a:t>I</a:t>
              </a:r>
            </a:p>
          </p:txBody>
        </p:sp>
        <p:sp>
          <p:nvSpPr>
            <p:cNvPr id="22" name="Line 42">
              <a:extLst>
                <a:ext uri="{FF2B5EF4-FFF2-40B4-BE49-F238E27FC236}">
                  <a16:creationId xmlns:a16="http://schemas.microsoft.com/office/drawing/2014/main" id="{5BF125B9-E1E7-F84A-AF96-35D46B58A5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9" y="3382"/>
              <a:ext cx="102" cy="17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</p:grpSp>
      <p:graphicFrame>
        <p:nvGraphicFramePr>
          <p:cNvPr id="23" name="内容占位符 1027">
            <a:extLst>
              <a:ext uri="{FF2B5EF4-FFF2-40B4-BE49-F238E27FC236}">
                <a16:creationId xmlns:a16="http://schemas.microsoft.com/office/drawing/2014/main" id="{8839C0AF-74D7-C547-BC63-A53078D76DE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67083007"/>
              </p:ext>
            </p:extLst>
          </p:nvPr>
        </p:nvGraphicFramePr>
        <p:xfrm>
          <a:off x="7450514" y="5265042"/>
          <a:ext cx="3810000" cy="396875"/>
        </p:xfrm>
        <a:graphic>
          <a:graphicData uri="http://schemas.openxmlformats.org/drawingml/2006/table">
            <a:tbl>
              <a:tblPr/>
              <a:tblGrid>
                <a:gridCol w="423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8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38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38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38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386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" altLang="zh-CN" sz="2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" altLang="zh-CN" sz="2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" altLang="zh-CN" sz="2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" altLang="zh-CN" sz="2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" altLang="zh-CN" sz="2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" altLang="zh-CN" sz="2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" altLang="zh-CN" sz="2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" altLang="zh-CN" sz="2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H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" altLang="zh-CN" sz="2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9D18797A-1BCD-9E4B-8E44-9EEDC82732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4801650"/>
              </p:ext>
            </p:extLst>
          </p:nvPr>
        </p:nvGraphicFramePr>
        <p:xfrm>
          <a:off x="7450514" y="4688779"/>
          <a:ext cx="3810000" cy="396875"/>
        </p:xfrm>
        <a:graphic>
          <a:graphicData uri="http://schemas.openxmlformats.org/drawingml/2006/table">
            <a:tbl>
              <a:tblPr/>
              <a:tblGrid>
                <a:gridCol w="423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8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38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38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38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386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" altLang="zh-CN" sz="2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" altLang="zh-CN" sz="2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" altLang="zh-CN" sz="2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" altLang="zh-CN" sz="2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" altLang="zh-CN" sz="2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" altLang="zh-CN" sz="2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" altLang="zh-CN" sz="2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" altLang="zh-CN" sz="2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" altLang="zh-CN" sz="2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36269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Converting</a:t>
            </a:r>
            <a:r>
              <a:rPr lang="zh-C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A</a:t>
            </a:r>
            <a:r>
              <a:rPr lang="zh-C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Forest 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T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o a binary tree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</p:spPr>
            <p:txBody>
              <a:bodyPr anchor="ctr" anchorCtr="0">
                <a:normAutofit/>
              </a:bodyPr>
              <a:lstStyle/>
              <a:p>
                <a:r>
                  <a:rPr lang="en" altLang="en-US" dirty="0">
                    <a:latin typeface="Aptos Display" panose="020B0004020202020204" pitchFamily="34" charset="0"/>
                    <a:sym typeface="Wingdings" pitchFamily="2" charset="2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  <a:sym typeface="Wingdings" pitchFamily="2" charset="2"/>
                      </a:rPr>
                      <m:t>F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0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T</m:t>
                            </m:r>
                          </m:e>
                          <m:sub>
                            <m:r>
                              <a:rPr lang="en-US" altLang="zh-CN" b="0" i="0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0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0" i="0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T</m:t>
                            </m:r>
                          </m:e>
                          <m:sub>
                            <m:r>
                              <a:rPr lang="en-US" altLang="zh-CN" b="0" i="0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0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b="0" i="0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m</m:t>
                            </m:r>
                          </m:sub>
                        </m:sSub>
                      </m:e>
                    </m:d>
                  </m:oMath>
                </a14:m>
                <a:r>
                  <a:rPr lang="en" altLang="en-US" dirty="0">
                    <a:latin typeface="Aptos Display" panose="020B0004020202020204" pitchFamily="34" charset="0"/>
                    <a:sym typeface="Wingdings" pitchFamily="2" charset="2"/>
                  </a:rPr>
                  <a:t> is a forest, it can be </a:t>
                </a:r>
                <a:r>
                  <a:rPr lang="en-US" altLang="zh-CN" dirty="0">
                    <a:latin typeface="Aptos Display" panose="020B0004020202020204" pitchFamily="34" charset="0"/>
                    <a:sym typeface="Wingdings" pitchFamily="2" charset="2"/>
                  </a:rPr>
                  <a:t>converted</a:t>
                </a:r>
                <a:r>
                  <a:rPr lang="zh-CN" altLang="en-US" dirty="0">
                    <a:latin typeface="Aptos Display" panose="020B0004020202020204" pitchFamily="34" charset="0"/>
                    <a:sym typeface="Wingdings" pitchFamily="2" charset="2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  <a:sym typeface="Wingdings" pitchFamily="2" charset="2"/>
                  </a:rPr>
                  <a:t>to a binary tree </a:t>
                </a:r>
                <a:r>
                  <a:rPr lang="en-US" altLang="zh-CN" dirty="0">
                    <a:latin typeface="Aptos Display" panose="020B0004020202020204" pitchFamily="34" charset="0"/>
                    <a:sym typeface="Wingdings" pitchFamily="2" charset="2"/>
                  </a:rPr>
                  <a:t>using</a:t>
                </a:r>
                <a:r>
                  <a:rPr lang="en" altLang="en-US" dirty="0">
                    <a:latin typeface="Aptos Display" panose="020B0004020202020204" pitchFamily="34" charset="0"/>
                    <a:sym typeface="Wingdings" pitchFamily="2" charset="2"/>
                  </a:rPr>
                  <a:t> the following rules</a:t>
                </a:r>
                <a:r>
                  <a:rPr lang="en-US" altLang="zh-CN" dirty="0">
                    <a:latin typeface="Aptos Display" panose="020B0004020202020204" pitchFamily="34" charset="0"/>
                    <a:sym typeface="Wingdings" pitchFamily="2" charset="2"/>
                  </a:rPr>
                  <a:t>:</a:t>
                </a:r>
              </a:p>
              <a:p>
                <a:pPr marL="0" indent="0">
                  <a:buNone/>
                </a:pPr>
                <a:r>
                  <a:rPr lang="en" altLang="zh-CN" dirty="0">
                    <a:latin typeface="Aptos Display" panose="020B0004020202020204" pitchFamily="34" charset="0"/>
                    <a:sym typeface="Wingdings" pitchFamily="2" charset="2"/>
                  </a:rPr>
                  <a:t>	1</a:t>
                </a:r>
                <a:r>
                  <a:rPr lang="en" altLang="zh-CN" dirty="0">
                    <a:latin typeface="Aptos Display" panose="020B0004020202020204" pitchFamily="34" charset="0"/>
                  </a:rPr>
                  <a:t>)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>
                        <a:latin typeface="Cambria Math" panose="02040503050406030204" pitchFamily="18" charset="0"/>
                        <a:sym typeface="Wingdings" pitchFamily="2" charset="2"/>
                      </a:rPr>
                      <m:t>F</m:t>
                    </m:r>
                  </m:oMath>
                </a14:m>
                <a:r>
                  <a:rPr lang="en" altLang="en-US" dirty="0">
                    <a:latin typeface="Aptos Display" panose="020B0004020202020204" pitchFamily="34" charset="0"/>
                  </a:rPr>
                  <a:t> is empty,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i.e.,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  <a:sym typeface="Wingdings" pitchFamily="2" charset="2"/>
                      </a:rPr>
                      <m:t>m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  <a:sym typeface="Wingdings" pitchFamily="2" charset="2"/>
                      </a:rPr>
                      <m:t>=0</m:t>
                    </m:r>
                  </m:oMath>
                </a14:m>
                <a:r>
                  <a:rPr lang="en-US" altLang="zh-CN" dirty="0">
                    <a:latin typeface="Aptos Display" panose="020B0004020202020204" pitchFamily="34" charset="0"/>
                  </a:rPr>
                  <a:t>,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</a:t>
                </a:r>
                <a:r>
                  <a:rPr lang="en" altLang="en-US" dirty="0">
                    <a:latin typeface="Aptos Display" panose="020B0004020202020204" pitchFamily="34" charset="0"/>
                  </a:rPr>
                  <a:t>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sym typeface="Wingdings" pitchFamily="2" charset="2"/>
                      </a:rPr>
                      <m:t>B</m:t>
                    </m:r>
                  </m:oMath>
                </a14:m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is an empty tree.</a:t>
                </a:r>
              </a:p>
              <a:p>
                <a:pPr marL="0" indent="0">
                  <a:buNone/>
                </a:pPr>
                <a:r>
                  <a:rPr lang="en" altLang="zh-CN" dirty="0">
                    <a:latin typeface="Aptos Display" panose="020B0004020202020204" pitchFamily="34" charset="0"/>
                  </a:rPr>
                  <a:t>	2)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If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>
                        <a:latin typeface="Cambria Math" panose="02040503050406030204" pitchFamily="18" charset="0"/>
                        <a:sym typeface="Wingdings" pitchFamily="2" charset="2"/>
                      </a:rPr>
                      <m:t>F</m:t>
                    </m:r>
                  </m:oMath>
                </a14:m>
                <a:r>
                  <a:rPr lang="e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is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not empty, i.e.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,</a:t>
                </a:r>
                <a:r>
                  <a:rPr lang="en" altLang="en-US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>
                        <a:latin typeface="Cambria Math" panose="02040503050406030204" pitchFamily="18" charset="0"/>
                        <a:sym typeface="Wingdings" pitchFamily="2" charset="2"/>
                      </a:rPr>
                      <m:t>m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  <a:sym typeface="Wingdings" pitchFamily="2" charset="2"/>
                      </a:rPr>
                      <m:t>&gt;</m:t>
                    </m:r>
                    <m:r>
                      <a:rPr lang="en-US" altLang="zh-CN" b="0" i="0">
                        <a:latin typeface="Cambria Math" panose="02040503050406030204" pitchFamily="18" charset="0"/>
                        <a:sym typeface="Wingdings" pitchFamily="2" charset="2"/>
                      </a:rPr>
                      <m:t>0</m:t>
                    </m:r>
                  </m:oMath>
                </a14:m>
                <a:r>
                  <a:rPr lang="en" altLang="en-US" dirty="0">
                    <a:latin typeface="Aptos Display" panose="020B0004020202020204" pitchFamily="34" charset="0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>
                        <a:latin typeface="Cambria Math" panose="02040503050406030204" pitchFamily="18" charset="0"/>
                        <a:sym typeface="Wingdings" pitchFamily="2" charset="2"/>
                      </a:rPr>
                      <m:t>B</m:t>
                    </m:r>
                  </m:oMath>
                </a14:m>
                <a:r>
                  <a:rPr lang="en-US" altLang="zh-CN" dirty="0">
                    <a:latin typeface="Aptos Display" panose="020B0004020202020204" pitchFamily="34" charset="0"/>
                  </a:rPr>
                  <a:t>’s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root is the root of the first tree in the forest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root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" altLang="en-US" dirty="0">
                    <a:latin typeface="Aptos Display" panose="020B00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>
                        <a:latin typeface="Cambria Math" panose="02040503050406030204" pitchFamily="18" charset="0"/>
                        <a:sym typeface="Wingdings" pitchFamily="2" charset="2"/>
                      </a:rPr>
                      <m:t>B</m:t>
                    </m:r>
                  </m:oMath>
                </a14:m>
                <a:r>
                  <a:rPr lang="en-US" altLang="zh-CN" dirty="0">
                    <a:latin typeface="Aptos Display" panose="020B0004020202020204" pitchFamily="34" charset="0"/>
                  </a:rPr>
                  <a:t>’s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left subtree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is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the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binary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tree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converted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from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zh-CN" b="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latin typeface="Aptos Display" panose="020B0004020202020204" pitchFamily="34" charset="0"/>
                  </a:rPr>
                  <a:t>’s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subtree-forest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sym typeface="Wingdings" pitchFamily="2" charset="2"/>
                          </a:rPr>
                          <m:t>F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  <a:sym typeface="Wingdings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T</m:t>
                            </m:r>
                          </m:e>
                          <m:sub>
                            <m:r>
                              <a:rPr lang="en-US" altLang="zh-CN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1,1</m:t>
                            </m:r>
                          </m:sub>
                        </m:sSub>
                        <m:r>
                          <a:rPr lang="en-US" altLang="zh-CN">
                            <a:latin typeface="Cambria Math" panose="02040503050406030204" pitchFamily="18" charset="0"/>
                            <a:sym typeface="Wingdings" pitchFamily="2" charset="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T</m:t>
                            </m:r>
                          </m:e>
                          <m:sub>
                            <m:r>
                              <a:rPr lang="en-US" altLang="zh-CN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1,2</m:t>
                            </m:r>
                          </m:sub>
                        </m:sSub>
                        <m:r>
                          <a:rPr lang="en-US" altLang="zh-CN">
                            <a:latin typeface="Cambria Math" panose="02040503050406030204" pitchFamily="18" charset="0"/>
                            <a:sym typeface="Wingdings" pitchFamily="2" charset="2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T</m:t>
                            </m:r>
                          </m:e>
                          <m:sub>
                            <m:r>
                              <a:rPr lang="en-US" altLang="zh-CN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1,</m:t>
                            </m:r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i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>
                    <a:latin typeface="Aptos Display" panose="020B0004020202020204" pitchFamily="34" charset="0"/>
                  </a:rPr>
                  <a:t>;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its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right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subtree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is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the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binary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tree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converted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from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forest</a:t>
                </a:r>
                <a:r>
                  <a:rPr lang="en" altLang="en-US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>
                        <a:latin typeface="Cambria Math" panose="02040503050406030204" pitchFamily="18" charset="0"/>
                        <a:sym typeface="Wingdings" pitchFamily="2" charset="2"/>
                      </a:rPr>
                      <m:t>F</m:t>
                    </m:r>
                    <m:r>
                      <a:rPr lang="en-US" altLang="zh-CN" b="0" i="0">
                        <a:latin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b="0" i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T</m:t>
                            </m:r>
                          </m:e>
                          <m:sub>
                            <m:r>
                              <a:rPr lang="en-US" altLang="zh-CN" b="0" i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b="0" i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b="0" i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b="0" i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m</m:t>
                            </m:r>
                          </m:sub>
                        </m:sSub>
                      </m:e>
                    </m:d>
                  </m:oMath>
                </a14:m>
                <a:r>
                  <a:rPr lang="en" altLang="en-US" dirty="0">
                    <a:latin typeface="Aptos Display" panose="020B00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  <a:blipFill>
                <a:blip r:embed="rId2"/>
                <a:stretch>
                  <a:fillRect l="-1224" r="-4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63442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26">
            <a:extLst>
              <a:ext uri="{FF2B5EF4-FFF2-40B4-BE49-F238E27FC236}">
                <a16:creationId xmlns:a16="http://schemas.microsoft.com/office/drawing/2014/main" id="{EB62A672-C711-AF40-BF12-9B95F2667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747" y="1524000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Arial" panose="020B0604020202020204" pitchFamily="34" charset="0"/>
            </a:pPr>
            <a:r>
              <a:rPr lang="en" altLang="zh-CN" sz="20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8" name="Line 27">
            <a:extLst>
              <a:ext uri="{FF2B5EF4-FFF2-40B4-BE49-F238E27FC236}">
                <a16:creationId xmlns:a16="http://schemas.microsoft.com/office/drawing/2014/main" id="{FCFFEBAF-BF4B-B44B-97BB-459F73795E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72284" y="1787525"/>
            <a:ext cx="1309688" cy="266911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9" name="Line 28">
            <a:extLst>
              <a:ext uri="{FF2B5EF4-FFF2-40B4-BE49-F238E27FC236}">
                <a16:creationId xmlns:a16="http://schemas.microsoft.com/office/drawing/2014/main" id="{E878BE9F-ECEC-434C-8144-FCD79D25594D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4236" y="1804987"/>
            <a:ext cx="3175" cy="287337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10" name="Oval 29">
            <a:extLst>
              <a:ext uri="{FF2B5EF4-FFF2-40B4-BE49-F238E27FC236}">
                <a16:creationId xmlns:a16="http://schemas.microsoft.com/office/drawing/2014/main" id="{18E40F2F-86C0-5446-88E4-147ED81075A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123897" y="2057400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buFont typeface="Arial" panose="020B0604020202020204" pitchFamily="34" charset="0"/>
            </a:pPr>
            <a:r>
              <a:rPr lang="en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11" name="Oval 30">
            <a:extLst>
              <a:ext uri="{FF2B5EF4-FFF2-40B4-BE49-F238E27FC236}">
                <a16:creationId xmlns:a16="http://schemas.microsoft.com/office/drawing/2014/main" id="{FA3B9866-CA33-A849-9971-6034FEA929C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196259" y="2662989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" altLang="zh-C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G</a:t>
            </a:r>
          </a:p>
        </p:txBody>
      </p:sp>
      <p:sp>
        <p:nvSpPr>
          <p:cNvPr id="12" name="Line 31">
            <a:extLst>
              <a:ext uri="{FF2B5EF4-FFF2-40B4-BE49-F238E27FC236}">
                <a16:creationId xmlns:a16="http://schemas.microsoft.com/office/drawing/2014/main" id="{0787E7EA-4833-EA4F-8160-E9A983B791B2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9748" y="2303463"/>
            <a:ext cx="961932" cy="33870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3" name="Oval 32">
            <a:extLst>
              <a:ext uri="{FF2B5EF4-FFF2-40B4-BE49-F238E27FC236}">
                <a16:creationId xmlns:a16="http://schemas.microsoft.com/office/drawing/2014/main" id="{E94EDEDE-6845-9F44-B9C6-1B21FFF52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747" y="2057400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" altLang="zh-C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14" name="Oval 33">
            <a:extLst>
              <a:ext uri="{FF2B5EF4-FFF2-40B4-BE49-F238E27FC236}">
                <a16:creationId xmlns:a16="http://schemas.microsoft.com/office/drawing/2014/main" id="{00605B4C-1A8A-D449-A0C5-DB089610C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1457" y="2057400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" altLang="zh-C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15" name="Line 34">
            <a:extLst>
              <a:ext uri="{FF2B5EF4-FFF2-40B4-BE49-F238E27FC236}">
                <a16:creationId xmlns:a16="http://schemas.microsoft.com/office/drawing/2014/main" id="{FD796BDC-D658-694F-8EE8-C52E16FFD3AF}"/>
              </a:ext>
            </a:extLst>
          </p:cNvPr>
          <p:cNvSpPr>
            <a:spLocks noChangeShapeType="1"/>
          </p:cNvSpPr>
          <p:nvPr/>
        </p:nvSpPr>
        <p:spPr bwMode="auto">
          <a:xfrm>
            <a:off x="872284" y="2341351"/>
            <a:ext cx="0" cy="321638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6" name="Oval 35">
            <a:extLst>
              <a:ext uri="{FF2B5EF4-FFF2-40B4-BE49-F238E27FC236}">
                <a16:creationId xmlns:a16="http://schemas.microsoft.com/office/drawing/2014/main" id="{CE6BA250-C579-6F48-BC4E-A9AAFF975F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0270" y="2662989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" altLang="zh-C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17" name="Line 36">
            <a:extLst>
              <a:ext uri="{FF2B5EF4-FFF2-40B4-BE49-F238E27FC236}">
                <a16:creationId xmlns:a16="http://schemas.microsoft.com/office/drawing/2014/main" id="{A158F91E-09C0-504D-B7DC-8FBFCA826DE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33364" y="4042612"/>
            <a:ext cx="550872" cy="356934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8" name="Oval 37">
            <a:extLst>
              <a:ext uri="{FF2B5EF4-FFF2-40B4-BE49-F238E27FC236}">
                <a16:creationId xmlns:a16="http://schemas.microsoft.com/office/drawing/2014/main" id="{C1B26456-41CE-C44A-B28D-3FDCD836E12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15538" y="2662989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" altLang="zh-C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19" name="Line 38">
            <a:extLst>
              <a:ext uri="{FF2B5EF4-FFF2-40B4-BE49-F238E27FC236}">
                <a16:creationId xmlns:a16="http://schemas.microsoft.com/office/drawing/2014/main" id="{23BEE96B-4D3F-4545-8F8E-0D4C6EBA77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80964" y="2354827"/>
            <a:ext cx="660400" cy="287337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0" name="Oval 39">
            <a:extLst>
              <a:ext uri="{FF2B5EF4-FFF2-40B4-BE49-F238E27FC236}">
                <a16:creationId xmlns:a16="http://schemas.microsoft.com/office/drawing/2014/main" id="{067CB716-6D86-974C-A84F-471C2F962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564" y="2662989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" altLang="zh-C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21" name="Line 40">
            <a:extLst>
              <a:ext uri="{FF2B5EF4-FFF2-40B4-BE49-F238E27FC236}">
                <a16:creationId xmlns:a16="http://schemas.microsoft.com/office/drawing/2014/main" id="{55217F9C-B658-7644-A9FB-B169363E9B33}"/>
              </a:ext>
            </a:extLst>
          </p:cNvPr>
          <p:cNvSpPr>
            <a:spLocks noChangeShapeType="1"/>
          </p:cNvSpPr>
          <p:nvPr/>
        </p:nvSpPr>
        <p:spPr bwMode="auto">
          <a:xfrm>
            <a:off x="2262931" y="2393112"/>
            <a:ext cx="119155" cy="249051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2" name="Oval 41">
            <a:extLst>
              <a:ext uri="{FF2B5EF4-FFF2-40B4-BE49-F238E27FC236}">
                <a16:creationId xmlns:a16="http://schemas.microsoft.com/office/drawing/2014/main" id="{A25CD7AE-8EBA-2A4E-93E4-0A46FDC57EF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158725" y="3737812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" altLang="zh-CN" sz="2000" b="1">
                <a:solidFill>
                  <a:schemeClr val="bg1"/>
                </a:solidFill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23" name="Line 42">
            <a:extLst>
              <a:ext uri="{FF2B5EF4-FFF2-40B4-BE49-F238E27FC236}">
                <a16:creationId xmlns:a16="http://schemas.microsoft.com/office/drawing/2014/main" id="{7FB38FF1-B7B9-4D41-BF8B-EC4163D02939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7798" y="4057482"/>
            <a:ext cx="562472" cy="356934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4" name="Line 31">
            <a:extLst>
              <a:ext uri="{FF2B5EF4-FFF2-40B4-BE49-F238E27FC236}">
                <a16:creationId xmlns:a16="http://schemas.microsoft.com/office/drawing/2014/main" id="{40B0E2CC-8C23-B944-A7EE-F417381B9929}"/>
              </a:ext>
            </a:extLst>
          </p:cNvPr>
          <p:cNvSpPr>
            <a:spLocks noChangeShapeType="1"/>
          </p:cNvSpPr>
          <p:nvPr/>
        </p:nvSpPr>
        <p:spPr bwMode="auto">
          <a:xfrm>
            <a:off x="2423272" y="1749636"/>
            <a:ext cx="1563597" cy="30480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25" name="Oval 32">
            <a:extLst>
              <a:ext uri="{FF2B5EF4-FFF2-40B4-BE49-F238E27FC236}">
                <a16:creationId xmlns:a16="http://schemas.microsoft.com/office/drawing/2014/main" id="{8836C661-1C6F-5842-A63B-37DF3D51C3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7594" y="4399547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" altLang="zh-C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J</a:t>
            </a:r>
          </a:p>
        </p:txBody>
      </p:sp>
      <p:sp>
        <p:nvSpPr>
          <p:cNvPr id="26" name="Oval 32">
            <a:extLst>
              <a:ext uri="{FF2B5EF4-FFF2-40B4-BE49-F238E27FC236}">
                <a16:creationId xmlns:a16="http://schemas.microsoft.com/office/drawing/2014/main" id="{CB997257-F139-2A47-A3EA-E6938B3C01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1432" y="4405220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" altLang="zh-C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K</a:t>
            </a:r>
          </a:p>
        </p:txBody>
      </p:sp>
      <p:sp>
        <p:nvSpPr>
          <p:cNvPr id="27" name="Oval 30">
            <a:extLst>
              <a:ext uri="{FF2B5EF4-FFF2-40B4-BE49-F238E27FC236}">
                <a16:creationId xmlns:a16="http://schemas.microsoft.com/office/drawing/2014/main" id="{F9DD4BFE-9B6F-094B-B479-D377BC43A27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900270" y="5057758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" altLang="zh-C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M</a:t>
            </a:r>
          </a:p>
        </p:txBody>
      </p:sp>
      <p:sp>
        <p:nvSpPr>
          <p:cNvPr id="28" name="Line 31">
            <a:extLst>
              <a:ext uri="{FF2B5EF4-FFF2-40B4-BE49-F238E27FC236}">
                <a16:creationId xmlns:a16="http://schemas.microsoft.com/office/drawing/2014/main" id="{EFE82C5C-2AD4-064C-93E1-69D21F6DE8E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63759" y="4698232"/>
            <a:ext cx="961932" cy="33870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9" name="Oval 35">
            <a:extLst>
              <a:ext uri="{FF2B5EF4-FFF2-40B4-BE49-F238E27FC236}">
                <a16:creationId xmlns:a16="http://schemas.microsoft.com/office/drawing/2014/main" id="{A966210D-5A4E-274E-868D-E70D603D1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4281" y="5057758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" altLang="zh-C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N</a:t>
            </a:r>
          </a:p>
        </p:txBody>
      </p:sp>
      <p:sp>
        <p:nvSpPr>
          <p:cNvPr id="30" name="Line 38">
            <a:extLst>
              <a:ext uri="{FF2B5EF4-FFF2-40B4-BE49-F238E27FC236}">
                <a16:creationId xmlns:a16="http://schemas.microsoft.com/office/drawing/2014/main" id="{A6B52DF3-A97E-5141-B811-192696C72E5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84975" y="4749596"/>
            <a:ext cx="660400" cy="287337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1" name="Oval 39">
            <a:extLst>
              <a:ext uri="{FF2B5EF4-FFF2-40B4-BE49-F238E27FC236}">
                <a16:creationId xmlns:a16="http://schemas.microsoft.com/office/drawing/2014/main" id="{EF367547-A7D7-2F40-BDE9-6DF5E85AA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2575" y="5057758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" altLang="zh-C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L</a:t>
            </a:r>
          </a:p>
        </p:txBody>
      </p:sp>
      <p:sp>
        <p:nvSpPr>
          <p:cNvPr id="32" name="Line 40">
            <a:extLst>
              <a:ext uri="{FF2B5EF4-FFF2-40B4-BE49-F238E27FC236}">
                <a16:creationId xmlns:a16="http://schemas.microsoft.com/office/drawing/2014/main" id="{097966A5-58EE-1E48-9443-3E19144BA1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966942" y="4787881"/>
            <a:ext cx="119155" cy="249051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3" name="Line 34">
            <a:extLst>
              <a:ext uri="{FF2B5EF4-FFF2-40B4-BE49-F238E27FC236}">
                <a16:creationId xmlns:a16="http://schemas.microsoft.com/office/drawing/2014/main" id="{C18D0AF2-12B0-A743-AFB6-2CBCABB1F6EC}"/>
              </a:ext>
            </a:extLst>
          </p:cNvPr>
          <p:cNvSpPr>
            <a:spLocks noChangeShapeType="1"/>
          </p:cNvSpPr>
          <p:nvPr/>
        </p:nvSpPr>
        <p:spPr bwMode="auto">
          <a:xfrm>
            <a:off x="3761027" y="5357267"/>
            <a:ext cx="0" cy="321638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4" name="Oval 37">
            <a:extLst>
              <a:ext uri="{FF2B5EF4-FFF2-40B4-BE49-F238E27FC236}">
                <a16:creationId xmlns:a16="http://schemas.microsoft.com/office/drawing/2014/main" id="{16B7909A-B59A-EA49-9F6C-F8D22869D06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604281" y="5678905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" altLang="zh-C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O</a:t>
            </a:r>
          </a:p>
        </p:txBody>
      </p:sp>
      <p:sp>
        <p:nvSpPr>
          <p:cNvPr id="40" name="Line 36">
            <a:extLst>
              <a:ext uri="{FF2B5EF4-FFF2-40B4-BE49-F238E27FC236}">
                <a16:creationId xmlns:a16="http://schemas.microsoft.com/office/drawing/2014/main" id="{619885ED-73C2-3644-89D9-A6A1BDD018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40968" y="1657538"/>
            <a:ext cx="1315517" cy="30480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41" name="Oval 41">
            <a:extLst>
              <a:ext uri="{FF2B5EF4-FFF2-40B4-BE49-F238E27FC236}">
                <a16:creationId xmlns:a16="http://schemas.microsoft.com/office/drawing/2014/main" id="{6CB11D2C-DC4F-6F4F-B4A7-17836A31DCD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8430974" y="1352738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" altLang="zh-CN" sz="2000" dirty="0">
                <a:solidFill>
                  <a:schemeClr val="bg1"/>
                </a:solidFill>
                <a:latin typeface="Aptos Display" panose="020B0004020202020204" pitchFamily="34" charset="0"/>
              </a:rPr>
              <a:t>A</a:t>
            </a:r>
          </a:p>
        </p:txBody>
      </p:sp>
      <p:sp>
        <p:nvSpPr>
          <p:cNvPr id="42" name="Line 42">
            <a:extLst>
              <a:ext uri="{FF2B5EF4-FFF2-40B4-BE49-F238E27FC236}">
                <a16:creationId xmlns:a16="http://schemas.microsoft.com/office/drawing/2014/main" id="{9DA79C16-8F2D-6A4C-A084-25A35D01D4F5}"/>
              </a:ext>
            </a:extLst>
          </p:cNvPr>
          <p:cNvSpPr>
            <a:spLocks noChangeShapeType="1"/>
          </p:cNvSpPr>
          <p:nvPr/>
        </p:nvSpPr>
        <p:spPr bwMode="auto">
          <a:xfrm>
            <a:off x="8610047" y="1672408"/>
            <a:ext cx="1809252" cy="33870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43" name="Oval 32">
            <a:extLst>
              <a:ext uri="{FF2B5EF4-FFF2-40B4-BE49-F238E27FC236}">
                <a16:creationId xmlns:a16="http://schemas.microsoft.com/office/drawing/2014/main" id="{2EBB30AE-176E-0940-AAA4-2F4E59B39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5760" y="2014473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" altLang="zh-C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4" name="Oval 32">
            <a:extLst>
              <a:ext uri="{FF2B5EF4-FFF2-40B4-BE49-F238E27FC236}">
                <a16:creationId xmlns:a16="http://schemas.microsoft.com/office/drawing/2014/main" id="{14CA7BD7-CF35-7347-949C-9652C5952D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6839" y="2020146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" altLang="zh-C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45" name="Oval 32">
            <a:extLst>
              <a:ext uri="{FF2B5EF4-FFF2-40B4-BE49-F238E27FC236}">
                <a16:creationId xmlns:a16="http://schemas.microsoft.com/office/drawing/2014/main" id="{6E0584A6-334F-8D42-8DAE-B1A4FB84D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2235" y="2662082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" altLang="zh-C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46" name="Line 36">
            <a:extLst>
              <a:ext uri="{FF2B5EF4-FFF2-40B4-BE49-F238E27FC236}">
                <a16:creationId xmlns:a16="http://schemas.microsoft.com/office/drawing/2014/main" id="{FA1A22FD-C7C4-4B41-81B5-2A53630494F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14635" y="2319273"/>
            <a:ext cx="1315517" cy="30480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7" name="Line 28">
            <a:extLst>
              <a:ext uri="{FF2B5EF4-FFF2-40B4-BE49-F238E27FC236}">
                <a16:creationId xmlns:a16="http://schemas.microsoft.com/office/drawing/2014/main" id="{3F1BD360-FF92-4144-B9D9-2F2449B1AAA1}"/>
              </a:ext>
            </a:extLst>
          </p:cNvPr>
          <p:cNvSpPr>
            <a:spLocks noChangeShapeType="1"/>
          </p:cNvSpPr>
          <p:nvPr/>
        </p:nvSpPr>
        <p:spPr bwMode="auto">
          <a:xfrm>
            <a:off x="7240967" y="2319273"/>
            <a:ext cx="726247" cy="342809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8" name="Oval 29">
            <a:extLst>
              <a:ext uri="{FF2B5EF4-FFF2-40B4-BE49-F238E27FC236}">
                <a16:creationId xmlns:a16="http://schemas.microsoft.com/office/drawing/2014/main" id="{3AB596C9-850E-1441-8D65-C241380424C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805783" y="2662082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" altLang="zh-C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49" name="Oval 29">
            <a:extLst>
              <a:ext uri="{FF2B5EF4-FFF2-40B4-BE49-F238E27FC236}">
                <a16:creationId xmlns:a16="http://schemas.microsoft.com/office/drawing/2014/main" id="{AF642E4C-2BC7-D94D-B854-3B9034EE1B2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825352" y="3486156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" altLang="zh-C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50" name="Oval 29">
            <a:extLst>
              <a:ext uri="{FF2B5EF4-FFF2-40B4-BE49-F238E27FC236}">
                <a16:creationId xmlns:a16="http://schemas.microsoft.com/office/drawing/2014/main" id="{0E903AFC-2D70-784A-B1C5-2BC58A498CF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8305246" y="3418961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" altLang="zh-C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51" name="Oval 29">
            <a:extLst>
              <a:ext uri="{FF2B5EF4-FFF2-40B4-BE49-F238E27FC236}">
                <a16:creationId xmlns:a16="http://schemas.microsoft.com/office/drawing/2014/main" id="{5C655CD3-31B3-0F49-B504-B1A942B9CF2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306647" y="4273885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" altLang="zh-C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G</a:t>
            </a:r>
          </a:p>
        </p:txBody>
      </p:sp>
      <p:sp>
        <p:nvSpPr>
          <p:cNvPr id="52" name="Oval 29">
            <a:extLst>
              <a:ext uri="{FF2B5EF4-FFF2-40B4-BE49-F238E27FC236}">
                <a16:creationId xmlns:a16="http://schemas.microsoft.com/office/drawing/2014/main" id="{9094CD0C-DB62-3641-BFAF-0348928E07B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935129" y="5104551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" altLang="zh-C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53" name="Oval 29">
            <a:extLst>
              <a:ext uri="{FF2B5EF4-FFF2-40B4-BE49-F238E27FC236}">
                <a16:creationId xmlns:a16="http://schemas.microsoft.com/office/drawing/2014/main" id="{25EDF041-905F-4E43-81F2-736E971588E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9362273" y="2622902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" altLang="zh-C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J</a:t>
            </a:r>
          </a:p>
        </p:txBody>
      </p:sp>
      <p:sp>
        <p:nvSpPr>
          <p:cNvPr id="54" name="Oval 29">
            <a:extLst>
              <a:ext uri="{FF2B5EF4-FFF2-40B4-BE49-F238E27FC236}">
                <a16:creationId xmlns:a16="http://schemas.microsoft.com/office/drawing/2014/main" id="{517E0006-0A0C-2E45-98E0-E08D9A1E0CD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0120757" y="3424825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" altLang="zh-C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K</a:t>
            </a:r>
          </a:p>
        </p:txBody>
      </p:sp>
      <p:sp>
        <p:nvSpPr>
          <p:cNvPr id="55" name="Oval 29">
            <a:extLst>
              <a:ext uri="{FF2B5EF4-FFF2-40B4-BE49-F238E27FC236}">
                <a16:creationId xmlns:a16="http://schemas.microsoft.com/office/drawing/2014/main" id="{FA437A11-3B40-F741-B3F0-220BA0EC898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9514673" y="4229061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" altLang="zh-C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L</a:t>
            </a:r>
          </a:p>
        </p:txBody>
      </p:sp>
      <p:sp>
        <p:nvSpPr>
          <p:cNvPr id="56" name="Oval 29">
            <a:extLst>
              <a:ext uri="{FF2B5EF4-FFF2-40B4-BE49-F238E27FC236}">
                <a16:creationId xmlns:a16="http://schemas.microsoft.com/office/drawing/2014/main" id="{43B124EC-CBB9-A345-9B14-ACC49606BAB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0355088" y="5046763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" altLang="zh-C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M</a:t>
            </a:r>
          </a:p>
        </p:txBody>
      </p:sp>
      <p:sp>
        <p:nvSpPr>
          <p:cNvPr id="57" name="Oval 29">
            <a:extLst>
              <a:ext uri="{FF2B5EF4-FFF2-40B4-BE49-F238E27FC236}">
                <a16:creationId xmlns:a16="http://schemas.microsoft.com/office/drawing/2014/main" id="{16F34136-D3D2-014D-BB95-AE625DE72529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0983150" y="5659491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" altLang="zh-C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N</a:t>
            </a:r>
          </a:p>
        </p:txBody>
      </p:sp>
      <p:sp>
        <p:nvSpPr>
          <p:cNvPr id="58" name="Oval 29">
            <a:extLst>
              <a:ext uri="{FF2B5EF4-FFF2-40B4-BE49-F238E27FC236}">
                <a16:creationId xmlns:a16="http://schemas.microsoft.com/office/drawing/2014/main" id="{3C9BD839-2901-894A-8C1E-0366A914929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0355088" y="6402320"/>
            <a:ext cx="304800" cy="304800"/>
          </a:xfrm>
          <a:prstGeom prst="ellips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" altLang="zh-CN" sz="2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O</a:t>
            </a:r>
          </a:p>
        </p:txBody>
      </p:sp>
      <p:sp>
        <p:nvSpPr>
          <p:cNvPr id="59" name="Line 36">
            <a:extLst>
              <a:ext uri="{FF2B5EF4-FFF2-40B4-BE49-F238E27FC236}">
                <a16:creationId xmlns:a16="http://schemas.microsoft.com/office/drawing/2014/main" id="{76F0F03D-0735-FF45-985C-5FD0F1CC494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693049" y="2353915"/>
            <a:ext cx="726248" cy="268986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0" name="Line 36">
            <a:extLst>
              <a:ext uri="{FF2B5EF4-FFF2-40B4-BE49-F238E27FC236}">
                <a16:creationId xmlns:a16="http://schemas.microsoft.com/office/drawing/2014/main" id="{02D7FDE4-24D6-C94D-A53A-9D3FECF1EEB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35761" y="3004888"/>
            <a:ext cx="931454" cy="481267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1" name="Line 36">
            <a:extLst>
              <a:ext uri="{FF2B5EF4-FFF2-40B4-BE49-F238E27FC236}">
                <a16:creationId xmlns:a16="http://schemas.microsoft.com/office/drawing/2014/main" id="{30CE33DD-C023-BE4A-941A-F4BFC431320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693049" y="3790955"/>
            <a:ext cx="583790" cy="438105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2" name="Line 36">
            <a:extLst>
              <a:ext uri="{FF2B5EF4-FFF2-40B4-BE49-F238E27FC236}">
                <a16:creationId xmlns:a16="http://schemas.microsoft.com/office/drawing/2014/main" id="{F543CAE5-9127-FE40-82B3-F8485FF3D8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514066" y="5972710"/>
            <a:ext cx="698977" cy="429609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3" name="Line 28">
            <a:extLst>
              <a:ext uri="{FF2B5EF4-FFF2-40B4-BE49-F238E27FC236}">
                <a16:creationId xmlns:a16="http://schemas.microsoft.com/office/drawing/2014/main" id="{E68041A4-D9FD-A342-8900-162A3761FF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7213" y="2966881"/>
            <a:ext cx="562472" cy="519274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4" name="Line 28">
            <a:extLst>
              <a:ext uri="{FF2B5EF4-FFF2-40B4-BE49-F238E27FC236}">
                <a16:creationId xmlns:a16="http://schemas.microsoft.com/office/drawing/2014/main" id="{A29F9973-0E7E-F54C-8999-01F4D8766453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3205" y="3762880"/>
            <a:ext cx="454299" cy="585358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5" name="Line 28">
            <a:extLst>
              <a:ext uri="{FF2B5EF4-FFF2-40B4-BE49-F238E27FC236}">
                <a16:creationId xmlns:a16="http://schemas.microsoft.com/office/drawing/2014/main" id="{B2687465-DBD8-5D42-A46E-92EAED8230E3}"/>
              </a:ext>
            </a:extLst>
          </p:cNvPr>
          <p:cNvSpPr>
            <a:spLocks noChangeShapeType="1"/>
          </p:cNvSpPr>
          <p:nvPr/>
        </p:nvSpPr>
        <p:spPr bwMode="auto">
          <a:xfrm>
            <a:off x="7573518" y="4586886"/>
            <a:ext cx="454299" cy="585358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6" name="Line 28">
            <a:extLst>
              <a:ext uri="{FF2B5EF4-FFF2-40B4-BE49-F238E27FC236}">
                <a16:creationId xmlns:a16="http://schemas.microsoft.com/office/drawing/2014/main" id="{F3237EAB-809A-7A4A-9AF7-F52429BEF4E7}"/>
              </a:ext>
            </a:extLst>
          </p:cNvPr>
          <p:cNvSpPr>
            <a:spLocks noChangeShapeType="1"/>
          </p:cNvSpPr>
          <p:nvPr/>
        </p:nvSpPr>
        <p:spPr bwMode="auto">
          <a:xfrm>
            <a:off x="9621294" y="2900797"/>
            <a:ext cx="726248" cy="585358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7" name="Line 28">
            <a:extLst>
              <a:ext uri="{FF2B5EF4-FFF2-40B4-BE49-F238E27FC236}">
                <a16:creationId xmlns:a16="http://schemas.microsoft.com/office/drawing/2014/main" id="{3AA64F9B-1400-4340-9541-8D1114C62217}"/>
              </a:ext>
            </a:extLst>
          </p:cNvPr>
          <p:cNvSpPr>
            <a:spLocks noChangeShapeType="1"/>
          </p:cNvSpPr>
          <p:nvPr/>
        </p:nvSpPr>
        <p:spPr bwMode="auto">
          <a:xfrm>
            <a:off x="9739764" y="4518952"/>
            <a:ext cx="616784" cy="585358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8" name="Line 28">
            <a:extLst>
              <a:ext uri="{FF2B5EF4-FFF2-40B4-BE49-F238E27FC236}">
                <a16:creationId xmlns:a16="http://schemas.microsoft.com/office/drawing/2014/main" id="{4924D70F-50A0-9A48-9D5E-81BA7E4A0C0B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90962" y="5298878"/>
            <a:ext cx="622081" cy="429609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9" name="右箭头 68">
            <a:extLst>
              <a:ext uri="{FF2B5EF4-FFF2-40B4-BE49-F238E27FC236}">
                <a16:creationId xmlns:a16="http://schemas.microsoft.com/office/drawing/2014/main" id="{137E69B7-93EF-234D-AF8D-490ACCCD8519}"/>
              </a:ext>
            </a:extLst>
          </p:cNvPr>
          <p:cNvSpPr/>
          <p:nvPr/>
        </p:nvSpPr>
        <p:spPr>
          <a:xfrm>
            <a:off x="4326723" y="3475863"/>
            <a:ext cx="1162424" cy="6443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标题 1">
            <a:extLst>
              <a:ext uri="{FF2B5EF4-FFF2-40B4-BE49-F238E27FC236}">
                <a16:creationId xmlns:a16="http://schemas.microsoft.com/office/drawing/2014/main" id="{CE5C249F-BE14-AE0A-B169-2EEDBDF13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altLang="zh-CN">
                <a:solidFill>
                  <a:schemeClr val="bg1"/>
                </a:solidFill>
                <a:latin typeface="Aptos Display" panose="020B0004020202020204" pitchFamily="34" charset="0"/>
              </a:rPr>
              <a:t>Converting</a:t>
            </a:r>
            <a:r>
              <a:rPr lang="zh-CN" altLang="en-US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>
                <a:solidFill>
                  <a:schemeClr val="bg1"/>
                </a:solidFill>
                <a:latin typeface="Aptos Display" panose="020B0004020202020204" pitchFamily="34" charset="0"/>
              </a:rPr>
              <a:t>A</a:t>
            </a:r>
            <a:r>
              <a:rPr lang="zh-CN" altLang="en-US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" altLang="en-US">
                <a:solidFill>
                  <a:schemeClr val="bg1"/>
                </a:solidFill>
                <a:latin typeface="Aptos Display" panose="020B0004020202020204" pitchFamily="34" charset="0"/>
              </a:rPr>
              <a:t>Forest </a:t>
            </a:r>
            <a:r>
              <a:rPr lang="en-US" altLang="zh-CN">
                <a:solidFill>
                  <a:schemeClr val="bg1"/>
                </a:solidFill>
                <a:latin typeface="Aptos Display" panose="020B0004020202020204" pitchFamily="34" charset="0"/>
              </a:rPr>
              <a:t>T</a:t>
            </a:r>
            <a:r>
              <a:rPr lang="en" altLang="en-US">
                <a:solidFill>
                  <a:schemeClr val="bg1"/>
                </a:solidFill>
                <a:latin typeface="Aptos Display" panose="020B0004020202020204" pitchFamily="34" charset="0"/>
              </a:rPr>
              <a:t>o a binary tree</a:t>
            </a:r>
            <a:endParaRPr lang="en" altLang="en-US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05208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Binary tree traversal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 anchor="ctr" anchorCtr="0">
            <a:normAutofit/>
          </a:bodyPr>
          <a:lstStyle/>
          <a:p>
            <a:r>
              <a:rPr lang="en" altLang="en-US" dirty="0">
                <a:latin typeface="Aptos Display" panose="020B0004020202020204" pitchFamily="34" charset="0"/>
                <a:sym typeface="Wingdings" pitchFamily="2" charset="2"/>
              </a:rPr>
              <a:t>Traversal (preorder traversal, inorder traversal, postorder traversal)</a:t>
            </a:r>
            <a:endParaRPr lang="en-US" altLang="zh-CN" dirty="0">
              <a:latin typeface="Aptos Display" panose="020B0004020202020204" pitchFamily="34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void preorder(int fa){</a:t>
            </a:r>
          </a:p>
          <a:p>
            <a:pPr marL="0" indent="0">
              <a:buNone/>
            </a:pP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if (fa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0){</a:t>
            </a:r>
          </a:p>
          <a:p>
            <a:pPr marL="0" indent="0">
              <a:buNone/>
            </a:pP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visit(fa);</a:t>
            </a:r>
          </a:p>
          <a:p>
            <a:pPr marL="0" indent="0">
              <a:buNone/>
            </a:pP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preorder(</a:t>
            </a:r>
            <a:r>
              <a:rPr lang="en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lchild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[fa]);</a:t>
            </a:r>
          </a:p>
          <a:p>
            <a:pPr marL="0" indent="0">
              <a:buNone/>
            </a:pP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preorder(</a:t>
            </a:r>
            <a:r>
              <a:rPr lang="en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rchild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[fa]);</a:t>
            </a:r>
          </a:p>
          <a:p>
            <a:pPr marL="0" indent="0">
              <a:buNone/>
            </a:pP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43895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characteristics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of binary 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</p:spPr>
            <p:txBody>
              <a:bodyPr anchor="ctr" anchorCtr="0">
                <a:normAutofit/>
              </a:bodyPr>
              <a:lstStyle/>
              <a:p>
                <a:r>
                  <a:rPr lang="en-US" altLang="zh-CN" dirty="0">
                    <a:latin typeface="Aptos Display" panose="020B0004020202020204" pitchFamily="34" charset="0"/>
                  </a:rPr>
                  <a:t>Maximum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lang="en-US" altLang="zh-CN">
                            <a:latin typeface="Cambria Math" panose="02040503050406030204" pitchFamily="18" charset="0"/>
                            <a:sym typeface="Wingdings" pitchFamily="2" charset="2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sym typeface="Wingdings" pitchFamily="2" charset="2"/>
                          </a:rPr>
                          <m:t>i</m:t>
                        </m:r>
                        <m:r>
                          <a:rPr lang="en-US" altLang="zh-CN">
                            <a:latin typeface="Cambria Math" panose="02040503050406030204" pitchFamily="18" charset="0"/>
                            <a:sym typeface="Wingdings" pitchFamily="2" charset="2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nodes on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sym typeface="Wingdings" pitchFamily="2" charset="2"/>
                      </a:rPr>
                      <m:t>i</m:t>
                    </m:r>
                  </m:oMath>
                </a14:m>
                <a:r>
                  <a:rPr lang="en-US" altLang="zh-CN" dirty="0">
                    <a:latin typeface="Aptos Display" panose="020B0004020202020204" pitchFamily="34" charset="0"/>
                  </a:rPr>
                  <a:t>-</a:t>
                </a:r>
                <a:r>
                  <a:rPr lang="en" altLang="en-US" dirty="0">
                    <a:latin typeface="Aptos Display" panose="020B0004020202020204" pitchFamily="34" charset="0"/>
                  </a:rPr>
                  <a:t>th level of a binary tree.</a:t>
                </a:r>
              </a:p>
              <a:p>
                <a:r>
                  <a:rPr lang="en-US" altLang="zh-CN" dirty="0">
                    <a:latin typeface="Aptos Display" panose="020B0004020202020204" pitchFamily="34" charset="0"/>
                  </a:rPr>
                  <a:t>Maximum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lang="en-US" altLang="zh-CN">
                            <a:latin typeface="Cambria Math" panose="02040503050406030204" pitchFamily="18" charset="0"/>
                            <a:sym typeface="Wingdings" pitchFamily="2" charset="2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sym typeface="Wingdings" pitchFamily="2" charset="2"/>
                          </a:rPr>
                          <m:t>k</m:t>
                        </m:r>
                      </m:sup>
                    </m:sSup>
                    <m:r>
                      <a:rPr lang="en-US" altLang="zh-CN">
                        <a:latin typeface="Cambria Math" panose="02040503050406030204" pitchFamily="18" charset="0"/>
                        <a:sym typeface="Wingdings" pitchFamily="2" charset="2"/>
                      </a:rPr>
                      <m:t>−1</m:t>
                    </m:r>
                  </m:oMath>
                </a14:m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nodes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in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a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binary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tree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of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depth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  <a:sym typeface="Wingdings" pitchFamily="2" charset="2"/>
                      </a:rPr>
                      <m:t>k</m:t>
                    </m:r>
                  </m:oMath>
                </a14:m>
                <a:r>
                  <a:rPr lang="en" altLang="en-US" dirty="0">
                    <a:latin typeface="Aptos Display" panose="020B0004020202020204" pitchFamily="34" charset="0"/>
                  </a:rPr>
                  <a:t>.</a:t>
                </a:r>
              </a:p>
              <a:p>
                <a:r>
                  <a:rPr lang="en" altLang="en-US" dirty="0">
                    <a:latin typeface="Aptos Display" panose="020B0004020202020204" pitchFamily="34" charset="0"/>
                  </a:rPr>
                  <a:t>In a binary tree,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there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is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  <a:sym typeface="Wingdings" pitchFamily="2" charset="2"/>
                      </a:rPr>
                      <m:t>1</m:t>
                    </m:r>
                  </m:oMath>
                </a14:m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more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leaf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node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than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the number of nodes with degree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  <a:sym typeface="Wingdings" pitchFamily="2" charset="2"/>
                      </a:rPr>
                      <m:t>2</m:t>
                    </m:r>
                  </m:oMath>
                </a14:m>
                <a:r>
                  <a:rPr lang="en" altLang="en-US" dirty="0">
                    <a:latin typeface="Aptos Display" panose="020B0004020202020204" pitchFamily="34" charset="0"/>
                  </a:rPr>
                  <a:t>.</a:t>
                </a:r>
                <a:endParaRPr lang="en-US" altLang="zh-CN" dirty="0">
                  <a:latin typeface="Aptos Display" panose="020B0004020202020204" pitchFamily="34" charset="0"/>
                </a:endParaRPr>
              </a:p>
              <a:p>
                <a:r>
                  <a:rPr lang="en" altLang="en-US" dirty="0">
                    <a:latin typeface="Aptos Display" panose="020B0004020202020204" pitchFamily="34" charset="0"/>
                  </a:rPr>
                  <a:t>In a complete binary tree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  <a:sym typeface="Wingdings" pitchFamily="2" charset="2"/>
                      </a:rPr>
                      <m:t>n</m:t>
                    </m:r>
                  </m:oMath>
                </a14:m>
                <a:r>
                  <a:rPr lang="en" altLang="en-US" dirty="0">
                    <a:latin typeface="Aptos Display" panose="020B0004020202020204" pitchFamily="34" charset="0"/>
                  </a:rPr>
                  <a:t> node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s</a:t>
                </a:r>
                <a:r>
                  <a:rPr lang="en" altLang="en-US" dirty="0">
                    <a:latin typeface="Aptos Display" panose="020B0004020202020204" pitchFamily="34" charset="0"/>
                  </a:rPr>
                  <a:t>,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with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t</a:t>
                </a:r>
                <a:r>
                  <a:rPr lang="en" altLang="en-US" dirty="0">
                    <a:latin typeface="Aptos Display" panose="020B0004020202020204" pitchFamily="34" charset="0"/>
                  </a:rPr>
                  <a:t>he nodes numbered in level order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,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f</a:t>
                </a:r>
                <a:r>
                  <a:rPr lang="en" altLang="en-US" dirty="0">
                    <a:latin typeface="Aptos Display" panose="020B0004020202020204" pitchFamily="34" charset="0"/>
                  </a:rPr>
                  <a:t>or any node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>
                        <a:latin typeface="Cambria Math" panose="02040503050406030204" pitchFamily="18" charset="0"/>
                        <a:sym typeface="Wingdings" pitchFamily="2" charset="2"/>
                      </a:rPr>
                      <m:t>i</m:t>
                    </m:r>
                  </m:oMath>
                </a14:m>
                <a:r>
                  <a:rPr lang="en" altLang="zh-CN" dirty="0">
                    <a:latin typeface="Aptos Display" panose="020B0004020202020204" pitchFamily="34" charset="0"/>
                  </a:rPr>
                  <a:t>,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we have:</a:t>
                </a:r>
              </a:p>
              <a:p>
                <a:pPr marL="457200" lvl="1" indent="0">
                  <a:buNone/>
                </a:pPr>
                <a:r>
                  <a:rPr lang="en" altLang="zh-CN" dirty="0">
                    <a:latin typeface="Aptos Display" panose="020B0004020202020204" pitchFamily="34" charset="0"/>
                  </a:rPr>
                  <a:t>(1)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  <a:sym typeface="Wingdings" pitchFamily="2" charset="2"/>
                      </a:rPr>
                      <m:t>i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  <a:sym typeface="Wingdings" pitchFamily="2" charset="2"/>
                      </a:rPr>
                      <m:t>=1</m:t>
                    </m:r>
                  </m:oMath>
                </a14:m>
                <a:r>
                  <a:rPr lang="en-US" altLang="zh-CN" dirty="0">
                    <a:latin typeface="Aptos Display" panose="020B0004020202020204" pitchFamily="34" charset="0"/>
                  </a:rPr>
                  <a:t>,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node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𝑖</m:t>
                    </m:r>
                  </m:oMath>
                </a14:m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is the root of the binary tree, it has no parent; otherwise,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its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parent is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>
                        <a:latin typeface="Cambria Math" panose="02040503050406030204" pitchFamily="18" charset="0"/>
                        <a:sym typeface="Wingdings" pitchFamily="2" charset="2"/>
                      </a:rPr>
                      <m:t>i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  <a:sym typeface="Wingdings" pitchFamily="2" charset="2"/>
                      </a:rPr>
                      <m:t>/2</m:t>
                    </m:r>
                  </m:oMath>
                </a14:m>
                <a:r>
                  <a:rPr lang="en-US" altLang="zh-CN" dirty="0">
                    <a:latin typeface="Aptos Display" panose="020B0004020202020204" pitchFamily="34" charset="0"/>
                  </a:rPr>
                  <a:t>,</a:t>
                </a:r>
              </a:p>
              <a:p>
                <a:pPr marL="457200" lvl="1" indent="0">
                  <a:buNone/>
                </a:pPr>
                <a:r>
                  <a:rPr lang="en" altLang="zh-CN" dirty="0">
                    <a:latin typeface="Aptos Display" panose="020B0004020202020204" pitchFamily="34" charset="0"/>
                  </a:rPr>
                  <a:t>(2)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  <a:sym typeface="Wingdings" pitchFamily="2" charset="2"/>
                      </a:rPr>
                      <m:t>2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sym typeface="Wingdings" pitchFamily="2" charset="2"/>
                      </a:rPr>
                      <m:t>i</m:t>
                    </m:r>
                    <m:r>
                      <a:rPr lang="en-US" altLang="zh-CN">
                        <a:latin typeface="Cambria Math" panose="02040503050406030204" pitchFamily="18" charset="0"/>
                        <a:sym typeface="Wingdings" pitchFamily="2" charset="2"/>
                      </a:rPr>
                      <m:t>&gt;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sym typeface="Wingdings" pitchFamily="2" charset="2"/>
                      </a:rPr>
                      <m:t>n</m:t>
                    </m:r>
                  </m:oMath>
                </a14:m>
                <a:r>
                  <a:rPr lang="en-US" altLang="zh-CN" dirty="0">
                    <a:latin typeface="Aptos Display" panose="020B0004020202020204" pitchFamily="34" charset="0"/>
                  </a:rPr>
                  <a:t>,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the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node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has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no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left child, otherwise the left child is </a:t>
                </a:r>
                <a14:m>
                  <m:oMath xmlns:m="http://schemas.openxmlformats.org/officeDocument/2006/math">
                    <m:r>
                      <a:rPr lang="en-US" altLang="zh-CN" b="0" i="0">
                        <a:latin typeface="Cambria Math" panose="02040503050406030204" pitchFamily="18" charset="0"/>
                        <a:sym typeface="Wingdings" pitchFamily="2" charset="2"/>
                      </a:rPr>
                      <m:t>2</m:t>
                    </m:r>
                    <m:r>
                      <m:rPr>
                        <m:sty m:val="p"/>
                      </m:rPr>
                      <a:rPr lang="en-US" altLang="zh-CN" b="0" i="0">
                        <a:latin typeface="Cambria Math" panose="02040503050406030204" pitchFamily="18" charset="0"/>
                        <a:sym typeface="Wingdings" pitchFamily="2" charset="2"/>
                      </a:rPr>
                      <m:t>i</m:t>
                    </m:r>
                  </m:oMath>
                </a14:m>
                <a:r>
                  <a:rPr lang="en-US" altLang="zh-CN" dirty="0">
                    <a:latin typeface="Aptos Display" panose="020B0004020202020204" pitchFamily="34" charset="0"/>
                  </a:rPr>
                  <a:t>,</a:t>
                </a:r>
              </a:p>
              <a:p>
                <a:pPr marL="457200" lvl="1" indent="0">
                  <a:buNone/>
                </a:pPr>
                <a:r>
                  <a:rPr lang="en" altLang="zh-CN" dirty="0">
                    <a:latin typeface="Aptos Display" panose="020B0004020202020204" pitchFamily="34" charset="0"/>
                  </a:rPr>
                  <a:t>(3)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  <a:sym typeface="Wingdings" pitchFamily="2" charset="2"/>
                      </a:rPr>
                      <m:t>2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sym typeface="Wingdings" pitchFamily="2" charset="2"/>
                      </a:rPr>
                      <m:t>i</m:t>
                    </m:r>
                    <m:r>
                      <a:rPr lang="en-US" altLang="zh-CN">
                        <a:latin typeface="Cambria Math" panose="02040503050406030204" pitchFamily="18" charset="0"/>
                        <a:sym typeface="Wingdings" pitchFamily="2" charset="2"/>
                      </a:rPr>
                      <m:t>+1&gt;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sym typeface="Wingdings" pitchFamily="2" charset="2"/>
                      </a:rPr>
                      <m:t>n</m:t>
                    </m:r>
                  </m:oMath>
                </a14:m>
                <a:r>
                  <a:rPr lang="en-US" altLang="zh-CN" dirty="0">
                    <a:latin typeface="Aptos Display" panose="020B0004020202020204" pitchFamily="34" charset="0"/>
                  </a:rPr>
                  <a:t>,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the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node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has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no</a:t>
                </a:r>
                <a:r>
                  <a:rPr lang="zh-CN" altLang="en-US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dirty="0">
                    <a:latin typeface="Aptos Display" panose="020B0004020202020204" pitchFamily="34" charset="0"/>
                  </a:rPr>
                  <a:t>right child</a:t>
                </a:r>
                <a:r>
                  <a:rPr lang="en-US" altLang="zh-CN" dirty="0">
                    <a:latin typeface="Aptos Display" panose="020B0004020202020204" pitchFamily="34" charset="0"/>
                  </a:rPr>
                  <a:t>,</a:t>
                </a:r>
                <a:r>
                  <a:rPr lang="en" altLang="en-US" dirty="0">
                    <a:latin typeface="Aptos Display" panose="020B0004020202020204" pitchFamily="34" charset="0"/>
                  </a:rPr>
                  <a:t> otherwise, the right child is </a:t>
                </a:r>
                <a14:m>
                  <m:oMath xmlns:m="http://schemas.openxmlformats.org/officeDocument/2006/math">
                    <m:r>
                      <a:rPr lang="en-US" altLang="zh-CN" b="0" i="0">
                        <a:latin typeface="Cambria Math" panose="02040503050406030204" pitchFamily="18" charset="0"/>
                        <a:sym typeface="Wingdings" pitchFamily="2" charset="2"/>
                      </a:rPr>
                      <m:t>2</m:t>
                    </m:r>
                    <m:r>
                      <m:rPr>
                        <m:sty m:val="p"/>
                      </m:rPr>
                      <a:rPr lang="en-US" altLang="zh-CN" b="0" i="0">
                        <a:latin typeface="Cambria Math" panose="02040503050406030204" pitchFamily="18" charset="0"/>
                        <a:sym typeface="Wingdings" pitchFamily="2" charset="2"/>
                      </a:rPr>
                      <m:t>i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  <a:sym typeface="Wingdings" pitchFamily="2" charset="2"/>
                      </a:rPr>
                      <m:t>+1</m:t>
                    </m:r>
                  </m:oMath>
                </a14:m>
                <a:r>
                  <a:rPr lang="en-US" altLang="zh-CN" dirty="0">
                    <a:latin typeface="Aptos Display" panose="020B00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  <a:blipFill>
                <a:blip r:embed="rId3"/>
                <a:stretch>
                  <a:fillRect l="-1224" r="-7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22359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CN" cap="none" dirty="0">
                <a:solidFill>
                  <a:schemeClr val="bg1"/>
                </a:solidFill>
                <a:latin typeface="Aptos Display" panose="020B0004020202020204" pitchFamily="34" charset="0"/>
                <a:ea typeface="+mn-ea"/>
              </a:rPr>
              <a:t>Binary </a:t>
            </a:r>
            <a:r>
              <a:rPr lang="en-US" altLang="zh-CN" cap="none" dirty="0">
                <a:solidFill>
                  <a:schemeClr val="bg1"/>
                </a:solidFill>
                <a:latin typeface="Aptos Display" panose="020B0004020202020204" pitchFamily="34" charset="0"/>
                <a:ea typeface="+mn-ea"/>
              </a:rPr>
              <a:t>Sort</a:t>
            </a:r>
            <a:r>
              <a:rPr lang="zh-CN" altLang="en-US" cap="none" dirty="0">
                <a:solidFill>
                  <a:schemeClr val="bg1"/>
                </a:solidFill>
                <a:latin typeface="Aptos Display" panose="020B0004020202020204" pitchFamily="34" charset="0"/>
                <a:ea typeface="+mn-ea"/>
              </a:rPr>
              <a:t> </a:t>
            </a:r>
            <a:r>
              <a:rPr lang="en" altLang="en-US" cap="none" dirty="0">
                <a:solidFill>
                  <a:schemeClr val="bg1"/>
                </a:solidFill>
                <a:latin typeface="Aptos Display" panose="020B0004020202020204" pitchFamily="34" charset="0"/>
                <a:ea typeface="+mn-ea"/>
              </a:rPr>
              <a:t>Tree (BST</a:t>
            </a:r>
            <a:r>
              <a:rPr lang="en" altLang="zh-CN" cap="none" dirty="0">
                <a:solidFill>
                  <a:schemeClr val="bg1"/>
                </a:solidFill>
                <a:latin typeface="Aptos Display" panose="020B0004020202020204" pitchFamily="34" charset="0"/>
                <a:ea typeface="+mn-ea"/>
              </a:rPr>
              <a:t>)</a:t>
            </a:r>
            <a:endParaRPr lang="en" altLang="en-US" cap="none" dirty="0">
              <a:solidFill>
                <a:schemeClr val="bg1"/>
              </a:solidFill>
              <a:latin typeface="Aptos Display" panose="020B0004020202020204" pitchFamily="34" charset="0"/>
              <a:ea typeface="+mn-ea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 anchor="ctr" anchorCtr="0">
            <a:normAutofit/>
          </a:bodyPr>
          <a:lstStyle/>
          <a:p>
            <a:r>
              <a:rPr lang="en" altLang="en-US" dirty="0">
                <a:latin typeface="Aptos Display" panose="020B0004020202020204" pitchFamily="34" charset="0"/>
              </a:rPr>
              <a:t>A binary sort tree is also known as a binary search tree.</a:t>
            </a:r>
          </a:p>
          <a:p>
            <a:r>
              <a:rPr lang="en" altLang="en-US" dirty="0">
                <a:latin typeface="Aptos Display" panose="020B0004020202020204" pitchFamily="34" charset="0"/>
              </a:rPr>
              <a:t>It is either an empty tree or a binary tree with the following properties: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marL="457200" lvl="1" indent="0">
              <a:buNone/>
            </a:pPr>
            <a:r>
              <a:rPr lang="en" altLang="zh-CN" dirty="0">
                <a:latin typeface="Aptos Display" panose="020B0004020202020204" pitchFamily="34" charset="0"/>
              </a:rPr>
              <a:t>(1) </a:t>
            </a:r>
            <a:r>
              <a:rPr lang="en" altLang="en-US" dirty="0">
                <a:latin typeface="Aptos Display" panose="020B0004020202020204" pitchFamily="34" charset="0"/>
              </a:rPr>
              <a:t>If its left subtree is not empty, then the value of all nodes in the left subtree is less than the value of the root node.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marL="457200" lvl="1" indent="0">
              <a:buNone/>
            </a:pPr>
            <a:r>
              <a:rPr lang="en" altLang="zh-CN" dirty="0">
                <a:latin typeface="Aptos Display" panose="020B0004020202020204" pitchFamily="34" charset="0"/>
              </a:rPr>
              <a:t>(2) </a:t>
            </a:r>
            <a:r>
              <a:rPr lang="en" altLang="en-US" dirty="0">
                <a:latin typeface="Aptos Display" panose="020B0004020202020204" pitchFamily="34" charset="0"/>
              </a:rPr>
              <a:t>If its right subtree is not empty, then the value of all nodes in the right subtree is greater than the value of the root node.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marL="457200" lvl="1" indent="0">
              <a:buNone/>
            </a:pPr>
            <a:r>
              <a:rPr lang="en" altLang="zh-CN" dirty="0">
                <a:latin typeface="Aptos Display" panose="020B0004020202020204" pitchFamily="34" charset="0"/>
              </a:rPr>
              <a:t>(3) </a:t>
            </a:r>
            <a:r>
              <a:rPr lang="en" altLang="en-US" dirty="0">
                <a:latin typeface="Aptos Display" panose="020B0004020202020204" pitchFamily="34" charset="0"/>
              </a:rPr>
              <a:t>Its left and right subtrees are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also</a:t>
            </a:r>
            <a:r>
              <a:rPr lang="en" altLang="en-US" dirty="0">
                <a:latin typeface="Aptos Display" panose="020B0004020202020204" pitchFamily="34" charset="0"/>
              </a:rPr>
              <a:t> binary </a:t>
            </a:r>
            <a:r>
              <a:rPr lang="en-US" altLang="zh-CN" dirty="0">
                <a:latin typeface="Aptos Display" panose="020B0004020202020204" pitchFamily="34" charset="0"/>
              </a:rPr>
              <a:t>sort</a:t>
            </a:r>
            <a:r>
              <a:rPr lang="en" altLang="en-US" dirty="0">
                <a:latin typeface="Aptos Display" panose="020B0004020202020204" pitchFamily="34" charset="0"/>
              </a:rPr>
              <a:t> trees.</a:t>
            </a:r>
            <a:endParaRPr lang="en-US" altLang="zh-CN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1268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Binary 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sort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Tree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5687096" cy="5282749"/>
          </a:xfrm>
        </p:spPr>
        <p:txBody>
          <a:bodyPr anchor="ctr" anchorCtr="0">
            <a:normAutofit/>
          </a:bodyPr>
          <a:lstStyle/>
          <a:p>
            <a:r>
              <a:rPr lang="en" altLang="en-US" dirty="0">
                <a:latin typeface="Aptos Display" panose="020B0004020202020204" pitchFamily="34" charset="0"/>
              </a:rPr>
              <a:t>There are two types of edges in a binary search tree: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lvl="1"/>
            <a:r>
              <a:rPr lang="en" altLang="en-US" dirty="0">
                <a:latin typeface="Aptos Display" panose="020B0004020202020204" pitchFamily="34" charset="0"/>
              </a:rPr>
              <a:t>Red </a:t>
            </a:r>
            <a:r>
              <a:rPr lang="en-US" altLang="zh-CN" dirty="0">
                <a:latin typeface="Aptos Display" panose="020B0004020202020204" pitchFamily="34" charset="0"/>
              </a:rPr>
              <a:t>edge</a:t>
            </a:r>
            <a:r>
              <a:rPr lang="en" altLang="en-US" dirty="0">
                <a:latin typeface="Aptos Display" panose="020B0004020202020204" pitchFamily="34" charset="0"/>
              </a:rPr>
              <a:t>: </a:t>
            </a:r>
            <a:r>
              <a:rPr lang="en-US" altLang="zh-CN" dirty="0">
                <a:latin typeface="Aptos Display" panose="020B0004020202020204" pitchFamily="34" charset="0"/>
              </a:rPr>
              <a:t>i</a:t>
            </a:r>
            <a:r>
              <a:rPr lang="en" altLang="en-US" dirty="0" err="1">
                <a:latin typeface="Aptos Display" panose="020B0004020202020204" pitchFamily="34" charset="0"/>
              </a:rPr>
              <a:t>ndicates</a:t>
            </a:r>
            <a:r>
              <a:rPr lang="en" altLang="en-US" dirty="0">
                <a:latin typeface="Aptos Display" panose="020B0004020202020204" pitchFamily="34" charset="0"/>
              </a:rPr>
              <a:t> the </a:t>
            </a:r>
            <a:r>
              <a:rPr lang="en-US" altLang="zh-CN" dirty="0">
                <a:latin typeface="Aptos Display" panose="020B0004020202020204" pitchFamily="34" charset="0"/>
              </a:rPr>
              <a:t>parent’s</a:t>
            </a:r>
            <a:r>
              <a:rPr lang="en" altLang="en-US" dirty="0">
                <a:latin typeface="Aptos Display" panose="020B0004020202020204" pitchFamily="34" charset="0"/>
              </a:rPr>
              <a:t> left son.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lvl="1"/>
            <a:r>
              <a:rPr lang="en" altLang="en-US" dirty="0">
                <a:latin typeface="Aptos Display" panose="020B0004020202020204" pitchFamily="34" charset="0"/>
              </a:rPr>
              <a:t>Blue </a:t>
            </a:r>
            <a:r>
              <a:rPr lang="en-US" altLang="zh-CN" dirty="0">
                <a:latin typeface="Aptos Display" panose="020B0004020202020204" pitchFamily="34" charset="0"/>
              </a:rPr>
              <a:t>edge</a:t>
            </a:r>
            <a:r>
              <a:rPr lang="en" altLang="en-US" dirty="0">
                <a:latin typeface="Aptos Display" panose="020B0004020202020204" pitchFamily="34" charset="0"/>
              </a:rPr>
              <a:t>: indicates the </a:t>
            </a:r>
            <a:r>
              <a:rPr lang="en-US" altLang="zh-CN" dirty="0">
                <a:latin typeface="Aptos Display" panose="020B0004020202020204" pitchFamily="34" charset="0"/>
              </a:rPr>
              <a:t>parent’s</a:t>
            </a:r>
            <a:r>
              <a:rPr lang="en" altLang="en-US" dirty="0">
                <a:latin typeface="Aptos Display" panose="020B0004020202020204" pitchFamily="34" charset="0"/>
              </a:rPr>
              <a:t> right son.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61F19CC9-9898-804B-BB19-EB140A831D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5708" y="1979596"/>
            <a:ext cx="4438650" cy="429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64506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Example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E82CC634-1713-C44D-A7C2-4AB0522B4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2852" y="1486111"/>
            <a:ext cx="7580313" cy="450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6CE45E4-3B7C-5E6C-A833-3F4ACAF66B2D}"/>
              </a:ext>
            </a:extLst>
          </p:cNvPr>
          <p:cNvSpPr txBox="1"/>
          <p:nvPr/>
        </p:nvSpPr>
        <p:spPr>
          <a:xfrm>
            <a:off x="2769705" y="4848669"/>
            <a:ext cx="2451652" cy="52322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height</a:t>
            </a: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A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333A09-60F1-5EB2-5BE1-7928ED0E9F5D}"/>
              </a:ext>
            </a:extLst>
          </p:cNvPr>
          <p:cNvSpPr txBox="1"/>
          <p:nvPr/>
        </p:nvSpPr>
        <p:spPr>
          <a:xfrm>
            <a:off x="6615600" y="4848669"/>
            <a:ext cx="2451652" cy="52322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height</a:t>
            </a: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A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0A57C7-E81D-E399-4EFD-34E35FAE9568}"/>
              </a:ext>
            </a:extLst>
          </p:cNvPr>
          <p:cNvSpPr txBox="1"/>
          <p:nvPr/>
        </p:nvSpPr>
        <p:spPr>
          <a:xfrm>
            <a:off x="4008782" y="5398393"/>
            <a:ext cx="3902766" cy="52322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BST</a:t>
            </a: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structures</a:t>
            </a:r>
            <a:endParaRPr lang="en-A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8651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S</a:t>
            </a:r>
            <a:r>
              <a:rPr lang="en" altLang="en-US" dirty="0" err="1">
                <a:solidFill>
                  <a:schemeClr val="bg1"/>
                </a:solidFill>
                <a:latin typeface="Aptos Display" panose="020B0004020202020204" pitchFamily="34" charset="0"/>
              </a:rPr>
              <a:t>earch</a:t>
            </a:r>
            <a:r>
              <a:rPr lang="en-US" altLang="zh-CN" dirty="0" err="1">
                <a:solidFill>
                  <a:schemeClr val="bg1"/>
                </a:solidFill>
                <a:latin typeface="Aptos Display" panose="020B0004020202020204" pitchFamily="34" charset="0"/>
              </a:rPr>
              <a:t>ing</a:t>
            </a:r>
            <a:r>
              <a:rPr lang="zh-C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a</a:t>
            </a:r>
            <a:r>
              <a:rPr lang="zh-C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BST</a:t>
            </a:r>
            <a:endParaRPr lang="en" altLang="en-US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 anchor="ctr" anchorCtr="0">
            <a:normAutofit/>
          </a:bodyPr>
          <a:lstStyle/>
          <a:p>
            <a:pPr marL="0" indent="0">
              <a:buNone/>
            </a:pP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nt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bst_search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(int rt, int key){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if (rt ==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0 || data[rt]==key) return rt;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if (data[rt] &lt; key)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return </a:t>
            </a:r>
            <a:r>
              <a:rPr lang="en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bst_search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lch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[rt],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key);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return </a:t>
            </a:r>
            <a:r>
              <a:rPr lang="en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bst_search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rch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[rt],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key);</a:t>
            </a:r>
          </a:p>
          <a:p>
            <a:pPr marL="0" indent="0">
              <a:buNone/>
            </a:pP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105052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Inserting</a:t>
            </a:r>
            <a:r>
              <a:rPr lang="zh-C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into</a:t>
            </a:r>
            <a:r>
              <a:rPr lang="zh-C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a</a:t>
            </a:r>
            <a:r>
              <a:rPr lang="zh-C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BST</a:t>
            </a:r>
            <a:endParaRPr lang="en" altLang="en-US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0"/>
            <a:ext cx="10834779" cy="5282749"/>
          </a:xfrm>
        </p:spPr>
        <p:txBody>
          <a:bodyPr anchor="ctr" anchorCtr="0">
            <a:normAutofit/>
          </a:bodyPr>
          <a:lstStyle/>
          <a:p>
            <a:r>
              <a:rPr lang="en" altLang="en-US" dirty="0">
                <a:latin typeface="Aptos Display" panose="020B0004020202020204" pitchFamily="34" charset="0"/>
              </a:rPr>
              <a:t>To insert a new node into a BST while maintaining </a:t>
            </a:r>
            <a:r>
              <a:rPr lang="en" altLang="zh-CN" dirty="0">
                <a:latin typeface="Aptos Display" panose="020B0004020202020204" pitchFamily="34" charset="0"/>
              </a:rPr>
              <a:t>the BST </a:t>
            </a:r>
            <a:r>
              <a:rPr lang="en" altLang="en-US" dirty="0" err="1">
                <a:latin typeface="Aptos Display" panose="020B0004020202020204" pitchFamily="34" charset="0"/>
              </a:rPr>
              <a:t>propert</a:t>
            </a:r>
            <a:r>
              <a:rPr lang="en-US" altLang="zh-CN" dirty="0" err="1">
                <a:latin typeface="Aptos Display" panose="020B0004020202020204" pitchFamily="34" charset="0"/>
              </a:rPr>
              <a:t>ies</a:t>
            </a:r>
            <a:r>
              <a:rPr lang="en" altLang="en-US" dirty="0">
                <a:latin typeface="Aptos Display" panose="020B0004020202020204" pitchFamily="34" charset="0"/>
              </a:rPr>
              <a:t>, the insertion process is as follows: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marL="457200" lvl="1" indent="0">
              <a:lnSpc>
                <a:spcPct val="130000"/>
              </a:lnSpc>
              <a:buNone/>
            </a:pPr>
            <a:r>
              <a:rPr lang="en" altLang="zh-CN" dirty="0">
                <a:latin typeface="Aptos Display" panose="020B0004020202020204" pitchFamily="34" charset="0"/>
              </a:rPr>
              <a:t>(a) </a:t>
            </a:r>
            <a:r>
              <a:rPr lang="en" altLang="en-US" dirty="0">
                <a:latin typeface="Aptos Display" panose="020B0004020202020204" pitchFamily="34" charset="0"/>
              </a:rPr>
              <a:t>If the </a:t>
            </a:r>
            <a:r>
              <a:rPr lang="en-US" altLang="zh-CN" dirty="0">
                <a:latin typeface="Aptos Display" panose="020B0004020202020204" pitchFamily="34" charset="0"/>
              </a:rPr>
              <a:t>BST</a:t>
            </a:r>
            <a:r>
              <a:rPr lang="en" altLang="en-US" dirty="0">
                <a:latin typeface="Aptos Display" panose="020B0004020202020204" pitchFamily="34" charset="0"/>
              </a:rPr>
              <a:t> </a:t>
            </a:r>
            <a:r>
              <a:rPr lang="en" altLang="zh-CN" dirty="0">
                <a:latin typeface="Aptos Display" panose="020B0004020202020204" pitchFamily="34" charset="0"/>
              </a:rPr>
              <a:t>T is empty, </a:t>
            </a:r>
            <a:r>
              <a:rPr lang="en" altLang="en-US" dirty="0">
                <a:latin typeface="Aptos Display" panose="020B0004020202020204" pitchFamily="34" charset="0"/>
              </a:rPr>
              <a:t>allocate a new node for the </a:t>
            </a:r>
            <a:r>
              <a:rPr lang="en" altLang="en-US" i="1" dirty="0">
                <a:latin typeface="Aptos Display" panose="020B0004020202020204" pitchFamily="34" charset="0"/>
              </a:rPr>
              <a:t>key</a:t>
            </a:r>
            <a:r>
              <a:rPr lang="en" altLang="en-US" dirty="0">
                <a:latin typeface="Aptos Display" panose="020B0004020202020204" pitchFamily="34" charset="0"/>
              </a:rPr>
              <a:t> to be inserted and make it the root; </a:t>
            </a:r>
            <a:br>
              <a:rPr lang="zh-CN" altLang="en-US" dirty="0">
                <a:latin typeface="Aptos Display" panose="020B0004020202020204" pitchFamily="34" charset="0"/>
              </a:rPr>
            </a:br>
            <a:r>
              <a:rPr lang="en" altLang="zh-CN" dirty="0">
                <a:latin typeface="Aptos Display" panose="020B0004020202020204" pitchFamily="34" charset="0"/>
              </a:rPr>
              <a:t>(</a:t>
            </a:r>
            <a:r>
              <a:rPr lang="en" altLang="en-US" dirty="0">
                <a:latin typeface="Aptos Display" panose="020B0004020202020204" pitchFamily="34" charset="0"/>
              </a:rPr>
              <a:t>b</a:t>
            </a:r>
            <a:r>
              <a:rPr lang="en" altLang="zh-CN" dirty="0">
                <a:latin typeface="Aptos Display" panose="020B0004020202020204" pitchFamily="34" charset="0"/>
              </a:rPr>
              <a:t>) </a:t>
            </a:r>
            <a:r>
              <a:rPr lang="en" altLang="en-US" dirty="0">
                <a:latin typeface="Aptos Display" panose="020B0004020202020204" pitchFamily="34" charset="0"/>
              </a:rPr>
              <a:t>If the </a:t>
            </a:r>
            <a:r>
              <a:rPr lang="en-US" altLang="zh-CN" dirty="0">
                <a:latin typeface="Aptos Display" panose="020B0004020202020204" pitchFamily="34" charset="0"/>
              </a:rPr>
              <a:t>BST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" altLang="zh-CN" dirty="0">
                <a:latin typeface="Aptos Display" panose="020B0004020202020204" pitchFamily="34" charset="0"/>
              </a:rPr>
              <a:t>T </a:t>
            </a:r>
            <a:r>
              <a:rPr lang="en" altLang="en-US" dirty="0">
                <a:latin typeface="Aptos Display" panose="020B0004020202020204" pitchFamily="34" charset="0"/>
              </a:rPr>
              <a:t>is not empty, compare </a:t>
            </a:r>
            <a:r>
              <a:rPr lang="en" altLang="zh-CN" i="1" dirty="0">
                <a:latin typeface="Aptos Display" panose="020B0004020202020204" pitchFamily="34" charset="0"/>
              </a:rPr>
              <a:t>key</a:t>
            </a:r>
            <a:r>
              <a:rPr lang="en" altLang="zh-CN" dirty="0">
                <a:latin typeface="Aptos Display" panose="020B0004020202020204" pitchFamily="34" charset="0"/>
              </a:rPr>
              <a:t> </a:t>
            </a:r>
            <a:r>
              <a:rPr lang="en" altLang="en-US" dirty="0">
                <a:latin typeface="Aptos Display" panose="020B0004020202020204" pitchFamily="34" charset="0"/>
              </a:rPr>
              <a:t>with the </a:t>
            </a:r>
            <a:r>
              <a:rPr lang="en-US" altLang="zh-CN" dirty="0">
                <a:latin typeface="Aptos Display" panose="020B0004020202020204" pitchFamily="34" charset="0"/>
              </a:rPr>
              <a:t>key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of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the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" altLang="en-US" dirty="0">
                <a:latin typeface="Aptos Display" panose="020B0004020202020204" pitchFamily="34" charset="0"/>
              </a:rPr>
              <a:t>root:</a:t>
            </a:r>
            <a:br>
              <a:rPr lang="zh-CN" altLang="en-US" dirty="0">
                <a:latin typeface="Aptos Display" panose="020B0004020202020204" pitchFamily="34" charset="0"/>
              </a:rPr>
            </a:br>
            <a:r>
              <a:rPr lang="en-AU" altLang="zh-CN" dirty="0">
                <a:latin typeface="Aptos Display" panose="020B0004020202020204" pitchFamily="34" charset="0"/>
              </a:rPr>
              <a:t>	</a:t>
            </a:r>
            <a:r>
              <a:rPr lang="en" altLang="zh-CN" dirty="0">
                <a:latin typeface="Aptos Display" panose="020B0004020202020204" pitchFamily="34" charset="0"/>
              </a:rPr>
              <a:t>(</a:t>
            </a:r>
            <a:r>
              <a:rPr lang="en" altLang="zh-CN" dirty="0" err="1">
                <a:latin typeface="Aptos Display" panose="020B0004020202020204" pitchFamily="34" charset="0"/>
              </a:rPr>
              <a:t>i</a:t>
            </a:r>
            <a:r>
              <a:rPr lang="en" altLang="zh-CN" dirty="0">
                <a:latin typeface="Aptos Display" panose="020B0004020202020204" pitchFamily="34" charset="0"/>
              </a:rPr>
              <a:t>) If the</a:t>
            </a:r>
            <a:r>
              <a:rPr lang="en-US" altLang="zh-CN" dirty="0">
                <a:latin typeface="Aptos Display" panose="020B0004020202020204" pitchFamily="34" charset="0"/>
              </a:rPr>
              <a:t>y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" altLang="zh-CN" dirty="0">
                <a:latin typeface="Aptos Display" panose="020B0004020202020204" pitchFamily="34" charset="0"/>
              </a:rPr>
              <a:t>are equal, </a:t>
            </a:r>
            <a:r>
              <a:rPr lang="en" altLang="zh-CN" i="1" dirty="0">
                <a:latin typeface="Aptos Display" panose="020B0004020202020204" pitchFamily="34" charset="0"/>
              </a:rPr>
              <a:t>key</a:t>
            </a:r>
            <a:r>
              <a:rPr lang="en" altLang="zh-CN" dirty="0">
                <a:latin typeface="Aptos Display" panose="020B0004020202020204" pitchFamily="34" charset="0"/>
              </a:rPr>
              <a:t> </a:t>
            </a:r>
            <a:r>
              <a:rPr lang="en" altLang="en-US" dirty="0">
                <a:latin typeface="Aptos Display" panose="020B0004020202020204" pitchFamily="34" charset="0"/>
              </a:rPr>
              <a:t>already exists in the tree and no insertion is needed.</a:t>
            </a:r>
            <a:br>
              <a:rPr lang="zh-CN" altLang="en-US" dirty="0">
                <a:latin typeface="Aptos Display" panose="020B0004020202020204" pitchFamily="34" charset="0"/>
              </a:rPr>
            </a:br>
            <a:r>
              <a:rPr lang="en-AU" altLang="zh-CN" dirty="0">
                <a:latin typeface="Aptos Display" panose="020B0004020202020204" pitchFamily="34" charset="0"/>
              </a:rPr>
              <a:t>	</a:t>
            </a:r>
            <a:r>
              <a:rPr lang="en" altLang="zh-CN" dirty="0">
                <a:latin typeface="Aptos Display" panose="020B0004020202020204" pitchFamily="34" charset="0"/>
              </a:rPr>
              <a:t>(ii)</a:t>
            </a:r>
            <a:r>
              <a:rPr lang="en" altLang="en-US" dirty="0">
                <a:latin typeface="Aptos Display" panose="020B0004020202020204" pitchFamily="34" charset="0"/>
              </a:rPr>
              <a:t>  </a:t>
            </a:r>
            <a:r>
              <a:rPr lang="en" altLang="zh-CN" dirty="0">
                <a:latin typeface="Aptos Display" panose="020B0004020202020204" pitchFamily="34" charset="0"/>
              </a:rPr>
              <a:t>If </a:t>
            </a:r>
            <a:r>
              <a:rPr lang="en" altLang="zh-CN" i="1" dirty="0">
                <a:latin typeface="Aptos Display" panose="020B0004020202020204" pitchFamily="34" charset="0"/>
              </a:rPr>
              <a:t>key</a:t>
            </a:r>
            <a:r>
              <a:rPr lang="en" altLang="zh-CN" dirty="0">
                <a:latin typeface="Aptos Display" panose="020B0004020202020204" pitchFamily="34" charset="0"/>
              </a:rPr>
              <a:t> &lt; </a:t>
            </a:r>
            <a:r>
              <a:rPr lang="en" altLang="zh-CN" dirty="0" err="1">
                <a:latin typeface="Aptos Display" panose="020B0004020202020204" pitchFamily="34" charset="0"/>
              </a:rPr>
              <a:t>T→key</a:t>
            </a:r>
            <a:r>
              <a:rPr lang="en" altLang="en-US" dirty="0">
                <a:latin typeface="Aptos Display" panose="020B0004020202020204" pitchFamily="34" charset="0"/>
              </a:rPr>
              <a:t>, insert </a:t>
            </a:r>
            <a:r>
              <a:rPr lang="en-US" altLang="zh-CN" i="1" dirty="0">
                <a:latin typeface="Aptos Display" panose="020B0004020202020204" pitchFamily="34" charset="0"/>
              </a:rPr>
              <a:t>key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" altLang="en-US" dirty="0">
                <a:latin typeface="Aptos Display" panose="020B0004020202020204" pitchFamily="34" charset="0"/>
              </a:rPr>
              <a:t>into the left subtree of the root.</a:t>
            </a:r>
            <a:br>
              <a:rPr lang="zh-CN" altLang="en-US" dirty="0">
                <a:latin typeface="Aptos Display" panose="020B0004020202020204" pitchFamily="34" charset="0"/>
              </a:rPr>
            </a:br>
            <a:r>
              <a:rPr lang="en-AU" altLang="zh-CN" dirty="0">
                <a:latin typeface="Aptos Display" panose="020B0004020202020204" pitchFamily="34" charset="0"/>
              </a:rPr>
              <a:t>	</a:t>
            </a:r>
            <a:r>
              <a:rPr lang="en" altLang="zh-CN" dirty="0">
                <a:latin typeface="Aptos Display" panose="020B0004020202020204" pitchFamily="34" charset="0"/>
              </a:rPr>
              <a:t>(iii)</a:t>
            </a:r>
            <a:r>
              <a:rPr lang="en" altLang="en-US" dirty="0">
                <a:latin typeface="Aptos Display" panose="020B0004020202020204" pitchFamily="34" charset="0"/>
              </a:rPr>
              <a:t> </a:t>
            </a:r>
            <a:r>
              <a:rPr lang="en" altLang="zh-CN" dirty="0">
                <a:latin typeface="Aptos Display" panose="020B0004020202020204" pitchFamily="34" charset="0"/>
              </a:rPr>
              <a:t>If </a:t>
            </a:r>
            <a:r>
              <a:rPr lang="en" altLang="zh-CN" i="1" dirty="0">
                <a:latin typeface="Aptos Display" panose="020B0004020202020204" pitchFamily="34" charset="0"/>
              </a:rPr>
              <a:t>key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" altLang="zh-CN" dirty="0">
                <a:latin typeface="Aptos Display" panose="020B0004020202020204" pitchFamily="34" charset="0"/>
              </a:rPr>
              <a:t>&gt; </a:t>
            </a:r>
            <a:r>
              <a:rPr lang="en" altLang="zh-CN" dirty="0" err="1">
                <a:latin typeface="Aptos Display" panose="020B0004020202020204" pitchFamily="34" charset="0"/>
              </a:rPr>
              <a:t>T→key</a:t>
            </a:r>
            <a:r>
              <a:rPr lang="en" altLang="en-US" dirty="0">
                <a:latin typeface="Aptos Display" panose="020B0004020202020204" pitchFamily="34" charset="0"/>
              </a:rPr>
              <a:t>, insert </a:t>
            </a:r>
            <a:r>
              <a:rPr lang="en-US" altLang="zh-CN" i="1" dirty="0">
                <a:latin typeface="Aptos Display" panose="020B0004020202020204" pitchFamily="34" charset="0"/>
              </a:rPr>
              <a:t>key</a:t>
            </a:r>
            <a:r>
              <a:rPr lang="en" altLang="en-US" dirty="0">
                <a:latin typeface="Aptos Display" panose="020B0004020202020204" pitchFamily="34" charset="0"/>
              </a:rPr>
              <a:t> into the right subtree of the root.</a:t>
            </a:r>
          </a:p>
          <a:p>
            <a:pPr>
              <a:lnSpc>
                <a:spcPct val="130000"/>
              </a:lnSpc>
            </a:pPr>
            <a:r>
              <a:rPr lang="en" altLang="en-US" dirty="0">
                <a:latin typeface="Aptos Display" panose="020B0004020202020204" pitchFamily="34" charset="0"/>
              </a:rPr>
              <a:t>The insertion process in the subtree is the same as described above. 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" altLang="en-US" dirty="0">
                <a:latin typeface="Aptos Display" panose="020B0004020202020204" pitchFamily="34" charset="0"/>
              </a:rPr>
              <a:t>This continues until </a:t>
            </a:r>
            <a:r>
              <a:rPr lang="en" altLang="zh-CN" i="1" dirty="0">
                <a:latin typeface="Aptos Display" panose="020B0004020202020204" pitchFamily="34" charset="0"/>
              </a:rPr>
              <a:t>key</a:t>
            </a:r>
            <a:r>
              <a:rPr lang="en" altLang="zh-CN" dirty="0">
                <a:latin typeface="Aptos Display" panose="020B0004020202020204" pitchFamily="34" charset="0"/>
              </a:rPr>
              <a:t> </a:t>
            </a:r>
            <a:r>
              <a:rPr lang="en" altLang="en-US" dirty="0">
                <a:latin typeface="Aptos Display" panose="020B0004020202020204" pitchFamily="34" charset="0"/>
              </a:rPr>
              <a:t>is inserted into the </a:t>
            </a:r>
            <a:r>
              <a:rPr lang="en-US" altLang="zh-CN" dirty="0">
                <a:latin typeface="Aptos Display" panose="020B0004020202020204" pitchFamily="34" charset="0"/>
              </a:rPr>
              <a:t>BST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" altLang="en-US" dirty="0">
                <a:latin typeface="Aptos Display" panose="020B0004020202020204" pitchFamily="34" charset="0"/>
              </a:rPr>
              <a:t>as the key of a new leaf node, or until </a:t>
            </a:r>
            <a:r>
              <a:rPr lang="en-US" altLang="zh-CN" i="1" dirty="0">
                <a:latin typeface="Aptos Display" panose="020B0004020202020204" pitchFamily="34" charset="0"/>
              </a:rPr>
              <a:t>k</a:t>
            </a:r>
            <a:r>
              <a:rPr lang="en" altLang="en-US" i="1" dirty="0" err="1">
                <a:latin typeface="Aptos Display" panose="020B0004020202020204" pitchFamily="34" charset="0"/>
              </a:rPr>
              <a:t>ey</a:t>
            </a:r>
            <a:r>
              <a:rPr lang="en" altLang="en-US" dirty="0">
                <a:latin typeface="Aptos Display" panose="020B0004020202020204" pitchFamily="34" charset="0"/>
              </a:rPr>
              <a:t> is found </a:t>
            </a:r>
            <a:r>
              <a:rPr lang="en-US" altLang="zh-CN" dirty="0">
                <a:latin typeface="Aptos Display" panose="020B0004020202020204" pitchFamily="34" charset="0"/>
              </a:rPr>
              <a:t>in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one</a:t>
            </a:r>
            <a:r>
              <a:rPr lang="zh-CN" altLang="en-US" dirty="0"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</a:rPr>
              <a:t>sub</a:t>
            </a:r>
            <a:r>
              <a:rPr lang="en" altLang="en-US" dirty="0">
                <a:latin typeface="Aptos Display" panose="020B0004020202020204" pitchFamily="34" charset="0"/>
              </a:rPr>
              <a:t>tree.</a:t>
            </a:r>
          </a:p>
        </p:txBody>
      </p:sp>
    </p:spTree>
    <p:extLst>
      <p:ext uri="{BB962C8B-B14F-4D97-AF65-F5344CB8AC3E}">
        <p14:creationId xmlns:p14="http://schemas.microsoft.com/office/powerpoint/2010/main" val="24928775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I</a:t>
            </a:r>
            <a:r>
              <a:rPr lang="en" altLang="en-US" dirty="0" err="1">
                <a:solidFill>
                  <a:schemeClr val="bg1"/>
                </a:solidFill>
                <a:latin typeface="Aptos Display" panose="020B0004020202020204" pitchFamily="34" charset="0"/>
              </a:rPr>
              <a:t>nserti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ng</a:t>
            </a:r>
            <a:r>
              <a:rPr lang="zh-C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into</a:t>
            </a:r>
            <a:r>
              <a:rPr lang="zh-C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a</a:t>
            </a:r>
            <a:r>
              <a:rPr lang="zh-C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BST</a:t>
            </a:r>
            <a:endParaRPr lang="en" altLang="en-US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 anchor="ctr" anchorCtr="0">
            <a:normAutofit/>
          </a:bodyPr>
          <a:lstStyle/>
          <a:p>
            <a:pPr marL="0" indent="0">
              <a:buNone/>
            </a:pP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void </a:t>
            </a:r>
            <a:r>
              <a:rPr lang="en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bst_ins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(int &amp;rt, int key){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if (!rt) {rt = </a:t>
            </a:r>
            <a:r>
              <a:rPr lang="en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new_node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(key); return;}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if (data[r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] == key) return;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if (data[rt] &lt; key)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bst_ins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lch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[rt],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key);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</a:p>
          <a:p>
            <a:pPr marL="0" indent="0">
              <a:buNone/>
            </a:pP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en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bst_ins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rch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[rt],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key);</a:t>
            </a:r>
          </a:p>
          <a:p>
            <a:pPr marL="0" indent="0">
              <a:buNone/>
            </a:pPr>
            <a:r>
              <a:rPr lang="en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627922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9EE7FF-C465-5346-AC81-D96A2660E7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2671" y="2968450"/>
            <a:ext cx="7073562" cy="389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G</a:t>
            </a:r>
            <a:r>
              <a:rPr lang="en" altLang="en-US" dirty="0" err="1">
                <a:solidFill>
                  <a:schemeClr val="bg1"/>
                </a:solidFill>
                <a:latin typeface="Aptos Display" panose="020B0004020202020204" pitchFamily="34" charset="0"/>
              </a:rPr>
              <a:t>eneratin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g</a:t>
            </a:r>
            <a:r>
              <a:rPr lang="zh-C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a</a:t>
            </a:r>
            <a:r>
              <a:rPr lang="zh-C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BST</a:t>
            </a:r>
            <a:endParaRPr lang="en" altLang="en-US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1"/>
            <a:ext cx="11112336" cy="1942890"/>
          </a:xfrm>
        </p:spPr>
        <p:txBody>
          <a:bodyPr anchor="ctr" anchorCtr="0">
            <a:normAutofit lnSpcReduction="10000"/>
          </a:bodyPr>
          <a:lstStyle/>
          <a:p>
            <a:r>
              <a:rPr lang="en" altLang="zh-CN" dirty="0">
                <a:latin typeface="Aptos Display" panose="020B0004020202020204" pitchFamily="34" charset="0"/>
              </a:rPr>
              <a:t>BST </a:t>
            </a:r>
            <a:r>
              <a:rPr lang="en" altLang="en-US" dirty="0">
                <a:latin typeface="Aptos Display" panose="020B0004020202020204" pitchFamily="34" charset="0"/>
              </a:rPr>
              <a:t>generation is a process of continuous insertion.</a:t>
            </a:r>
            <a:endParaRPr lang="en-US" altLang="zh-CN" dirty="0">
              <a:latin typeface="Aptos Display" panose="020B0004020202020204" pitchFamily="34" charset="0"/>
            </a:endParaRPr>
          </a:p>
          <a:p>
            <a:r>
              <a:rPr lang="en" altLang="en-US" dirty="0">
                <a:latin typeface="Aptos Display" panose="020B0004020202020204" pitchFamily="34" charset="0"/>
              </a:rPr>
              <a:t>However, when generating </a:t>
            </a:r>
            <a:r>
              <a:rPr lang="en" altLang="zh-CN" dirty="0">
                <a:latin typeface="Aptos Display" panose="020B0004020202020204" pitchFamily="34" charset="0"/>
              </a:rPr>
              <a:t>a BST</a:t>
            </a:r>
            <a:r>
              <a:rPr lang="en" altLang="en-US" dirty="0">
                <a:latin typeface="Aptos Display" panose="020B0004020202020204" pitchFamily="34" charset="0"/>
              </a:rPr>
              <a:t>, a poorly chosen root node can lead to a skewed tree, reducing search efficiency. Randomly </a:t>
            </a:r>
            <a:r>
              <a:rPr lang="en-US" altLang="zh-CN" dirty="0">
                <a:latin typeface="Aptos Display" panose="020B0004020202020204" pitchFamily="34" charset="0"/>
              </a:rPr>
              <a:t>selecting</a:t>
            </a:r>
            <a:r>
              <a:rPr lang="en" altLang="en-US" dirty="0">
                <a:latin typeface="Aptos Display" panose="020B0004020202020204" pitchFamily="34" charset="0"/>
              </a:rPr>
              <a:t> the root node can help balance </a:t>
            </a:r>
            <a:r>
              <a:rPr lang="en" altLang="zh-CN" dirty="0">
                <a:latin typeface="Aptos Display" panose="020B0004020202020204" pitchFamily="34" charset="0"/>
              </a:rPr>
              <a:t>the BST . The image below shows two BSTs with the same key </a:t>
            </a:r>
            <a:r>
              <a:rPr lang="en" altLang="en-US" dirty="0">
                <a:latin typeface="Aptos Display" panose="020B0004020202020204" pitchFamily="34" charset="0"/>
              </a:rPr>
              <a:t>.</a:t>
            </a:r>
            <a:endParaRPr lang="en-US" altLang="zh-CN" dirty="0">
              <a:latin typeface="Aptos Display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1C3C25-E686-A87A-C1DC-66A545B60083}"/>
              </a:ext>
            </a:extLst>
          </p:cNvPr>
          <p:cNvSpPr txBox="1"/>
          <p:nvPr/>
        </p:nvSpPr>
        <p:spPr>
          <a:xfrm>
            <a:off x="4253948" y="6346165"/>
            <a:ext cx="5152156" cy="33855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differently</a:t>
            </a:r>
            <a:r>
              <a:rPr lang="zh-CN" alt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shaped</a:t>
            </a:r>
            <a:r>
              <a:rPr lang="zh-CN" alt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BST</a:t>
            </a:r>
            <a:r>
              <a:rPr lang="zh-CN" alt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comprising</a:t>
            </a:r>
            <a:r>
              <a:rPr lang="zh-CN" alt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zh-CN" alt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  <a:r>
              <a:rPr lang="zh-CN" alt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zh-CN" alt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zh-CN" alt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keys</a:t>
            </a:r>
            <a:endParaRPr lang="en-AU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80264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 err="1">
                <a:solidFill>
                  <a:schemeClr val="bg1"/>
                </a:solidFill>
                <a:latin typeface="Aptos Display" panose="020B0004020202020204" pitchFamily="34" charset="0"/>
              </a:rPr>
              <a:t>Deleti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ng</a:t>
            </a:r>
            <a:r>
              <a:rPr lang="zh-C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from</a:t>
            </a:r>
            <a:r>
              <a:rPr lang="zh-C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a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BST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0"/>
            <a:ext cx="10834779" cy="5282749"/>
          </a:xfrm>
        </p:spPr>
        <p:txBody>
          <a:bodyPr anchor="ctr" anchorCtr="0">
            <a:normAutofit fontScale="92500"/>
          </a:bodyPr>
          <a:lstStyle/>
          <a:p>
            <a:r>
              <a:rPr lang="en" altLang="en-US" dirty="0">
                <a:latin typeface="Aptos Display" panose="020B0004020202020204" pitchFamily="34" charset="0"/>
              </a:rPr>
              <a:t>We will discuss three scenarios: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" altLang="zh-CN" dirty="0">
                <a:latin typeface="Aptos Display" panose="020B0004020202020204" pitchFamily="34" charset="0"/>
              </a:rPr>
              <a:t>1) </a:t>
            </a:r>
            <a:r>
              <a:rPr lang="en" altLang="en-US" dirty="0">
                <a:latin typeface="Aptos Display" panose="020B0004020202020204" pitchFamily="34" charset="0"/>
              </a:rPr>
              <a:t>Deleting a leaf node does not destroy the tree structure; its parent node can be modified instead.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" altLang="zh-CN" dirty="0">
                <a:latin typeface="Aptos Display" panose="020B0004020202020204" pitchFamily="34" charset="0"/>
              </a:rPr>
              <a:t>2) </a:t>
            </a:r>
            <a:r>
              <a:rPr lang="en" altLang="en-US" dirty="0">
                <a:latin typeface="Aptos Display" panose="020B0004020202020204" pitchFamily="34" charset="0"/>
              </a:rPr>
              <a:t>If there is only a left child or only a right child, then you can simply replace that child node.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" altLang="zh-CN" dirty="0">
                <a:latin typeface="Aptos Display" panose="020B0004020202020204" pitchFamily="34" charset="0"/>
              </a:rPr>
              <a:t>3) </a:t>
            </a:r>
            <a:r>
              <a:rPr lang="en" altLang="en-US" dirty="0">
                <a:latin typeface="Aptos Display" panose="020B0004020202020204" pitchFamily="34" charset="0"/>
              </a:rPr>
              <a:t>Find the node with the maximum value in the left subtree and replace it.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int q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p, s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lch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[p];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while (</a:t>
            </a:r>
            <a:r>
              <a:rPr lang="en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rch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[s]) {q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s; s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rch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[s];}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data[p] = data[s];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if (p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==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q) </a:t>
            </a:r>
            <a:r>
              <a:rPr lang="en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lch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[q]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lch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[s]; else </a:t>
            </a:r>
            <a:r>
              <a:rPr lang="en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rch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[q]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lch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[s];</a:t>
            </a:r>
            <a:r>
              <a:rPr lang="e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//</a:t>
            </a:r>
            <a:r>
              <a:rPr lang="e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s </a:t>
            </a:r>
            <a:r>
              <a:rPr lang="e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recyclable</a:t>
            </a:r>
            <a:endParaRPr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25039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BST 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time complexity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1" y="1486110"/>
            <a:ext cx="10834779" cy="5282749"/>
          </a:xfrm>
        </p:spPr>
        <p:txBody>
          <a:bodyPr anchor="ctr" anchorCtr="0">
            <a:normAutofit/>
          </a:bodyPr>
          <a:lstStyle/>
          <a:p>
            <a:r>
              <a:rPr lang="en" altLang="en-US" dirty="0">
                <a:latin typeface="Aptos Display" panose="020B0004020202020204" pitchFamily="34" charset="0"/>
              </a:rPr>
              <a:t>B</a:t>
            </a:r>
            <a:r>
              <a:rPr lang="en-US" altLang="zh-CN" dirty="0">
                <a:latin typeface="Aptos Display" panose="020B0004020202020204" pitchFamily="34" charset="0"/>
              </a:rPr>
              <a:t>ST</a:t>
            </a:r>
            <a:r>
              <a:rPr lang="en" altLang="en-US" dirty="0">
                <a:latin typeface="Aptos Display" panose="020B0004020202020204" pitchFamily="34" charset="0"/>
              </a:rPr>
              <a:t>s </a:t>
            </a:r>
            <a:r>
              <a:rPr lang="en" altLang="zh-CN" dirty="0">
                <a:latin typeface="Aptos Display" panose="020B0004020202020204" pitchFamily="34" charset="0"/>
              </a:rPr>
              <a:t>can </a:t>
            </a:r>
            <a:r>
              <a:rPr lang="en" altLang="en-US" dirty="0">
                <a:latin typeface="Aptos Display" panose="020B0004020202020204" pitchFamily="34" charset="0"/>
              </a:rPr>
              <a:t>be used to represent ordered sets, create indexes, or </a:t>
            </a:r>
            <a:r>
              <a:rPr lang="en" altLang="en-US" dirty="0" err="1">
                <a:latin typeface="Aptos Display" panose="020B0004020202020204" pitchFamily="34" charset="0"/>
              </a:rPr>
              <a:t>priorit</a:t>
            </a:r>
            <a:r>
              <a:rPr lang="en-US" altLang="zh-CN" dirty="0">
                <a:latin typeface="Aptos Display" panose="020B0004020202020204" pitchFamily="34" charset="0"/>
              </a:rPr>
              <a:t>y</a:t>
            </a:r>
            <a:r>
              <a:rPr lang="en" altLang="en-US" dirty="0">
                <a:latin typeface="Aptos Display" panose="020B0004020202020204" pitchFamily="34" charset="0"/>
              </a:rPr>
              <a:t> queues.</a:t>
            </a:r>
          </a:p>
          <a:p>
            <a:endParaRPr lang="zh-CN" altLang="en-US" dirty="0">
              <a:latin typeface="Aptos Display" panose="020B0004020202020204" pitchFamily="34" charset="0"/>
            </a:endParaRPr>
          </a:p>
          <a:p>
            <a:r>
              <a:rPr lang="en" altLang="en-US" dirty="0">
                <a:latin typeface="Aptos Display" panose="020B0004020202020204" pitchFamily="34" charset="0"/>
              </a:rPr>
              <a:t>In the worst case, the time complexity of basic operations performed on a </a:t>
            </a:r>
            <a:r>
              <a:rPr lang="en-US" altLang="zh-CN" dirty="0">
                <a:latin typeface="Aptos Display" panose="020B0004020202020204" pitchFamily="34" charset="0"/>
              </a:rPr>
              <a:t>BST</a:t>
            </a:r>
            <a:r>
              <a:rPr lang="en" altLang="en-US" dirty="0">
                <a:latin typeface="Aptos Display" panose="020B0004020202020204" pitchFamily="34" charset="0"/>
              </a:rPr>
              <a:t> can reach </a:t>
            </a:r>
            <a:r>
              <a:rPr lang="en" altLang="zh-CN" dirty="0">
                <a:latin typeface="Aptos Display" panose="020B0004020202020204" pitchFamily="34" charset="0"/>
              </a:rPr>
              <a:t>O(n).</a:t>
            </a:r>
          </a:p>
          <a:p>
            <a:endParaRPr lang="zh-CN" altLang="en-US" dirty="0">
              <a:latin typeface="Aptos Display" panose="020B0004020202020204" pitchFamily="34" charset="0"/>
            </a:endParaRPr>
          </a:p>
          <a:p>
            <a:r>
              <a:rPr lang="en" altLang="en-US" dirty="0">
                <a:latin typeface="Aptos Display" panose="020B0004020202020204" pitchFamily="34" charset="0"/>
              </a:rPr>
              <a:t>Some variations of </a:t>
            </a:r>
            <a:r>
              <a:rPr lang="en-US" altLang="zh-CN" dirty="0">
                <a:latin typeface="Aptos Display" panose="020B0004020202020204" pitchFamily="34" charset="0"/>
              </a:rPr>
              <a:t>BSTs</a:t>
            </a:r>
            <a:r>
              <a:rPr lang="en" altLang="en-US" dirty="0">
                <a:latin typeface="Aptos Display" panose="020B0004020202020204" pitchFamily="34" charset="0"/>
              </a:rPr>
              <a:t>, such as red-black trees and </a:t>
            </a:r>
            <a:r>
              <a:rPr lang="en" altLang="zh-CN" dirty="0">
                <a:latin typeface="Aptos Display" panose="020B0004020202020204" pitchFamily="34" charset="0"/>
              </a:rPr>
              <a:t>AVL </a:t>
            </a:r>
            <a:r>
              <a:rPr lang="en" altLang="en-US" dirty="0">
                <a:latin typeface="Aptos Display" panose="020B0004020202020204" pitchFamily="34" charset="0"/>
              </a:rPr>
              <a:t>trees, still perform well in the worst case for basic operations.</a:t>
            </a:r>
            <a:endParaRPr lang="en-US" altLang="zh-CN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62760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" altLang="en-US" dirty="0">
                <a:latin typeface="Aptos Display" panose="020B0004020202020204" pitchFamily="34" charset="0"/>
              </a:rPr>
              <a:t>Thank you everyone.</a:t>
            </a:r>
          </a:p>
        </p:txBody>
      </p:sp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03595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电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100078</TotalTime>
  <Words>2372</Words>
  <Application>Microsoft Macintosh PowerPoint</Application>
  <PresentationFormat>Widescreen</PresentationFormat>
  <Paragraphs>421</Paragraphs>
  <Slides>30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等线</vt:lpstr>
      <vt:lpstr>Aptos Display</vt:lpstr>
      <vt:lpstr>Arial</vt:lpstr>
      <vt:lpstr>Cambria Math</vt:lpstr>
      <vt:lpstr>Consolas</vt:lpstr>
      <vt:lpstr>Times New Roman</vt:lpstr>
      <vt:lpstr>Tw Cen MT</vt:lpstr>
      <vt:lpstr>Wingdings</vt:lpstr>
      <vt:lpstr>电路</vt:lpstr>
      <vt:lpstr>Trees</vt:lpstr>
      <vt:lpstr>Definition of a tree</vt:lpstr>
      <vt:lpstr>Tree-related terminology</vt:lpstr>
      <vt:lpstr>Tree representation (list representation)</vt:lpstr>
      <vt:lpstr>Tree representation (parent representation)</vt:lpstr>
      <vt:lpstr>Representation of a tree (childREN and sibling representation)</vt:lpstr>
      <vt:lpstr>Representation of a tree (child-parent representation)</vt:lpstr>
      <vt:lpstr>Tree traversal</vt:lpstr>
      <vt:lpstr>Unrooted trees</vt:lpstr>
      <vt:lpstr>Representation of unrooted trees (edge list)</vt:lpstr>
      <vt:lpstr>Representation of unrooted trees (Linked forward star)</vt:lpstr>
      <vt:lpstr>Converting unRooted trees to rooted trees</vt:lpstr>
      <vt:lpstr>Converting unRooted trees to rooted trees</vt:lpstr>
      <vt:lpstr>Binary trees</vt:lpstr>
      <vt:lpstr>Representation of a binary tree (child-parent representation)</vt:lpstr>
      <vt:lpstr>Representation of a binary tree (array representation)</vt:lpstr>
      <vt:lpstr>Converting A Forest To a binary tree</vt:lpstr>
      <vt:lpstr>Converting A Forest To a binary tree</vt:lpstr>
      <vt:lpstr>Binary tree traversal</vt:lpstr>
      <vt:lpstr>characteristics of binary trees</vt:lpstr>
      <vt:lpstr>Binary Sort Tree (BST)</vt:lpstr>
      <vt:lpstr>Binary sort Tree</vt:lpstr>
      <vt:lpstr>Example</vt:lpstr>
      <vt:lpstr>Searching a BST</vt:lpstr>
      <vt:lpstr>Inserting into a BST</vt:lpstr>
      <vt:lpstr>Inserting into a BST</vt:lpstr>
      <vt:lpstr>Generating a BST</vt:lpstr>
      <vt:lpstr>Deleting from a BST</vt:lpstr>
      <vt:lpstr>BST time complexity</vt:lpstr>
      <vt:lpstr>Thank you everyone.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NOIP 入门习题精讲 - 09</dc:title>
  <dc:creator>Minren Guan</dc:creator>
  <cp:lastModifiedBy>Bryan Sun</cp:lastModifiedBy>
  <cp:revision>321</cp:revision>
  <dcterms:created xsi:type="dcterms:W3CDTF">2018-08-09T00:16:20Z</dcterms:created>
  <dcterms:modified xsi:type="dcterms:W3CDTF">2026-08-09T00:22:33Z</dcterms:modified>
</cp:coreProperties>
</file>