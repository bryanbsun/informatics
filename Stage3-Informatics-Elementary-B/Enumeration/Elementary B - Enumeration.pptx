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341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261" r:id="rId13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5" autoAdjust="0"/>
    <p:restoredTop sz="82301" autoAdjust="0"/>
  </p:normalViewPr>
  <p:slideViewPr>
    <p:cSldViewPr snapToGrid="0">
      <p:cViewPr varScale="1">
        <p:scale>
          <a:sx n="91" d="100"/>
          <a:sy n="91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15T10:30:29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25241 6072 172 0,'-3'6'66'0,"3"-12"-52"0,0 12 3 16,0-12 0-16,0 6-24 16,0 0-7-16,0 0-34 15,-4 0-14-15,-3 0 4 16,-3 6 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24T10:30:4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18715 15225 276 0,'7'4'104'0,"-4"2"-81"0,5-3-4 16,-1 3-8-16,0-3-7 15,-4 7 2-15,1-10-1 16,-1 6 0-16,1-6-3 0,-1 9-15 0,-3-9-6 16,0 0-8-16,0 0-3 15,0 0-11-15,0 0-1 16,0 0-20 0,-7-6-34-16,-10-6 25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NOIP </a:t>
            </a:r>
            <a:r>
              <a:rPr lang="en" altLang="en-US" dirty="0"/>
              <a:t>Basic Algorithms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zh-CN" dirty="0"/>
              <a:t>August 26 </a:t>
            </a:r>
            <a:r>
              <a:rPr lang="en" altLang="en-US" dirty="0"/>
              <a:t>, </a:t>
            </a:r>
            <a:r>
              <a:rPr lang="en" altLang="zh-CN" dirty="0"/>
              <a:t>2018</a:t>
            </a:r>
            <a:r>
              <a:rPr lang="en" altLang="en-US" dirty="0"/>
              <a:t>​​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14:cNvPr>
              <p14:cNvContentPartPr/>
              <p14:nvPr/>
            </p14:nvContentPartPr>
            <p14:xfrm>
              <a:off x="9078120" y="2185920"/>
              <a:ext cx="9000" cy="25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8760" y="2176560"/>
                <a:ext cx="277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14:cNvPr>
              <p14:cNvContentPartPr/>
              <p14:nvPr/>
            </p14:nvContentPartPr>
            <p14:xfrm>
              <a:off x="6737400" y="5481000"/>
              <a:ext cx="18000" cy="172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8040" y="5471640"/>
                <a:ext cx="367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 err="1"/>
              <a:t>enumerat</a:t>
            </a:r>
            <a:r>
              <a:rPr lang="en-US" altLang="zh-CN" dirty="0"/>
              <a:t>ion</a:t>
            </a:r>
            <a:endParaRPr lang="e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What is enumeration?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Also known as exhaustive search.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Deterministic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results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vs. </a:t>
            </a:r>
            <a:r>
              <a:rPr lang="en" altLang="en-US" dirty="0">
                <a:latin typeface="Aptos Display" panose="020B0004020202020204" pitchFamily="34" charset="0"/>
              </a:rPr>
              <a:t>result</a:t>
            </a:r>
            <a:r>
              <a:rPr lang="en-US" altLang="zh-CN" dirty="0">
                <a:latin typeface="Aptos Display" panose="020B0004020202020204" pitchFamily="34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</a:rPr>
              <a:t> within a possible range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Enumeration is just an algorithmic </a:t>
            </a:r>
            <a:r>
              <a:rPr lang="en-US" altLang="zh-CN" dirty="0">
                <a:latin typeface="Aptos Display" panose="020B0004020202020204" pitchFamily="34" charset="0"/>
              </a:rPr>
              <a:t>approach</a:t>
            </a:r>
            <a:r>
              <a:rPr lang="en" altLang="en-US" dirty="0">
                <a:latin typeface="Aptos Display" panose="020B0004020202020204" pitchFamily="34" charset="0"/>
              </a:rPr>
              <a:t>; solving problem</a:t>
            </a:r>
            <a:r>
              <a:rPr lang="en-US" altLang="zh-CN" dirty="0">
                <a:latin typeface="Aptos Display" panose="020B0004020202020204" pitchFamily="34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</a:rPr>
              <a:t> correctly requires solid </a:t>
            </a:r>
            <a:r>
              <a:rPr lang="en-US" altLang="zh-CN" dirty="0">
                <a:latin typeface="Aptos Display" panose="020B0004020202020204" pitchFamily="34" charset="0"/>
              </a:rPr>
              <a:t>coding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foundation.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Key problems and common techniques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Does the time complexity meet the requirements?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Selection of enumeration objects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Enumeration order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Perfect Cube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Aptos Display" panose="020B0004020202020204" pitchFamily="34" charset="0"/>
                  </a:rPr>
                  <a:t>Find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integers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that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satisfy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The output must be in ascending order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Determine the enumeration order: from smallest to largest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Note the time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complexity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</a:t>
                </a:r>
                <a:r>
                  <a:rPr lang="en" altLang="en-US" dirty="0">
                    <a:latin typeface="Aptos Display" panose="020B0004020202020204" pitchFamily="34" charset="0"/>
                  </a:rPr>
                  <a:t>s too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large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; it needs to be controlled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under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>
                            <a:latin typeface="Cambria Math" panose="02040503050406030204" pitchFamily="18" charset="0"/>
                          </a:rPr>
                          <m:t>300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23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Competition Rankings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ptos Display" panose="020B0004020202020204" pitchFamily="34" charset="0"/>
              </a:rPr>
              <a:t>5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athletes participate in a </a:t>
            </a:r>
            <a:r>
              <a:rPr lang="en" altLang="zh-CN" dirty="0">
                <a:latin typeface="Aptos Display" panose="020B0004020202020204" pitchFamily="34" charset="0"/>
              </a:rPr>
              <a:t>100-</a:t>
            </a:r>
            <a:r>
              <a:rPr lang="en" altLang="en-US" dirty="0">
                <a:latin typeface="Aptos Display" panose="020B0004020202020204" pitchFamily="34" charset="0"/>
              </a:rPr>
              <a:t>meter </a:t>
            </a:r>
            <a:r>
              <a:rPr lang="en-US" altLang="zh-CN" dirty="0">
                <a:latin typeface="Aptos Display" panose="020B0004020202020204" pitchFamily="34" charset="0"/>
              </a:rPr>
              <a:t>dash</a:t>
            </a:r>
            <a:r>
              <a:rPr lang="en" altLang="en-US" dirty="0">
                <a:latin typeface="Aptos Display" panose="020B0004020202020204" pitchFamily="34" charset="0"/>
              </a:rPr>
              <a:t>. Each athlete has prediction</a:t>
            </a:r>
            <a:r>
              <a:rPr lang="en-US" altLang="zh-CN" dirty="0">
                <a:latin typeface="Aptos Display" panose="020B0004020202020204" pitchFamily="34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</a:rPr>
              <a:t> of the outcome</a:t>
            </a:r>
            <a:r>
              <a:rPr lang="en-US" altLang="zh-CN" dirty="0">
                <a:latin typeface="Aptos Display" panose="020B0004020202020204" pitchFamily="34" charset="0"/>
              </a:rPr>
              <a:t>.</a:t>
            </a:r>
            <a:r>
              <a:rPr lang="zh-CN" altLang="en-US" dirty="0">
                <a:latin typeface="Aptos Display" panose="020B0004020202020204" pitchFamily="34" charset="0"/>
              </a:rPr>
              <a:t>  </a:t>
            </a:r>
            <a:r>
              <a:rPr lang="en-US" altLang="zh-CN" dirty="0">
                <a:latin typeface="Aptos Display" panose="020B0004020202020204" pitchFamily="34" charset="0"/>
              </a:rPr>
              <a:t>Some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other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constraints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will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be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provided.</a:t>
            </a:r>
            <a:r>
              <a:rPr lang="en" altLang="en-US" dirty="0">
                <a:latin typeface="Aptos Display" panose="020B0004020202020204" pitchFamily="34" charset="0"/>
              </a:rPr>
              <a:t> The goal is to determine the </a:t>
            </a:r>
            <a:r>
              <a:rPr lang="en-US" altLang="zh-CN" dirty="0">
                <a:latin typeface="Aptos Display" panose="020B0004020202020204" pitchFamily="34" charset="0"/>
              </a:rPr>
              <a:t>outcome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Note: This is not an Olympiad math problem. Do not </a:t>
            </a:r>
            <a:r>
              <a:rPr lang="en-US" altLang="zh-CN" dirty="0">
                <a:latin typeface="Aptos Display" panose="020B0004020202020204" pitchFamily="34" charset="0"/>
              </a:rPr>
              <a:t>calculate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it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in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math</a:t>
            </a:r>
            <a:r>
              <a:rPr lang="en-US" altLang="zh-CN" dirty="0">
                <a:latin typeface="Aptos Display" panose="020B0004020202020204" pitchFamily="34" charset="0"/>
              </a:rPr>
              <a:t>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way</a:t>
            </a:r>
            <a:r>
              <a:rPr lang="en" altLang="en-US" dirty="0">
                <a:latin typeface="Aptos Display" panose="020B0004020202020204" pitchFamily="34" charset="0"/>
              </a:rPr>
              <a:t>!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Determine the enumeration object: ranking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3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Determine the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number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Find the smallest</a:t>
                </a:r>
                <a:r>
                  <a:rPr lang="zh-CN" altLang="en-US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number</a:t>
                </a:r>
                <a:r>
                  <a:rPr lang="en" altLang="en-US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B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that satisfies:</a:t>
                </a:r>
                <a:r>
                  <a:rPr lang="en" altLang="zh-CN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  <a:cs typeface="Consolas" panose="020B0609020204030204" pitchFamily="49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2≤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≤16, 1≤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≤1000100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  <a:cs typeface="Consolas" panose="020B0609020204030204" pitchFamily="49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  <a:cs typeface="Consolas" panose="020B0609020204030204" pitchFamily="49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Determine the enumeration object:</a:t>
                </a:r>
                <a:r>
                  <a:rPr lang="en" altLang="zh-CN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  <a:cs typeface="Consolas" panose="020B0609020204030204" pitchFamily="49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  <a:cs typeface="Consolas" panose="020B0609020204030204" pitchFamily="49" charset="0"/>
                  </a:rPr>
                  <a:t>Pay attention to the hidden logical and programming details.</a:t>
                </a:r>
                <a:endParaRPr lang="en-US" altLang="zh-CN" dirty="0">
                  <a:latin typeface="Aptos Display" panose="020B0004020202020204" pitchFamily="34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54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Lights out problem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There is a </a:t>
            </a:r>
            <a:r>
              <a:rPr lang="en-US" altLang="zh-CN" dirty="0">
                <a:latin typeface="Aptos Display" panose="020B0004020202020204" pitchFamily="34" charset="0"/>
              </a:rPr>
              <a:t>5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rows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by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6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columns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array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lights</a:t>
            </a:r>
            <a:r>
              <a:rPr lang="en" altLang="en-US" dirty="0">
                <a:latin typeface="Aptos Display" panose="020B0004020202020204" pitchFamily="34" charset="0"/>
              </a:rPr>
              <a:t>. Pressing the button will </a:t>
            </a:r>
            <a:r>
              <a:rPr lang="en-US" altLang="zh-CN" dirty="0">
                <a:latin typeface="Aptos Display" panose="020B0004020202020204" pitchFamily="34" charset="0"/>
              </a:rPr>
              <a:t>flip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status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5 </a:t>
            </a:r>
            <a:r>
              <a:rPr lang="en" altLang="en-US" dirty="0">
                <a:latin typeface="Aptos Display" panose="020B0004020202020204" pitchFamily="34" charset="0"/>
              </a:rPr>
              <a:t>lights. Find a way to turn off all the lights.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Determine the enumeration object: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Which buttons are on the first row?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Programming Techniques: Binary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14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Factor problem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Given </a:t>
            </a:r>
            <a:r>
              <a:rPr lang="en" altLang="zh-CN" dirty="0">
                <a:latin typeface="Aptos Display" panose="020B0004020202020204" pitchFamily="34" charset="0"/>
              </a:rPr>
              <a:t>N</a:t>
            </a:r>
            <a:r>
              <a:rPr lang="en" altLang="en-US" dirty="0">
                <a:latin typeface="Aptos Display" panose="020B0004020202020204" pitchFamily="34" charset="0"/>
              </a:rPr>
              <a:t>, find the smallest </a:t>
            </a:r>
            <a:r>
              <a:rPr lang="en" altLang="zh-CN" dirty="0">
                <a:latin typeface="Aptos Display" panose="020B0004020202020204" pitchFamily="34" charset="0"/>
              </a:rPr>
              <a:t>a </a:t>
            </a:r>
            <a:r>
              <a:rPr lang="en" altLang="en-US" dirty="0">
                <a:latin typeface="Aptos Display" panose="020B0004020202020204" pitchFamily="34" charset="0"/>
              </a:rPr>
              <a:t>such that both </a:t>
            </a:r>
            <a:r>
              <a:rPr lang="en" altLang="zh-CN" dirty="0">
                <a:latin typeface="Aptos Display" panose="020B0004020202020204" pitchFamily="34" charset="0"/>
              </a:rPr>
              <a:t>a </a:t>
            </a:r>
            <a:r>
              <a:rPr lang="en" altLang="en-US" dirty="0">
                <a:latin typeface="Aptos Display" panose="020B0004020202020204" pitchFamily="34" charset="0"/>
              </a:rPr>
              <a:t>and </a:t>
            </a:r>
            <a:r>
              <a:rPr lang="en" altLang="zh-CN" dirty="0">
                <a:latin typeface="Aptos Display" panose="020B0004020202020204" pitchFamily="34" charset="0"/>
              </a:rPr>
              <a:t>M</a:t>
            </a:r>
            <a:r>
              <a:rPr lang="en-US" altLang="zh-CN" dirty="0">
                <a:latin typeface="Aptos Display" panose="020B0004020202020204" pitchFamily="34" charset="0"/>
              </a:rPr>
              <a:t>-</a:t>
            </a:r>
            <a:r>
              <a:rPr lang="en" altLang="zh-CN" dirty="0">
                <a:latin typeface="Aptos Display" panose="020B0004020202020204" pitchFamily="34" charset="0"/>
              </a:rPr>
              <a:t>a </a:t>
            </a:r>
            <a:r>
              <a:rPr lang="en" altLang="en-US" dirty="0">
                <a:latin typeface="Aptos Display" panose="020B0004020202020204" pitchFamily="34" charset="0"/>
              </a:rPr>
              <a:t>are factors of </a:t>
            </a:r>
            <a:r>
              <a:rPr lang="en-US" altLang="zh-CN" dirty="0">
                <a:latin typeface="Aptos Display" panose="020B0004020202020204" pitchFamily="34" charset="0"/>
              </a:rPr>
              <a:t>N.</a:t>
            </a: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Determine the enumeration object: </a:t>
            </a:r>
            <a:r>
              <a:rPr lang="en" altLang="zh-CN" dirty="0">
                <a:latin typeface="Aptos Display" panose="020B0004020202020204" pitchFamily="34" charset="0"/>
              </a:rPr>
              <a:t>a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Pay attention to details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16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Minecraft</a:t>
            </a:r>
            <a:endParaRPr lang="zh-C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Given </a:t>
            </a:r>
            <a:r>
              <a:rPr lang="en" altLang="zh-CN" dirty="0">
                <a:latin typeface="Aptos Display" panose="020B0004020202020204" pitchFamily="34" charset="0"/>
              </a:rPr>
              <a:t>N </a:t>
            </a:r>
            <a:r>
              <a:rPr lang="en" altLang="en-US" dirty="0">
                <a:latin typeface="Aptos Display" panose="020B0004020202020204" pitchFamily="34" charset="0"/>
              </a:rPr>
              <a:t>, find the cuboid with the smallest surface area.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Define the enumeration objects: length, width, and height.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9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Biological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cycle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Given the cycles of physical, emotional, and intellectual abilities, and the day of the peak of each cycle, find the f</a:t>
            </a:r>
            <a:r>
              <a:rPr lang="en-US" altLang="zh-CN" dirty="0" err="1">
                <a:latin typeface="Aptos Display" panose="020B0004020202020204" pitchFamily="34" charset="0"/>
              </a:rPr>
              <a:t>irst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day </a:t>
            </a:r>
            <a:r>
              <a:rPr lang="en-US" altLang="zh-CN" dirty="0">
                <a:latin typeface="Aptos Display" panose="020B0004020202020204" pitchFamily="34" charset="0"/>
              </a:rPr>
              <a:t>when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the three peaks occur </a:t>
            </a:r>
            <a:r>
              <a:rPr lang="en-US" altLang="zh-CN" dirty="0">
                <a:latin typeface="Aptos Display" panose="020B0004020202020204" pitchFamily="34" charset="0"/>
              </a:rPr>
              <a:t>on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same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day.</a:t>
            </a:r>
            <a:r>
              <a:rPr lang="en" altLang="en-US" dirty="0">
                <a:latin typeface="Aptos Display" panose="020B0004020202020204" pitchFamily="34" charset="0"/>
              </a:rPr>
              <a:t> 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Determine the enumeration object: the answer ( a day after </a:t>
            </a:r>
            <a:r>
              <a:rPr lang="en" altLang="zh-CN" dirty="0">
                <a:latin typeface="Aptos Display" panose="020B0004020202020204" pitchFamily="34" charset="0"/>
              </a:rPr>
              <a:t>d ).</a:t>
            </a:r>
          </a:p>
        </p:txBody>
      </p:sp>
    </p:spTree>
    <p:extLst>
      <p:ext uri="{BB962C8B-B14F-4D97-AF65-F5344CB8AC3E}">
        <p14:creationId xmlns:p14="http://schemas.microsoft.com/office/powerpoint/2010/main" val="72840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Rubb</a:t>
            </a:r>
            <a:r>
              <a:rPr lang="en-US" altLang="zh-CN" dirty="0" err="1">
                <a:solidFill>
                  <a:schemeClr val="bg1"/>
                </a:solidFill>
                <a:latin typeface="Aptos Display" panose="020B0004020202020204" pitchFamily="34" charset="0"/>
              </a:rPr>
              <a:t>ish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bomb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an area of size </a:t>
            </a:r>
            <a:r>
              <a:rPr lang="en" altLang="zh-CN" dirty="0">
                <a:latin typeface="Aptos Display" panose="020B0004020202020204" pitchFamily="34" charset="0"/>
              </a:rPr>
              <a:t>S*S , N </a:t>
            </a:r>
            <a:r>
              <a:rPr lang="en-US" altLang="zh-CN" dirty="0">
                <a:latin typeface="Aptos Display" panose="020B0004020202020204" pitchFamily="34" charset="0"/>
              </a:rPr>
              <a:t>rubbish</a:t>
            </a:r>
            <a:r>
              <a:rPr lang="en" altLang="en-US" dirty="0">
                <a:latin typeface="Aptos Display" panose="020B0004020202020204" pitchFamily="34" charset="0"/>
              </a:rPr>
              <a:t> collection points, and a bomb with an effective </a:t>
            </a:r>
            <a:r>
              <a:rPr lang="en-US" altLang="zh-CN" dirty="0">
                <a:latin typeface="Aptos Display" panose="020B0004020202020204" pitchFamily="34" charset="0"/>
              </a:rPr>
              <a:t>blast</a:t>
            </a:r>
            <a:r>
              <a:rPr lang="en" altLang="en-US" dirty="0">
                <a:latin typeface="Aptos Display" panose="020B0004020202020204" pitchFamily="34" charset="0"/>
              </a:rPr>
              <a:t> range of </a:t>
            </a:r>
            <a:r>
              <a:rPr lang="en" altLang="zh-CN" dirty="0">
                <a:latin typeface="Aptos Display" panose="020B0004020202020204" pitchFamily="34" charset="0"/>
              </a:rPr>
              <a:t>D </a:t>
            </a:r>
            <a:r>
              <a:rPr lang="en" altLang="en-US" dirty="0">
                <a:latin typeface="Aptos Display" panose="020B0004020202020204" pitchFamily="34" charset="0"/>
              </a:rPr>
              <a:t>, find the maximum amount of </a:t>
            </a:r>
            <a:r>
              <a:rPr lang="en-US" altLang="zh-CN">
                <a:latin typeface="Aptos Display" panose="020B0004020202020204" pitchFamily="34" charset="0"/>
              </a:rPr>
              <a:t>rubbish</a:t>
            </a:r>
            <a:r>
              <a:rPr lang="en" altLang="en-US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that a single bomb can clean up.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Two enumeration schemes: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Enumerate the bomb drop points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Enumerating the contribution of garbage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The algorithm complexity varies greatly.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80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47532</TotalTime>
  <Words>527</Words>
  <Application>Microsoft Macintosh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等线</vt:lpstr>
      <vt:lpstr>华文楷体</vt:lpstr>
      <vt:lpstr>Aptos Display</vt:lpstr>
      <vt:lpstr>Arial</vt:lpstr>
      <vt:lpstr>Cambria Math</vt:lpstr>
      <vt:lpstr>Tw Cen MT</vt:lpstr>
      <vt:lpstr>电路</vt:lpstr>
      <vt:lpstr>NOIP Basic Algorithms</vt:lpstr>
      <vt:lpstr>enumeration</vt:lpstr>
      <vt:lpstr>What is enumeration?</vt:lpstr>
      <vt:lpstr>Perfect Cube</vt:lpstr>
      <vt:lpstr>Competition Rankings</vt:lpstr>
      <vt:lpstr>Determine the number base</vt:lpstr>
      <vt:lpstr>Lights out problem</vt:lpstr>
      <vt:lpstr>Factor problem</vt:lpstr>
      <vt:lpstr>Minecraft</vt:lpstr>
      <vt:lpstr>Biological cycles</vt:lpstr>
      <vt:lpstr>Rubbish bomb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130</cp:revision>
  <dcterms:created xsi:type="dcterms:W3CDTF">2018-08-09T00:16:20Z</dcterms:created>
  <dcterms:modified xsi:type="dcterms:W3CDTF">2026-02-22T05:34:48Z</dcterms:modified>
</cp:coreProperties>
</file>