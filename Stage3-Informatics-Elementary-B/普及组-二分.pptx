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81" r:id="rId2"/>
    <p:sldId id="389" r:id="rId3"/>
    <p:sldId id="419" r:id="rId4"/>
    <p:sldId id="392" r:id="rId5"/>
    <p:sldId id="421" r:id="rId6"/>
    <p:sldId id="420" r:id="rId7"/>
    <p:sldId id="422" r:id="rId8"/>
    <p:sldId id="423" r:id="rId9"/>
    <p:sldId id="424" r:id="rId10"/>
    <p:sldId id="425" r:id="rId11"/>
    <p:sldId id="427" r:id="rId12"/>
    <p:sldId id="403" r:id="rId13"/>
    <p:sldId id="426" r:id="rId14"/>
    <p:sldId id="404" r:id="rId15"/>
    <p:sldId id="405" r:id="rId16"/>
    <p:sldId id="406" r:id="rId17"/>
    <p:sldId id="428" r:id="rId18"/>
    <p:sldId id="432" r:id="rId19"/>
    <p:sldId id="430" r:id="rId20"/>
    <p:sldId id="431" r:id="rId21"/>
    <p:sldId id="429" r:id="rId22"/>
    <p:sldId id="26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1515" autoAdjust="0"/>
  </p:normalViewPr>
  <p:slideViewPr>
    <p:cSldViewPr snapToGrid="0">
      <p:cViewPr varScale="1">
        <p:scale>
          <a:sx n="104" d="100"/>
          <a:sy n="104" d="100"/>
        </p:scale>
        <p:origin x="9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43.62292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9-01-29T18:38:16.0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2745 7338 204 0,'-25'3'77'0,"25"-3"-60"0,7 0 13 16,-7 0 3-16,7 0-10 16,4 0-1-16,6 0 0 15,11-3 1-15,18 3-12 16,0-6 4-16,21 3 3 0,4 0-2 16,-1-5 1-16,4-4-1 15,4 3 0-15,0 0-6 16,3 0-2-16,-11 3-4 15,-6 1-1-15,-8-4 3 16,-6 3 1-16,-4 0-8 16,-8 0-1-16,-9 0-5 0,-5 0 0 15,-3 3-49-15,1 0-20 16,-12-2-24-16,4-7-6 16,-10-6 12-1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2022/3/12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XMOJ 1241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180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XMOJ 1241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086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XMOJ 1239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479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XMOJ 1237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976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XMOJ 1238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57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XMOJ 1238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928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XMOJ 1238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496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XMOJ 1238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22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3/12/22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二分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二分查找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在一个已经排好序的数组中快速查找一个数</a:t>
                </a:r>
                <a:endParaRPr lang="en-US" altLang="zh-CN" dirty="0"/>
              </a:p>
              <a:p>
                <a:r>
                  <a:rPr lang="zh-CN" altLang="en-US" dirty="0"/>
                  <a:t>算法原理：由于数组已经排好顺序，那么每次至少可以排除掉一半</a:t>
                </a:r>
                <a:endParaRPr lang="en-US" altLang="zh-CN" dirty="0"/>
              </a:p>
              <a:p>
                <a:r>
                  <a:rPr lang="zh-CN" altLang="en-US" dirty="0"/>
                  <a:t>复杂度：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𝑙𝑜𝑔𝑛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176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32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二分查找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1270372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例子：查找 </a:t>
            </a:r>
            <a:r>
              <a:rPr lang="en-US" altLang="zh-CN" dirty="0">
                <a:latin typeface="+mn-ea"/>
              </a:rPr>
              <a:t>45</a:t>
            </a:r>
          </a:p>
          <a:p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zh-CN" altLang="en-US" dirty="0">
                <a:latin typeface="+mn-ea"/>
              </a:rPr>
              <a:t>    </a:t>
            </a:r>
            <a:r>
              <a:rPr lang="en-US" altLang="zh-CN" dirty="0">
                <a:latin typeface="+mn-ea"/>
              </a:rPr>
              <a:t>10    23    28    34    36    37    45    50</a:t>
            </a:r>
            <a:r>
              <a:rPr lang="zh-CN" altLang="en-US" dirty="0">
                <a:latin typeface="+mn-ea"/>
              </a:rPr>
              <a:t>    </a:t>
            </a:r>
            <a:r>
              <a:rPr lang="en-US" altLang="zh-CN" dirty="0">
                <a:latin typeface="+mn-ea"/>
              </a:rPr>
              <a:t>52    59    70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l       </a:t>
            </a:r>
            <a:r>
              <a:rPr lang="zh-CN" altLang="en-US" dirty="0">
                <a:latin typeface="+mn-ea"/>
              </a:rPr>
              <a:t>      </a:t>
            </a:r>
            <a:r>
              <a:rPr lang="en-US" altLang="zh-CN" dirty="0">
                <a:latin typeface="+mn-ea"/>
              </a:rPr>
              <a:t>               mid  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                          r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                         </a:t>
            </a:r>
            <a:r>
              <a:rPr lang="zh-CN" altLang="en-US" dirty="0">
                <a:latin typeface="+mn-ea"/>
              </a:rPr>
              <a:t>   </a:t>
            </a:r>
            <a:r>
              <a:rPr lang="en-US" altLang="zh-CN" dirty="0">
                <a:latin typeface="+mn-ea"/>
              </a:rPr>
              <a:t>l  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        mid          r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                                     </a:t>
            </a:r>
            <a:r>
              <a:rPr lang="zh-CN" altLang="en-US" dirty="0">
                <a:latin typeface="+mn-ea"/>
              </a:rPr>
              <a:t>  </a:t>
            </a:r>
            <a:r>
              <a:rPr lang="en-US" altLang="zh-CN" dirty="0">
                <a:latin typeface="+mn-ea"/>
              </a:rPr>
              <a:t>l/mid </a:t>
            </a:r>
            <a:r>
              <a:rPr lang="zh-CN" altLang="en-US" dirty="0">
                <a:latin typeface="+mn-ea"/>
              </a:rPr>
              <a:t>  </a:t>
            </a:r>
            <a:r>
              <a:rPr lang="en-US" altLang="zh-CN" dirty="0">
                <a:latin typeface="+mn-ea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65940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二分查找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498726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代码：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int a[1010],</a:t>
            </a:r>
            <a:r>
              <a:rPr lang="en-US" altLang="zh-CN" dirty="0" err="1">
                <a:latin typeface="+mn-ea"/>
              </a:rPr>
              <a:t>x,l</a:t>
            </a:r>
            <a:r>
              <a:rPr lang="en-US" altLang="zh-CN" dirty="0">
                <a:latin typeface="+mn-ea"/>
              </a:rPr>
              <a:t>=0,r=n-1,mid; //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数组从小到大排序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while (l&lt;=r)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mid=(</a:t>
            </a:r>
            <a:r>
              <a:rPr lang="en-US" altLang="zh-CN" dirty="0" err="1">
                <a:latin typeface="+mn-ea"/>
              </a:rPr>
              <a:t>l+r</a:t>
            </a:r>
            <a:r>
              <a:rPr lang="en-US" altLang="zh-CN" dirty="0">
                <a:latin typeface="+mn-ea"/>
              </a:rPr>
              <a:t>)/2;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(a[mid]==x)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{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print();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break;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}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// </a:t>
            </a:r>
            <a:r>
              <a:rPr lang="zh-CN" altLang="en-US" dirty="0">
                <a:latin typeface="+mn-ea"/>
              </a:rPr>
              <a:t>找到 </a:t>
            </a:r>
            <a:r>
              <a:rPr lang="en-US" altLang="zh-CN" dirty="0">
                <a:latin typeface="+mn-ea"/>
              </a:rPr>
              <a:t>x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(a[mid]&lt;x) l=mid+1;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else r=mid-1;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if (l&gt;r) </a:t>
            </a:r>
            <a:r>
              <a:rPr lang="zh-CN" altLang="en-US" dirty="0">
                <a:latin typeface="+mn-ea"/>
              </a:rPr>
              <a:t>未找到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4725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二分查找的各种形态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查找第一个大于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查找第一个大于等于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查找最后一个小于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查找最后一个小于等于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81445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二分查找代码模板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498726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+mn-ea"/>
              </a:rPr>
              <a:t>	int a[1010],</a:t>
            </a:r>
            <a:r>
              <a:rPr lang="en-US" altLang="zh-CN" dirty="0" err="1">
                <a:latin typeface="+mn-ea"/>
              </a:rPr>
              <a:t>x,l</a:t>
            </a:r>
            <a:r>
              <a:rPr lang="en-US" altLang="zh-CN" dirty="0">
                <a:latin typeface="+mn-ea"/>
              </a:rPr>
              <a:t>=0,r=n-1,mid; //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数组从小到大排序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while (</a:t>
            </a:r>
            <a:r>
              <a:rPr lang="en-US" altLang="zh-CN" u="sng" dirty="0">
                <a:latin typeface="+mn-ea"/>
              </a:rPr>
              <a:t> l&lt;=r </a:t>
            </a:r>
            <a:r>
              <a:rPr lang="en-US" altLang="zh-CN" dirty="0">
                <a:latin typeface="+mn-ea"/>
              </a:rPr>
              <a:t>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mid=(</a:t>
            </a:r>
            <a:r>
              <a:rPr lang="en-US" altLang="zh-CN" dirty="0" err="1">
                <a:latin typeface="+mn-ea"/>
              </a:rPr>
              <a:t>l+r</a:t>
            </a:r>
            <a:r>
              <a:rPr lang="en-US" altLang="zh-CN" dirty="0">
                <a:latin typeface="+mn-ea"/>
              </a:rPr>
              <a:t>)/2;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 </a:t>
            </a:r>
            <a:r>
              <a:rPr lang="en-US" altLang="zh-CN" u="sng" dirty="0">
                <a:latin typeface="+mn-ea"/>
              </a:rPr>
              <a:t> l=mid+1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else </a:t>
            </a:r>
            <a:r>
              <a:rPr lang="en-US" altLang="zh-CN" u="sng" dirty="0">
                <a:latin typeface="+mn-ea"/>
              </a:rPr>
              <a:t> r=mid-1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return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</a:t>
            </a:r>
            <a:r>
              <a:rPr lang="en-ZA" altLang="zh-CN" dirty="0">
                <a:latin typeface="+mn-ea"/>
              </a:rPr>
              <a:t>;</a:t>
            </a:r>
            <a:endParaRPr lang="en-US" altLang="zh-CN" u="sng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3390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498726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+mn-ea"/>
              </a:rPr>
              <a:t>	int a[1010],</a:t>
            </a:r>
            <a:r>
              <a:rPr lang="en-US" altLang="zh-CN" dirty="0" err="1">
                <a:latin typeface="+mn-ea"/>
              </a:rPr>
              <a:t>x,l</a:t>
            </a:r>
            <a:r>
              <a:rPr lang="en-US" altLang="zh-CN" dirty="0">
                <a:latin typeface="+mn-ea"/>
              </a:rPr>
              <a:t>=0,r=n-1,mid; //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数组从小到大排序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while (</a:t>
            </a:r>
            <a:r>
              <a:rPr lang="en-US" altLang="zh-CN" u="sng" dirty="0">
                <a:latin typeface="+mn-ea"/>
              </a:rPr>
              <a:t> l&lt;=r </a:t>
            </a:r>
            <a:r>
              <a:rPr lang="en-US" altLang="zh-CN" dirty="0">
                <a:latin typeface="+mn-ea"/>
              </a:rPr>
              <a:t>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mid=(</a:t>
            </a:r>
            <a:r>
              <a:rPr lang="en-US" altLang="zh-CN" dirty="0" err="1">
                <a:latin typeface="+mn-ea"/>
              </a:rPr>
              <a:t>l+r</a:t>
            </a:r>
            <a:r>
              <a:rPr lang="en-US" altLang="zh-CN" dirty="0">
                <a:latin typeface="+mn-ea"/>
              </a:rPr>
              <a:t>)/2;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 </a:t>
            </a:r>
            <a:r>
              <a:rPr lang="en-US" altLang="zh-CN" u="sng" dirty="0">
                <a:latin typeface="+mn-ea"/>
              </a:rPr>
              <a:t> l=mid+1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else </a:t>
            </a:r>
            <a:r>
              <a:rPr lang="en-US" altLang="zh-CN" u="sng" dirty="0">
                <a:latin typeface="+mn-ea"/>
              </a:rPr>
              <a:t> r=mid-1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return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</a:t>
            </a:r>
            <a:r>
              <a:rPr lang="en-ZA" altLang="zh-CN" dirty="0">
                <a:latin typeface="+mn-ea"/>
              </a:rPr>
              <a:t>;</a:t>
            </a:r>
            <a:endParaRPr lang="en-US" altLang="zh-CN" u="sng" dirty="0">
              <a:latin typeface="+mn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71A7686-01D1-4889-AAED-8D68FF9B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第一个大于 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x 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的数</a:t>
            </a:r>
          </a:p>
        </p:txBody>
      </p:sp>
    </p:spTree>
    <p:extLst>
      <p:ext uri="{BB962C8B-B14F-4D97-AF65-F5344CB8AC3E}">
        <p14:creationId xmlns:p14="http://schemas.microsoft.com/office/powerpoint/2010/main" val="245787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498726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+mn-ea"/>
              </a:rPr>
              <a:t>	int a[1010],</a:t>
            </a:r>
            <a:r>
              <a:rPr lang="en-US" altLang="zh-CN" dirty="0" err="1">
                <a:latin typeface="+mn-ea"/>
              </a:rPr>
              <a:t>x,l</a:t>
            </a:r>
            <a:r>
              <a:rPr lang="en-US" altLang="zh-CN" dirty="0">
                <a:latin typeface="+mn-ea"/>
              </a:rPr>
              <a:t>=0,r=n-1,mid; //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数组从小到大排序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while (</a:t>
            </a:r>
            <a:r>
              <a:rPr lang="en-US" altLang="zh-CN" u="sng" dirty="0">
                <a:latin typeface="+mn-ea"/>
              </a:rPr>
              <a:t> l&lt;=r </a:t>
            </a:r>
            <a:r>
              <a:rPr lang="en-US" altLang="zh-CN" dirty="0">
                <a:latin typeface="+mn-ea"/>
              </a:rPr>
              <a:t>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mid=(</a:t>
            </a:r>
            <a:r>
              <a:rPr lang="en-US" altLang="zh-CN" dirty="0" err="1">
                <a:latin typeface="+mn-ea"/>
              </a:rPr>
              <a:t>l+r</a:t>
            </a:r>
            <a:r>
              <a:rPr lang="en-US" altLang="zh-CN" dirty="0">
                <a:latin typeface="+mn-ea"/>
              </a:rPr>
              <a:t>)/2;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 </a:t>
            </a:r>
            <a:r>
              <a:rPr lang="en-US" altLang="zh-CN" u="sng" dirty="0">
                <a:latin typeface="+mn-ea"/>
              </a:rPr>
              <a:t> l=mid+1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else </a:t>
            </a:r>
            <a:r>
              <a:rPr lang="en-US" altLang="zh-CN" u="sng" dirty="0">
                <a:latin typeface="+mn-ea"/>
              </a:rPr>
              <a:t> r=mid-1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return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</a:t>
            </a:r>
            <a:r>
              <a:rPr lang="en-ZA" altLang="zh-CN" dirty="0">
                <a:latin typeface="+mn-ea"/>
              </a:rPr>
              <a:t>;</a:t>
            </a:r>
            <a:endParaRPr lang="en-US" altLang="zh-CN" u="sng" dirty="0">
              <a:latin typeface="+mn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71A7686-01D1-4889-AAED-8D68FF9B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第一个大于等于 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x 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的数</a:t>
            </a:r>
          </a:p>
        </p:txBody>
      </p:sp>
    </p:spTree>
    <p:extLst>
      <p:ext uri="{BB962C8B-B14F-4D97-AF65-F5344CB8AC3E}">
        <p14:creationId xmlns:p14="http://schemas.microsoft.com/office/powerpoint/2010/main" val="161006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498726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+mn-ea"/>
              </a:rPr>
              <a:t>	int a[1010],</a:t>
            </a:r>
            <a:r>
              <a:rPr lang="en-US" altLang="zh-CN" dirty="0" err="1">
                <a:latin typeface="+mn-ea"/>
              </a:rPr>
              <a:t>x,l</a:t>
            </a:r>
            <a:r>
              <a:rPr lang="en-US" altLang="zh-CN" dirty="0">
                <a:latin typeface="+mn-ea"/>
              </a:rPr>
              <a:t>=0,r=n-1,mid; //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数组从小到大排序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while (</a:t>
            </a:r>
            <a:r>
              <a:rPr lang="en-US" altLang="zh-CN" u="sng" dirty="0">
                <a:latin typeface="+mn-ea"/>
              </a:rPr>
              <a:t> l&lt;=r </a:t>
            </a:r>
            <a:r>
              <a:rPr lang="en-US" altLang="zh-CN" dirty="0">
                <a:latin typeface="+mn-ea"/>
              </a:rPr>
              <a:t>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mid=(</a:t>
            </a:r>
            <a:r>
              <a:rPr lang="en-US" altLang="zh-CN" dirty="0" err="1">
                <a:latin typeface="+mn-ea"/>
              </a:rPr>
              <a:t>l+r</a:t>
            </a:r>
            <a:r>
              <a:rPr lang="en-US" altLang="zh-CN" dirty="0">
                <a:latin typeface="+mn-ea"/>
              </a:rPr>
              <a:t>)/2;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 </a:t>
            </a:r>
            <a:r>
              <a:rPr lang="en-US" altLang="zh-CN" u="sng" dirty="0">
                <a:latin typeface="+mn-ea"/>
              </a:rPr>
              <a:t> l=mid+1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else </a:t>
            </a:r>
            <a:r>
              <a:rPr lang="en-US" altLang="zh-CN" u="sng" dirty="0">
                <a:latin typeface="+mn-ea"/>
              </a:rPr>
              <a:t> r=mid-1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return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</a:t>
            </a:r>
            <a:r>
              <a:rPr lang="en-ZA" altLang="zh-CN" dirty="0">
                <a:latin typeface="+mn-ea"/>
              </a:rPr>
              <a:t>;</a:t>
            </a:r>
            <a:endParaRPr lang="en-US" altLang="zh-CN" u="sng" dirty="0">
              <a:latin typeface="+mn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71A7686-01D1-4889-AAED-8D68FF9B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最后一个小于 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x 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的数</a:t>
            </a:r>
          </a:p>
        </p:txBody>
      </p:sp>
    </p:spTree>
    <p:extLst>
      <p:ext uri="{BB962C8B-B14F-4D97-AF65-F5344CB8AC3E}">
        <p14:creationId xmlns:p14="http://schemas.microsoft.com/office/powerpoint/2010/main" val="248747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498726" cy="5282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+mn-ea"/>
              </a:rPr>
              <a:t>	int a[1010],</a:t>
            </a:r>
            <a:r>
              <a:rPr lang="en-US" altLang="zh-CN" dirty="0" err="1">
                <a:latin typeface="+mn-ea"/>
              </a:rPr>
              <a:t>x,l</a:t>
            </a:r>
            <a:r>
              <a:rPr lang="en-US" altLang="zh-CN" dirty="0">
                <a:latin typeface="+mn-ea"/>
              </a:rPr>
              <a:t>=0,r=n-1,mid; //</a:t>
            </a:r>
            <a:r>
              <a:rPr lang="zh-CN" altLang="en-US" dirty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数组从小到大排序</a:t>
            </a:r>
            <a:endParaRPr lang="en-US" altLang="zh-CN" dirty="0">
              <a:latin typeface="+mn-ea"/>
            </a:endParaRP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while (</a:t>
            </a:r>
            <a:r>
              <a:rPr lang="en-US" altLang="zh-CN" u="sng" dirty="0">
                <a:latin typeface="+mn-ea"/>
              </a:rPr>
              <a:t> l&lt;=r </a:t>
            </a:r>
            <a:r>
              <a:rPr lang="en-US" altLang="zh-CN" dirty="0">
                <a:latin typeface="+mn-ea"/>
              </a:rPr>
              <a:t>) {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mid=(</a:t>
            </a:r>
            <a:r>
              <a:rPr lang="en-US" altLang="zh-CN" dirty="0" err="1">
                <a:latin typeface="+mn-ea"/>
              </a:rPr>
              <a:t>l+r</a:t>
            </a:r>
            <a:r>
              <a:rPr lang="en-US" altLang="zh-CN" dirty="0">
                <a:latin typeface="+mn-ea"/>
              </a:rPr>
              <a:t>)/2;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if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 </a:t>
            </a:r>
            <a:r>
              <a:rPr lang="en-US" altLang="zh-CN" u="sng" dirty="0">
                <a:latin typeface="+mn-ea"/>
              </a:rPr>
              <a:t> l=mid+1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	else </a:t>
            </a:r>
            <a:r>
              <a:rPr lang="en-US" altLang="zh-CN" u="sng" dirty="0">
                <a:latin typeface="+mn-ea"/>
              </a:rPr>
              <a:t> r=mid-1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}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</a:rPr>
              <a:t>	return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</a:t>
            </a:r>
            <a:r>
              <a:rPr lang="en-ZA" altLang="zh-CN" dirty="0">
                <a:latin typeface="+mn-ea"/>
              </a:rPr>
              <a:t>;</a:t>
            </a:r>
            <a:endParaRPr lang="en-US" altLang="zh-CN" u="sng" dirty="0">
              <a:latin typeface="+mn-ea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71A7686-01D1-4889-AAED-8D68FF9B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最后一个小于等于 </a:t>
            </a:r>
            <a:r>
              <a:rPr lang="en-US" altLang="zh-CN" dirty="0">
                <a:solidFill>
                  <a:schemeClr val="bg1"/>
                </a:solidFill>
              </a:rPr>
              <a:t>x </a:t>
            </a:r>
            <a:r>
              <a:rPr lang="zh-CN" altLang="en-US" dirty="0">
                <a:solidFill>
                  <a:schemeClr val="bg1"/>
                </a:solidFill>
              </a:rPr>
              <a:t>的数</a:t>
            </a:r>
          </a:p>
        </p:txBody>
      </p:sp>
    </p:spTree>
    <p:extLst>
      <p:ext uri="{BB962C8B-B14F-4D97-AF65-F5344CB8AC3E}">
        <p14:creationId xmlns:p14="http://schemas.microsoft.com/office/powerpoint/2010/main" val="1671464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二分查找代码总结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固定部分不变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if </a:t>
            </a:r>
            <a:r>
              <a:rPr lang="zh-CN" altLang="en-US" dirty="0">
                <a:latin typeface="+mn-ea"/>
              </a:rPr>
              <a:t>选择合理的逻辑条件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正确选择答案（一般来讲是 </a:t>
            </a:r>
            <a:r>
              <a:rPr lang="en-US" altLang="zh-CN" dirty="0">
                <a:latin typeface="+mn-ea"/>
              </a:rPr>
              <a:t>l </a:t>
            </a:r>
            <a:r>
              <a:rPr lang="zh-CN" altLang="en-US" dirty="0">
                <a:latin typeface="+mn-ea"/>
              </a:rPr>
              <a:t>或 </a:t>
            </a:r>
            <a:r>
              <a:rPr lang="en-US" altLang="zh-CN" dirty="0">
                <a:latin typeface="+mn-ea"/>
              </a:rPr>
              <a:t>r</a:t>
            </a:r>
            <a:r>
              <a:rPr lang="zh-CN" altLang="en-US" dirty="0">
                <a:latin typeface="+mn-ea"/>
              </a:rPr>
              <a:t>）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学会自己出数据验证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646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例题：找数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-1</a:t>
            </a:r>
            <a:endParaRPr lang="zh-CN" altLang="en-US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第一个大于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第一个大于等于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最后一个小于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最后一个小于等于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第一个小于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最后一个大于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5B8DEC8-7EC7-4518-AE97-A873FCF5B3F7}"/>
              </a:ext>
            </a:extLst>
          </p:cNvPr>
          <p:cNvSpPr txBox="1">
            <a:spLocks/>
          </p:cNvSpPr>
          <p:nvPr/>
        </p:nvSpPr>
        <p:spPr>
          <a:xfrm>
            <a:off x="4795832" y="1486109"/>
            <a:ext cx="6985505" cy="5282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while (</a:t>
            </a:r>
            <a:r>
              <a:rPr lang="en-US" altLang="zh-CN" u="sng" dirty="0">
                <a:latin typeface="+mn-ea"/>
              </a:rPr>
              <a:t> l&lt;=r </a:t>
            </a:r>
            <a:r>
              <a:rPr lang="en-US" altLang="zh-CN" dirty="0">
                <a:latin typeface="+mn-ea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	mid=(</a:t>
            </a:r>
            <a:r>
              <a:rPr lang="en-US" altLang="zh-CN" dirty="0" err="1">
                <a:latin typeface="+mn-ea"/>
              </a:rPr>
              <a:t>l+r</a:t>
            </a:r>
            <a:r>
              <a:rPr lang="en-US" altLang="zh-CN" dirty="0">
                <a:latin typeface="+mn-ea"/>
              </a:rPr>
              <a:t>)/2;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	if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 </a:t>
            </a:r>
            <a:r>
              <a:rPr lang="en-US" altLang="zh-CN" u="sng" dirty="0">
                <a:latin typeface="+mn-ea"/>
              </a:rPr>
              <a:t> l=mid+1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	else </a:t>
            </a:r>
            <a:r>
              <a:rPr lang="en-US" altLang="zh-CN" u="sng" dirty="0">
                <a:latin typeface="+mn-ea"/>
              </a:rPr>
              <a:t> r=mid-1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return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</a:t>
            </a:r>
            <a:r>
              <a:rPr lang="en-ZA" altLang="zh-CN" dirty="0">
                <a:latin typeface="+mn-ea"/>
              </a:rPr>
              <a:t>;</a:t>
            </a:r>
            <a:endParaRPr lang="en-US" altLang="zh-CN" u="sng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1813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例题：找数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-2</a:t>
            </a:r>
            <a:endParaRPr lang="zh-CN" altLang="en-US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第一个小于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第一个小于等于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最后一个大于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最后一个大于等于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第一个大于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最后一个小于 </a:t>
            </a:r>
            <a:r>
              <a:rPr lang="en-US" altLang="zh-CN" dirty="0">
                <a:latin typeface="+mn-ea"/>
              </a:rPr>
              <a:t>x </a:t>
            </a:r>
            <a:r>
              <a:rPr lang="zh-CN" altLang="en-US" dirty="0">
                <a:latin typeface="+mn-ea"/>
              </a:rPr>
              <a:t>的数</a:t>
            </a:r>
            <a:endParaRPr lang="en-US" altLang="zh-CN" dirty="0">
              <a:latin typeface="+mn-ea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A1C9D53-E224-4A7F-AD6C-EC7BBB0A826D}"/>
              </a:ext>
            </a:extLst>
          </p:cNvPr>
          <p:cNvSpPr txBox="1">
            <a:spLocks/>
          </p:cNvSpPr>
          <p:nvPr/>
        </p:nvSpPr>
        <p:spPr>
          <a:xfrm>
            <a:off x="4795832" y="1486109"/>
            <a:ext cx="6985505" cy="5282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while (</a:t>
            </a:r>
            <a:r>
              <a:rPr lang="en-US" altLang="zh-CN" u="sng" dirty="0">
                <a:latin typeface="+mn-ea"/>
              </a:rPr>
              <a:t> l&lt;=r </a:t>
            </a:r>
            <a:r>
              <a:rPr lang="en-US" altLang="zh-CN" dirty="0">
                <a:latin typeface="+mn-ea"/>
              </a:rPr>
              <a:t>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	mid=(</a:t>
            </a:r>
            <a:r>
              <a:rPr lang="en-US" altLang="zh-CN" dirty="0" err="1">
                <a:latin typeface="+mn-ea"/>
              </a:rPr>
              <a:t>l+r</a:t>
            </a:r>
            <a:r>
              <a:rPr lang="en-US" altLang="zh-CN" dirty="0">
                <a:latin typeface="+mn-ea"/>
              </a:rPr>
              <a:t>)/2;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	if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 </a:t>
            </a:r>
            <a:r>
              <a:rPr lang="en-US" altLang="zh-CN" u="sng" dirty="0">
                <a:latin typeface="+mn-ea"/>
              </a:rPr>
              <a:t> l=mid+1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	else </a:t>
            </a:r>
            <a:r>
              <a:rPr lang="en-US" altLang="zh-CN" u="sng" dirty="0">
                <a:latin typeface="+mn-ea"/>
              </a:rPr>
              <a:t> r=mid-1 </a:t>
            </a:r>
            <a:r>
              <a:rPr lang="en-US" altLang="zh-CN" dirty="0">
                <a:latin typeface="+mn-ea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latin typeface="+mn-ea"/>
              </a:rPr>
              <a:t>	return (</a:t>
            </a:r>
            <a:r>
              <a:rPr lang="en-US" altLang="zh-CN" u="sng" dirty="0">
                <a:latin typeface="+mn-ea"/>
              </a:rPr>
              <a:t>             </a:t>
            </a:r>
            <a:r>
              <a:rPr lang="en-US" altLang="zh-CN" dirty="0">
                <a:latin typeface="+mn-ea"/>
              </a:rPr>
              <a:t>)</a:t>
            </a:r>
            <a:r>
              <a:rPr lang="en-ZA" altLang="zh-CN" dirty="0">
                <a:latin typeface="+mn-ea"/>
              </a:rPr>
              <a:t>;</a:t>
            </a:r>
            <a:endParaRPr lang="en-US" altLang="zh-CN" u="sng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64559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例题：和为给定数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寻找数组中两个和为给定数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的数对</a:t>
                </a:r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暴力枚举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枚举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>
                    <a:latin typeface="+mn-ea"/>
                  </a:rPr>
                  <a:t>，判断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时间复杂度：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解决方法：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枚举第一个数，用二分查找第二个数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时间复杂度：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  <a:blipFill>
                <a:blip r:embed="rId3"/>
                <a:stretch>
                  <a:fillRect l="-1323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3213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例题：查找最接近的元素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查找与给定值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最接近的元素</a:t>
                </a:r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循环：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简单循环，时间复杂度：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解决办法：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查找第一个大于等于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的数和最后一个小于等于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dirty="0">
                    <a:latin typeface="+mn-ea"/>
                  </a:rPr>
                  <a:t> </a:t>
                </a:r>
                <a:r>
                  <a:rPr lang="zh-CN" altLang="en-US" dirty="0">
                    <a:latin typeface="+mn-ea"/>
                  </a:rPr>
                  <a:t>的数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比较，看谁更接近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时间复杂度：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  <a:blipFill>
                <a:blip r:embed="rId3"/>
                <a:stretch>
                  <a:fillRect l="-1323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424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</a:rPr>
              <a:t>例题：</a:t>
            </a:r>
            <a:r>
              <a:rPr lang="en-US" altLang="zh-CN" dirty="0">
                <a:solidFill>
                  <a:schemeClr val="bg1"/>
                </a:solidFill>
                <a:latin typeface="+mj-ea"/>
              </a:rPr>
              <a:t>A-B </a:t>
            </a:r>
            <a:r>
              <a:rPr lang="zh-CN" altLang="en-US" dirty="0">
                <a:solidFill>
                  <a:schemeClr val="bg1"/>
                </a:solidFill>
                <a:latin typeface="+mj-ea"/>
              </a:rPr>
              <a:t>增强版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+mn-ea"/>
                  </a:rPr>
                  <a:t>给定一个正整数 </a:t>
                </a:r>
                <a:r>
                  <a:rPr lang="en-US" altLang="zh-CN" dirty="0">
                    <a:latin typeface="+mn-ea"/>
                  </a:rPr>
                  <a:t>C</a:t>
                </a:r>
                <a:r>
                  <a:rPr lang="zh-CN" altLang="en-US" dirty="0">
                    <a:latin typeface="+mn-ea"/>
                  </a:rPr>
                  <a:t>，求两个数的差等于 </a:t>
                </a:r>
                <a:r>
                  <a:rPr lang="en-US" altLang="zh-CN" dirty="0">
                    <a:latin typeface="+mn-ea"/>
                  </a:rPr>
                  <a:t>C </a:t>
                </a:r>
                <a:r>
                  <a:rPr lang="zh-CN" altLang="en-US" dirty="0">
                    <a:latin typeface="+mn-ea"/>
                  </a:rPr>
                  <a:t>的数对的数量</a:t>
                </a:r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暴力枚举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枚举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>
                    <a:latin typeface="+mn-ea"/>
                  </a:rPr>
                  <a:t>，判断</a:t>
                </a:r>
                <a:r>
                  <a:rPr lang="en-US" altLang="zh-CN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>
                    <a:latin typeface="+mn-ea"/>
                  </a:rPr>
                  <a:t>，计数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时间复杂度：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+mn-ea"/>
                </a:endParaRPr>
              </a:p>
              <a:p>
                <a:endParaRPr lang="en-US" altLang="zh-CN" dirty="0">
                  <a:latin typeface="+mn-ea"/>
                </a:endParaRPr>
              </a:p>
              <a:p>
                <a:r>
                  <a:rPr lang="zh-CN" altLang="en-US" dirty="0">
                    <a:latin typeface="+mn-ea"/>
                  </a:rPr>
                  <a:t>解决办法：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枚举第一个数，计算第二个数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重复的数需要单独处理</a:t>
                </a:r>
                <a:endParaRPr lang="en-US" altLang="zh-CN" dirty="0">
                  <a:latin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</a:rPr>
                  <a:t>时间复杂度：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486110"/>
                <a:ext cx="9591823" cy="5282749"/>
              </a:xfrm>
              <a:blipFill>
                <a:blip r:embed="rId3"/>
                <a:stretch>
                  <a:fillRect l="-1323" t="-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19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二分答案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6580" y="1486110"/>
                <a:ext cx="10368800" cy="528274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什么是二分答案：</a:t>
                </a:r>
                <a:endParaRPr lang="en-US" altLang="zh-CN" dirty="0"/>
              </a:p>
              <a:p>
                <a:r>
                  <a:rPr lang="zh-CN" altLang="en-US" dirty="0"/>
                  <a:t>一个问题的可行答案有明确的区间范围，在此区间范围内存在一个临界点将答案区间分成两个区间，其中一个区间都满足条件而另一个区间均不满足条件，求这个临界点。由于区间存在唯一的临界点，那么可以用二分</a:t>
                </a:r>
                <a:r>
                  <a:rPr lang="zh-CN" altLang="en-US"/>
                  <a:t>查找（临界点</a:t>
                </a:r>
                <a:r>
                  <a:rPr lang="zh-CN" altLang="en-US" dirty="0"/>
                  <a:t>所在位置）的方式找到这个临界点。</a:t>
                </a:r>
                <a:endParaRPr lang="en-US" altLang="zh-CN" dirty="0"/>
              </a:p>
              <a:p>
                <a:r>
                  <a:rPr lang="zh-CN" altLang="en-US" dirty="0"/>
                  <a:t>算法原理：</a:t>
                </a:r>
                <a:endParaRPr lang="en-US" altLang="zh-CN" dirty="0"/>
              </a:p>
              <a:p>
                <a:r>
                  <a:rPr lang="zh-CN" altLang="en-US" dirty="0"/>
                  <a:t>采用二分的方式，相当于给原有的问题增加了一个条件，求解的方法也由枚举（或其他方式）答案转变为判断某个值是否是可行的答案。</a:t>
                </a:r>
                <a:endParaRPr lang="en-US" altLang="zh-CN" dirty="0"/>
              </a:p>
              <a:p>
                <a:r>
                  <a:rPr lang="zh-CN" altLang="en-US" dirty="0"/>
                  <a:t>复杂度：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，其中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dirty="0"/>
                  <a:t>是判断一个值是否是可行值的复杂度，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 是区间长度。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6580" y="1486110"/>
                <a:ext cx="10368800" cy="5282749"/>
              </a:xfrm>
              <a:blipFill>
                <a:blip r:embed="rId2"/>
                <a:stretch>
                  <a:fillRect l="-1176" t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27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二分答案</a:t>
            </a:r>
          </a:p>
        </p:txBody>
      </p:sp>
    </p:spTree>
    <p:extLst>
      <p:ext uri="{BB962C8B-B14F-4D97-AF65-F5344CB8AC3E}">
        <p14:creationId xmlns:p14="http://schemas.microsoft.com/office/powerpoint/2010/main" val="1586355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例题：伐木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至少要伐木材 </a:t>
            </a:r>
            <a:r>
              <a:rPr lang="en-US" altLang="zh-CN" dirty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，问可以伐木的最高高度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2838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例题：派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要人均一块大小一样的派，最大的体积是多少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0087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例题：月度开销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9591823" cy="528274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将 </a:t>
            </a:r>
            <a:r>
              <a:rPr lang="en-US" altLang="zh-CN" dirty="0">
                <a:latin typeface="+mn-ea"/>
              </a:rPr>
              <a:t>N </a:t>
            </a:r>
            <a:r>
              <a:rPr lang="zh-CN" altLang="en-US" dirty="0">
                <a:latin typeface="+mn-ea"/>
              </a:rPr>
              <a:t>个数划分成 </a:t>
            </a:r>
            <a:r>
              <a:rPr lang="en-US" altLang="zh-CN" dirty="0">
                <a:latin typeface="+mn-ea"/>
              </a:rPr>
              <a:t>M </a:t>
            </a:r>
            <a:r>
              <a:rPr lang="zh-CN" altLang="en-US" dirty="0">
                <a:latin typeface="+mn-ea"/>
              </a:rPr>
              <a:t>个连续块，问最大区块和最小的方案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1765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B0AFC0A-40DD-4330-9DDE-5AEFE57E5460}"/>
                  </a:ext>
                </a:extLst>
              </p14:cNvPr>
              <p14:cNvContentPartPr/>
              <p14:nvPr/>
            </p14:nvContentPartPr>
            <p14:xfrm>
              <a:off x="979200" y="2587680"/>
              <a:ext cx="406800" cy="554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B0AFC0A-40DD-4330-9DDE-5AEFE57E54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9840" y="2578320"/>
                <a:ext cx="425520" cy="7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85802</TotalTime>
  <Words>1271</Words>
  <Application>Microsoft Macintosh PowerPoint</Application>
  <PresentationFormat>宽屏</PresentationFormat>
  <Paragraphs>172</Paragraphs>
  <Slides>22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等线</vt:lpstr>
      <vt:lpstr>华文楷体</vt:lpstr>
      <vt:lpstr>宋体</vt:lpstr>
      <vt:lpstr>Arial</vt:lpstr>
      <vt:lpstr>Cambria Math</vt:lpstr>
      <vt:lpstr>Tw Cen MT</vt:lpstr>
      <vt:lpstr>电路</vt:lpstr>
      <vt:lpstr>二分</vt:lpstr>
      <vt:lpstr>二分查找</vt:lpstr>
      <vt:lpstr>二分查找</vt:lpstr>
      <vt:lpstr>二分查找</vt:lpstr>
      <vt:lpstr>二分查找的各种形态</vt:lpstr>
      <vt:lpstr>二分查找代码模板</vt:lpstr>
      <vt:lpstr>第一个大于 x 的数</vt:lpstr>
      <vt:lpstr>第一个大于等于 x 的数</vt:lpstr>
      <vt:lpstr>最后一个小于 x 的数</vt:lpstr>
      <vt:lpstr>最后一个小于等于 x 的数</vt:lpstr>
      <vt:lpstr>二分查找代码总结</vt:lpstr>
      <vt:lpstr>例题：找数-1</vt:lpstr>
      <vt:lpstr>例题：找数-2</vt:lpstr>
      <vt:lpstr>例题：和为给定数</vt:lpstr>
      <vt:lpstr>例题：查找最接近的元素</vt:lpstr>
      <vt:lpstr>例题：A-B 增强版</vt:lpstr>
      <vt:lpstr>二分答案</vt:lpstr>
      <vt:lpstr>二分答案</vt:lpstr>
      <vt:lpstr>例题：伐木</vt:lpstr>
      <vt:lpstr>例题：派</vt:lpstr>
      <vt:lpstr>例题：月度开销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Hsu Ferainsa</cp:lastModifiedBy>
  <cp:revision>208</cp:revision>
  <dcterms:created xsi:type="dcterms:W3CDTF">2018-08-09T00:16:20Z</dcterms:created>
  <dcterms:modified xsi:type="dcterms:W3CDTF">2022-03-12T08:21:52Z</dcterms:modified>
</cp:coreProperties>
</file>