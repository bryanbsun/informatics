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81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401" r:id="rId11"/>
    <p:sldId id="397" r:id="rId12"/>
    <p:sldId id="398" r:id="rId13"/>
    <p:sldId id="399" r:id="rId14"/>
    <p:sldId id="400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10" r:id="rId23"/>
    <p:sldId id="411" r:id="rId24"/>
    <p:sldId id="419" r:id="rId25"/>
    <p:sldId id="420" r:id="rId26"/>
    <p:sldId id="412" r:id="rId27"/>
    <p:sldId id="413" r:id="rId28"/>
    <p:sldId id="414" r:id="rId29"/>
    <p:sldId id="416" r:id="rId30"/>
    <p:sldId id="417" r:id="rId31"/>
    <p:sldId id="418" r:id="rId32"/>
    <p:sldId id="26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BB819-E12B-254D-9BC9-4B6DCA13E6ED}" v="1" dt="2026-03-15T10:41:2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85" autoAdjust="0"/>
    <p:restoredTop sz="91481" autoAdjust="0"/>
  </p:normalViewPr>
  <p:slideViewPr>
    <p:cSldViewPr snapToGrid="0">
      <p:cViewPr varScale="1">
        <p:scale>
          <a:sx n="92" d="100"/>
          <a:sy n="92" d="100"/>
        </p:scale>
        <p:origin x="200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03-15T10:41:24.515" v="2"/>
      <pc:docMkLst>
        <pc:docMk/>
      </pc:docMkLst>
      <pc:sldChg chg="addSp delSp modSp mod">
        <pc:chgData name="Bryan Sun" userId="851caa7714272873" providerId="LiveId" clId="{1DF0C224-3A3E-55A6-A8D1-F8F2208D385B}" dt="2026-03-15T10:41:24.515" v="2"/>
        <pc:sldMkLst>
          <pc:docMk/>
          <pc:sldMk cId="1940424579" sldId="405"/>
        </pc:sldMkLst>
        <pc:spChg chg="add del mod">
          <ac:chgData name="Bryan Sun" userId="851caa7714272873" providerId="LiveId" clId="{1DF0C224-3A3E-55A6-A8D1-F8F2208D385B}" dt="2026-03-15T10:41:24.515" v="2"/>
          <ac:spMkLst>
            <pc:docMk/>
            <pc:sldMk cId="1940424579" sldId="405"/>
            <ac:spMk id="4" creationId="{B3A1EFCC-8AB4-80D0-F8B1-9D96D0E689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1240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509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80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7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1237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976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5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47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7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排序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最基础的定义：将一个数组中的数按照从小到大的顺序排好</a:t>
            </a:r>
            <a:endParaRPr lang="en-US" altLang="zh-CN" dirty="0"/>
          </a:p>
          <a:p>
            <a:r>
              <a:rPr lang="zh-CN" altLang="en-US" dirty="0"/>
              <a:t>输入：</a:t>
            </a:r>
            <a:endParaRPr lang="en-US" altLang="zh-CN" dirty="0"/>
          </a:p>
          <a:p>
            <a:pPr lvl="1"/>
            <a:r>
              <a:rPr lang="zh-CN" altLang="en-US" dirty="0"/>
              <a:t>一个数组，数组元素都是数</a:t>
            </a:r>
            <a:endParaRPr lang="en-US" altLang="zh-CN" dirty="0"/>
          </a:p>
          <a:p>
            <a:r>
              <a:rPr lang="zh-CN" altLang="en-US" dirty="0"/>
              <a:t>输出</a:t>
            </a:r>
            <a:endParaRPr lang="en-US" altLang="zh-CN" dirty="0"/>
          </a:p>
          <a:p>
            <a:pPr lvl="1"/>
            <a:r>
              <a:rPr lang="zh-CN" altLang="en-US" dirty="0"/>
              <a:t>按照从小到大顺序排好的数组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1   3   8   4   6   7   5   2   9   0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0   1   2   3   4   5   6   7   8   9</a:t>
            </a:r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常见的排序算法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基于比较的排序算法</a:t>
            </a:r>
            <a:endParaRPr lang="en-US" altLang="zh-CN" dirty="0"/>
          </a:p>
          <a:p>
            <a:pPr lvl="1"/>
            <a:r>
              <a:rPr lang="zh-CN" altLang="en-US" dirty="0"/>
              <a:t>选择排序</a:t>
            </a:r>
            <a:endParaRPr lang="en-US" altLang="zh-CN" dirty="0"/>
          </a:p>
          <a:p>
            <a:pPr lvl="1"/>
            <a:r>
              <a:rPr lang="zh-CN" altLang="en-US" dirty="0"/>
              <a:t>冒泡排序</a:t>
            </a:r>
            <a:endParaRPr lang="en-US" altLang="zh-CN" dirty="0"/>
          </a:p>
          <a:p>
            <a:pPr lvl="1"/>
            <a:r>
              <a:rPr lang="zh-CN" altLang="en-US" dirty="0"/>
              <a:t>快速排序</a:t>
            </a:r>
            <a:endParaRPr lang="en-US" altLang="zh-CN" dirty="0"/>
          </a:p>
          <a:p>
            <a:pPr lvl="1"/>
            <a:r>
              <a:rPr lang="zh-CN" altLang="en-US" dirty="0"/>
              <a:t>归并排序</a:t>
            </a:r>
            <a:endParaRPr lang="en-US" altLang="zh-CN" dirty="0"/>
          </a:p>
          <a:p>
            <a:r>
              <a:rPr lang="zh-CN" altLang="en-US" dirty="0"/>
              <a:t>特殊的排序算法</a:t>
            </a:r>
            <a:endParaRPr lang="en-US" altLang="zh-CN" dirty="0"/>
          </a:p>
          <a:p>
            <a:pPr lvl="1"/>
            <a:r>
              <a:rPr lang="zh-CN" altLang="en-US" dirty="0"/>
              <a:t>桶排序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30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选择排序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算法原理：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每次确定一个最小的数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轮以后排好整个数组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复杂度：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  <a:blipFill>
                <a:blip r:embed="rId2"/>
                <a:stretch>
                  <a:fillRect l="-2421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4996064" y="1486109"/>
            <a:ext cx="5146557" cy="5282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1   3   8   4   6   7   5   2   9   0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dirty="0">
                <a:latin typeface="+mn-ea"/>
              </a:rPr>
              <a:t>   3   8   4   6   7   5   2   9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dirty="0">
                <a:latin typeface="+mn-ea"/>
              </a:rPr>
              <a:t>   8   4   6   7   5   2   9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  4   6   7   5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8</a:t>
            </a:r>
            <a:r>
              <a:rPr lang="en-US" altLang="zh-CN" dirty="0">
                <a:latin typeface="+mn-ea"/>
              </a:rPr>
              <a:t>   9   3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  6   7   5   8   9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0   1   2   3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4</a:t>
            </a:r>
            <a:r>
              <a:rPr lang="en-US" altLang="zh-CN" dirty="0">
                <a:latin typeface="+mn-ea"/>
              </a:rPr>
              <a:t>   7   5   8   9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0   1   2   3   4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5</a:t>
            </a:r>
            <a:r>
              <a:rPr lang="en-US" altLang="zh-CN" dirty="0">
                <a:latin typeface="+mn-ea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7</a:t>
            </a:r>
            <a:r>
              <a:rPr lang="en-US" altLang="zh-CN" dirty="0">
                <a:latin typeface="+mn-ea"/>
              </a:rPr>
              <a:t>   8   9   6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0   1   2   3   4   5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6</a:t>
            </a:r>
            <a:r>
              <a:rPr lang="en-US" altLang="zh-CN" dirty="0">
                <a:latin typeface="+mn-ea"/>
              </a:rPr>
              <a:t>   8   9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0   1   2   3   4   5   6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7</a:t>
            </a:r>
            <a:r>
              <a:rPr lang="en-US" altLang="zh-CN" dirty="0">
                <a:latin typeface="+mn-ea"/>
              </a:rPr>
              <a:t>   9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0   1   2   3   4   5   6   7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8</a:t>
            </a:r>
            <a:r>
              <a:rPr lang="en-US" altLang="zh-CN" dirty="0">
                <a:latin typeface="+mn-ea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955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选择排序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8558153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for (int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=0;i&lt;n;++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int k=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for (int j=i+1;j&lt;n;++j)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if (a[j]&lt;a[k])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	k=j;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(k!=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swap(a[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],a[k]);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5472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冒泡排序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算法原理：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比较相邻两个数，大的在前就交换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每次确定一个最大的数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可能少于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轮冒泡即可完成排序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复杂度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最坏情况：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最好情况：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  <a:blipFill>
                <a:blip r:embed="rId2"/>
                <a:stretch>
                  <a:fillRect l="-2421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5592408" y="1486109"/>
            <a:ext cx="5031476" cy="5282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1   3   8   4   0   7   5   2   9   6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1   3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4   0   7   5   2   8   6   9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1   3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0   4   5   2   7   6   8</a:t>
            </a:r>
            <a:r>
              <a:rPr lang="en-US" altLang="zh-CN" dirty="0">
                <a:latin typeface="+mn-ea"/>
              </a:rPr>
              <a:t>   9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0   3</a:t>
            </a:r>
            <a:r>
              <a:rPr lang="en-US" altLang="zh-CN" dirty="0">
                <a:latin typeface="+mn-ea"/>
              </a:rPr>
              <a:t>   4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2   5   6   7 </a:t>
            </a:r>
            <a:r>
              <a:rPr lang="en-US" altLang="zh-CN" dirty="0">
                <a:latin typeface="+mn-ea"/>
              </a:rPr>
              <a:t>  8   9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+mn-ea"/>
              </a:rPr>
              <a:t>0   1</a:t>
            </a:r>
            <a:r>
              <a:rPr lang="en-US" altLang="zh-CN" dirty="0">
                <a:latin typeface="+mn-ea"/>
              </a:rPr>
              <a:t>   3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4</a:t>
            </a:r>
            <a:r>
              <a:rPr lang="en-US" altLang="zh-CN" dirty="0">
                <a:latin typeface="+mn-ea"/>
              </a:rPr>
              <a:t>   5   6   7   8   9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0   1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3</a:t>
            </a:r>
            <a:r>
              <a:rPr lang="en-US" altLang="zh-CN" dirty="0">
                <a:latin typeface="+mn-ea"/>
              </a:rPr>
              <a:t>   4   5   6   7   8   9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0   1   2   3   4   5   6   7   8   9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4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冒泡排序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8558153" cy="528274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for (int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=n-1;i&gt;=1;--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bool flag=true;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for (int j=0;j&lt;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;++j)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if (a[j]&gt;a[j+1])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	swap(a[j],a[j+1]);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	flag=false;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(flag) break;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53242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快速排序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算法原理：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每次将要排序的数分成（均匀的）两部分，一部分的数永远小于另一部分的数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减少了比较的总次数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快速排序的使用：</a:t>
                </a:r>
                <a:endParaRPr lang="en-US" altLang="zh-CN" dirty="0"/>
              </a:p>
              <a:p>
                <a:pPr lvl="1"/>
                <a:r>
                  <a:rPr lang="en-US" altLang="zh-CN" dirty="0">
                    <a:latin typeface="+mn-ea"/>
                  </a:rPr>
                  <a:t>sort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2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3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桶排序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算法适用范围：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需要排序的数可取值的范围很小（例如 </a:t>
                </a:r>
                <a:r>
                  <a:rPr lang="en-US" altLang="zh-CN" dirty="0">
                    <a:latin typeface="+mn-ea"/>
                  </a:rPr>
                  <a:t>1-100 </a:t>
                </a:r>
                <a:r>
                  <a:rPr lang="zh-CN" altLang="en-US" dirty="0">
                    <a:latin typeface="+mn-ea"/>
                  </a:rPr>
                  <a:t>之间）</a:t>
                </a: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算法原理：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对每一个数出现的次数进行计数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按照从小到大输出排序结果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2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E48A20C-A0EC-4E88-B9A0-64D6E5F8B4E5}"/>
              </a:ext>
            </a:extLst>
          </p:cNvPr>
          <p:cNvSpPr txBox="1">
            <a:spLocks/>
          </p:cNvSpPr>
          <p:nvPr/>
        </p:nvSpPr>
        <p:spPr>
          <a:xfrm>
            <a:off x="5863009" y="2627260"/>
            <a:ext cx="5184400" cy="340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1 3 8 4 3 5 5 2 9 6 5 2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0 1 2 3 4 5 6 7 8 9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0 1 2 2 1 3 1 0 1 1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1 2 2 3 3 4 5 5 5 6 8 9</a:t>
            </a:r>
          </a:p>
        </p:txBody>
      </p:sp>
    </p:spTree>
    <p:extLst>
      <p:ext uri="{BB962C8B-B14F-4D97-AF65-F5344CB8AC3E}">
        <p14:creationId xmlns:p14="http://schemas.microsoft.com/office/powerpoint/2010/main" val="46557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排序算法的稳定性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什么是排序算法的稳定性：</a:t>
            </a:r>
            <a:endParaRPr lang="en-US" altLang="zh-CN" dirty="0"/>
          </a:p>
          <a:p>
            <a:pPr lvl="1"/>
            <a:r>
              <a:rPr lang="zh-CN" altLang="en-US" dirty="0"/>
              <a:t>稳定的排序算法，指的是对于任意给出的数组，经过排序算法以后，原数组中相等的两个数，在排序之后的数组中先后次序保持不变。</a:t>
            </a:r>
            <a:endParaRPr lang="en-US" altLang="zh-CN" dirty="0"/>
          </a:p>
          <a:p>
            <a:r>
              <a:rPr lang="zh-CN" altLang="en-US" dirty="0"/>
              <a:t>这些算法稳定吗？</a:t>
            </a:r>
            <a:endParaRPr lang="en-US" altLang="zh-CN" dirty="0"/>
          </a:p>
          <a:p>
            <a:pPr lvl="1"/>
            <a:r>
              <a:rPr lang="zh-CN" altLang="en-US" dirty="0"/>
              <a:t>选择排序：不稳定</a:t>
            </a:r>
            <a:endParaRPr lang="en-US" altLang="zh-CN" dirty="0"/>
          </a:p>
          <a:p>
            <a:pPr lvl="1"/>
            <a:r>
              <a:rPr lang="zh-CN" altLang="en-US" dirty="0"/>
              <a:t>冒泡排序：稳定</a:t>
            </a:r>
            <a:endParaRPr lang="en-US" altLang="zh-CN" dirty="0"/>
          </a:p>
          <a:p>
            <a:pPr lvl="1"/>
            <a:r>
              <a:rPr lang="zh-CN" altLang="en-US" dirty="0"/>
              <a:t>快速排序：不稳定</a:t>
            </a:r>
            <a:endParaRPr lang="en-US" altLang="zh-CN" dirty="0"/>
          </a:p>
          <a:p>
            <a:pPr lvl="1"/>
            <a:r>
              <a:rPr lang="zh-CN" altLang="en-US" dirty="0"/>
              <a:t>桶排序：稳定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550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排序算法中的 排 和 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序：</a:t>
            </a:r>
            <a:endParaRPr lang="en-US" altLang="zh-CN" dirty="0"/>
          </a:p>
          <a:p>
            <a:pPr lvl="1"/>
            <a:r>
              <a:rPr lang="zh-CN" altLang="en-US" dirty="0"/>
              <a:t>一种关系，描述哪个数应该排在哪个数的前面（可以理解成序号）</a:t>
            </a:r>
            <a:endParaRPr lang="en-US" altLang="zh-CN" dirty="0"/>
          </a:p>
          <a:p>
            <a:r>
              <a:rPr lang="zh-CN" altLang="en-US" dirty="0"/>
              <a:t>排：</a:t>
            </a:r>
            <a:endParaRPr lang="en-US" altLang="zh-CN" dirty="0"/>
          </a:p>
          <a:p>
            <a:pPr lvl="1"/>
            <a:r>
              <a:rPr lang="zh-CN" altLang="en-US" dirty="0"/>
              <a:t>一种算法，按照定义好的序，对数组元素按照从小到大的序进行编排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例子：</a:t>
            </a:r>
            <a:endParaRPr lang="en-US" altLang="zh-CN" dirty="0"/>
          </a:p>
          <a:p>
            <a:pPr lvl="1"/>
            <a:r>
              <a:rPr lang="zh-CN" altLang="en-US" dirty="0"/>
              <a:t>逆序排序</a:t>
            </a:r>
            <a:endParaRPr lang="en-US" altLang="zh-CN" dirty="0"/>
          </a:p>
          <a:p>
            <a:pPr lvl="1"/>
            <a:r>
              <a:rPr lang="zh-CN" altLang="en-US" dirty="0"/>
              <a:t>整数奇偶排序：奇数在前、偶数在后；奇数从大到小排；偶数从小到大排；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4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+mn-ea"/>
                <a:ea typeface="+mn-ea"/>
              </a:rPr>
              <a:t>NOIP</a:t>
            </a:r>
            <a:r>
              <a:rPr lang="zh-CN" altLang="en-US">
                <a:solidFill>
                  <a:schemeClr val="bg1"/>
                </a:solidFill>
                <a:latin typeface="+mn-ea"/>
                <a:ea typeface="+mn-ea"/>
              </a:rPr>
              <a:t>中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最常用的排序写法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ea"/>
              </a:rPr>
              <a:t>STL </a:t>
            </a:r>
            <a:r>
              <a:rPr lang="zh-CN" altLang="en-US" dirty="0">
                <a:latin typeface="+mn-ea"/>
              </a:rPr>
              <a:t>中的 </a:t>
            </a:r>
            <a:r>
              <a:rPr lang="en-US" altLang="zh-CN" dirty="0">
                <a:latin typeface="+mn-ea"/>
              </a:rPr>
              <a:t>sort </a:t>
            </a:r>
            <a:r>
              <a:rPr lang="zh-CN" altLang="en-US" dirty="0">
                <a:latin typeface="+mn-ea"/>
              </a:rPr>
              <a:t>函数是 </a:t>
            </a:r>
            <a:r>
              <a:rPr lang="en-US" altLang="zh-CN" dirty="0">
                <a:latin typeface="+mn-ea"/>
              </a:rPr>
              <a:t>NOIP </a:t>
            </a:r>
            <a:r>
              <a:rPr lang="zh-CN" altLang="en-US" dirty="0">
                <a:latin typeface="+mn-ea"/>
              </a:rPr>
              <a:t>中最常见的排序写法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sort </a:t>
            </a:r>
            <a:r>
              <a:rPr lang="zh-CN" altLang="en-US" dirty="0">
                <a:latin typeface="+mn-ea"/>
              </a:rPr>
              <a:t>函数实现了优化的快速排序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直接使用，不需要手写快速排序，避开很多实现细节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只需要定义“序”，不需要关心“排”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用法：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sort(</a:t>
            </a:r>
            <a:r>
              <a:rPr lang="en-US" altLang="zh-CN" dirty="0" err="1">
                <a:latin typeface="+mn-ea"/>
              </a:rPr>
              <a:t>a,a+n,cmp</a:t>
            </a:r>
            <a:r>
              <a:rPr lang="en-US" altLang="zh-CN" dirty="0">
                <a:latin typeface="+mn-ea"/>
              </a:rPr>
              <a:t>); </a:t>
            </a:r>
            <a:r>
              <a:rPr lang="zh-CN" altLang="en-US" dirty="0">
                <a:latin typeface="+mn-ea"/>
              </a:rPr>
              <a:t>或者 </a:t>
            </a:r>
            <a:r>
              <a:rPr lang="en-US" altLang="zh-CN" dirty="0">
                <a:latin typeface="+mn-ea"/>
              </a:rPr>
              <a:t>sort(a+1,a+n+1,cmp);</a:t>
            </a:r>
          </a:p>
          <a:p>
            <a:pPr lvl="1"/>
            <a:r>
              <a:rPr lang="zh-CN" altLang="en-US" dirty="0">
                <a:latin typeface="+mn-ea"/>
              </a:rPr>
              <a:t>比较函数 </a:t>
            </a:r>
            <a:r>
              <a:rPr lang="en-US" altLang="zh-CN" dirty="0" err="1">
                <a:latin typeface="+mn-ea"/>
              </a:rPr>
              <a:t>cmp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是关键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06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+mj-ea"/>
              </a:rPr>
              <a:t>NOIP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中最常用的排序写法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比较函数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bool </a:t>
            </a:r>
            <a:r>
              <a:rPr lang="en-US" altLang="zh-CN" dirty="0" err="1">
                <a:latin typeface="+mn-ea"/>
              </a:rPr>
              <a:t>cmp</a:t>
            </a:r>
            <a:r>
              <a:rPr lang="en-US" altLang="zh-CN" dirty="0">
                <a:latin typeface="+mn-ea"/>
              </a:rPr>
              <a:t>(int </a:t>
            </a:r>
            <a:r>
              <a:rPr lang="en-US" altLang="zh-CN" dirty="0" err="1">
                <a:latin typeface="+mn-ea"/>
              </a:rPr>
              <a:t>a,int</a:t>
            </a:r>
            <a:r>
              <a:rPr lang="en-US" altLang="zh-CN" dirty="0">
                <a:latin typeface="+mn-ea"/>
              </a:rPr>
              <a:t> b) { }  </a:t>
            </a:r>
            <a:r>
              <a:rPr lang="zh-CN" altLang="en-US" dirty="0">
                <a:latin typeface="+mn-ea"/>
              </a:rPr>
              <a:t>；返回值</a:t>
            </a:r>
            <a:r>
              <a:rPr lang="en-US" altLang="zh-CN" dirty="0">
                <a:latin typeface="+mn-ea"/>
              </a:rPr>
              <a:t>=true </a:t>
            </a:r>
            <a:r>
              <a:rPr lang="zh-CN" altLang="en-US" dirty="0">
                <a:latin typeface="+mn-ea"/>
              </a:rPr>
              <a:t>表示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排在 </a:t>
            </a:r>
            <a:r>
              <a:rPr lang="en-US" altLang="zh-CN" dirty="0">
                <a:latin typeface="+mn-ea"/>
              </a:rPr>
              <a:t>b </a:t>
            </a:r>
            <a:r>
              <a:rPr lang="zh-CN" altLang="en-US" dirty="0">
                <a:latin typeface="+mn-ea"/>
              </a:rPr>
              <a:t>前面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类型根据要排序的数组类型来确定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bool </a:t>
            </a:r>
            <a:r>
              <a:rPr lang="en-US" altLang="zh-CN" dirty="0" err="1">
                <a:latin typeface="+mn-ea"/>
              </a:rPr>
              <a:t>cmp</a:t>
            </a:r>
            <a:r>
              <a:rPr lang="en-US" altLang="zh-CN" dirty="0">
                <a:latin typeface="+mn-ea"/>
              </a:rPr>
              <a:t>(const A &amp;</a:t>
            </a:r>
            <a:r>
              <a:rPr lang="en-US" altLang="zh-CN" dirty="0" err="1">
                <a:latin typeface="+mn-ea"/>
              </a:rPr>
              <a:t>a,const</a:t>
            </a:r>
            <a:r>
              <a:rPr lang="en-US" altLang="zh-CN" dirty="0">
                <a:latin typeface="+mn-ea"/>
              </a:rPr>
              <a:t> A &amp;b) { }</a:t>
            </a:r>
            <a:r>
              <a:rPr lang="zh-CN" altLang="en-US" dirty="0">
                <a:latin typeface="+mn-ea"/>
              </a:rPr>
              <a:t>  ；使用结构体时的特殊写法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675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+mj-ea"/>
              </a:rPr>
              <a:t>NOIP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中最常用的排序写法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比较函数实例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整数奇偶排序：奇数在前、偶数在后；奇数从大到小排；偶数从小到大排；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bool </a:t>
            </a:r>
            <a:r>
              <a:rPr lang="en-US" altLang="zh-CN" dirty="0" err="1">
                <a:latin typeface="+mn-ea"/>
              </a:rPr>
              <a:t>cmp</a:t>
            </a:r>
            <a:r>
              <a:rPr lang="en-US" altLang="zh-CN" dirty="0">
                <a:latin typeface="+mn-ea"/>
              </a:rPr>
              <a:t>(int a, int b) {</a:t>
            </a: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	if (a%2==1 &amp;&amp; b%2==0) return true;</a:t>
            </a: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	if (a%2==0 &amp;&amp; b%2==1) return false;</a:t>
            </a: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	if (a%2==1) return a&gt;b;</a:t>
            </a: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	return a&lt;b;</a:t>
            </a: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900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例题：病人排队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排序要求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老年人比非老年人优先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老年人按年龄从大到小顺序，年龄相同按照登记先后顺序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非老年人按照登记先后顺序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861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例题：小明的随机数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排序和去重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181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例题：合影效果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排序要求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男生在左，按从矮到高顺序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女生在右，按从高到矮顺序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3213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例题：分数线划定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排序要求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取排名第 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*</a:t>
            </a:r>
            <a:r>
              <a:rPr lang="en-US" altLang="zh-CN" dirty="0">
                <a:latin typeface="+mn-ea"/>
              </a:rPr>
              <a:t>150% </a:t>
            </a:r>
            <a:r>
              <a:rPr lang="zh-CN" altLang="en-US" dirty="0">
                <a:latin typeface="+mn-ea"/>
              </a:rPr>
              <a:t>人的分数作为分数线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取不低于分数线的人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0424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例题：整数奇偶排序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排序要求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奇数在前，偶数在后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奇数按从大到小排序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偶数按从小到大排序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219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算法原理：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分治的思想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将要排序的数组分为两个数组，各自排序，然后进行合并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两个数组各自排序使用递归实现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轮以后排好整个数组</a:t>
                </a:r>
                <a:endParaRPr lang="en-US" altLang="zh-CN" dirty="0"/>
              </a:p>
              <a:p>
                <a:r>
                  <a:rPr lang="zh-CN" altLang="en-US" dirty="0"/>
                  <a:t>复杂度：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合并两个有序的数组的复杂度是数组元素的线性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整个排序算法的复杂度为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  <a:blipFill>
                <a:blip r:embed="rId2"/>
                <a:stretch>
                  <a:fillRect l="-1355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7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9EFA8-3CB2-4793-B631-250AD32C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78" y="1567710"/>
            <a:ext cx="5552661" cy="50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6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532728" cy="5282749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int n, a[N],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[N];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void 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(int s, int e)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(s==e) return;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int mid=(</a:t>
            </a:r>
            <a:r>
              <a:rPr lang="en-US" altLang="zh-CN" dirty="0" err="1">
                <a:latin typeface="+mn-ea"/>
              </a:rPr>
              <a:t>s+e</a:t>
            </a:r>
            <a:r>
              <a:rPr lang="en-US" altLang="zh-CN" dirty="0">
                <a:latin typeface="+mn-ea"/>
              </a:rPr>
              <a:t>)/2, s1=s, s2=mid+1, t=s;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s,mid</a:t>
            </a:r>
            <a:r>
              <a:rPr lang="en-US" altLang="zh-CN" dirty="0">
                <a:latin typeface="+mn-ea"/>
              </a:rPr>
              <a:t>); 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(mid+1,e);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(s1&lt;=mid&amp;&amp;s2&lt;=e)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if (a[s1]&lt;=a[s2])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[t++]=a[s1++]; else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(s1&lt;=mid)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[t++]=a[s1++];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(s2&lt;=e)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for (int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</a:t>
            </a:r>
            <a:r>
              <a:rPr lang="en-US" altLang="zh-CN" dirty="0" err="1">
                <a:latin typeface="+mn-ea"/>
              </a:rPr>
              <a:t>s;i</a:t>
            </a:r>
            <a:r>
              <a:rPr lang="en-US" altLang="zh-CN" dirty="0">
                <a:latin typeface="+mn-ea"/>
              </a:rPr>
              <a:t>&lt;=e;++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]=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56836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1470992" y="1764406"/>
            <a:ext cx="9011478" cy="474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1   3   8   4   6                 7   5   2   9   0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1   3   4   6   8                 0   2   5   7   9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s              mid             mid+1              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s1                               s2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0   1   2   3   4   5   6   7   8   9</a:t>
            </a:r>
          </a:p>
        </p:txBody>
      </p:sp>
    </p:spTree>
    <p:extLst>
      <p:ext uri="{BB962C8B-B14F-4D97-AF65-F5344CB8AC3E}">
        <p14:creationId xmlns:p14="http://schemas.microsoft.com/office/powerpoint/2010/main" val="310527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35513B-BEF4-AA49-89FD-7A4794007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7541"/>
            <a:ext cx="10456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50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27FB7E-B09C-5845-A472-0CBB5DBB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7541"/>
            <a:ext cx="10492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61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逆序对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在一个数组里的两个数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满足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𝑖𝑑𝑥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𝑖𝑑𝑥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，称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是一个逆序对</a:t>
                </a:r>
                <a:endParaRPr lang="en-US" altLang="zh-CN" dirty="0"/>
              </a:p>
              <a:p>
                <a:r>
                  <a:rPr lang="zh-CN" altLang="en-US" dirty="0"/>
                  <a:t>问题：给定一个数组，求逆序对的总数</a:t>
                </a:r>
                <a:endParaRPr lang="en-US" altLang="zh-CN" dirty="0"/>
              </a:p>
              <a:p>
                <a:r>
                  <a:rPr lang="zh-CN" altLang="en-US" dirty="0"/>
                  <a:t>算法：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暴力：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枚举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冒泡排序过程中计算，复杂度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归并排序过程中计算，复杂度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  <a:blipFill>
                <a:blip r:embed="rId2"/>
                <a:stretch>
                  <a:fillRect l="-1355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1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1470992" y="1764406"/>
            <a:ext cx="9011478" cy="474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1   3   8   4   6                 7   5   2   9   0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1   3   4   6   8                 0   2   5   7   9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s              mid             mid+1              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s1                               s2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0   1   2   3   4   5   6   7   8   9</a:t>
            </a:r>
          </a:p>
        </p:txBody>
      </p:sp>
    </p:spTree>
    <p:extLst>
      <p:ext uri="{BB962C8B-B14F-4D97-AF65-F5344CB8AC3E}">
        <p14:creationId xmlns:p14="http://schemas.microsoft.com/office/powerpoint/2010/main" val="68470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归并排序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532728" cy="5282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n, a[N],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[N];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void 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(int s, int e)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(s&gt;=e) return;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int mid=(</a:t>
            </a:r>
            <a:r>
              <a:rPr lang="en-US" altLang="zh-CN" dirty="0" err="1">
                <a:latin typeface="+mn-ea"/>
              </a:rPr>
              <a:t>s+e</a:t>
            </a:r>
            <a:r>
              <a:rPr lang="en-US" altLang="zh-CN" dirty="0">
                <a:latin typeface="+mn-ea"/>
              </a:rPr>
              <a:t>)/2, s1=s, s2=mid+1, t=s;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s,mid</a:t>
            </a:r>
            <a:r>
              <a:rPr lang="en-US" altLang="zh-CN" dirty="0">
                <a:latin typeface="+mn-ea"/>
              </a:rPr>
              <a:t>); </a:t>
            </a:r>
            <a:r>
              <a:rPr lang="en-US" altLang="zh-CN" dirty="0" err="1">
                <a:latin typeface="+mn-ea"/>
              </a:rPr>
              <a:t>merge_sort</a:t>
            </a:r>
            <a:r>
              <a:rPr lang="en-US" altLang="zh-CN" dirty="0">
                <a:latin typeface="+mn-ea"/>
              </a:rPr>
              <a:t>(mid+1,e);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(s1&lt;=mid&amp;&amp;s2&lt;=e)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if (a[s1]&lt;=a[s2])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[t++]=a[s1++]; 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	else 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ans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+=mid-s1+1,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(s1&lt;=mid)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[t++]=a[s1++];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while (s2&lt;=e) 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for (int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=</a:t>
            </a:r>
            <a:r>
              <a:rPr lang="en-US" altLang="zh-CN" dirty="0" err="1">
                <a:latin typeface="+mn-ea"/>
              </a:rPr>
              <a:t>s;i</a:t>
            </a:r>
            <a:r>
              <a:rPr lang="en-US" altLang="zh-CN" dirty="0">
                <a:latin typeface="+mn-ea"/>
              </a:rPr>
              <a:t>&lt;=e;++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) 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]=</a:t>
            </a:r>
            <a:r>
              <a:rPr lang="en-US" altLang="zh-CN" dirty="0" err="1">
                <a:latin typeface="+mn-ea"/>
              </a:rPr>
              <a:t>tmp</a:t>
            </a:r>
            <a:r>
              <a:rPr lang="en-US" altLang="zh-CN" dirty="0">
                <a:latin typeface="+mn-ea"/>
              </a:rPr>
              <a:t>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830424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最小逆序数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353284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对于给定的 </a:t>
            </a:r>
            <a:r>
              <a:rPr lang="en-US" altLang="zh-CN" dirty="0">
                <a:latin typeface="+mn-ea"/>
              </a:rPr>
              <a:t>1-N </a:t>
            </a:r>
            <a:r>
              <a:rPr lang="zh-CN" altLang="en-US" dirty="0">
                <a:latin typeface="+mn-ea"/>
              </a:rPr>
              <a:t>的一个排列，每次可做移动首位到最后的操作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问所有逆序对中最小的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27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77683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拍了</a:t>
            </a:r>
            <a:r>
              <a:rPr lang="en-US" altLang="zh-CN" dirty="0">
                <a:latin typeface="+mn-ea"/>
              </a:rPr>
              <a:t> 5 </a:t>
            </a:r>
            <a:r>
              <a:rPr lang="zh-CN" altLang="en-US" dirty="0">
                <a:latin typeface="+mn-ea"/>
              </a:rPr>
              <a:t>次照片，每次拍照前可能有一个人跑动，每个人最多跑一次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人的编号是 </a:t>
            </a:r>
            <a:r>
              <a:rPr lang="en-US" altLang="zh-CN" dirty="0">
                <a:latin typeface="+mn-ea"/>
              </a:rPr>
              <a:t>1-N</a:t>
            </a:r>
          </a:p>
          <a:p>
            <a:r>
              <a:rPr lang="zh-CN" altLang="en-US" dirty="0">
                <a:latin typeface="+mn-ea"/>
              </a:rPr>
              <a:t>问原始的次序是什么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322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拍照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-SG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921209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拍了</a:t>
            </a:r>
            <a:r>
              <a:rPr lang="en-US" altLang="zh-CN" dirty="0">
                <a:latin typeface="+mn-ea"/>
              </a:rPr>
              <a:t> 5 </a:t>
            </a:r>
            <a:r>
              <a:rPr lang="zh-CN" altLang="en-US" dirty="0">
                <a:latin typeface="+mn-ea"/>
              </a:rPr>
              <a:t>次照片，每次拍照前可能有多个人跑动，每个人最多跑一次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问原始的次序是什么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97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79542</TotalTime>
  <Words>1934</Words>
  <Application>Microsoft Macintosh PowerPoint</Application>
  <PresentationFormat>Widescreen</PresentationFormat>
  <Paragraphs>239</Paragraphs>
  <Slides>32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等线</vt:lpstr>
      <vt:lpstr>华文楷体</vt:lpstr>
      <vt:lpstr>Arial</vt:lpstr>
      <vt:lpstr>Cambria Math</vt:lpstr>
      <vt:lpstr>Tw Cen MT</vt:lpstr>
      <vt:lpstr>电路</vt:lpstr>
      <vt:lpstr>排序</vt:lpstr>
      <vt:lpstr>什么是排序</vt:lpstr>
      <vt:lpstr>常见的排序算法</vt:lpstr>
      <vt:lpstr>选择排序</vt:lpstr>
      <vt:lpstr>选择排序</vt:lpstr>
      <vt:lpstr>冒泡排序</vt:lpstr>
      <vt:lpstr>冒泡排序</vt:lpstr>
      <vt:lpstr>快速排序</vt:lpstr>
      <vt:lpstr>桶排序</vt:lpstr>
      <vt:lpstr>排序算法的稳定性</vt:lpstr>
      <vt:lpstr>排序算法中的 排 和 序</vt:lpstr>
      <vt:lpstr>NOIP中最常用的排序写法</vt:lpstr>
      <vt:lpstr>NOIP中最常用的排序写法</vt:lpstr>
      <vt:lpstr>NOIP中最常用的排序写法</vt:lpstr>
      <vt:lpstr>例题：病人排队</vt:lpstr>
      <vt:lpstr>例题：小明的随机数</vt:lpstr>
      <vt:lpstr>例题：合影效果</vt:lpstr>
      <vt:lpstr>例题：分数线划定</vt:lpstr>
      <vt:lpstr>例题：整数奇偶排序</vt:lpstr>
      <vt:lpstr>归并排序</vt:lpstr>
      <vt:lpstr>归并排序</vt:lpstr>
      <vt:lpstr>归并排序</vt:lpstr>
      <vt:lpstr>归并排序</vt:lpstr>
      <vt:lpstr>归并排序</vt:lpstr>
      <vt:lpstr>归并排序</vt:lpstr>
      <vt:lpstr>逆序对</vt:lpstr>
      <vt:lpstr>归并排序</vt:lpstr>
      <vt:lpstr>归并排序</vt:lpstr>
      <vt:lpstr>最小逆序数</vt:lpstr>
      <vt:lpstr>拍照</vt:lpstr>
      <vt:lpstr>拍照-SG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209</cp:revision>
  <dcterms:created xsi:type="dcterms:W3CDTF">2018-08-09T00:16:20Z</dcterms:created>
  <dcterms:modified xsi:type="dcterms:W3CDTF">2026-03-15T10:41:31Z</dcterms:modified>
</cp:coreProperties>
</file>