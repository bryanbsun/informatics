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81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7" r:id="rId10"/>
    <p:sldId id="398" r:id="rId11"/>
    <p:sldId id="399" r:id="rId12"/>
    <p:sldId id="400" r:id="rId13"/>
    <p:sldId id="402" r:id="rId14"/>
    <p:sldId id="404" r:id="rId15"/>
    <p:sldId id="405" r:id="rId16"/>
    <p:sldId id="406" r:id="rId17"/>
    <p:sldId id="420" r:id="rId18"/>
    <p:sldId id="407" r:id="rId19"/>
    <p:sldId id="417" r:id="rId20"/>
    <p:sldId id="414" r:id="rId21"/>
    <p:sldId id="425" r:id="rId22"/>
    <p:sldId id="415" r:id="rId23"/>
    <p:sldId id="416" r:id="rId24"/>
    <p:sldId id="413" r:id="rId25"/>
    <p:sldId id="422" r:id="rId26"/>
    <p:sldId id="421" r:id="rId27"/>
    <p:sldId id="408" r:id="rId28"/>
    <p:sldId id="418" r:id="rId29"/>
    <p:sldId id="409" r:id="rId30"/>
    <p:sldId id="426" r:id="rId31"/>
    <p:sldId id="410" r:id="rId32"/>
    <p:sldId id="419" r:id="rId33"/>
    <p:sldId id="411" r:id="rId34"/>
    <p:sldId id="412" r:id="rId35"/>
    <p:sldId id="423" r:id="rId36"/>
    <p:sldId id="424" r:id="rId37"/>
    <p:sldId id="26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57773-1900-014B-8C11-726A34773D59}" v="1" dt="2026-05-19T13:04:09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85" autoAdjust="0"/>
    <p:restoredTop sz="91528" autoAdjust="0"/>
  </p:normalViewPr>
  <p:slideViewPr>
    <p:cSldViewPr snapToGrid="0">
      <p:cViewPr varScale="1">
        <p:scale>
          <a:sx n="71" d="100"/>
          <a:sy n="71" d="100"/>
        </p:scale>
        <p:origin x="18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05-19T13:04:12.413" v="2"/>
      <pc:docMkLst>
        <pc:docMk/>
      </pc:docMkLst>
      <pc:sldChg chg="addSp delSp modSp mod">
        <pc:chgData name="Bryan Sun" userId="851caa7714272873" providerId="LiveId" clId="{1DF0C224-3A3E-55A6-A8D1-F8F2208D385B}" dt="2026-05-19T13:04:12.413" v="2"/>
        <pc:sldMkLst>
          <pc:docMk/>
          <pc:sldMk cId="1808687503" sldId="416"/>
        </pc:sldMkLst>
        <pc:spChg chg="add del mod">
          <ac:chgData name="Bryan Sun" userId="851caa7714272873" providerId="LiveId" clId="{1DF0C224-3A3E-55A6-A8D1-F8F2208D385B}" dt="2026-05-19T13:04:12.413" v="2"/>
          <ac:spMkLst>
            <pc:docMk/>
            <pc:sldMk cId="1808687503" sldId="416"/>
            <ac:spMk id="4" creationId="{115AC2DF-7344-8F46-ADDA-C1A94AAE59D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43.622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02-02T18:20:46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25636 7688 32 0,'-21'-27'13'0,"21"27"-10"0,-39-20-7 16,22 11-2-16,-8 3-7 16,-7-6 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线性表及其应用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线性表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线性结构的特点</a:t>
            </a:r>
            <a:endParaRPr lang="en-US" altLang="zh-CN" dirty="0"/>
          </a:p>
          <a:p>
            <a:pPr lvl="1"/>
            <a:r>
              <a:rPr lang="zh-CN" altLang="en-US" dirty="0"/>
              <a:t>存在唯一的一个被称为“第一个”的数据元素</a:t>
            </a:r>
            <a:endParaRPr lang="en-US" altLang="zh-CN" dirty="0"/>
          </a:p>
          <a:p>
            <a:pPr lvl="1"/>
            <a:r>
              <a:rPr lang="zh-CN" altLang="en-US" dirty="0"/>
              <a:t>存在唯一的一个被称为“最后一个”的数据元素</a:t>
            </a:r>
            <a:endParaRPr lang="en-US" altLang="zh-CN" dirty="0"/>
          </a:p>
          <a:p>
            <a:pPr lvl="1"/>
            <a:r>
              <a:rPr lang="zh-CN" altLang="en-US" dirty="0"/>
              <a:t>除第一个之外，每个数据元素都只有一个前驱</a:t>
            </a:r>
            <a:endParaRPr lang="en-US" altLang="zh-CN" dirty="0"/>
          </a:p>
          <a:p>
            <a:pPr lvl="1"/>
            <a:r>
              <a:rPr lang="zh-CN" altLang="en-US" dirty="0"/>
              <a:t>除最后一个之外，每个数据元素都只有一个后继</a:t>
            </a:r>
            <a:endParaRPr lang="en-US" altLang="zh-CN" dirty="0"/>
          </a:p>
          <a:p>
            <a:r>
              <a:rPr lang="zh-CN" altLang="en-US" dirty="0"/>
              <a:t>线性表的存储结构</a:t>
            </a:r>
            <a:endParaRPr lang="en-US" altLang="zh-CN" dirty="0"/>
          </a:p>
          <a:p>
            <a:pPr lvl="1"/>
            <a:r>
              <a:rPr lang="zh-CN" altLang="en-US" dirty="0"/>
              <a:t>按照顺序存储</a:t>
            </a:r>
            <a:endParaRPr lang="en-US" altLang="zh-CN" dirty="0"/>
          </a:p>
          <a:p>
            <a:pPr lvl="1"/>
            <a:r>
              <a:rPr lang="zh-CN" altLang="en-US" dirty="0"/>
              <a:t>数据元素类型必须是相同的，储存的数据可以不同</a:t>
            </a:r>
            <a:endParaRPr lang="en-US" altLang="zh-CN" dirty="0"/>
          </a:p>
          <a:p>
            <a:r>
              <a:rPr lang="zh-CN" altLang="en-US" dirty="0"/>
              <a:t>线性表按照存储结构分类</a:t>
            </a:r>
            <a:endParaRPr lang="en-US" altLang="zh-CN" dirty="0"/>
          </a:p>
          <a:p>
            <a:pPr lvl="1"/>
            <a:r>
              <a:rPr lang="zh-CN" altLang="en-US" dirty="0"/>
              <a:t>顺序表</a:t>
            </a:r>
            <a:endParaRPr lang="en-US" altLang="zh-CN" dirty="0"/>
          </a:p>
          <a:p>
            <a:pPr lvl="1"/>
            <a:r>
              <a:rPr lang="zh-CN" altLang="en-US" dirty="0"/>
              <a:t>链表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顺序表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用一组地址连续的存储单元依次存储</a:t>
                </a:r>
                <a:endParaRPr lang="en-US" altLang="zh-CN" dirty="0"/>
              </a:p>
              <a:p>
                <a:r>
                  <a:rPr lang="zh-CN" altLang="en-US" dirty="0"/>
                  <a:t>就是“数组”</a:t>
                </a:r>
                <a:endParaRPr lang="en-US" altLang="zh-CN" dirty="0"/>
              </a:p>
              <a:p>
                <a:r>
                  <a:rPr lang="zh-CN" altLang="en-US" dirty="0"/>
                  <a:t>特点：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随机存储，读取和赋值的复杂度为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插入，元素后移空出空间后赋值，复杂度为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删除，删除后元素前移填补空缺，复杂度为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00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单链表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用一组任意的存储单元存储</a:t>
                </a:r>
                <a:endParaRPr lang="en-US" altLang="zh-CN" dirty="0"/>
              </a:p>
              <a:p>
                <a:r>
                  <a:rPr lang="zh-CN" altLang="en-US" dirty="0"/>
                  <a:t>需要记录数据元素和它的后继之间的关系</a:t>
                </a:r>
                <a:endParaRPr lang="en-US" altLang="zh-CN" dirty="0"/>
              </a:p>
              <a:p>
                <a:r>
                  <a:rPr lang="zh-CN" altLang="en-US" dirty="0"/>
                  <a:t>特点：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插入、删除效率高，在已知需要操作的节点时复杂度为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读取和赋值的复杂度为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每个结点有三部分组成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存储地址、数值域、指针域</a:t>
                </a:r>
                <a:endParaRPr lang="en-US" altLang="zh-CN" dirty="0"/>
              </a:p>
              <a:p>
                <a:r>
                  <a:rPr lang="zh-CN" altLang="en-US" dirty="0"/>
                  <a:t>实现方式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数组、指针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18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单链表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7C6FC5-099C-4C49-9B74-F2CBB3D0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2" y="1486111"/>
            <a:ext cx="5571877" cy="3065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FDACBC-AAC0-4139-9332-101F9BC3E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5629"/>
            <a:ext cx="6096000" cy="17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6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用数组实现单链表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054F6A-6D29-1449-BC1C-48AC2439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305300" cy="162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3D40F4-22A6-6340-BB73-3A2DED72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09" y="1486109"/>
            <a:ext cx="5816600" cy="2844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C52D84-7EFB-8847-B7A7-0397764FD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75" y="3604395"/>
            <a:ext cx="49022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0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插入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3B5781-0D15-40A0-B495-7F96DD6C5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67" y="1410346"/>
            <a:ext cx="4208789" cy="33338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E11CE3-DB7B-CB46-84D3-2DBA9C17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262" y="1486111"/>
            <a:ext cx="6070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删除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8C7317-73EE-4FC2-AAB7-D225B43F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9" y="1803712"/>
            <a:ext cx="6573994" cy="32505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D48F37E-9B17-B243-8C08-8E888D79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93" y="1803712"/>
            <a:ext cx="5032976" cy="131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6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循环链表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表中最后一个结点的指针</a:t>
            </a:r>
            <a:r>
              <a:rPr lang="zh-CN" altLang="en-US"/>
              <a:t>指向头节点，</a:t>
            </a:r>
            <a:r>
              <a:rPr lang="zh-CN" altLang="en-US" dirty="0"/>
              <a:t>整个链条形成一个环。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B81578-0876-45EC-933F-A06DBCFD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8" y="2425861"/>
            <a:ext cx="8146941" cy="15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7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双向链表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链表结点中有两个指针域，一个指向直接后继，一个指向直接前驱。</a:t>
            </a:r>
            <a:endParaRPr lang="en-US" altLang="zh-CN" dirty="0"/>
          </a:p>
          <a:p>
            <a:r>
              <a:rPr lang="zh-CN" altLang="en-US" dirty="0"/>
              <a:t>也有双向循环链表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C1CC86-E12B-4A60-AECE-1F446133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50" y="2770782"/>
            <a:ext cx="8774925" cy="19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96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双向链表的插入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AA59AA-D7F7-4D61-8A28-83D94D79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1" y="1486111"/>
            <a:ext cx="5492313" cy="33015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9552A2-0F87-734A-B407-6E7A36D08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0311"/>
            <a:ext cx="5765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7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双向链表的删除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66211-A8E2-4F6B-8AB1-EDD9BCC0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363"/>
            <a:ext cx="6307810" cy="15548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C4522B-13EB-6C40-9BC4-1DFB2CF7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67" y="1736090"/>
            <a:ext cx="5319856" cy="209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2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线性表的应用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1"/>
                <a:ext cx="10368800" cy="510447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个点，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0000)</m:t>
                    </m:r>
                  </m:oMath>
                </a14:m>
                <a:r>
                  <a:rPr lang="zh-CN" altLang="en-US" dirty="0"/>
                  <a:t> 条边的图，如何存储？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1"/>
                <a:ext cx="10368800" cy="5104470"/>
              </a:xfrm>
              <a:blipFill>
                <a:blip r:embed="rId2"/>
                <a:stretch>
                  <a:fillRect l="-1100" t="-1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2E274012-2DFD-FC4E-8351-C0E06C34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37" y="4438693"/>
            <a:ext cx="7264290" cy="18663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C6F9E5-570D-9F42-9B8E-8F61D361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837" y="3547475"/>
            <a:ext cx="7289796" cy="8368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860484-F08D-E144-ADB5-74A74968A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64" y="1897792"/>
            <a:ext cx="17907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9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删除数组中的元素（使用链表完成）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求数组中与 </a:t>
            </a:r>
            <a:r>
              <a:rPr lang="en-US" altLang="zh-CN" dirty="0">
                <a:latin typeface="+mn-ea"/>
              </a:rPr>
              <a:t>M </a:t>
            </a:r>
            <a:r>
              <a:rPr lang="zh-CN" altLang="en-US" dirty="0">
                <a:latin typeface="+mn-ea"/>
              </a:rPr>
              <a:t>相等的数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方法：单向链表依次遍历并比较</a:t>
            </a:r>
          </a:p>
        </p:txBody>
      </p:sp>
    </p:spTree>
    <p:extLst>
      <p:ext uri="{BB962C8B-B14F-4D97-AF65-F5344CB8AC3E}">
        <p14:creationId xmlns:p14="http://schemas.microsoft.com/office/powerpoint/2010/main" val="11449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统计学生信息（使用链表完成）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输入信息后倒序输出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方法一：输入后对单向链表进行倒置操作，然后输出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方法二：输入时每次插入到链表头，然后顺序输出</a:t>
            </a:r>
          </a:p>
        </p:txBody>
      </p:sp>
    </p:spTree>
    <p:extLst>
      <p:ext uri="{BB962C8B-B14F-4D97-AF65-F5344CB8AC3E}">
        <p14:creationId xmlns:p14="http://schemas.microsoft.com/office/powerpoint/2010/main" val="359031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约瑟夫问题（使用链表完成）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每数到 </a:t>
            </a:r>
            <a:r>
              <a:rPr lang="en-US" altLang="zh-CN" dirty="0">
                <a:latin typeface="+mn-ea"/>
              </a:rPr>
              <a:t>M </a:t>
            </a:r>
            <a:r>
              <a:rPr lang="zh-CN" altLang="en-US" dirty="0">
                <a:latin typeface="+mn-ea"/>
              </a:rPr>
              <a:t>淘汰一人，问最后剩下的是谁？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方法：循环链表，每次走 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 步然后删除当前元素。</a:t>
            </a:r>
          </a:p>
        </p:txBody>
      </p:sp>
    </p:spTree>
    <p:extLst>
      <p:ext uri="{BB962C8B-B14F-4D97-AF65-F5344CB8AC3E}">
        <p14:creationId xmlns:p14="http://schemas.microsoft.com/office/powerpoint/2010/main" val="353882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栈及其应用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2092753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限定仅在表尾进行插入或删除操作的线性表</a:t>
            </a:r>
            <a:endParaRPr lang="en-US" altLang="zh-CN" dirty="0"/>
          </a:p>
          <a:p>
            <a:r>
              <a:rPr lang="zh-CN" altLang="en-US" dirty="0"/>
              <a:t>先进后</a:t>
            </a:r>
            <a:r>
              <a:rPr lang="zh-CN" altLang="en-US" dirty="0">
                <a:latin typeface="+mn-ea"/>
              </a:rPr>
              <a:t>出（</a:t>
            </a:r>
            <a:r>
              <a:rPr lang="en-US" altLang="zh-CN" dirty="0">
                <a:latin typeface="+mn-ea"/>
              </a:rPr>
              <a:t>First In Last Out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FILO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r>
              <a:rPr lang="zh-CN" altLang="en-US" dirty="0"/>
              <a:t>主要操作</a:t>
            </a:r>
            <a:endParaRPr lang="en-US" altLang="zh-CN" dirty="0"/>
          </a:p>
          <a:p>
            <a:pPr lvl="1"/>
            <a:r>
              <a:rPr lang="en-US" altLang="zh-CN" dirty="0" err="1">
                <a:latin typeface="+mn-ea"/>
              </a:rPr>
              <a:t>is_empty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is_full</a:t>
            </a:r>
            <a:r>
              <a:rPr lang="en-US" altLang="zh-CN" dirty="0">
                <a:latin typeface="+mn-ea"/>
              </a:rPr>
              <a:t>, size</a:t>
            </a:r>
          </a:p>
          <a:p>
            <a:pPr lvl="1"/>
            <a:r>
              <a:rPr lang="en-US" altLang="zh-CN" dirty="0">
                <a:latin typeface="+mn-ea"/>
              </a:rPr>
              <a:t>push</a:t>
            </a:r>
          </a:p>
          <a:p>
            <a:pPr lvl="1"/>
            <a:r>
              <a:rPr lang="en-US" altLang="zh-CN" dirty="0">
                <a:latin typeface="+mn-ea"/>
              </a:rPr>
              <a:t>pop</a:t>
            </a:r>
          </a:p>
          <a:p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顺序表（数组）</a:t>
            </a:r>
            <a:r>
              <a:rPr lang="en-US" altLang="zh-CN" dirty="0"/>
              <a:t> </a:t>
            </a:r>
            <a:r>
              <a:rPr lang="en-US" altLang="zh-CN" dirty="0" err="1">
                <a:latin typeface="+mn-ea"/>
              </a:rPr>
              <a:t>sta</a:t>
            </a:r>
            <a:r>
              <a:rPr lang="en-US" altLang="zh-CN" dirty="0">
                <a:latin typeface="+mn-ea"/>
              </a:rPr>
              <a:t>[m]</a:t>
            </a:r>
          </a:p>
          <a:p>
            <a:pPr lvl="1"/>
            <a:r>
              <a:rPr lang="zh-CN" altLang="en-US" dirty="0"/>
              <a:t>栈顶指针 </a:t>
            </a:r>
            <a:r>
              <a:rPr lang="en-US" altLang="zh-CN" dirty="0">
                <a:latin typeface="+mn-ea"/>
              </a:rPr>
              <a:t>top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1F9289-EE04-46F2-871E-6D7C5D88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34531"/>
            <a:ext cx="3295973" cy="28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27FFA8-C95E-49E9-8454-F7B0FBA7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27" y="1880946"/>
            <a:ext cx="6907745" cy="44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31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栈的代码实现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7E05B4-3BDA-344B-820A-886DE556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267200" cy="4622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5F3CE0-8364-4D4E-B520-0459F186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78" y="1486108"/>
            <a:ext cx="62611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1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栈的代码实现（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STL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ACCDCA-F8D1-9C41-836B-B3D59517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92287"/>
            <a:ext cx="3784600" cy="248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483EC5-17F3-D84C-B74B-86869568B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09" y="1486111"/>
            <a:ext cx="60706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2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奇妙的栈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这些数字按照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的顺序进栈，通过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次进栈和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次出栈操作，最后得到多少种序列？哪些排列不在出栈序列中？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56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括号匹配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给定一个只包含左右括号的合法括号序列，按右括号从左到右的顺序输出每一对配对的括号出现的位置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868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逆波兰表达式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逆波兰表达式（后缀表达式）求值</a:t>
            </a:r>
          </a:p>
        </p:txBody>
      </p:sp>
    </p:spTree>
    <p:extLst>
      <p:ext uri="{BB962C8B-B14F-4D97-AF65-F5344CB8AC3E}">
        <p14:creationId xmlns:p14="http://schemas.microsoft.com/office/powerpoint/2010/main" val="480933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栈操作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栈操作的执行和结果输出</a:t>
            </a:r>
          </a:p>
        </p:txBody>
      </p:sp>
    </p:spTree>
    <p:extLst>
      <p:ext uri="{BB962C8B-B14F-4D97-AF65-F5344CB8AC3E}">
        <p14:creationId xmlns:p14="http://schemas.microsoft.com/office/powerpoint/2010/main" val="3868400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队列及其应用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2541760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存储暂未处理但需要按一定顺序处理的元素</a:t>
            </a:r>
            <a:endParaRPr lang="en-US" altLang="zh-CN" dirty="0"/>
          </a:p>
          <a:p>
            <a:r>
              <a:rPr lang="zh-CN" altLang="en-US" dirty="0"/>
              <a:t>先进先出（</a:t>
            </a:r>
            <a:r>
              <a:rPr lang="en-US" altLang="zh-CN" dirty="0">
                <a:latin typeface="+mn-ea"/>
              </a:rPr>
              <a:t>First In First Out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FIFO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主要操作</a:t>
            </a:r>
            <a:endParaRPr lang="en-US" altLang="zh-CN" dirty="0"/>
          </a:p>
          <a:p>
            <a:pPr lvl="1"/>
            <a:r>
              <a:rPr lang="en-US" altLang="zh-CN" dirty="0" err="1">
                <a:latin typeface="+mn-ea"/>
              </a:rPr>
              <a:t>is_empty</a:t>
            </a:r>
            <a:r>
              <a:rPr lang="en-US" altLang="zh-CN" dirty="0">
                <a:latin typeface="+mn-ea"/>
              </a:rPr>
              <a:t>, </a:t>
            </a:r>
            <a:r>
              <a:rPr lang="en-US" altLang="zh-CN" dirty="0" err="1">
                <a:latin typeface="+mn-ea"/>
              </a:rPr>
              <a:t>is_full</a:t>
            </a:r>
            <a:r>
              <a:rPr lang="en-US" altLang="zh-CN" dirty="0">
                <a:latin typeface="+mn-ea"/>
              </a:rPr>
              <a:t>, size</a:t>
            </a:r>
          </a:p>
          <a:p>
            <a:pPr lvl="1"/>
            <a:r>
              <a:rPr lang="en-US" altLang="zh-CN" dirty="0">
                <a:latin typeface="+mn-ea"/>
              </a:rPr>
              <a:t>enqueue</a:t>
            </a:r>
          </a:p>
          <a:p>
            <a:pPr lvl="1"/>
            <a:r>
              <a:rPr lang="en-US" altLang="zh-CN" dirty="0">
                <a:latin typeface="+mn-ea"/>
              </a:rPr>
              <a:t>dequeue</a:t>
            </a:r>
          </a:p>
          <a:p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顺序表（数组）</a:t>
            </a:r>
            <a:r>
              <a:rPr lang="en-US" altLang="zh-CN" dirty="0"/>
              <a:t> </a:t>
            </a:r>
            <a:r>
              <a:rPr lang="en-US" altLang="zh-CN" dirty="0">
                <a:latin typeface="+mn-ea"/>
              </a:rPr>
              <a:t>q[m]</a:t>
            </a:r>
          </a:p>
          <a:p>
            <a:pPr lvl="1"/>
            <a:r>
              <a:rPr lang="zh-CN" altLang="en-US" dirty="0"/>
              <a:t>队首指针 </a:t>
            </a:r>
            <a:r>
              <a:rPr lang="en-US" altLang="zh-CN" dirty="0">
                <a:latin typeface="+mn-ea"/>
              </a:rPr>
              <a:t>front</a:t>
            </a:r>
          </a:p>
          <a:p>
            <a:pPr lvl="1"/>
            <a:r>
              <a:rPr lang="zh-CN" altLang="en-US" dirty="0"/>
              <a:t>队尾指针 </a:t>
            </a:r>
            <a:r>
              <a:rPr lang="en-US" altLang="zh-CN" dirty="0">
                <a:latin typeface="+mn-ea"/>
              </a:rPr>
              <a:t>rear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255FE6-3D15-4F2E-BAF5-A2E544DFC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36" y="3429000"/>
            <a:ext cx="6176473" cy="194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队列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7CA8C0-949D-4F35-9E3A-68C7F6A1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227" y="1937843"/>
            <a:ext cx="8725546" cy="29823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A23E85D-E93E-4E9F-B912-306E69D70562}"/>
                  </a:ext>
                </a:extLst>
              </p14:cNvPr>
              <p14:cNvContentPartPr/>
              <p14:nvPr/>
            </p14:nvContentPartPr>
            <p14:xfrm>
              <a:off x="9180720" y="2741040"/>
              <a:ext cx="48600" cy="270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A23E85D-E93E-4E9F-B912-306E69D705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1360" y="2731680"/>
                <a:ext cx="6732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694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队列的代码实现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521E55-E059-844D-BFEA-ED9FFBFDB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470166" cy="38038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73DFFF4-8CA6-2747-8641-0A8A17BE5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78" y="1486107"/>
            <a:ext cx="6222584" cy="21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8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队列的代码实现（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STL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16560C-C033-3A4F-94CD-8B91271EF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09" y="1879600"/>
            <a:ext cx="3372886" cy="37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16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循环队列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充分利用队列的数组空间，不浪费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问题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𝑓𝑟𝑜𝑛𝑡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是浪费的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解决方案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𝑟𝑒𝑎𝑟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时执行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𝑟𝑒𝑎𝑟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zh-CN" altLang="en-US" dirty="0">
                    <a:latin typeface="+mn-ea"/>
                  </a:rPr>
                  <a:t>，重新利用现有空间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需要注意的问题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如何判断队列已满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F217D6F-36DE-4032-8D8F-BD88950E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241" y="2234766"/>
            <a:ext cx="3195168" cy="238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6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循环队列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48A20A-FBA5-48D4-9A7C-6F973D34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28" y="1656594"/>
            <a:ext cx="7842143" cy="41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31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循环队列的代码实现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4CD11D4-CE7C-E143-BCEF-7642BCCFC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09" y="1486109"/>
            <a:ext cx="4876800" cy="3225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55C18F-F34B-E64D-ACCD-1FE67720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09" y="1486109"/>
            <a:ext cx="56769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68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连通块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的方格图，计算连通块的数量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084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队列操作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队列操作的执行和结果输出</a:t>
            </a:r>
          </a:p>
        </p:txBody>
      </p:sp>
    </p:spTree>
    <p:extLst>
      <p:ext uri="{BB962C8B-B14F-4D97-AF65-F5344CB8AC3E}">
        <p14:creationId xmlns:p14="http://schemas.microsoft.com/office/powerpoint/2010/main" val="2197944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队列操作</a:t>
            </a:r>
            <a:r>
              <a:rPr lang="en-US" altLang="zh-CN" dirty="0">
                <a:solidFill>
                  <a:schemeClr val="bg1"/>
                </a:solidFill>
              </a:rPr>
              <a:t>-2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队列操作的执行和结果输出，强制循环队列。</a:t>
            </a:r>
          </a:p>
        </p:txBody>
      </p:sp>
    </p:spTree>
    <p:extLst>
      <p:ext uri="{BB962C8B-B14F-4D97-AF65-F5344CB8AC3E}">
        <p14:creationId xmlns:p14="http://schemas.microsoft.com/office/powerpoint/2010/main" val="2705048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92377</TotalTime>
  <Words>858</Words>
  <Application>Microsoft Macintosh PowerPoint</Application>
  <PresentationFormat>Widescreen</PresentationFormat>
  <Paragraphs>120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等线</vt:lpstr>
      <vt:lpstr>华文楷体</vt:lpstr>
      <vt:lpstr>Arial</vt:lpstr>
      <vt:lpstr>Cambria Math</vt:lpstr>
      <vt:lpstr>Tw Cen MT</vt:lpstr>
      <vt:lpstr>电路</vt:lpstr>
      <vt:lpstr>线性表及其应用</vt:lpstr>
      <vt:lpstr>线性表</vt:lpstr>
      <vt:lpstr>顺序表</vt:lpstr>
      <vt:lpstr>单链表</vt:lpstr>
      <vt:lpstr>单链表</vt:lpstr>
      <vt:lpstr>用数组实现单链表</vt:lpstr>
      <vt:lpstr>插入</vt:lpstr>
      <vt:lpstr>删除</vt:lpstr>
      <vt:lpstr>循环链表</vt:lpstr>
      <vt:lpstr>双向链表</vt:lpstr>
      <vt:lpstr>双向链表的插入</vt:lpstr>
      <vt:lpstr>双向链表的删除</vt:lpstr>
      <vt:lpstr>线性表的应用</vt:lpstr>
      <vt:lpstr>删除数组中的元素（使用链表完成）</vt:lpstr>
      <vt:lpstr>统计学生信息（使用链表完成）</vt:lpstr>
      <vt:lpstr>约瑟夫问题（使用链表完成）</vt:lpstr>
      <vt:lpstr>栈及其应用</vt:lpstr>
      <vt:lpstr>栈</vt:lpstr>
      <vt:lpstr>栈</vt:lpstr>
      <vt:lpstr>栈的代码实现</vt:lpstr>
      <vt:lpstr>栈的代码实现（STL）</vt:lpstr>
      <vt:lpstr>奇妙的栈</vt:lpstr>
      <vt:lpstr>括号匹配</vt:lpstr>
      <vt:lpstr>逆波兰表达式</vt:lpstr>
      <vt:lpstr>栈操作</vt:lpstr>
      <vt:lpstr>队列及其应用</vt:lpstr>
      <vt:lpstr>队列</vt:lpstr>
      <vt:lpstr>队列</vt:lpstr>
      <vt:lpstr>队列的代码实现</vt:lpstr>
      <vt:lpstr>队列的代码实现（STL）</vt:lpstr>
      <vt:lpstr>循环队列</vt:lpstr>
      <vt:lpstr>循环队列</vt:lpstr>
      <vt:lpstr>循环队列的代码实现</vt:lpstr>
      <vt:lpstr>连通块</vt:lpstr>
      <vt:lpstr>队列操作</vt:lpstr>
      <vt:lpstr>队列操作-2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zoom 15</cp:lastModifiedBy>
  <cp:revision>245</cp:revision>
  <dcterms:created xsi:type="dcterms:W3CDTF">2018-08-09T00:16:20Z</dcterms:created>
  <dcterms:modified xsi:type="dcterms:W3CDTF">2026-05-19T13:04:19Z</dcterms:modified>
</cp:coreProperties>
</file>