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9"/>
  </p:notesMasterIdLst>
  <p:sldIdLst>
    <p:sldId id="256" r:id="rId2"/>
    <p:sldId id="281" r:id="rId3"/>
    <p:sldId id="341" r:id="rId4"/>
    <p:sldId id="342" r:id="rId5"/>
    <p:sldId id="343" r:id="rId6"/>
    <p:sldId id="344" r:id="rId7"/>
    <p:sldId id="345" r:id="rId8"/>
    <p:sldId id="346" r:id="rId9"/>
    <p:sldId id="347" r:id="rId10"/>
    <p:sldId id="348" r:id="rId11"/>
    <p:sldId id="349" r:id="rId12"/>
    <p:sldId id="382" r:id="rId13"/>
    <p:sldId id="351" r:id="rId14"/>
    <p:sldId id="352" r:id="rId15"/>
    <p:sldId id="353" r:id="rId16"/>
    <p:sldId id="356" r:id="rId17"/>
    <p:sldId id="357" r:id="rId18"/>
    <p:sldId id="359" r:id="rId19"/>
    <p:sldId id="360" r:id="rId20"/>
    <p:sldId id="361" r:id="rId21"/>
    <p:sldId id="362" r:id="rId22"/>
    <p:sldId id="383" r:id="rId23"/>
    <p:sldId id="385" r:id="rId24"/>
    <p:sldId id="384" r:id="rId25"/>
    <p:sldId id="354" r:id="rId26"/>
    <p:sldId id="355" r:id="rId27"/>
    <p:sldId id="261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2519" autoAdjust="0"/>
    <p:restoredTop sz="82301" autoAdjust="0"/>
  </p:normalViewPr>
  <p:slideViewPr>
    <p:cSldViewPr snapToGrid="0">
      <p:cViewPr varScale="1">
        <p:scale>
          <a:sx n="63" d="100"/>
          <a:sy n="63" d="100"/>
        </p:scale>
        <p:origin x="184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yan Sun" userId="851caa7714272873" providerId="LiveId" clId="{1DF0C224-3A3E-55A6-A8D1-F8F2208D385B}"/>
    <pc:docChg chg="modSld">
      <pc:chgData name="Bryan Sun" userId="851caa7714272873" providerId="LiveId" clId="{1DF0C224-3A3E-55A6-A8D1-F8F2208D385B}" dt="2025-12-31T12:08:53.721" v="1" actId="1035"/>
      <pc:docMkLst>
        <pc:docMk/>
      </pc:docMkLst>
      <pc:sldChg chg="modSp mod">
        <pc:chgData name="Bryan Sun" userId="851caa7714272873" providerId="LiveId" clId="{1DF0C224-3A3E-55A6-A8D1-F8F2208D385B}" dt="2025-12-31T12:08:53.721" v="1" actId="1035"/>
        <pc:sldMkLst>
          <pc:docMk/>
          <pc:sldMk cId="991846875" sldId="355"/>
        </pc:sldMkLst>
        <pc:spChg chg="mod">
          <ac:chgData name="Bryan Sun" userId="851caa7714272873" providerId="LiveId" clId="{1DF0C224-3A3E-55A6-A8D1-F8F2208D385B}" dt="2025-12-31T12:08:53.721" v="1" actId="1035"/>
          <ac:spMkLst>
            <pc:docMk/>
            <pc:sldMk cId="991846875" sldId="355"/>
            <ac:spMk id="2" creationId="{42D00FBD-1222-496C-8A0C-0B68A7CB6094}"/>
          </ac:spMkLst>
        </pc:spChg>
        <pc:spChg chg="mod">
          <ac:chgData name="Bryan Sun" userId="851caa7714272873" providerId="LiveId" clId="{1DF0C224-3A3E-55A6-A8D1-F8F2208D385B}" dt="2025-12-31T12:08:53.721" v="1" actId="1035"/>
          <ac:spMkLst>
            <pc:docMk/>
            <pc:sldMk cId="991846875" sldId="355"/>
            <ac:spMk id="5" creationId="{E1CDBABB-CE2C-42CE-8B40-D3B9544A682C}"/>
          </ac:spMkLst>
        </pc:spChg>
        <pc:spChg chg="mod">
          <ac:chgData name="Bryan Sun" userId="851caa7714272873" providerId="LiveId" clId="{1DF0C224-3A3E-55A6-A8D1-F8F2208D385B}" dt="2025-12-31T12:08:53.721" v="1" actId="1035"/>
          <ac:spMkLst>
            <pc:docMk/>
            <pc:sldMk cId="991846875" sldId="355"/>
            <ac:spMk id="7" creationId="{2D61C9F3-5129-46A0-8929-EC4C9B3905EB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08-15T10:30:29.4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25241 6072 172 0,'-3'6'66'0,"3"-12"-52"0,0 12 3 16,0-12 0-16,0 6-24 16,0 0-7-16,0 0-34 15,-4 0-14-15,-3 0 4 16,-3 6 2-16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08-24T10:30:49.6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18715 15225 276 0,'7'4'104'0,"-4"2"-81"0,5-3-4 16,-1 3-8-16,0-3-7 15,-4 7 2-15,1-10-1 16,-1 6 0-16,1-6-3 0,-1 9-15 0,-3-9-6 16,0 0-8-16,0 0-3 15,0 0-11-15,0 0-1 16,0 0-20 0,-7-6-34-16,-10-6 25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11B5F-5A72-4726-AC3F-C438D330BC78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0F2C92-0232-4362-81DA-2203573C83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4875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35310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96041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n&gt;0</a:t>
            </a:r>
          </a:p>
          <a:p>
            <a:r>
              <a:rPr lang="en-US" altLang="zh-CN" dirty="0"/>
              <a:t>n/2</a:t>
            </a:r>
          </a:p>
          <a:p>
            <a:r>
              <a:rPr lang="en-US" altLang="zh-CN" dirty="0"/>
              <a:t>n%2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43440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21430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9582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55615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90377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0834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44233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1428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74335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11231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n&gt;0</a:t>
            </a:r>
          </a:p>
          <a:p>
            <a:r>
              <a:rPr lang="en-US" altLang="zh-CN" dirty="0" err="1"/>
              <a:t>hanoi</a:t>
            </a:r>
            <a:r>
              <a:rPr lang="en-US" altLang="zh-CN" dirty="0"/>
              <a:t>(n-1,a,c,b)</a:t>
            </a:r>
          </a:p>
          <a:p>
            <a:r>
              <a:rPr lang="en-US" altLang="zh-CN" dirty="0" err="1"/>
              <a:t>hanoi</a:t>
            </a:r>
            <a:r>
              <a:rPr lang="en-US" altLang="zh-CN" dirty="0"/>
              <a:t>(n-1,b,a,c);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18658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12/29/25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12/29/25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12/29/25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12/29/25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12/29/25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12/29/25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12/29/25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12/29/25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12/29/25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12/29/25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12/29/25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12/29/25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12/29/25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12/29/25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12/29/25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12/29/25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12/29/25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>
            <a:extLst>
              <a:ext uri="{FF2B5EF4-FFF2-40B4-BE49-F238E27FC236}">
                <a16:creationId xmlns:a16="http://schemas.microsoft.com/office/drawing/2014/main" id="{130B2939-4C80-4B53-A9F0-B6A7EC450041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8612" y="1486111"/>
            <a:ext cx="10368800" cy="5104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30C60AA-6FA4-4C93-AB01-EB959B7F178F}"/>
              </a:ext>
            </a:extLst>
          </p:cNvPr>
          <p:cNvSpPr txBox="1"/>
          <p:nvPr userDrawn="1"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D2271CAA-D55D-4D42-A776-E7EC3C72185F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customXml" Target="../ink/ink2.xml"/><Relationship Id="rId4" Type="http://schemas.openxmlformats.org/officeDocument/2006/relationships/image" Target="../media/image9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http:/www.chinaschool.org/aosai/axpy/sjjg/images/0226-1.gif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NOIP </a:t>
            </a:r>
            <a:r>
              <a:rPr lang="zh-CN" altLang="en-US" dirty="0"/>
              <a:t>入门基础算法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2018</a:t>
            </a:r>
            <a:r>
              <a:rPr lang="zh-CN" altLang="en-US" dirty="0"/>
              <a:t>年</a:t>
            </a:r>
            <a:r>
              <a:rPr lang="en-US" altLang="zh-CN" dirty="0"/>
              <a:t>8</a:t>
            </a:r>
            <a:r>
              <a:rPr lang="zh-CN" altLang="en-US" dirty="0"/>
              <a:t>月</a:t>
            </a:r>
            <a:r>
              <a:rPr lang="en-US" altLang="zh-CN" dirty="0"/>
              <a:t>26</a:t>
            </a:r>
            <a:r>
              <a:rPr lang="zh-CN" altLang="en-US" dirty="0"/>
              <a:t>日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文本框 5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注意：请大家关闭自己的麦克风和摄像头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51786FEA-112D-4F78-B610-560C5BCA988B}"/>
                  </a:ext>
                </a:extLst>
              </p14:cNvPr>
              <p14:cNvContentPartPr/>
              <p14:nvPr/>
            </p14:nvContentPartPr>
            <p14:xfrm>
              <a:off x="9078120" y="2185920"/>
              <a:ext cx="9000" cy="252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51786FEA-112D-4F78-B610-560C5BCA988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068760" y="2176560"/>
                <a:ext cx="2772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98385616-4DF9-4212-8D71-D2D287605A2C}"/>
                  </a:ext>
                </a:extLst>
              </p14:cNvPr>
              <p14:cNvContentPartPr/>
              <p14:nvPr/>
            </p14:nvContentPartPr>
            <p14:xfrm>
              <a:off x="6737400" y="5481000"/>
              <a:ext cx="18000" cy="17280"/>
            </p14:xfrm>
          </p:contentPart>
        </mc:Choice>
        <mc:Fallback xmlns=""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98385616-4DF9-4212-8D71-D2D287605A2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28040" y="5471640"/>
                <a:ext cx="3672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06275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递归函数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文本框 5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注意：请大家关闭自己的麦克风和摄像头</a:t>
            </a:r>
          </a:p>
        </p:txBody>
      </p:sp>
    </p:spTree>
    <p:extLst>
      <p:ext uri="{BB962C8B-B14F-4D97-AF65-F5344CB8AC3E}">
        <p14:creationId xmlns:p14="http://schemas.microsoft.com/office/powerpoint/2010/main" val="948786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生活中的递归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>
            <a:normAutofit/>
          </a:bodyPr>
          <a:lstStyle/>
          <a:p>
            <a:r>
              <a:rPr lang="zh-CN" altLang="en-US" dirty="0"/>
              <a:t>从前有座山，山上有座庙，庙里有个老和尚在给小和尚讲故事：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从前有座山，山上有座庙，庙里有个老和尚在给小和尚讲故事：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   从前有座山，山上有座庙，庙里有个老和尚在给小和尚讲故事：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       从前有座山，山上有座庙，庙里有个老和尚在给小和尚讲故事：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dirty="0"/>
              <a:t>这个故事的特点是什么？</a:t>
            </a:r>
            <a:endParaRPr lang="en-US" altLang="zh-CN" dirty="0"/>
          </a:p>
          <a:p>
            <a:r>
              <a:rPr lang="zh-CN" altLang="en-US" dirty="0"/>
              <a:t>故事什么时候结束？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27142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  <a:latin typeface="+mj-ea"/>
              </a:rPr>
              <a:t>示例</a:t>
            </a:r>
            <a:r>
              <a:rPr lang="en-US" altLang="zh-CN" dirty="0">
                <a:solidFill>
                  <a:schemeClr val="bg1"/>
                </a:solidFill>
                <a:latin typeface="+mj-ea"/>
              </a:rPr>
              <a:t>1</a:t>
            </a:r>
            <a:endParaRPr lang="zh-CN" altLang="en-US" dirty="0">
              <a:solidFill>
                <a:schemeClr val="bg1"/>
              </a:solidFill>
              <a:latin typeface="+mj-ea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2231FC82-4BE0-4E5A-BBF0-54D9EE976083}"/>
              </a:ext>
            </a:extLst>
          </p:cNvPr>
          <p:cNvSpPr txBox="1">
            <a:spLocks/>
          </p:cNvSpPr>
          <p:nvPr/>
        </p:nvSpPr>
        <p:spPr>
          <a:xfrm>
            <a:off x="8318840" y="1486111"/>
            <a:ext cx="2030506" cy="5282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>
                <a:latin typeface="+mn-ea"/>
              </a:rPr>
              <a:t>输出：</a:t>
            </a:r>
            <a:r>
              <a:rPr lang="en-US" altLang="zh-CN" dirty="0">
                <a:latin typeface="+mn-ea"/>
              </a:rPr>
              <a:t>4</a:t>
            </a:r>
            <a:br>
              <a:rPr lang="en-US" altLang="zh-CN" dirty="0">
                <a:latin typeface="+mn-ea"/>
              </a:rPr>
            </a:br>
            <a:r>
              <a:rPr lang="en-US" altLang="zh-CN" dirty="0">
                <a:latin typeface="+mn-ea"/>
              </a:rPr>
              <a:t>	3</a:t>
            </a:r>
            <a:br>
              <a:rPr lang="en-US" altLang="zh-CN" dirty="0">
                <a:latin typeface="+mn-ea"/>
              </a:rPr>
            </a:br>
            <a:r>
              <a:rPr lang="en-US" altLang="zh-CN" dirty="0">
                <a:latin typeface="+mn-ea"/>
              </a:rPr>
              <a:t>	2</a:t>
            </a:r>
            <a:br>
              <a:rPr lang="en-US" altLang="zh-CN" dirty="0">
                <a:latin typeface="+mn-ea"/>
              </a:rPr>
            </a:br>
            <a:r>
              <a:rPr lang="en-US" altLang="zh-CN" dirty="0">
                <a:latin typeface="+mn-ea"/>
              </a:rPr>
              <a:t>	1</a:t>
            </a:r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8F62D2EE-36BB-A651-38B1-70B02CDCA0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094372" y="7541"/>
            <a:ext cx="4109992" cy="6853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931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  <a:latin typeface="+mj-ea"/>
              </a:rPr>
              <a:t>示例</a:t>
            </a:r>
            <a:r>
              <a:rPr lang="en-US" altLang="zh-CN" dirty="0">
                <a:solidFill>
                  <a:schemeClr val="bg1"/>
                </a:solidFill>
                <a:latin typeface="+mj-ea"/>
              </a:rPr>
              <a:t>1</a:t>
            </a:r>
            <a:endParaRPr lang="zh-CN" altLang="en-US" dirty="0">
              <a:solidFill>
                <a:schemeClr val="bg1"/>
              </a:solidFill>
              <a:latin typeface="+mj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889E7B1-95F3-40AD-A88C-F603FE99EDB2}"/>
              </a:ext>
            </a:extLst>
          </p:cNvPr>
          <p:cNvSpPr/>
          <p:nvPr/>
        </p:nvSpPr>
        <p:spPr>
          <a:xfrm>
            <a:off x="6373906" y="2084294"/>
            <a:ext cx="3550023" cy="10757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solidFill>
                  <a:schemeClr val="bg1"/>
                </a:solidFill>
              </a:rPr>
              <a:t>函数体中出现调用其自身的语句，称为</a:t>
            </a:r>
            <a:r>
              <a:rPr lang="zh-CN" altLang="en-US" sz="2400" dirty="0">
                <a:solidFill>
                  <a:srgbClr val="FF0000"/>
                </a:solidFill>
              </a:rPr>
              <a:t>递归</a:t>
            </a:r>
            <a:r>
              <a:rPr lang="zh-CN" altLang="en-US" sz="2400" dirty="0">
                <a:solidFill>
                  <a:schemeClr val="bg1"/>
                </a:solidFill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2006918-C71E-4E1B-85FE-5154B3E46E65}"/>
              </a:ext>
            </a:extLst>
          </p:cNvPr>
          <p:cNvSpPr/>
          <p:nvPr/>
        </p:nvSpPr>
        <p:spPr>
          <a:xfrm>
            <a:off x="6373906" y="4850022"/>
            <a:ext cx="3550023" cy="10757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solidFill>
                  <a:schemeClr val="bg1"/>
                </a:solidFill>
              </a:rPr>
              <a:t>想要输出 </a:t>
            </a:r>
            <a:r>
              <a:rPr lang="en-US" altLang="zh-CN" sz="2400" dirty="0">
                <a:solidFill>
                  <a:schemeClr val="bg1"/>
                </a:solidFill>
                <a:latin typeface="+mn-ea"/>
              </a:rPr>
              <a:t>1 2 3 4</a:t>
            </a:r>
            <a:r>
              <a:rPr lang="zh-CN" altLang="en-US" sz="2400" dirty="0">
                <a:solidFill>
                  <a:schemeClr val="bg1"/>
                </a:solidFill>
              </a:rPr>
              <a:t>，如何修改？</a:t>
            </a:r>
            <a:endParaRPr lang="en-US" altLang="zh-CN" sz="2400" dirty="0">
              <a:solidFill>
                <a:schemeClr val="bg1"/>
              </a:solidFill>
            </a:endParaRPr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70776FFE-AC93-D44E-E69D-1B792E5484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8608" y="1486110"/>
            <a:ext cx="5298185" cy="4720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25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什么是递归函数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186612" cy="5282749"/>
          </a:xfrm>
        </p:spPr>
        <p:txBody>
          <a:bodyPr>
            <a:normAutofit/>
          </a:bodyPr>
          <a:lstStyle/>
          <a:p>
            <a:r>
              <a:rPr lang="zh-CN" altLang="en-US" dirty="0"/>
              <a:t>内部操作直接或间接地调用了自己的函数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递归函数的两大要素：</a:t>
            </a:r>
            <a:endParaRPr lang="en-US" altLang="zh-CN" dirty="0"/>
          </a:p>
          <a:p>
            <a:pPr lvl="1"/>
            <a:r>
              <a:rPr lang="zh-CN" altLang="en-US" dirty="0"/>
              <a:t>递归关系式：对问题进行递归形式的描述</a:t>
            </a:r>
            <a:endParaRPr lang="en-US" altLang="zh-CN" dirty="0"/>
          </a:p>
          <a:p>
            <a:pPr lvl="1"/>
            <a:r>
              <a:rPr lang="zh-CN" altLang="en-US" dirty="0"/>
              <a:t>递归终止条件：当满足该条件时以一种特殊情况处理，而不是用递归关系式来处理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能用递归方法来解决的问题必须符合两个条件：</a:t>
            </a:r>
            <a:endParaRPr lang="en-US" altLang="zh-CN" dirty="0"/>
          </a:p>
          <a:p>
            <a:pPr lvl="1"/>
            <a:r>
              <a:rPr lang="zh-CN" altLang="en-US" dirty="0">
                <a:latin typeface="Tahoma" panose="020B0604030504040204" pitchFamily="34" charset="0"/>
              </a:rPr>
              <a:t>可以把一个问题转化成一个新的问题，而新问题的解法和原问题的解法完全相同，只是处理对象的规模不同</a:t>
            </a:r>
          </a:p>
          <a:p>
            <a:pPr lvl="1"/>
            <a:r>
              <a:rPr lang="zh-CN" altLang="en-US" dirty="0">
                <a:latin typeface="Tahoma" panose="020B0604030504040204" pitchFamily="34" charset="0"/>
              </a:rPr>
              <a:t>有一个明确的递归结束条件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40409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递归函数的执行过程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186612" cy="528274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Times New Roman" panose="02020603050405020304" pitchFamily="18" charset="0"/>
              </a:rPr>
              <a:t>递归函数的执行总是一个函数体未执行完，</a:t>
            </a:r>
            <a:r>
              <a:rPr lang="zh-CN" altLang="en-US" dirty="0">
                <a:latin typeface="Tahoma" panose="020B0604030504040204" pitchFamily="34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就带着本次执行的结果又进入另一轮函数体的执行，</a:t>
            </a:r>
            <a:r>
              <a:rPr lang="zh-CN" altLang="zh-CN" dirty="0">
                <a:latin typeface="Times New Roman" panose="02020603050405020304" pitchFamily="18" charset="0"/>
              </a:rPr>
              <a:t>……</a:t>
            </a:r>
            <a:r>
              <a:rPr lang="zh-CN" altLang="en-US" dirty="0">
                <a:latin typeface="Times New Roman" panose="02020603050405020304" pitchFamily="18" charset="0"/>
              </a:rPr>
              <a:t>，如此反复，不断深入，直到某次函数的执行遇到终止递归的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边界条件</a:t>
            </a:r>
            <a:r>
              <a:rPr lang="zh-CN" altLang="en-US" dirty="0">
                <a:latin typeface="Times New Roman" panose="02020603050405020304" pitchFamily="18" charset="0"/>
              </a:rPr>
              <a:t>时，则不再深入，而执行本次的函数体余下的部分，然后又返回到上一次调用的函数体中，执行其余下的部分，</a:t>
            </a:r>
            <a:r>
              <a:rPr lang="zh-CN" altLang="zh-CN" dirty="0">
                <a:latin typeface="Times New Roman" panose="02020603050405020304" pitchFamily="18" charset="0"/>
              </a:rPr>
              <a:t>……</a:t>
            </a:r>
            <a:r>
              <a:rPr lang="zh-CN" altLang="en-US" dirty="0">
                <a:latin typeface="Times New Roman" panose="02020603050405020304" pitchFamily="18" charset="0"/>
              </a:rPr>
              <a:t>，如此反复，直到回到起始位置上，才最终结束整个递归函数的执行，得到相应的执行结果。</a:t>
            </a:r>
            <a:endParaRPr lang="en-US" altLang="zh-CN" dirty="0"/>
          </a:p>
        </p:txBody>
      </p:sp>
      <p:pic>
        <p:nvPicPr>
          <p:cNvPr id="4" name="Picture 3" descr="http:/www.chinaschool.org/aosai/axpy/sjjg/images/0226-1.gif">
            <a:extLst>
              <a:ext uri="{FF2B5EF4-FFF2-40B4-BE49-F238E27FC236}">
                <a16:creationId xmlns:a16="http://schemas.microsoft.com/office/drawing/2014/main" id="{A5AFF0C9-2A3E-4C97-92B6-D30535935D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9809" y="4294784"/>
            <a:ext cx="5486400" cy="2365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24560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D3057949-6E1D-43E3-97AA-5C29B76E9F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4241" y="2434441"/>
            <a:ext cx="5374138" cy="365760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递归函数的执行过程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186612" cy="528274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Tahoma" panose="020B0604030504040204" pitchFamily="34" charset="0"/>
              </a:rPr>
              <a:t>如果递归函数不止一次调用自己，那么整个递归函数执行的过程可以看成一颗递归关系调用树。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2ABDFBA-6CFC-D759-B406-3DA3A6EC3E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763" y="2632669"/>
            <a:ext cx="4928447" cy="4003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663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递归函数的执行过程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186612" cy="528274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Tahoma" panose="020B0604030504040204" pitchFamily="34" charset="0"/>
              </a:rPr>
              <a:t>递归函数通常带有一些局部变量 </a:t>
            </a:r>
            <a:r>
              <a:rPr lang="zh-CN" altLang="zh-CN" dirty="0">
                <a:latin typeface="Tahoma" panose="020B0604030504040204" pitchFamily="34" charset="0"/>
              </a:rPr>
              <a:t>(</a:t>
            </a:r>
            <a:r>
              <a:rPr lang="zh-CN" altLang="en-US" dirty="0">
                <a:latin typeface="Tahoma" panose="020B0604030504040204" pitchFamily="34" charset="0"/>
              </a:rPr>
              <a:t>如本例中的</a:t>
            </a:r>
            <a:r>
              <a:rPr lang="zh-CN" altLang="zh-CN" dirty="0">
                <a:latin typeface="Tahoma" panose="020B0604030504040204" pitchFamily="34" charset="0"/>
              </a:rPr>
              <a:t>n)</a:t>
            </a:r>
            <a:r>
              <a:rPr lang="zh-CN" altLang="en-US" dirty="0">
                <a:latin typeface="Tahoma" panose="020B0604030504040204" pitchFamily="34" charset="0"/>
              </a:rPr>
              <a:t>，只有当整个函数体执行完毕时，这些局部变量才失去意义。每递归调用一次，就必须生成一组</a:t>
            </a:r>
            <a:r>
              <a:rPr lang="zh-CN" altLang="en-US" dirty="0">
                <a:latin typeface="Times New Roman" panose="02020603050405020304" pitchFamily="18" charset="0"/>
              </a:rPr>
              <a:t>‘</a:t>
            </a:r>
            <a:r>
              <a:rPr lang="zh-CN" altLang="en-US" dirty="0">
                <a:latin typeface="Tahoma" panose="020B0604030504040204" pitchFamily="34" charset="0"/>
              </a:rPr>
              <a:t>新</a:t>
            </a:r>
            <a:r>
              <a:rPr lang="zh-CN" altLang="en-US" dirty="0">
                <a:latin typeface="Times New Roman" panose="02020603050405020304" pitchFamily="18" charset="0"/>
              </a:rPr>
              <a:t>’</a:t>
            </a:r>
            <a:r>
              <a:rPr lang="zh-CN" altLang="en-US" dirty="0">
                <a:latin typeface="Tahoma" panose="020B0604030504040204" pitchFamily="34" charset="0"/>
              </a:rPr>
              <a:t>的局部变量，虽然这些新的局部变量与原来的局部变量分别具有相同的名字，但其分配的存储空间不同，其值也完全无关</a:t>
            </a:r>
            <a:endParaRPr lang="en-US" altLang="zh-CN" dirty="0"/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8AD63FB8-61AA-49B5-A87A-30CE2F282C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3640" y="4547832"/>
            <a:ext cx="5178279" cy="686563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zh-CN" altLang="zh-CN" sz="2800" dirty="0">
                <a:latin typeface="+mn-ea"/>
              </a:rPr>
              <a:t>P(4)-&gt;P(3)-&gt;P(2)-&gt;P(1)-&gt;P(0)</a:t>
            </a:r>
          </a:p>
        </p:txBody>
      </p:sp>
      <p:pic>
        <p:nvPicPr>
          <p:cNvPr id="4" name="内容占位符 7">
            <a:extLst>
              <a:ext uri="{FF2B5EF4-FFF2-40B4-BE49-F238E27FC236}">
                <a16:creationId xmlns:a16="http://schemas.microsoft.com/office/drawing/2014/main" id="{9A179EAB-3BC4-FDD9-3E7F-4F565CCAF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304" y="3347400"/>
            <a:ext cx="3940031" cy="351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250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  <a:latin typeface="+mj-ea"/>
              </a:rPr>
              <a:t>课堂实例</a:t>
            </a:r>
            <a:r>
              <a:rPr lang="en-US" altLang="zh-CN" dirty="0">
                <a:solidFill>
                  <a:schemeClr val="bg1"/>
                </a:solidFill>
                <a:latin typeface="+mj-ea"/>
              </a:rPr>
              <a:t>1</a:t>
            </a:r>
            <a:r>
              <a:rPr lang="zh-CN" altLang="en-US" dirty="0">
                <a:solidFill>
                  <a:schemeClr val="bg1"/>
                </a:solidFill>
                <a:latin typeface="+mj-ea"/>
              </a:rPr>
              <a:t>：求 </a:t>
            </a:r>
            <a:r>
              <a:rPr lang="en-US" altLang="zh-CN" dirty="0">
                <a:solidFill>
                  <a:schemeClr val="bg1"/>
                </a:solidFill>
                <a:latin typeface="+mj-ea"/>
              </a:rPr>
              <a:t>n!</a:t>
            </a:r>
            <a:endParaRPr lang="zh-CN" altLang="en-US" dirty="0">
              <a:solidFill>
                <a:schemeClr val="bg1"/>
              </a:solidFill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2" y="1486110"/>
                <a:ext cx="10186612" cy="5282749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altLang="zh-CN" dirty="0">
                    <a:latin typeface="+mn-ea"/>
                  </a:rPr>
                  <a:t> </a:t>
                </a:r>
                <a:r>
                  <a:rPr lang="zh-CN" altLang="en-US" dirty="0">
                    <a:latin typeface="+mn-ea"/>
                  </a:rPr>
                  <a:t>是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zh-CN" altLang="en-US" dirty="0">
                    <a:latin typeface="+mn-ea"/>
                  </a:rPr>
                  <a:t>，那么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altLang="zh-CN" dirty="0">
                    <a:latin typeface="+mn-ea"/>
                  </a:rPr>
                  <a:t> </a:t>
                </a:r>
                <a:r>
                  <a:rPr lang="zh-CN" altLang="en-US" dirty="0">
                    <a:latin typeface="+mn-ea"/>
                  </a:rPr>
                  <a:t>是 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−1)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endParaRPr lang="en-US" altLang="zh-CN" dirty="0">
                  <a:latin typeface="+mn-ea"/>
                </a:endParaRPr>
              </a:p>
              <a:p>
                <a:r>
                  <a:rPr lang="zh-CN" altLang="en-US" dirty="0">
                    <a:latin typeface="+mn-ea"/>
                  </a:rPr>
                  <a:t>递归关系式：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−1)∗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altLang="zh-CN" dirty="0">
                  <a:latin typeface="+mn-ea"/>
                </a:endParaRPr>
              </a:p>
              <a:p>
                <a:r>
                  <a:rPr lang="zh-CN" altLang="en-US" dirty="0">
                    <a:latin typeface="+mn-ea"/>
                  </a:rPr>
                  <a:t>终止条件：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=0,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zh-CN" dirty="0">
                  <a:latin typeface="+mn-ea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2" y="1486110"/>
                <a:ext cx="10186612" cy="5282749"/>
              </a:xfrm>
              <a:blipFill>
                <a:blip r:embed="rId2"/>
                <a:stretch>
                  <a:fillRect l="-1245" t="-16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>
            <a:extLst>
              <a:ext uri="{FF2B5EF4-FFF2-40B4-BE49-F238E27FC236}">
                <a16:creationId xmlns:a16="http://schemas.microsoft.com/office/drawing/2014/main" id="{9DB91F86-1649-4A83-B9B6-A7032BAE355B}"/>
              </a:ext>
            </a:extLst>
          </p:cNvPr>
          <p:cNvSpPr/>
          <p:nvPr/>
        </p:nvSpPr>
        <p:spPr>
          <a:xfrm>
            <a:off x="5884608" y="3429000"/>
            <a:ext cx="5682168" cy="23317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solidFill>
                  <a:schemeClr val="bg1"/>
                </a:solidFill>
              </a:rPr>
              <a:t>子程序的递归不能永远执行</a:t>
            </a:r>
            <a:endParaRPr lang="en-US" altLang="zh-CN" sz="2400" dirty="0">
              <a:solidFill>
                <a:schemeClr val="bg1"/>
              </a:solidFill>
            </a:endParaRPr>
          </a:p>
          <a:p>
            <a:endParaRPr lang="en-US" altLang="zh-CN" sz="2400" dirty="0">
              <a:solidFill>
                <a:schemeClr val="bg1"/>
              </a:solidFill>
            </a:endParaRPr>
          </a:p>
          <a:p>
            <a:r>
              <a:rPr lang="zh-CN" altLang="en-US" sz="2400" dirty="0">
                <a:solidFill>
                  <a:schemeClr val="bg1"/>
                </a:solidFill>
              </a:rPr>
              <a:t>函数值的可求得状态决定了何时停止递归</a:t>
            </a:r>
            <a:endParaRPr lang="en-US" altLang="zh-CN" sz="2400" dirty="0">
              <a:solidFill>
                <a:schemeClr val="bg1"/>
              </a:solidFill>
            </a:endParaRPr>
          </a:p>
          <a:p>
            <a:endParaRPr lang="en-US" altLang="zh-CN" sz="2400" dirty="0">
              <a:solidFill>
                <a:schemeClr val="bg1"/>
              </a:solidFill>
            </a:endParaRPr>
          </a:p>
          <a:p>
            <a:r>
              <a:rPr lang="zh-CN" altLang="en-US" sz="2400" dirty="0">
                <a:solidFill>
                  <a:schemeClr val="bg1"/>
                </a:solidFill>
              </a:rPr>
              <a:t>继续进行递归求解状态即为递归关系式</a:t>
            </a:r>
            <a:endParaRPr lang="en-US" altLang="zh-CN" sz="2400" dirty="0">
              <a:solidFill>
                <a:schemeClr val="bg1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9111650-035B-BC8F-DF50-A3112072B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609" y="3822490"/>
            <a:ext cx="4432300" cy="154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045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  <a:latin typeface="+mj-ea"/>
              </a:rPr>
              <a:t>课堂实例</a:t>
            </a:r>
            <a:r>
              <a:rPr lang="en-US" altLang="zh-CN" dirty="0">
                <a:solidFill>
                  <a:schemeClr val="bg1"/>
                </a:solidFill>
                <a:latin typeface="+mj-ea"/>
              </a:rPr>
              <a:t>2</a:t>
            </a:r>
            <a:r>
              <a:rPr lang="zh-CN" altLang="en-US" dirty="0">
                <a:solidFill>
                  <a:schemeClr val="bg1"/>
                </a:solidFill>
                <a:latin typeface="+mj-ea"/>
              </a:rPr>
              <a:t>：斐波那契数列的递归实现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2" y="1486110"/>
                <a:ext cx="10186612" cy="5282749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>
                    <a:latin typeface="+mn-ea"/>
                  </a:rPr>
                  <a:t>斐波那契数列 </a:t>
                </a:r>
                <a:r>
                  <a:rPr lang="en-US" altLang="zh-CN" dirty="0">
                    <a:latin typeface="+mn-ea"/>
                  </a:rPr>
                  <a:t>1,1,2,3,5,8,13,21,34…… </a:t>
                </a:r>
                <a:r>
                  <a:rPr lang="zh-CN" altLang="en-US" dirty="0">
                    <a:latin typeface="+mn-ea"/>
                  </a:rPr>
                  <a:t>从第三项起，每一项都是紧挨着的前两项的和，即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−2)</m:t>
                    </m:r>
                  </m:oMath>
                </a14:m>
                <a:endParaRPr lang="en-US" altLang="zh-CN" dirty="0">
                  <a:latin typeface="+mn-ea"/>
                </a:endParaRPr>
              </a:p>
              <a:p>
                <a:r>
                  <a:rPr lang="zh-CN" altLang="en-US" dirty="0">
                    <a:latin typeface="+mn-ea"/>
                  </a:rPr>
                  <a:t>试用递归的方法求出他的第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>
                    <a:latin typeface="+mn-ea"/>
                  </a:rPr>
                  <a:t> </a:t>
                </a:r>
                <a:r>
                  <a:rPr lang="zh-CN" altLang="en-US" dirty="0">
                    <a:latin typeface="+mn-ea"/>
                  </a:rPr>
                  <a:t>项。</a:t>
                </a:r>
                <a:endParaRPr lang="en-US" altLang="zh-CN" dirty="0">
                  <a:latin typeface="+mn-ea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2" y="1486110"/>
                <a:ext cx="10186612" cy="5282749"/>
              </a:xfrm>
              <a:blipFill>
                <a:blip r:embed="rId2"/>
                <a:stretch>
                  <a:fillRect l="-1245" t="-1683" r="-7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>
            <a:extLst>
              <a:ext uri="{FF2B5EF4-FFF2-40B4-BE49-F238E27FC236}">
                <a16:creationId xmlns:a16="http://schemas.microsoft.com/office/drawing/2014/main" id="{9DB91F86-1649-4A83-B9B6-A7032BAE355B}"/>
              </a:ext>
            </a:extLst>
          </p:cNvPr>
          <p:cNvSpPr/>
          <p:nvPr/>
        </p:nvSpPr>
        <p:spPr>
          <a:xfrm>
            <a:off x="997182" y="3429000"/>
            <a:ext cx="4358589" cy="14785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dirty="0">
                <a:solidFill>
                  <a:schemeClr val="bg1"/>
                </a:solidFill>
                <a:latin typeface="+mn-ea"/>
              </a:rPr>
              <a:t>f(1)=1					n=1</a:t>
            </a:r>
          </a:p>
          <a:p>
            <a:r>
              <a:rPr lang="en-US" altLang="zh-CN" sz="2400" dirty="0">
                <a:solidFill>
                  <a:schemeClr val="bg1"/>
                </a:solidFill>
                <a:latin typeface="+mn-ea"/>
              </a:rPr>
              <a:t>f(2)=1					n=2</a:t>
            </a:r>
          </a:p>
          <a:p>
            <a:r>
              <a:rPr lang="en-US" altLang="zh-CN" sz="2400" dirty="0">
                <a:solidFill>
                  <a:schemeClr val="bg1"/>
                </a:solidFill>
                <a:latin typeface="+mn-ea"/>
              </a:rPr>
              <a:t>f(n)=f(n-1)+f(n-2)	(n&gt;2)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F8F9150-3519-5F94-2C8D-5AF934E697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794" y="3351527"/>
            <a:ext cx="5511800" cy="165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411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  <a:latin typeface="+mj-ea"/>
              </a:rPr>
              <a:t>课堂实例</a:t>
            </a:r>
            <a:r>
              <a:rPr lang="en-US" altLang="zh-CN" dirty="0">
                <a:solidFill>
                  <a:schemeClr val="bg1"/>
                </a:solidFill>
                <a:latin typeface="+mj-ea"/>
              </a:rPr>
              <a:t>3</a:t>
            </a:r>
            <a:r>
              <a:rPr lang="zh-CN" altLang="en-US" dirty="0">
                <a:solidFill>
                  <a:schemeClr val="bg1"/>
                </a:solidFill>
                <a:latin typeface="+mj-ea"/>
              </a:rPr>
              <a:t>：辗转相除法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2" y="1486110"/>
                <a:ext cx="10186612" cy="5282749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>
                    <a:latin typeface="+mn-ea"/>
                  </a:rPr>
                  <a:t>辗转相除法求自然数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>
                    <a:latin typeface="+mn-ea"/>
                  </a:rPr>
                  <a:t> 的最大公约数，用递归实现。</a:t>
                </a:r>
                <a:endParaRPr lang="en-US" altLang="zh-CN" dirty="0">
                  <a:latin typeface="+mn-ea"/>
                </a:endParaRPr>
              </a:p>
              <a:p>
                <a:r>
                  <a:rPr lang="zh-CN" altLang="en-US" dirty="0">
                    <a:latin typeface="+mn-ea"/>
                  </a:rPr>
                  <a:t>分析：辗转相除法是一种可将问题规模不断缩小的解题方法。要求</a:t>
                </a:r>
                <a:r>
                  <a:rPr lang="en-US" altLang="zh-CN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>
                    <a:latin typeface="+mn-ea"/>
                  </a:rPr>
                  <a:t> </a:t>
                </a:r>
                <a:r>
                  <a:rPr lang="zh-CN" altLang="en-US" dirty="0">
                    <a:latin typeface="+mn-ea"/>
                  </a:rPr>
                  <a:t>的最大公约数，其实就是求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%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>
                    <a:latin typeface="+mn-ea"/>
                  </a:rPr>
                  <a:t> 的最大公约数。</a:t>
                </a:r>
                <a:endParaRPr lang="en-US" altLang="zh-CN" dirty="0">
                  <a:latin typeface="+mn-ea"/>
                </a:endParaRPr>
              </a:p>
              <a:p>
                <a:r>
                  <a:rPr lang="zh-CN" altLang="en-US" dirty="0">
                    <a:latin typeface="+mn-ea"/>
                  </a:rPr>
                  <a:t>递归公式</a:t>
                </a:r>
                <a:endParaRPr lang="en-US" altLang="zh-CN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+mn-ea"/>
                  </a:rPr>
                  <a:t>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                         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  <m:e/>
                          <m:e>
                            <m:func>
                              <m:func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b="0" i="0" smtClean="0">
                                    <a:latin typeface="Cambria Math" panose="02040503050406030204" pitchFamily="18" charset="0"/>
                                  </a:rPr>
                                  <m:t>gcd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%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e>
                            </m:func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≠0</m:t>
                            </m:r>
                          </m:e>
                        </m:eqArr>
                      </m:e>
                    </m:d>
                  </m:oMath>
                </a14:m>
                <a:endParaRPr lang="en-US" altLang="zh-CN" dirty="0">
                  <a:latin typeface="+mn-ea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2" y="1486110"/>
                <a:ext cx="10186612" cy="5282749"/>
              </a:xfrm>
              <a:blipFill>
                <a:blip r:embed="rId2"/>
                <a:stretch>
                  <a:fillRect l="-1245" t="-6490" b="-420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>
            <a:extLst>
              <a:ext uri="{FF2B5EF4-FFF2-40B4-BE49-F238E27FC236}">
                <a16:creationId xmlns:a16="http://schemas.microsoft.com/office/drawing/2014/main" id="{9DB91F86-1649-4A83-B9B6-A7032BAE355B}"/>
              </a:ext>
            </a:extLst>
          </p:cNvPr>
          <p:cNvSpPr/>
          <p:nvPr/>
        </p:nvSpPr>
        <p:spPr>
          <a:xfrm>
            <a:off x="6884583" y="3893320"/>
            <a:ext cx="3719727" cy="14785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dirty="0">
                <a:solidFill>
                  <a:schemeClr val="bg1"/>
                </a:solidFill>
                <a:latin typeface="+mn-ea"/>
              </a:rPr>
              <a:t>m		45   35   10   5</a:t>
            </a:r>
          </a:p>
          <a:p>
            <a:r>
              <a:rPr lang="en-US" altLang="zh-CN" sz="2400" dirty="0">
                <a:solidFill>
                  <a:schemeClr val="bg1"/>
                </a:solidFill>
                <a:latin typeface="+mn-ea"/>
              </a:rPr>
              <a:t>n		35   10    5   0</a:t>
            </a:r>
          </a:p>
          <a:p>
            <a:r>
              <a:rPr lang="en-US" altLang="zh-CN" sz="2400" dirty="0" err="1">
                <a:solidFill>
                  <a:schemeClr val="bg1"/>
                </a:solidFill>
                <a:latin typeface="+mn-ea"/>
              </a:rPr>
              <a:t>m%n</a:t>
            </a:r>
            <a:r>
              <a:rPr lang="en-US" altLang="zh-CN" sz="2400" dirty="0">
                <a:solidFill>
                  <a:schemeClr val="bg1"/>
                </a:solidFill>
                <a:latin typeface="+mn-ea"/>
              </a:rPr>
              <a:t>	10    5    0</a:t>
            </a:r>
          </a:p>
        </p:txBody>
      </p:sp>
    </p:spTree>
    <p:extLst>
      <p:ext uri="{BB962C8B-B14F-4D97-AF65-F5344CB8AC3E}">
        <p14:creationId xmlns:p14="http://schemas.microsoft.com/office/powerpoint/2010/main" val="1897728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  <a:latin typeface="+mj-ea"/>
              </a:rPr>
              <a:t>课堂实例</a:t>
            </a:r>
            <a:r>
              <a:rPr lang="en-US" altLang="zh-CN" dirty="0">
                <a:solidFill>
                  <a:schemeClr val="bg1"/>
                </a:solidFill>
                <a:latin typeface="+mj-ea"/>
              </a:rPr>
              <a:t>4</a:t>
            </a:r>
            <a:r>
              <a:rPr lang="zh-CN" altLang="en-US" dirty="0">
                <a:solidFill>
                  <a:schemeClr val="bg1"/>
                </a:solidFill>
                <a:latin typeface="+mj-ea"/>
              </a:rPr>
              <a:t>：进制转换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186612" cy="528274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Tahoma" panose="020B0604030504040204" pitchFamily="34" charset="0"/>
              </a:rPr>
              <a:t>把一个给定的十进制整数转换成二进制后输出</a:t>
            </a:r>
            <a:endParaRPr lang="en-US" altLang="zh-CN" dirty="0">
              <a:latin typeface="Tahoma" panose="020B0604030504040204" pitchFamily="34" charset="0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2D61C9F3-5129-46A0-8929-EC4C9B3905EB}"/>
              </a:ext>
            </a:extLst>
          </p:cNvPr>
          <p:cNvSpPr txBox="1">
            <a:spLocks/>
          </p:cNvSpPr>
          <p:nvPr/>
        </p:nvSpPr>
        <p:spPr>
          <a:xfrm>
            <a:off x="678610" y="2037806"/>
            <a:ext cx="5748693" cy="473105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zh-CN" sz="2000" dirty="0">
                <a:latin typeface="+mn-ea"/>
              </a:rPr>
              <a:t>#include &lt;bits/</a:t>
            </a:r>
            <a:r>
              <a:rPr lang="en-US" altLang="zh-CN" sz="2000" dirty="0" err="1">
                <a:latin typeface="+mn-ea"/>
              </a:rPr>
              <a:t>stdc</a:t>
            </a:r>
            <a:r>
              <a:rPr lang="en-US" altLang="zh-CN" sz="2000" dirty="0">
                <a:latin typeface="+mn-ea"/>
              </a:rPr>
              <a:t>++.h&gt;</a:t>
            </a:r>
          </a:p>
          <a:p>
            <a:pPr marL="0" indent="0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zh-CN" sz="2000" dirty="0">
                <a:latin typeface="+mn-ea"/>
              </a:rPr>
              <a:t>using namespace std;</a:t>
            </a:r>
          </a:p>
          <a:p>
            <a:pPr marL="0" indent="0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zh-CN" sz="2000" dirty="0">
                <a:latin typeface="+mn-ea"/>
              </a:rPr>
              <a:t>int print(int n) {</a:t>
            </a:r>
          </a:p>
          <a:p>
            <a:pPr marL="0" indent="0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zh-CN" sz="2000" dirty="0">
                <a:latin typeface="+mn-ea"/>
              </a:rPr>
              <a:t>	if ( </a:t>
            </a:r>
            <a:r>
              <a:rPr lang="en-US" altLang="zh-CN" sz="2000" u="sng" dirty="0">
                <a:latin typeface="+mn-ea"/>
              </a:rPr>
              <a:t>         </a:t>
            </a:r>
            <a:r>
              <a:rPr lang="en-US" altLang="zh-CN" sz="2000" dirty="0">
                <a:latin typeface="+mn-ea"/>
              </a:rPr>
              <a:t> ) {</a:t>
            </a:r>
          </a:p>
          <a:p>
            <a:pPr marL="0" indent="0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zh-CN" sz="2000" dirty="0">
                <a:latin typeface="+mn-ea"/>
              </a:rPr>
              <a:t>		print( </a:t>
            </a:r>
            <a:r>
              <a:rPr lang="en-US" altLang="zh-CN" sz="2000" u="sng" dirty="0">
                <a:latin typeface="+mn-ea"/>
              </a:rPr>
              <a:t>       </a:t>
            </a:r>
            <a:r>
              <a:rPr lang="en-US" altLang="zh-CN" sz="2000" dirty="0">
                <a:latin typeface="+mn-ea"/>
              </a:rPr>
              <a:t> );</a:t>
            </a:r>
          </a:p>
          <a:p>
            <a:pPr marL="0" indent="0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zh-CN" sz="2000" dirty="0">
                <a:latin typeface="+mn-ea"/>
              </a:rPr>
              <a:t>		</a:t>
            </a:r>
            <a:r>
              <a:rPr lang="en-US" altLang="zh-CN" sz="2000" dirty="0" err="1">
                <a:latin typeface="+mn-ea"/>
              </a:rPr>
              <a:t>cout</a:t>
            </a:r>
            <a:r>
              <a:rPr lang="en-US" altLang="zh-CN" sz="2000" dirty="0">
                <a:latin typeface="+mn-ea"/>
              </a:rPr>
              <a:t>&lt;&lt; </a:t>
            </a:r>
            <a:r>
              <a:rPr lang="en-US" altLang="zh-CN" sz="2000" u="sng" dirty="0">
                <a:latin typeface="+mn-ea"/>
              </a:rPr>
              <a:t>       </a:t>
            </a:r>
            <a:r>
              <a:rPr lang="en-US" altLang="zh-CN" sz="2000" dirty="0">
                <a:latin typeface="+mn-ea"/>
              </a:rPr>
              <a:t> ;</a:t>
            </a:r>
          </a:p>
          <a:p>
            <a:pPr marL="0" indent="0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zh-CN" sz="2000" dirty="0">
                <a:latin typeface="+mn-ea"/>
              </a:rPr>
              <a:t>	}</a:t>
            </a:r>
          </a:p>
          <a:p>
            <a:pPr marL="0" indent="0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zh-CN" sz="2000" dirty="0">
                <a:latin typeface="+mn-ea"/>
              </a:rPr>
              <a:t>}</a:t>
            </a:r>
          </a:p>
          <a:p>
            <a:pPr marL="0" indent="0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zh-CN" sz="2000" dirty="0">
                <a:latin typeface="+mn-ea"/>
              </a:rPr>
              <a:t>int main() {</a:t>
            </a:r>
          </a:p>
          <a:p>
            <a:pPr marL="0" indent="0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zh-CN" sz="2000" dirty="0">
                <a:latin typeface="+mn-ea"/>
              </a:rPr>
              <a:t>	int n;</a:t>
            </a:r>
          </a:p>
          <a:p>
            <a:pPr marL="0" indent="0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zh-CN" sz="2000" dirty="0">
                <a:latin typeface="+mn-ea"/>
              </a:rPr>
              <a:t>	</a:t>
            </a:r>
            <a:r>
              <a:rPr lang="en-US" altLang="zh-CN" sz="2000" dirty="0" err="1">
                <a:latin typeface="+mn-ea"/>
              </a:rPr>
              <a:t>cin</a:t>
            </a:r>
            <a:r>
              <a:rPr lang="en-US" altLang="zh-CN" sz="2000" dirty="0">
                <a:latin typeface="+mn-ea"/>
              </a:rPr>
              <a:t>&gt;&gt;n; print(n); </a:t>
            </a:r>
            <a:r>
              <a:rPr lang="en-US" altLang="zh-CN" sz="2000" dirty="0" err="1">
                <a:latin typeface="+mn-ea"/>
              </a:rPr>
              <a:t>cout</a:t>
            </a:r>
            <a:r>
              <a:rPr lang="en-US" altLang="zh-CN" sz="2000" dirty="0">
                <a:latin typeface="+mn-ea"/>
              </a:rPr>
              <a:t>&lt;&lt;</a:t>
            </a:r>
            <a:r>
              <a:rPr lang="en-US" altLang="zh-CN" sz="2000" dirty="0" err="1">
                <a:latin typeface="+mn-ea"/>
              </a:rPr>
              <a:t>endl</a:t>
            </a:r>
            <a:r>
              <a:rPr lang="en-US" altLang="zh-CN" sz="2000" dirty="0">
                <a:latin typeface="+mn-ea"/>
              </a:rPr>
              <a:t>;</a:t>
            </a:r>
          </a:p>
          <a:p>
            <a:pPr marL="0" indent="0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zh-CN" sz="2000" dirty="0">
                <a:latin typeface="+mn-ea"/>
              </a:rPr>
              <a:t>	return 0;</a:t>
            </a:r>
          </a:p>
          <a:p>
            <a:pPr marL="0" indent="0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zh-CN" sz="2000" dirty="0">
                <a:latin typeface="+mn-ea"/>
              </a:rPr>
              <a:t>}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DB91F86-1649-4A83-B9B6-A7032BAE355B}"/>
              </a:ext>
            </a:extLst>
          </p:cNvPr>
          <p:cNvSpPr/>
          <p:nvPr/>
        </p:nvSpPr>
        <p:spPr>
          <a:xfrm>
            <a:off x="7798526" y="4282150"/>
            <a:ext cx="2711136" cy="14785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solidFill>
                  <a:schemeClr val="bg1"/>
                </a:solidFill>
                <a:latin typeface="+mn-ea"/>
              </a:rPr>
              <a:t>输入：</a:t>
            </a:r>
            <a:r>
              <a:rPr lang="en-US" altLang="zh-CN" sz="2400" dirty="0">
                <a:solidFill>
                  <a:schemeClr val="bg1"/>
                </a:solidFill>
                <a:latin typeface="+mn-ea"/>
              </a:rPr>
              <a:t>45</a:t>
            </a:r>
          </a:p>
          <a:p>
            <a:endParaRPr lang="en-US" altLang="zh-CN" sz="2400" dirty="0">
              <a:solidFill>
                <a:schemeClr val="bg1"/>
              </a:solidFill>
              <a:latin typeface="+mn-ea"/>
            </a:endParaRPr>
          </a:p>
          <a:p>
            <a:r>
              <a:rPr lang="zh-CN" altLang="en-US" sz="2400" dirty="0">
                <a:solidFill>
                  <a:schemeClr val="bg1"/>
                </a:solidFill>
                <a:latin typeface="+mn-ea"/>
              </a:rPr>
              <a:t>输出：</a:t>
            </a:r>
            <a:r>
              <a:rPr lang="en-US" altLang="zh-CN" sz="2400" dirty="0">
                <a:solidFill>
                  <a:schemeClr val="bg1"/>
                </a:solidFill>
                <a:latin typeface="+mn-ea"/>
              </a:rPr>
              <a:t>101101</a:t>
            </a:r>
          </a:p>
        </p:txBody>
      </p:sp>
    </p:spTree>
    <p:extLst>
      <p:ext uri="{BB962C8B-B14F-4D97-AF65-F5344CB8AC3E}">
        <p14:creationId xmlns:p14="http://schemas.microsoft.com/office/powerpoint/2010/main" val="34156946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  <a:latin typeface="+mn-ea"/>
                <a:ea typeface="+mn-ea"/>
              </a:rPr>
              <a:t>课堂实例</a:t>
            </a:r>
            <a:r>
              <a:rPr lang="en-US" altLang="zh-CN" dirty="0">
                <a:solidFill>
                  <a:schemeClr val="bg1"/>
                </a:solidFill>
                <a:latin typeface="+mn-ea"/>
                <a:ea typeface="+mn-ea"/>
              </a:rPr>
              <a:t>5</a:t>
            </a:r>
            <a:r>
              <a:rPr lang="zh-CN" altLang="en-US" dirty="0">
                <a:solidFill>
                  <a:schemeClr val="bg1"/>
                </a:solidFill>
                <a:latin typeface="+mn-ea"/>
                <a:ea typeface="+mn-ea"/>
              </a:rPr>
              <a:t>：数字反转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186612" cy="147856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Tahoma" panose="020B0604030504040204" pitchFamily="34" charset="0"/>
              </a:rPr>
              <a:t>输入一个多位数，用递归方法把这个多位数按反序输出。</a:t>
            </a:r>
            <a:endParaRPr lang="en-US" altLang="zh-CN" dirty="0">
              <a:latin typeface="Tahoma" panose="020B0604030504040204" pitchFamily="34" charset="0"/>
            </a:endParaRPr>
          </a:p>
          <a:p>
            <a:r>
              <a:rPr lang="zh-CN" altLang="en-US" dirty="0">
                <a:latin typeface="Tahoma" panose="020B0604030504040204" pitchFamily="34" charset="0"/>
              </a:rPr>
              <a:t>问题分析：</a:t>
            </a:r>
            <a:endParaRPr lang="en-US" altLang="zh-CN" dirty="0">
              <a:latin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2">
                <a:extLst>
                  <a:ext uri="{FF2B5EF4-FFF2-40B4-BE49-F238E27FC236}">
                    <a16:creationId xmlns:a16="http://schemas.microsoft.com/office/drawing/2014/main" id="{4B53BB9B-7F6C-4FAC-B0E3-DDCC1B52099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450806" y="3424056"/>
                <a:ext cx="7646783" cy="194783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77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zh-CN" altLang="en-US" dirty="0">
                    <a:latin typeface="Tahoma" panose="020B0604030504040204" pitchFamily="34" charset="0"/>
                  </a:rPr>
                  <a:t>递归公式</a:t>
                </a:r>
                <a:endParaRPr lang="en-US" altLang="zh-CN" dirty="0">
                  <a:latin typeface="Tahoma" panose="020B060403050404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𝑟𝑑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返回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                                         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==0</m:t>
                              </m:r>
                            </m:e>
                            <m:e/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𝑐𝑜𝑢𝑡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≪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&amp;%10,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𝑟𝑑</m:t>
                              </m:r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num>
                                    <m:den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       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≠0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内容占位符 2">
                <a:extLst>
                  <a:ext uri="{FF2B5EF4-FFF2-40B4-BE49-F238E27FC236}">
                    <a16:creationId xmlns:a16="http://schemas.microsoft.com/office/drawing/2014/main" id="{4B53BB9B-7F6C-4FAC-B0E3-DDCC1B5209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0806" y="3424056"/>
                <a:ext cx="7646783" cy="1947834"/>
              </a:xfrm>
              <a:prstGeom prst="rect">
                <a:avLst/>
              </a:prstGeom>
              <a:blipFill>
                <a:blip r:embed="rId3"/>
                <a:stretch>
                  <a:fillRect t="-19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6868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  <a:latin typeface="+mj-ea"/>
              </a:rPr>
              <a:t>课堂实例</a:t>
            </a:r>
            <a:r>
              <a:rPr lang="en-US" altLang="zh-CN" dirty="0">
                <a:solidFill>
                  <a:schemeClr val="bg1"/>
                </a:solidFill>
                <a:latin typeface="+mj-ea"/>
              </a:rPr>
              <a:t>6</a:t>
            </a:r>
            <a:r>
              <a:rPr lang="zh-CN" altLang="en-US" dirty="0">
                <a:solidFill>
                  <a:schemeClr val="bg1"/>
                </a:solidFill>
                <a:latin typeface="+mj-ea"/>
              </a:rPr>
              <a:t>：分解质因数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186612" cy="1707664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+mn-ea"/>
              </a:rPr>
              <a:t>输入一个正整数 </a:t>
            </a:r>
            <a:r>
              <a:rPr lang="en-US" altLang="zh-CN" dirty="0">
                <a:latin typeface="+mn-ea"/>
              </a:rPr>
              <a:t>n</a:t>
            </a:r>
            <a:r>
              <a:rPr lang="zh-CN" altLang="en-US" dirty="0">
                <a:latin typeface="+mn-ea"/>
              </a:rPr>
              <a:t>，用递归方法从小到大输出该数所有的质因子。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输入样例：</a:t>
            </a:r>
            <a:r>
              <a:rPr lang="en-US" altLang="zh-CN" dirty="0">
                <a:latin typeface="+mn-ea"/>
              </a:rPr>
              <a:t>18</a:t>
            </a:r>
          </a:p>
          <a:p>
            <a:r>
              <a:rPr lang="zh-CN" altLang="en-US" dirty="0">
                <a:latin typeface="+mn-ea"/>
              </a:rPr>
              <a:t>输出样例：</a:t>
            </a:r>
            <a:r>
              <a:rPr lang="en-US" altLang="zh-CN" dirty="0">
                <a:latin typeface="+mn-ea"/>
              </a:rPr>
              <a:t>2 3 3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2">
                <a:extLst>
                  <a:ext uri="{FF2B5EF4-FFF2-40B4-BE49-F238E27FC236}">
                    <a16:creationId xmlns:a16="http://schemas.microsoft.com/office/drawing/2014/main" id="{4B53BB9B-7F6C-4FAC-B0E3-DDCC1B52099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48526" y="3429000"/>
                <a:ext cx="7646783" cy="292210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6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zh-CN" altLang="en-US" dirty="0">
                    <a:latin typeface="Tahoma" panose="020B0604030504040204" pitchFamily="34" charset="0"/>
                  </a:rPr>
                  <a:t>递归公式</a:t>
                </a:r>
                <a:endParaRPr lang="en-US" altLang="zh-CN" dirty="0">
                  <a:latin typeface="Tahoma" panose="020B060403050404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𝑧𝑦𝑠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==1; 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返回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                                                                  </m:t>
                              </m:r>
                            </m:e>
                            <m:e/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&gt;1           </m:t>
                              </m:r>
                              <m:d>
                                <m:dPr>
                                  <m:begChr m:val="{"/>
                                  <m:endChr m:val="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eqArr>
                                    <m:eqArr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 % 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==0   </m:t>
                                      </m:r>
                                      <m:d>
                                        <m:dPr>
                                          <m:begChr m:val="{"/>
                                          <m:endChr m:val=""/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eqArr>
                                            <m:eqArrPr>
                                              <m:ctrlPr>
                                                <a:rPr lang="en-US" altLang="zh-CN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eqArrPr>
                                            <m:e>
                                              <m:r>
                                                <a:rPr lang="en-US" altLang="zh-CN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𝑝𝑟𝑖𝑛𝑡</m:t>
                                              </m:r>
                                              <m:r>
                                                <a:rPr lang="en-US" altLang="zh-CN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 (</m:t>
                                              </m:r>
                                              <m:r>
                                                <a:rPr lang="en-US" altLang="zh-CN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  <m:r>
                                                <a:rPr lang="en-US" altLang="zh-CN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e>
                                            <m:e/>
                                            <m:e>
                                              <m:r>
                                                <a:rPr lang="en-US" altLang="zh-CN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𝑧𝑦𝑠</m:t>
                                              </m:r>
                                              <m:r>
                                                <a:rPr lang="en-US" altLang="zh-CN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en-US" altLang="zh-CN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  <m:r>
                                                <a:rPr lang="en-US" altLang="zh-CN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/</m:t>
                                              </m:r>
                                              <m:r>
                                                <a:rPr lang="en-US" altLang="zh-CN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  <m:r>
                                                <a:rPr lang="en-US" altLang="zh-CN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altLang="zh-CN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  <m:r>
                                                <a:rPr lang="en-US" altLang="zh-CN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e>
                                          </m:eqArr>
                                        </m:e>
                                      </m:d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             </m:t>
                                      </m:r>
                                    </m:e>
                                    <m:e/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 % 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≠0                  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𝑧𝑦𝑠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+1)</m:t>
                                      </m:r>
                                    </m:e>
                                  </m:eqArr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内容占位符 2">
                <a:extLst>
                  <a:ext uri="{FF2B5EF4-FFF2-40B4-BE49-F238E27FC236}">
                    <a16:creationId xmlns:a16="http://schemas.microsoft.com/office/drawing/2014/main" id="{4B53BB9B-7F6C-4FAC-B0E3-DDCC1B5209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8526" y="3429000"/>
                <a:ext cx="7646783" cy="2922104"/>
              </a:xfrm>
              <a:prstGeom prst="rect">
                <a:avLst/>
              </a:prstGeom>
              <a:blipFill>
                <a:blip r:embed="rId3"/>
                <a:stretch>
                  <a:fillRect t="-28139" b="-662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7485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  <a:latin typeface="+mn-ea"/>
                <a:ea typeface="+mn-ea"/>
              </a:rPr>
              <a:t>课堂实例</a:t>
            </a:r>
            <a:r>
              <a:rPr lang="en-US" altLang="zh-CN" dirty="0">
                <a:solidFill>
                  <a:schemeClr val="bg1"/>
                </a:solidFill>
                <a:latin typeface="+mn-ea"/>
                <a:ea typeface="+mn-ea"/>
              </a:rPr>
              <a:t>7</a:t>
            </a:r>
            <a:r>
              <a:rPr lang="zh-CN" altLang="en-US" dirty="0">
                <a:solidFill>
                  <a:schemeClr val="bg1"/>
                </a:solidFill>
                <a:latin typeface="+mn-ea"/>
                <a:ea typeface="+mn-ea"/>
              </a:rPr>
              <a:t>：角谷猜想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09"/>
            <a:ext cx="10186612" cy="4914691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+mn-ea"/>
              </a:rPr>
              <a:t>日本一位中学生发现一个奇妙的定理，请角谷教授证明，教授无能为力，于是产生了角谷猜想。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任给一个自然数，若为偶数则除以</a:t>
            </a:r>
            <a:r>
              <a:rPr lang="en-US" altLang="zh-CN" dirty="0">
                <a:latin typeface="+mn-ea"/>
              </a:rPr>
              <a:t>2</a:t>
            </a:r>
            <a:r>
              <a:rPr lang="zh-CN" altLang="en-US" dirty="0">
                <a:latin typeface="+mn-ea"/>
              </a:rPr>
              <a:t>，若为奇数则乘</a:t>
            </a:r>
            <a:r>
              <a:rPr lang="en-US" altLang="zh-CN" dirty="0">
                <a:latin typeface="+mn-ea"/>
              </a:rPr>
              <a:t>3</a:t>
            </a:r>
            <a:r>
              <a:rPr lang="zh-CN" altLang="en-US" dirty="0">
                <a:latin typeface="+mn-ea"/>
              </a:rPr>
              <a:t>加</a:t>
            </a:r>
            <a:r>
              <a:rPr lang="en-US" altLang="zh-CN" dirty="0">
                <a:latin typeface="+mn-ea"/>
              </a:rPr>
              <a:t>1</a:t>
            </a:r>
            <a:r>
              <a:rPr lang="zh-CN" altLang="en-US" dirty="0">
                <a:latin typeface="+mn-ea"/>
              </a:rPr>
              <a:t>，得到一个新的自然数后按上面的法则继续演算。若干次以后得到的结果必为</a:t>
            </a:r>
            <a:r>
              <a:rPr lang="en-US" altLang="zh-CN" dirty="0">
                <a:latin typeface="+mn-ea"/>
              </a:rPr>
              <a:t>1</a:t>
            </a:r>
            <a:r>
              <a:rPr lang="zh-CN" altLang="en-US" dirty="0">
                <a:latin typeface="+mn-ea"/>
              </a:rPr>
              <a:t>。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如，对于 </a:t>
            </a:r>
            <a:r>
              <a:rPr lang="en-US" altLang="zh-CN" dirty="0">
                <a:latin typeface="+mn-ea"/>
              </a:rPr>
              <a:t>22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  22/2=11  11</a:t>
            </a:r>
            <a:r>
              <a:rPr lang="zh-CN" altLang="en-US" dirty="0">
                <a:latin typeface="+mn-ea"/>
              </a:rPr>
              <a:t>*</a:t>
            </a:r>
            <a:r>
              <a:rPr lang="en-US" altLang="zh-CN" dirty="0">
                <a:latin typeface="+mn-ea"/>
              </a:rPr>
              <a:t>3+1=34  34/2=17  17*3+1=52  52/2=26  26/2=13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  13*3+1=40  40/2=20  20/2=10  10/2=5  5*3+1=16  16/2=8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  8/2=4  4/2=2  2/2=1</a:t>
            </a:r>
          </a:p>
          <a:p>
            <a:r>
              <a:rPr lang="zh-CN" altLang="en-US" dirty="0">
                <a:latin typeface="+mn-ea"/>
              </a:rPr>
              <a:t>对于任意输入</a:t>
            </a:r>
            <a:r>
              <a:rPr lang="en-US" altLang="zh-CN" dirty="0">
                <a:latin typeface="+mn-ea"/>
              </a:rPr>
              <a:t>n</a:t>
            </a:r>
            <a:r>
              <a:rPr lang="zh-CN" altLang="en-US" dirty="0">
                <a:latin typeface="+mn-ea"/>
              </a:rPr>
              <a:t>，编程输出变成</a:t>
            </a:r>
            <a:r>
              <a:rPr lang="en-US" altLang="zh-CN" dirty="0">
                <a:latin typeface="+mn-ea"/>
              </a:rPr>
              <a:t>1</a:t>
            </a:r>
            <a:r>
              <a:rPr lang="zh-CN" altLang="en-US" dirty="0">
                <a:latin typeface="+mn-ea"/>
              </a:rPr>
              <a:t>的过程。</a:t>
            </a:r>
            <a:endParaRPr lang="en-US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897613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  <a:latin typeface="+mn-ea"/>
                <a:ea typeface="+mn-ea"/>
              </a:rPr>
              <a:t>课堂实例</a:t>
            </a:r>
            <a:r>
              <a:rPr lang="en-US" altLang="zh-CN" dirty="0">
                <a:solidFill>
                  <a:schemeClr val="bg1"/>
                </a:solidFill>
                <a:latin typeface="+mn-ea"/>
                <a:ea typeface="+mn-ea"/>
              </a:rPr>
              <a:t>7</a:t>
            </a:r>
            <a:r>
              <a:rPr lang="zh-CN" altLang="en-US" dirty="0">
                <a:solidFill>
                  <a:schemeClr val="bg1"/>
                </a:solidFill>
                <a:latin typeface="+mn-ea"/>
                <a:ea typeface="+mn-ea"/>
              </a:rPr>
              <a:t>：角谷猜想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2">
                <a:extLst>
                  <a:ext uri="{FF2B5EF4-FFF2-40B4-BE49-F238E27FC236}">
                    <a16:creationId xmlns:a16="http://schemas.microsoft.com/office/drawing/2014/main" id="{4B53BB9B-7F6C-4FAC-B0E3-DDCC1B52099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23240" y="1486111"/>
                <a:ext cx="8706221" cy="443285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77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zh-CN" altLang="en-US" dirty="0">
                    <a:latin typeface="Tahoma" panose="020B0604030504040204" pitchFamily="34" charset="0"/>
                  </a:rPr>
                  <a:t>递归公式</a:t>
                </a:r>
                <a:endParaRPr lang="en-US" altLang="zh-CN" dirty="0">
                  <a:latin typeface="Tahoma" panose="020B060403050404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𝑗𝑔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==1;   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𝑝𝑟𝑖𝑛𝑡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𝐸𝑛𝑑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                                                                  </m:t>
                              </m:r>
                            </m:e>
                            <m:e/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&gt;1                </m:t>
                              </m:r>
                              <m:d>
                                <m:dPr>
                                  <m:begChr m:val="{"/>
                                  <m:endChr m:val="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eqArr>
                                    <m:eqArr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 % 2==0              </m:t>
                                      </m:r>
                                      <m:d>
                                        <m:dPr>
                                          <m:begChr m:val="{"/>
                                          <m:endChr m:val=""/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eqArr>
                                            <m:eqArrPr>
                                              <m:ctrlPr>
                                                <a:rPr lang="en-US" altLang="zh-CN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eqArrPr>
                                            <m:e>
                                              <m:r>
                                                <a:rPr lang="en-US" altLang="zh-CN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𝑝𝑟𝑖𝑛𝑡</m:t>
                                              </m:r>
                                              <m:r>
                                                <a:rPr lang="en-US" altLang="zh-CN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US" altLang="zh-CN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  <m:r>
                                                <a:rPr lang="en-US" altLang="zh-CN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/2=…</m:t>
                                              </m:r>
                                            </m:e>
                                            <m:e/>
                                            <m:e>
                                              <m:r>
                                                <a:rPr lang="en-US" altLang="zh-CN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  </m:t>
                                              </m:r>
                                              <m:r>
                                                <a:rPr lang="en-US" altLang="zh-CN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𝑗𝑔</m:t>
                                              </m:r>
                                              <m:r>
                                                <a:rPr lang="en-US" altLang="zh-CN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en-US" altLang="zh-CN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  <m:r>
                                                <a:rPr lang="en-US" altLang="zh-CN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/2)</m:t>
                                              </m:r>
                                            </m:e>
                                          </m:eqArr>
                                        </m:e>
                                      </m:d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             </m:t>
                                      </m:r>
                                    </m:e>
                                    <m:e/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 % 2≠0            </m:t>
                                      </m:r>
                                      <m:d>
                                        <m:dPr>
                                          <m:begChr m:val="{"/>
                                          <m:endChr m:val=""/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eqArr>
                                            <m:eqArrPr>
                                              <m:ctrlPr>
                                                <a:rPr lang="en-US" altLang="zh-CN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eqArrPr>
                                            <m:e>
                                              <m:r>
                                                <a:rPr lang="en-US" altLang="zh-CN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𝑝𝑟𝑖𝑛𝑡</m:t>
                                              </m:r>
                                              <m:r>
                                                <a:rPr lang="en-US" altLang="zh-CN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US" altLang="zh-CN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  <m:r>
                                                <a:rPr lang="en-US" altLang="zh-CN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∗3+1=…</m:t>
                                              </m:r>
                                            </m:e>
                                            <m:e/>
                                            <m:e>
                                              <m:r>
                                                <a:rPr lang="en-US" altLang="zh-CN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𝑗𝑔</m:t>
                                              </m:r>
                                              <m:r>
                                                <a:rPr lang="en-US" altLang="zh-CN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en-US" altLang="zh-CN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  <m:r>
                                                <a:rPr lang="en-US" altLang="zh-CN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∗3+1)</m:t>
                                              </m:r>
                                            </m:e>
                                          </m:eqArr>
                                        </m:e>
                                      </m:d>
                                    </m:e>
                                  </m:eqArr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内容占位符 2">
                <a:extLst>
                  <a:ext uri="{FF2B5EF4-FFF2-40B4-BE49-F238E27FC236}">
                    <a16:creationId xmlns:a16="http://schemas.microsoft.com/office/drawing/2014/main" id="{4B53BB9B-7F6C-4FAC-B0E3-DDCC1B5209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240" y="1486111"/>
                <a:ext cx="8706221" cy="4432852"/>
              </a:xfrm>
              <a:prstGeom prst="rect">
                <a:avLst/>
              </a:prstGeom>
              <a:blipFill>
                <a:blip r:embed="rId3"/>
                <a:stretch>
                  <a:fillRect t="-20857" b="-74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3595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  <a:latin typeface="+mj-ea"/>
              </a:rPr>
              <a:t>课堂实例</a:t>
            </a:r>
            <a:r>
              <a:rPr lang="en-US" altLang="zh-CN" dirty="0">
                <a:solidFill>
                  <a:schemeClr val="bg1"/>
                </a:solidFill>
                <a:latin typeface="+mj-ea"/>
              </a:rPr>
              <a:t>8</a:t>
            </a:r>
            <a:r>
              <a:rPr lang="zh-CN" altLang="en-US" dirty="0">
                <a:solidFill>
                  <a:schemeClr val="bg1"/>
                </a:solidFill>
                <a:latin typeface="+mj-ea"/>
              </a:rPr>
              <a:t>：杨辉三角形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186612" cy="1707664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+mn-ea"/>
              </a:rPr>
              <a:t>右图是杨辉三角形，根据行号和列号，输出该行该列的值。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输入样例：</a:t>
            </a:r>
            <a:r>
              <a:rPr lang="en-US" altLang="zh-CN" dirty="0">
                <a:latin typeface="+mn-ea"/>
              </a:rPr>
              <a:t>4 2</a:t>
            </a:r>
          </a:p>
          <a:p>
            <a:r>
              <a:rPr lang="zh-CN" altLang="en-US" dirty="0">
                <a:latin typeface="+mn-ea"/>
              </a:rPr>
              <a:t>输出样例：</a:t>
            </a:r>
            <a:r>
              <a:rPr lang="en-US" altLang="zh-CN" dirty="0">
                <a:latin typeface="+mn-ea"/>
              </a:rPr>
              <a:t>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2">
                <a:extLst>
                  <a:ext uri="{FF2B5EF4-FFF2-40B4-BE49-F238E27FC236}">
                    <a16:creationId xmlns:a16="http://schemas.microsoft.com/office/drawing/2014/main" id="{4B53BB9B-7F6C-4FAC-B0E3-DDCC1B52099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8609" y="3420354"/>
                <a:ext cx="7646783" cy="292210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zh-CN" altLang="en-US" dirty="0">
                    <a:latin typeface="Tahoma" panose="020B0604030504040204" pitchFamily="34" charset="0"/>
                  </a:rPr>
                  <a:t>递归公式</a:t>
                </a:r>
                <a:endParaRPr lang="en-US" altLang="zh-CN" dirty="0">
                  <a:latin typeface="Tahoma" panose="020B060403050404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𝑦h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==0;   =1                                                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==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;   =1                                                 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𝑒𝑙𝑠𝑒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; 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𝑦h</m:t>
                              </m:r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−1,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𝑦h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−1,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)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内容占位符 2">
                <a:extLst>
                  <a:ext uri="{FF2B5EF4-FFF2-40B4-BE49-F238E27FC236}">
                    <a16:creationId xmlns:a16="http://schemas.microsoft.com/office/drawing/2014/main" id="{4B53BB9B-7F6C-4FAC-B0E3-DDCC1B5209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609" y="3420354"/>
                <a:ext cx="7646783" cy="2922104"/>
              </a:xfrm>
              <a:prstGeom prst="rect">
                <a:avLst/>
              </a:prstGeom>
              <a:blipFill>
                <a:blip r:embed="rId3"/>
                <a:stretch>
                  <a:fillRect t="-12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内容占位符 2">
            <a:extLst>
              <a:ext uri="{FF2B5EF4-FFF2-40B4-BE49-F238E27FC236}">
                <a16:creationId xmlns:a16="http://schemas.microsoft.com/office/drawing/2014/main" id="{77FFF625-3ADD-4535-8540-2D773D29404D}"/>
              </a:ext>
            </a:extLst>
          </p:cNvPr>
          <p:cNvSpPr txBox="1">
            <a:spLocks/>
          </p:cNvSpPr>
          <p:nvPr/>
        </p:nvSpPr>
        <p:spPr>
          <a:xfrm>
            <a:off x="8242853" y="1857893"/>
            <a:ext cx="3697356" cy="312492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>
                <a:latin typeface="Tahoma" panose="020B0604030504040204" pitchFamily="34" charset="0"/>
              </a:rPr>
              <a:t>               1</a:t>
            </a:r>
          </a:p>
          <a:p>
            <a:pPr marL="0" indent="0">
              <a:buNone/>
            </a:pPr>
            <a:r>
              <a:rPr lang="en-US" altLang="zh-CN" dirty="0">
                <a:latin typeface="Tahoma" panose="020B0604030504040204" pitchFamily="34" charset="0"/>
              </a:rPr>
              <a:t>            1     1</a:t>
            </a:r>
          </a:p>
          <a:p>
            <a:pPr marL="0" indent="0">
              <a:buNone/>
            </a:pPr>
            <a:r>
              <a:rPr lang="en-US" altLang="zh-CN" dirty="0">
                <a:latin typeface="Tahoma" panose="020B0604030504040204" pitchFamily="34" charset="0"/>
              </a:rPr>
              <a:t>         1     2     1</a:t>
            </a:r>
          </a:p>
          <a:p>
            <a:pPr marL="0" indent="0">
              <a:buNone/>
            </a:pPr>
            <a:r>
              <a:rPr lang="en-US" altLang="zh-CN" dirty="0">
                <a:latin typeface="Tahoma" panose="020B0604030504040204" pitchFamily="34" charset="0"/>
              </a:rPr>
              <a:t>      1    3      3     1</a:t>
            </a:r>
          </a:p>
          <a:p>
            <a:pPr marL="0" indent="0">
              <a:buNone/>
            </a:pPr>
            <a:r>
              <a:rPr lang="en-US" altLang="zh-CN" dirty="0">
                <a:latin typeface="Tahoma" panose="020B0604030504040204" pitchFamily="34" charset="0"/>
              </a:rPr>
              <a:t>   1    4     6     4      1</a:t>
            </a:r>
          </a:p>
          <a:p>
            <a:pPr marL="0" indent="0">
              <a:buNone/>
            </a:pPr>
            <a:r>
              <a:rPr lang="en-US" altLang="zh-CN" dirty="0">
                <a:latin typeface="Tahoma" panose="020B0604030504040204" pitchFamily="34" charset="0"/>
              </a:rPr>
              <a:t>1    5   10    10     5     1</a:t>
            </a:r>
          </a:p>
        </p:txBody>
      </p:sp>
    </p:spTree>
    <p:extLst>
      <p:ext uri="{BB962C8B-B14F-4D97-AF65-F5344CB8AC3E}">
        <p14:creationId xmlns:p14="http://schemas.microsoft.com/office/powerpoint/2010/main" val="3736921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  <a:latin typeface="+mj-ea"/>
              </a:rPr>
              <a:t>课堂实例</a:t>
            </a:r>
            <a:r>
              <a:rPr lang="en-US" altLang="zh-CN" dirty="0">
                <a:solidFill>
                  <a:schemeClr val="bg1"/>
                </a:solidFill>
                <a:latin typeface="+mj-ea"/>
              </a:rPr>
              <a:t>9</a:t>
            </a:r>
            <a:r>
              <a:rPr lang="zh-CN" altLang="en-US" dirty="0">
                <a:solidFill>
                  <a:schemeClr val="bg1"/>
                </a:solidFill>
                <a:latin typeface="+mj-ea"/>
              </a:rPr>
              <a:t>：求 </a:t>
            </a:r>
            <a:r>
              <a:rPr lang="en-US" altLang="zh-CN" cap="none" dirty="0" err="1">
                <a:solidFill>
                  <a:schemeClr val="bg1"/>
                </a:solidFill>
                <a:latin typeface="+mj-ea"/>
              </a:rPr>
              <a:t>x</a:t>
            </a:r>
            <a:r>
              <a:rPr lang="en-US" altLang="zh-CN" cap="none" baseline="30000" dirty="0" err="1">
                <a:solidFill>
                  <a:schemeClr val="bg1"/>
                </a:solidFill>
                <a:latin typeface="+mj-ea"/>
              </a:rPr>
              <a:t>n</a:t>
            </a:r>
            <a:endParaRPr lang="zh-CN" altLang="en-US" cap="none" baseline="30000" dirty="0">
              <a:solidFill>
                <a:schemeClr val="bg1"/>
              </a:solidFill>
              <a:latin typeface="+mj-ea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186612" cy="1707664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+mn-ea"/>
              </a:rPr>
              <a:t>用递归的方法求 </a:t>
            </a:r>
            <a:r>
              <a:rPr lang="en-US" altLang="zh-CN" dirty="0" err="1">
                <a:latin typeface="+mn-ea"/>
              </a:rPr>
              <a:t>x</a:t>
            </a:r>
            <a:r>
              <a:rPr lang="en-US" altLang="zh-CN" baseline="30000" dirty="0" err="1">
                <a:latin typeface="+mn-ea"/>
              </a:rPr>
              <a:t>n</a:t>
            </a:r>
            <a:r>
              <a:rPr lang="en-US" altLang="zh-CN" baseline="30000" dirty="0">
                <a:latin typeface="+mn-ea"/>
              </a:rPr>
              <a:t> </a:t>
            </a:r>
            <a:r>
              <a:rPr lang="en-US" altLang="zh-CN" dirty="0">
                <a:latin typeface="+mn-ea"/>
              </a:rPr>
              <a:t>(x!=0</a:t>
            </a:r>
            <a:r>
              <a:rPr lang="zh-CN" altLang="en-US" dirty="0">
                <a:latin typeface="+mn-ea"/>
              </a:rPr>
              <a:t>，</a:t>
            </a:r>
            <a:r>
              <a:rPr lang="en-US" altLang="zh-CN" dirty="0">
                <a:latin typeface="+mn-ea"/>
              </a:rPr>
              <a:t>n</a:t>
            </a:r>
            <a:r>
              <a:rPr lang="zh-CN" altLang="en-US" dirty="0">
                <a:latin typeface="+mn-ea"/>
              </a:rPr>
              <a:t>为整数</a:t>
            </a:r>
            <a:r>
              <a:rPr lang="en-US" altLang="zh-CN" dirty="0">
                <a:latin typeface="+mn-ea"/>
              </a:rPr>
              <a:t>)</a:t>
            </a:r>
          </a:p>
          <a:p>
            <a:r>
              <a:rPr lang="zh-CN" altLang="en-US" dirty="0">
                <a:latin typeface="+mn-ea"/>
              </a:rPr>
              <a:t>输入样例：</a:t>
            </a:r>
            <a:r>
              <a:rPr lang="en-US" altLang="zh-CN" dirty="0">
                <a:latin typeface="+mn-ea"/>
              </a:rPr>
              <a:t>4 2</a:t>
            </a:r>
          </a:p>
          <a:p>
            <a:r>
              <a:rPr lang="zh-CN" altLang="en-US" dirty="0">
                <a:latin typeface="+mn-ea"/>
              </a:rPr>
              <a:t>输出样例：</a:t>
            </a:r>
            <a:r>
              <a:rPr lang="en-US" altLang="zh-CN" dirty="0">
                <a:latin typeface="+mn-ea"/>
              </a:rPr>
              <a:t>16.00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2">
                <a:extLst>
                  <a:ext uri="{FF2B5EF4-FFF2-40B4-BE49-F238E27FC236}">
                    <a16:creationId xmlns:a16="http://schemas.microsoft.com/office/drawing/2014/main" id="{4B53BB9B-7F6C-4FAC-B0E3-DDCC1B52099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8609" y="3420354"/>
                <a:ext cx="7646783" cy="292210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zh-CN" altLang="en-US" dirty="0">
                    <a:latin typeface="Tahoma" panose="020B0604030504040204" pitchFamily="34" charset="0"/>
                  </a:rPr>
                  <a:t>递归公式</a:t>
                </a:r>
                <a:endParaRPr lang="en-US" altLang="zh-CN" dirty="0">
                  <a:latin typeface="Tahoma" panose="020B060403050404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 ∗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;    (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&gt;0)                            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1;                               </m:t>
                              </m:r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==0</m:t>
                                  </m:r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                         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;        </m:t>
                              </m:r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&lt;0</m:t>
                                  </m:r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      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内容占位符 2">
                <a:extLst>
                  <a:ext uri="{FF2B5EF4-FFF2-40B4-BE49-F238E27FC236}">
                    <a16:creationId xmlns:a16="http://schemas.microsoft.com/office/drawing/2014/main" id="{4B53BB9B-7F6C-4FAC-B0E3-DDCC1B5209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609" y="3420354"/>
                <a:ext cx="7646783" cy="2922104"/>
              </a:xfrm>
              <a:prstGeom prst="rect">
                <a:avLst/>
              </a:prstGeom>
              <a:blipFill>
                <a:blip r:embed="rId3"/>
                <a:stretch>
                  <a:fillRect t="-12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6787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  <a:latin typeface="+mj-ea"/>
              </a:rPr>
              <a:t>课堂实例</a:t>
            </a:r>
            <a:r>
              <a:rPr lang="en-US" altLang="zh-CN" dirty="0">
                <a:solidFill>
                  <a:schemeClr val="bg1"/>
                </a:solidFill>
                <a:latin typeface="+mj-ea"/>
              </a:rPr>
              <a:t>9</a:t>
            </a:r>
            <a:r>
              <a:rPr lang="zh-CN" altLang="en-US" dirty="0">
                <a:solidFill>
                  <a:schemeClr val="bg1"/>
                </a:solidFill>
                <a:latin typeface="+mj-ea"/>
              </a:rPr>
              <a:t>：求 </a:t>
            </a:r>
            <a:r>
              <a:rPr lang="en-US" altLang="zh-CN" cap="none" dirty="0" err="1">
                <a:solidFill>
                  <a:schemeClr val="bg1"/>
                </a:solidFill>
                <a:latin typeface="+mj-ea"/>
              </a:rPr>
              <a:t>x</a:t>
            </a:r>
            <a:r>
              <a:rPr lang="en-US" altLang="zh-CN" cap="none" baseline="30000" dirty="0" err="1">
                <a:solidFill>
                  <a:schemeClr val="bg1"/>
                </a:solidFill>
                <a:latin typeface="+mj-ea"/>
              </a:rPr>
              <a:t>n</a:t>
            </a:r>
            <a:endParaRPr lang="zh-CN" altLang="en-US" cap="none" baseline="30000" dirty="0">
              <a:solidFill>
                <a:schemeClr val="bg1"/>
              </a:solidFill>
              <a:latin typeface="+mj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7FFE77D-78A4-8F14-7C98-8F979F39E9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568" y="1378226"/>
            <a:ext cx="9223561" cy="524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0810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  <a:latin typeface="+mj-ea"/>
              </a:rPr>
              <a:t>课堂实例</a:t>
            </a:r>
            <a:r>
              <a:rPr lang="en-US" altLang="zh-CN" dirty="0">
                <a:solidFill>
                  <a:schemeClr val="bg1"/>
                </a:solidFill>
                <a:latin typeface="+mj-ea"/>
              </a:rPr>
              <a:t>10</a:t>
            </a:r>
            <a:r>
              <a:rPr lang="zh-CN" altLang="en-US" dirty="0">
                <a:solidFill>
                  <a:schemeClr val="bg1"/>
                </a:solidFill>
                <a:latin typeface="+mj-ea"/>
              </a:rPr>
              <a:t>：求 </a:t>
            </a:r>
            <a:r>
              <a:rPr lang="en-US" altLang="zh-CN" cap="none" dirty="0" err="1">
                <a:solidFill>
                  <a:schemeClr val="bg1"/>
                </a:solidFill>
                <a:latin typeface="+mj-ea"/>
              </a:rPr>
              <a:t>ackman</a:t>
            </a:r>
            <a:r>
              <a:rPr lang="en-US" altLang="zh-CN" dirty="0">
                <a:solidFill>
                  <a:schemeClr val="bg1"/>
                </a:solidFill>
                <a:latin typeface="+mj-ea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+mj-ea"/>
              </a:rPr>
              <a:t>函数值</a:t>
            </a:r>
            <a:endParaRPr lang="zh-CN" altLang="en-US" cap="none" baseline="30000" dirty="0">
              <a:solidFill>
                <a:schemeClr val="bg1"/>
              </a:solidFill>
              <a:latin typeface="+mj-ea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186612" cy="753507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+mn-ea"/>
              </a:rPr>
              <a:t>Ackman</a:t>
            </a:r>
            <a:r>
              <a:rPr lang="zh-CN" altLang="en-US" dirty="0">
                <a:latin typeface="+mn-ea"/>
              </a:rPr>
              <a:t>函数的定义如下：</a:t>
            </a:r>
            <a:endParaRPr lang="en-US" altLang="zh-CN" dirty="0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2">
                <a:extLst>
                  <a:ext uri="{FF2B5EF4-FFF2-40B4-BE49-F238E27FC236}">
                    <a16:creationId xmlns:a16="http://schemas.microsoft.com/office/drawing/2014/main" id="{4B53BB9B-7F6C-4FAC-B0E3-DDCC1B52099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08696" y="2449786"/>
                <a:ext cx="7646783" cy="292210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𝑎𝑐𝑘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+1;                                 (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==0)            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𝑎𝑐𝑘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−1,1);                        </m:t>
                              </m:r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==0</m:t>
                                  </m:r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      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𝑎𝑐𝑘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−1,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𝑎𝑐𝑘</m:t>
                              </m:r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);       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𝑒𝑙𝑠𝑒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内容占位符 2">
                <a:extLst>
                  <a:ext uri="{FF2B5EF4-FFF2-40B4-BE49-F238E27FC236}">
                    <a16:creationId xmlns:a16="http://schemas.microsoft.com/office/drawing/2014/main" id="{4B53BB9B-7F6C-4FAC-B0E3-DDCC1B5209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8696" y="2449786"/>
                <a:ext cx="7646783" cy="29221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内容占位符 2">
            <a:extLst>
              <a:ext uri="{FF2B5EF4-FFF2-40B4-BE49-F238E27FC236}">
                <a16:creationId xmlns:a16="http://schemas.microsoft.com/office/drawing/2014/main" id="{D702AE77-E85F-440E-B4F3-71AEE296FD74}"/>
              </a:ext>
            </a:extLst>
          </p:cNvPr>
          <p:cNvSpPr txBox="1">
            <a:spLocks/>
          </p:cNvSpPr>
          <p:nvPr/>
        </p:nvSpPr>
        <p:spPr>
          <a:xfrm>
            <a:off x="3421813" y="4618384"/>
            <a:ext cx="4211440" cy="753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>
                <a:latin typeface="Tahoma" panose="020B0604030504040204" pitchFamily="34" charset="0"/>
              </a:rPr>
              <a:t>试用递归的方式计算该函数值</a:t>
            </a:r>
            <a:endParaRPr lang="en-US" altLang="zh-CN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94461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  <a:latin typeface="+mj-ea"/>
              </a:rPr>
              <a:t>课堂实例</a:t>
            </a:r>
            <a:r>
              <a:rPr lang="en-US" altLang="zh-CN" dirty="0">
                <a:solidFill>
                  <a:schemeClr val="bg1"/>
                </a:solidFill>
                <a:latin typeface="+mj-ea"/>
              </a:rPr>
              <a:t>11</a:t>
            </a:r>
            <a:r>
              <a:rPr lang="zh-CN" altLang="en-US" dirty="0">
                <a:solidFill>
                  <a:schemeClr val="bg1"/>
                </a:solidFill>
                <a:latin typeface="+mj-ea"/>
              </a:rPr>
              <a:t>：波兰表达式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186612" cy="5371890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+mn-ea"/>
              </a:rPr>
              <a:t>波兰表达式也叫前缀表达式，是一种把运算符前置的算术表达式，例如普通的表达式</a:t>
            </a:r>
            <a:r>
              <a:rPr lang="en-US" altLang="zh-CN" dirty="0">
                <a:latin typeface="+mn-ea"/>
              </a:rPr>
              <a:t>2 + 3</a:t>
            </a:r>
            <a:r>
              <a:rPr lang="zh-CN" altLang="en-US" dirty="0">
                <a:latin typeface="+mn-ea"/>
              </a:rPr>
              <a:t>的波兰表示法为</a:t>
            </a:r>
            <a:r>
              <a:rPr lang="en-US" altLang="zh-CN" dirty="0">
                <a:latin typeface="+mn-ea"/>
              </a:rPr>
              <a:t>+ 2 3</a:t>
            </a:r>
            <a:r>
              <a:rPr lang="zh-CN" altLang="en-US" dirty="0">
                <a:latin typeface="+mn-ea"/>
              </a:rPr>
              <a:t>。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波兰表达式的优点是运算符之间不必有优先级关系，也不必用括号改变运算次序，例如 </a:t>
            </a:r>
            <a:r>
              <a:rPr lang="en-US" altLang="zh-CN" dirty="0">
                <a:latin typeface="+mn-ea"/>
              </a:rPr>
              <a:t>(2 + 3) * 4 </a:t>
            </a:r>
            <a:r>
              <a:rPr lang="zh-CN" altLang="en-US" dirty="0">
                <a:latin typeface="+mn-ea"/>
              </a:rPr>
              <a:t>的波兰表示法为* </a:t>
            </a:r>
            <a:r>
              <a:rPr lang="en-US" altLang="zh-CN" dirty="0">
                <a:latin typeface="+mn-ea"/>
              </a:rPr>
              <a:t>+ 2 3 4</a:t>
            </a:r>
            <a:r>
              <a:rPr lang="zh-CN" altLang="en-US" dirty="0">
                <a:latin typeface="+mn-ea"/>
              </a:rPr>
              <a:t>。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本题求解波兰表达式的值，其中运算符包括</a:t>
            </a:r>
            <a:r>
              <a:rPr lang="en-US" altLang="zh-CN" dirty="0">
                <a:latin typeface="+mn-ea"/>
              </a:rPr>
              <a:t>+ - * /</a:t>
            </a:r>
            <a:r>
              <a:rPr lang="zh-CN" altLang="en-US" dirty="0">
                <a:latin typeface="+mn-ea"/>
              </a:rPr>
              <a:t>四个。</a:t>
            </a:r>
            <a:endParaRPr lang="en-US" altLang="zh-CN" dirty="0">
              <a:latin typeface="+mn-ea"/>
            </a:endParaRPr>
          </a:p>
          <a:p>
            <a:endParaRPr lang="en-US" altLang="zh-CN" dirty="0">
              <a:latin typeface="+mn-ea"/>
            </a:endParaRP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(2+3) * 4 + (3+5) / (2+6)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+  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* + 2 3 4  </a:t>
            </a:r>
            <a:r>
              <a:rPr lang="en-US" altLang="zh-CN" dirty="0">
                <a:solidFill>
                  <a:schemeClr val="bg2">
                    <a:lumMod val="60000"/>
                    <a:lumOff val="40000"/>
                  </a:schemeClr>
                </a:solidFill>
                <a:latin typeface="+mn-ea"/>
              </a:rPr>
              <a:t>/ + 3 5 + 2 6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+  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* </a:t>
            </a:r>
            <a:r>
              <a:rPr lang="en-US" altLang="zh-CN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+ 2 3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4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  </a:t>
            </a:r>
            <a:r>
              <a:rPr lang="en-US" altLang="zh-CN" dirty="0">
                <a:solidFill>
                  <a:schemeClr val="bg2">
                    <a:lumMod val="60000"/>
                    <a:lumOff val="40000"/>
                  </a:schemeClr>
                </a:solidFill>
                <a:latin typeface="+mn-ea"/>
              </a:rPr>
              <a:t>/ + 3 5 + 2 6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+  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* </a:t>
            </a:r>
            <a:r>
              <a:rPr lang="en-US" altLang="zh-CN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+ 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latin typeface="+mn-ea"/>
              </a:rPr>
              <a:t>2</a:t>
            </a:r>
            <a:r>
              <a:rPr lang="en-US" altLang="zh-CN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3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4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  </a:t>
            </a:r>
            <a:r>
              <a:rPr lang="en-US" altLang="zh-CN" dirty="0">
                <a:solidFill>
                  <a:schemeClr val="bg2">
                    <a:lumMod val="60000"/>
                    <a:lumOff val="40000"/>
                  </a:schemeClr>
                </a:solidFill>
                <a:latin typeface="+mn-ea"/>
              </a:rPr>
              <a:t>/ + 3 5 + 2 6</a:t>
            </a:r>
          </a:p>
        </p:txBody>
      </p:sp>
    </p:spTree>
    <p:extLst>
      <p:ext uri="{BB962C8B-B14F-4D97-AF65-F5344CB8AC3E}">
        <p14:creationId xmlns:p14="http://schemas.microsoft.com/office/powerpoint/2010/main" val="4122596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  <a:latin typeface="+mj-ea"/>
              </a:rPr>
              <a:t>课堂实例</a:t>
            </a:r>
            <a:r>
              <a:rPr lang="en-US" altLang="zh-CN" dirty="0">
                <a:solidFill>
                  <a:schemeClr val="bg1"/>
                </a:solidFill>
                <a:latin typeface="+mj-ea"/>
              </a:rPr>
              <a:t>12</a:t>
            </a:r>
            <a:r>
              <a:rPr lang="zh-CN" altLang="en-US" dirty="0">
                <a:solidFill>
                  <a:schemeClr val="bg1"/>
                </a:solidFill>
                <a:latin typeface="+mj-ea"/>
              </a:rPr>
              <a:t>：分解因数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2" y="1486110"/>
                <a:ext cx="10186612" cy="5282749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>
                    <a:latin typeface="+mn-ea"/>
                  </a:rPr>
                  <a:t>给出一个正整数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>
                    <a:latin typeface="+mn-ea"/>
                  </a:rPr>
                  <a:t>，要求分解成若干个正整数的乘积，即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×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>
                    <a:latin typeface="+mn-ea"/>
                  </a:rPr>
                  <a:t>，并且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1&lt;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≤…≤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n-ea"/>
                  </a:rPr>
                  <a:t>，问这样的分解的种数有多少。注意到</a:t>
                </a:r>
                <a:r>
                  <a:rPr lang="en-US" altLang="zh-CN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dirty="0">
                    <a:latin typeface="+mn-ea"/>
                  </a:rPr>
                  <a:t> </a:t>
                </a:r>
                <a:r>
                  <a:rPr lang="zh-CN" altLang="en-US" dirty="0">
                    <a:latin typeface="+mn-ea"/>
                  </a:rPr>
                  <a:t>也是一种分解。</a:t>
                </a:r>
                <a:endParaRPr lang="en-US" altLang="zh-CN" dirty="0">
                  <a:latin typeface="+mn-ea"/>
                </a:endParaRP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𝑓𝑗</m:t>
                        </m:r>
                      </m:fName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𝑟𝑒𝑚𝑎𝑖𝑛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𝑝𝑟𝑒</m:t>
                            </m:r>
                          </m:e>
                        </m:d>
                      </m:e>
                    </m:func>
                  </m:oMath>
                </a14:m>
                <a:r>
                  <a:rPr lang="en-US" altLang="zh-CN" dirty="0">
                    <a:latin typeface="+mn-ea"/>
                  </a:rPr>
                  <a:t> </a:t>
                </a:r>
                <a:r>
                  <a:rPr lang="zh-CN" altLang="en-US" dirty="0">
                    <a:latin typeface="+mn-ea"/>
                  </a:rPr>
                  <a:t>表示当前数字为</a:t>
                </a:r>
                <a:r>
                  <a:rPr lang="en-US" altLang="zh-CN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𝑟𝑒𝑚𝑎𝑖𝑛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>
                    <a:latin typeface="+mn-ea"/>
                  </a:rPr>
                  <a:t>，下一个约数不小于</a:t>
                </a:r>
                <a:r>
                  <a:rPr lang="en-US" altLang="zh-CN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𝑝𝑟𝑒</m:t>
                    </m:r>
                  </m:oMath>
                </a14:m>
                <a:r>
                  <a:rPr lang="en-US" altLang="zh-CN" dirty="0">
                    <a:latin typeface="+mn-ea"/>
                  </a:rPr>
                  <a:t> </a:t>
                </a:r>
                <a:r>
                  <a:rPr lang="zh-CN" altLang="en-US" dirty="0">
                    <a:latin typeface="+mn-ea"/>
                  </a:rPr>
                  <a:t>的分解。</a:t>
                </a:r>
                <a:endParaRPr lang="en-US" altLang="zh-CN" dirty="0">
                  <a:latin typeface="+mn-ea"/>
                </a:endParaRPr>
              </a:p>
              <a:p>
                <a:r>
                  <a:rPr lang="zh-CN" altLang="en-US" dirty="0">
                    <a:latin typeface="+mn-ea"/>
                  </a:rPr>
                  <a:t>递归公式 </a:t>
                </a:r>
                <a:r>
                  <a:rPr lang="en-US" altLang="zh-CN" dirty="0">
                    <a:latin typeface="+mn-ea"/>
                  </a:rPr>
                  <a:t>(</a:t>
                </a:r>
                <a:r>
                  <a:rPr lang="zh-CN" altLang="en-US" dirty="0">
                    <a:latin typeface="+mn-ea"/>
                  </a:rPr>
                  <a:t>过程</a:t>
                </a:r>
                <a:r>
                  <a:rPr lang="en-US" altLang="zh-CN" dirty="0">
                    <a:latin typeface="+mn-ea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altLang="zh-CN" dirty="0">
                    <a:latin typeface="+mn-ea"/>
                  </a:rPr>
                  <a:t>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𝑓𝑗</m:t>
                        </m:r>
                      </m:fName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𝑟𝑒𝑚𝑎𝑖𝑛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𝑝𝑟𝑒</m:t>
                            </m:r>
                          </m:e>
                        </m:d>
                      </m:e>
                    </m:fun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++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𝑎𝑛𝑠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                       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𝑟𝑒𝑚𝑎𝑖𝑛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==1</m:t>
                            </m:r>
                          </m:e>
                          <m:e/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对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𝑝𝑟𝑒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的</m:t>
                            </m:r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约数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，</m:t>
                            </m:r>
                            <m:func>
                              <m:func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𝑓𝑗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𝑟𝑒𝑚𝑎𝑖𝑛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d>
                              </m:e>
                            </m:func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𝑒𝑙𝑠𝑒</m:t>
                            </m:r>
                          </m:e>
                        </m:eqArr>
                      </m:e>
                    </m:d>
                  </m:oMath>
                </a14:m>
                <a:endParaRPr lang="en-US" altLang="zh-CN" dirty="0">
                  <a:latin typeface="+mn-ea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2" y="1486110"/>
                <a:ext cx="10186612" cy="5282749"/>
              </a:xfrm>
              <a:blipFill>
                <a:blip r:embed="rId2"/>
                <a:stretch>
                  <a:fillRect l="-1245" t="-1683" r="-747" b="-584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58555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  <a:latin typeface="+mj-ea"/>
              </a:rPr>
              <a:t>课堂实例</a:t>
            </a:r>
            <a:r>
              <a:rPr lang="en-US" altLang="zh-CN" dirty="0">
                <a:solidFill>
                  <a:schemeClr val="bg1"/>
                </a:solidFill>
                <a:latin typeface="+mj-ea"/>
              </a:rPr>
              <a:t>12</a:t>
            </a:r>
            <a:r>
              <a:rPr lang="zh-CN" altLang="en-US" dirty="0">
                <a:solidFill>
                  <a:schemeClr val="bg1"/>
                </a:solidFill>
                <a:latin typeface="+mj-ea"/>
              </a:rPr>
              <a:t>：分解因数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2" y="1486110"/>
                <a:ext cx="10186612" cy="5282749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>
                    <a:latin typeface="Tahoma" panose="020B0604030504040204" pitchFamily="34" charset="0"/>
                  </a:rPr>
                  <a:t>解法二</a:t>
                </a:r>
                <a:endParaRPr lang="en-US" altLang="zh-CN" dirty="0">
                  <a:latin typeface="Tahoma" panose="020B0604030504040204" pitchFamily="34" charset="0"/>
                </a:endParaRP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𝑓𝑗</m:t>
                        </m:r>
                      </m:fName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e>
                    </m:func>
                  </m:oMath>
                </a14:m>
                <a:r>
                  <a:rPr lang="zh-CN" altLang="en-US" dirty="0">
                    <a:latin typeface="Tahoma" panose="020B0604030504040204" pitchFamily="34" charset="0"/>
                  </a:rPr>
                  <a:t> 表示数字为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>
                    <a:latin typeface="Tahoma" panose="020B0604030504040204" pitchFamily="34" charset="0"/>
                  </a:rPr>
                  <a:t>，约数不大于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dirty="0">
                    <a:latin typeface="Tahoma" panose="020B0604030504040204" pitchFamily="34" charset="0"/>
                  </a:rPr>
                  <a:t> 的分解</a:t>
                </a:r>
                <a:endParaRPr lang="en-US" altLang="zh-CN" dirty="0">
                  <a:latin typeface="Tahoma" panose="020B0604030504040204" pitchFamily="34" charset="0"/>
                </a:endParaRPr>
              </a:p>
              <a:p>
                <a:r>
                  <a:rPr lang="zh-CN" altLang="en-US" dirty="0">
                    <a:latin typeface="Tahoma" panose="020B0604030504040204" pitchFamily="34" charset="0"/>
                  </a:rPr>
                  <a:t>递归公式 </a:t>
                </a:r>
                <a:r>
                  <a:rPr lang="en-US" altLang="zh-CN" dirty="0">
                    <a:latin typeface="Tahoma" panose="020B0604030504040204" pitchFamily="34" charset="0"/>
                  </a:rPr>
                  <a:t>(</a:t>
                </a:r>
                <a:r>
                  <a:rPr lang="zh-CN" altLang="en-US" dirty="0">
                    <a:latin typeface="Tahoma" panose="020B0604030504040204" pitchFamily="34" charset="0"/>
                  </a:rPr>
                  <a:t>过程</a:t>
                </a:r>
                <a:r>
                  <a:rPr lang="en-US" altLang="zh-CN" dirty="0">
                    <a:latin typeface="Tahoma" panose="020B0604030504040204" pitchFamily="34" charset="0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altLang="zh-CN" dirty="0">
                    <a:latin typeface="Tahoma" panose="020B0604030504040204" pitchFamily="34" charset="0"/>
                  </a:rPr>
                  <a:t>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𝑓𝑗</m:t>
                        </m:r>
                      </m:fName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e>
                    </m:fun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                                                       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0                                                        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𝑓𝑗</m:t>
                            </m:r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d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𝑓𝑗</m:t>
                            </m:r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      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%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  <m:e>
                            <m:func>
                              <m:func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𝑓𝑗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e>
                            </m:func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                             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%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≠0</m:t>
                            </m:r>
                          </m:e>
                        </m:eqArr>
                      </m:e>
                    </m:d>
                  </m:oMath>
                </a14:m>
                <a:endParaRPr lang="en-US" altLang="zh-CN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2" y="1486110"/>
                <a:ext cx="10186612" cy="5282749"/>
              </a:xfrm>
              <a:blipFill>
                <a:blip r:embed="rId2"/>
                <a:stretch>
                  <a:fillRect l="-1245" t="-16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59972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经典初探：汉诺塔问题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dirty="0">
                    <a:latin typeface="+mn-ea"/>
                  </a:rPr>
                  <a:t>设有三根针 </a:t>
                </a:r>
                <a:r>
                  <a:rPr lang="en-US" altLang="zh-CN" dirty="0">
                    <a:latin typeface="+mn-ea"/>
                  </a:rPr>
                  <a:t>A</a:t>
                </a:r>
                <a:r>
                  <a:rPr lang="zh-CN" altLang="en-US" dirty="0">
                    <a:latin typeface="+mn-ea"/>
                  </a:rPr>
                  <a:t>、</a:t>
                </a:r>
                <a:r>
                  <a:rPr lang="en-US" altLang="zh-CN" dirty="0">
                    <a:latin typeface="+mn-ea"/>
                  </a:rPr>
                  <a:t>B</a:t>
                </a:r>
                <a:r>
                  <a:rPr lang="zh-CN" altLang="en-US" dirty="0">
                    <a:latin typeface="+mn-ea"/>
                  </a:rPr>
                  <a:t>、</a:t>
                </a:r>
                <a:r>
                  <a:rPr lang="en-US" altLang="zh-CN" dirty="0">
                    <a:latin typeface="+mn-ea"/>
                  </a:rPr>
                  <a:t>C</a:t>
                </a:r>
                <a:r>
                  <a:rPr lang="zh-CN" altLang="en-US" dirty="0">
                    <a:latin typeface="+mn-ea"/>
                  </a:rPr>
                  <a:t>，有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>
                    <a:latin typeface="+mn-ea"/>
                  </a:rPr>
                  <a:t> </a:t>
                </a:r>
                <a:r>
                  <a:rPr lang="zh-CN" altLang="en-US" dirty="0">
                    <a:latin typeface="+mn-ea"/>
                  </a:rPr>
                  <a:t>个从小到大编号为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1,2,…,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>
                    <a:latin typeface="+mn-ea"/>
                  </a:rPr>
                  <a:t> 的盘子。初始状态是将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>
                    <a:latin typeface="+mn-ea"/>
                  </a:rPr>
                  <a:t> </a:t>
                </a:r>
                <a:r>
                  <a:rPr lang="zh-CN" altLang="en-US" dirty="0">
                    <a:latin typeface="+mn-ea"/>
                  </a:rPr>
                  <a:t>个盘子套在 </a:t>
                </a:r>
                <a:r>
                  <a:rPr lang="en-US" altLang="zh-CN" dirty="0">
                    <a:latin typeface="+mn-ea"/>
                  </a:rPr>
                  <a:t>A </a:t>
                </a:r>
                <a:r>
                  <a:rPr lang="zh-CN" altLang="en-US" dirty="0">
                    <a:latin typeface="+mn-ea"/>
                  </a:rPr>
                  <a:t>针上。要求按以下规则将 </a:t>
                </a:r>
                <a:r>
                  <a:rPr lang="en-US" altLang="zh-CN" dirty="0">
                    <a:latin typeface="+mn-ea"/>
                  </a:rPr>
                  <a:t>A </a:t>
                </a:r>
                <a:r>
                  <a:rPr lang="zh-CN" altLang="en-US" dirty="0">
                    <a:latin typeface="+mn-ea"/>
                  </a:rPr>
                  <a:t>针上的盘子搬到 </a:t>
                </a:r>
                <a:r>
                  <a:rPr lang="en-US" altLang="zh-CN" dirty="0">
                    <a:latin typeface="+mn-ea"/>
                  </a:rPr>
                  <a:t>C </a:t>
                </a:r>
                <a:r>
                  <a:rPr lang="zh-CN" altLang="en-US" dirty="0">
                    <a:latin typeface="+mn-ea"/>
                  </a:rPr>
                  <a:t>针上。</a:t>
                </a:r>
                <a:endParaRPr lang="en-US" altLang="zh-CN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+mn-ea"/>
                  </a:rPr>
                  <a:t>	1. </a:t>
                </a:r>
                <a:r>
                  <a:rPr lang="zh-CN" altLang="en-US" dirty="0">
                    <a:latin typeface="+mn-ea"/>
                  </a:rPr>
                  <a:t>每次只能移动针上的一个盘子</a:t>
                </a:r>
                <a:endParaRPr lang="en-US" altLang="zh-CN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+mn-ea"/>
                  </a:rPr>
                  <a:t>	2. </a:t>
                </a:r>
                <a:r>
                  <a:rPr lang="zh-CN" altLang="en-US" dirty="0">
                    <a:latin typeface="+mn-ea"/>
                  </a:rPr>
                  <a:t>大盘子不能压在小盘子的上面</a:t>
                </a:r>
                <a:endParaRPr lang="en-US" altLang="zh-CN" dirty="0">
                  <a:latin typeface="+mn-ea"/>
                </a:endParaRPr>
              </a:p>
              <a:p>
                <a:r>
                  <a:rPr lang="zh-CN" altLang="en-US" dirty="0">
                    <a:latin typeface="+mn-ea"/>
                  </a:rPr>
                  <a:t>分析：为了将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>
                    <a:latin typeface="+mn-ea"/>
                  </a:rPr>
                  <a:t> </a:t>
                </a:r>
                <a:r>
                  <a:rPr lang="zh-CN" altLang="en-US" dirty="0">
                    <a:latin typeface="+mn-ea"/>
                  </a:rPr>
                  <a:t>个盘子从 </a:t>
                </a:r>
                <a:r>
                  <a:rPr lang="en-US" altLang="zh-CN" dirty="0">
                    <a:latin typeface="+mn-ea"/>
                  </a:rPr>
                  <a:t>A </a:t>
                </a:r>
                <a:r>
                  <a:rPr lang="zh-CN" altLang="en-US" dirty="0">
                    <a:latin typeface="+mn-ea"/>
                  </a:rPr>
                  <a:t>经过 </a:t>
                </a:r>
                <a:r>
                  <a:rPr lang="en-US" altLang="zh-CN" dirty="0">
                    <a:latin typeface="+mn-ea"/>
                  </a:rPr>
                  <a:t>B </a:t>
                </a:r>
                <a:r>
                  <a:rPr lang="zh-CN" altLang="en-US" dirty="0">
                    <a:latin typeface="+mn-ea"/>
                  </a:rPr>
                  <a:t>移到 </a:t>
                </a:r>
                <a:r>
                  <a:rPr lang="en-US" altLang="zh-CN" dirty="0">
                    <a:latin typeface="+mn-ea"/>
                  </a:rPr>
                  <a:t>C</a:t>
                </a:r>
                <a:r>
                  <a:rPr lang="zh-CN" altLang="en-US" dirty="0">
                    <a:latin typeface="+mn-ea"/>
                  </a:rPr>
                  <a:t>，可以</a:t>
                </a:r>
                <a:r>
                  <a:rPr lang="zh-CN" altLang="en-US" dirty="0">
                    <a:solidFill>
                      <a:srgbClr val="FF0000"/>
                    </a:solidFill>
                    <a:latin typeface="+mn-ea"/>
                  </a:rPr>
                  <a:t>先将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zh-CN" dirty="0">
                    <a:solidFill>
                      <a:srgbClr val="FF0000"/>
                    </a:solidFill>
                    <a:latin typeface="+mn-ea"/>
                  </a:rPr>
                  <a:t> </a:t>
                </a:r>
                <a:r>
                  <a:rPr lang="zh-CN" altLang="en-US" dirty="0">
                    <a:solidFill>
                      <a:srgbClr val="FF0000"/>
                    </a:solidFill>
                    <a:latin typeface="+mn-ea"/>
                  </a:rPr>
                  <a:t>个盘子从 </a:t>
                </a:r>
                <a:r>
                  <a:rPr lang="en-US" altLang="zh-CN" dirty="0">
                    <a:solidFill>
                      <a:srgbClr val="FF0000"/>
                    </a:solidFill>
                    <a:latin typeface="+mn-ea"/>
                  </a:rPr>
                  <a:t>A </a:t>
                </a:r>
                <a:r>
                  <a:rPr lang="zh-CN" altLang="en-US" dirty="0">
                    <a:solidFill>
                      <a:srgbClr val="FF0000"/>
                    </a:solidFill>
                    <a:latin typeface="+mn-ea"/>
                  </a:rPr>
                  <a:t>经过 </a:t>
                </a:r>
                <a:r>
                  <a:rPr lang="en-US" altLang="zh-CN" dirty="0">
                    <a:solidFill>
                      <a:srgbClr val="FF0000"/>
                    </a:solidFill>
                    <a:latin typeface="+mn-ea"/>
                  </a:rPr>
                  <a:t>C </a:t>
                </a:r>
                <a:r>
                  <a:rPr lang="zh-CN" altLang="en-US" dirty="0">
                    <a:solidFill>
                      <a:srgbClr val="FF0000"/>
                    </a:solidFill>
                    <a:latin typeface="+mn-ea"/>
                  </a:rPr>
                  <a:t>移到 </a:t>
                </a:r>
                <a:r>
                  <a:rPr lang="en-US" altLang="zh-CN" dirty="0">
                    <a:solidFill>
                      <a:srgbClr val="FF0000"/>
                    </a:solidFill>
                    <a:latin typeface="+mn-ea"/>
                  </a:rPr>
                  <a:t>B</a:t>
                </a:r>
                <a:r>
                  <a:rPr lang="zh-CN" altLang="en-US" dirty="0">
                    <a:solidFill>
                      <a:srgbClr val="FF0000"/>
                    </a:solidFill>
                    <a:latin typeface="+mn-ea"/>
                  </a:rPr>
                  <a:t>，然后将 </a:t>
                </a:r>
                <a:r>
                  <a:rPr lang="en-US" altLang="zh-CN" dirty="0">
                    <a:solidFill>
                      <a:srgbClr val="FF0000"/>
                    </a:solidFill>
                    <a:latin typeface="+mn-ea"/>
                  </a:rPr>
                  <a:t>A </a:t>
                </a:r>
                <a:r>
                  <a:rPr lang="zh-CN" altLang="en-US" dirty="0">
                    <a:solidFill>
                      <a:srgbClr val="FF0000"/>
                    </a:solidFill>
                    <a:latin typeface="+mn-ea"/>
                  </a:rPr>
                  <a:t>中剩下的一个盘子移到 </a:t>
                </a:r>
                <a:r>
                  <a:rPr lang="en-US" altLang="zh-CN" dirty="0">
                    <a:solidFill>
                      <a:srgbClr val="FF0000"/>
                    </a:solidFill>
                    <a:latin typeface="+mn-ea"/>
                  </a:rPr>
                  <a:t>C</a:t>
                </a:r>
                <a:r>
                  <a:rPr lang="zh-CN" altLang="en-US" dirty="0">
                    <a:solidFill>
                      <a:srgbClr val="FF0000"/>
                    </a:solidFill>
                    <a:latin typeface="+mn-ea"/>
                  </a:rPr>
                  <a:t>，再将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zh-CN" dirty="0">
                    <a:solidFill>
                      <a:srgbClr val="FF0000"/>
                    </a:solidFill>
                    <a:latin typeface="+mn-ea"/>
                  </a:rPr>
                  <a:t> </a:t>
                </a:r>
                <a:r>
                  <a:rPr lang="zh-CN" altLang="en-US" dirty="0">
                    <a:solidFill>
                      <a:srgbClr val="FF0000"/>
                    </a:solidFill>
                    <a:latin typeface="+mn-ea"/>
                  </a:rPr>
                  <a:t>个盘子从 </a:t>
                </a:r>
                <a:r>
                  <a:rPr lang="en-US" altLang="zh-CN" dirty="0">
                    <a:solidFill>
                      <a:srgbClr val="FF0000"/>
                    </a:solidFill>
                    <a:latin typeface="+mn-ea"/>
                  </a:rPr>
                  <a:t>B </a:t>
                </a:r>
                <a:r>
                  <a:rPr lang="zh-CN" altLang="en-US" dirty="0">
                    <a:solidFill>
                      <a:srgbClr val="FF0000"/>
                    </a:solidFill>
                    <a:latin typeface="+mn-ea"/>
                  </a:rPr>
                  <a:t>经过</a:t>
                </a:r>
                <a:r>
                  <a:rPr lang="en-US" altLang="zh-CN" dirty="0">
                    <a:solidFill>
                      <a:srgbClr val="FF0000"/>
                    </a:solidFill>
                    <a:latin typeface="+mn-ea"/>
                  </a:rPr>
                  <a:t> A </a:t>
                </a:r>
                <a:r>
                  <a:rPr lang="zh-CN" altLang="en-US" dirty="0">
                    <a:solidFill>
                      <a:srgbClr val="FF0000"/>
                    </a:solidFill>
                    <a:latin typeface="+mn-ea"/>
                  </a:rPr>
                  <a:t>移到 </a:t>
                </a:r>
                <a:r>
                  <a:rPr lang="en-US" altLang="zh-CN" dirty="0">
                    <a:solidFill>
                      <a:srgbClr val="FF0000"/>
                    </a:solidFill>
                    <a:latin typeface="+mn-ea"/>
                  </a:rPr>
                  <a:t>C</a:t>
                </a:r>
                <a:r>
                  <a:rPr lang="zh-CN" altLang="en-US" dirty="0">
                    <a:latin typeface="+mn-ea"/>
                  </a:rPr>
                  <a:t>。这样将原来与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>
                    <a:latin typeface="+mn-ea"/>
                  </a:rPr>
                  <a:t> </a:t>
                </a:r>
                <a:r>
                  <a:rPr lang="zh-CN" altLang="en-US" dirty="0">
                    <a:latin typeface="+mn-ea"/>
                  </a:rPr>
                  <a:t>有关的问题变成了与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zh-CN" dirty="0">
                    <a:latin typeface="+mn-ea"/>
                  </a:rPr>
                  <a:t> </a:t>
                </a:r>
                <a:r>
                  <a:rPr lang="zh-CN" altLang="en-US" dirty="0">
                    <a:latin typeface="+mn-ea"/>
                  </a:rPr>
                  <a:t>有关的问题。重复此过程，每次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>
                    <a:latin typeface="+mn-ea"/>
                  </a:rPr>
                  <a:t> </a:t>
                </a:r>
                <a:r>
                  <a:rPr lang="zh-CN" altLang="en-US" dirty="0">
                    <a:latin typeface="+mn-ea"/>
                  </a:rPr>
                  <a:t>减 </a:t>
                </a:r>
                <a:r>
                  <a:rPr lang="en-US" altLang="zh-CN" dirty="0">
                    <a:latin typeface="+mn-ea"/>
                  </a:rPr>
                  <a:t>1</a:t>
                </a:r>
                <a:r>
                  <a:rPr lang="zh-CN" altLang="en-US" dirty="0">
                    <a:latin typeface="+mn-ea"/>
                  </a:rPr>
                  <a:t>，直到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dirty="0">
                    <a:latin typeface="+mn-ea"/>
                  </a:rPr>
                  <a:t> </a:t>
                </a:r>
                <a:r>
                  <a:rPr lang="zh-CN" altLang="en-US" dirty="0">
                    <a:latin typeface="+mn-ea"/>
                  </a:rPr>
                  <a:t>时直接移动该盘子就可以了。</a:t>
                </a:r>
                <a:endParaRPr lang="en-US" altLang="zh-CN" dirty="0">
                  <a:latin typeface="+mn-ea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24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91388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</p:spPr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经典初探：汉诺塔问题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2D61C9F3-5129-46A0-8929-EC4C9B3905EB}"/>
              </a:ext>
            </a:extLst>
          </p:cNvPr>
          <p:cNvSpPr txBox="1">
            <a:spLocks/>
          </p:cNvSpPr>
          <p:nvPr/>
        </p:nvSpPr>
        <p:spPr>
          <a:xfrm>
            <a:off x="678611" y="2037806"/>
            <a:ext cx="7511232" cy="473105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60000"/>
              </a:lnSpc>
              <a:buFont typeface="Arial" panose="020B0604020202020204" pitchFamily="34" charset="0"/>
              <a:buNone/>
            </a:pPr>
            <a:r>
              <a:rPr lang="en-US" altLang="zh-CN" sz="2000" dirty="0">
                <a:latin typeface="+mn-ea"/>
              </a:rPr>
              <a:t>#include &lt;bits/</a:t>
            </a:r>
            <a:r>
              <a:rPr lang="en-US" altLang="zh-CN" sz="2000" dirty="0" err="1">
                <a:latin typeface="+mn-ea"/>
              </a:rPr>
              <a:t>stdc</a:t>
            </a:r>
            <a:r>
              <a:rPr lang="en-US" altLang="zh-CN" sz="2000" dirty="0">
                <a:latin typeface="+mn-ea"/>
              </a:rPr>
              <a:t>++.h&gt;</a:t>
            </a:r>
          </a:p>
          <a:p>
            <a:pPr marL="0" indent="0">
              <a:lnSpc>
                <a:spcPct val="60000"/>
              </a:lnSpc>
              <a:buFont typeface="Arial" panose="020B0604020202020204" pitchFamily="34" charset="0"/>
              <a:buNone/>
            </a:pPr>
            <a:r>
              <a:rPr lang="en-US" altLang="zh-CN" sz="2000" dirty="0">
                <a:latin typeface="+mn-ea"/>
              </a:rPr>
              <a:t>using namespace std;</a:t>
            </a:r>
          </a:p>
          <a:p>
            <a:pPr marL="0" indent="0">
              <a:lnSpc>
                <a:spcPct val="60000"/>
              </a:lnSpc>
              <a:buFont typeface="Arial" panose="020B0604020202020204" pitchFamily="34" charset="0"/>
              <a:buNone/>
            </a:pPr>
            <a:r>
              <a:rPr lang="en-US" altLang="zh-CN" sz="2000" dirty="0">
                <a:latin typeface="+mn-ea"/>
              </a:rPr>
              <a:t>void </a:t>
            </a:r>
            <a:r>
              <a:rPr lang="en-US" altLang="zh-CN" sz="2000" dirty="0" err="1">
                <a:latin typeface="+mn-ea"/>
              </a:rPr>
              <a:t>hanoi</a:t>
            </a:r>
            <a:r>
              <a:rPr lang="en-US" altLang="zh-CN" sz="2000" dirty="0">
                <a:latin typeface="+mn-ea"/>
              </a:rPr>
              <a:t>(int n, char a, char b, char c) {</a:t>
            </a:r>
          </a:p>
          <a:p>
            <a:pPr marL="0" indent="0">
              <a:lnSpc>
                <a:spcPct val="60000"/>
              </a:lnSpc>
              <a:buFont typeface="Arial" panose="020B0604020202020204" pitchFamily="34" charset="0"/>
              <a:buNone/>
            </a:pPr>
            <a:r>
              <a:rPr lang="en-US" altLang="zh-CN" sz="2000" dirty="0">
                <a:latin typeface="+mn-ea"/>
              </a:rPr>
              <a:t>	if ( </a:t>
            </a:r>
            <a:r>
              <a:rPr lang="en-US" altLang="zh-CN" sz="2000" u="sng" dirty="0">
                <a:latin typeface="+mn-ea"/>
              </a:rPr>
              <a:t>         </a:t>
            </a:r>
            <a:r>
              <a:rPr lang="en-US" altLang="zh-CN" sz="2000" dirty="0">
                <a:latin typeface="+mn-ea"/>
              </a:rPr>
              <a:t> ) {</a:t>
            </a:r>
          </a:p>
          <a:p>
            <a:pPr marL="0" indent="0">
              <a:lnSpc>
                <a:spcPct val="60000"/>
              </a:lnSpc>
              <a:buFont typeface="Arial" panose="020B0604020202020204" pitchFamily="34" charset="0"/>
              <a:buNone/>
            </a:pPr>
            <a:r>
              <a:rPr lang="en-US" altLang="zh-CN" sz="2000" dirty="0">
                <a:latin typeface="+mn-ea"/>
              </a:rPr>
              <a:t>		</a:t>
            </a:r>
            <a:r>
              <a:rPr lang="en-US" altLang="zh-CN" sz="2000" u="sng" dirty="0">
                <a:latin typeface="+mn-ea"/>
              </a:rPr>
              <a:t>           </a:t>
            </a:r>
            <a:r>
              <a:rPr lang="en-US" altLang="zh-CN" sz="2000" dirty="0">
                <a:latin typeface="+mn-ea"/>
              </a:rPr>
              <a:t>;</a:t>
            </a:r>
          </a:p>
          <a:p>
            <a:pPr marL="0" indent="0">
              <a:lnSpc>
                <a:spcPct val="60000"/>
              </a:lnSpc>
              <a:buFont typeface="Arial" panose="020B0604020202020204" pitchFamily="34" charset="0"/>
              <a:buNone/>
            </a:pPr>
            <a:r>
              <a:rPr lang="en-US" altLang="zh-CN" sz="2000" dirty="0">
                <a:latin typeface="+mn-ea"/>
              </a:rPr>
              <a:t>		</a:t>
            </a:r>
            <a:r>
              <a:rPr lang="en-US" altLang="zh-CN" sz="2000" dirty="0" err="1">
                <a:latin typeface="+mn-ea"/>
              </a:rPr>
              <a:t>cout</a:t>
            </a:r>
            <a:r>
              <a:rPr lang="en-US" altLang="zh-CN" sz="2000" dirty="0">
                <a:latin typeface="+mn-ea"/>
              </a:rPr>
              <a:t>&lt;&lt;a&lt;&lt;“ to ”&lt;&lt;c&lt;&lt;</a:t>
            </a:r>
            <a:r>
              <a:rPr lang="en-US" altLang="zh-CN" sz="2000" dirty="0" err="1">
                <a:latin typeface="+mn-ea"/>
              </a:rPr>
              <a:t>endl</a:t>
            </a:r>
            <a:r>
              <a:rPr lang="en-US" altLang="zh-CN" sz="2000" dirty="0">
                <a:latin typeface="+mn-ea"/>
              </a:rPr>
              <a:t>;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2000" dirty="0">
                <a:latin typeface="+mn-ea"/>
              </a:rPr>
              <a:t>		</a:t>
            </a:r>
            <a:r>
              <a:rPr lang="en-US" altLang="zh-CN" sz="2000" u="sng" dirty="0">
                <a:latin typeface="+mn-ea"/>
              </a:rPr>
              <a:t>           </a:t>
            </a:r>
            <a:r>
              <a:rPr lang="en-US" altLang="zh-CN" sz="2000" dirty="0">
                <a:latin typeface="+mn-ea"/>
              </a:rPr>
              <a:t>;</a:t>
            </a:r>
          </a:p>
          <a:p>
            <a:pPr marL="0" indent="0">
              <a:lnSpc>
                <a:spcPct val="60000"/>
              </a:lnSpc>
              <a:buFont typeface="Arial" panose="020B0604020202020204" pitchFamily="34" charset="0"/>
              <a:buNone/>
            </a:pPr>
            <a:r>
              <a:rPr lang="en-US" altLang="zh-CN" sz="2000" dirty="0">
                <a:latin typeface="+mn-ea"/>
              </a:rPr>
              <a:t>	}</a:t>
            </a:r>
          </a:p>
          <a:p>
            <a:pPr marL="0" indent="0">
              <a:lnSpc>
                <a:spcPct val="60000"/>
              </a:lnSpc>
              <a:buFont typeface="Arial" panose="020B0604020202020204" pitchFamily="34" charset="0"/>
              <a:buNone/>
            </a:pPr>
            <a:r>
              <a:rPr lang="en-US" altLang="zh-CN" sz="2000" dirty="0">
                <a:latin typeface="+mn-ea"/>
              </a:rPr>
              <a:t>}</a:t>
            </a:r>
          </a:p>
          <a:p>
            <a:pPr marL="0" indent="0">
              <a:lnSpc>
                <a:spcPct val="60000"/>
              </a:lnSpc>
              <a:buFont typeface="Arial" panose="020B0604020202020204" pitchFamily="34" charset="0"/>
              <a:buNone/>
            </a:pPr>
            <a:r>
              <a:rPr lang="en-US" altLang="zh-CN" sz="2000" dirty="0">
                <a:latin typeface="+mn-ea"/>
              </a:rPr>
              <a:t>int main() {</a:t>
            </a:r>
          </a:p>
          <a:p>
            <a:pPr marL="0" indent="0">
              <a:lnSpc>
                <a:spcPct val="60000"/>
              </a:lnSpc>
              <a:buFont typeface="Arial" panose="020B0604020202020204" pitchFamily="34" charset="0"/>
              <a:buNone/>
            </a:pPr>
            <a:r>
              <a:rPr lang="en-US" altLang="zh-CN" sz="2000" dirty="0">
                <a:latin typeface="+mn-ea"/>
              </a:rPr>
              <a:t>	int n; </a:t>
            </a:r>
          </a:p>
          <a:p>
            <a:pPr marL="0" indent="0">
              <a:lnSpc>
                <a:spcPct val="60000"/>
              </a:lnSpc>
              <a:buFont typeface="Arial" panose="020B0604020202020204" pitchFamily="34" charset="0"/>
              <a:buNone/>
            </a:pPr>
            <a:r>
              <a:rPr lang="en-US" altLang="zh-CN" sz="2000" dirty="0">
                <a:latin typeface="+mn-ea"/>
              </a:rPr>
              <a:t>	</a:t>
            </a:r>
            <a:r>
              <a:rPr lang="en-US" altLang="zh-CN" sz="2000" dirty="0" err="1">
                <a:latin typeface="+mn-ea"/>
              </a:rPr>
              <a:t>cin</a:t>
            </a:r>
            <a:r>
              <a:rPr lang="en-US" altLang="zh-CN" sz="2000" dirty="0">
                <a:latin typeface="+mn-ea"/>
              </a:rPr>
              <a:t>&gt;&gt;n;</a:t>
            </a:r>
          </a:p>
          <a:p>
            <a:pPr marL="0" indent="0">
              <a:lnSpc>
                <a:spcPct val="60000"/>
              </a:lnSpc>
              <a:buFont typeface="Arial" panose="020B0604020202020204" pitchFamily="34" charset="0"/>
              <a:buNone/>
            </a:pPr>
            <a:r>
              <a:rPr lang="en-US" altLang="zh-CN" sz="2000" dirty="0">
                <a:latin typeface="+mn-ea"/>
              </a:rPr>
              <a:t>	print(</a:t>
            </a:r>
            <a:r>
              <a:rPr lang="en-US" altLang="zh-CN" sz="2000" dirty="0" err="1">
                <a:latin typeface="+mn-ea"/>
              </a:rPr>
              <a:t>n,’A’,’B’,’C</a:t>
            </a:r>
            <a:r>
              <a:rPr lang="en-US" altLang="zh-CN" sz="2000" dirty="0">
                <a:latin typeface="+mn-ea"/>
              </a:rPr>
              <a:t>’);</a:t>
            </a:r>
          </a:p>
          <a:p>
            <a:pPr marL="0" indent="0">
              <a:lnSpc>
                <a:spcPct val="60000"/>
              </a:lnSpc>
              <a:buFont typeface="Arial" panose="020B0604020202020204" pitchFamily="34" charset="0"/>
              <a:buNone/>
            </a:pPr>
            <a:r>
              <a:rPr lang="en-US" altLang="zh-CN" sz="2000" dirty="0">
                <a:latin typeface="+mn-ea"/>
              </a:rPr>
              <a:t>	return 0;</a:t>
            </a:r>
          </a:p>
          <a:p>
            <a:pPr marL="0" indent="0">
              <a:lnSpc>
                <a:spcPct val="60000"/>
              </a:lnSpc>
              <a:buFont typeface="Arial" panose="020B0604020202020204" pitchFamily="34" charset="0"/>
              <a:buNone/>
            </a:pPr>
            <a:r>
              <a:rPr lang="en-US" altLang="zh-CN" sz="2000" dirty="0">
                <a:latin typeface="+mn-ea"/>
              </a:rPr>
              <a:t>}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1CDBABB-CE2C-42CE-8B40-D3B9544A6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1"/>
            <a:ext cx="10368800" cy="899280"/>
          </a:xfrm>
        </p:spPr>
        <p:txBody>
          <a:bodyPr/>
          <a:lstStyle/>
          <a:p>
            <a:r>
              <a:rPr lang="zh-CN" altLang="en-US" dirty="0"/>
              <a:t>汉诺塔问题的实现</a:t>
            </a:r>
          </a:p>
        </p:txBody>
      </p:sp>
    </p:spTree>
    <p:extLst>
      <p:ext uri="{BB962C8B-B14F-4D97-AF65-F5344CB8AC3E}">
        <p14:creationId xmlns:p14="http://schemas.microsoft.com/office/powerpoint/2010/main" val="9918468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谢谢大家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注意：请大家关闭自己的麦克风和摄像头</a:t>
            </a:r>
          </a:p>
        </p:txBody>
      </p:sp>
    </p:spTree>
    <p:extLst>
      <p:ext uri="{BB962C8B-B14F-4D97-AF65-F5344CB8AC3E}">
        <p14:creationId xmlns:p14="http://schemas.microsoft.com/office/powerpoint/2010/main" val="7503595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电路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41076</TotalTime>
  <Words>1893</Words>
  <Application>Microsoft Macintosh PowerPoint</Application>
  <PresentationFormat>Widescreen</PresentationFormat>
  <Paragraphs>186</Paragraphs>
  <Slides>27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等线</vt:lpstr>
      <vt:lpstr>华文楷体</vt:lpstr>
      <vt:lpstr>Arial</vt:lpstr>
      <vt:lpstr>Cambria Math</vt:lpstr>
      <vt:lpstr>Tahoma</vt:lpstr>
      <vt:lpstr>Times New Roman</vt:lpstr>
      <vt:lpstr>Tw Cen MT</vt:lpstr>
      <vt:lpstr>电路</vt:lpstr>
      <vt:lpstr>NOIP 入门基础算法</vt:lpstr>
      <vt:lpstr>递归函数</vt:lpstr>
      <vt:lpstr>生活中的递归</vt:lpstr>
      <vt:lpstr>示例1</vt:lpstr>
      <vt:lpstr>示例1</vt:lpstr>
      <vt:lpstr>什么是递归函数</vt:lpstr>
      <vt:lpstr>递归函数的执行过程</vt:lpstr>
      <vt:lpstr>递归函数的执行过程</vt:lpstr>
      <vt:lpstr>递归函数的执行过程</vt:lpstr>
      <vt:lpstr>课堂实例1：求 n!</vt:lpstr>
      <vt:lpstr>课堂实例2：斐波那契数列的递归实现</vt:lpstr>
      <vt:lpstr>课堂实例3：辗转相除法</vt:lpstr>
      <vt:lpstr>课堂实例4：进制转换</vt:lpstr>
      <vt:lpstr>课堂实例5：数字反转</vt:lpstr>
      <vt:lpstr>课堂实例6：分解质因数</vt:lpstr>
      <vt:lpstr>课堂实例7：角谷猜想</vt:lpstr>
      <vt:lpstr>课堂实例7：角谷猜想</vt:lpstr>
      <vt:lpstr>课堂实例8：杨辉三角形</vt:lpstr>
      <vt:lpstr>课堂实例9：求 xn</vt:lpstr>
      <vt:lpstr>课堂实例9：求 xn</vt:lpstr>
      <vt:lpstr>课堂实例10：求 ackman 函数值</vt:lpstr>
      <vt:lpstr>课堂实例11：波兰表达式</vt:lpstr>
      <vt:lpstr>课堂实例12：分解因数</vt:lpstr>
      <vt:lpstr>课堂实例12：分解因数</vt:lpstr>
      <vt:lpstr>经典初探：汉诺塔问题</vt:lpstr>
      <vt:lpstr>经典初探：汉诺塔问题</vt:lpstr>
      <vt:lpstr>谢谢大家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NOIP 入门习题精讲 - 09</dc:title>
  <dc:creator>Gao Kai</dc:creator>
  <cp:lastModifiedBy>Bryan Sun</cp:lastModifiedBy>
  <cp:revision>133</cp:revision>
  <dcterms:created xsi:type="dcterms:W3CDTF">2018-08-09T00:16:20Z</dcterms:created>
  <dcterms:modified xsi:type="dcterms:W3CDTF">2025-12-31T12:09:04Z</dcterms:modified>
</cp:coreProperties>
</file>